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3"/>
    <p:sldId id="362" r:id="rId4"/>
    <p:sldId id="395" r:id="rId5"/>
    <p:sldId id="350" r:id="rId6"/>
    <p:sldId id="349" r:id="rId7"/>
    <p:sldId id="351" r:id="rId8"/>
    <p:sldId id="396" r:id="rId9"/>
    <p:sldId id="352" r:id="rId10"/>
    <p:sldId id="353" r:id="rId11"/>
    <p:sldId id="354" r:id="rId12"/>
    <p:sldId id="355" r:id="rId13"/>
    <p:sldId id="356" r:id="rId14"/>
    <p:sldId id="357" r:id="rId15"/>
    <p:sldId id="358" r:id="rId16"/>
    <p:sldId id="359" r:id="rId17"/>
    <p:sldId id="360" r:id="rId18"/>
    <p:sldId id="410" r:id="rId19"/>
    <p:sldId id="361" r:id="rId20"/>
    <p:sldId id="397" r:id="rId21"/>
    <p:sldId id="402" r:id="rId22"/>
    <p:sldId id="404" r:id="rId23"/>
    <p:sldId id="405" r:id="rId24"/>
    <p:sldId id="406" r:id="rId25"/>
    <p:sldId id="403" r:id="rId26"/>
    <p:sldId id="407" r:id="rId27"/>
    <p:sldId id="258" r:id="rId28"/>
    <p:sldId id="260" r:id="rId29"/>
    <p:sldId id="262" r:id="rId30"/>
    <p:sldId id="261" r:id="rId31"/>
    <p:sldId id="263" r:id="rId32"/>
    <p:sldId id="272" r:id="rId33"/>
    <p:sldId id="264" r:id="rId34"/>
    <p:sldId id="320" r:id="rId35"/>
    <p:sldId id="398" r:id="rId36"/>
    <p:sldId id="268" r:id="rId37"/>
    <p:sldId id="269" r:id="rId38"/>
    <p:sldId id="273" r:id="rId39"/>
    <p:sldId id="281" r:id="rId40"/>
    <p:sldId id="270" r:id="rId41"/>
    <p:sldId id="271" r:id="rId42"/>
    <p:sldId id="274" r:id="rId43"/>
    <p:sldId id="257" r:id="rId44"/>
    <p:sldId id="409" r:id="rId45"/>
    <p:sldId id="408" r:id="rId46"/>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15"/>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gs" Target="tags/tag129.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31.wmf"/><Relationship Id="rId1"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3" Type="http://schemas.openxmlformats.org/officeDocument/2006/relationships/vmlDrawing" Target="../drawings/vmlDrawing1.vml"/><Relationship Id="rId32" Type="http://schemas.openxmlformats.org/officeDocument/2006/relationships/slideLayout" Target="../slideLayouts/slideLayout2.xml"/><Relationship Id="rId31" Type="http://schemas.openxmlformats.org/officeDocument/2006/relationships/tags" Target="../tags/tag86.xml"/><Relationship Id="rId30" Type="http://schemas.openxmlformats.org/officeDocument/2006/relationships/image" Target="../media/image6.wmf"/><Relationship Id="rId3" Type="http://schemas.openxmlformats.org/officeDocument/2006/relationships/tags" Target="../tags/tag70.xml"/><Relationship Id="rId29" Type="http://schemas.openxmlformats.org/officeDocument/2006/relationships/oleObject" Target="../embeddings/oleObject6.bin"/><Relationship Id="rId28" Type="http://schemas.openxmlformats.org/officeDocument/2006/relationships/image" Target="../media/image5.wmf"/><Relationship Id="rId27" Type="http://schemas.openxmlformats.org/officeDocument/2006/relationships/oleObject" Target="../embeddings/oleObject5.bin"/><Relationship Id="rId26" Type="http://schemas.openxmlformats.org/officeDocument/2006/relationships/image" Target="../media/image4.wmf"/><Relationship Id="rId25" Type="http://schemas.openxmlformats.org/officeDocument/2006/relationships/oleObject" Target="../embeddings/oleObject4.bin"/><Relationship Id="rId24" Type="http://schemas.openxmlformats.org/officeDocument/2006/relationships/image" Target="../media/image3.wmf"/><Relationship Id="rId23" Type="http://schemas.openxmlformats.org/officeDocument/2006/relationships/oleObject" Target="../embeddings/oleObject3.bin"/><Relationship Id="rId22" Type="http://schemas.openxmlformats.org/officeDocument/2006/relationships/image" Target="../media/image2.wmf"/><Relationship Id="rId21" Type="http://schemas.openxmlformats.org/officeDocument/2006/relationships/oleObject" Target="../embeddings/oleObject2.bin"/><Relationship Id="rId20" Type="http://schemas.openxmlformats.org/officeDocument/2006/relationships/image" Target="../media/image1.wmf"/><Relationship Id="rId2" Type="http://schemas.openxmlformats.org/officeDocument/2006/relationships/tags" Target="../tags/tag69.xml"/><Relationship Id="rId19" Type="http://schemas.openxmlformats.org/officeDocument/2006/relationships/oleObject" Target="../embeddings/oleObject1.bin"/><Relationship Id="rId18" Type="http://schemas.openxmlformats.org/officeDocument/2006/relationships/tags" Target="../tags/tag85.xml"/><Relationship Id="rId17" Type="http://schemas.openxmlformats.org/officeDocument/2006/relationships/tags" Target="../tags/tag84.xml"/><Relationship Id="rId16" Type="http://schemas.openxmlformats.org/officeDocument/2006/relationships/tags" Target="../tags/tag83.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8.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92.xml"/><Relationship Id="rId4" Type="http://schemas.openxmlformats.org/officeDocument/2006/relationships/image" Target="../media/image8.wmf"/><Relationship Id="rId3" Type="http://schemas.openxmlformats.org/officeDocument/2006/relationships/oleObject" Target="../embeddings/oleObject8.bin"/><Relationship Id="rId2" Type="http://schemas.openxmlformats.org/officeDocument/2006/relationships/image" Target="../media/image7.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tags" Target="../tags/tag93.xml"/><Relationship Id="rId6" Type="http://schemas.openxmlformats.org/officeDocument/2006/relationships/image" Target="../media/image11.wmf"/><Relationship Id="rId5" Type="http://schemas.openxmlformats.org/officeDocument/2006/relationships/oleObject" Target="../embeddings/oleObject11.bin"/><Relationship Id="rId4" Type="http://schemas.openxmlformats.org/officeDocument/2006/relationships/image" Target="../media/image10.wmf"/><Relationship Id="rId3" Type="http://schemas.openxmlformats.org/officeDocument/2006/relationships/oleObject" Target="../embeddings/oleObject10.bin"/><Relationship Id="rId2" Type="http://schemas.openxmlformats.org/officeDocument/2006/relationships/image" Target="../media/image9.wmf"/><Relationship Id="rId1"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5.wmf"/><Relationship Id="rId7" Type="http://schemas.openxmlformats.org/officeDocument/2006/relationships/oleObject" Target="../embeddings/oleObject15.bin"/><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 Id="rId3" Type="http://schemas.openxmlformats.org/officeDocument/2006/relationships/oleObject" Target="../embeddings/oleObject13.bin"/><Relationship Id="rId2" Type="http://schemas.openxmlformats.org/officeDocument/2006/relationships/image" Target="../media/image12.wmf"/><Relationship Id="rId15" Type="http://schemas.openxmlformats.org/officeDocument/2006/relationships/vmlDrawing" Target="../drawings/vmlDrawing4.vml"/><Relationship Id="rId14" Type="http://schemas.openxmlformats.org/officeDocument/2006/relationships/slideLayout" Target="../slideLayouts/slideLayout2.xml"/><Relationship Id="rId13" Type="http://schemas.openxmlformats.org/officeDocument/2006/relationships/tags" Target="../tags/tag94.xml"/><Relationship Id="rId12" Type="http://schemas.openxmlformats.org/officeDocument/2006/relationships/image" Target="../media/image17.wmf"/><Relationship Id="rId11" Type="http://schemas.openxmlformats.org/officeDocument/2006/relationships/oleObject" Target="../embeddings/oleObject17.bin"/><Relationship Id="rId10" Type="http://schemas.openxmlformats.org/officeDocument/2006/relationships/image" Target="../media/image16.wmf"/><Relationship Id="rId1"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tags" Target="../tags/tag95.xml"/><Relationship Id="rId4" Type="http://schemas.openxmlformats.org/officeDocument/2006/relationships/image" Target="../media/image19.wmf"/><Relationship Id="rId3" Type="http://schemas.openxmlformats.org/officeDocument/2006/relationships/oleObject" Target="../embeddings/oleObject19.bin"/><Relationship Id="rId2" Type="http://schemas.openxmlformats.org/officeDocument/2006/relationships/image" Target="../media/image18.wmf"/><Relationship Id="rId1"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image" Target="../media/image20.wmf"/><Relationship Id="rId1"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image" Target="../media/image21.wmf"/><Relationship Id="rId1" Type="http://schemas.openxmlformats.org/officeDocument/2006/relationships/oleObject" Target="../embeddings/oleObject21.bin"/></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image" Target="../media/image22.wmf"/><Relationship Id="rId1"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image" Target="../media/image23.wmf"/><Relationship Id="rId1"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tags" Target="../tags/tag100.xml"/><Relationship Id="rId2" Type="http://schemas.openxmlformats.org/officeDocument/2006/relationships/image" Target="../media/image24.wmf"/><Relationship Id="rId1"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image" Target="../media/image24.wmf"/><Relationship Id="rId1" Type="http://schemas.openxmlformats.org/officeDocument/2006/relationships/oleObject" Target="../embeddings/oleObject25.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28.wmf"/><Relationship Id="rId7" Type="http://schemas.openxmlformats.org/officeDocument/2006/relationships/oleObject" Target="../embeddings/oleObject29.bin"/><Relationship Id="rId6" Type="http://schemas.openxmlformats.org/officeDocument/2006/relationships/image" Target="../media/image27.wmf"/><Relationship Id="rId5" Type="http://schemas.openxmlformats.org/officeDocument/2006/relationships/oleObject" Target="../embeddings/oleObject28.bin"/><Relationship Id="rId4" Type="http://schemas.openxmlformats.org/officeDocument/2006/relationships/image" Target="../media/image26.wmf"/><Relationship Id="rId3" Type="http://schemas.openxmlformats.org/officeDocument/2006/relationships/oleObject" Target="../embeddings/oleObject27.bin"/><Relationship Id="rId2" Type="http://schemas.openxmlformats.org/officeDocument/2006/relationships/image" Target="../media/image25.wmf"/><Relationship Id="rId13" Type="http://schemas.openxmlformats.org/officeDocument/2006/relationships/vmlDrawing" Target="../drawings/vmlDrawing12.vml"/><Relationship Id="rId12" Type="http://schemas.openxmlformats.org/officeDocument/2006/relationships/slideLayout" Target="../slideLayouts/slideLayout2.xml"/><Relationship Id="rId11" Type="http://schemas.openxmlformats.org/officeDocument/2006/relationships/tags" Target="../tags/tag111.xml"/><Relationship Id="rId10" Type="http://schemas.openxmlformats.org/officeDocument/2006/relationships/image" Target="../media/image29.wmf"/><Relationship Id="rId1" Type="http://schemas.openxmlformats.org/officeDocument/2006/relationships/oleObject" Target="../embeddings/oleObject26.bin"/></Relationships>
</file>

<file path=ppt/slides/_rels/slide28.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tags" Target="../tags/tag112.xml"/><Relationship Id="rId6" Type="http://schemas.openxmlformats.org/officeDocument/2006/relationships/image" Target="../media/image29.wmf"/><Relationship Id="rId5" Type="http://schemas.openxmlformats.org/officeDocument/2006/relationships/oleObject" Target="../embeddings/oleObject33.bin"/><Relationship Id="rId4" Type="http://schemas.openxmlformats.org/officeDocument/2006/relationships/image" Target="../media/image31.wmf"/><Relationship Id="rId3" Type="http://schemas.openxmlformats.org/officeDocument/2006/relationships/oleObject" Target="../embeddings/oleObject32.bin"/><Relationship Id="rId2" Type="http://schemas.openxmlformats.org/officeDocument/2006/relationships/image" Target="../media/image30.wmf"/><Relationship Id="rId1" Type="http://schemas.openxmlformats.org/officeDocument/2006/relationships/oleObject" Target="../embeddings/oleObject31.bin"/></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tags" Target="../tags/tag113.xml"/><Relationship Id="rId4" Type="http://schemas.openxmlformats.org/officeDocument/2006/relationships/image" Target="../media/image33.wmf"/><Relationship Id="rId3" Type="http://schemas.openxmlformats.org/officeDocument/2006/relationships/oleObject" Target="../embeddings/oleObject35.bin"/><Relationship Id="rId2" Type="http://schemas.openxmlformats.org/officeDocument/2006/relationships/image" Target="../media/image32.wmf"/><Relationship Id="rId1"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2.xml"/><Relationship Id="rId3" Type="http://schemas.openxmlformats.org/officeDocument/2006/relationships/tags" Target="../tags/tag115.xml"/><Relationship Id="rId2" Type="http://schemas.openxmlformats.org/officeDocument/2006/relationships/image" Target="../media/image34.wmf"/><Relationship Id="rId1" Type="http://schemas.openxmlformats.org/officeDocument/2006/relationships/oleObject" Target="../embeddings/oleObject36.bin"/></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image" Target="../media/image35.wmf"/><Relationship Id="rId1" Type="http://schemas.openxmlformats.org/officeDocument/2006/relationships/oleObject" Target="../embeddings/oleObject37.bin"/></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image" Target="../media/image36.wmf"/><Relationship Id="rId1" Type="http://schemas.openxmlformats.org/officeDocument/2006/relationships/oleObject" Target="../embeddings/oleObject38.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43.bin"/><Relationship Id="rId8" Type="http://schemas.openxmlformats.org/officeDocument/2006/relationships/image" Target="../media/image40.wmf"/><Relationship Id="rId7" Type="http://schemas.openxmlformats.org/officeDocument/2006/relationships/oleObject" Target="../embeddings/oleObject42.bin"/><Relationship Id="rId6" Type="http://schemas.openxmlformats.org/officeDocument/2006/relationships/image" Target="../media/image39.wmf"/><Relationship Id="rId5" Type="http://schemas.openxmlformats.org/officeDocument/2006/relationships/oleObject" Target="../embeddings/oleObject41.bin"/><Relationship Id="rId4" Type="http://schemas.openxmlformats.org/officeDocument/2006/relationships/image" Target="../media/image38.wmf"/><Relationship Id="rId3" Type="http://schemas.openxmlformats.org/officeDocument/2006/relationships/oleObject" Target="../embeddings/oleObject40.bin"/><Relationship Id="rId2" Type="http://schemas.openxmlformats.org/officeDocument/2006/relationships/image" Target="../media/image37.wmf"/><Relationship Id="rId13" Type="http://schemas.openxmlformats.org/officeDocument/2006/relationships/vmlDrawing" Target="../drawings/vmlDrawing18.vml"/><Relationship Id="rId12" Type="http://schemas.openxmlformats.org/officeDocument/2006/relationships/slideLayout" Target="../slideLayouts/slideLayout2.xml"/><Relationship Id="rId11" Type="http://schemas.openxmlformats.org/officeDocument/2006/relationships/tags" Target="../tags/tag121.xml"/><Relationship Id="rId10" Type="http://schemas.openxmlformats.org/officeDocument/2006/relationships/image" Target="../media/image41.wmf"/><Relationship Id="rId1" Type="http://schemas.openxmlformats.org/officeDocument/2006/relationships/oleObject" Target="../embeddings/oleObject39.bin"/></Relationships>
</file>

<file path=ppt/slides/_rels/slide38.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2.xml"/><Relationship Id="rId5" Type="http://schemas.openxmlformats.org/officeDocument/2006/relationships/tags" Target="../tags/tag122.xml"/><Relationship Id="rId4" Type="http://schemas.openxmlformats.org/officeDocument/2006/relationships/image" Target="../media/image43.wmf"/><Relationship Id="rId3" Type="http://schemas.openxmlformats.org/officeDocument/2006/relationships/oleObject" Target="../embeddings/oleObject45.bin"/><Relationship Id="rId2" Type="http://schemas.openxmlformats.org/officeDocument/2006/relationships/image" Target="../media/image42.wmf"/><Relationship Id="rId1" Type="http://schemas.openxmlformats.org/officeDocument/2006/relationships/oleObject" Target="../embeddings/oleObject44.bin"/></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image" Target="../media/image44.wmf"/><Relationship Id="rId1" Type="http://schemas.openxmlformats.org/officeDocument/2006/relationships/oleObject" Target="../embeddings/oleObject46.bin"/></Relationships>
</file>

<file path=ppt/slides/_rels/slide40.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2.xml"/><Relationship Id="rId5" Type="http://schemas.openxmlformats.org/officeDocument/2006/relationships/tags" Target="../tags/tag124.xml"/><Relationship Id="rId4" Type="http://schemas.openxmlformats.org/officeDocument/2006/relationships/image" Target="../media/image46.wmf"/><Relationship Id="rId3" Type="http://schemas.openxmlformats.org/officeDocument/2006/relationships/oleObject" Target="../embeddings/oleObject48.bin"/><Relationship Id="rId2" Type="http://schemas.openxmlformats.org/officeDocument/2006/relationships/image" Target="../media/image45.wmf"/><Relationship Id="rId1" Type="http://schemas.openxmlformats.org/officeDocument/2006/relationships/oleObject" Target="../embeddings/oleObject47.bin"/></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2.xml"/><Relationship Id="rId7" Type="http://schemas.openxmlformats.org/officeDocument/2006/relationships/tags" Target="../tags/tag125.xml"/><Relationship Id="rId6" Type="http://schemas.openxmlformats.org/officeDocument/2006/relationships/image" Target="../media/image49.wmf"/><Relationship Id="rId5" Type="http://schemas.openxmlformats.org/officeDocument/2006/relationships/oleObject" Target="../embeddings/oleObject51.bin"/><Relationship Id="rId4" Type="http://schemas.openxmlformats.org/officeDocument/2006/relationships/image" Target="../media/image48.wmf"/><Relationship Id="rId3" Type="http://schemas.openxmlformats.org/officeDocument/2006/relationships/oleObject" Target="../embeddings/oleObject50.bin"/><Relationship Id="rId2" Type="http://schemas.openxmlformats.org/officeDocument/2006/relationships/image" Target="../media/image47.wmf"/><Relationship Id="rId1" Type="http://schemas.openxmlformats.org/officeDocument/2006/relationships/oleObject" Target="../embeddings/oleObject49.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80" y="1264920"/>
            <a:ext cx="9799320" cy="1594485"/>
          </a:xfrm>
        </p:spPr>
        <p:txBody>
          <a:bodyPr>
            <a:normAutofit/>
          </a:bodyPr>
          <a:p>
            <a:r>
              <a:rPr lang="zh-CN" altLang="zh-CN" sz="4800"/>
              <a:t>第一章 信息论与编码理论</a:t>
            </a:r>
            <a:r>
              <a:rPr lang="zh-CN" altLang="zh-CN" sz="4800"/>
              <a:t>概述</a:t>
            </a:r>
            <a:endParaRPr lang="zh-CN" altLang="zh-CN" sz="4800"/>
          </a:p>
        </p:txBody>
      </p:sp>
      <p:sp>
        <p:nvSpPr>
          <p:cNvPr id="3" name="副标题 2"/>
          <p:cNvSpPr>
            <a:spLocks noGrp="1"/>
          </p:cNvSpPr>
          <p:nvPr>
            <p:ph type="subTitle" idx="1"/>
            <p:custDataLst>
              <p:tags r:id="rId2"/>
            </p:custDataLst>
          </p:nvPr>
        </p:nvSpPr>
        <p:spPr>
          <a:xfrm>
            <a:off x="1198800" y="4138250"/>
            <a:ext cx="9799200" cy="1472400"/>
          </a:xfrm>
        </p:spPr>
        <p:txBody>
          <a:bodyPr/>
          <a:p>
            <a:r>
              <a:rPr lang="zh-CN" altLang="en-US"/>
              <a:t>李丽香</a:t>
            </a:r>
            <a:endParaRPr lang="zh-CN" altLang="en-US"/>
          </a:p>
          <a:p>
            <a:r>
              <a:rPr lang="zh-CN" altLang="en-US"/>
              <a:t>北京邮电大学网络空间安全学院</a:t>
            </a:r>
            <a:endParaRPr lang="zh-CN" altLang="en-US"/>
          </a:p>
        </p:txBody>
      </p:sp>
      <p:sp>
        <p:nvSpPr>
          <p:cNvPr id="5" name="文本框 4"/>
          <p:cNvSpPr txBox="1"/>
          <p:nvPr/>
        </p:nvSpPr>
        <p:spPr>
          <a:xfrm>
            <a:off x="680720" y="268605"/>
            <a:ext cx="3891915" cy="460375"/>
          </a:xfrm>
          <a:prstGeom prst="rect">
            <a:avLst/>
          </a:prstGeom>
          <a:noFill/>
        </p:spPr>
        <p:txBody>
          <a:bodyPr wrap="square" rtlCol="0">
            <a:spAutoFit/>
          </a:bodyPr>
          <a:p>
            <a:r>
              <a:rPr lang="zh-CN" altLang="en-US" sz="2400"/>
              <a:t>《信息论与编码》课程</a:t>
            </a:r>
            <a:endParaRPr lang="zh-CN" altLang="en-US"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2699385"/>
          </a:xfrm>
        </p:spPr>
        <p:txBody>
          <a:bodyPr>
            <a:noAutofit/>
          </a:bodyPr>
          <a:p>
            <a:pPr>
              <a:lnSpc>
                <a:spcPct val="200000"/>
              </a:lnSpc>
            </a:pPr>
            <a:r>
              <a:rPr lang="zh-CN" sz="2400">
                <a:solidFill>
                  <a:schemeClr val="accent1"/>
                </a:solidFill>
              </a:rPr>
              <a:t>课程概述</a:t>
            </a:r>
            <a:endParaRPr sz="2400">
              <a:solidFill>
                <a:schemeClr val="accent1"/>
              </a:solidFill>
            </a:endParaRPr>
          </a:p>
          <a:p>
            <a:pPr>
              <a:lnSpc>
                <a:spcPct val="200000"/>
              </a:lnSpc>
            </a:pPr>
            <a:r>
              <a:rPr sz="2400">
                <a:solidFill>
                  <a:schemeClr val="accent1"/>
                </a:solidFill>
              </a:rPr>
              <a:t>信息论与编码的发展历史</a:t>
            </a:r>
            <a:endParaRPr sz="2400">
              <a:solidFill>
                <a:schemeClr val="accent1"/>
              </a:solidFill>
            </a:endParaRPr>
          </a:p>
          <a:p>
            <a:pPr>
              <a:lnSpc>
                <a:spcPct val="200000"/>
              </a:lnSpc>
            </a:pPr>
            <a:r>
              <a:rPr sz="2400">
                <a:solidFill>
                  <a:schemeClr val="accent1"/>
                </a:solidFill>
              </a:rPr>
              <a:t>数字通信系统的组成及</a:t>
            </a:r>
            <a:r>
              <a:rPr lang="zh-CN" sz="2400">
                <a:solidFill>
                  <a:schemeClr val="accent1"/>
                </a:solidFill>
              </a:rPr>
              <a:t>各种信道</a:t>
            </a:r>
            <a:endParaRPr sz="2400">
              <a:solidFill>
                <a:schemeClr val="accent1"/>
              </a:solidFill>
            </a:endParaRPr>
          </a:p>
          <a:p>
            <a:pPr>
              <a:lnSpc>
                <a:spcPct val="200000"/>
              </a:lnSpc>
            </a:pPr>
            <a:r>
              <a:rPr lang="zh-CN" sz="2400">
                <a:solidFill>
                  <a:schemeClr val="accent1"/>
                </a:solidFill>
              </a:rPr>
              <a:t>编</a:t>
            </a:r>
            <a:r>
              <a:rPr lang="zh-CN" sz="2400">
                <a:solidFill>
                  <a:schemeClr val="accent1"/>
                </a:solidFill>
              </a:rPr>
              <a:t>译码涉及的一些基本概念</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2699385"/>
          </a:xfrm>
        </p:spPr>
        <p:txBody>
          <a:bodyPr>
            <a:noAutofit/>
          </a:bodyPr>
          <a:p>
            <a:pPr>
              <a:lnSpc>
                <a:spcPct val="200000"/>
              </a:lnSpc>
            </a:pPr>
            <a:r>
              <a:rPr lang="zh-CN" sz="2400">
                <a:solidFill>
                  <a:schemeClr val="accent1"/>
                </a:solidFill>
              </a:rPr>
              <a:t>课程概述</a:t>
            </a:r>
            <a:endParaRPr sz="2400">
              <a:solidFill>
                <a:schemeClr val="accent1"/>
              </a:solidFill>
            </a:endParaRPr>
          </a:p>
          <a:p>
            <a:pPr>
              <a:lnSpc>
                <a:spcPct val="200000"/>
              </a:lnSpc>
            </a:pPr>
            <a:r>
              <a:rPr sz="2400">
                <a:solidFill>
                  <a:schemeClr val="bg1">
                    <a:lumMod val="75000"/>
                  </a:schemeClr>
                </a:solidFill>
              </a:rPr>
              <a:t>信息论与编码的发展历史</a:t>
            </a:r>
            <a:endParaRPr sz="2400">
              <a:solidFill>
                <a:schemeClr val="accent1"/>
              </a:solidFill>
            </a:endParaRPr>
          </a:p>
          <a:p>
            <a:pPr>
              <a:lnSpc>
                <a:spcPct val="200000"/>
              </a:lnSpc>
            </a:pPr>
            <a:r>
              <a:rPr sz="2400">
                <a:solidFill>
                  <a:schemeClr val="bg1">
                    <a:lumMod val="75000"/>
                  </a:schemeClr>
                </a:solidFill>
                <a:sym typeface="+mn-ea"/>
              </a:rPr>
              <a:t>数字通信系统的组成及各种信道</a:t>
            </a:r>
            <a:endParaRPr sz="2400">
              <a:solidFill>
                <a:schemeClr val="accent1"/>
              </a:solidFill>
            </a:endParaRPr>
          </a:p>
          <a:p>
            <a:pPr>
              <a:lnSpc>
                <a:spcPct val="200000"/>
              </a:lnSpc>
            </a:pPr>
            <a:r>
              <a:rPr sz="2400">
                <a:solidFill>
                  <a:schemeClr val="bg1">
                    <a:lumMod val="75000"/>
                  </a:schemeClr>
                </a:solidFill>
                <a:sym typeface="+mn-ea"/>
              </a:rPr>
              <a:t>编译码</a:t>
            </a:r>
            <a:r>
              <a:rPr sz="2400">
                <a:solidFill>
                  <a:schemeClr val="bg1">
                    <a:lumMod val="75000"/>
                  </a:schemeClr>
                </a:solidFill>
              </a:rPr>
              <a:t>涉及的一些基本概念</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课程背景</a:t>
            </a:r>
            <a:r>
              <a:rPr lang="en-US" altLang="zh-CN"/>
              <a:t>—</a:t>
            </a:r>
            <a:r>
              <a:rPr lang="zh-CN" altLang="en-US" sz="2800">
                <a:solidFill>
                  <a:schemeClr val="accent1"/>
                </a:solidFill>
              </a:rPr>
              <a:t>通信及相关安全技术的飞速发展</a:t>
            </a:r>
            <a:endParaRPr lang="zh-CN" altLang="en-US" sz="2800">
              <a:solidFill>
                <a:schemeClr val="accent1"/>
              </a:solidFill>
            </a:endParaRPr>
          </a:p>
        </p:txBody>
      </p:sp>
      <p:sp>
        <p:nvSpPr>
          <p:cNvPr id="29" name="矩形 28"/>
          <p:cNvSpPr/>
          <p:nvPr>
            <p:custDataLst>
              <p:tags r:id="rId1"/>
            </p:custDataLst>
          </p:nvPr>
        </p:nvSpPr>
        <p:spPr>
          <a:xfrm>
            <a:off x="2645781" y="2986024"/>
            <a:ext cx="1256893" cy="257901"/>
          </a:xfrm>
          <a:prstGeom prst="rect">
            <a:avLst/>
          </a:prstGeom>
          <a:solidFill>
            <a:srgbClr val="4276AA"/>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1G</a:t>
            </a:r>
            <a:endPar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0" name="矩形 29"/>
          <p:cNvSpPr/>
          <p:nvPr>
            <p:custDataLst>
              <p:tags r:id="rId2"/>
            </p:custDataLst>
          </p:nvPr>
        </p:nvSpPr>
        <p:spPr>
          <a:xfrm>
            <a:off x="3901124" y="2986024"/>
            <a:ext cx="1256893" cy="257901"/>
          </a:xfrm>
          <a:prstGeom prst="rect">
            <a:avLst/>
          </a:prstGeom>
          <a:solidFill>
            <a:srgbClr val="15889F"/>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2G</a:t>
            </a:r>
            <a:endPar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1" name="矩形 30"/>
          <p:cNvSpPr/>
          <p:nvPr>
            <p:custDataLst>
              <p:tags r:id="rId3"/>
            </p:custDataLst>
          </p:nvPr>
        </p:nvSpPr>
        <p:spPr>
          <a:xfrm>
            <a:off x="5150675" y="2986024"/>
            <a:ext cx="1256893" cy="257901"/>
          </a:xfrm>
          <a:prstGeom prst="rect">
            <a:avLst/>
          </a:prstGeom>
          <a:solidFill>
            <a:srgbClr val="3FA592"/>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a:solidFill>
                  <a:srgbClr val="FFFFFF"/>
                </a:solidFill>
                <a:latin typeface="Times New Roman" panose="02020603050405020304" pitchFamily="18" charset="0"/>
                <a:ea typeface="微软雅黑" panose="020B0503020204020204" charset="-122"/>
                <a:cs typeface="Times New Roman" panose="02020603050405020304" pitchFamily="18" charset="0"/>
              </a:rPr>
              <a:t>3G</a:t>
            </a:r>
            <a:endParaRPr lang="en-US" sz="1350"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2" name="矩形 31"/>
          <p:cNvSpPr/>
          <p:nvPr>
            <p:custDataLst>
              <p:tags r:id="rId4"/>
            </p:custDataLst>
          </p:nvPr>
        </p:nvSpPr>
        <p:spPr>
          <a:xfrm>
            <a:off x="6401339" y="2986024"/>
            <a:ext cx="1256893" cy="257901"/>
          </a:xfrm>
          <a:prstGeom prst="rect">
            <a:avLst/>
          </a:prstGeom>
          <a:solidFill>
            <a:srgbClr val="5066A3"/>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4G</a:t>
            </a:r>
            <a:endPar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3" name="箭头: 五边形 10"/>
          <p:cNvSpPr/>
          <p:nvPr>
            <p:custDataLst>
              <p:tags r:id="rId5"/>
            </p:custDataLst>
          </p:nvPr>
        </p:nvSpPr>
        <p:spPr>
          <a:xfrm>
            <a:off x="8911677" y="2986024"/>
            <a:ext cx="1256893" cy="257901"/>
          </a:xfrm>
          <a:prstGeom prst="homePlate">
            <a:avLst/>
          </a:prstGeom>
          <a:solidFill>
            <a:srgbClr val="305590"/>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a:solidFill>
                  <a:srgbClr val="FFFFFF"/>
                </a:solidFill>
                <a:latin typeface="Times New Roman" panose="02020603050405020304" pitchFamily="18" charset="0"/>
                <a:ea typeface="微软雅黑" panose="020B0503020204020204" charset="-122"/>
                <a:cs typeface="Times New Roman" panose="02020603050405020304" pitchFamily="18" charset="0"/>
              </a:rPr>
              <a:t>6G</a:t>
            </a:r>
            <a:endPar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4" name="文本框 33"/>
          <p:cNvSpPr txBox="1"/>
          <p:nvPr>
            <p:custDataLst>
              <p:tags r:id="rId6"/>
            </p:custDataLst>
          </p:nvPr>
        </p:nvSpPr>
        <p:spPr>
          <a:xfrm>
            <a:off x="2732985" y="3562886"/>
            <a:ext cx="1082485" cy="1018912"/>
          </a:xfrm>
          <a:prstGeom prst="rect">
            <a:avLst/>
          </a:prstGeom>
          <a:noFill/>
        </p:spPr>
        <p:txBody>
          <a:bodyPr wrap="square" lIns="67500" tIns="35100" rIns="67500" bIns="35100" rtlCol="0">
            <a:normAutofit/>
          </a:bodyPr>
          <a:p>
            <a:pPr algn="ctr" defTabSz="571500">
              <a:lnSpc>
                <a:spcPct val="120000"/>
              </a:lnSpc>
              <a:spcAft>
                <a:spcPts val="625"/>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打电话</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35" name="Rectangle 24"/>
          <p:cNvSpPr>
            <a:spLocks noChangeArrowheads="1"/>
          </p:cNvSpPr>
          <p:nvPr>
            <p:custDataLst>
              <p:tags r:id="rId7"/>
            </p:custDataLst>
          </p:nvPr>
        </p:nvSpPr>
        <p:spPr bwMode="auto">
          <a:xfrm>
            <a:off x="2732985"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模拟</a:t>
            </a:r>
            <a:r>
              <a:rPr lang="zh-CN" altLang="en-US" sz="1350" b="1" spc="300">
                <a:solidFill>
                  <a:srgbClr val="000000">
                    <a:lumMod val="75000"/>
                    <a:lumOff val="25000"/>
                  </a:srgbClr>
                </a:solidFill>
                <a:latin typeface="Arial" panose="020B0604020202020204" pitchFamily="34" charset="0"/>
                <a:ea typeface="微软雅黑" panose="020B0503020204020204" charset="-122"/>
              </a:rPr>
              <a:t>语音</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sp>
        <p:nvSpPr>
          <p:cNvPr id="36" name="文本框 35"/>
          <p:cNvSpPr txBox="1"/>
          <p:nvPr>
            <p:custDataLst>
              <p:tags r:id="rId8"/>
            </p:custDataLst>
          </p:nvPr>
        </p:nvSpPr>
        <p:spPr>
          <a:xfrm>
            <a:off x="3986164" y="3562886"/>
            <a:ext cx="1082485" cy="1018912"/>
          </a:xfrm>
          <a:prstGeom prst="rect">
            <a:avLst/>
          </a:prstGeom>
          <a:noFill/>
        </p:spPr>
        <p:txBody>
          <a:bodyPr wrap="square" lIns="67500" tIns="35100" rIns="67500" bIns="35100" rtlCol="0">
            <a:normAutofit/>
          </a:bodyPr>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打电话、发</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短信</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低速数据</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业务</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38" name="Rectangle 24"/>
          <p:cNvSpPr>
            <a:spLocks noChangeArrowheads="1"/>
          </p:cNvSpPr>
          <p:nvPr>
            <p:custDataLst>
              <p:tags r:id="rId9"/>
            </p:custDataLst>
          </p:nvPr>
        </p:nvSpPr>
        <p:spPr bwMode="auto">
          <a:xfrm>
            <a:off x="3986164"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数字</a:t>
            </a:r>
            <a:r>
              <a:rPr lang="zh-CN" altLang="en-US" sz="1350" b="1" spc="300">
                <a:solidFill>
                  <a:srgbClr val="000000">
                    <a:lumMod val="75000"/>
                    <a:lumOff val="25000"/>
                  </a:srgbClr>
                </a:solidFill>
                <a:latin typeface="Arial" panose="020B0604020202020204" pitchFamily="34" charset="0"/>
                <a:ea typeface="微软雅黑" panose="020B0503020204020204" charset="-122"/>
              </a:rPr>
              <a:t>语音</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sp>
        <p:nvSpPr>
          <p:cNvPr id="41" name="文本框 40"/>
          <p:cNvSpPr txBox="1"/>
          <p:nvPr>
            <p:custDataLst>
              <p:tags r:id="rId10"/>
            </p:custDataLst>
          </p:nvPr>
        </p:nvSpPr>
        <p:spPr>
          <a:xfrm>
            <a:off x="5239343" y="3562886"/>
            <a:ext cx="1082485" cy="1018912"/>
          </a:xfrm>
          <a:prstGeom prst="rect">
            <a:avLst/>
          </a:prstGeom>
          <a:noFill/>
        </p:spPr>
        <p:txBody>
          <a:bodyPr wrap="square" lIns="67500" tIns="35100" rIns="67500" bIns="35100" rtlCol="0">
            <a:normAutofit/>
          </a:bodyPr>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发短信、</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互联网</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高速数据</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业务</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52" name="Rectangle 24"/>
          <p:cNvSpPr>
            <a:spLocks noChangeArrowheads="1"/>
          </p:cNvSpPr>
          <p:nvPr>
            <p:custDataLst>
              <p:tags r:id="rId11"/>
            </p:custDataLst>
          </p:nvPr>
        </p:nvSpPr>
        <p:spPr bwMode="auto">
          <a:xfrm>
            <a:off x="5239343"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移动</a:t>
            </a:r>
            <a:r>
              <a:rPr lang="zh-CN" altLang="en-US" sz="1350" b="1" spc="300">
                <a:solidFill>
                  <a:srgbClr val="000000">
                    <a:lumMod val="75000"/>
                    <a:lumOff val="25000"/>
                  </a:srgbClr>
                </a:solidFill>
                <a:latin typeface="Arial" panose="020B0604020202020204" pitchFamily="34" charset="0"/>
                <a:ea typeface="微软雅黑" panose="020B0503020204020204" charset="-122"/>
              </a:rPr>
              <a:t>宽带</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sp>
        <p:nvSpPr>
          <p:cNvPr id="54" name="文本框 53"/>
          <p:cNvSpPr txBox="1"/>
          <p:nvPr>
            <p:custDataLst>
              <p:tags r:id="rId12"/>
            </p:custDataLst>
          </p:nvPr>
        </p:nvSpPr>
        <p:spPr>
          <a:xfrm>
            <a:off x="6492522" y="3562886"/>
            <a:ext cx="1082485" cy="1018912"/>
          </a:xfrm>
          <a:prstGeom prst="rect">
            <a:avLst/>
          </a:prstGeom>
          <a:noFill/>
        </p:spPr>
        <p:txBody>
          <a:bodyPr wrap="square" lIns="67500" tIns="35100" rIns="67500" bIns="35100" rtlCol="0">
            <a:normAutofit/>
          </a:bodyPr>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短信、</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互联网</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看电影</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55" name="Rectangle 24"/>
          <p:cNvSpPr>
            <a:spLocks noChangeArrowheads="1"/>
          </p:cNvSpPr>
          <p:nvPr>
            <p:custDataLst>
              <p:tags r:id="rId13"/>
            </p:custDataLst>
          </p:nvPr>
        </p:nvSpPr>
        <p:spPr bwMode="auto">
          <a:xfrm>
            <a:off x="6492522"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移动</a:t>
            </a:r>
            <a:r>
              <a:rPr lang="zh-CN" altLang="en-US" sz="1350" b="1" spc="300">
                <a:solidFill>
                  <a:srgbClr val="000000">
                    <a:lumMod val="75000"/>
                    <a:lumOff val="25000"/>
                  </a:srgbClr>
                </a:solidFill>
                <a:latin typeface="Arial" panose="020B0604020202020204" pitchFamily="34" charset="0"/>
                <a:ea typeface="微软雅黑" panose="020B0503020204020204" charset="-122"/>
              </a:rPr>
              <a:t>互联网</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sp>
        <p:nvSpPr>
          <p:cNvPr id="65" name="文本框 64"/>
          <p:cNvSpPr txBox="1"/>
          <p:nvPr>
            <p:custDataLst>
              <p:tags r:id="rId14"/>
            </p:custDataLst>
          </p:nvPr>
        </p:nvSpPr>
        <p:spPr>
          <a:xfrm>
            <a:off x="7574915" y="3562985"/>
            <a:ext cx="1583055" cy="1018540"/>
          </a:xfrm>
          <a:prstGeom prst="rect">
            <a:avLst/>
          </a:prstGeom>
          <a:noFill/>
        </p:spPr>
        <p:txBody>
          <a:bodyPr wrap="square" lIns="67500" tIns="35100" rIns="67500" bIns="35100" rtlCol="0">
            <a:normAutofit/>
          </a:bodyPr>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短信、</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互联网</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a:p>
            <a:pPr algn="ctr" defTabSz="571500">
              <a:lnSpc>
                <a:spcPct val="100000"/>
              </a:lnSpc>
              <a:spcAft>
                <a:spcPts val="600"/>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超高清</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视频、智能家</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居</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78" name="Rectangle 24"/>
          <p:cNvSpPr>
            <a:spLocks noChangeArrowheads="1"/>
          </p:cNvSpPr>
          <p:nvPr>
            <p:custDataLst>
              <p:tags r:id="rId15"/>
            </p:custDataLst>
          </p:nvPr>
        </p:nvSpPr>
        <p:spPr bwMode="auto">
          <a:xfrm>
            <a:off x="7745701"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物联网</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sp>
        <p:nvSpPr>
          <p:cNvPr id="79" name="矩形 78"/>
          <p:cNvSpPr/>
          <p:nvPr>
            <p:custDataLst>
              <p:tags r:id="rId16"/>
            </p:custDataLst>
          </p:nvPr>
        </p:nvSpPr>
        <p:spPr>
          <a:xfrm>
            <a:off x="7654309" y="2986024"/>
            <a:ext cx="1256893" cy="257901"/>
          </a:xfrm>
          <a:prstGeom prst="rect">
            <a:avLst/>
          </a:prstGeom>
          <a:solidFill>
            <a:srgbClr val="5E5CA2"/>
          </a:solidFill>
          <a:ln>
            <a:noFill/>
          </a:ln>
        </p:spPr>
        <p:txBody>
          <a:bodyPr vert="horz" wrap="square" lIns="67500" tIns="35100" rIns="67500" bIns="35100" numCol="1" anchor="t" anchorCtr="0" compatLnSpc="1">
            <a:normAutofit fontScale="92500" lnSpcReduction="20000"/>
          </a:bodyPr>
          <a:p>
            <a:pPr algn="ctr" defTabSz="913765">
              <a:lnSpc>
                <a:spcPct val="120000"/>
              </a:lnSpc>
            </a:pPr>
            <a:r>
              <a:rPr lang="en-US" sz="1350" b="1">
                <a:solidFill>
                  <a:srgbClr val="FFFFFF"/>
                </a:solidFill>
                <a:latin typeface="Times New Roman" panose="02020603050405020304" pitchFamily="18" charset="0"/>
                <a:ea typeface="微软雅黑" panose="020B0503020204020204" charset="-122"/>
                <a:cs typeface="Times New Roman" panose="02020603050405020304" pitchFamily="18" charset="0"/>
              </a:rPr>
              <a:t>5G</a:t>
            </a:r>
            <a:endParaRPr lang="en-US" sz="13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0" name="文本框 79"/>
          <p:cNvSpPr txBox="1"/>
          <p:nvPr>
            <p:custDataLst>
              <p:tags r:id="rId17"/>
            </p:custDataLst>
          </p:nvPr>
        </p:nvSpPr>
        <p:spPr>
          <a:xfrm>
            <a:off x="8998880" y="3562886"/>
            <a:ext cx="1082485" cy="1018912"/>
          </a:xfrm>
          <a:prstGeom prst="rect">
            <a:avLst/>
          </a:prstGeom>
          <a:noFill/>
        </p:spPr>
        <p:txBody>
          <a:bodyPr wrap="square" lIns="67500" tIns="35100" rIns="67500" bIns="35100" rtlCol="0">
            <a:normAutofit/>
          </a:bodyPr>
          <a:p>
            <a:pPr algn="ctr" defTabSz="571500">
              <a:lnSpc>
                <a:spcPct val="120000"/>
              </a:lnSpc>
              <a:spcAft>
                <a:spcPts val="625"/>
              </a:spcAft>
            </a:pP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正在</a:t>
            </a:r>
            <a:r>
              <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rPr>
              <a:t>研发</a:t>
            </a:r>
            <a:endParaRPr lang="zh-CN" altLang="en-US" sz="900" spc="150">
              <a:solidFill>
                <a:srgbClr val="FFFFFF">
                  <a:lumMod val="50000"/>
                </a:srgbClr>
              </a:solidFill>
              <a:latin typeface="Arial" panose="020B0604020202020204" pitchFamily="34" charset="0"/>
              <a:ea typeface="微软雅黑" panose="020B0503020204020204" charset="-122"/>
              <a:cs typeface="微软雅黑" panose="020B0503020204020204" charset="-122"/>
            </a:endParaRPr>
          </a:p>
        </p:txBody>
      </p:sp>
      <p:sp>
        <p:nvSpPr>
          <p:cNvPr id="81" name="Rectangle 24"/>
          <p:cNvSpPr>
            <a:spLocks noChangeArrowheads="1"/>
          </p:cNvSpPr>
          <p:nvPr>
            <p:custDataLst>
              <p:tags r:id="rId18"/>
            </p:custDataLst>
          </p:nvPr>
        </p:nvSpPr>
        <p:spPr bwMode="auto">
          <a:xfrm>
            <a:off x="8998880" y="3283561"/>
            <a:ext cx="1082485" cy="252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7500" tIns="35100" rIns="67500" bIns="35100" anchor="b" anchorCtr="0">
            <a:normAutofit fontScale="72500"/>
          </a:bodyPr>
          <a:p>
            <a:pPr algn="ctr">
              <a:lnSpc>
                <a:spcPct val="120000"/>
              </a:lnSpc>
              <a:spcBef>
                <a:spcPts val="395"/>
              </a:spcBef>
            </a:pPr>
            <a:r>
              <a:rPr lang="zh-CN" altLang="en-US" sz="1350" b="1" spc="300">
                <a:solidFill>
                  <a:srgbClr val="000000">
                    <a:lumMod val="75000"/>
                    <a:lumOff val="25000"/>
                  </a:srgbClr>
                </a:solidFill>
                <a:latin typeface="Arial" panose="020B0604020202020204" pitchFamily="34" charset="0"/>
                <a:ea typeface="微软雅黑" panose="020B0503020204020204" charset="-122"/>
              </a:rPr>
              <a:t>？</a:t>
            </a:r>
            <a:endParaRPr lang="zh-CN" altLang="en-US" sz="1350" b="1" spc="300">
              <a:solidFill>
                <a:srgbClr val="000000">
                  <a:lumMod val="75000"/>
                  <a:lumOff val="25000"/>
                </a:srgbClr>
              </a:solidFill>
              <a:latin typeface="Arial" panose="020B0604020202020204" pitchFamily="34" charset="0"/>
              <a:ea typeface="微软雅黑" panose="020B0503020204020204" charset="-122"/>
            </a:endParaRPr>
          </a:p>
        </p:txBody>
      </p:sp>
      <p:graphicFrame>
        <p:nvGraphicFramePr>
          <p:cNvPr id="82" name="对象 81"/>
          <p:cNvGraphicFramePr/>
          <p:nvPr/>
        </p:nvGraphicFramePr>
        <p:xfrm>
          <a:off x="3164840" y="2645410"/>
          <a:ext cx="343535" cy="317500"/>
        </p:xfrm>
        <a:graphic>
          <a:graphicData uri="http://schemas.openxmlformats.org/presentationml/2006/ole">
            <mc:AlternateContent xmlns:mc="http://schemas.openxmlformats.org/markup-compatibility/2006">
              <mc:Choice xmlns:v="urn:schemas-microsoft-com:vml" Requires="v">
                <p:oleObj spid="_x0000_s83" name="" r:id="rId19" imgW="342900" imgH="317500" progId="Paint.Picture">
                  <p:embed/>
                </p:oleObj>
              </mc:Choice>
              <mc:Fallback>
                <p:oleObj name="" r:id="rId19" imgW="342900" imgH="317500" progId="Paint.Picture">
                  <p:embed/>
                  <p:pic>
                    <p:nvPicPr>
                      <p:cNvPr id="0" name="图片 27"/>
                      <p:cNvPicPr/>
                      <p:nvPr/>
                    </p:nvPicPr>
                    <p:blipFill>
                      <a:blip r:embed="rId20"/>
                      <a:stretch>
                        <a:fillRect/>
                      </a:stretch>
                    </p:blipFill>
                    <p:spPr>
                      <a:xfrm>
                        <a:off x="3164840" y="2645410"/>
                        <a:ext cx="343535" cy="317500"/>
                      </a:xfrm>
                      <a:prstGeom prst="rect">
                        <a:avLst/>
                      </a:prstGeom>
                    </p:spPr>
                  </p:pic>
                </p:oleObj>
              </mc:Fallback>
            </mc:AlternateContent>
          </a:graphicData>
        </a:graphic>
      </p:graphicFrame>
      <p:graphicFrame>
        <p:nvGraphicFramePr>
          <p:cNvPr id="84" name="对象 83"/>
          <p:cNvGraphicFramePr/>
          <p:nvPr/>
        </p:nvGraphicFramePr>
        <p:xfrm>
          <a:off x="4429125" y="2403475"/>
          <a:ext cx="234950" cy="559435"/>
        </p:xfrm>
        <a:graphic>
          <a:graphicData uri="http://schemas.openxmlformats.org/presentationml/2006/ole">
            <mc:AlternateContent xmlns:mc="http://schemas.openxmlformats.org/markup-compatibility/2006">
              <mc:Choice xmlns:v="urn:schemas-microsoft-com:vml" Requires="v">
                <p:oleObj spid="_x0000_s85" name="" r:id="rId21" imgW="234950" imgH="558800" progId="Paint.Picture">
                  <p:embed/>
                </p:oleObj>
              </mc:Choice>
              <mc:Fallback>
                <p:oleObj name="" r:id="rId21" imgW="234950" imgH="558800" progId="Paint.Picture">
                  <p:embed/>
                  <p:pic>
                    <p:nvPicPr>
                      <p:cNvPr id="0" name="图片 42"/>
                      <p:cNvPicPr/>
                      <p:nvPr/>
                    </p:nvPicPr>
                    <p:blipFill>
                      <a:blip r:embed="rId22"/>
                      <a:stretch>
                        <a:fillRect/>
                      </a:stretch>
                    </p:blipFill>
                    <p:spPr>
                      <a:xfrm>
                        <a:off x="4429125" y="2403475"/>
                        <a:ext cx="234950" cy="559435"/>
                      </a:xfrm>
                      <a:prstGeom prst="rect">
                        <a:avLst/>
                      </a:prstGeom>
                    </p:spPr>
                  </p:pic>
                </p:oleObj>
              </mc:Fallback>
            </mc:AlternateContent>
          </a:graphicData>
        </a:graphic>
      </p:graphicFrame>
      <p:graphicFrame>
        <p:nvGraphicFramePr>
          <p:cNvPr id="86" name="对象 85"/>
          <p:cNvGraphicFramePr/>
          <p:nvPr/>
        </p:nvGraphicFramePr>
        <p:xfrm>
          <a:off x="5662295" y="2435225"/>
          <a:ext cx="279400" cy="527685"/>
        </p:xfrm>
        <a:graphic>
          <a:graphicData uri="http://schemas.openxmlformats.org/presentationml/2006/ole">
            <mc:AlternateContent xmlns:mc="http://schemas.openxmlformats.org/markup-compatibility/2006">
              <mc:Choice xmlns:v="urn:schemas-microsoft-com:vml" Requires="v">
                <p:oleObj spid="_x0000_s87" name="" r:id="rId23" imgW="279400" imgH="527050" progId="Paint.Picture">
                  <p:embed/>
                </p:oleObj>
              </mc:Choice>
              <mc:Fallback>
                <p:oleObj name="" r:id="rId23" imgW="279400" imgH="527050" progId="Paint.Picture">
                  <p:embed/>
                  <p:pic>
                    <p:nvPicPr>
                      <p:cNvPr id="0" name="图片 44"/>
                      <p:cNvPicPr/>
                      <p:nvPr/>
                    </p:nvPicPr>
                    <p:blipFill>
                      <a:blip r:embed="rId24"/>
                      <a:stretch>
                        <a:fillRect/>
                      </a:stretch>
                    </p:blipFill>
                    <p:spPr>
                      <a:xfrm>
                        <a:off x="5662295" y="2435225"/>
                        <a:ext cx="279400" cy="527685"/>
                      </a:xfrm>
                      <a:prstGeom prst="rect">
                        <a:avLst/>
                      </a:prstGeom>
                    </p:spPr>
                  </p:pic>
                </p:oleObj>
              </mc:Fallback>
            </mc:AlternateContent>
          </a:graphicData>
        </a:graphic>
      </p:graphicFrame>
      <p:graphicFrame>
        <p:nvGraphicFramePr>
          <p:cNvPr id="88" name="对象 87"/>
          <p:cNvGraphicFramePr/>
          <p:nvPr/>
        </p:nvGraphicFramePr>
        <p:xfrm>
          <a:off x="6888480" y="2423160"/>
          <a:ext cx="305435" cy="539750"/>
        </p:xfrm>
        <a:graphic>
          <a:graphicData uri="http://schemas.openxmlformats.org/presentationml/2006/ole">
            <mc:AlternateContent xmlns:mc="http://schemas.openxmlformats.org/markup-compatibility/2006">
              <mc:Choice xmlns:v="urn:schemas-microsoft-com:vml" Requires="v">
                <p:oleObj spid="_x0000_s89" name="" r:id="rId25" imgW="304800" imgH="539750" progId="Paint.Picture">
                  <p:embed/>
                </p:oleObj>
              </mc:Choice>
              <mc:Fallback>
                <p:oleObj name="" r:id="rId25" imgW="304800" imgH="539750" progId="Paint.Picture">
                  <p:embed/>
                  <p:pic>
                    <p:nvPicPr>
                      <p:cNvPr id="0" name="图片 46"/>
                      <p:cNvPicPr/>
                      <p:nvPr/>
                    </p:nvPicPr>
                    <p:blipFill>
                      <a:blip r:embed="rId26"/>
                      <a:stretch>
                        <a:fillRect/>
                      </a:stretch>
                    </p:blipFill>
                    <p:spPr>
                      <a:xfrm>
                        <a:off x="6888480" y="2423160"/>
                        <a:ext cx="305435" cy="539750"/>
                      </a:xfrm>
                      <a:prstGeom prst="rect">
                        <a:avLst/>
                      </a:prstGeom>
                    </p:spPr>
                  </p:pic>
                </p:oleObj>
              </mc:Fallback>
            </mc:AlternateContent>
          </a:graphicData>
        </a:graphic>
      </p:graphicFrame>
      <p:graphicFrame>
        <p:nvGraphicFramePr>
          <p:cNvPr id="90" name="对象 89"/>
          <p:cNvGraphicFramePr/>
          <p:nvPr/>
        </p:nvGraphicFramePr>
        <p:xfrm>
          <a:off x="7944485" y="2383790"/>
          <a:ext cx="615315" cy="579120"/>
        </p:xfrm>
        <a:graphic>
          <a:graphicData uri="http://schemas.openxmlformats.org/presentationml/2006/ole">
            <mc:AlternateContent xmlns:mc="http://schemas.openxmlformats.org/markup-compatibility/2006">
              <mc:Choice xmlns:v="urn:schemas-microsoft-com:vml" Requires="v">
                <p:oleObj spid="_x0000_s91" name="" r:id="rId27" imgW="825500" imgH="838200" progId="Paint.Picture">
                  <p:embed/>
                </p:oleObj>
              </mc:Choice>
              <mc:Fallback>
                <p:oleObj name="" r:id="rId27" imgW="825500" imgH="838200" progId="Paint.Picture">
                  <p:embed/>
                  <p:pic>
                    <p:nvPicPr>
                      <p:cNvPr id="0" name="图片 48"/>
                      <p:cNvPicPr/>
                      <p:nvPr/>
                    </p:nvPicPr>
                    <p:blipFill>
                      <a:blip r:embed="rId28"/>
                      <a:stretch>
                        <a:fillRect/>
                      </a:stretch>
                    </p:blipFill>
                    <p:spPr>
                      <a:xfrm>
                        <a:off x="7944485" y="2383790"/>
                        <a:ext cx="615315" cy="579120"/>
                      </a:xfrm>
                      <a:prstGeom prst="rect">
                        <a:avLst/>
                      </a:prstGeom>
                    </p:spPr>
                  </p:pic>
                </p:oleObj>
              </mc:Fallback>
            </mc:AlternateContent>
          </a:graphicData>
        </a:graphic>
      </p:graphicFrame>
      <p:graphicFrame>
        <p:nvGraphicFramePr>
          <p:cNvPr id="92" name="对象 91"/>
          <p:cNvGraphicFramePr/>
          <p:nvPr/>
        </p:nvGraphicFramePr>
        <p:xfrm>
          <a:off x="9267190" y="2451100"/>
          <a:ext cx="499745" cy="511810"/>
        </p:xfrm>
        <a:graphic>
          <a:graphicData uri="http://schemas.openxmlformats.org/presentationml/2006/ole">
            <mc:AlternateContent xmlns:mc="http://schemas.openxmlformats.org/markup-compatibility/2006">
              <mc:Choice xmlns:v="urn:schemas-microsoft-com:vml" Requires="v">
                <p:oleObj spid="_x0000_s93" name="" r:id="rId29" imgW="1695450" imgH="1657350" progId="Paint.Picture">
                  <p:embed/>
                </p:oleObj>
              </mc:Choice>
              <mc:Fallback>
                <p:oleObj name="" r:id="rId29" imgW="1695450" imgH="1657350" progId="Paint.Picture">
                  <p:embed/>
                  <p:pic>
                    <p:nvPicPr>
                      <p:cNvPr id="0" name="图片 50"/>
                      <p:cNvPicPr/>
                      <p:nvPr/>
                    </p:nvPicPr>
                    <p:blipFill>
                      <a:blip r:embed="rId30"/>
                      <a:stretch>
                        <a:fillRect/>
                      </a:stretch>
                    </p:blipFill>
                    <p:spPr>
                      <a:xfrm>
                        <a:off x="9267190" y="2451100"/>
                        <a:ext cx="499745" cy="511810"/>
                      </a:xfrm>
                      <a:prstGeom prst="rect">
                        <a:avLst/>
                      </a:prstGeom>
                    </p:spPr>
                  </p:pic>
                </p:oleObj>
              </mc:Fallback>
            </mc:AlternateContent>
          </a:graphicData>
        </a:graphic>
      </p:graphicFrame>
      <p:cxnSp>
        <p:nvCxnSpPr>
          <p:cNvPr id="94" name="直接箭头连接符 93"/>
          <p:cNvCxnSpPr/>
          <p:nvPr/>
        </p:nvCxnSpPr>
        <p:spPr>
          <a:xfrm>
            <a:off x="1638300" y="4112895"/>
            <a:ext cx="8763000" cy="0"/>
          </a:xfrm>
          <a:prstGeom prst="straightConnector1">
            <a:avLst/>
          </a:prstGeom>
          <a:noFill/>
          <a:ln>
            <a:gradFill>
              <a:gsLst>
                <a:gs pos="0">
                  <a:srgbClr val="FE4444"/>
                </a:gs>
                <a:gs pos="100000">
                  <a:srgbClr val="832B2B"/>
                </a:gs>
              </a:gsLst>
            </a:gradFill>
            <a:tailEnd type="arrow"/>
          </a:ln>
        </p:spPr>
      </p:cxnSp>
      <p:sp>
        <p:nvSpPr>
          <p:cNvPr id="95" name="椭圆 94"/>
          <p:cNvSpPr/>
          <p:nvPr/>
        </p:nvSpPr>
        <p:spPr>
          <a:xfrm>
            <a:off x="323532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6" name="椭圆 95"/>
          <p:cNvSpPr/>
          <p:nvPr/>
        </p:nvSpPr>
        <p:spPr>
          <a:xfrm>
            <a:off x="5704840"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7" name="椭圆 96"/>
          <p:cNvSpPr/>
          <p:nvPr/>
        </p:nvSpPr>
        <p:spPr>
          <a:xfrm>
            <a:off x="215328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8" name="椭圆 97"/>
          <p:cNvSpPr/>
          <p:nvPr/>
        </p:nvSpPr>
        <p:spPr>
          <a:xfrm>
            <a:off x="819848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9" name="椭圆 98"/>
          <p:cNvSpPr/>
          <p:nvPr/>
        </p:nvSpPr>
        <p:spPr>
          <a:xfrm>
            <a:off x="955865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0" name="椭圆 99"/>
          <p:cNvSpPr/>
          <p:nvPr/>
        </p:nvSpPr>
        <p:spPr>
          <a:xfrm>
            <a:off x="457136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1" name="椭圆 100"/>
          <p:cNvSpPr/>
          <p:nvPr/>
        </p:nvSpPr>
        <p:spPr>
          <a:xfrm>
            <a:off x="6989445" y="4054475"/>
            <a:ext cx="76200" cy="762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02" name="文本框 101"/>
          <p:cNvSpPr txBox="1"/>
          <p:nvPr/>
        </p:nvSpPr>
        <p:spPr>
          <a:xfrm>
            <a:off x="2975610"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1980s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3" name="文本框 102"/>
          <p:cNvSpPr txBox="1"/>
          <p:nvPr/>
        </p:nvSpPr>
        <p:spPr>
          <a:xfrm>
            <a:off x="4311650"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1990s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4" name="文本框 103"/>
          <p:cNvSpPr txBox="1"/>
          <p:nvPr/>
        </p:nvSpPr>
        <p:spPr>
          <a:xfrm>
            <a:off x="5496560"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2000s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5" name="文本框 104"/>
          <p:cNvSpPr txBox="1"/>
          <p:nvPr/>
        </p:nvSpPr>
        <p:spPr>
          <a:xfrm>
            <a:off x="6757035"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2010s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6" name="文本框 105"/>
          <p:cNvSpPr txBox="1"/>
          <p:nvPr/>
        </p:nvSpPr>
        <p:spPr>
          <a:xfrm>
            <a:off x="7941945"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2020s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7" name="文本框 106"/>
          <p:cNvSpPr txBox="1"/>
          <p:nvPr/>
        </p:nvSpPr>
        <p:spPr>
          <a:xfrm>
            <a:off x="1893570" y="4121785"/>
            <a:ext cx="792480" cy="337185"/>
          </a:xfrm>
          <a:prstGeom prst="rect">
            <a:avLst/>
          </a:prstGeom>
          <a:noFill/>
        </p:spPr>
        <p:txBody>
          <a:bodyPr wrap="square" rtlCol="0" anchor="t">
            <a:spAutoFit/>
          </a:bodyPr>
          <a:p>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1940</a:t>
            </a:r>
            <a:r>
              <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rPr>
              <a:t>s</a:t>
            </a:r>
            <a:endParaRPr lang="en-US"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108" name="文本框 107"/>
          <p:cNvSpPr txBox="1"/>
          <p:nvPr/>
        </p:nvSpPr>
        <p:spPr>
          <a:xfrm>
            <a:off x="2668905" y="4384675"/>
            <a:ext cx="1327150"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模拟技术</a:t>
            </a:r>
            <a:endParaRPr lang="zh-CN" altLang="en-US" sz="1400" b="1" dirty="0">
              <a:solidFill>
                <a:srgbClr val="00B0F0"/>
              </a:solidFill>
              <a:latin typeface="黑体" panose="02010609060101010101" pitchFamily="49" charset="-122"/>
              <a:ea typeface="黑体" panose="02010609060101010101" pitchFamily="49" charset="-122"/>
              <a:sym typeface="+mn-ea"/>
            </a:endParaRPr>
          </a:p>
          <a:p>
            <a:pPr algn="ctr"/>
            <a:r>
              <a:rPr lang="zh-CN" altLang="en-US" sz="1400" b="1" dirty="0">
                <a:solidFill>
                  <a:srgbClr val="00B0F0"/>
                </a:solidFill>
                <a:latin typeface="黑体" panose="02010609060101010101" pitchFamily="49" charset="-122"/>
                <a:ea typeface="黑体" panose="02010609060101010101" pitchFamily="49" charset="-122"/>
                <a:sym typeface="+mn-ea"/>
              </a:rPr>
              <a:t>频分多址技术</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109" name="文本框 108"/>
          <p:cNvSpPr txBox="1"/>
          <p:nvPr/>
        </p:nvSpPr>
        <p:spPr>
          <a:xfrm>
            <a:off x="1737995" y="4384675"/>
            <a:ext cx="908050"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编码理论</a:t>
            </a:r>
            <a:endParaRPr lang="zh-CN" altLang="en-US" sz="1400" b="1" dirty="0">
              <a:solidFill>
                <a:srgbClr val="00B0F0"/>
              </a:solidFill>
              <a:latin typeface="黑体" panose="02010609060101010101" pitchFamily="49" charset="-122"/>
              <a:ea typeface="黑体" panose="02010609060101010101" pitchFamily="49" charset="-122"/>
              <a:sym typeface="+mn-ea"/>
            </a:endParaRPr>
          </a:p>
          <a:p>
            <a:pPr algn="ctr"/>
            <a:r>
              <a:rPr lang="zh-CN" altLang="en-US" sz="1400" b="1" dirty="0">
                <a:solidFill>
                  <a:srgbClr val="00B0F0"/>
                </a:solidFill>
                <a:latin typeface="黑体" panose="02010609060101010101" pitchFamily="49" charset="-122"/>
                <a:ea typeface="黑体" panose="02010609060101010101" pitchFamily="49" charset="-122"/>
                <a:sym typeface="+mn-ea"/>
              </a:rPr>
              <a:t>信息论</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110" name="文本框 109"/>
          <p:cNvSpPr txBox="1"/>
          <p:nvPr/>
        </p:nvSpPr>
        <p:spPr>
          <a:xfrm>
            <a:off x="5377180" y="4384675"/>
            <a:ext cx="1022985"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码分多址</a:t>
            </a:r>
            <a:endParaRPr lang="en-US" altLang="zh-CN" sz="1400" b="1" dirty="0">
              <a:solidFill>
                <a:srgbClr val="00B0F0"/>
              </a:solidFill>
              <a:latin typeface="黑体" panose="02010609060101010101" pitchFamily="49" charset="-122"/>
              <a:ea typeface="黑体" panose="02010609060101010101" pitchFamily="49" charset="-122"/>
              <a:sym typeface="+mn-ea"/>
            </a:endParaRPr>
          </a:p>
          <a:p>
            <a:pPr algn="ctr"/>
            <a:r>
              <a:rPr lang="en-US" altLang="zh-CN" sz="1400" b="1" dirty="0">
                <a:solidFill>
                  <a:srgbClr val="00B0F0"/>
                </a:solidFill>
                <a:latin typeface="Times New Roman" panose="02020603050405020304" pitchFamily="18" charset="0"/>
                <a:ea typeface="黑体" panose="02010609060101010101" pitchFamily="49" charset="-122"/>
                <a:cs typeface="Times New Roman" panose="02020603050405020304" pitchFamily="18" charset="0"/>
                <a:sym typeface="+mn-ea"/>
              </a:rPr>
              <a:t>Turbo</a:t>
            </a:r>
            <a:r>
              <a:rPr lang="zh-CN" altLang="en-US" sz="1400" b="1" dirty="0">
                <a:solidFill>
                  <a:srgbClr val="00B0F0"/>
                </a:solidFill>
                <a:latin typeface="黑体" panose="02010609060101010101" pitchFamily="49" charset="-122"/>
                <a:ea typeface="黑体" panose="02010609060101010101" pitchFamily="49" charset="-122"/>
                <a:sym typeface="+mn-ea"/>
              </a:rPr>
              <a:t>码</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111" name="文本框 110"/>
          <p:cNvSpPr txBox="1"/>
          <p:nvPr/>
        </p:nvSpPr>
        <p:spPr>
          <a:xfrm>
            <a:off x="4141470" y="4384675"/>
            <a:ext cx="969010"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时分多址</a:t>
            </a:r>
            <a:endParaRPr lang="zh-CN" altLang="en-US" sz="1400" b="1" dirty="0">
              <a:solidFill>
                <a:srgbClr val="00B0F0"/>
              </a:solidFill>
              <a:latin typeface="黑体" panose="02010609060101010101" pitchFamily="49" charset="-122"/>
              <a:ea typeface="黑体" panose="02010609060101010101" pitchFamily="49" charset="-122"/>
              <a:sym typeface="+mn-ea"/>
            </a:endParaRPr>
          </a:p>
          <a:p>
            <a:pPr algn="ctr"/>
            <a:r>
              <a:rPr lang="zh-CN" altLang="en-US" sz="1400" b="1" dirty="0">
                <a:solidFill>
                  <a:srgbClr val="00B0F0"/>
                </a:solidFill>
                <a:latin typeface="黑体" panose="02010609060101010101" pitchFamily="49" charset="-122"/>
                <a:ea typeface="黑体" panose="02010609060101010101" pitchFamily="49" charset="-122"/>
                <a:sym typeface="+mn-ea"/>
              </a:rPr>
              <a:t>卷积码</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112" name="文本框 111"/>
          <p:cNvSpPr txBox="1"/>
          <p:nvPr/>
        </p:nvSpPr>
        <p:spPr>
          <a:xfrm>
            <a:off x="7783195" y="4384675"/>
            <a:ext cx="1012190"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极化码</a:t>
            </a:r>
            <a:endParaRPr lang="zh-CN" altLang="en-US" sz="1400" b="1" dirty="0">
              <a:solidFill>
                <a:srgbClr val="00B0F0"/>
              </a:solidFill>
              <a:latin typeface="黑体" panose="02010609060101010101" pitchFamily="49" charset="-122"/>
              <a:ea typeface="黑体" panose="02010609060101010101" pitchFamily="49" charset="-122"/>
              <a:sym typeface="+mn-ea"/>
            </a:endParaRPr>
          </a:p>
          <a:p>
            <a:pPr algn="ctr"/>
            <a:r>
              <a:rPr lang="en-US" altLang="zh-CN" sz="1400" b="1" dirty="0">
                <a:solidFill>
                  <a:srgbClr val="00B0F0"/>
                </a:solidFill>
                <a:latin typeface="Times New Roman" panose="02020603050405020304" pitchFamily="18" charset="0"/>
                <a:ea typeface="黑体" panose="02010609060101010101" pitchFamily="49" charset="-122"/>
                <a:cs typeface="Times New Roman" panose="02020603050405020304" pitchFamily="18" charset="0"/>
                <a:sym typeface="+mn-ea"/>
              </a:rPr>
              <a:t>LDPC</a:t>
            </a:r>
            <a:r>
              <a:rPr lang="zh-CN" altLang="en-US" sz="1400" b="1" dirty="0">
                <a:solidFill>
                  <a:srgbClr val="00B0F0"/>
                </a:solidFill>
                <a:latin typeface="黑体" panose="02010609060101010101" pitchFamily="49" charset="-122"/>
                <a:ea typeface="黑体" panose="02010609060101010101" pitchFamily="49" charset="-122"/>
                <a:sym typeface="+mn-ea"/>
              </a:rPr>
              <a:t>码</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113" name="文本框 112"/>
          <p:cNvSpPr txBox="1"/>
          <p:nvPr/>
        </p:nvSpPr>
        <p:spPr>
          <a:xfrm>
            <a:off x="6417310" y="4384675"/>
            <a:ext cx="1449705" cy="521970"/>
          </a:xfrm>
          <a:prstGeom prst="rect">
            <a:avLst/>
          </a:prstGeom>
          <a:noFill/>
        </p:spPr>
        <p:txBody>
          <a:bodyPr wrap="square" rtlCol="0" anchor="t">
            <a:spAutoFit/>
          </a:bodyPr>
          <a:p>
            <a:pPr algn="ctr"/>
            <a:r>
              <a:rPr lang="zh-CN" altLang="en-US" sz="1400" b="1" dirty="0">
                <a:solidFill>
                  <a:srgbClr val="00B0F0"/>
                </a:solidFill>
                <a:latin typeface="黑体" panose="02010609060101010101" pitchFamily="49" charset="-122"/>
                <a:ea typeface="黑体" panose="02010609060101010101" pitchFamily="49" charset="-122"/>
                <a:sym typeface="+mn-ea"/>
              </a:rPr>
              <a:t>正交频分复用</a:t>
            </a:r>
            <a:endParaRPr lang="zh-CN" altLang="en-US" sz="1400" b="1" dirty="0">
              <a:solidFill>
                <a:srgbClr val="00B0F0"/>
              </a:solidFill>
              <a:latin typeface="黑体" panose="02010609060101010101" pitchFamily="49" charset="-122"/>
              <a:ea typeface="黑体" panose="02010609060101010101" pitchFamily="49" charset="-122"/>
              <a:sym typeface="+mn-ea"/>
            </a:endParaRPr>
          </a:p>
          <a:p>
            <a:pPr algn="ctr"/>
            <a:r>
              <a:rPr lang="en-US" altLang="zh-CN" sz="1400" b="1" dirty="0">
                <a:solidFill>
                  <a:srgbClr val="00B0F0"/>
                </a:solidFill>
                <a:latin typeface="Times New Roman" panose="02020603050405020304" pitchFamily="18" charset="0"/>
                <a:ea typeface="黑体" panose="02010609060101010101" pitchFamily="49" charset="-122"/>
                <a:cs typeface="Times New Roman" panose="02020603050405020304" pitchFamily="18" charset="0"/>
                <a:sym typeface="+mn-ea"/>
              </a:rPr>
              <a:t>Turbo</a:t>
            </a:r>
            <a:r>
              <a:rPr lang="zh-CN" altLang="en-US" sz="1400" b="1" dirty="0">
                <a:solidFill>
                  <a:srgbClr val="00B0F0"/>
                </a:solidFill>
                <a:latin typeface="黑体" panose="02010609060101010101" pitchFamily="49" charset="-122"/>
                <a:ea typeface="黑体" panose="02010609060101010101" pitchFamily="49" charset="-122"/>
                <a:sym typeface="+mn-ea"/>
              </a:rPr>
              <a:t>码</a:t>
            </a:r>
            <a:endParaRPr lang="zh-CN" altLang="en-US" sz="1400" b="1" dirty="0">
              <a:solidFill>
                <a:srgbClr val="00B0F0"/>
              </a:solidFill>
              <a:latin typeface="黑体" panose="02010609060101010101" pitchFamily="49" charset="-122"/>
              <a:ea typeface="黑体" panose="02010609060101010101" pitchFamily="49" charset="-122"/>
              <a:sym typeface="+mn-ea"/>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课程内容</a:t>
            </a:r>
            <a:r>
              <a:rPr lang="en-US" altLang="zh-CN"/>
              <a:t>—</a:t>
            </a:r>
            <a:r>
              <a:rPr lang="zh-CN" altLang="en-US" sz="2800">
                <a:solidFill>
                  <a:schemeClr val="accent1"/>
                </a:solidFill>
              </a:rPr>
              <a:t>课程QQ群</a:t>
            </a:r>
            <a:r>
              <a:rPr lang="en-US" altLang="zh-CN" sz="2800">
                <a:solidFill>
                  <a:schemeClr val="accent1"/>
                </a:solidFill>
              </a:rPr>
              <a:t> 926571811</a:t>
            </a:r>
            <a:endParaRPr lang="en-US" altLang="zh-CN" sz="2800">
              <a:solidFill>
                <a:schemeClr val="accent1"/>
              </a:solidFill>
            </a:endParaRPr>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6" name="圆角矩形 25"/>
          <p:cNvSpPr/>
          <p:nvPr/>
        </p:nvSpPr>
        <p:spPr>
          <a:xfrm>
            <a:off x="4973955" y="3115945"/>
            <a:ext cx="2007870" cy="914400"/>
          </a:xfrm>
          <a:prstGeom prst="roundRect">
            <a:avLst/>
          </a:prstGeom>
          <a:solidFill>
            <a:srgbClr val="F6B9EB"/>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800">
                <a:solidFill>
                  <a:schemeClr val="tx1"/>
                </a:solidFill>
              </a:rPr>
              <a:t>知识体系</a:t>
            </a:r>
            <a:endParaRPr lang="zh-CN" altLang="en-US" sz="2800">
              <a:solidFill>
                <a:schemeClr val="tx1"/>
              </a:solidFill>
            </a:endParaRPr>
          </a:p>
        </p:txBody>
      </p:sp>
      <p:sp>
        <p:nvSpPr>
          <p:cNvPr id="27" name="圆角矩形 26"/>
          <p:cNvSpPr/>
          <p:nvPr/>
        </p:nvSpPr>
        <p:spPr>
          <a:xfrm>
            <a:off x="3339465" y="2115820"/>
            <a:ext cx="1527810" cy="678815"/>
          </a:xfrm>
          <a:prstGeom prst="roundRect">
            <a:avLst/>
          </a:prstGeom>
          <a:solidFill>
            <a:schemeClr val="bg2">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000">
                <a:solidFill>
                  <a:schemeClr val="tx1"/>
                </a:solidFill>
              </a:rPr>
              <a:t>信息论基础</a:t>
            </a:r>
            <a:endParaRPr lang="zh-CN" altLang="en-US" sz="2000">
              <a:solidFill>
                <a:schemeClr val="tx1"/>
              </a:solidFill>
            </a:endParaRPr>
          </a:p>
        </p:txBody>
      </p:sp>
      <p:sp>
        <p:nvSpPr>
          <p:cNvPr id="35" name="圆角矩形 34"/>
          <p:cNvSpPr/>
          <p:nvPr/>
        </p:nvSpPr>
        <p:spPr>
          <a:xfrm>
            <a:off x="7289800" y="2115820"/>
            <a:ext cx="1410335" cy="679450"/>
          </a:xfrm>
          <a:prstGeom prst="roundRect">
            <a:avLst/>
          </a:prstGeom>
          <a:solidFill>
            <a:schemeClr val="bg2">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000">
                <a:solidFill>
                  <a:schemeClr val="tx1"/>
                </a:solidFill>
              </a:rPr>
              <a:t>经典信道纠错码</a:t>
            </a:r>
            <a:endParaRPr lang="zh-CN" altLang="en-US" sz="2000">
              <a:solidFill>
                <a:schemeClr val="tx1"/>
              </a:solidFill>
            </a:endParaRPr>
          </a:p>
        </p:txBody>
      </p:sp>
      <p:sp>
        <p:nvSpPr>
          <p:cNvPr id="36" name="圆角矩形 35"/>
          <p:cNvSpPr/>
          <p:nvPr/>
        </p:nvSpPr>
        <p:spPr>
          <a:xfrm>
            <a:off x="3339465" y="4418965"/>
            <a:ext cx="1527810" cy="770255"/>
          </a:xfrm>
          <a:prstGeom prst="roundRect">
            <a:avLst/>
          </a:prstGeom>
          <a:solidFill>
            <a:schemeClr val="bg2">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000">
                <a:solidFill>
                  <a:schemeClr val="tx1"/>
                </a:solidFill>
              </a:rPr>
              <a:t>新型信道纠错码</a:t>
            </a:r>
            <a:endParaRPr lang="zh-CN" altLang="en-US" sz="2000">
              <a:solidFill>
                <a:schemeClr val="tx1"/>
              </a:solidFill>
            </a:endParaRPr>
          </a:p>
        </p:txBody>
      </p:sp>
      <p:sp>
        <p:nvSpPr>
          <p:cNvPr id="42" name="圆角矩形 41"/>
          <p:cNvSpPr/>
          <p:nvPr/>
        </p:nvSpPr>
        <p:spPr>
          <a:xfrm>
            <a:off x="7289800" y="4418965"/>
            <a:ext cx="1560830" cy="770255"/>
          </a:xfrm>
          <a:prstGeom prst="roundRect">
            <a:avLst/>
          </a:prstGeom>
          <a:solidFill>
            <a:schemeClr val="bg2">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000">
                <a:solidFill>
                  <a:schemeClr val="tx1"/>
                </a:solidFill>
              </a:rPr>
              <a:t>移动</a:t>
            </a:r>
            <a:r>
              <a:rPr lang="zh-CN" altLang="en-US" sz="2000">
                <a:solidFill>
                  <a:schemeClr val="tx1"/>
                </a:solidFill>
              </a:rPr>
              <a:t>通信编码标准规范</a:t>
            </a:r>
            <a:endParaRPr lang="zh-CN" altLang="en-US" sz="2000">
              <a:solidFill>
                <a:schemeClr val="tx1"/>
              </a:solidFill>
            </a:endParaRPr>
          </a:p>
        </p:txBody>
      </p:sp>
      <p:cxnSp>
        <p:nvCxnSpPr>
          <p:cNvPr id="43" name="直接连接符 42"/>
          <p:cNvCxnSpPr/>
          <p:nvPr/>
        </p:nvCxnSpPr>
        <p:spPr>
          <a:xfrm>
            <a:off x="4848225" y="2507615"/>
            <a:ext cx="609600" cy="609600"/>
          </a:xfrm>
          <a:prstGeom prst="line">
            <a:avLst/>
          </a:prstGeom>
          <a:noFill/>
          <a:ln>
            <a:solidFill>
              <a:srgbClr val="0070C0"/>
            </a:solidFill>
          </a:ln>
        </p:spPr>
      </p:cxnSp>
      <p:cxnSp>
        <p:nvCxnSpPr>
          <p:cNvPr id="44" name="直接连接符 43"/>
          <p:cNvCxnSpPr>
            <a:stCxn id="35" idx="1"/>
          </p:cNvCxnSpPr>
          <p:nvPr/>
        </p:nvCxnSpPr>
        <p:spPr>
          <a:xfrm flipH="1">
            <a:off x="6524625" y="2455545"/>
            <a:ext cx="765175" cy="659130"/>
          </a:xfrm>
          <a:prstGeom prst="line">
            <a:avLst/>
          </a:prstGeom>
          <a:noFill/>
          <a:ln>
            <a:solidFill>
              <a:srgbClr val="0070C0"/>
            </a:solidFill>
          </a:ln>
        </p:spPr>
      </p:cxnSp>
      <p:cxnSp>
        <p:nvCxnSpPr>
          <p:cNvPr id="45" name="直接连接符 44"/>
          <p:cNvCxnSpPr/>
          <p:nvPr/>
        </p:nvCxnSpPr>
        <p:spPr>
          <a:xfrm flipV="1">
            <a:off x="4846955" y="4031615"/>
            <a:ext cx="687705" cy="687070"/>
          </a:xfrm>
          <a:prstGeom prst="line">
            <a:avLst/>
          </a:prstGeom>
          <a:noFill/>
          <a:ln>
            <a:solidFill>
              <a:srgbClr val="0070C0"/>
            </a:solidFill>
          </a:ln>
        </p:spPr>
      </p:cxnSp>
      <p:cxnSp>
        <p:nvCxnSpPr>
          <p:cNvPr id="46" name="直接连接符 45"/>
          <p:cNvCxnSpPr/>
          <p:nvPr/>
        </p:nvCxnSpPr>
        <p:spPr>
          <a:xfrm flipH="1" flipV="1">
            <a:off x="6372860" y="4031615"/>
            <a:ext cx="912495" cy="687070"/>
          </a:xfrm>
          <a:prstGeom prst="line">
            <a:avLst/>
          </a:prstGeom>
          <a:noFill/>
          <a:ln>
            <a:solidFill>
              <a:srgbClr val="0070C0"/>
            </a:solidFill>
          </a:ln>
        </p:spPr>
      </p:cxnSp>
      <p:sp>
        <p:nvSpPr>
          <p:cNvPr id="47" name="文本框 46"/>
          <p:cNvSpPr txBox="1"/>
          <p:nvPr/>
        </p:nvSpPr>
        <p:spPr>
          <a:xfrm>
            <a:off x="9016365" y="2100580"/>
            <a:ext cx="1392555" cy="645160"/>
          </a:xfrm>
          <a:prstGeom prst="rect">
            <a:avLst/>
          </a:prstGeom>
          <a:noFill/>
        </p:spPr>
        <p:txBody>
          <a:bodyPr wrap="square" rtlCol="0" anchor="t">
            <a:spAutoFit/>
          </a:bodyPr>
          <a:p>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分组码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循环码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48" name="文本框 47"/>
          <p:cNvSpPr txBox="1"/>
          <p:nvPr/>
        </p:nvSpPr>
        <p:spPr>
          <a:xfrm>
            <a:off x="8618220" y="1742440"/>
            <a:ext cx="668020" cy="1198880"/>
          </a:xfrm>
          <a:prstGeom prst="rect">
            <a:avLst/>
          </a:prstGeom>
          <a:noFill/>
        </p:spPr>
        <p:txBody>
          <a:bodyPr wrap="square" rtlCol="0" anchor="t">
            <a:spAutoFit/>
          </a:bodyPr>
          <a:p>
            <a:r>
              <a:rPr lang="zh-CN" altLang="en-US" sz="7200" b="1" dirty="0">
                <a:solidFill>
                  <a:schemeClr val="accent3">
                    <a:lumMod val="75000"/>
                  </a:schemeClr>
                </a:solidFill>
                <a:latin typeface="微软雅黑" panose="020B0503020204020204" charset="-122"/>
                <a:ea typeface="微软雅黑" panose="020B0503020204020204" charset="-122"/>
                <a:sym typeface="+mn-ea"/>
              </a:rPr>
              <a:t>{</a:t>
            </a:r>
            <a:endParaRPr lang="zh-CN" altLang="en-US" sz="7200" b="1" dirty="0">
              <a:solidFill>
                <a:schemeClr val="accent3">
                  <a:lumMod val="75000"/>
                </a:schemeClr>
              </a:solidFill>
              <a:latin typeface="微软雅黑" panose="020B0503020204020204" charset="-122"/>
              <a:ea typeface="微软雅黑" panose="020B0503020204020204" charset="-122"/>
              <a:sym typeface="+mn-ea"/>
            </a:endParaRPr>
          </a:p>
        </p:txBody>
      </p:sp>
      <p:sp>
        <p:nvSpPr>
          <p:cNvPr id="49" name="文本框 48"/>
          <p:cNvSpPr txBox="1"/>
          <p:nvPr/>
        </p:nvSpPr>
        <p:spPr>
          <a:xfrm>
            <a:off x="9114790" y="4366260"/>
            <a:ext cx="1392555" cy="922020"/>
          </a:xfrm>
          <a:prstGeom prst="rect">
            <a:avLst/>
          </a:prstGeom>
          <a:noFill/>
        </p:spPr>
        <p:txBody>
          <a:bodyPr wrap="square" rtlCol="0" anchor="t">
            <a:spAutoFit/>
          </a:bodyPr>
          <a:p>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卷积码Turbo码Polar码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0" name="文本框 49"/>
          <p:cNvSpPr txBox="1"/>
          <p:nvPr/>
        </p:nvSpPr>
        <p:spPr>
          <a:xfrm>
            <a:off x="8751570" y="4115435"/>
            <a:ext cx="661670" cy="1198880"/>
          </a:xfrm>
          <a:prstGeom prst="rect">
            <a:avLst/>
          </a:prstGeom>
          <a:noFill/>
        </p:spPr>
        <p:txBody>
          <a:bodyPr wrap="square" rtlCol="0" anchor="t">
            <a:spAutoFit/>
          </a:bodyPr>
          <a:p>
            <a:r>
              <a:rPr lang="zh-CN" altLang="en-US" sz="7200" b="1" dirty="0">
                <a:solidFill>
                  <a:schemeClr val="accent3">
                    <a:lumMod val="75000"/>
                  </a:schemeClr>
                </a:solidFill>
                <a:latin typeface="微软雅黑" panose="020B0503020204020204" charset="-122"/>
                <a:ea typeface="微软雅黑" panose="020B0503020204020204" charset="-122"/>
                <a:sym typeface="+mn-ea"/>
              </a:rPr>
              <a:t>{</a:t>
            </a:r>
            <a:endParaRPr lang="zh-CN" altLang="en-US" sz="7200" b="1" dirty="0">
              <a:solidFill>
                <a:schemeClr val="accent3">
                  <a:lumMod val="75000"/>
                </a:schemeClr>
              </a:solidFill>
              <a:latin typeface="微软雅黑" panose="020B0503020204020204" charset="-122"/>
              <a:ea typeface="微软雅黑" panose="020B0503020204020204" charset="-122"/>
              <a:sym typeface="+mn-ea"/>
            </a:endParaRPr>
          </a:p>
        </p:txBody>
      </p:sp>
      <p:sp>
        <p:nvSpPr>
          <p:cNvPr id="51" name="文本框 50"/>
          <p:cNvSpPr txBox="1"/>
          <p:nvPr/>
        </p:nvSpPr>
        <p:spPr>
          <a:xfrm rot="10800000">
            <a:off x="2922905" y="1869440"/>
            <a:ext cx="501015" cy="1198880"/>
          </a:xfrm>
          <a:prstGeom prst="rect">
            <a:avLst/>
          </a:prstGeom>
          <a:noFill/>
        </p:spPr>
        <p:txBody>
          <a:bodyPr wrap="square" rtlCol="0" anchor="t">
            <a:spAutoFit/>
          </a:bodyPr>
          <a:p>
            <a:r>
              <a:rPr lang="zh-CN" altLang="en-US" sz="7200" b="1" dirty="0">
                <a:solidFill>
                  <a:schemeClr val="accent3">
                    <a:lumMod val="75000"/>
                  </a:schemeClr>
                </a:solidFill>
                <a:latin typeface="微软雅黑" panose="020B0503020204020204" charset="-122"/>
                <a:ea typeface="微软雅黑" panose="020B0503020204020204" charset="-122"/>
                <a:sym typeface="+mn-ea"/>
              </a:rPr>
              <a:t>{</a:t>
            </a:r>
            <a:endParaRPr lang="zh-CN" altLang="en-US" sz="7200" b="1" dirty="0">
              <a:solidFill>
                <a:schemeClr val="accent3">
                  <a:lumMod val="75000"/>
                </a:schemeClr>
              </a:solidFill>
              <a:latin typeface="微软雅黑" panose="020B0503020204020204" charset="-122"/>
              <a:ea typeface="微软雅黑" panose="020B0503020204020204" charset="-122"/>
              <a:sym typeface="+mn-ea"/>
            </a:endParaRPr>
          </a:p>
        </p:txBody>
      </p:sp>
      <p:sp>
        <p:nvSpPr>
          <p:cNvPr id="52" name="文本框 51"/>
          <p:cNvSpPr txBox="1"/>
          <p:nvPr/>
        </p:nvSpPr>
        <p:spPr>
          <a:xfrm>
            <a:off x="1800225" y="1932305"/>
            <a:ext cx="1289685" cy="922020"/>
          </a:xfrm>
          <a:prstGeom prst="rect">
            <a:avLst/>
          </a:prstGeom>
          <a:noFill/>
        </p:spPr>
        <p:txBody>
          <a:bodyPr wrap="square" rtlCol="0" anchor="t">
            <a:spAutoFit/>
          </a:bodyPr>
          <a:p>
            <a:pPr algn="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发展历史</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algn="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基本</a:t>
            </a: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概念信源编码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3" name="文本框 52"/>
          <p:cNvSpPr txBox="1"/>
          <p:nvPr/>
        </p:nvSpPr>
        <p:spPr>
          <a:xfrm rot="10800000">
            <a:off x="2751455" y="4263390"/>
            <a:ext cx="668020" cy="1198880"/>
          </a:xfrm>
          <a:prstGeom prst="rect">
            <a:avLst/>
          </a:prstGeom>
          <a:noFill/>
        </p:spPr>
        <p:txBody>
          <a:bodyPr wrap="square" rtlCol="0" anchor="t">
            <a:spAutoFit/>
          </a:bodyPr>
          <a:p>
            <a:r>
              <a:rPr lang="zh-CN" altLang="en-US" sz="7200" b="1" dirty="0">
                <a:solidFill>
                  <a:schemeClr val="accent3">
                    <a:lumMod val="75000"/>
                  </a:schemeClr>
                </a:solidFill>
                <a:latin typeface="微软雅黑" panose="020B0503020204020204" charset="-122"/>
                <a:ea typeface="微软雅黑" panose="020B0503020204020204" charset="-122"/>
                <a:sym typeface="+mn-ea"/>
              </a:rPr>
              <a:t>{</a:t>
            </a:r>
            <a:endParaRPr lang="zh-CN" altLang="en-US" sz="7200" b="1" dirty="0">
              <a:solidFill>
                <a:schemeClr val="accent3">
                  <a:lumMod val="75000"/>
                </a:schemeClr>
              </a:solidFill>
              <a:latin typeface="微软雅黑" panose="020B0503020204020204" charset="-122"/>
              <a:ea typeface="微软雅黑" panose="020B0503020204020204" charset="-122"/>
              <a:sym typeface="+mn-ea"/>
            </a:endParaRPr>
          </a:p>
        </p:txBody>
      </p:sp>
      <p:sp>
        <p:nvSpPr>
          <p:cNvPr id="54" name="文本框 53"/>
          <p:cNvSpPr txBox="1"/>
          <p:nvPr/>
        </p:nvSpPr>
        <p:spPr>
          <a:xfrm>
            <a:off x="1741170" y="4513580"/>
            <a:ext cx="1289685" cy="922020"/>
          </a:xfrm>
          <a:prstGeom prst="rect">
            <a:avLst/>
          </a:prstGeom>
          <a:noFill/>
        </p:spPr>
        <p:txBody>
          <a:bodyPr wrap="square" rtlCol="0" anchor="t">
            <a:spAutoFit/>
          </a:bodyPr>
          <a:p>
            <a:pPr algn="r"/>
            <a:r>
              <a:rPr lang="zh-CN" altLang="en-US" dirty="0">
                <a:latin typeface="Times New Roman" panose="02020603050405020304" pitchFamily="18" charset="0"/>
                <a:ea typeface="黑体" panose="02010609060101010101" pitchFamily="49" charset="-122"/>
                <a:cs typeface="Times New Roman" panose="02020603050405020304" pitchFamily="18" charset="0"/>
                <a:sym typeface="+mn-ea"/>
              </a:rPr>
              <a:t>二维码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algn="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rPr>
              <a:t>纠删码</a:t>
            </a: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a:p>
            <a:pPr algn="r"/>
            <a:endPar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55" name="文本框 54"/>
          <p:cNvSpPr txBox="1"/>
          <p:nvPr/>
        </p:nvSpPr>
        <p:spPr>
          <a:xfrm>
            <a:off x="1682115" y="6057265"/>
            <a:ext cx="8923020" cy="368300"/>
          </a:xfrm>
          <a:prstGeom prst="rect">
            <a:avLst/>
          </a:prstGeom>
          <a:noFill/>
        </p:spPr>
        <p:txBody>
          <a:bodyPr wrap="square" rtlCol="0" anchor="t">
            <a:spAutoFit/>
          </a:bodyPr>
          <a:p>
            <a:r>
              <a:rPr lang="zh-CN" altLang="en-US" b="1" dirty="0">
                <a:gradFill>
                  <a:gsLst>
                    <a:gs pos="0">
                      <a:srgbClr val="E30000"/>
                    </a:gs>
                    <a:gs pos="100000">
                      <a:srgbClr val="760303"/>
                    </a:gs>
                  </a:gsLst>
                  <a:lin scaled="0"/>
                </a:gradFill>
                <a:latin typeface="Times New Roman" panose="02020603050405020304" pitchFamily="18" charset="0"/>
                <a:ea typeface="微软雅黑" panose="020B0503020204020204" charset="-122"/>
                <a:sym typeface="+mn-ea"/>
              </a:rPr>
              <a:t>注：</a:t>
            </a:r>
            <a:r>
              <a:rPr lang="zh-CN" altLang="en-US" b="1" dirty="0">
                <a:latin typeface="Times New Roman" panose="02020603050405020304" pitchFamily="18" charset="0"/>
                <a:ea typeface="微软雅黑" panose="020B0503020204020204" charset="-122"/>
                <a:sym typeface="+mn-ea"/>
              </a:rPr>
              <a:t>此外，还有</a:t>
            </a:r>
            <a:r>
              <a:rPr lang="zh-CN" altLang="en-US" b="1" dirty="0">
                <a:solidFill>
                  <a:schemeClr val="tx1"/>
                </a:solidFill>
                <a:latin typeface="Times New Roman" panose="02020603050405020304" pitchFamily="18" charset="0"/>
                <a:ea typeface="微软雅黑" panose="020B0503020204020204" charset="-122"/>
                <a:sym typeface="+mn-ea"/>
              </a:rPr>
              <a:t>围绕本领域研究热点安排专家讲座，以更深</a:t>
            </a:r>
            <a:r>
              <a:rPr lang="zh-CN" altLang="en-US" b="1" dirty="0">
                <a:solidFill>
                  <a:schemeClr val="tx1"/>
                </a:solidFill>
                <a:latin typeface="Times New Roman" panose="02020603050405020304" pitchFamily="18" charset="0"/>
                <a:ea typeface="微软雅黑" panose="020B0503020204020204" charset="-122"/>
                <a:sym typeface="+mn-ea"/>
              </a:rPr>
              <a:t>地了解科学前沿和热点技术</a:t>
            </a:r>
            <a:endParaRPr lang="zh-CN" altLang="en-US" b="1" dirty="0">
              <a:solidFill>
                <a:schemeClr val="tx1"/>
              </a:solidFill>
              <a:latin typeface="Times New Roman" panose="02020603050405020304" pitchFamily="18" charset="0"/>
              <a:ea typeface="微软雅黑" panose="020B0503020204020204" charset="-122"/>
              <a:sym typeface="+mn-ea"/>
            </a:endParaRPr>
          </a:p>
        </p:txBody>
      </p:sp>
      <p:sp>
        <p:nvSpPr>
          <p:cNvPr id="3" name="圆角矩形 2"/>
          <p:cNvSpPr/>
          <p:nvPr>
            <p:custDataLst>
              <p:tags r:id="rId1"/>
            </p:custDataLst>
          </p:nvPr>
        </p:nvSpPr>
        <p:spPr>
          <a:xfrm>
            <a:off x="8502650" y="3231515"/>
            <a:ext cx="2507615" cy="770255"/>
          </a:xfrm>
          <a:prstGeom prst="roundRect">
            <a:avLst/>
          </a:prstGeom>
          <a:solidFill>
            <a:schemeClr val="bg2">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r>
              <a:rPr lang="zh-CN" altLang="en-US" sz="2000">
                <a:solidFill>
                  <a:schemeClr val="tx1"/>
                </a:solidFill>
              </a:rPr>
              <a:t>基于信息论与编码理论的安全</a:t>
            </a:r>
            <a:r>
              <a:rPr lang="zh-CN" altLang="en-US" sz="2000">
                <a:solidFill>
                  <a:schemeClr val="tx1"/>
                </a:solidFill>
              </a:rPr>
              <a:t>技术</a:t>
            </a:r>
            <a:endParaRPr lang="zh-CN" altLang="en-US" sz="2000">
              <a:solidFill>
                <a:schemeClr val="tx1"/>
              </a:solidFill>
            </a:endParaRPr>
          </a:p>
        </p:txBody>
      </p:sp>
      <p:cxnSp>
        <p:nvCxnSpPr>
          <p:cNvPr id="7" name="直接连接符 6"/>
          <p:cNvCxnSpPr>
            <a:stCxn id="3" idx="1"/>
          </p:cNvCxnSpPr>
          <p:nvPr>
            <p:custDataLst>
              <p:tags r:id="rId2"/>
            </p:custDataLst>
          </p:nvPr>
        </p:nvCxnSpPr>
        <p:spPr>
          <a:xfrm flipH="1">
            <a:off x="6981825" y="3616960"/>
            <a:ext cx="1520825" cy="18415"/>
          </a:xfrm>
          <a:prstGeom prst="line">
            <a:avLst/>
          </a:prstGeom>
          <a:noFill/>
          <a:ln>
            <a:solidFill>
              <a:srgbClr val="0070C0"/>
            </a:solidFill>
          </a:ln>
        </p:spPr>
      </p:cxnSp>
      <p:sp>
        <p:nvSpPr>
          <p:cNvPr id="9" name="灯片编号占位符 8"/>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a:t>
            </a:r>
            <a:r>
              <a:rPr lang="zh-CN" altLang="en-US"/>
              <a:t>目标</a:t>
            </a:r>
            <a:endParaRPr lang="zh-CN" altLang="en-US"/>
          </a:p>
        </p:txBody>
      </p:sp>
      <p:sp>
        <p:nvSpPr>
          <p:cNvPr id="3" name="内容占位符 2"/>
          <p:cNvSpPr>
            <a:spLocks noGrp="1"/>
          </p:cNvSpPr>
          <p:nvPr>
            <p:ph idx="1"/>
          </p:nvPr>
        </p:nvSpPr>
        <p:spPr>
          <a:xfrm>
            <a:off x="608330" y="1269365"/>
            <a:ext cx="10749915" cy="5361305"/>
          </a:xfrm>
        </p:spPr>
        <p:txBody>
          <a:bodyPr>
            <a:noAutofit/>
          </a:bodyPr>
          <a:p>
            <a:r>
              <a:t>课程目标1：掌握信息论与编码理论的基本概念及所涉及的通信系统的基础知识，掌握几种经典的信源编码和信道编码的编码与译码原理，能够通过计算机仿真程序实现这些经典的信源编码和信道编码的编码与译码系统，将学生在大一、大二所学抽象的高等数学、概率论、线性代数、信息通信概论等基础理论知识应用于实际技术领域，加深学生对基础课程的掌握理解和学以致用，培养解决通信网络中的信道检错纠错问题的能力，为培养学生的系统实践能力奠定基础；</a:t>
            </a:r>
          </a:p>
          <a:p>
            <a:r>
              <a:t>课程目标2：调研和分析新型编码技术的技术背景及其在安全泛在网络领域的应用场景，例如，纠删码、二维码、基于信息论与编码理论的安全技术等，明确其研究目标，根据研究目标，获取所需要的实验数据，确定合适的技术路线和解决方案，使学生了解编码领域前沿科技的最新进展，向学生普及该技术领域的创新思想，从而培养学生探索设计编译码新思想、新方法、新算法或新方案的能力；</a:t>
            </a:r>
          </a:p>
          <a:p>
            <a:r>
              <a:t>课程目标3：了解现行高速移动通信系统中编码标准、规范的制定过程及其相关工程背景知识，理解并且掌握相关标准、规范的内容，例如，GSM系统中的卷积码、WCDMA系统中的Turbo码、5G系统中的极化码等，培养针对现代高速移动通信行业中信道编码标准规范的分析与设计能力。</a:t>
            </a: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2699385"/>
          </a:xfrm>
        </p:spPr>
        <p:txBody>
          <a:bodyPr>
            <a:noAutofit/>
          </a:bodyPr>
          <a:p>
            <a:pPr algn="l">
              <a:lnSpc>
                <a:spcPct val="200000"/>
              </a:lnSpc>
              <a:buClrTx/>
              <a:buSzTx/>
            </a:pPr>
            <a:r>
              <a:rPr sz="2400">
                <a:solidFill>
                  <a:schemeClr val="bg1">
                    <a:lumMod val="75000"/>
                  </a:schemeClr>
                </a:solidFill>
              </a:rPr>
              <a:t>课程概述</a:t>
            </a:r>
            <a:endParaRPr sz="2400">
              <a:solidFill>
                <a:schemeClr val="bg1">
                  <a:lumMod val="75000"/>
                </a:schemeClr>
              </a:solidFill>
            </a:endParaRPr>
          </a:p>
          <a:p>
            <a:pPr>
              <a:lnSpc>
                <a:spcPct val="200000"/>
              </a:lnSpc>
            </a:pPr>
            <a:r>
              <a:rPr lang="zh-CN" sz="2400">
                <a:solidFill>
                  <a:schemeClr val="accent1"/>
                </a:solidFill>
              </a:rPr>
              <a:t>信息论与编码的发展历史</a:t>
            </a:r>
            <a:endParaRPr sz="2400">
              <a:solidFill>
                <a:schemeClr val="accent1"/>
              </a:solidFill>
            </a:endParaRPr>
          </a:p>
          <a:p>
            <a:pPr>
              <a:lnSpc>
                <a:spcPct val="200000"/>
              </a:lnSpc>
            </a:pPr>
            <a:r>
              <a:rPr sz="2400">
                <a:solidFill>
                  <a:schemeClr val="bg1">
                    <a:lumMod val="75000"/>
                  </a:schemeClr>
                </a:solidFill>
                <a:sym typeface="+mn-ea"/>
              </a:rPr>
              <a:t>数字通信系统的组成及各种信道</a:t>
            </a:r>
            <a:endParaRPr sz="2400">
              <a:solidFill>
                <a:schemeClr val="accent1"/>
              </a:solidFill>
            </a:endParaRPr>
          </a:p>
          <a:p>
            <a:pPr>
              <a:lnSpc>
                <a:spcPct val="200000"/>
              </a:lnSpc>
            </a:pPr>
            <a:r>
              <a:rPr sz="2400">
                <a:solidFill>
                  <a:schemeClr val="bg1">
                    <a:lumMod val="75000"/>
                  </a:schemeClr>
                </a:solidFill>
                <a:sym typeface="+mn-ea"/>
              </a:rPr>
              <a:t>编译码</a:t>
            </a:r>
            <a:r>
              <a:rPr sz="2400">
                <a:solidFill>
                  <a:schemeClr val="bg1">
                    <a:lumMod val="75000"/>
                  </a:schemeClr>
                </a:solidFill>
              </a:rPr>
              <a:t>涉及的一些基本概念</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把统计学引入物理</a:t>
            </a:r>
            <a:r>
              <a:rPr lang="zh-CN" altLang="en-US"/>
              <a:t>学领域</a:t>
            </a:r>
            <a:endParaRPr lang="zh-CN" altLang="en-US"/>
          </a:p>
        </p:txBody>
      </p:sp>
      <p:sp>
        <p:nvSpPr>
          <p:cNvPr id="3" name="内容占位符 2"/>
          <p:cNvSpPr>
            <a:spLocks noGrp="1"/>
          </p:cNvSpPr>
          <p:nvPr>
            <p:ph idx="1"/>
          </p:nvPr>
        </p:nvSpPr>
        <p:spPr>
          <a:xfrm>
            <a:off x="608330" y="1490345"/>
            <a:ext cx="8430895" cy="4481195"/>
          </a:xfrm>
        </p:spPr>
        <p:txBody>
          <a:bodyPr>
            <a:noAutofit/>
          </a:bodyPr>
          <a:p>
            <a:r>
              <a:rPr lang="en-US" altLang="zh-CN" sz="2400"/>
              <a:t>17-18</a:t>
            </a:r>
            <a:r>
              <a:rPr lang="zh-CN" altLang="en-US" sz="2400"/>
              <a:t>世纪，</a:t>
            </a:r>
            <a:r>
              <a:rPr lang="en-US" altLang="zh-CN" sz="2400"/>
              <a:t>(</a:t>
            </a:r>
            <a:r>
              <a:rPr lang="zh-CN" altLang="en-US" sz="2400"/>
              <a:t>美</a:t>
            </a:r>
            <a:r>
              <a:rPr lang="en-US" altLang="zh-CN" sz="2400"/>
              <a:t>)</a:t>
            </a:r>
            <a:r>
              <a:rPr lang="zh-CN" altLang="en-US" sz="2400"/>
              <a:t>吉布斯</a:t>
            </a:r>
            <a:r>
              <a:rPr lang="en-US" altLang="zh-CN" sz="2400"/>
              <a:t>(Josiah Willard Gibbs)</a:t>
            </a:r>
            <a:r>
              <a:rPr lang="zh-CN" altLang="en-US" sz="2400"/>
              <a:t>和奥地利物理学家玻尔兹曼</a:t>
            </a:r>
            <a:r>
              <a:rPr lang="en-US" altLang="zh-CN" sz="2400"/>
              <a:t>(Ludwig Edward Boltzmann)</a:t>
            </a:r>
            <a:r>
              <a:rPr lang="zh-CN" altLang="en-US" sz="2400"/>
              <a:t>首先把</a:t>
            </a:r>
            <a:r>
              <a:rPr lang="zh-CN" altLang="en-US" sz="2400">
                <a:solidFill>
                  <a:srgbClr val="FF0000"/>
                </a:solidFill>
              </a:rPr>
              <a:t>统计学</a:t>
            </a:r>
            <a:r>
              <a:rPr lang="zh-CN" altLang="en-US" sz="2400"/>
              <a:t>引入物理学领域，使得物理学开始考虑客观世界中存在的不确定性和偶然性。这种研究方法为信息论的创立提供了方法论。</a:t>
            </a:r>
            <a:endParaRPr lang="zh-CN" altLang="en-US" sz="2400"/>
          </a:p>
          <a:p>
            <a:r>
              <a:rPr lang="zh-CN" altLang="en-US" sz="2400"/>
              <a:t>熵表示分子运动的混乱程度。玻尔兹曼把</a:t>
            </a:r>
            <a:r>
              <a:rPr lang="zh-CN" altLang="en-US" sz="2400">
                <a:solidFill>
                  <a:srgbClr val="FF0000"/>
                </a:solidFill>
              </a:rPr>
              <a:t>熵和信息</a:t>
            </a:r>
            <a:r>
              <a:rPr lang="zh-CN" altLang="en-US" sz="2400"/>
              <a:t>联系起来，提出</a:t>
            </a:r>
            <a:r>
              <a:rPr lang="en-US" altLang="zh-CN" sz="2400"/>
              <a:t>“</a:t>
            </a:r>
            <a:r>
              <a:rPr lang="zh-CN" altLang="en-US" sz="2400"/>
              <a:t>熵是一个系统失去</a:t>
            </a:r>
            <a:r>
              <a:rPr lang="en-US" altLang="zh-CN" sz="2400"/>
              <a:t>‘</a:t>
            </a:r>
            <a:r>
              <a:rPr lang="zh-CN" altLang="en-US" sz="2400"/>
              <a:t>信息</a:t>
            </a:r>
            <a:r>
              <a:rPr lang="en-US" altLang="zh-CN" sz="2400"/>
              <a:t>’</a:t>
            </a:r>
            <a:r>
              <a:rPr lang="zh-CN" altLang="en-US" sz="2400"/>
              <a:t>的度量</a:t>
            </a:r>
            <a:r>
              <a:rPr lang="en-US" altLang="zh-CN" sz="2400"/>
              <a:t>”</a:t>
            </a:r>
            <a:r>
              <a:rPr lang="zh-CN" altLang="en-US" sz="2400"/>
              <a:t>。</a:t>
            </a:r>
            <a:endParaRPr lang="zh-CN" altLang="en-US" sz="2400"/>
          </a:p>
          <a:p>
            <a:r>
              <a:rPr lang="zh-CN" altLang="en-US" sz="2400"/>
              <a:t>他们</a:t>
            </a:r>
            <a:r>
              <a:rPr lang="zh-CN" altLang="en-US" sz="2400">
                <a:solidFill>
                  <a:srgbClr val="FF0000"/>
                </a:solidFill>
              </a:rPr>
              <a:t>将偶然性、熵函数引入</a:t>
            </a:r>
            <a:r>
              <a:rPr lang="zh-CN" altLang="en-US" sz="2400"/>
              <a:t>物理学，为信息论的产生提供了理论前提。</a:t>
            </a:r>
            <a:endParaRPr lang="zh-CN" altLang="en-US" sz="2400"/>
          </a:p>
        </p:txBody>
      </p:sp>
      <p:graphicFrame>
        <p:nvGraphicFramePr>
          <p:cNvPr id="6" name="对象 5"/>
          <p:cNvGraphicFramePr/>
          <p:nvPr/>
        </p:nvGraphicFramePr>
        <p:xfrm>
          <a:off x="9624060" y="1642745"/>
          <a:ext cx="1544320" cy="1913890"/>
        </p:xfrm>
        <a:graphic>
          <a:graphicData uri="http://schemas.openxmlformats.org/presentationml/2006/ole">
            <mc:AlternateContent xmlns:mc="http://schemas.openxmlformats.org/markup-compatibility/2006">
              <mc:Choice xmlns:v="urn:schemas-microsoft-com:vml" Requires="v">
                <p:oleObj spid="_x0000_s7" name="" r:id="rId1" imgW="5638800" imgH="6883400" progId="Paint.Picture">
                  <p:embed/>
                </p:oleObj>
              </mc:Choice>
              <mc:Fallback>
                <p:oleObj name="" r:id="rId1" imgW="5638800" imgH="6883400" progId="Paint.Picture">
                  <p:embed/>
                  <p:pic>
                    <p:nvPicPr>
                      <p:cNvPr id="0" name="图片 6"/>
                      <p:cNvPicPr/>
                      <p:nvPr/>
                    </p:nvPicPr>
                    <p:blipFill>
                      <a:blip r:embed="rId2"/>
                      <a:stretch>
                        <a:fillRect/>
                      </a:stretch>
                    </p:blipFill>
                    <p:spPr>
                      <a:xfrm>
                        <a:off x="9624060" y="1642745"/>
                        <a:ext cx="1544320" cy="1913890"/>
                      </a:xfrm>
                      <a:prstGeom prst="rect">
                        <a:avLst/>
                      </a:prstGeom>
                    </p:spPr>
                  </p:pic>
                </p:oleObj>
              </mc:Fallback>
            </mc:AlternateContent>
          </a:graphicData>
        </a:graphic>
      </p:graphicFrame>
      <p:graphicFrame>
        <p:nvGraphicFramePr>
          <p:cNvPr id="8" name="对象 7"/>
          <p:cNvGraphicFramePr/>
          <p:nvPr/>
        </p:nvGraphicFramePr>
        <p:xfrm>
          <a:off x="9633585" y="4053840"/>
          <a:ext cx="1544320" cy="1922145"/>
        </p:xfrm>
        <a:graphic>
          <a:graphicData uri="http://schemas.openxmlformats.org/presentationml/2006/ole">
            <mc:AlternateContent xmlns:mc="http://schemas.openxmlformats.org/markup-compatibility/2006">
              <mc:Choice xmlns:v="urn:schemas-microsoft-com:vml" Requires="v">
                <p:oleObj spid="_x0000_s9" name="" r:id="rId3" imgW="2971800" imgH="3810000" progId="Paint.Picture">
                  <p:embed/>
                </p:oleObj>
              </mc:Choice>
              <mc:Fallback>
                <p:oleObj name="" r:id="rId3" imgW="2971800" imgH="3810000" progId="Paint.Picture">
                  <p:embed/>
                  <p:pic>
                    <p:nvPicPr>
                      <p:cNvPr id="0" name="图片 8"/>
                      <p:cNvPicPr/>
                      <p:nvPr/>
                    </p:nvPicPr>
                    <p:blipFill>
                      <a:blip r:embed="rId4"/>
                      <a:stretch>
                        <a:fillRect/>
                      </a:stretch>
                    </p:blipFill>
                    <p:spPr>
                      <a:xfrm>
                        <a:off x="9633585" y="4053840"/>
                        <a:ext cx="1544320" cy="1922145"/>
                      </a:xfrm>
                      <a:prstGeom prst="rect">
                        <a:avLst/>
                      </a:prstGeom>
                    </p:spPr>
                  </p:pic>
                </p:oleObj>
              </mc:Fallback>
            </mc:AlternateContent>
          </a:graphicData>
        </a:graphic>
      </p:graphicFrame>
      <p:sp>
        <p:nvSpPr>
          <p:cNvPr id="10" name="文本框 9"/>
          <p:cNvSpPr txBox="1"/>
          <p:nvPr/>
        </p:nvSpPr>
        <p:spPr>
          <a:xfrm>
            <a:off x="9466580" y="3618865"/>
            <a:ext cx="1891030" cy="337185"/>
          </a:xfrm>
          <a:prstGeom prst="rect">
            <a:avLst/>
          </a:prstGeom>
          <a:noFill/>
        </p:spPr>
        <p:txBody>
          <a:bodyPr wrap="square" rtlCol="0">
            <a:spAutoFit/>
          </a:bodyPr>
          <a:p>
            <a:r>
              <a:rPr lang="zh-CN" altLang="en-US" sz="1600"/>
              <a:t>吉布斯</a:t>
            </a:r>
            <a:r>
              <a:rPr lang="en-US" altLang="zh-CN" sz="1600"/>
              <a:t>(1839-1903)</a:t>
            </a:r>
            <a:endParaRPr lang="en-US" altLang="zh-CN" sz="1600"/>
          </a:p>
        </p:txBody>
      </p:sp>
      <p:sp>
        <p:nvSpPr>
          <p:cNvPr id="11" name="文本框 10"/>
          <p:cNvSpPr txBox="1"/>
          <p:nvPr/>
        </p:nvSpPr>
        <p:spPr>
          <a:xfrm>
            <a:off x="9366250" y="6040755"/>
            <a:ext cx="2062480" cy="337185"/>
          </a:xfrm>
          <a:prstGeom prst="rect">
            <a:avLst/>
          </a:prstGeom>
          <a:noFill/>
        </p:spPr>
        <p:txBody>
          <a:bodyPr wrap="square" rtlCol="0">
            <a:spAutoFit/>
          </a:bodyPr>
          <a:p>
            <a:r>
              <a:rPr lang="zh-CN" altLang="en-US" sz="1600"/>
              <a:t>玻尔兹曼</a:t>
            </a:r>
            <a:r>
              <a:rPr lang="en-US" altLang="zh-CN" sz="1600"/>
              <a:t>(1844-1906)</a:t>
            </a:r>
            <a:endParaRPr lang="en-US" altLang="zh-CN" sz="1600"/>
          </a:p>
        </p:txBody>
      </p:sp>
      <p:sp>
        <p:nvSpPr>
          <p:cNvPr id="4" name="文本框 3"/>
          <p:cNvSpPr txBox="1"/>
          <p:nvPr/>
        </p:nvSpPr>
        <p:spPr>
          <a:xfrm>
            <a:off x="3002915" y="6210300"/>
            <a:ext cx="6022340" cy="398780"/>
          </a:xfrm>
          <a:prstGeom prst="rect">
            <a:avLst/>
          </a:prstGeom>
          <a:noFill/>
        </p:spPr>
        <p:txBody>
          <a:bodyPr wrap="square" rtlCol="0">
            <a:spAutoFit/>
          </a:bodyPr>
          <a:p>
            <a:r>
              <a:rPr lang="zh-CN" altLang="en-US" sz="2000">
                <a:latin typeface="楷体" panose="02010609060101010101" charset="-122"/>
                <a:ea typeface="楷体" panose="02010609060101010101" charset="-122"/>
                <a:cs typeface="楷体" panose="02010609060101010101" charset="-122"/>
              </a:rPr>
              <a:t>爱因斯坦称吉布斯为“美国历史上最杰出的英才”。</a:t>
            </a:r>
            <a:endParaRPr lang="zh-CN" altLang="en-US" sz="2000">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电磁和电子学促进电信系统的</a:t>
            </a:r>
            <a:r>
              <a:rPr lang="zh-CN" altLang="en-US"/>
              <a:t>发明</a:t>
            </a:r>
            <a:endParaRPr lang="zh-CN" altLang="en-US"/>
          </a:p>
        </p:txBody>
      </p:sp>
      <p:sp>
        <p:nvSpPr>
          <p:cNvPr id="3" name="内容占位符 2"/>
          <p:cNvSpPr>
            <a:spLocks noGrp="1"/>
          </p:cNvSpPr>
          <p:nvPr>
            <p:ph idx="1"/>
          </p:nvPr>
        </p:nvSpPr>
        <p:spPr>
          <a:xfrm>
            <a:off x="608330" y="1490345"/>
            <a:ext cx="10899140" cy="2221865"/>
          </a:xfrm>
        </p:spPr>
        <p:txBody>
          <a:bodyPr>
            <a:noAutofit/>
          </a:bodyPr>
          <a:p>
            <a:r>
              <a:rPr lang="en-US" sz="2400"/>
              <a:t>1820-1830</a:t>
            </a:r>
            <a:r>
              <a:rPr lang="zh-CN" altLang="en-US" sz="2400"/>
              <a:t>，</a:t>
            </a:r>
            <a:r>
              <a:rPr lang="en-US" altLang="zh-CN" sz="2400"/>
              <a:t>(</a:t>
            </a:r>
            <a:r>
              <a:rPr lang="zh-CN" altLang="en-US" sz="2400"/>
              <a:t>英</a:t>
            </a:r>
            <a:r>
              <a:rPr lang="en-US" altLang="zh-CN" sz="2400"/>
              <a:t>)</a:t>
            </a:r>
            <a:r>
              <a:rPr lang="zh-CN" altLang="en-US" sz="2400"/>
              <a:t>迈克尔·</a:t>
            </a:r>
            <a:r>
              <a:rPr lang="zh-CN" altLang="en-US" sz="2400">
                <a:solidFill>
                  <a:srgbClr val="FF0000"/>
                </a:solidFill>
              </a:rPr>
              <a:t>法拉第</a:t>
            </a:r>
            <a:r>
              <a:rPr lang="en-US" altLang="zh-CN" sz="2400"/>
              <a:t>(</a:t>
            </a:r>
            <a:r>
              <a:rPr lang="zh-CN" altLang="en-US" sz="2400"/>
              <a:t>Michael Faraday</a:t>
            </a:r>
            <a:r>
              <a:rPr lang="en-US" altLang="zh-CN" sz="2400"/>
              <a:t>)</a:t>
            </a:r>
            <a:r>
              <a:rPr lang="zh-CN" altLang="en-US" sz="2400"/>
              <a:t>发现了电磁感应规律。</a:t>
            </a:r>
            <a:endParaRPr lang="zh-CN" altLang="en-US" sz="2400"/>
          </a:p>
          <a:p>
            <a:r>
              <a:rPr lang="en-US" sz="2400"/>
              <a:t>1832-1835</a:t>
            </a:r>
            <a:r>
              <a:rPr lang="zh-CN" altLang="en-US" sz="2400"/>
              <a:t>，</a:t>
            </a:r>
            <a:r>
              <a:rPr sz="2400">
                <a:sym typeface="+mn-ea"/>
              </a:rPr>
              <a:t>塞缪尔·</a:t>
            </a:r>
            <a:r>
              <a:rPr lang="zh-CN" altLang="en-US" sz="2400">
                <a:solidFill>
                  <a:srgbClr val="FF0000"/>
                </a:solidFill>
                <a:sym typeface="+mn-ea"/>
              </a:rPr>
              <a:t>摩</a:t>
            </a:r>
            <a:r>
              <a:rPr sz="2400">
                <a:solidFill>
                  <a:srgbClr val="FF0000"/>
                </a:solidFill>
                <a:sym typeface="+mn-ea"/>
              </a:rPr>
              <a:t>尔斯</a:t>
            </a:r>
            <a:r>
              <a:rPr sz="2400">
                <a:sym typeface="+mn-ea"/>
              </a:rPr>
              <a:t>(Samuel Finley Breese Morse)</a:t>
            </a:r>
            <a:r>
              <a:rPr lang="zh-CN" altLang="en-US" sz="2400"/>
              <a:t>建立人类第一套电报系统。摩尔斯电码的组成是由点dot（.）划dash（-）这两种符号所组成的。</a:t>
            </a:r>
            <a:endParaRPr lang="zh-CN" altLang="en-US" sz="2400"/>
          </a:p>
          <a:p>
            <a:r>
              <a:rPr lang="en-US" altLang="zh-CN" sz="2400"/>
              <a:t>1876</a:t>
            </a:r>
            <a:r>
              <a:rPr lang="zh-CN" altLang="en-US" sz="2400"/>
              <a:t>，</a:t>
            </a:r>
            <a:r>
              <a:rPr lang="en-US" altLang="zh-CN" sz="2400"/>
              <a:t>(</a:t>
            </a:r>
            <a:r>
              <a:rPr lang="zh-CN" altLang="en-US" sz="2400"/>
              <a:t>苏格兰</a:t>
            </a:r>
            <a:r>
              <a:rPr lang="en-US" altLang="zh-CN" sz="2400"/>
              <a:t>)</a:t>
            </a:r>
            <a:r>
              <a:rPr lang="zh-CN" altLang="en-US" sz="2400"/>
              <a:t>亚历山大·格拉汉姆·</a:t>
            </a:r>
            <a:r>
              <a:rPr lang="zh-CN" altLang="en-US" sz="2400">
                <a:solidFill>
                  <a:srgbClr val="FF0000"/>
                </a:solidFill>
              </a:rPr>
              <a:t>贝尔</a:t>
            </a:r>
            <a:r>
              <a:rPr lang="zh-CN" altLang="en-US" sz="2400"/>
              <a:t>(Alexander Graham Bell)发明了电话系统。</a:t>
            </a:r>
            <a:endParaRPr lang="zh-CN" altLang="en-US" sz="2400"/>
          </a:p>
        </p:txBody>
      </p:sp>
      <p:graphicFrame>
        <p:nvGraphicFramePr>
          <p:cNvPr id="5" name="对象 4"/>
          <p:cNvGraphicFramePr/>
          <p:nvPr/>
        </p:nvGraphicFramePr>
        <p:xfrm>
          <a:off x="3172460" y="4491990"/>
          <a:ext cx="1481455" cy="1756410"/>
        </p:xfrm>
        <a:graphic>
          <a:graphicData uri="http://schemas.openxmlformats.org/presentationml/2006/ole">
            <mc:AlternateContent xmlns:mc="http://schemas.openxmlformats.org/markup-compatibility/2006">
              <mc:Choice xmlns:v="urn:schemas-microsoft-com:vml" Requires="v">
                <p:oleObj spid="_x0000_s12" name="" r:id="rId1" imgW="2305050" imgH="2857500" progId="Paint.Picture">
                  <p:embed/>
                </p:oleObj>
              </mc:Choice>
              <mc:Fallback>
                <p:oleObj name="" r:id="rId1" imgW="2305050" imgH="2857500" progId="Paint.Picture">
                  <p:embed/>
                  <p:pic>
                    <p:nvPicPr>
                      <p:cNvPr id="0" name="图片 11"/>
                      <p:cNvPicPr/>
                      <p:nvPr/>
                    </p:nvPicPr>
                    <p:blipFill>
                      <a:blip r:embed="rId2"/>
                      <a:stretch>
                        <a:fillRect/>
                      </a:stretch>
                    </p:blipFill>
                    <p:spPr>
                      <a:xfrm>
                        <a:off x="3172460" y="4491990"/>
                        <a:ext cx="1481455" cy="1756410"/>
                      </a:xfrm>
                      <a:prstGeom prst="rect">
                        <a:avLst/>
                      </a:prstGeom>
                    </p:spPr>
                  </p:pic>
                </p:oleObj>
              </mc:Fallback>
            </mc:AlternateContent>
          </a:graphicData>
        </a:graphic>
      </p:graphicFrame>
      <p:sp>
        <p:nvSpPr>
          <p:cNvPr id="13" name="文本框 12"/>
          <p:cNvSpPr txBox="1"/>
          <p:nvPr/>
        </p:nvSpPr>
        <p:spPr>
          <a:xfrm>
            <a:off x="2976245" y="6365875"/>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14" name="文本框 13"/>
          <p:cNvSpPr txBox="1"/>
          <p:nvPr/>
        </p:nvSpPr>
        <p:spPr>
          <a:xfrm>
            <a:off x="5941695" y="6359525"/>
            <a:ext cx="1891030" cy="337185"/>
          </a:xfrm>
          <a:prstGeom prst="rect">
            <a:avLst/>
          </a:prstGeom>
          <a:noFill/>
        </p:spPr>
        <p:txBody>
          <a:bodyPr wrap="square" rtlCol="0">
            <a:spAutoFit/>
          </a:bodyPr>
          <a:p>
            <a:r>
              <a:rPr lang="zh-CN" altLang="en-US" sz="1600">
                <a:sym typeface="+mn-ea"/>
              </a:rPr>
              <a:t>摩尔斯</a:t>
            </a:r>
            <a:r>
              <a:rPr lang="en-US" altLang="zh-CN" sz="1600"/>
              <a:t>(1791-1872)</a:t>
            </a:r>
            <a:endParaRPr lang="en-US" altLang="zh-CN" sz="1600"/>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graphicFrame>
        <p:nvGraphicFramePr>
          <p:cNvPr id="37" name="对象 36"/>
          <p:cNvGraphicFramePr/>
          <p:nvPr/>
        </p:nvGraphicFramePr>
        <p:xfrm>
          <a:off x="6249670" y="4465955"/>
          <a:ext cx="1278255" cy="1748790"/>
        </p:xfrm>
        <a:graphic>
          <a:graphicData uri="http://schemas.openxmlformats.org/presentationml/2006/ole">
            <mc:AlternateContent xmlns:mc="http://schemas.openxmlformats.org/markup-compatibility/2006">
              <mc:Choice xmlns:v="urn:schemas-microsoft-com:vml" Requires="v">
                <p:oleObj spid="_x0000_s38" name="" r:id="rId3" imgW="3314700" imgH="4813300" progId="Paint.Picture">
                  <p:embed/>
                </p:oleObj>
              </mc:Choice>
              <mc:Fallback>
                <p:oleObj name="" r:id="rId3" imgW="3314700" imgH="4813300" progId="Paint.Picture">
                  <p:embed/>
                  <p:pic>
                    <p:nvPicPr>
                      <p:cNvPr id="0" name="图片 37"/>
                      <p:cNvPicPr/>
                      <p:nvPr/>
                    </p:nvPicPr>
                    <p:blipFill>
                      <a:blip r:embed="rId4"/>
                      <a:stretch>
                        <a:fillRect/>
                      </a:stretch>
                    </p:blipFill>
                    <p:spPr>
                      <a:xfrm>
                        <a:off x="6249670" y="4465955"/>
                        <a:ext cx="1278255" cy="1748790"/>
                      </a:xfrm>
                      <a:prstGeom prst="rect">
                        <a:avLst/>
                      </a:prstGeom>
                    </p:spPr>
                  </p:pic>
                </p:oleObj>
              </mc:Fallback>
            </mc:AlternateContent>
          </a:graphicData>
        </a:graphic>
      </p:graphicFrame>
      <p:sp>
        <p:nvSpPr>
          <p:cNvPr id="39" name="文本框 38"/>
          <p:cNvSpPr txBox="1"/>
          <p:nvPr/>
        </p:nvSpPr>
        <p:spPr>
          <a:xfrm>
            <a:off x="9240520" y="6419850"/>
            <a:ext cx="1722120" cy="337185"/>
          </a:xfrm>
          <a:prstGeom prst="rect">
            <a:avLst/>
          </a:prstGeom>
          <a:noFill/>
        </p:spPr>
        <p:txBody>
          <a:bodyPr wrap="square" rtlCol="0">
            <a:spAutoFit/>
          </a:bodyPr>
          <a:p>
            <a:r>
              <a:rPr lang="zh-CN" altLang="en-US" sz="1600">
                <a:sym typeface="+mn-ea"/>
              </a:rPr>
              <a:t>贝尔</a:t>
            </a:r>
            <a:r>
              <a:rPr lang="en-US" altLang="zh-CN" sz="1600"/>
              <a:t>(1847-1922)</a:t>
            </a:r>
            <a:endParaRPr lang="en-US" altLang="zh-CN" sz="1600"/>
          </a:p>
        </p:txBody>
      </p:sp>
      <p:graphicFrame>
        <p:nvGraphicFramePr>
          <p:cNvPr id="40" name="对象 39"/>
          <p:cNvGraphicFramePr/>
          <p:nvPr/>
        </p:nvGraphicFramePr>
        <p:xfrm>
          <a:off x="9124950" y="4363720"/>
          <a:ext cx="1837055" cy="1850390"/>
        </p:xfrm>
        <a:graphic>
          <a:graphicData uri="http://schemas.openxmlformats.org/presentationml/2006/ole">
            <mc:AlternateContent xmlns:mc="http://schemas.openxmlformats.org/markup-compatibility/2006">
              <mc:Choice xmlns:v="urn:schemas-microsoft-com:vml" Requires="v">
                <p:oleObj spid="_x0000_s41" name="" r:id="rId5" imgW="3606800" imgH="4292600" progId="Paint.Picture">
                  <p:embed/>
                </p:oleObj>
              </mc:Choice>
              <mc:Fallback>
                <p:oleObj name="" r:id="rId5" imgW="3606800" imgH="4292600" progId="Paint.Picture">
                  <p:embed/>
                  <p:pic>
                    <p:nvPicPr>
                      <p:cNvPr id="0" name="图片 40"/>
                      <p:cNvPicPr/>
                      <p:nvPr/>
                    </p:nvPicPr>
                    <p:blipFill>
                      <a:blip r:embed="rId6"/>
                      <a:stretch>
                        <a:fillRect/>
                      </a:stretch>
                    </p:blipFill>
                    <p:spPr>
                      <a:xfrm>
                        <a:off x="9124950" y="4363720"/>
                        <a:ext cx="1837055" cy="185039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电磁和电子学促进电信系统的</a:t>
            </a:r>
            <a:r>
              <a:rPr lang="zh-CN" altLang="en-US"/>
              <a:t>发明</a:t>
            </a:r>
            <a:endParaRPr lang="zh-CN" altLang="en-US"/>
          </a:p>
        </p:txBody>
      </p:sp>
      <p:sp>
        <p:nvSpPr>
          <p:cNvPr id="3" name="内容占位符 2"/>
          <p:cNvSpPr>
            <a:spLocks noGrp="1"/>
          </p:cNvSpPr>
          <p:nvPr>
            <p:ph idx="1"/>
          </p:nvPr>
        </p:nvSpPr>
        <p:spPr>
          <a:xfrm>
            <a:off x="608330" y="1490345"/>
            <a:ext cx="10838815" cy="2272665"/>
          </a:xfrm>
        </p:spPr>
        <p:txBody>
          <a:bodyPr>
            <a:noAutofit/>
          </a:bodyPr>
          <a:p>
            <a:r>
              <a:rPr lang="en-US" altLang="zh-CN" sz="2000"/>
              <a:t>1864</a:t>
            </a:r>
            <a:r>
              <a:rPr lang="zh-CN" altLang="en-US" sz="2000"/>
              <a:t>，</a:t>
            </a:r>
            <a:r>
              <a:rPr lang="en-US" altLang="zh-CN" sz="2000">
                <a:sym typeface="+mn-ea"/>
              </a:rPr>
              <a:t>(</a:t>
            </a:r>
            <a:r>
              <a:rPr lang="zh-CN" altLang="en-US" sz="2000">
                <a:sym typeface="+mn-ea"/>
              </a:rPr>
              <a:t>英</a:t>
            </a:r>
            <a:r>
              <a:rPr lang="en-US" altLang="zh-CN" sz="2000">
                <a:sym typeface="+mn-ea"/>
              </a:rPr>
              <a:t>)</a:t>
            </a:r>
            <a:r>
              <a:rPr lang="zh-CN" altLang="en-US" sz="2000"/>
              <a:t>詹姆斯·克拉克·</a:t>
            </a:r>
            <a:r>
              <a:rPr lang="zh-CN" altLang="en-US" sz="2000">
                <a:solidFill>
                  <a:srgbClr val="FF0000"/>
                </a:solidFill>
              </a:rPr>
              <a:t>麦克斯韦</a:t>
            </a:r>
            <a:r>
              <a:rPr lang="zh-CN" altLang="en-US" sz="2000"/>
              <a:t>(James Clerk Maxwell)预言了电磁波的存在。</a:t>
            </a:r>
            <a:r>
              <a:rPr lang="en-US" altLang="zh-CN" sz="2000"/>
              <a:t>1888</a:t>
            </a:r>
            <a:r>
              <a:rPr lang="zh-CN" altLang="en-US" sz="2000"/>
              <a:t>，</a:t>
            </a:r>
            <a:r>
              <a:rPr lang="en-US" altLang="zh-CN" sz="2000"/>
              <a:t>(</a:t>
            </a:r>
            <a:r>
              <a:rPr lang="zh-CN" altLang="en-US" sz="2000"/>
              <a:t>德</a:t>
            </a:r>
            <a:r>
              <a:rPr lang="en-US" altLang="zh-CN" sz="2000"/>
              <a:t>)</a:t>
            </a:r>
            <a:r>
              <a:rPr lang="zh-CN" altLang="en-US" sz="2000"/>
              <a:t>海因里希·鲁道夫·</a:t>
            </a:r>
            <a:r>
              <a:rPr lang="zh-CN" altLang="en-US" sz="2000">
                <a:solidFill>
                  <a:srgbClr val="FF0000"/>
                </a:solidFill>
              </a:rPr>
              <a:t>赫兹</a:t>
            </a:r>
            <a:r>
              <a:rPr lang="zh-CN" altLang="en-US" sz="2000"/>
              <a:t>(Heinrich Rudolf Hertz)用实验证明了电磁波的存在。</a:t>
            </a:r>
            <a:endParaRPr lang="zh-CN" altLang="en-US" sz="2000"/>
          </a:p>
          <a:p>
            <a:r>
              <a:rPr lang="en-US" altLang="zh-CN" sz="2000"/>
              <a:t>1894-1896</a:t>
            </a:r>
            <a:r>
              <a:rPr lang="zh-CN" altLang="en-US" sz="2000"/>
              <a:t>，</a:t>
            </a:r>
            <a:r>
              <a:rPr lang="en-US" altLang="zh-CN" sz="2000"/>
              <a:t>(</a:t>
            </a:r>
            <a:r>
              <a:rPr lang="zh-CN" altLang="en-US" sz="2000"/>
              <a:t>英</a:t>
            </a:r>
            <a:r>
              <a:rPr lang="en-US" altLang="zh-CN" sz="2000"/>
              <a:t>)</a:t>
            </a:r>
            <a:r>
              <a:rPr lang="zh-CN" altLang="en-US" sz="2000"/>
              <a:t>伽利尔摩·</a:t>
            </a:r>
            <a:r>
              <a:rPr lang="zh-CN" altLang="en-US" sz="2000">
                <a:solidFill>
                  <a:srgbClr val="FF0000"/>
                </a:solidFill>
              </a:rPr>
              <a:t>马可尼</a:t>
            </a:r>
            <a:r>
              <a:rPr lang="zh-CN" altLang="en-US" sz="2000"/>
              <a:t>(Guglielmo Marconi)和</a:t>
            </a:r>
            <a:r>
              <a:rPr lang="en-US" altLang="zh-CN" sz="2000"/>
              <a:t>(</a:t>
            </a:r>
            <a:r>
              <a:rPr lang="zh-CN" altLang="en-US" sz="2000"/>
              <a:t>俄罗斯</a:t>
            </a:r>
            <a:r>
              <a:rPr lang="en-US" altLang="zh-CN" sz="2000"/>
              <a:t>)</a:t>
            </a:r>
            <a:r>
              <a:rPr lang="zh-CN" altLang="en-US" sz="2000"/>
              <a:t>亚历山大·斯捷潘诺维奇·</a:t>
            </a:r>
            <a:r>
              <a:rPr lang="zh-CN" altLang="en-US" sz="2000">
                <a:solidFill>
                  <a:srgbClr val="FF0000"/>
                </a:solidFill>
              </a:rPr>
              <a:t>波波夫</a:t>
            </a:r>
            <a:r>
              <a:rPr lang="zh-CN" altLang="en-US" sz="2000"/>
              <a:t>(Alexander Stepanovich Popov)发明了无线电通信系统。</a:t>
            </a:r>
            <a:endParaRPr lang="zh-CN" altLang="en-US" sz="2000"/>
          </a:p>
          <a:p>
            <a:r>
              <a:rPr lang="en-US" altLang="zh-CN" sz="2000"/>
              <a:t>1904</a:t>
            </a:r>
            <a:r>
              <a:rPr lang="zh-CN" altLang="en-US" sz="2000"/>
              <a:t>，</a:t>
            </a:r>
            <a:r>
              <a:rPr lang="en-US" altLang="zh-CN" sz="2000">
                <a:sym typeface="+mn-ea"/>
              </a:rPr>
              <a:t>(</a:t>
            </a:r>
            <a:r>
              <a:rPr lang="zh-CN" altLang="en-US" sz="2000">
                <a:sym typeface="+mn-ea"/>
              </a:rPr>
              <a:t>英</a:t>
            </a:r>
            <a:r>
              <a:rPr lang="en-US" altLang="zh-CN" sz="2000">
                <a:sym typeface="+mn-ea"/>
              </a:rPr>
              <a:t>)</a:t>
            </a:r>
            <a:r>
              <a:rPr lang="zh-CN" altLang="en-US" sz="2000"/>
              <a:t>约翰·安布罗斯·</a:t>
            </a:r>
            <a:r>
              <a:rPr lang="zh-CN" altLang="en-US" sz="2000">
                <a:solidFill>
                  <a:srgbClr val="FF0000"/>
                </a:solidFill>
              </a:rPr>
              <a:t>弗莱明</a:t>
            </a:r>
            <a:r>
              <a:rPr lang="zh-CN" altLang="en-US" sz="2000"/>
              <a:t> (John Ambrose Fleming)发明了电子二极管。</a:t>
            </a:r>
            <a:r>
              <a:rPr lang="en-US" altLang="zh-CN" sz="2000"/>
              <a:t>1907</a:t>
            </a:r>
            <a:r>
              <a:rPr lang="zh-CN" altLang="en-US" sz="2000"/>
              <a:t>，</a:t>
            </a:r>
            <a:r>
              <a:rPr lang="en-US" altLang="zh-CN" sz="2000">
                <a:sym typeface="+mn-ea"/>
              </a:rPr>
              <a:t>(</a:t>
            </a:r>
            <a:r>
              <a:rPr lang="zh-CN" altLang="en-US" sz="2000">
                <a:sym typeface="+mn-ea"/>
              </a:rPr>
              <a:t>美</a:t>
            </a:r>
            <a:r>
              <a:rPr lang="en-US" altLang="zh-CN" sz="2000">
                <a:sym typeface="+mn-ea"/>
              </a:rPr>
              <a:t>)</a:t>
            </a:r>
            <a:r>
              <a:rPr lang="zh-CN" altLang="en-US" sz="2000"/>
              <a:t>德·</a:t>
            </a:r>
            <a:r>
              <a:rPr lang="zh-CN" altLang="en-US" sz="2000">
                <a:solidFill>
                  <a:srgbClr val="FF0000"/>
                </a:solidFill>
              </a:rPr>
              <a:t>福雷斯特</a:t>
            </a:r>
            <a:r>
              <a:rPr lang="zh-CN" altLang="en-US" sz="2000"/>
              <a:t>(Lee De Forest)发明了电子三级管。</a:t>
            </a:r>
            <a:endParaRPr lang="zh-CN" altLang="en-US" sz="2000"/>
          </a:p>
        </p:txBody>
      </p:sp>
      <p:sp>
        <p:nvSpPr>
          <p:cNvPr id="13" name="文本框 12"/>
          <p:cNvSpPr txBox="1"/>
          <p:nvPr/>
        </p:nvSpPr>
        <p:spPr>
          <a:xfrm>
            <a:off x="608330" y="6148070"/>
            <a:ext cx="1326515" cy="583565"/>
          </a:xfrm>
          <a:prstGeom prst="rect">
            <a:avLst/>
          </a:prstGeom>
          <a:noFill/>
        </p:spPr>
        <p:txBody>
          <a:bodyPr wrap="square" rtlCol="0">
            <a:spAutoFit/>
          </a:bodyPr>
          <a:p>
            <a:r>
              <a:rPr lang="en-US" altLang="zh-CN" sz="1600">
                <a:sym typeface="+mn-ea"/>
              </a:rPr>
              <a:t>   </a:t>
            </a:r>
            <a:r>
              <a:rPr lang="zh-CN" altLang="en-US" sz="1600">
                <a:sym typeface="+mn-ea"/>
              </a:rPr>
              <a:t>麦克斯韦</a:t>
            </a:r>
            <a:endParaRPr lang="zh-CN" altLang="en-US" sz="1600">
              <a:sym typeface="+mn-ea"/>
            </a:endParaRPr>
          </a:p>
          <a:p>
            <a:r>
              <a:rPr lang="en-US" altLang="zh-CN" sz="1600"/>
              <a:t>(1831-1879)</a:t>
            </a:r>
            <a:endParaRPr lang="en-US" altLang="zh-CN" sz="1600"/>
          </a:p>
        </p:txBody>
      </p:sp>
      <p:sp>
        <p:nvSpPr>
          <p:cNvPr id="14" name="文本框 13"/>
          <p:cNvSpPr txBox="1"/>
          <p:nvPr/>
        </p:nvSpPr>
        <p:spPr>
          <a:xfrm>
            <a:off x="2468880" y="6167120"/>
            <a:ext cx="1235710" cy="583565"/>
          </a:xfrm>
          <a:prstGeom prst="rect">
            <a:avLst/>
          </a:prstGeom>
          <a:noFill/>
        </p:spPr>
        <p:txBody>
          <a:bodyPr wrap="square" rtlCol="0">
            <a:spAutoFit/>
          </a:bodyPr>
          <a:p>
            <a:r>
              <a:rPr lang="en-US" altLang="zh-CN" sz="1600">
                <a:sym typeface="+mn-ea"/>
              </a:rPr>
              <a:t>      </a:t>
            </a:r>
            <a:r>
              <a:rPr lang="zh-CN" altLang="en-US" sz="1600">
                <a:sym typeface="+mn-ea"/>
              </a:rPr>
              <a:t>赫兹</a:t>
            </a:r>
            <a:endParaRPr lang="zh-CN" altLang="en-US" sz="1600">
              <a:sym typeface="+mn-ea"/>
            </a:endParaRPr>
          </a:p>
          <a:p>
            <a:r>
              <a:rPr lang="en-US" altLang="zh-CN" sz="1600"/>
              <a:t>(1857-1894)</a:t>
            </a:r>
            <a:endParaRPr lang="en-US" altLang="zh-CN" sz="1600"/>
          </a:p>
        </p:txBody>
      </p:sp>
      <p:sp>
        <p:nvSpPr>
          <p:cNvPr id="39" name="文本框 38"/>
          <p:cNvSpPr txBox="1"/>
          <p:nvPr/>
        </p:nvSpPr>
        <p:spPr>
          <a:xfrm>
            <a:off x="4310380" y="6189345"/>
            <a:ext cx="1294765" cy="583565"/>
          </a:xfrm>
          <a:prstGeom prst="rect">
            <a:avLst/>
          </a:prstGeom>
          <a:noFill/>
        </p:spPr>
        <p:txBody>
          <a:bodyPr wrap="square" rtlCol="0">
            <a:spAutoFit/>
          </a:bodyPr>
          <a:p>
            <a:r>
              <a:rPr lang="en-US" altLang="zh-CN" sz="1600">
                <a:sym typeface="+mn-ea"/>
              </a:rPr>
              <a:t>    </a:t>
            </a:r>
            <a:r>
              <a:rPr lang="zh-CN" altLang="en-US" sz="1600">
                <a:sym typeface="+mn-ea"/>
              </a:rPr>
              <a:t>马可尼</a:t>
            </a:r>
            <a:endParaRPr lang="zh-CN" altLang="en-US" sz="1600">
              <a:sym typeface="+mn-ea"/>
            </a:endParaRPr>
          </a:p>
          <a:p>
            <a:r>
              <a:rPr lang="en-US" altLang="zh-CN" sz="1600">
                <a:sym typeface="+mn-ea"/>
              </a:rPr>
              <a:t>(</a:t>
            </a:r>
            <a:r>
              <a:rPr lang="en-US" altLang="zh-CN" sz="1600"/>
              <a:t>1874-1937)</a:t>
            </a:r>
            <a:endParaRPr lang="en-US" altLang="zh-CN" sz="1600"/>
          </a:p>
        </p:txBody>
      </p:sp>
      <p:sp>
        <p:nvSpPr>
          <p:cNvPr id="4" name="文本框 3"/>
          <p:cNvSpPr txBox="1"/>
          <p:nvPr/>
        </p:nvSpPr>
        <p:spPr>
          <a:xfrm>
            <a:off x="6109970" y="6202045"/>
            <a:ext cx="1293495" cy="583565"/>
          </a:xfrm>
          <a:prstGeom prst="rect">
            <a:avLst/>
          </a:prstGeom>
          <a:noFill/>
        </p:spPr>
        <p:txBody>
          <a:bodyPr wrap="square" rtlCol="0">
            <a:spAutoFit/>
          </a:bodyPr>
          <a:p>
            <a:r>
              <a:rPr lang="en-US" altLang="zh-CN" sz="1600">
                <a:sym typeface="+mn-ea"/>
              </a:rPr>
              <a:t>    </a:t>
            </a:r>
            <a:r>
              <a:rPr lang="zh-CN" altLang="en-US" sz="1600">
                <a:sym typeface="+mn-ea"/>
              </a:rPr>
              <a:t>波波夫</a:t>
            </a:r>
            <a:endParaRPr lang="zh-CN" altLang="en-US" sz="1600">
              <a:sym typeface="+mn-ea"/>
            </a:endParaRPr>
          </a:p>
          <a:p>
            <a:r>
              <a:rPr lang="en-US" altLang="zh-CN" sz="1600"/>
              <a:t>(1859-1906)</a:t>
            </a:r>
            <a:endParaRPr lang="en-US" altLang="zh-CN" sz="1600"/>
          </a:p>
        </p:txBody>
      </p:sp>
      <p:sp>
        <p:nvSpPr>
          <p:cNvPr id="17" name="文本框 16"/>
          <p:cNvSpPr txBox="1"/>
          <p:nvPr/>
        </p:nvSpPr>
        <p:spPr>
          <a:xfrm>
            <a:off x="8075295" y="6224270"/>
            <a:ext cx="1244600" cy="583565"/>
          </a:xfrm>
          <a:prstGeom prst="rect">
            <a:avLst/>
          </a:prstGeom>
          <a:noFill/>
        </p:spPr>
        <p:txBody>
          <a:bodyPr wrap="square" rtlCol="0">
            <a:spAutoFit/>
          </a:bodyPr>
          <a:p>
            <a:r>
              <a:rPr lang="en-US" altLang="zh-CN" sz="1600">
                <a:sym typeface="+mn-ea"/>
              </a:rPr>
              <a:t>   </a:t>
            </a:r>
            <a:r>
              <a:rPr lang="zh-CN" altLang="en-US" sz="1600">
                <a:sym typeface="+mn-ea"/>
              </a:rPr>
              <a:t>弗莱明</a:t>
            </a:r>
            <a:endParaRPr lang="zh-CN" altLang="en-US" sz="1600">
              <a:sym typeface="+mn-ea"/>
            </a:endParaRPr>
          </a:p>
          <a:p>
            <a:r>
              <a:rPr lang="en-US" altLang="zh-CN" sz="1600"/>
              <a:t>(1849-1945)</a:t>
            </a:r>
            <a:endParaRPr lang="en-US" altLang="zh-CN" sz="1600"/>
          </a:p>
        </p:txBody>
      </p:sp>
      <p:graphicFrame>
        <p:nvGraphicFramePr>
          <p:cNvPr id="18" name="对象 17"/>
          <p:cNvGraphicFramePr/>
          <p:nvPr/>
        </p:nvGraphicFramePr>
        <p:xfrm>
          <a:off x="608330" y="4657090"/>
          <a:ext cx="1435735" cy="1433830"/>
        </p:xfrm>
        <a:graphic>
          <a:graphicData uri="http://schemas.openxmlformats.org/presentationml/2006/ole">
            <mc:AlternateContent xmlns:mc="http://schemas.openxmlformats.org/markup-compatibility/2006">
              <mc:Choice xmlns:v="urn:schemas-microsoft-com:vml" Requires="v">
                <p:oleObj spid="_x0000_s19" name="" r:id="rId1" imgW="3886200" imgH="3784600" progId="Paint.Picture">
                  <p:embed/>
                </p:oleObj>
              </mc:Choice>
              <mc:Fallback>
                <p:oleObj name="" r:id="rId1" imgW="3886200" imgH="3784600" progId="Paint.Picture">
                  <p:embed/>
                  <p:pic>
                    <p:nvPicPr>
                      <p:cNvPr id="0" name="图片 18"/>
                      <p:cNvPicPr/>
                      <p:nvPr/>
                    </p:nvPicPr>
                    <p:blipFill>
                      <a:blip r:embed="rId2"/>
                      <a:stretch>
                        <a:fillRect/>
                      </a:stretch>
                    </p:blipFill>
                    <p:spPr>
                      <a:xfrm>
                        <a:off x="608330" y="4657090"/>
                        <a:ext cx="1435735" cy="1433830"/>
                      </a:xfrm>
                      <a:prstGeom prst="rect">
                        <a:avLst/>
                      </a:prstGeom>
                    </p:spPr>
                  </p:pic>
                </p:oleObj>
              </mc:Fallback>
            </mc:AlternateContent>
          </a:graphicData>
        </a:graphic>
      </p:graphicFrame>
      <p:graphicFrame>
        <p:nvGraphicFramePr>
          <p:cNvPr id="20" name="对象 19"/>
          <p:cNvGraphicFramePr/>
          <p:nvPr/>
        </p:nvGraphicFramePr>
        <p:xfrm>
          <a:off x="2359025" y="4656455"/>
          <a:ext cx="1523365" cy="1427480"/>
        </p:xfrm>
        <a:graphic>
          <a:graphicData uri="http://schemas.openxmlformats.org/presentationml/2006/ole">
            <mc:AlternateContent xmlns:mc="http://schemas.openxmlformats.org/markup-compatibility/2006">
              <mc:Choice xmlns:v="urn:schemas-microsoft-com:vml" Requires="v">
                <p:oleObj spid="_x0000_s21" name="" r:id="rId3" imgW="2133600" imgH="2451100" progId="Paint.Picture">
                  <p:embed/>
                </p:oleObj>
              </mc:Choice>
              <mc:Fallback>
                <p:oleObj name="" r:id="rId3" imgW="2133600" imgH="2451100" progId="Paint.Picture">
                  <p:embed/>
                  <p:pic>
                    <p:nvPicPr>
                      <p:cNvPr id="0" name="图片 20"/>
                      <p:cNvPicPr/>
                      <p:nvPr/>
                    </p:nvPicPr>
                    <p:blipFill>
                      <a:blip r:embed="rId4"/>
                      <a:stretch>
                        <a:fillRect/>
                      </a:stretch>
                    </p:blipFill>
                    <p:spPr>
                      <a:xfrm>
                        <a:off x="2359025" y="4656455"/>
                        <a:ext cx="1523365" cy="1427480"/>
                      </a:xfrm>
                      <a:prstGeom prst="rect">
                        <a:avLst/>
                      </a:prstGeom>
                    </p:spPr>
                  </p:pic>
                </p:oleObj>
              </mc:Fallback>
            </mc:AlternateContent>
          </a:graphicData>
        </a:graphic>
      </p:graphicFrame>
      <p:graphicFrame>
        <p:nvGraphicFramePr>
          <p:cNvPr id="22" name="对象 21"/>
          <p:cNvGraphicFramePr/>
          <p:nvPr/>
        </p:nvGraphicFramePr>
        <p:xfrm>
          <a:off x="4191635" y="4657090"/>
          <a:ext cx="1476375" cy="1434465"/>
        </p:xfrm>
        <a:graphic>
          <a:graphicData uri="http://schemas.openxmlformats.org/presentationml/2006/ole">
            <mc:AlternateContent xmlns:mc="http://schemas.openxmlformats.org/markup-compatibility/2006">
              <mc:Choice xmlns:v="urn:schemas-microsoft-com:vml" Requires="v">
                <p:oleObj spid="_x0000_s23" name="" r:id="rId5" imgW="2997200" imgH="3378200" progId="Paint.Picture">
                  <p:embed/>
                </p:oleObj>
              </mc:Choice>
              <mc:Fallback>
                <p:oleObj name="" r:id="rId5" imgW="2997200" imgH="3378200" progId="Paint.Picture">
                  <p:embed/>
                  <p:pic>
                    <p:nvPicPr>
                      <p:cNvPr id="0" name="图片 22"/>
                      <p:cNvPicPr/>
                      <p:nvPr/>
                    </p:nvPicPr>
                    <p:blipFill>
                      <a:blip r:embed="rId6"/>
                      <a:stretch>
                        <a:fillRect/>
                      </a:stretch>
                    </p:blipFill>
                    <p:spPr>
                      <a:xfrm>
                        <a:off x="4191635" y="4657090"/>
                        <a:ext cx="1476375" cy="1434465"/>
                      </a:xfrm>
                      <a:prstGeom prst="rect">
                        <a:avLst/>
                      </a:prstGeom>
                    </p:spPr>
                  </p:pic>
                </p:oleObj>
              </mc:Fallback>
            </mc:AlternateContent>
          </a:graphicData>
        </a:graphic>
      </p:graphicFrame>
      <p:graphicFrame>
        <p:nvGraphicFramePr>
          <p:cNvPr id="24" name="对象 23"/>
          <p:cNvGraphicFramePr/>
          <p:nvPr/>
        </p:nvGraphicFramePr>
        <p:xfrm>
          <a:off x="6062345" y="4655820"/>
          <a:ext cx="1513205" cy="1476375"/>
        </p:xfrm>
        <a:graphic>
          <a:graphicData uri="http://schemas.openxmlformats.org/presentationml/2006/ole">
            <mc:AlternateContent xmlns:mc="http://schemas.openxmlformats.org/markup-compatibility/2006">
              <mc:Choice xmlns:v="urn:schemas-microsoft-com:vml" Requires="v">
                <p:oleObj spid="_x0000_s25" name="" r:id="rId7" imgW="3873500" imgH="4660900" progId="Paint.Picture">
                  <p:embed/>
                </p:oleObj>
              </mc:Choice>
              <mc:Fallback>
                <p:oleObj name="" r:id="rId7" imgW="3873500" imgH="4660900" progId="Paint.Picture">
                  <p:embed/>
                  <p:pic>
                    <p:nvPicPr>
                      <p:cNvPr id="0" name="图片 24"/>
                      <p:cNvPicPr/>
                      <p:nvPr/>
                    </p:nvPicPr>
                    <p:blipFill>
                      <a:blip r:embed="rId8"/>
                      <a:stretch>
                        <a:fillRect/>
                      </a:stretch>
                    </p:blipFill>
                    <p:spPr>
                      <a:xfrm>
                        <a:off x="6062345" y="4655820"/>
                        <a:ext cx="1513205" cy="1476375"/>
                      </a:xfrm>
                      <a:prstGeom prst="rect">
                        <a:avLst/>
                      </a:prstGeom>
                    </p:spPr>
                  </p:pic>
                </p:oleObj>
              </mc:Fallback>
            </mc:AlternateContent>
          </a:graphicData>
        </a:graphic>
      </p:graphicFrame>
      <p:graphicFrame>
        <p:nvGraphicFramePr>
          <p:cNvPr id="26" name="对象 25"/>
          <p:cNvGraphicFramePr/>
          <p:nvPr/>
        </p:nvGraphicFramePr>
        <p:xfrm>
          <a:off x="7952105" y="4657090"/>
          <a:ext cx="1524635" cy="1463040"/>
        </p:xfrm>
        <a:graphic>
          <a:graphicData uri="http://schemas.openxmlformats.org/presentationml/2006/ole">
            <mc:AlternateContent xmlns:mc="http://schemas.openxmlformats.org/markup-compatibility/2006">
              <mc:Choice xmlns:v="urn:schemas-microsoft-com:vml" Requires="v">
                <p:oleObj spid="_x0000_s27" name="" r:id="rId9" imgW="1511300" imgH="1905000" progId="Paint.Picture">
                  <p:embed/>
                </p:oleObj>
              </mc:Choice>
              <mc:Fallback>
                <p:oleObj name="" r:id="rId9" imgW="1511300" imgH="1905000" progId="Paint.Picture">
                  <p:embed/>
                  <p:pic>
                    <p:nvPicPr>
                      <p:cNvPr id="0" name="图片 26"/>
                      <p:cNvPicPr/>
                      <p:nvPr/>
                    </p:nvPicPr>
                    <p:blipFill>
                      <a:blip r:embed="rId10"/>
                      <a:stretch>
                        <a:fillRect/>
                      </a:stretch>
                    </p:blipFill>
                    <p:spPr>
                      <a:xfrm>
                        <a:off x="7952105" y="4657090"/>
                        <a:ext cx="1524635" cy="1463040"/>
                      </a:xfrm>
                      <a:prstGeom prst="rect">
                        <a:avLst/>
                      </a:prstGeom>
                    </p:spPr>
                  </p:pic>
                </p:oleObj>
              </mc:Fallback>
            </mc:AlternateContent>
          </a:graphicData>
        </a:graphic>
      </p:graphicFrame>
      <p:sp>
        <p:nvSpPr>
          <p:cNvPr id="28" name="文本框 27"/>
          <p:cNvSpPr txBox="1"/>
          <p:nvPr/>
        </p:nvSpPr>
        <p:spPr>
          <a:xfrm>
            <a:off x="10059670" y="6189345"/>
            <a:ext cx="1244600" cy="583565"/>
          </a:xfrm>
          <a:prstGeom prst="rect">
            <a:avLst/>
          </a:prstGeom>
          <a:noFill/>
        </p:spPr>
        <p:txBody>
          <a:bodyPr wrap="square" rtlCol="0">
            <a:spAutoFit/>
          </a:bodyPr>
          <a:p>
            <a:r>
              <a:rPr lang="en-US" altLang="zh-CN" sz="1600">
                <a:sym typeface="+mn-ea"/>
              </a:rPr>
              <a:t>   </a:t>
            </a:r>
            <a:r>
              <a:rPr lang="zh-CN" altLang="en-US" sz="1600">
                <a:sym typeface="+mn-ea"/>
              </a:rPr>
              <a:t>福雷斯特</a:t>
            </a:r>
            <a:endParaRPr lang="zh-CN" altLang="en-US" sz="1600">
              <a:sym typeface="+mn-ea"/>
            </a:endParaRPr>
          </a:p>
          <a:p>
            <a:r>
              <a:rPr lang="en-US" altLang="zh-CN" sz="1600"/>
              <a:t>(1873-1961)</a:t>
            </a:r>
            <a:endParaRPr lang="en-US" altLang="zh-CN" sz="1600"/>
          </a:p>
        </p:txBody>
      </p:sp>
      <p:graphicFrame>
        <p:nvGraphicFramePr>
          <p:cNvPr id="29" name="对象 28"/>
          <p:cNvGraphicFramePr/>
          <p:nvPr/>
        </p:nvGraphicFramePr>
        <p:xfrm>
          <a:off x="9950450" y="4657725"/>
          <a:ext cx="1624965" cy="1529080"/>
        </p:xfrm>
        <a:graphic>
          <a:graphicData uri="http://schemas.openxmlformats.org/presentationml/2006/ole">
            <mc:AlternateContent xmlns:mc="http://schemas.openxmlformats.org/markup-compatibility/2006">
              <mc:Choice xmlns:v="urn:schemas-microsoft-com:vml" Requires="v">
                <p:oleObj spid="_x0000_s30" name="" r:id="rId11" imgW="3683000" imgH="3911600" progId="Paint.Picture">
                  <p:embed/>
                </p:oleObj>
              </mc:Choice>
              <mc:Fallback>
                <p:oleObj name="" r:id="rId11" imgW="3683000" imgH="3911600" progId="Paint.Picture">
                  <p:embed/>
                  <p:pic>
                    <p:nvPicPr>
                      <p:cNvPr id="0" name="图片 29"/>
                      <p:cNvPicPr/>
                      <p:nvPr/>
                    </p:nvPicPr>
                    <p:blipFill>
                      <a:blip r:embed="rId12"/>
                      <a:stretch>
                        <a:fillRect/>
                      </a:stretch>
                    </p:blipFill>
                    <p:spPr>
                      <a:xfrm>
                        <a:off x="9950450" y="4657725"/>
                        <a:ext cx="1624965" cy="152908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电磁和电子学促进电信系统的</a:t>
            </a:r>
            <a:r>
              <a:rPr lang="zh-CN" altLang="en-US"/>
              <a:t>发明</a:t>
            </a:r>
            <a:endParaRPr lang="zh-CN" altLang="en-US"/>
          </a:p>
        </p:txBody>
      </p:sp>
      <p:sp>
        <p:nvSpPr>
          <p:cNvPr id="3" name="内容占位符 2"/>
          <p:cNvSpPr>
            <a:spLocks noGrp="1"/>
          </p:cNvSpPr>
          <p:nvPr>
            <p:ph idx="1"/>
          </p:nvPr>
        </p:nvSpPr>
        <p:spPr>
          <a:xfrm>
            <a:off x="608330" y="1490345"/>
            <a:ext cx="10899140" cy="2312035"/>
          </a:xfrm>
        </p:spPr>
        <p:txBody>
          <a:bodyPr>
            <a:noAutofit/>
          </a:bodyPr>
          <a:p>
            <a:r>
              <a:rPr lang="zh-CN" altLang="en-US" sz="2400"/>
              <a:t>1925</a:t>
            </a:r>
            <a:r>
              <a:rPr lang="en-US" altLang="zh-CN" sz="2400"/>
              <a:t>-1927</a:t>
            </a:r>
            <a:r>
              <a:rPr lang="zh-CN" altLang="en-US" sz="2400"/>
              <a:t>，(英)约翰·洛吉·</a:t>
            </a:r>
            <a:r>
              <a:rPr lang="zh-CN" altLang="en-US" sz="2400">
                <a:solidFill>
                  <a:srgbClr val="FF0000"/>
                </a:solidFill>
              </a:rPr>
              <a:t>贝尔德</a:t>
            </a:r>
            <a:r>
              <a:rPr lang="zh-CN" altLang="en-US" sz="2400"/>
              <a:t>(J.L.Baird)研制电视系统。</a:t>
            </a:r>
            <a:endParaRPr lang="zh-CN" altLang="en-US" sz="2400"/>
          </a:p>
          <a:p>
            <a:r>
              <a:rPr lang="en-US" altLang="zh-CN" sz="2400"/>
              <a:t>1931</a:t>
            </a:r>
            <a:r>
              <a:rPr lang="zh-CN" altLang="en-US" sz="2400"/>
              <a:t>，在英国多佛与法国加莱之间建起世界上第一条微波通信电路。</a:t>
            </a:r>
            <a:endParaRPr lang="zh-CN" altLang="en-US" sz="2400"/>
          </a:p>
          <a:p>
            <a:r>
              <a:rPr lang="zh-CN" altLang="en-US" sz="2400"/>
              <a:t>1935年，(苏格兰)罗伯特·沃特森·</a:t>
            </a:r>
            <a:r>
              <a:rPr lang="zh-CN" altLang="en-US" sz="2400">
                <a:solidFill>
                  <a:srgbClr val="FF0000"/>
                </a:solidFill>
              </a:rPr>
              <a:t>瓦特</a:t>
            </a:r>
            <a:r>
              <a:rPr lang="zh-CN" altLang="en-US" sz="2400"/>
              <a:t>(Robert Watson-Watt)发明第一台雷达。</a:t>
            </a:r>
            <a:endParaRPr lang="zh-CN" altLang="en-US" sz="2400"/>
          </a:p>
        </p:txBody>
      </p:sp>
      <p:sp>
        <p:nvSpPr>
          <p:cNvPr id="13" name="文本框 12"/>
          <p:cNvSpPr txBox="1"/>
          <p:nvPr/>
        </p:nvSpPr>
        <p:spPr>
          <a:xfrm>
            <a:off x="2046605" y="6207760"/>
            <a:ext cx="1891030" cy="337185"/>
          </a:xfrm>
          <a:prstGeom prst="rect">
            <a:avLst/>
          </a:prstGeom>
          <a:noFill/>
        </p:spPr>
        <p:txBody>
          <a:bodyPr wrap="square" rtlCol="0">
            <a:spAutoFit/>
          </a:bodyPr>
          <a:p>
            <a:r>
              <a:rPr lang="zh-CN" altLang="en-US" sz="1600">
                <a:sym typeface="+mn-ea"/>
              </a:rPr>
              <a:t>贝尔德</a:t>
            </a:r>
            <a:r>
              <a:rPr lang="en-US" altLang="zh-CN" sz="1600"/>
              <a:t>(1888-1946)</a:t>
            </a:r>
            <a:endParaRPr lang="en-US" altLang="zh-CN" sz="1600"/>
          </a:p>
        </p:txBody>
      </p:sp>
      <p:sp>
        <p:nvSpPr>
          <p:cNvPr id="14" name="文本框 13"/>
          <p:cNvSpPr txBox="1"/>
          <p:nvPr/>
        </p:nvSpPr>
        <p:spPr>
          <a:xfrm>
            <a:off x="5545455" y="6210935"/>
            <a:ext cx="1682750" cy="337185"/>
          </a:xfrm>
          <a:prstGeom prst="rect">
            <a:avLst/>
          </a:prstGeom>
          <a:noFill/>
        </p:spPr>
        <p:txBody>
          <a:bodyPr wrap="square" rtlCol="0">
            <a:spAutoFit/>
          </a:bodyPr>
          <a:p>
            <a:r>
              <a:rPr lang="zh-CN" altLang="en-US" sz="1600">
                <a:sym typeface="+mn-ea"/>
              </a:rPr>
              <a:t>瓦特</a:t>
            </a:r>
            <a:r>
              <a:rPr lang="en-US" altLang="zh-CN" sz="1600"/>
              <a:t>(1892-1973)</a:t>
            </a:r>
            <a:endParaRPr lang="en-US" altLang="zh-CN" sz="1600"/>
          </a:p>
        </p:txBody>
      </p:sp>
      <p:graphicFrame>
        <p:nvGraphicFramePr>
          <p:cNvPr id="4" name="对象 3"/>
          <p:cNvGraphicFramePr/>
          <p:nvPr/>
        </p:nvGraphicFramePr>
        <p:xfrm>
          <a:off x="1963420" y="4101465"/>
          <a:ext cx="2057400" cy="1981835"/>
        </p:xfrm>
        <a:graphic>
          <a:graphicData uri="http://schemas.openxmlformats.org/presentationml/2006/ole">
            <mc:AlternateContent xmlns:mc="http://schemas.openxmlformats.org/markup-compatibility/2006">
              <mc:Choice xmlns:v="urn:schemas-microsoft-com:vml" Requires="v">
                <p:oleObj spid="_x0000_s15" name="" r:id="rId1" imgW="3822700" imgH="4229100" progId="Paint.Picture">
                  <p:embed/>
                </p:oleObj>
              </mc:Choice>
              <mc:Fallback>
                <p:oleObj name="" r:id="rId1" imgW="3822700" imgH="4229100" progId="Paint.Picture">
                  <p:embed/>
                  <p:pic>
                    <p:nvPicPr>
                      <p:cNvPr id="0" name="图片 14"/>
                      <p:cNvPicPr/>
                      <p:nvPr/>
                    </p:nvPicPr>
                    <p:blipFill>
                      <a:blip r:embed="rId2"/>
                      <a:stretch>
                        <a:fillRect/>
                      </a:stretch>
                    </p:blipFill>
                    <p:spPr>
                      <a:xfrm>
                        <a:off x="1963420" y="4101465"/>
                        <a:ext cx="2057400" cy="1981835"/>
                      </a:xfrm>
                      <a:prstGeom prst="rect">
                        <a:avLst/>
                      </a:prstGeom>
                    </p:spPr>
                  </p:pic>
                </p:oleObj>
              </mc:Fallback>
            </mc:AlternateContent>
          </a:graphicData>
        </a:graphic>
      </p:graphicFrame>
      <p:graphicFrame>
        <p:nvGraphicFramePr>
          <p:cNvPr id="16" name="对象 15"/>
          <p:cNvGraphicFramePr/>
          <p:nvPr/>
        </p:nvGraphicFramePr>
        <p:xfrm>
          <a:off x="5371465" y="4101465"/>
          <a:ext cx="1856740" cy="2010410"/>
        </p:xfrm>
        <a:graphic>
          <a:graphicData uri="http://schemas.openxmlformats.org/presentationml/2006/ole">
            <mc:AlternateContent xmlns:mc="http://schemas.openxmlformats.org/markup-compatibility/2006">
              <mc:Choice xmlns:v="urn:schemas-microsoft-com:vml" Requires="v">
                <p:oleObj spid="_x0000_s17" name="" r:id="rId3" imgW="2552700" imgH="2743200" progId="Paint.Picture">
                  <p:embed/>
                </p:oleObj>
              </mc:Choice>
              <mc:Fallback>
                <p:oleObj name="" r:id="rId3" imgW="2552700" imgH="2743200" progId="Paint.Picture">
                  <p:embed/>
                  <p:pic>
                    <p:nvPicPr>
                      <p:cNvPr id="0" name="图片 16"/>
                      <p:cNvPicPr/>
                      <p:nvPr/>
                    </p:nvPicPr>
                    <p:blipFill>
                      <a:blip r:embed="rId4"/>
                      <a:stretch>
                        <a:fillRect/>
                      </a:stretch>
                    </p:blipFill>
                    <p:spPr>
                      <a:xfrm>
                        <a:off x="5371465" y="4101465"/>
                        <a:ext cx="1856740" cy="201041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讨论通信的可靠性和</a:t>
            </a:r>
            <a:r>
              <a:rPr lang="zh-CN" altLang="en-US"/>
              <a:t>有效性</a:t>
            </a:r>
            <a:endParaRPr lang="zh-CN" altLang="en-US"/>
          </a:p>
        </p:txBody>
      </p:sp>
      <p:sp>
        <p:nvSpPr>
          <p:cNvPr id="3" name="内容占位符 2"/>
          <p:cNvSpPr>
            <a:spLocks noGrp="1"/>
          </p:cNvSpPr>
          <p:nvPr>
            <p:ph idx="1"/>
          </p:nvPr>
        </p:nvSpPr>
        <p:spPr>
          <a:xfrm>
            <a:off x="608330" y="1490345"/>
            <a:ext cx="8949055" cy="4467225"/>
          </a:xfrm>
        </p:spPr>
        <p:txBody>
          <a:bodyPr/>
          <a:p>
            <a:r>
              <a:rPr lang="zh-CN" altLang="en-US" sz="2400"/>
              <a:t>192</a:t>
            </a:r>
            <a:r>
              <a:rPr lang="en-US" sz="2400"/>
              <a:t>2</a:t>
            </a:r>
            <a:r>
              <a:rPr lang="zh-CN" altLang="en-US" sz="2400"/>
              <a:t>，</a:t>
            </a:r>
            <a:r>
              <a:rPr lang="zh-CN" altLang="en-US" sz="2400">
                <a:solidFill>
                  <a:srgbClr val="FF0000"/>
                </a:solidFill>
              </a:rPr>
              <a:t>卡松</a:t>
            </a:r>
            <a:r>
              <a:rPr lang="zh-CN" altLang="en-US" sz="2400"/>
              <a:t>(J.</a:t>
            </a:r>
            <a:r>
              <a:rPr lang="en-US" altLang="zh-CN" sz="2400"/>
              <a:t>R</a:t>
            </a:r>
            <a:r>
              <a:rPr lang="zh-CN" altLang="en-US" sz="2400"/>
              <a:t>.</a:t>
            </a:r>
            <a:r>
              <a:rPr lang="en-US" altLang="zh-CN" sz="2400"/>
              <a:t>Carson</a:t>
            </a:r>
            <a:r>
              <a:rPr lang="zh-CN" altLang="en-US" sz="2400"/>
              <a:t>)提出边带理论，指出信号在调制</a:t>
            </a:r>
            <a:r>
              <a:rPr lang="en-US" altLang="zh-CN" sz="2400"/>
              <a:t>(</a:t>
            </a:r>
            <a:r>
              <a:rPr lang="zh-CN" altLang="en-US" sz="2400"/>
              <a:t>编码</a:t>
            </a:r>
            <a:r>
              <a:rPr lang="en-US" altLang="zh-CN" sz="2400"/>
              <a:t>)</a:t>
            </a:r>
            <a:r>
              <a:rPr lang="zh-CN" altLang="en-US" sz="2400"/>
              <a:t>和传输过程中与频谱密度的关系。</a:t>
            </a:r>
            <a:endParaRPr lang="zh-CN" altLang="en-US" sz="2400"/>
          </a:p>
          <a:p>
            <a:r>
              <a:rPr lang="en-US" altLang="zh-CN" sz="2400"/>
              <a:t>1922</a:t>
            </a:r>
            <a:r>
              <a:rPr lang="zh-CN" altLang="en-US" sz="2400"/>
              <a:t>，</a:t>
            </a:r>
            <a:r>
              <a:rPr lang="en-US" altLang="zh-CN" sz="2400"/>
              <a:t>(</a:t>
            </a:r>
            <a:r>
              <a:rPr lang="zh-CN" altLang="en-US" sz="2400"/>
              <a:t>美</a:t>
            </a:r>
            <a:r>
              <a:rPr lang="en-US" altLang="zh-CN" sz="2400"/>
              <a:t>)</a:t>
            </a:r>
            <a:r>
              <a:rPr lang="zh-CN" altLang="en-US" sz="2400"/>
              <a:t>拉尔夫·</a:t>
            </a:r>
            <a:r>
              <a:rPr lang="zh-CN" altLang="en-US" sz="2400">
                <a:solidFill>
                  <a:srgbClr val="FF0000"/>
                </a:solidFill>
              </a:rPr>
              <a:t>哈特利</a:t>
            </a:r>
            <a:r>
              <a:rPr lang="zh-CN" altLang="en-US" sz="2400"/>
              <a:t>(Ralph Hartley)发表《信息传输》，区分了信息和消息。</a:t>
            </a:r>
            <a:r>
              <a:rPr lang="en-US" altLang="zh-CN" sz="2400"/>
              <a:t>1928</a:t>
            </a:r>
            <a:r>
              <a:rPr lang="zh-CN" altLang="en-US" sz="2400"/>
              <a:t>，他提出将消息考虑为代码或单语的系列，用对数来度量信息的概念。他的工作给了仙农很大的启发。</a:t>
            </a:r>
            <a:endParaRPr lang="en-US" altLang="zh-CN" sz="2400"/>
          </a:p>
          <a:p>
            <a:r>
              <a:rPr lang="en-US" altLang="zh-CN" sz="2400"/>
              <a:t>1924</a:t>
            </a:r>
            <a:r>
              <a:rPr lang="zh-CN" altLang="en-US" sz="2400"/>
              <a:t>，</a:t>
            </a:r>
            <a:r>
              <a:rPr lang="en-US" altLang="zh-CN" sz="2400">
                <a:sym typeface="+mn-ea"/>
              </a:rPr>
              <a:t>(</a:t>
            </a:r>
            <a:r>
              <a:rPr lang="zh-CN" altLang="en-US" sz="2400">
                <a:sym typeface="+mn-ea"/>
              </a:rPr>
              <a:t>美</a:t>
            </a:r>
            <a:r>
              <a:rPr lang="en-US" altLang="zh-CN" sz="2400">
                <a:sym typeface="+mn-ea"/>
              </a:rPr>
              <a:t>)</a:t>
            </a:r>
            <a:r>
              <a:rPr lang="zh-CN" altLang="en-US" sz="2400"/>
              <a:t>哈利·</a:t>
            </a:r>
            <a:r>
              <a:rPr lang="zh-CN" altLang="en-US" sz="2400">
                <a:solidFill>
                  <a:srgbClr val="FF0000"/>
                </a:solidFill>
              </a:rPr>
              <a:t>奈奎斯特</a:t>
            </a:r>
            <a:r>
              <a:rPr lang="zh-CN" altLang="en-US" sz="2400"/>
              <a:t>(Harry Nyquist)提出电信号的传输速率与信号频率带宽之间存在比率关系。</a:t>
            </a:r>
            <a:endParaRPr lang="zh-CN" altLang="en-US" sz="2400">
              <a:sym typeface="+mn-ea"/>
            </a:endParaRPr>
          </a:p>
        </p:txBody>
      </p:sp>
      <p:sp>
        <p:nvSpPr>
          <p:cNvPr id="13" name="文本框 12"/>
          <p:cNvSpPr txBox="1"/>
          <p:nvPr/>
        </p:nvSpPr>
        <p:spPr>
          <a:xfrm>
            <a:off x="10005695" y="4779010"/>
            <a:ext cx="1353185" cy="583565"/>
          </a:xfrm>
          <a:prstGeom prst="rect">
            <a:avLst/>
          </a:prstGeom>
          <a:noFill/>
        </p:spPr>
        <p:txBody>
          <a:bodyPr wrap="square" rtlCol="0">
            <a:spAutoFit/>
          </a:bodyPr>
          <a:p>
            <a:r>
              <a:rPr lang="en-US" altLang="zh-CN" sz="1600">
                <a:sym typeface="+mn-ea"/>
              </a:rPr>
              <a:t>   </a:t>
            </a:r>
            <a:r>
              <a:rPr lang="zh-CN" altLang="en-US" sz="1600">
                <a:sym typeface="+mn-ea"/>
              </a:rPr>
              <a:t>奈奎斯特</a:t>
            </a:r>
            <a:endParaRPr lang="zh-CN" altLang="en-US" sz="1600">
              <a:sym typeface="+mn-ea"/>
            </a:endParaRPr>
          </a:p>
          <a:p>
            <a:r>
              <a:rPr lang="en-US" altLang="zh-CN" sz="1600"/>
              <a:t>(1889-1976)</a:t>
            </a:r>
            <a:endParaRPr lang="en-US" altLang="zh-CN" sz="1600"/>
          </a:p>
        </p:txBody>
      </p:sp>
      <p:graphicFrame>
        <p:nvGraphicFramePr>
          <p:cNvPr id="7" name="对象 6"/>
          <p:cNvGraphicFramePr/>
          <p:nvPr/>
        </p:nvGraphicFramePr>
        <p:xfrm>
          <a:off x="9871075" y="2766060"/>
          <a:ext cx="1588135" cy="1886585"/>
        </p:xfrm>
        <a:graphic>
          <a:graphicData uri="http://schemas.openxmlformats.org/presentationml/2006/ole">
            <mc:AlternateContent xmlns:mc="http://schemas.openxmlformats.org/markup-compatibility/2006">
              <mc:Choice xmlns:v="urn:schemas-microsoft-com:vml" Requires="v">
                <p:oleObj spid="_x0000_s8" name="" r:id="rId1" imgW="4495800" imgH="5524500" progId="Paint.Picture">
                  <p:embed/>
                </p:oleObj>
              </mc:Choice>
              <mc:Fallback>
                <p:oleObj name="" r:id="rId1" imgW="4495800" imgH="5524500" progId="Paint.Picture">
                  <p:embed/>
                  <p:pic>
                    <p:nvPicPr>
                      <p:cNvPr id="0" name="图片 7"/>
                      <p:cNvPicPr/>
                      <p:nvPr/>
                    </p:nvPicPr>
                    <p:blipFill>
                      <a:blip r:embed="rId2"/>
                      <a:stretch>
                        <a:fillRect/>
                      </a:stretch>
                    </p:blipFill>
                    <p:spPr>
                      <a:xfrm>
                        <a:off x="9871075" y="2766060"/>
                        <a:ext cx="1588135" cy="188658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讨论通信的可靠性和</a:t>
            </a:r>
            <a:r>
              <a:rPr lang="zh-CN" altLang="en-US"/>
              <a:t>有效性</a:t>
            </a:r>
            <a:endParaRPr lang="zh-CN" altLang="en-US"/>
          </a:p>
        </p:txBody>
      </p:sp>
      <p:sp>
        <p:nvSpPr>
          <p:cNvPr id="3" name="内容占位符 2"/>
          <p:cNvSpPr>
            <a:spLocks noGrp="1"/>
          </p:cNvSpPr>
          <p:nvPr>
            <p:ph idx="1"/>
          </p:nvPr>
        </p:nvSpPr>
        <p:spPr>
          <a:xfrm>
            <a:off x="608330" y="1490345"/>
            <a:ext cx="8291195" cy="4937125"/>
          </a:xfrm>
        </p:spPr>
        <p:txBody>
          <a:bodyPr>
            <a:normAutofit/>
          </a:bodyPr>
          <a:p>
            <a:r>
              <a:rPr lang="en-US" altLang="zh-CN" sz="2400">
                <a:sym typeface="+mn-ea"/>
              </a:rPr>
              <a:t>1936</a:t>
            </a:r>
            <a:r>
              <a:rPr lang="zh-CN" altLang="en-US" sz="2400">
                <a:sym typeface="+mn-ea"/>
              </a:rPr>
              <a:t>，</a:t>
            </a:r>
            <a:r>
              <a:rPr lang="en-US" altLang="zh-CN" sz="2400">
                <a:sym typeface="+mn-ea"/>
              </a:rPr>
              <a:t>(</a:t>
            </a:r>
            <a:r>
              <a:rPr lang="zh-CN" altLang="en-US" sz="2400">
                <a:sym typeface="+mn-ea"/>
              </a:rPr>
              <a:t>美</a:t>
            </a:r>
            <a:r>
              <a:rPr lang="en-US" altLang="zh-CN" sz="2400">
                <a:sym typeface="+mn-ea"/>
              </a:rPr>
              <a:t>)</a:t>
            </a:r>
            <a:r>
              <a:rPr lang="zh-CN" altLang="en-US" sz="2400">
                <a:sym typeface="+mn-ea"/>
              </a:rPr>
              <a:t>埃德温·霍华德·</a:t>
            </a:r>
            <a:r>
              <a:rPr lang="zh-CN" altLang="en-US" sz="2400">
                <a:solidFill>
                  <a:srgbClr val="FF0000"/>
                </a:solidFill>
                <a:sym typeface="+mn-ea"/>
              </a:rPr>
              <a:t>阿姆斯特朗</a:t>
            </a:r>
            <a:r>
              <a:rPr lang="zh-CN" altLang="en-US" sz="2400">
                <a:sym typeface="+mn-ea"/>
              </a:rPr>
              <a:t>(Edwin Howard Armstrong)提出增加信号带宽可以增强抑制噪声干扰的能力，给出了调频方式。</a:t>
            </a:r>
            <a:endParaRPr lang="zh-CN" altLang="en-US" sz="2400">
              <a:sym typeface="+mn-ea"/>
            </a:endParaRPr>
          </a:p>
          <a:p>
            <a:r>
              <a:rPr lang="en-US" altLang="zh-CN" sz="2400">
                <a:sym typeface="+mn-ea"/>
              </a:rPr>
              <a:t>1936</a:t>
            </a:r>
            <a:r>
              <a:rPr lang="zh-CN" altLang="en-US" sz="2400">
                <a:sym typeface="+mn-ea"/>
              </a:rPr>
              <a:t>，荷马·</a:t>
            </a:r>
            <a:r>
              <a:rPr lang="zh-CN" altLang="en-US" sz="2400">
                <a:solidFill>
                  <a:srgbClr val="FF0000"/>
                </a:solidFill>
                <a:sym typeface="+mn-ea"/>
              </a:rPr>
              <a:t>达德利</a:t>
            </a:r>
            <a:r>
              <a:rPr lang="zh-CN" altLang="en-US" sz="2400">
                <a:sym typeface="+mn-ea"/>
              </a:rPr>
              <a:t>(Homer W. Dudley，</a:t>
            </a:r>
            <a:r>
              <a:rPr lang="en-US" altLang="zh-CN" sz="2400">
                <a:sym typeface="+mn-ea"/>
              </a:rPr>
              <a:t>1896-1987</a:t>
            </a:r>
            <a:r>
              <a:rPr lang="zh-CN" altLang="en-US" sz="2400">
                <a:sym typeface="+mn-ea"/>
              </a:rPr>
              <a:t>)发明了带通声码器，指出通信所需带宽至少同待传送消息的带宽应该一样。声码器是最早的语言数据压缩系统。</a:t>
            </a:r>
            <a:endParaRPr lang="zh-CN" altLang="en-US" sz="2400">
              <a:sym typeface="+mn-ea"/>
            </a:endParaRPr>
          </a:p>
        </p:txBody>
      </p:sp>
      <p:sp>
        <p:nvSpPr>
          <p:cNvPr id="14" name="文本框 13"/>
          <p:cNvSpPr txBox="1"/>
          <p:nvPr/>
        </p:nvSpPr>
        <p:spPr>
          <a:xfrm>
            <a:off x="9313545" y="3911600"/>
            <a:ext cx="2296795" cy="337185"/>
          </a:xfrm>
          <a:prstGeom prst="rect">
            <a:avLst/>
          </a:prstGeom>
          <a:noFill/>
        </p:spPr>
        <p:txBody>
          <a:bodyPr wrap="square" rtlCol="0">
            <a:spAutoFit/>
          </a:bodyPr>
          <a:p>
            <a:r>
              <a:rPr lang="en-US" altLang="zh-CN" sz="1600">
                <a:solidFill>
                  <a:schemeClr val="tx1"/>
                </a:solidFill>
                <a:sym typeface="+mn-ea"/>
              </a:rPr>
              <a:t> </a:t>
            </a:r>
            <a:r>
              <a:rPr lang="zh-CN" altLang="en-US" sz="1600">
                <a:solidFill>
                  <a:schemeClr val="tx1"/>
                </a:solidFill>
                <a:sym typeface="+mn-ea"/>
              </a:rPr>
              <a:t>阿姆斯特朗</a:t>
            </a:r>
            <a:r>
              <a:rPr lang="en-US" altLang="zh-CN" sz="1600">
                <a:solidFill>
                  <a:schemeClr val="tx1"/>
                </a:solidFill>
              </a:rPr>
              <a:t>(18</a:t>
            </a:r>
            <a:r>
              <a:rPr lang="en-US" altLang="zh-CN" sz="1600"/>
              <a:t>90-1954)</a:t>
            </a:r>
            <a:endParaRPr lang="en-US" altLang="zh-CN" sz="1600"/>
          </a:p>
        </p:txBody>
      </p:sp>
      <p:graphicFrame>
        <p:nvGraphicFramePr>
          <p:cNvPr id="5" name="对象 4"/>
          <p:cNvGraphicFramePr/>
          <p:nvPr/>
        </p:nvGraphicFramePr>
        <p:xfrm>
          <a:off x="9634855" y="2021840"/>
          <a:ext cx="1588770" cy="1844040"/>
        </p:xfrm>
        <a:graphic>
          <a:graphicData uri="http://schemas.openxmlformats.org/presentationml/2006/ole">
            <mc:AlternateContent xmlns:mc="http://schemas.openxmlformats.org/markup-compatibility/2006">
              <mc:Choice xmlns:v="urn:schemas-microsoft-com:vml" Requires="v">
                <p:oleObj spid="_x0000_s6" name="" r:id="rId1" imgW="1955800" imgH="2400300" progId="Paint.Picture">
                  <p:embed/>
                </p:oleObj>
              </mc:Choice>
              <mc:Fallback>
                <p:oleObj name="" r:id="rId1" imgW="1955800" imgH="2400300" progId="Paint.Picture">
                  <p:embed/>
                  <p:pic>
                    <p:nvPicPr>
                      <p:cNvPr id="0" name="图片 5"/>
                      <p:cNvPicPr/>
                      <p:nvPr/>
                    </p:nvPicPr>
                    <p:blipFill>
                      <a:blip r:embed="rId2"/>
                      <a:stretch>
                        <a:fillRect/>
                      </a:stretch>
                    </p:blipFill>
                    <p:spPr>
                      <a:xfrm>
                        <a:off x="9634855" y="2021840"/>
                        <a:ext cx="1588770" cy="184404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维纳的工作有力</a:t>
            </a:r>
            <a:r>
              <a:rPr lang="zh-CN" altLang="en-US"/>
              <a:t>地推动了信息论的</a:t>
            </a:r>
            <a:r>
              <a:rPr lang="zh-CN" altLang="en-US"/>
              <a:t>创立</a:t>
            </a:r>
            <a:endParaRPr lang="zh-CN" altLang="en-US"/>
          </a:p>
        </p:txBody>
      </p:sp>
      <p:sp>
        <p:nvSpPr>
          <p:cNvPr id="3" name="内容占位符 2"/>
          <p:cNvSpPr>
            <a:spLocks noGrp="1"/>
          </p:cNvSpPr>
          <p:nvPr>
            <p:ph idx="1"/>
          </p:nvPr>
        </p:nvSpPr>
        <p:spPr>
          <a:xfrm>
            <a:off x="608330" y="1490345"/>
            <a:ext cx="10909300" cy="3456305"/>
          </a:xfrm>
        </p:spPr>
        <p:txBody>
          <a:bodyPr>
            <a:normAutofit/>
          </a:bodyPr>
          <a:p>
            <a:r>
              <a:rPr lang="en-US"/>
              <a:t>(</a:t>
            </a:r>
            <a:r>
              <a:rPr lang="zh-CN" altLang="en-US"/>
              <a:t>美</a:t>
            </a:r>
            <a:r>
              <a:rPr lang="en-US"/>
              <a:t>)</a:t>
            </a:r>
            <a:r>
              <a:t>诺伯特·维纳(Norbert Wiener)在研究防空火炮的控制系统和人体神经系统时，把随机过程和数理统计的观点引入通信和控制系统，揭示了信息传输和处理过程的本质，奠定了信息论的理论基础</a:t>
            </a:r>
            <a:r>
              <a:rPr lang="zh-CN"/>
              <a:t>，并为信息论的应用开辟了广阔的前景</a:t>
            </a:r>
            <a:r>
              <a:t>。</a:t>
            </a:r>
          </a:p>
          <a:p>
            <a:r>
              <a:t>他把消息视为可测事件的时间序列，把通信视为统计问题，在数学上把消息作为平稳随机过程及其变换来研究。</a:t>
            </a:r>
          </a:p>
          <a:p>
            <a:r>
              <a:t>他阐明了信息定量化的原则和方法，用熵定义了连续信号的信息量，提出度量信息量的香农-维纳公式。</a:t>
            </a:r>
          </a:p>
          <a:p>
            <a:r>
              <a:t>他提出在干扰作用下的信息最佳滤波理论，成为信息论的一个重要分支方向。</a:t>
            </a:r>
          </a:p>
        </p:txBody>
      </p:sp>
      <p:sp>
        <p:nvSpPr>
          <p:cNvPr id="14" name="文本框 13"/>
          <p:cNvSpPr txBox="1"/>
          <p:nvPr/>
        </p:nvSpPr>
        <p:spPr>
          <a:xfrm>
            <a:off x="7831455" y="5641340"/>
            <a:ext cx="1682750" cy="337185"/>
          </a:xfrm>
          <a:prstGeom prst="rect">
            <a:avLst/>
          </a:prstGeom>
          <a:noFill/>
        </p:spPr>
        <p:txBody>
          <a:bodyPr wrap="square" rtlCol="0">
            <a:spAutoFit/>
          </a:bodyPr>
          <a:p>
            <a:r>
              <a:rPr sz="1600">
                <a:sym typeface="+mn-ea"/>
              </a:rPr>
              <a:t>维纳</a:t>
            </a:r>
            <a:r>
              <a:rPr lang="en-US" altLang="zh-CN" sz="1600"/>
              <a:t>(1894-1964)</a:t>
            </a:r>
            <a:endParaRPr lang="en-US" altLang="zh-CN" sz="1600"/>
          </a:p>
        </p:txBody>
      </p:sp>
      <p:graphicFrame>
        <p:nvGraphicFramePr>
          <p:cNvPr id="4" name="对象 3"/>
          <p:cNvGraphicFramePr/>
          <p:nvPr/>
        </p:nvGraphicFramePr>
        <p:xfrm>
          <a:off x="2481580" y="5026025"/>
          <a:ext cx="4998085" cy="1561465"/>
        </p:xfrm>
        <a:graphic>
          <a:graphicData uri="http://schemas.openxmlformats.org/presentationml/2006/ole">
            <mc:AlternateContent xmlns:mc="http://schemas.openxmlformats.org/markup-compatibility/2006">
              <mc:Choice xmlns:v="urn:schemas-microsoft-com:vml" Requires="v">
                <p:oleObj spid="_x0000_s5" name="" r:id="rId1" imgW="6883400" imgH="2870200" progId="Paint.Picture">
                  <p:embed/>
                </p:oleObj>
              </mc:Choice>
              <mc:Fallback>
                <p:oleObj name="" r:id="rId1" imgW="6883400" imgH="2870200" progId="Paint.Picture">
                  <p:embed/>
                  <p:pic>
                    <p:nvPicPr>
                      <p:cNvPr id="0" name="图片 4"/>
                      <p:cNvPicPr/>
                      <p:nvPr/>
                    </p:nvPicPr>
                    <p:blipFill>
                      <a:blip r:embed="rId2"/>
                      <a:stretch>
                        <a:fillRect/>
                      </a:stretch>
                    </p:blipFill>
                    <p:spPr>
                      <a:xfrm>
                        <a:off x="2481580" y="5026025"/>
                        <a:ext cx="4998085" cy="1561465"/>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香农创立</a:t>
            </a:r>
            <a:r>
              <a:rPr lang="zh-CN" altLang="en-US"/>
              <a:t>了信息论</a:t>
            </a:r>
            <a:endParaRPr lang="zh-CN" altLang="en-US"/>
          </a:p>
        </p:txBody>
      </p:sp>
      <p:sp>
        <p:nvSpPr>
          <p:cNvPr id="3" name="内容占位符 2"/>
          <p:cNvSpPr>
            <a:spLocks noGrp="1"/>
          </p:cNvSpPr>
          <p:nvPr>
            <p:ph idx="1"/>
          </p:nvPr>
        </p:nvSpPr>
        <p:spPr>
          <a:xfrm>
            <a:off x="608330" y="1490345"/>
            <a:ext cx="10909300" cy="3456305"/>
          </a:xfrm>
        </p:spPr>
        <p:txBody>
          <a:bodyPr>
            <a:normAutofit/>
          </a:bodyPr>
          <a:p>
            <a:r>
              <a:rPr lang="en-US"/>
              <a:t>1948</a:t>
            </a:r>
            <a:r>
              <a:rPr lang="zh-CN" altLang="en-US"/>
              <a:t>，克劳德·艾尔伍德·</a:t>
            </a:r>
            <a:r>
              <a:rPr lang="zh-CN" altLang="en-US">
                <a:sym typeface="+mn-ea"/>
              </a:rPr>
              <a:t>香</a:t>
            </a:r>
            <a:r>
              <a:rPr lang="zh-CN" altLang="en-US"/>
              <a:t>农(Claude Elwood Shannon)发表《</a:t>
            </a:r>
            <a:r>
              <a:rPr lang="en-US" altLang="zh-CN"/>
              <a:t>A mathematical theory of communication</a:t>
            </a:r>
            <a:r>
              <a:rPr lang="zh-CN" altLang="en-US"/>
              <a:t>》</a:t>
            </a:r>
            <a:r>
              <a:t>。</a:t>
            </a:r>
          </a:p>
          <a:p>
            <a:r>
              <a:rPr lang="en-US"/>
              <a:t>1949</a:t>
            </a:r>
            <a:r>
              <a:rPr lang="zh-CN" altLang="en-US"/>
              <a:t>，</a:t>
            </a:r>
            <a:r>
              <a:rPr lang="zh-CN" altLang="en-US">
                <a:sym typeface="+mn-ea"/>
              </a:rPr>
              <a:t>香</a:t>
            </a:r>
            <a:r>
              <a:rPr lang="zh-CN" altLang="en-US">
                <a:sym typeface="+mn-ea"/>
              </a:rPr>
              <a:t>农发表《Communication in the presence of noise》</a:t>
            </a:r>
            <a:r>
              <a:t>。</a:t>
            </a:r>
          </a:p>
          <a:p>
            <a:r>
              <a:rPr lang="zh-CN"/>
              <a:t>他用概率论和数理统计的方法讨论了通信的基本问题，得出如下结论：</a:t>
            </a:r>
            <a:r>
              <a:rPr lang="en-US" altLang="zh-CN"/>
              <a:t>1</a:t>
            </a:r>
            <a:r>
              <a:rPr lang="zh-CN" altLang="en-US"/>
              <a:t>）阐明通信系统传递的对象就是信息，并对信息进行定量描述，提出信息熵的概念；</a:t>
            </a:r>
            <a:r>
              <a:rPr lang="en-US" altLang="zh-CN"/>
              <a:t>2</a:t>
            </a:r>
            <a:r>
              <a:rPr lang="zh-CN" altLang="en-US"/>
              <a:t>）指出通信系统</a:t>
            </a:r>
            <a:r>
              <a:rPr lang="zh-CN"/>
              <a:t>的中心问题就是噪声下如何有效而可靠地传递信息，以及实现这个目标的方法之一就是编码；</a:t>
            </a:r>
            <a:r>
              <a:rPr lang="en-US" altLang="zh-CN"/>
              <a:t>3</a:t>
            </a:r>
            <a:r>
              <a:rPr lang="zh-CN" altLang="en-US"/>
              <a:t>）给出无失真信源编码定理和有噪条件下的信道编码定理，后来发展为信息率失真理论，是信源编码的核心。</a:t>
            </a:r>
            <a:endParaRPr lang="zh-CN" altLang="en-US"/>
          </a:p>
          <a:p>
            <a:r>
              <a:rPr lang="zh-CN" altLang="en-US"/>
              <a:t>这两篇论文奠定了信息论的基础，而</a:t>
            </a:r>
            <a:r>
              <a:rPr lang="zh-CN" altLang="en-US">
                <a:sym typeface="+mn-ea"/>
              </a:rPr>
              <a:t>香</a:t>
            </a:r>
            <a:r>
              <a:rPr lang="zh-CN" altLang="en-US"/>
              <a:t>农也因此被公认为信息论的创始人。</a:t>
            </a:r>
            <a:endParaRPr lang="zh-CN" altLang="en-US"/>
          </a:p>
        </p:txBody>
      </p:sp>
      <p:sp>
        <p:nvSpPr>
          <p:cNvPr id="14" name="文本框 13"/>
          <p:cNvSpPr txBox="1"/>
          <p:nvPr/>
        </p:nvSpPr>
        <p:spPr>
          <a:xfrm>
            <a:off x="7831455" y="5641340"/>
            <a:ext cx="1682750" cy="337185"/>
          </a:xfrm>
          <a:prstGeom prst="rect">
            <a:avLst/>
          </a:prstGeom>
          <a:noFill/>
        </p:spPr>
        <p:txBody>
          <a:bodyPr wrap="square" rtlCol="0">
            <a:spAutoFit/>
          </a:bodyPr>
          <a:p>
            <a:r>
              <a:rPr lang="zh-CN" altLang="en-US" sz="1600">
                <a:sym typeface="+mn-ea"/>
              </a:rPr>
              <a:t>香</a:t>
            </a:r>
            <a:r>
              <a:rPr lang="zh-CN" sz="1600">
                <a:sym typeface="+mn-ea"/>
              </a:rPr>
              <a:t>农</a:t>
            </a:r>
            <a:r>
              <a:rPr lang="en-US" altLang="zh-CN" sz="1600"/>
              <a:t>(1916-2001)</a:t>
            </a:r>
            <a:endParaRPr lang="en-US" altLang="zh-CN" sz="1600"/>
          </a:p>
        </p:txBody>
      </p:sp>
      <p:graphicFrame>
        <p:nvGraphicFramePr>
          <p:cNvPr id="7" name="对象 6"/>
          <p:cNvGraphicFramePr/>
          <p:nvPr/>
        </p:nvGraphicFramePr>
        <p:xfrm>
          <a:off x="1845945" y="4946650"/>
          <a:ext cx="5732145" cy="1639570"/>
        </p:xfrm>
        <a:graphic>
          <a:graphicData uri="http://schemas.openxmlformats.org/presentationml/2006/ole">
            <mc:AlternateContent xmlns:mc="http://schemas.openxmlformats.org/markup-compatibility/2006">
              <mc:Choice xmlns:v="urn:schemas-microsoft-com:vml" Requires="v">
                <p:oleObj spid="_x0000_s8" name="" r:id="rId1" imgW="5727700" imgH="1638300" progId="Paint.Picture">
                  <p:embed/>
                </p:oleObj>
              </mc:Choice>
              <mc:Fallback>
                <p:oleObj name="" r:id="rId1" imgW="5727700" imgH="1638300" progId="Paint.Picture">
                  <p:embed/>
                  <p:pic>
                    <p:nvPicPr>
                      <p:cNvPr id="0" name="图片 7"/>
                      <p:cNvPicPr/>
                      <p:nvPr/>
                    </p:nvPicPr>
                    <p:blipFill>
                      <a:blip r:embed="rId2"/>
                      <a:stretch>
                        <a:fillRect/>
                      </a:stretch>
                    </p:blipFill>
                    <p:spPr>
                      <a:xfrm>
                        <a:off x="1845945" y="4946650"/>
                        <a:ext cx="5732145" cy="1639570"/>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汉明码</a:t>
            </a:r>
            <a:endParaRPr lang="zh-CN" altLang="en-US"/>
          </a:p>
        </p:txBody>
      </p:sp>
      <p:sp>
        <p:nvSpPr>
          <p:cNvPr id="3" name="内容占位符 2"/>
          <p:cNvSpPr>
            <a:spLocks noGrp="1"/>
          </p:cNvSpPr>
          <p:nvPr>
            <p:ph idx="1"/>
          </p:nvPr>
        </p:nvSpPr>
        <p:spPr>
          <a:xfrm>
            <a:off x="608330" y="1490345"/>
            <a:ext cx="8819515" cy="5139055"/>
          </a:xfrm>
        </p:spPr>
        <p:txBody>
          <a:bodyPr>
            <a:noAutofit/>
          </a:bodyPr>
          <a:p>
            <a:r>
              <a:rPr lang="en-US" sz="2300"/>
              <a:t>1950</a:t>
            </a:r>
            <a:r>
              <a:rPr lang="zh-CN" altLang="en-US" sz="2300"/>
              <a:t>，(美)理查德·卫斯里·汉明(Richard Wesley Hamming)提出一种重要的线性分组码</a:t>
            </a:r>
            <a:r>
              <a:rPr lang="en-US" altLang="zh-CN" sz="2300"/>
              <a:t>——</a:t>
            </a:r>
            <a:r>
              <a:rPr lang="zh-CN" altLang="en-US" sz="2300"/>
              <a:t>汉明码。此后，人们把代数方法引入到纠错码的研究中，形成了代数编码理论。</a:t>
            </a:r>
            <a:endParaRPr lang="zh-CN" altLang="en-US" sz="2300"/>
          </a:p>
          <a:p>
            <a:r>
              <a:rPr lang="zh-CN" altLang="en-US" sz="2300"/>
              <a:t>汉明码的编码方法：在发送端，将输入数据每4bits分为一组，计算这些信息比特的线性组合，得到3个校验比特，之后将得到的7bits送入计算机；在接收端，按照一定的规则读取这些码字，采用一定的算法，不仅能够检测到是否有错误发生，而且能找到发生单个比特错误的位置。</a:t>
            </a:r>
            <a:endParaRPr lang="zh-CN" altLang="en-US" sz="2300"/>
          </a:p>
          <a:p>
            <a:r>
              <a:rPr lang="zh-CN" altLang="en-US" sz="2300"/>
              <a:t>缺点：编码效率较低，每4bits编码就需要3bits冗余校验信息；每个码组中只能纠正1bit的错误。</a:t>
            </a:r>
            <a:endParaRPr lang="zh-CN" altLang="en-US" sz="2300"/>
          </a:p>
        </p:txBody>
      </p:sp>
      <p:sp>
        <p:nvSpPr>
          <p:cNvPr id="14" name="文本框 13"/>
          <p:cNvSpPr txBox="1"/>
          <p:nvPr/>
        </p:nvSpPr>
        <p:spPr>
          <a:xfrm>
            <a:off x="9835515" y="4222115"/>
            <a:ext cx="1682750" cy="337185"/>
          </a:xfrm>
          <a:prstGeom prst="rect">
            <a:avLst/>
          </a:prstGeom>
          <a:noFill/>
        </p:spPr>
        <p:txBody>
          <a:bodyPr wrap="square" rtlCol="0">
            <a:spAutoFit/>
          </a:bodyPr>
          <a:p>
            <a:r>
              <a:rPr lang="zh-CN" altLang="en-US" sz="1600">
                <a:sym typeface="+mn-ea"/>
              </a:rPr>
              <a:t>汉明</a:t>
            </a:r>
            <a:r>
              <a:rPr lang="en-US" altLang="zh-CN" sz="1600"/>
              <a:t>(1915-1998)</a:t>
            </a:r>
            <a:endParaRPr lang="en-US" altLang="zh-CN" sz="1600"/>
          </a:p>
        </p:txBody>
      </p:sp>
      <p:graphicFrame>
        <p:nvGraphicFramePr>
          <p:cNvPr id="9" name="对象 8"/>
          <p:cNvGraphicFramePr/>
          <p:nvPr/>
        </p:nvGraphicFramePr>
        <p:xfrm>
          <a:off x="9680575" y="2087880"/>
          <a:ext cx="1958975" cy="2038985"/>
        </p:xfrm>
        <a:graphic>
          <a:graphicData uri="http://schemas.openxmlformats.org/presentationml/2006/ole">
            <mc:AlternateContent xmlns:mc="http://schemas.openxmlformats.org/markup-compatibility/2006">
              <mc:Choice xmlns:v="urn:schemas-microsoft-com:vml" Requires="v">
                <p:oleObj spid="_x0000_s10" name="" r:id="rId1" imgW="2286000" imgH="2692400" progId="Paint.Picture">
                  <p:embed/>
                </p:oleObj>
              </mc:Choice>
              <mc:Fallback>
                <p:oleObj name="" r:id="rId1" imgW="2286000" imgH="2692400" progId="Paint.Picture">
                  <p:embed/>
                  <p:pic>
                    <p:nvPicPr>
                      <p:cNvPr id="0" name="图片 9"/>
                      <p:cNvPicPr/>
                      <p:nvPr/>
                    </p:nvPicPr>
                    <p:blipFill>
                      <a:blip r:embed="rId2"/>
                      <a:stretch>
                        <a:fillRect/>
                      </a:stretch>
                    </p:blipFill>
                    <p:spPr>
                      <a:xfrm>
                        <a:off x="9680575" y="2087880"/>
                        <a:ext cx="1958975" cy="203898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汉明的科研事迹</a:t>
            </a:r>
            <a:r>
              <a:rPr lang="en-US" altLang="zh-CN"/>
              <a:t>(</a:t>
            </a:r>
            <a:r>
              <a:rPr lang="zh-CN" altLang="en-US"/>
              <a:t>课堂思政</a:t>
            </a:r>
            <a:r>
              <a:rPr lang="en-US" altLang="zh-CN"/>
              <a:t>)</a:t>
            </a:r>
            <a:endParaRPr lang="en-US" altLang="zh-CN"/>
          </a:p>
        </p:txBody>
      </p:sp>
      <p:sp>
        <p:nvSpPr>
          <p:cNvPr id="3" name="内容占位符 2"/>
          <p:cNvSpPr>
            <a:spLocks noGrp="1"/>
          </p:cNvSpPr>
          <p:nvPr>
            <p:ph idx="1"/>
          </p:nvPr>
        </p:nvSpPr>
        <p:spPr>
          <a:xfrm>
            <a:off x="608330" y="1490345"/>
            <a:ext cx="10831830" cy="4921250"/>
          </a:xfrm>
        </p:spPr>
        <p:txBody>
          <a:bodyPr>
            <a:noAutofit/>
          </a:bodyPr>
          <a:p>
            <a:pPr algn="just"/>
            <a:r>
              <a:rPr sz="2400"/>
              <a:t>汉明“喜欢用非常规的方式去做非常规的事情”</a:t>
            </a:r>
            <a:endParaRPr sz="2400"/>
          </a:p>
          <a:p>
            <a:pPr algn="just"/>
            <a:r>
              <a:rPr sz="2400"/>
              <a:t>汉明别出心裁地把代数结构嵌入到信源序列并把伽罗华域的数学理论用于构造信道纠错码。</a:t>
            </a:r>
            <a:endParaRPr sz="2400"/>
          </a:p>
          <a:p>
            <a:pPr algn="just"/>
            <a:r>
              <a:rPr sz="2400"/>
              <a:t>此外，汉明的窗函数也成为了数字滤波技术教科书中的经典。</a:t>
            </a:r>
            <a:endParaRPr sz="2400"/>
          </a:p>
          <a:p>
            <a:pPr algn="just"/>
            <a:r>
              <a:rPr sz="2400"/>
              <a:t>1968年，汉明因在数值方法、自动编码系统、错码检测和纠错码发明等成就获得了图灵奖。</a:t>
            </a:r>
            <a:endParaRPr sz="2400"/>
          </a:p>
          <a:p>
            <a:pPr algn="just"/>
            <a:r>
              <a:rPr sz="2400"/>
              <a:t>每一个科学发现都反映着敢于质疑权威、勇于追求真理的创新精神</a:t>
            </a:r>
            <a:endParaRPr sz="2400"/>
          </a:p>
          <a:p>
            <a:pPr algn="just"/>
            <a:r>
              <a:rPr sz="2400"/>
              <a:t>为实现中华民族伟大复兴，要坚持把社会主义核心价值观与课程知识相统一，历史、辩证、唯物地研究问题。</a:t>
            </a:r>
            <a:endParaRPr sz="24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编码理论的发展</a:t>
            </a:r>
            <a:r>
              <a:rPr lang="zh-CN" altLang="en-US"/>
              <a:t>历史</a:t>
            </a:r>
            <a:endParaRPr lang="zh-CN" altLang="en-US"/>
          </a:p>
        </p:txBody>
      </p:sp>
      <p:sp>
        <p:nvSpPr>
          <p:cNvPr id="3" name="内容占位符 2"/>
          <p:cNvSpPr>
            <a:spLocks noGrp="1"/>
          </p:cNvSpPr>
          <p:nvPr>
            <p:ph idx="1"/>
          </p:nvPr>
        </p:nvSpPr>
        <p:spPr>
          <a:xfrm>
            <a:off x="608330" y="1490345"/>
            <a:ext cx="8819515" cy="5139055"/>
          </a:xfrm>
        </p:spPr>
        <p:txBody>
          <a:bodyPr>
            <a:noAutofit/>
          </a:bodyPr>
          <a:p>
            <a:r>
              <a:rPr lang="zh-CN" altLang="en-US" sz="2300"/>
              <a:t>自从汉明码开始，各种信道编码获得了长足的发展，</a:t>
            </a:r>
            <a:r>
              <a:rPr lang="zh-CN" altLang="en-US" sz="2300"/>
              <a:t>如</a:t>
            </a:r>
            <a:endParaRPr lang="zh-CN" altLang="en-US" sz="2300"/>
          </a:p>
          <a:p>
            <a:r>
              <a:rPr lang="zh-CN" altLang="en-US" sz="2300">
                <a:sym typeface="+mn-ea"/>
              </a:rPr>
              <a:t>格雷码，Reed-Muller码，循环码，Reed-Solomon码，BCH码</a:t>
            </a:r>
            <a:endParaRPr lang="zh-CN" altLang="en-US" sz="2300">
              <a:sym typeface="+mn-ea"/>
            </a:endParaRPr>
          </a:p>
          <a:p>
            <a:r>
              <a:rPr lang="zh-CN" altLang="en-US" sz="2300">
                <a:sym typeface="+mn-ea"/>
              </a:rPr>
              <a:t>卷积码，Turbo码</a:t>
            </a:r>
            <a:r>
              <a:rPr lang="zh-CN" altLang="en-US" sz="2300">
                <a:sym typeface="+mn-ea"/>
              </a:rPr>
              <a:t>，LDPC码，Polar码</a:t>
            </a:r>
            <a:endParaRPr lang="zh-CN" altLang="en-US" sz="2300">
              <a:sym typeface="+mn-ea"/>
            </a:endParaRPr>
          </a:p>
          <a:p>
            <a:r>
              <a:rPr lang="zh-CN" altLang="en-US" sz="2300">
                <a:sym typeface="+mn-ea"/>
              </a:rPr>
              <a:t>级联码，网格编码调制，代数几何码</a:t>
            </a:r>
            <a:endParaRPr lang="zh-CN" altLang="en-US" sz="2300">
              <a:sym typeface="+mn-ea"/>
            </a:endParaRPr>
          </a:p>
          <a:p>
            <a:r>
              <a:rPr lang="zh-CN" altLang="en-US" sz="2300">
                <a:sym typeface="+mn-ea"/>
              </a:rPr>
              <a:t>编织卷积码，纠删码，空时码</a:t>
            </a:r>
            <a:endParaRPr lang="zh-CN" altLang="en-US" sz="2300">
              <a:sym typeface="+mn-ea"/>
            </a:endParaRPr>
          </a:p>
          <a:p>
            <a:r>
              <a:rPr lang="zh-CN" altLang="en-US" sz="2300">
                <a:sym typeface="+mn-ea"/>
              </a:rPr>
              <a:t>网络编码，量子纠错码</a:t>
            </a:r>
            <a:r>
              <a:rPr lang="zh-CN" altLang="en-US" sz="2300">
                <a:sym typeface="+mn-ea"/>
              </a:rPr>
              <a:t>，二维码</a:t>
            </a:r>
            <a:endParaRPr lang="zh-CN" altLang="en-US" sz="2300">
              <a:sym typeface="+mn-ea"/>
            </a:endParaRPr>
          </a:p>
          <a:p>
            <a:r>
              <a:rPr lang="zh-CN" altLang="en-US" sz="2300">
                <a:sym typeface="+mn-ea"/>
              </a:rPr>
              <a:t>基于信息论与编码理论的安全技术</a:t>
            </a:r>
            <a:endParaRPr lang="zh-CN" altLang="en-US" sz="2300"/>
          </a:p>
        </p:txBody>
      </p:sp>
      <p:sp>
        <p:nvSpPr>
          <p:cNvPr id="14" name="文本框 13"/>
          <p:cNvSpPr txBox="1"/>
          <p:nvPr/>
        </p:nvSpPr>
        <p:spPr>
          <a:xfrm>
            <a:off x="9835515" y="4222115"/>
            <a:ext cx="1682750" cy="337185"/>
          </a:xfrm>
          <a:prstGeom prst="rect">
            <a:avLst/>
          </a:prstGeom>
          <a:noFill/>
        </p:spPr>
        <p:txBody>
          <a:bodyPr wrap="square" rtlCol="0">
            <a:spAutoFit/>
          </a:bodyPr>
          <a:p>
            <a:r>
              <a:rPr lang="zh-CN" altLang="en-US" sz="1600">
                <a:sym typeface="+mn-ea"/>
              </a:rPr>
              <a:t>汉明</a:t>
            </a:r>
            <a:r>
              <a:rPr lang="en-US" altLang="zh-CN" sz="1600"/>
              <a:t>(1915-1998)</a:t>
            </a:r>
            <a:endParaRPr lang="en-US" altLang="zh-CN" sz="1600"/>
          </a:p>
        </p:txBody>
      </p:sp>
      <p:graphicFrame>
        <p:nvGraphicFramePr>
          <p:cNvPr id="9" name="对象 8"/>
          <p:cNvGraphicFramePr/>
          <p:nvPr/>
        </p:nvGraphicFramePr>
        <p:xfrm>
          <a:off x="9680575" y="2087880"/>
          <a:ext cx="1958975" cy="2038985"/>
        </p:xfrm>
        <a:graphic>
          <a:graphicData uri="http://schemas.openxmlformats.org/presentationml/2006/ole">
            <mc:AlternateContent xmlns:mc="http://schemas.openxmlformats.org/markup-compatibility/2006">
              <mc:Choice xmlns:v="urn:schemas-microsoft-com:vml" Requires="v">
                <p:oleObj spid="_x0000_s10" name="" r:id="rId1" imgW="2286000" imgH="2692400" progId="Paint.Picture">
                  <p:embed/>
                </p:oleObj>
              </mc:Choice>
              <mc:Fallback>
                <p:oleObj name="" r:id="rId1" imgW="2286000" imgH="2692400" progId="Paint.Picture">
                  <p:embed/>
                  <p:pic>
                    <p:nvPicPr>
                      <p:cNvPr id="0" name="图片 9"/>
                      <p:cNvPicPr/>
                      <p:nvPr/>
                    </p:nvPicPr>
                    <p:blipFill>
                      <a:blip r:embed="rId2"/>
                      <a:stretch>
                        <a:fillRect/>
                      </a:stretch>
                    </p:blipFill>
                    <p:spPr>
                      <a:xfrm>
                        <a:off x="9680575" y="2087880"/>
                        <a:ext cx="1958975" cy="203898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2699385"/>
          </a:xfrm>
        </p:spPr>
        <p:txBody>
          <a:bodyPr>
            <a:noAutofit/>
          </a:bodyPr>
          <a:p>
            <a:pPr algn="l">
              <a:lnSpc>
                <a:spcPct val="200000"/>
              </a:lnSpc>
              <a:buClrTx/>
              <a:buSzTx/>
            </a:pPr>
            <a:r>
              <a:rPr sz="2400">
                <a:solidFill>
                  <a:schemeClr val="bg1">
                    <a:lumMod val="75000"/>
                  </a:schemeClr>
                </a:solidFill>
              </a:rPr>
              <a:t>课程概述</a:t>
            </a:r>
            <a:endParaRPr sz="2400">
              <a:solidFill>
                <a:schemeClr val="bg1">
                  <a:lumMod val="75000"/>
                </a:schemeClr>
              </a:solidFill>
            </a:endParaRPr>
          </a:p>
          <a:p>
            <a:pPr>
              <a:lnSpc>
                <a:spcPct val="200000"/>
              </a:lnSpc>
            </a:pPr>
            <a:r>
              <a:rPr sz="2400">
                <a:solidFill>
                  <a:schemeClr val="bg1">
                    <a:lumMod val="75000"/>
                  </a:schemeClr>
                </a:solidFill>
              </a:rPr>
              <a:t>信息论与编码的发展历史</a:t>
            </a:r>
            <a:endParaRPr sz="2400">
              <a:solidFill>
                <a:schemeClr val="accent1"/>
              </a:solidFill>
            </a:endParaRPr>
          </a:p>
          <a:p>
            <a:pPr>
              <a:lnSpc>
                <a:spcPct val="200000"/>
              </a:lnSpc>
            </a:pPr>
            <a:r>
              <a:rPr lang="zh-CN" sz="2400">
                <a:solidFill>
                  <a:schemeClr val="accent1"/>
                </a:solidFill>
                <a:sym typeface="+mn-ea"/>
              </a:rPr>
              <a:t>数字通信系统的组成及各种信道</a:t>
            </a:r>
            <a:endParaRPr sz="2400">
              <a:solidFill>
                <a:schemeClr val="accent1"/>
              </a:solidFill>
            </a:endParaRPr>
          </a:p>
          <a:p>
            <a:pPr>
              <a:lnSpc>
                <a:spcPct val="200000"/>
              </a:lnSpc>
            </a:pPr>
            <a:r>
              <a:rPr sz="2400">
                <a:solidFill>
                  <a:schemeClr val="bg1">
                    <a:lumMod val="75000"/>
                  </a:schemeClr>
                </a:solidFill>
                <a:sym typeface="+mn-ea"/>
              </a:rPr>
              <a:t>编译码</a:t>
            </a:r>
            <a:r>
              <a:rPr sz="2400">
                <a:solidFill>
                  <a:schemeClr val="bg1">
                    <a:lumMod val="75000"/>
                  </a:schemeClr>
                </a:solidFill>
              </a:rPr>
              <a:t>涉及的一些基本概念</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编码</a:t>
            </a:r>
            <a:r>
              <a:rPr lang="zh-CN" altLang="en-US"/>
              <a:t>机制</a:t>
            </a:r>
            <a:endParaRPr lang="zh-CN" altLang="en-US"/>
          </a:p>
        </p:txBody>
      </p:sp>
      <p:sp>
        <p:nvSpPr>
          <p:cNvPr id="3" name="内容占位符 2"/>
          <p:cNvSpPr>
            <a:spLocks noGrp="1"/>
          </p:cNvSpPr>
          <p:nvPr>
            <p:ph idx="1"/>
          </p:nvPr>
        </p:nvSpPr>
        <p:spPr>
          <a:xfrm>
            <a:off x="608330" y="1490345"/>
            <a:ext cx="10909300" cy="3456305"/>
          </a:xfrm>
        </p:spPr>
        <p:txBody>
          <a:bodyPr>
            <a:normAutofit/>
          </a:bodyPr>
          <a:p>
            <a:r>
              <a:rPr lang="zh-CN" sz="2400" b="1">
                <a:solidFill>
                  <a:schemeClr val="accent6">
                    <a:lumMod val="75000"/>
                  </a:schemeClr>
                </a:solidFill>
                <a:sym typeface="+mn-ea"/>
              </a:rPr>
              <a:t>编码</a:t>
            </a:r>
            <a:r>
              <a:rPr sz="2400"/>
              <a:t>：信息从一种形式或格式转换为另一种形式的过程</a:t>
            </a:r>
            <a:r>
              <a:rPr lang="zh-CN" sz="2400"/>
              <a:t>。</a:t>
            </a:r>
            <a:endParaRPr sz="2400"/>
          </a:p>
          <a:p>
            <a:r>
              <a:rPr lang="zh-CN" sz="2400" b="1">
                <a:solidFill>
                  <a:schemeClr val="accent6">
                    <a:lumMod val="75000"/>
                  </a:schemeClr>
                </a:solidFill>
              </a:rPr>
              <a:t>编码机制</a:t>
            </a:r>
            <a:r>
              <a:rPr sz="2400"/>
              <a:t>：用预先规定的方法将文字、数字或其它对象编成数码，或将信息、数据转换成规定的电脉冲信号</a:t>
            </a:r>
            <a:r>
              <a:rPr lang="zh-CN" sz="2400"/>
              <a:t>。</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信源</a:t>
            </a:r>
            <a:r>
              <a:rPr lang="zh-CN" altLang="en-US"/>
              <a:t>编码</a:t>
            </a:r>
            <a:endParaRPr lang="zh-CN" altLang="en-US"/>
          </a:p>
        </p:txBody>
      </p:sp>
      <p:sp>
        <p:nvSpPr>
          <p:cNvPr id="3" name="内容占位符 2"/>
          <p:cNvSpPr>
            <a:spLocks noGrp="1"/>
          </p:cNvSpPr>
          <p:nvPr>
            <p:ph idx="1"/>
          </p:nvPr>
        </p:nvSpPr>
        <p:spPr>
          <a:xfrm>
            <a:off x="608330" y="1490345"/>
            <a:ext cx="10968990" cy="3176905"/>
          </a:xfrm>
        </p:spPr>
        <p:txBody>
          <a:bodyPr>
            <a:noAutofit/>
          </a:bodyPr>
          <a:p>
            <a:r>
              <a:rPr lang="zh-CN" sz="2400" b="1">
                <a:solidFill>
                  <a:schemeClr val="accent6">
                    <a:lumMod val="75000"/>
                  </a:schemeClr>
                </a:solidFill>
              </a:rPr>
              <a:t>目的</a:t>
            </a:r>
            <a:r>
              <a:rPr sz="2400"/>
              <a:t>：</a:t>
            </a:r>
            <a:r>
              <a:rPr lang="zh-CN" sz="2400"/>
              <a:t>提高通信的有效性，即以更少的符号来表示原始</a:t>
            </a:r>
            <a:r>
              <a:rPr lang="zh-CN" sz="2400"/>
              <a:t>消息</a:t>
            </a:r>
            <a:endParaRPr lang="zh-CN" sz="2400"/>
          </a:p>
          <a:p>
            <a:r>
              <a:rPr lang="zh-CN" sz="2400" b="1">
                <a:solidFill>
                  <a:schemeClr val="accent6">
                    <a:lumMod val="75000"/>
                  </a:schemeClr>
                </a:solidFill>
              </a:rPr>
              <a:t>设计机制</a:t>
            </a:r>
            <a:r>
              <a:rPr lang="zh-CN" sz="2400"/>
              <a:t>：</a:t>
            </a:r>
            <a:r>
              <a:rPr sz="2400"/>
              <a:t>根据消息符号序列的统计特性来设计各种方法，把消息序列变换为较短的码字序列，同时又能保证无失真地恢复原来的消息序列</a:t>
            </a:r>
            <a:endParaRPr sz="2400"/>
          </a:p>
          <a:p>
            <a:r>
              <a:rPr lang="zh-CN" sz="2400">
                <a:sym typeface="+mn-ea"/>
              </a:rPr>
              <a:t>简而言之，就是</a:t>
            </a:r>
            <a:r>
              <a:rPr sz="2400">
                <a:sym typeface="+mn-ea"/>
              </a:rPr>
              <a:t>通过减少消息符号序列中的冗余度，提高平均信息量</a:t>
            </a:r>
            <a:endParaRPr sz="2400"/>
          </a:p>
          <a:p>
            <a:r>
              <a:rPr lang="zh-CN" sz="2400"/>
              <a:t>信源编码就是通常所说的数据</a:t>
            </a:r>
            <a:r>
              <a:rPr lang="zh-CN" sz="2400"/>
              <a:t>压缩</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随机</a:t>
            </a:r>
            <a:r>
              <a:rPr lang="zh-CN" altLang="en-US"/>
              <a:t>错误</a:t>
            </a:r>
            <a:endParaRPr lang="zh-CN" altLang="en-US"/>
          </a:p>
        </p:txBody>
      </p:sp>
      <p:sp>
        <p:nvSpPr>
          <p:cNvPr id="3" name="内容占位符 2"/>
          <p:cNvSpPr>
            <a:spLocks noGrp="1"/>
          </p:cNvSpPr>
          <p:nvPr>
            <p:ph idx="1"/>
          </p:nvPr>
        </p:nvSpPr>
        <p:spPr>
          <a:xfrm>
            <a:off x="608330" y="1490345"/>
            <a:ext cx="10909300" cy="3456305"/>
          </a:xfrm>
        </p:spPr>
        <p:txBody>
          <a:bodyPr>
            <a:normAutofit/>
          </a:bodyPr>
          <a:p>
            <a:r>
              <a:rPr lang="zh-CN" sz="2400" b="1">
                <a:solidFill>
                  <a:schemeClr val="accent6">
                    <a:lumMod val="75000"/>
                  </a:schemeClr>
                </a:solidFill>
              </a:rPr>
              <a:t>随机错误</a:t>
            </a:r>
            <a:r>
              <a:rPr sz="2400"/>
              <a:t>：接收序列中的传输错误是随机出现的</a:t>
            </a:r>
            <a:r>
              <a:rPr lang="zh-CN" sz="2400"/>
              <a:t>。</a:t>
            </a:r>
            <a:endParaRPr sz="2400"/>
          </a:p>
          <a:p>
            <a:r>
              <a:rPr lang="zh-CN" sz="2400" b="1">
                <a:solidFill>
                  <a:schemeClr val="accent6">
                    <a:lumMod val="75000"/>
                  </a:schemeClr>
                </a:solidFill>
              </a:rPr>
              <a:t>随机错误信道</a:t>
            </a:r>
            <a:r>
              <a:rPr sz="2400"/>
              <a:t>：这样的信道称为随机错误信道</a:t>
            </a:r>
            <a:r>
              <a:rPr lang="zh-CN" sz="2400"/>
              <a:t>。</a:t>
            </a:r>
            <a:endParaRPr sz="2400"/>
          </a:p>
          <a:p>
            <a:r>
              <a:rPr sz="2400"/>
              <a:t>常见于无记忆信道中，因为噪声随机独立</a:t>
            </a:r>
            <a:r>
              <a:rPr lang="zh-CN" sz="2400"/>
              <a:t>地</a:t>
            </a:r>
            <a:r>
              <a:rPr sz="2400"/>
              <a:t>影响每个传输信号</a:t>
            </a:r>
            <a:r>
              <a:rPr lang="zh-CN" sz="2400"/>
              <a:t>。</a:t>
            </a:r>
            <a:endParaRPr sz="2400"/>
          </a:p>
          <a:p>
            <a:r>
              <a:rPr sz="2400"/>
              <a:t>深空通信和卫星通信信道都是典型的随机错误信道</a:t>
            </a:r>
            <a:r>
              <a:rPr lang="zh-CN" sz="2400"/>
              <a:t>。</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突发错误</a:t>
            </a:r>
            <a:endParaRPr lang="zh-CN" altLang="en-US"/>
          </a:p>
        </p:txBody>
      </p:sp>
      <p:sp>
        <p:nvSpPr>
          <p:cNvPr id="3" name="内容占位符 2"/>
          <p:cNvSpPr>
            <a:spLocks noGrp="1"/>
          </p:cNvSpPr>
          <p:nvPr>
            <p:ph idx="1"/>
          </p:nvPr>
        </p:nvSpPr>
        <p:spPr>
          <a:xfrm>
            <a:off x="608330" y="1490345"/>
            <a:ext cx="10968990" cy="4697095"/>
          </a:xfrm>
        </p:spPr>
        <p:txBody>
          <a:bodyPr>
            <a:noAutofit/>
          </a:bodyPr>
          <a:p>
            <a:r>
              <a:rPr sz="2000"/>
              <a:t>由于噪声和干扰或读写头接触不良所引起的错误，往往不是随机错误，而是成群成串出现的错误。</a:t>
            </a:r>
            <a:endParaRPr sz="2000"/>
          </a:p>
          <a:p>
            <a:r>
              <a:rPr lang="zh-CN" sz="2000" b="1">
                <a:solidFill>
                  <a:schemeClr val="accent6">
                    <a:lumMod val="75000"/>
                  </a:schemeClr>
                </a:solidFill>
              </a:rPr>
              <a:t>突发错误</a:t>
            </a:r>
            <a:r>
              <a:rPr sz="2000"/>
              <a:t>：不同状态特性下，错误出现的概率不一样，这种错误为突发错误。</a:t>
            </a:r>
            <a:endParaRPr sz="2000"/>
          </a:p>
          <a:p>
            <a:r>
              <a:rPr sz="2000"/>
              <a:t>突发错误的例子：无线通信(由多径传输引起的信号衰落造成的错误)，有线和电缆传输(开关脉冲和串话的影响)，磁带记录(涂层缺损和灰尘引起的带脱落)。</a:t>
            </a:r>
            <a:endParaRPr sz="2000"/>
          </a:p>
          <a:p>
            <a:r>
              <a:rPr lang="zh-CN" sz="2000" b="1">
                <a:solidFill>
                  <a:schemeClr val="accent6">
                    <a:lumMod val="75000"/>
                  </a:schemeClr>
                </a:solidFill>
              </a:rPr>
              <a:t>突发错误信道</a:t>
            </a:r>
            <a:r>
              <a:rPr sz="2000"/>
              <a:t>：由于信道状态特性变化较大，进而有突发错误信道的概念。这种产生比较密集错误的信道称为突发错误信道或者有记忆信道。</a:t>
            </a:r>
            <a:endParaRPr sz="2000"/>
          </a:p>
          <a:p>
            <a:r>
              <a:rPr sz="2000">
                <a:sym typeface="+mn-ea"/>
              </a:rPr>
              <a:t>突发错误常出现在有记忆信道中，此时噪声对各次传输的影响是彼此相关的。</a:t>
            </a:r>
            <a:endParaRPr sz="2000"/>
          </a:p>
          <a:p>
            <a:endParaRPr sz="20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纠错码</a:t>
            </a:r>
            <a:endParaRPr lang="zh-CN" altLang="en-US"/>
          </a:p>
        </p:txBody>
      </p:sp>
      <p:sp>
        <p:nvSpPr>
          <p:cNvPr id="3" name="内容占位符 2"/>
          <p:cNvSpPr>
            <a:spLocks noGrp="1"/>
          </p:cNvSpPr>
          <p:nvPr>
            <p:ph idx="1"/>
          </p:nvPr>
        </p:nvSpPr>
        <p:spPr>
          <a:xfrm>
            <a:off x="608330" y="1490345"/>
            <a:ext cx="10968990" cy="2973705"/>
          </a:xfrm>
        </p:spPr>
        <p:txBody>
          <a:bodyPr>
            <a:noAutofit/>
          </a:bodyPr>
          <a:p>
            <a:r>
              <a:rPr lang="zh-CN" sz="2400" b="1">
                <a:solidFill>
                  <a:schemeClr val="accent6">
                    <a:lumMod val="75000"/>
                  </a:schemeClr>
                </a:solidFill>
              </a:rPr>
              <a:t>目的</a:t>
            </a:r>
            <a:r>
              <a:rPr sz="2400"/>
              <a:t>：检测和纠正由于非人为(自然)因素引起的传输错误</a:t>
            </a:r>
            <a:r>
              <a:rPr lang="zh-CN" sz="2400"/>
              <a:t>。</a:t>
            </a:r>
            <a:endParaRPr lang="zh-CN" sz="2400"/>
          </a:p>
          <a:p>
            <a:r>
              <a:rPr lang="zh-CN" sz="2400"/>
              <a:t>即提高通信的可靠性</a:t>
            </a:r>
            <a:endParaRPr sz="2400"/>
          </a:p>
          <a:p>
            <a:r>
              <a:rPr sz="2400"/>
              <a:t>纠错编码主要用于实现信道纠错，又叫做信道编码或者差错控制编码</a:t>
            </a:r>
            <a:r>
              <a:rPr lang="zh-CN" sz="2400"/>
              <a:t>。</a:t>
            </a:r>
            <a:endParaRPr lang="zh-CN" sz="2400"/>
          </a:p>
          <a:p>
            <a:r>
              <a:rPr lang="zh-CN" sz="2400" b="1">
                <a:solidFill>
                  <a:schemeClr val="accent6">
                    <a:lumMod val="75000"/>
                  </a:schemeClr>
                </a:solidFill>
              </a:rPr>
              <a:t>设计机制</a:t>
            </a:r>
            <a:r>
              <a:rPr lang="zh-CN" sz="2400"/>
              <a:t>：通过对消息符号序列加入冗余信息，使得接收方收到信号后，可以通过这些冗余信息进行检错</a:t>
            </a:r>
            <a:r>
              <a:rPr lang="zh-CN" sz="2400"/>
              <a:t>和纠错</a:t>
            </a:r>
            <a:endParaRPr lang="zh-CN" sz="2400"/>
          </a:p>
          <a:p>
            <a:r>
              <a:rPr lang="zh-CN" sz="2400"/>
              <a:t>本课程主要讲述各种</a:t>
            </a:r>
            <a:r>
              <a:rPr lang="zh-CN" sz="2400"/>
              <a:t>纠错码</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纠错码的</a:t>
            </a:r>
            <a:r>
              <a:rPr lang="zh-CN" altLang="en-US"/>
              <a:t>分类</a:t>
            </a:r>
            <a:endParaRPr lang="zh-CN" altLang="en-US"/>
          </a:p>
        </p:txBody>
      </p:sp>
      <p:sp>
        <p:nvSpPr>
          <p:cNvPr id="3" name="内容占位符 2"/>
          <p:cNvSpPr>
            <a:spLocks noGrp="1"/>
          </p:cNvSpPr>
          <p:nvPr>
            <p:ph idx="1"/>
          </p:nvPr>
        </p:nvSpPr>
        <p:spPr>
          <a:xfrm>
            <a:off x="608330" y="1490345"/>
            <a:ext cx="10909300" cy="3456305"/>
          </a:xfrm>
        </p:spPr>
        <p:txBody>
          <a:bodyPr>
            <a:normAutofit/>
          </a:bodyPr>
          <a:p>
            <a:r>
              <a:rPr lang="zh-CN" sz="2400" b="1">
                <a:solidFill>
                  <a:schemeClr val="accent6">
                    <a:lumMod val="75000"/>
                  </a:schemeClr>
                </a:solidFill>
                <a:sym typeface="+mn-ea"/>
              </a:rPr>
              <a:t>纠随机错误码</a:t>
            </a:r>
            <a:r>
              <a:rPr sz="2400">
                <a:sym typeface="+mn-ea"/>
              </a:rPr>
              <a:t>：为纠正随机错误而设计的码称为纠随机错误码</a:t>
            </a:r>
            <a:r>
              <a:rPr lang="zh-CN" sz="2400">
                <a:sym typeface="+mn-ea"/>
              </a:rPr>
              <a:t>。</a:t>
            </a:r>
            <a:endParaRPr lang="zh-CN" sz="2400">
              <a:sym typeface="+mn-ea"/>
            </a:endParaRPr>
          </a:p>
          <a:p>
            <a:r>
              <a:rPr lang="zh-CN" sz="2400" b="1">
                <a:solidFill>
                  <a:schemeClr val="accent6">
                    <a:lumMod val="75000"/>
                  </a:schemeClr>
                </a:solidFill>
                <a:sym typeface="+mn-ea"/>
              </a:rPr>
              <a:t>纠突发错误码</a:t>
            </a:r>
            <a:r>
              <a:rPr sz="2400">
                <a:sym typeface="+mn-ea"/>
              </a:rPr>
              <a:t>：为纠正突发错误而设计的码称为纠突发错误码。</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数字通信系统模型</a:t>
            </a:r>
            <a:endParaRPr lang="zh-CN" altLang="en-US"/>
          </a:p>
        </p:txBody>
      </p:sp>
      <p:grpSp>
        <p:nvGrpSpPr>
          <p:cNvPr id="9220" name="组合 114828"/>
          <p:cNvGrpSpPr/>
          <p:nvPr/>
        </p:nvGrpSpPr>
        <p:grpSpPr>
          <a:xfrm>
            <a:off x="883285" y="2113598"/>
            <a:ext cx="7991475" cy="3887787"/>
            <a:chOff x="476" y="1253"/>
            <a:chExt cx="5034" cy="2449"/>
          </a:xfrm>
        </p:grpSpPr>
        <p:sp>
          <p:nvSpPr>
            <p:cNvPr id="9221" name="直接连接符 114814"/>
            <p:cNvSpPr/>
            <p:nvPr/>
          </p:nvSpPr>
          <p:spPr>
            <a:xfrm>
              <a:off x="3515" y="1434"/>
              <a:ext cx="45" cy="2268"/>
            </a:xfrm>
            <a:prstGeom prst="line">
              <a:avLst/>
            </a:prstGeom>
            <a:ln w="25400" cap="flat" cmpd="sng">
              <a:solidFill>
                <a:srgbClr val="000000"/>
              </a:solidFill>
              <a:prstDash val="dash"/>
              <a:round/>
              <a:headEnd type="none" w="med" len="med"/>
              <a:tailEnd type="none" w="med" len="med"/>
            </a:ln>
          </p:spPr>
        </p:sp>
        <p:sp>
          <p:nvSpPr>
            <p:cNvPr id="9222" name="椭圆 114736"/>
            <p:cNvSpPr/>
            <p:nvPr/>
          </p:nvSpPr>
          <p:spPr>
            <a:xfrm>
              <a:off x="476" y="1582"/>
              <a:ext cx="454" cy="363"/>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23" name="文本框 114735"/>
            <p:cNvSpPr txBox="1"/>
            <p:nvPr/>
          </p:nvSpPr>
          <p:spPr>
            <a:xfrm>
              <a:off x="521" y="1673"/>
              <a:ext cx="408"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源</a:t>
              </a:r>
              <a:endParaRPr lang="zh-CN" altLang="en-US" sz="1400" b="1" dirty="0">
                <a:latin typeface="Arial" panose="020B0604020202020204" pitchFamily="34" charset="0"/>
                <a:ea typeface="宋体" panose="02010600030101010101" pitchFamily="2" charset="-122"/>
              </a:endParaRPr>
            </a:p>
          </p:txBody>
        </p:sp>
        <p:sp>
          <p:nvSpPr>
            <p:cNvPr id="9224" name="椭圆 114737"/>
            <p:cNvSpPr/>
            <p:nvPr/>
          </p:nvSpPr>
          <p:spPr>
            <a:xfrm>
              <a:off x="476" y="3169"/>
              <a:ext cx="454" cy="363"/>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25" name="文本框 114738"/>
            <p:cNvSpPr txBox="1"/>
            <p:nvPr/>
          </p:nvSpPr>
          <p:spPr>
            <a:xfrm>
              <a:off x="521" y="3260"/>
              <a:ext cx="408"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宿</a:t>
              </a:r>
              <a:endParaRPr lang="zh-CN" altLang="en-US" sz="1400" b="1" dirty="0">
                <a:latin typeface="Arial" panose="020B0604020202020204" pitchFamily="34" charset="0"/>
                <a:ea typeface="宋体" panose="02010600030101010101" pitchFamily="2" charset="-122"/>
              </a:endParaRPr>
            </a:p>
          </p:txBody>
        </p:sp>
        <p:sp>
          <p:nvSpPr>
            <p:cNvPr id="9226" name="矩形 114739"/>
            <p:cNvSpPr/>
            <p:nvPr/>
          </p:nvSpPr>
          <p:spPr>
            <a:xfrm>
              <a:off x="1202" y="1537"/>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27" name="文本框 114740"/>
            <p:cNvSpPr txBox="1"/>
            <p:nvPr/>
          </p:nvSpPr>
          <p:spPr>
            <a:xfrm>
              <a:off x="1293" y="1650"/>
              <a:ext cx="817"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源 编 码 器</a:t>
              </a:r>
              <a:endParaRPr lang="zh-CN" altLang="en-US" sz="1400" b="1" dirty="0">
                <a:latin typeface="Arial" panose="020B0604020202020204" pitchFamily="34" charset="0"/>
                <a:ea typeface="宋体" panose="02010600030101010101" pitchFamily="2" charset="-122"/>
              </a:endParaRPr>
            </a:p>
          </p:txBody>
        </p:sp>
        <p:sp>
          <p:nvSpPr>
            <p:cNvPr id="9228" name="矩形 114741"/>
            <p:cNvSpPr/>
            <p:nvPr/>
          </p:nvSpPr>
          <p:spPr>
            <a:xfrm>
              <a:off x="2472" y="1537"/>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29" name="文本框 114742"/>
            <p:cNvSpPr txBox="1"/>
            <p:nvPr/>
          </p:nvSpPr>
          <p:spPr>
            <a:xfrm>
              <a:off x="2563" y="1649"/>
              <a:ext cx="817" cy="193"/>
            </a:xfrm>
            <a:prstGeom prst="rect">
              <a:avLst/>
            </a:prstGeom>
            <a:noFill/>
            <a:ln w="9525">
              <a:noFill/>
            </a:ln>
          </p:spPr>
          <p:txBody>
            <a:bodyPr wrap="square"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道 编 码 器</a:t>
              </a:r>
              <a:endParaRPr lang="zh-CN" altLang="en-US" sz="1400" b="1" dirty="0">
                <a:latin typeface="Arial" panose="020B0604020202020204" pitchFamily="34" charset="0"/>
                <a:ea typeface="宋体" panose="02010600030101010101" pitchFamily="2" charset="-122"/>
              </a:endParaRPr>
            </a:p>
          </p:txBody>
        </p:sp>
        <p:sp>
          <p:nvSpPr>
            <p:cNvPr id="9230" name="矩形 114743"/>
            <p:cNvSpPr/>
            <p:nvPr/>
          </p:nvSpPr>
          <p:spPr>
            <a:xfrm>
              <a:off x="3742" y="1491"/>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31" name="文本框 114744"/>
            <p:cNvSpPr txBox="1"/>
            <p:nvPr/>
          </p:nvSpPr>
          <p:spPr>
            <a:xfrm>
              <a:off x="3736" y="1537"/>
              <a:ext cx="1198" cy="397"/>
            </a:xfrm>
            <a:prstGeom prst="rect">
              <a:avLst/>
            </a:prstGeom>
            <a:noFill/>
            <a:ln w="9525">
              <a:noFill/>
            </a:ln>
          </p:spPr>
          <p:txBody>
            <a:bodyPr wrap="square"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调 制 器</a:t>
              </a:r>
              <a:endParaRPr lang="zh-CN" altLang="en-US" sz="1400" b="1" dirty="0">
                <a:latin typeface="Arial" panose="020B0604020202020204" pitchFamily="34" charset="0"/>
                <a:ea typeface="宋体" panose="02010600030101010101" pitchFamily="2" charset="-122"/>
              </a:endParaRPr>
            </a:p>
            <a:p>
              <a:pPr>
                <a:spcBef>
                  <a:spcPct val="50000"/>
                </a:spcBef>
              </a:pPr>
              <a:r>
                <a:rPr lang="zh-CN" altLang="en-US" sz="1400" b="1" dirty="0">
                  <a:latin typeface="Arial" panose="020B0604020202020204" pitchFamily="34" charset="0"/>
                  <a:ea typeface="宋体" panose="02010600030101010101" pitchFamily="2" charset="-122"/>
                </a:rPr>
                <a:t>（或  写 入 单 元）</a:t>
              </a:r>
              <a:endParaRPr lang="zh-CN" altLang="en-US" sz="1400" b="1" dirty="0">
                <a:latin typeface="Arial" panose="020B0604020202020204" pitchFamily="34" charset="0"/>
                <a:ea typeface="宋体" panose="02010600030101010101" pitchFamily="2" charset="-122"/>
              </a:endParaRPr>
            </a:p>
          </p:txBody>
        </p:sp>
        <p:sp>
          <p:nvSpPr>
            <p:cNvPr id="9232" name="矩形 114745"/>
            <p:cNvSpPr/>
            <p:nvPr/>
          </p:nvSpPr>
          <p:spPr>
            <a:xfrm>
              <a:off x="3742" y="2308"/>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33" name="文本框 114746"/>
            <p:cNvSpPr txBox="1"/>
            <p:nvPr/>
          </p:nvSpPr>
          <p:spPr>
            <a:xfrm>
              <a:off x="3736" y="2354"/>
              <a:ext cx="1172" cy="397"/>
            </a:xfrm>
            <a:prstGeom prst="rect">
              <a:avLst/>
            </a:prstGeom>
            <a:noFill/>
            <a:ln w="9525">
              <a:noFill/>
            </a:ln>
          </p:spPr>
          <p:txBody>
            <a:bodyPr wrap="square"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信 道</a:t>
              </a:r>
              <a:endParaRPr lang="zh-CN" altLang="en-US" sz="1400" b="1" dirty="0">
                <a:latin typeface="Arial" panose="020B0604020202020204" pitchFamily="34" charset="0"/>
                <a:ea typeface="宋体" panose="02010600030101010101" pitchFamily="2" charset="-122"/>
              </a:endParaRPr>
            </a:p>
            <a:p>
              <a:pPr>
                <a:spcBef>
                  <a:spcPct val="50000"/>
                </a:spcBef>
              </a:pPr>
              <a:r>
                <a:rPr lang="zh-CN" altLang="en-US" sz="1400" b="1" dirty="0">
                  <a:latin typeface="Arial" panose="020B0604020202020204" pitchFamily="34" charset="0"/>
                  <a:ea typeface="宋体" panose="02010600030101010101" pitchFamily="2" charset="-122"/>
                </a:rPr>
                <a:t>（或  存 储 媒 质）</a:t>
              </a:r>
              <a:endParaRPr lang="zh-CN" altLang="en-US" sz="1400" b="1" dirty="0">
                <a:latin typeface="Arial" panose="020B0604020202020204" pitchFamily="34" charset="0"/>
                <a:ea typeface="宋体" panose="02010600030101010101" pitchFamily="2" charset="-122"/>
              </a:endParaRPr>
            </a:p>
          </p:txBody>
        </p:sp>
        <p:sp>
          <p:nvSpPr>
            <p:cNvPr id="9234" name="矩形 114747"/>
            <p:cNvSpPr/>
            <p:nvPr/>
          </p:nvSpPr>
          <p:spPr>
            <a:xfrm>
              <a:off x="3742" y="3124"/>
              <a:ext cx="1044"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35" name="文本框 114748"/>
            <p:cNvSpPr txBox="1"/>
            <p:nvPr/>
          </p:nvSpPr>
          <p:spPr>
            <a:xfrm>
              <a:off x="3736" y="3170"/>
              <a:ext cx="1173" cy="397"/>
            </a:xfrm>
            <a:prstGeom prst="rect">
              <a:avLst/>
            </a:prstGeom>
            <a:noFill/>
            <a:ln w="9525">
              <a:noFill/>
            </a:ln>
          </p:spPr>
          <p:txBody>
            <a:bodyPr wrap="square"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解 调 器</a:t>
              </a:r>
              <a:endParaRPr lang="zh-CN" altLang="en-US" sz="1400" b="1" dirty="0">
                <a:latin typeface="Arial" panose="020B0604020202020204" pitchFamily="34" charset="0"/>
                <a:ea typeface="宋体" panose="02010600030101010101" pitchFamily="2" charset="-122"/>
              </a:endParaRPr>
            </a:p>
            <a:p>
              <a:pPr>
                <a:spcBef>
                  <a:spcPct val="50000"/>
                </a:spcBef>
              </a:pPr>
              <a:r>
                <a:rPr lang="zh-CN" altLang="en-US" sz="1400" b="1" dirty="0">
                  <a:latin typeface="Arial" panose="020B0604020202020204" pitchFamily="34" charset="0"/>
                  <a:ea typeface="宋体" panose="02010600030101010101" pitchFamily="2" charset="-122"/>
                </a:rPr>
                <a:t>（或  读 出 单 元）</a:t>
              </a:r>
              <a:endParaRPr lang="zh-CN" altLang="en-US" sz="1400" b="1" dirty="0">
                <a:latin typeface="Arial" panose="020B0604020202020204" pitchFamily="34" charset="0"/>
                <a:ea typeface="宋体" panose="02010600030101010101" pitchFamily="2" charset="-122"/>
              </a:endParaRPr>
            </a:p>
          </p:txBody>
        </p:sp>
        <p:sp>
          <p:nvSpPr>
            <p:cNvPr id="9236" name="矩形 114749"/>
            <p:cNvSpPr/>
            <p:nvPr/>
          </p:nvSpPr>
          <p:spPr>
            <a:xfrm>
              <a:off x="1202" y="3169"/>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37" name="文本框 114750"/>
            <p:cNvSpPr txBox="1"/>
            <p:nvPr/>
          </p:nvSpPr>
          <p:spPr>
            <a:xfrm>
              <a:off x="1293" y="3288"/>
              <a:ext cx="817"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源 译 码 器</a:t>
              </a:r>
              <a:endParaRPr lang="zh-CN" altLang="en-US" sz="1400" b="1" dirty="0">
                <a:latin typeface="Arial" panose="020B0604020202020204" pitchFamily="34" charset="0"/>
                <a:ea typeface="宋体" panose="02010600030101010101" pitchFamily="2" charset="-122"/>
              </a:endParaRPr>
            </a:p>
          </p:txBody>
        </p:sp>
        <p:sp>
          <p:nvSpPr>
            <p:cNvPr id="9238" name="矩形 114751"/>
            <p:cNvSpPr/>
            <p:nvPr/>
          </p:nvSpPr>
          <p:spPr>
            <a:xfrm>
              <a:off x="2472" y="3169"/>
              <a:ext cx="998" cy="40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9239" name="文本框 114752"/>
            <p:cNvSpPr txBox="1"/>
            <p:nvPr/>
          </p:nvSpPr>
          <p:spPr>
            <a:xfrm>
              <a:off x="2563" y="3288"/>
              <a:ext cx="817"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道 译 码 器</a:t>
              </a:r>
              <a:endParaRPr lang="zh-CN" altLang="en-US" sz="1400" b="1" dirty="0">
                <a:latin typeface="Arial" panose="020B0604020202020204" pitchFamily="34" charset="0"/>
                <a:ea typeface="宋体" panose="02010600030101010101" pitchFamily="2" charset="-122"/>
              </a:endParaRPr>
            </a:p>
          </p:txBody>
        </p:sp>
        <p:sp>
          <p:nvSpPr>
            <p:cNvPr id="9240" name="文本框 114753"/>
            <p:cNvSpPr txBox="1"/>
            <p:nvPr/>
          </p:nvSpPr>
          <p:spPr>
            <a:xfrm>
              <a:off x="5102" y="2489"/>
              <a:ext cx="408"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噪 声</a:t>
              </a:r>
              <a:endParaRPr lang="zh-CN" altLang="en-US" sz="1400" b="1" dirty="0">
                <a:latin typeface="Arial" panose="020B0604020202020204" pitchFamily="34" charset="0"/>
                <a:ea typeface="宋体" panose="02010600030101010101" pitchFamily="2" charset="-122"/>
              </a:endParaRPr>
            </a:p>
          </p:txBody>
        </p:sp>
        <p:sp>
          <p:nvSpPr>
            <p:cNvPr id="9241" name="直接连接符 114754"/>
            <p:cNvSpPr/>
            <p:nvPr/>
          </p:nvSpPr>
          <p:spPr>
            <a:xfrm>
              <a:off x="930" y="1764"/>
              <a:ext cx="273" cy="0"/>
            </a:xfrm>
            <a:prstGeom prst="line">
              <a:avLst/>
            </a:prstGeom>
            <a:ln w="9525" cap="flat" cmpd="sng">
              <a:solidFill>
                <a:schemeClr val="tx1"/>
              </a:solidFill>
              <a:prstDash val="solid"/>
              <a:round/>
              <a:headEnd type="none" w="med" len="med"/>
              <a:tailEnd type="triangle" w="med" len="med"/>
            </a:ln>
          </p:spPr>
        </p:sp>
        <p:sp>
          <p:nvSpPr>
            <p:cNvPr id="9242" name="直接连接符 114755"/>
            <p:cNvSpPr/>
            <p:nvPr/>
          </p:nvSpPr>
          <p:spPr>
            <a:xfrm>
              <a:off x="2200" y="1764"/>
              <a:ext cx="273" cy="0"/>
            </a:xfrm>
            <a:prstGeom prst="line">
              <a:avLst/>
            </a:prstGeom>
            <a:ln w="9525" cap="flat" cmpd="sng">
              <a:solidFill>
                <a:schemeClr val="tx1"/>
              </a:solidFill>
              <a:prstDash val="solid"/>
              <a:round/>
              <a:headEnd type="none" w="med" len="med"/>
              <a:tailEnd type="triangle" w="med" len="med"/>
            </a:ln>
          </p:spPr>
        </p:sp>
        <p:sp>
          <p:nvSpPr>
            <p:cNvPr id="9243" name="直接连接符 114756"/>
            <p:cNvSpPr/>
            <p:nvPr/>
          </p:nvSpPr>
          <p:spPr>
            <a:xfrm>
              <a:off x="3470" y="1764"/>
              <a:ext cx="273" cy="0"/>
            </a:xfrm>
            <a:prstGeom prst="line">
              <a:avLst/>
            </a:prstGeom>
            <a:ln w="9525" cap="flat" cmpd="sng">
              <a:solidFill>
                <a:schemeClr val="tx1"/>
              </a:solidFill>
              <a:prstDash val="solid"/>
              <a:round/>
              <a:headEnd type="none" w="med" len="med"/>
              <a:tailEnd type="triangle" w="med" len="med"/>
            </a:ln>
          </p:spPr>
        </p:sp>
        <p:sp>
          <p:nvSpPr>
            <p:cNvPr id="9244" name="直接连接符 114760"/>
            <p:cNvSpPr/>
            <p:nvPr/>
          </p:nvSpPr>
          <p:spPr>
            <a:xfrm>
              <a:off x="4241" y="1990"/>
              <a:ext cx="0" cy="318"/>
            </a:xfrm>
            <a:prstGeom prst="line">
              <a:avLst/>
            </a:prstGeom>
            <a:ln w="9525" cap="flat" cmpd="sng">
              <a:solidFill>
                <a:schemeClr val="tx1"/>
              </a:solidFill>
              <a:prstDash val="solid"/>
              <a:round/>
              <a:headEnd type="none" w="med" len="med"/>
              <a:tailEnd type="triangle" w="med" len="med"/>
            </a:ln>
          </p:spPr>
        </p:sp>
        <p:sp>
          <p:nvSpPr>
            <p:cNvPr id="9245" name="直接连接符 114761"/>
            <p:cNvSpPr/>
            <p:nvPr/>
          </p:nvSpPr>
          <p:spPr>
            <a:xfrm>
              <a:off x="4241" y="2806"/>
              <a:ext cx="0" cy="318"/>
            </a:xfrm>
            <a:prstGeom prst="line">
              <a:avLst/>
            </a:prstGeom>
            <a:ln w="9525" cap="flat" cmpd="sng">
              <a:solidFill>
                <a:schemeClr val="tx1"/>
              </a:solidFill>
              <a:prstDash val="solid"/>
              <a:round/>
              <a:headEnd type="none" w="med" len="med"/>
              <a:tailEnd type="triangle" w="med" len="med"/>
            </a:ln>
          </p:spPr>
        </p:sp>
        <p:sp>
          <p:nvSpPr>
            <p:cNvPr id="9246" name="文本框 114763"/>
            <p:cNvSpPr txBox="1"/>
            <p:nvPr/>
          </p:nvSpPr>
          <p:spPr>
            <a:xfrm>
              <a:off x="2200" y="1537"/>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U</a:t>
              </a:r>
              <a:endParaRPr lang="en-US" altLang="zh-CN" b="1" i="1">
                <a:latin typeface="Times New Roman" panose="02020603050405020304" pitchFamily="18" charset="0"/>
                <a:ea typeface="宋体" panose="02010600030101010101" pitchFamily="2" charset="-122"/>
              </a:endParaRPr>
            </a:p>
          </p:txBody>
        </p:sp>
        <p:sp>
          <p:nvSpPr>
            <p:cNvPr id="9247" name="文本框 114764"/>
            <p:cNvSpPr txBox="1"/>
            <p:nvPr/>
          </p:nvSpPr>
          <p:spPr>
            <a:xfrm>
              <a:off x="2200" y="3154"/>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V</a:t>
              </a:r>
              <a:endParaRPr lang="en-US" altLang="zh-CN" b="1" i="1">
                <a:latin typeface="Times New Roman" panose="02020603050405020304" pitchFamily="18" charset="0"/>
                <a:ea typeface="宋体" panose="02010600030101010101" pitchFamily="2" charset="-122"/>
              </a:endParaRPr>
            </a:p>
          </p:txBody>
        </p:sp>
        <p:sp>
          <p:nvSpPr>
            <p:cNvPr id="9248" name="文本框 114765"/>
            <p:cNvSpPr txBox="1"/>
            <p:nvPr/>
          </p:nvSpPr>
          <p:spPr>
            <a:xfrm>
              <a:off x="3515" y="1537"/>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X</a:t>
              </a:r>
              <a:endParaRPr lang="en-US" altLang="zh-CN" b="1" i="1">
                <a:latin typeface="Times New Roman" panose="02020603050405020304" pitchFamily="18" charset="0"/>
                <a:ea typeface="宋体" panose="02010600030101010101" pitchFamily="2" charset="-122"/>
              </a:endParaRPr>
            </a:p>
          </p:txBody>
        </p:sp>
        <p:sp>
          <p:nvSpPr>
            <p:cNvPr id="9249" name="文本框 114766"/>
            <p:cNvSpPr txBox="1"/>
            <p:nvPr/>
          </p:nvSpPr>
          <p:spPr>
            <a:xfrm>
              <a:off x="3515" y="3154"/>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Y</a:t>
              </a:r>
              <a:endParaRPr lang="en-US" altLang="zh-CN" b="1" i="1">
                <a:latin typeface="Times New Roman" panose="02020603050405020304" pitchFamily="18" charset="0"/>
                <a:ea typeface="宋体" panose="02010600030101010101" pitchFamily="2" charset="-122"/>
              </a:endParaRPr>
            </a:p>
          </p:txBody>
        </p:sp>
        <p:sp>
          <p:nvSpPr>
            <p:cNvPr id="9250" name="文本框 114767"/>
            <p:cNvSpPr txBox="1"/>
            <p:nvPr/>
          </p:nvSpPr>
          <p:spPr>
            <a:xfrm>
              <a:off x="4286" y="2031"/>
              <a:ext cx="363" cy="231"/>
            </a:xfrm>
            <a:prstGeom prst="rect">
              <a:avLst/>
            </a:prstGeom>
            <a:noFill/>
            <a:ln w="9525">
              <a:noFill/>
            </a:ln>
          </p:spPr>
          <p:txBody>
            <a:bodyPr anchor="t" anchorCtr="0">
              <a:spAutoFit/>
            </a:bodyPr>
            <a:p>
              <a:pPr>
                <a:spcBef>
                  <a:spcPct val="50000"/>
                </a:spcBef>
              </a:pPr>
              <a:r>
                <a:rPr lang="en-US" altLang="zh-CN" i="1" err="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9251" name="文本框 114768"/>
            <p:cNvSpPr txBox="1"/>
            <p:nvPr/>
          </p:nvSpPr>
          <p:spPr>
            <a:xfrm>
              <a:off x="4287" y="2848"/>
              <a:ext cx="362" cy="231"/>
            </a:xfrm>
            <a:prstGeom prst="rect">
              <a:avLst/>
            </a:prstGeom>
            <a:noFill/>
            <a:ln w="9525">
              <a:noFill/>
            </a:ln>
          </p:spPr>
          <p:txBody>
            <a:bodyPr anchor="t" anchorCtr="0">
              <a:spAutoFit/>
            </a:bodyPr>
            <a:p>
              <a:pPr>
                <a:spcBef>
                  <a:spcPct val="50000"/>
                </a:spcBef>
              </a:pPr>
              <a:r>
                <a:rPr lang="en-US" altLang="zh-CN" i="1" err="1">
                  <a:latin typeface="Times New Roman" panose="02020603050405020304" pitchFamily="18" charset="0"/>
                  <a:ea typeface="宋体" panose="02010600030101010101" pitchFamily="2" charset="-122"/>
                </a:rPr>
                <a:t>y</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9252" name="文本框 114769"/>
            <p:cNvSpPr txBox="1"/>
            <p:nvPr/>
          </p:nvSpPr>
          <p:spPr>
            <a:xfrm>
              <a:off x="4785" y="2308"/>
              <a:ext cx="453" cy="231"/>
            </a:xfrm>
            <a:prstGeom prst="rect">
              <a:avLst/>
            </a:prstGeom>
            <a:noFill/>
            <a:ln w="9525">
              <a:noFill/>
            </a:ln>
          </p:spPr>
          <p:txBody>
            <a:bodyPr anchor="t" anchorCtr="0">
              <a:spAutoFit/>
            </a:bodyPr>
            <a:p>
              <a:pPr>
                <a:spcBef>
                  <a:spcPct val="50000"/>
                </a:spcBef>
              </a:pPr>
              <a:r>
                <a:rPr lang="en-US" altLang="zh-CN" i="1" err="1">
                  <a:latin typeface="Times New Roman" panose="02020603050405020304" pitchFamily="18" charset="0"/>
                  <a:ea typeface="宋体" panose="02010600030101010101" pitchFamily="2" charset="-122"/>
                </a:rPr>
                <a:t>n</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9253" name="直接连接符 114816"/>
            <p:cNvSpPr/>
            <p:nvPr/>
          </p:nvSpPr>
          <p:spPr>
            <a:xfrm flipH="1">
              <a:off x="4785" y="2580"/>
              <a:ext cx="317" cy="0"/>
            </a:xfrm>
            <a:prstGeom prst="line">
              <a:avLst/>
            </a:prstGeom>
            <a:ln w="9525" cap="flat" cmpd="sng">
              <a:solidFill>
                <a:schemeClr val="tx1"/>
              </a:solidFill>
              <a:prstDash val="dash"/>
              <a:round/>
              <a:headEnd type="none" w="med" len="med"/>
              <a:tailEnd type="triangle" w="med" len="med"/>
            </a:ln>
          </p:spPr>
        </p:sp>
        <p:sp>
          <p:nvSpPr>
            <p:cNvPr id="9254" name="文本框 114817"/>
            <p:cNvSpPr txBox="1"/>
            <p:nvPr/>
          </p:nvSpPr>
          <p:spPr>
            <a:xfrm>
              <a:off x="3969" y="1253"/>
              <a:ext cx="408"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道</a:t>
              </a:r>
              <a:endParaRPr lang="zh-CN" altLang="en-US" sz="1400" b="1" dirty="0">
                <a:latin typeface="Arial" panose="020B0604020202020204" pitchFamily="34" charset="0"/>
                <a:ea typeface="宋体" panose="02010600030101010101" pitchFamily="2" charset="-122"/>
              </a:endParaRPr>
            </a:p>
          </p:txBody>
        </p:sp>
        <p:sp>
          <p:nvSpPr>
            <p:cNvPr id="9255" name="直接连接符 114824"/>
            <p:cNvSpPr/>
            <p:nvPr/>
          </p:nvSpPr>
          <p:spPr>
            <a:xfrm flipH="1">
              <a:off x="3470" y="3385"/>
              <a:ext cx="272" cy="0"/>
            </a:xfrm>
            <a:prstGeom prst="line">
              <a:avLst/>
            </a:prstGeom>
            <a:ln w="9525" cap="flat" cmpd="sng">
              <a:solidFill>
                <a:schemeClr val="tx1"/>
              </a:solidFill>
              <a:prstDash val="solid"/>
              <a:round/>
              <a:headEnd type="none" w="med" len="med"/>
              <a:tailEnd type="triangle" w="med" len="med"/>
            </a:ln>
          </p:spPr>
        </p:sp>
        <p:sp>
          <p:nvSpPr>
            <p:cNvPr id="9256" name="直接连接符 114825"/>
            <p:cNvSpPr/>
            <p:nvPr/>
          </p:nvSpPr>
          <p:spPr>
            <a:xfrm flipH="1">
              <a:off x="930" y="3385"/>
              <a:ext cx="272" cy="0"/>
            </a:xfrm>
            <a:prstGeom prst="line">
              <a:avLst/>
            </a:prstGeom>
            <a:ln w="9525" cap="flat" cmpd="sng">
              <a:solidFill>
                <a:schemeClr val="tx1"/>
              </a:solidFill>
              <a:prstDash val="solid"/>
              <a:round/>
              <a:headEnd type="none" w="med" len="med"/>
              <a:tailEnd type="triangle" w="med" len="med"/>
            </a:ln>
          </p:spPr>
        </p:sp>
        <p:sp>
          <p:nvSpPr>
            <p:cNvPr id="9257" name="直接连接符 114826"/>
            <p:cNvSpPr/>
            <p:nvPr/>
          </p:nvSpPr>
          <p:spPr>
            <a:xfrm flipH="1">
              <a:off x="2200" y="3385"/>
              <a:ext cx="272" cy="0"/>
            </a:xfrm>
            <a:prstGeom prst="line">
              <a:avLst/>
            </a:prstGeom>
            <a:ln w="9525" cap="flat" cmpd="sng">
              <a:solidFill>
                <a:schemeClr val="tx1"/>
              </a:solidFill>
              <a:prstDash val="solid"/>
              <a:round/>
              <a:headEnd type="none" w="med" len="med"/>
              <a:tailEnd type="triangle" w="med" len="med"/>
            </a:ln>
          </p:spPr>
        </p:sp>
      </p:grpSp>
      <p:sp>
        <p:nvSpPr>
          <p:cNvPr id="9219" name="文本框 114821"/>
          <p:cNvSpPr txBox="1"/>
          <p:nvPr/>
        </p:nvSpPr>
        <p:spPr>
          <a:xfrm>
            <a:off x="9173210" y="3115945"/>
            <a:ext cx="2190115" cy="1938020"/>
          </a:xfrm>
          <a:prstGeom prst="rect">
            <a:avLst/>
          </a:prstGeom>
          <a:noFill/>
          <a:ln w="9525">
            <a:noFill/>
          </a:ln>
        </p:spPr>
        <p:txBody>
          <a:bodyPr wrap="square" anchor="t" anchorCtr="0">
            <a:spAutoFit/>
          </a:bodyPr>
          <a:p>
            <a:pPr>
              <a:spcBef>
                <a:spcPct val="50000"/>
              </a:spcBef>
            </a:pPr>
            <a:r>
              <a:rPr lang="zh-CN" sz="2400" spc="150">
                <a:solidFill>
                  <a:schemeClr val="tx1">
                    <a:lumMod val="65000"/>
                    <a:lumOff val="35000"/>
                  </a:schemeClr>
                </a:solidFill>
                <a:uFillTx/>
              </a:rPr>
              <a:t>信道</a:t>
            </a:r>
            <a:r>
              <a:rPr sz="2400" spc="150">
                <a:solidFill>
                  <a:schemeClr val="tx1">
                    <a:lumMod val="65000"/>
                    <a:lumOff val="35000"/>
                  </a:schemeClr>
                </a:solidFill>
                <a:uFillTx/>
              </a:rPr>
              <a:t>传输和存储有共同之处，两者都是将数据从信源传送到目的地。</a:t>
            </a:r>
            <a:endParaRPr lang="zh-CN" altLang="en-US" sz="2400" b="1" spc="150" dirty="0">
              <a:solidFill>
                <a:schemeClr val="tx1">
                  <a:lumMod val="65000"/>
                  <a:lumOff val="35000"/>
                </a:schemeClr>
              </a:solidFill>
              <a:uFillTx/>
              <a:latin typeface="Arial" panose="020B0604020202020204" pitchFamily="34" charset="0"/>
              <a:ea typeface="黑体" panose="02010609060101010101" pitchFamily="49" charset="-122"/>
            </a:endParaRPr>
          </a:p>
        </p:txBody>
      </p:sp>
      <p:sp>
        <p:nvSpPr>
          <p:cNvPr id="13" name="文本框 114821"/>
          <p:cNvSpPr txBox="1"/>
          <p:nvPr/>
        </p:nvSpPr>
        <p:spPr>
          <a:xfrm>
            <a:off x="608965" y="1403985"/>
            <a:ext cx="11089005" cy="829945"/>
          </a:xfrm>
          <a:prstGeom prst="rect">
            <a:avLst/>
          </a:prstGeom>
          <a:noFill/>
          <a:ln w="9525">
            <a:noFill/>
          </a:ln>
        </p:spPr>
        <p:txBody>
          <a:bodyPr wrap="square" anchor="t" anchorCtr="0">
            <a:spAutoFit/>
          </a:bodyPr>
          <a:p>
            <a:pPr>
              <a:spcBef>
                <a:spcPct val="50000"/>
              </a:spcBef>
            </a:pPr>
            <a:r>
              <a:rPr lang="en-US" sz="2400" spc="150">
                <a:solidFill>
                  <a:schemeClr val="tx1">
                    <a:lumMod val="65000"/>
                    <a:lumOff val="35000"/>
                  </a:schemeClr>
                </a:solidFill>
                <a:uFillTx/>
              </a:rPr>
              <a:t>       </a:t>
            </a:r>
            <a:r>
              <a:rPr sz="2400" spc="150">
                <a:solidFill>
                  <a:schemeClr val="tx1">
                    <a:lumMod val="65000"/>
                    <a:lumOff val="35000"/>
                  </a:schemeClr>
                </a:solidFill>
                <a:uFillTx/>
              </a:rPr>
              <a:t>所有的数字通信系统，如雷达、遥控遥测、数字存储系统、计算机等，都可以归结为</a:t>
            </a:r>
            <a:r>
              <a:rPr lang="zh-CN" sz="2400" spc="150">
                <a:solidFill>
                  <a:schemeClr val="tx1">
                    <a:lumMod val="65000"/>
                    <a:lumOff val="35000"/>
                  </a:schemeClr>
                </a:solidFill>
                <a:uFillTx/>
              </a:rPr>
              <a:t>下</a:t>
            </a:r>
            <a:r>
              <a:rPr sz="2400" spc="150">
                <a:solidFill>
                  <a:schemeClr val="tx1">
                    <a:lumMod val="65000"/>
                    <a:lumOff val="35000"/>
                  </a:schemeClr>
                </a:solidFill>
                <a:uFillTx/>
              </a:rPr>
              <a:t>图所示的模型</a:t>
            </a:r>
            <a:r>
              <a:rPr lang="zh-CN" sz="2400" spc="150">
                <a:solidFill>
                  <a:schemeClr val="tx1">
                    <a:lumMod val="65000"/>
                    <a:lumOff val="35000"/>
                  </a:schemeClr>
                </a:solidFill>
                <a:uFillTx/>
              </a:rPr>
              <a:t>：</a:t>
            </a:r>
            <a:endParaRPr lang="zh-CN" sz="2400" b="1" spc="150" dirty="0">
              <a:solidFill>
                <a:schemeClr val="tx1">
                  <a:lumMod val="65000"/>
                  <a:lumOff val="35000"/>
                </a:schemeClr>
              </a:solidFill>
              <a:uFillTx/>
              <a:latin typeface="Arial" panose="020B0604020202020204" pitchFamily="34" charset="0"/>
              <a:ea typeface="黑体" panose="02010609060101010101" pitchFamily="49" charset="-122"/>
            </a:endParaRPr>
          </a:p>
        </p:txBody>
      </p:sp>
      <p:sp>
        <p:nvSpPr>
          <p:cNvPr id="14" name="文本框 114821"/>
          <p:cNvSpPr txBox="1"/>
          <p:nvPr/>
        </p:nvSpPr>
        <p:spPr>
          <a:xfrm>
            <a:off x="3078480" y="6174105"/>
            <a:ext cx="3622040" cy="368300"/>
          </a:xfrm>
          <a:prstGeom prst="rect">
            <a:avLst/>
          </a:prstGeom>
          <a:noFill/>
          <a:ln w="9525">
            <a:noFill/>
          </a:ln>
        </p:spPr>
        <p:txBody>
          <a:bodyPr wrap="square" anchor="t" anchorCtr="0">
            <a:spAutoFit/>
          </a:bodyPr>
          <a:p>
            <a:pPr>
              <a:spcBef>
                <a:spcPct val="50000"/>
              </a:spcBef>
            </a:pPr>
            <a:r>
              <a:rPr lang="en-US" altLang="zh-CN" b="1">
                <a:latin typeface="Arial" panose="020B0604020202020204" pitchFamily="34" charset="0"/>
                <a:ea typeface="宋体" panose="02010600030101010101" pitchFamily="2" charset="-122"/>
              </a:rPr>
              <a:t> </a:t>
            </a:r>
            <a:r>
              <a:rPr lang="zh-CN" altLang="en-US" b="1">
                <a:latin typeface="Arial" panose="020B0604020202020204" pitchFamily="34" charset="0"/>
                <a:ea typeface="宋体" panose="02010600030101010101" pitchFamily="2" charset="-122"/>
              </a:rPr>
              <a:t>图</a:t>
            </a:r>
            <a:r>
              <a:rPr lang="en-US" altLang="zh-CN" b="1">
                <a:latin typeface="Times New Roman" panose="02020603050405020304" pitchFamily="18" charset="0"/>
                <a:ea typeface="宋体" panose="02010600030101010101" pitchFamily="2" charset="-122"/>
                <a:cs typeface="Times New Roman" panose="02020603050405020304" pitchFamily="18" charset="0"/>
              </a:rPr>
              <a:t>1 </a:t>
            </a:r>
            <a:r>
              <a:rPr lang="zh-CN" altLang="en-US" b="1" dirty="0">
                <a:latin typeface="楷体" panose="02010609060101010101" charset="-122"/>
                <a:ea typeface="楷体" panose="02010609060101010101" charset="-122"/>
              </a:rPr>
              <a:t>数字通信</a:t>
            </a:r>
            <a:r>
              <a:rPr lang="en-US" altLang="zh-CN" b="1" dirty="0">
                <a:latin typeface="楷体" panose="02010609060101010101" charset="-122"/>
                <a:ea typeface="楷体" panose="02010609060101010101" charset="-122"/>
              </a:rPr>
              <a:t>(</a:t>
            </a:r>
            <a:r>
              <a:rPr lang="zh-CN" altLang="en-US" b="1" dirty="0">
                <a:latin typeface="楷体" panose="02010609060101010101" charset="-122"/>
                <a:ea typeface="楷体" panose="02010609060101010101" charset="-122"/>
              </a:rPr>
              <a:t>存储</a:t>
            </a:r>
            <a:r>
              <a:rPr lang="en-US" altLang="zh-CN" b="1" dirty="0">
                <a:latin typeface="楷体" panose="02010609060101010101" charset="-122"/>
                <a:ea typeface="楷体" panose="02010609060101010101" charset="-122"/>
              </a:rPr>
              <a:t>)</a:t>
            </a:r>
            <a:r>
              <a:rPr lang="zh-CN" altLang="en-US" b="1" dirty="0">
                <a:latin typeface="楷体" panose="02010609060101010101" charset="-122"/>
                <a:ea typeface="楷体" panose="02010609060101010101" charset="-122"/>
              </a:rPr>
              <a:t>系统模型</a:t>
            </a:r>
            <a:endParaRPr lang="zh-CN" altLang="en-US" b="1" dirty="0">
              <a:latin typeface="楷体" panose="02010609060101010101" charset="-122"/>
              <a:ea typeface="楷体" panose="02010609060101010101" charset="-122"/>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数字通信系统的简化模型</a:t>
            </a:r>
            <a:endParaRPr lang="zh-CN" altLang="en-US"/>
          </a:p>
        </p:txBody>
      </p:sp>
      <p:sp>
        <p:nvSpPr>
          <p:cNvPr id="28" name="文本框 27"/>
          <p:cNvSpPr txBox="1"/>
          <p:nvPr/>
        </p:nvSpPr>
        <p:spPr>
          <a:xfrm>
            <a:off x="2818130" y="7590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29" name="文本框 28"/>
          <p:cNvSpPr txBox="1"/>
          <p:nvPr/>
        </p:nvSpPr>
        <p:spPr>
          <a:xfrm>
            <a:off x="2945130" y="7717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0" name="文本框 29"/>
          <p:cNvSpPr txBox="1"/>
          <p:nvPr/>
        </p:nvSpPr>
        <p:spPr>
          <a:xfrm>
            <a:off x="3072130" y="7844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1" name="文本框 30"/>
          <p:cNvSpPr txBox="1"/>
          <p:nvPr/>
        </p:nvSpPr>
        <p:spPr>
          <a:xfrm>
            <a:off x="3199130" y="7971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2" name="文本框 31"/>
          <p:cNvSpPr txBox="1"/>
          <p:nvPr/>
        </p:nvSpPr>
        <p:spPr>
          <a:xfrm>
            <a:off x="3326130" y="8098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3" name="文本框 32"/>
          <p:cNvSpPr txBox="1"/>
          <p:nvPr/>
        </p:nvSpPr>
        <p:spPr>
          <a:xfrm>
            <a:off x="3453130" y="8225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sp>
        <p:nvSpPr>
          <p:cNvPr id="34" name="文本框 33"/>
          <p:cNvSpPr txBox="1"/>
          <p:nvPr/>
        </p:nvSpPr>
        <p:spPr>
          <a:xfrm>
            <a:off x="3580130" y="8352790"/>
            <a:ext cx="1891030" cy="337185"/>
          </a:xfrm>
          <a:prstGeom prst="rect">
            <a:avLst/>
          </a:prstGeom>
          <a:noFill/>
        </p:spPr>
        <p:txBody>
          <a:bodyPr wrap="square" rtlCol="0">
            <a:spAutoFit/>
          </a:bodyPr>
          <a:p>
            <a:r>
              <a:rPr lang="zh-CN" altLang="en-US" sz="1600"/>
              <a:t>法拉第</a:t>
            </a:r>
            <a:r>
              <a:rPr lang="en-US" altLang="zh-CN" sz="1600"/>
              <a:t>(1791-1861)</a:t>
            </a:r>
            <a:endParaRPr lang="en-US" altLang="zh-CN" sz="1600"/>
          </a:p>
        </p:txBody>
      </p:sp>
      <p:grpSp>
        <p:nvGrpSpPr>
          <p:cNvPr id="15362" name="组合 129076"/>
          <p:cNvGrpSpPr/>
          <p:nvPr/>
        </p:nvGrpSpPr>
        <p:grpSpPr>
          <a:xfrm>
            <a:off x="898525" y="2566353"/>
            <a:ext cx="7345363" cy="1879600"/>
            <a:chOff x="566" y="981"/>
            <a:chExt cx="4627" cy="1184"/>
          </a:xfrm>
        </p:grpSpPr>
        <p:sp>
          <p:nvSpPr>
            <p:cNvPr id="15363" name="矩形 129034"/>
            <p:cNvSpPr/>
            <p:nvPr/>
          </p:nvSpPr>
          <p:spPr>
            <a:xfrm>
              <a:off x="566"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64" name="文本框 129035"/>
            <p:cNvSpPr txBox="1"/>
            <p:nvPr/>
          </p:nvSpPr>
          <p:spPr>
            <a:xfrm>
              <a:off x="611" y="1031"/>
              <a:ext cx="681" cy="393"/>
            </a:xfrm>
            <a:prstGeom prst="rect">
              <a:avLst/>
            </a:prstGeom>
            <a:noFill/>
            <a:ln w="9525">
              <a:noFill/>
            </a:ln>
          </p:spPr>
          <p:txBody>
            <a:bodyPr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等 效 </a:t>
              </a:r>
              <a:endParaRPr lang="zh-CN" altLang="en-US" sz="1400" b="1" dirty="0">
                <a:latin typeface="Arial" panose="020B0604020202020204" pitchFamily="34" charset="0"/>
                <a:ea typeface="宋体" panose="02010600030101010101" pitchFamily="2" charset="-122"/>
              </a:endParaRPr>
            </a:p>
            <a:p>
              <a:pPr>
                <a:spcBef>
                  <a:spcPct val="50000"/>
                </a:spcBef>
              </a:pPr>
              <a:r>
                <a:rPr lang="zh-CN" altLang="en-US" sz="1400" b="1" dirty="0">
                  <a:latin typeface="Arial" panose="020B0604020202020204" pitchFamily="34" charset="0"/>
                  <a:ea typeface="宋体" panose="02010600030101010101" pitchFamily="2" charset="-122"/>
                </a:rPr>
                <a:t>离 散 信 源</a:t>
              </a:r>
              <a:endParaRPr lang="zh-CN" altLang="en-US" sz="1400" b="1" dirty="0">
                <a:latin typeface="Arial" panose="020B0604020202020204" pitchFamily="34" charset="0"/>
                <a:ea typeface="宋体" panose="02010600030101010101" pitchFamily="2" charset="-122"/>
              </a:endParaRPr>
            </a:p>
          </p:txBody>
        </p:sp>
        <p:sp>
          <p:nvSpPr>
            <p:cNvPr id="15365" name="矩形 129036"/>
            <p:cNvSpPr/>
            <p:nvPr/>
          </p:nvSpPr>
          <p:spPr>
            <a:xfrm>
              <a:off x="1566" y="985"/>
              <a:ext cx="635"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66" name="文本框 129037"/>
            <p:cNvSpPr txBox="1"/>
            <p:nvPr/>
          </p:nvSpPr>
          <p:spPr>
            <a:xfrm>
              <a:off x="1474" y="1134"/>
              <a:ext cx="680" cy="192"/>
            </a:xfrm>
            <a:prstGeom prst="rect">
              <a:avLst/>
            </a:prstGeom>
            <a:noFill/>
            <a:ln w="9525">
              <a:noFill/>
            </a:ln>
          </p:spPr>
          <p:txBody>
            <a:bodyPr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编 码 器</a:t>
              </a:r>
              <a:endParaRPr lang="zh-CN" altLang="en-US" sz="1400" b="1" dirty="0">
                <a:latin typeface="Arial" panose="020B0604020202020204" pitchFamily="34" charset="0"/>
                <a:ea typeface="宋体" panose="02010600030101010101" pitchFamily="2" charset="-122"/>
              </a:endParaRPr>
            </a:p>
          </p:txBody>
        </p:sp>
        <p:sp>
          <p:nvSpPr>
            <p:cNvPr id="15367" name="矩形 129040"/>
            <p:cNvSpPr/>
            <p:nvPr/>
          </p:nvSpPr>
          <p:spPr>
            <a:xfrm>
              <a:off x="2472" y="985"/>
              <a:ext cx="725"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68" name="文本框 129041"/>
            <p:cNvSpPr txBox="1"/>
            <p:nvPr/>
          </p:nvSpPr>
          <p:spPr>
            <a:xfrm>
              <a:off x="2472" y="1121"/>
              <a:ext cx="725" cy="192"/>
            </a:xfrm>
            <a:prstGeom prst="rect">
              <a:avLst/>
            </a:prstGeom>
            <a:noFill/>
            <a:ln w="9525">
              <a:noFill/>
            </a:ln>
          </p:spPr>
          <p:txBody>
            <a:bodyPr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编 码 信 道</a:t>
              </a:r>
              <a:endParaRPr lang="zh-CN" altLang="en-US" sz="1400" b="1" dirty="0">
                <a:latin typeface="Arial" panose="020B0604020202020204" pitchFamily="34" charset="0"/>
                <a:ea typeface="宋体" panose="02010600030101010101" pitchFamily="2" charset="-122"/>
              </a:endParaRPr>
            </a:p>
          </p:txBody>
        </p:sp>
        <p:sp>
          <p:nvSpPr>
            <p:cNvPr id="15369" name="矩形 129042"/>
            <p:cNvSpPr/>
            <p:nvPr/>
          </p:nvSpPr>
          <p:spPr>
            <a:xfrm>
              <a:off x="2472" y="1711"/>
              <a:ext cx="726" cy="454"/>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70" name="文本框 129043"/>
            <p:cNvSpPr txBox="1"/>
            <p:nvPr/>
          </p:nvSpPr>
          <p:spPr>
            <a:xfrm>
              <a:off x="2562" y="1847"/>
              <a:ext cx="590" cy="192"/>
            </a:xfrm>
            <a:prstGeom prst="rect">
              <a:avLst/>
            </a:prstGeom>
            <a:noFill/>
            <a:ln w="9525">
              <a:noFill/>
            </a:ln>
          </p:spPr>
          <p:txBody>
            <a:bodyPr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噪 声 源</a:t>
              </a:r>
              <a:endParaRPr lang="zh-CN" altLang="en-US" sz="1400" b="1" dirty="0">
                <a:latin typeface="Arial" panose="020B0604020202020204" pitchFamily="34" charset="0"/>
                <a:ea typeface="宋体" panose="02010600030101010101" pitchFamily="2" charset="-122"/>
              </a:endParaRPr>
            </a:p>
          </p:txBody>
        </p:sp>
        <p:sp>
          <p:nvSpPr>
            <p:cNvPr id="15371" name="矩形 129044"/>
            <p:cNvSpPr/>
            <p:nvPr/>
          </p:nvSpPr>
          <p:spPr>
            <a:xfrm>
              <a:off x="4467"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72" name="文本框 129045"/>
            <p:cNvSpPr txBox="1"/>
            <p:nvPr/>
          </p:nvSpPr>
          <p:spPr>
            <a:xfrm>
              <a:off x="4603" y="1121"/>
              <a:ext cx="453"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宿</a:t>
              </a:r>
              <a:endParaRPr lang="zh-CN" altLang="en-US" sz="1400" b="1" dirty="0">
                <a:latin typeface="Arial" panose="020B0604020202020204" pitchFamily="34" charset="0"/>
                <a:ea typeface="宋体" panose="02010600030101010101" pitchFamily="2" charset="-122"/>
              </a:endParaRPr>
            </a:p>
          </p:txBody>
        </p:sp>
        <p:sp>
          <p:nvSpPr>
            <p:cNvPr id="15373" name="矩形 129046"/>
            <p:cNvSpPr/>
            <p:nvPr/>
          </p:nvSpPr>
          <p:spPr>
            <a:xfrm>
              <a:off x="3469" y="985"/>
              <a:ext cx="726" cy="499"/>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15374" name="文本框 129047"/>
            <p:cNvSpPr txBox="1"/>
            <p:nvPr/>
          </p:nvSpPr>
          <p:spPr>
            <a:xfrm>
              <a:off x="3560" y="1111"/>
              <a:ext cx="635" cy="192"/>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译 码 器</a:t>
              </a:r>
              <a:endParaRPr lang="zh-CN" altLang="en-US" sz="1400" b="1" dirty="0">
                <a:latin typeface="Arial" panose="020B0604020202020204" pitchFamily="34" charset="0"/>
                <a:ea typeface="宋体" panose="02010600030101010101" pitchFamily="2" charset="-122"/>
              </a:endParaRPr>
            </a:p>
          </p:txBody>
        </p:sp>
        <p:sp>
          <p:nvSpPr>
            <p:cNvPr id="15375" name="直接连接符 129050"/>
            <p:cNvSpPr/>
            <p:nvPr/>
          </p:nvSpPr>
          <p:spPr>
            <a:xfrm>
              <a:off x="1292" y="1224"/>
              <a:ext cx="273" cy="0"/>
            </a:xfrm>
            <a:prstGeom prst="line">
              <a:avLst/>
            </a:prstGeom>
            <a:ln w="9525" cap="flat" cmpd="sng">
              <a:solidFill>
                <a:schemeClr val="tx1"/>
              </a:solidFill>
              <a:prstDash val="solid"/>
              <a:round/>
              <a:headEnd type="none" w="med" len="med"/>
              <a:tailEnd type="triangle" w="med" len="med"/>
            </a:ln>
          </p:spPr>
        </p:sp>
        <p:sp>
          <p:nvSpPr>
            <p:cNvPr id="15376" name="直接连接符 129051"/>
            <p:cNvSpPr/>
            <p:nvPr/>
          </p:nvSpPr>
          <p:spPr>
            <a:xfrm>
              <a:off x="2200" y="1212"/>
              <a:ext cx="273" cy="0"/>
            </a:xfrm>
            <a:prstGeom prst="line">
              <a:avLst/>
            </a:prstGeom>
            <a:ln w="9525" cap="flat" cmpd="sng">
              <a:solidFill>
                <a:schemeClr val="tx1"/>
              </a:solidFill>
              <a:prstDash val="solid"/>
              <a:round/>
              <a:headEnd type="none" w="med" len="med"/>
              <a:tailEnd type="triangle" w="med" len="med"/>
            </a:ln>
          </p:spPr>
        </p:sp>
        <p:sp>
          <p:nvSpPr>
            <p:cNvPr id="15377" name="文本框 129054"/>
            <p:cNvSpPr txBox="1"/>
            <p:nvPr/>
          </p:nvSpPr>
          <p:spPr>
            <a:xfrm>
              <a:off x="1292" y="985"/>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U</a:t>
              </a:r>
              <a:endParaRPr lang="en-US" altLang="zh-CN" b="1" i="1">
                <a:latin typeface="Times New Roman" panose="02020603050405020304" pitchFamily="18" charset="0"/>
                <a:ea typeface="宋体" panose="02010600030101010101" pitchFamily="2" charset="-122"/>
              </a:endParaRPr>
            </a:p>
          </p:txBody>
        </p:sp>
        <p:sp>
          <p:nvSpPr>
            <p:cNvPr id="15378" name="文本框 129055"/>
            <p:cNvSpPr txBox="1"/>
            <p:nvPr/>
          </p:nvSpPr>
          <p:spPr>
            <a:xfrm>
              <a:off x="4195" y="981"/>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V</a:t>
              </a:r>
              <a:endParaRPr lang="en-US" altLang="zh-CN" b="1" i="1">
                <a:latin typeface="Times New Roman" panose="02020603050405020304" pitchFamily="18" charset="0"/>
                <a:ea typeface="宋体" panose="02010600030101010101" pitchFamily="2" charset="-122"/>
              </a:endParaRPr>
            </a:p>
          </p:txBody>
        </p:sp>
        <p:sp>
          <p:nvSpPr>
            <p:cNvPr id="15379" name="文本框 129056"/>
            <p:cNvSpPr txBox="1"/>
            <p:nvPr/>
          </p:nvSpPr>
          <p:spPr>
            <a:xfrm>
              <a:off x="2245" y="981"/>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X</a:t>
              </a:r>
              <a:endParaRPr lang="en-US" altLang="zh-CN" b="1" i="1">
                <a:latin typeface="Times New Roman" panose="02020603050405020304" pitchFamily="18" charset="0"/>
                <a:ea typeface="宋体" panose="02010600030101010101" pitchFamily="2" charset="-122"/>
              </a:endParaRPr>
            </a:p>
          </p:txBody>
        </p:sp>
        <p:sp>
          <p:nvSpPr>
            <p:cNvPr id="15380" name="文本框 129057"/>
            <p:cNvSpPr txBox="1"/>
            <p:nvPr/>
          </p:nvSpPr>
          <p:spPr>
            <a:xfrm>
              <a:off x="3198" y="981"/>
              <a:ext cx="227" cy="231"/>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Y</a:t>
              </a:r>
              <a:endParaRPr lang="en-US" altLang="zh-CN" b="1" i="1">
                <a:latin typeface="Times New Roman" panose="02020603050405020304" pitchFamily="18" charset="0"/>
                <a:ea typeface="宋体" panose="02010600030101010101" pitchFamily="2" charset="-122"/>
              </a:endParaRPr>
            </a:p>
          </p:txBody>
        </p:sp>
        <p:sp>
          <p:nvSpPr>
            <p:cNvPr id="15381" name="直接连接符 129066"/>
            <p:cNvSpPr/>
            <p:nvPr/>
          </p:nvSpPr>
          <p:spPr>
            <a:xfrm>
              <a:off x="4195" y="1212"/>
              <a:ext cx="273" cy="0"/>
            </a:xfrm>
            <a:prstGeom prst="line">
              <a:avLst/>
            </a:prstGeom>
            <a:ln w="9525" cap="flat" cmpd="sng">
              <a:solidFill>
                <a:schemeClr val="tx1"/>
              </a:solidFill>
              <a:prstDash val="solid"/>
              <a:round/>
              <a:headEnd type="none" w="med" len="med"/>
              <a:tailEnd type="triangle" w="med" len="med"/>
            </a:ln>
          </p:spPr>
        </p:sp>
        <p:sp>
          <p:nvSpPr>
            <p:cNvPr id="15382" name="直接连接符 129067"/>
            <p:cNvSpPr/>
            <p:nvPr/>
          </p:nvSpPr>
          <p:spPr>
            <a:xfrm>
              <a:off x="3197" y="1212"/>
              <a:ext cx="273" cy="0"/>
            </a:xfrm>
            <a:prstGeom prst="line">
              <a:avLst/>
            </a:prstGeom>
            <a:ln w="9525" cap="flat" cmpd="sng">
              <a:solidFill>
                <a:schemeClr val="tx1"/>
              </a:solidFill>
              <a:prstDash val="solid"/>
              <a:round/>
              <a:headEnd type="none" w="med" len="med"/>
              <a:tailEnd type="triangle" w="med" len="med"/>
            </a:ln>
          </p:spPr>
        </p:sp>
        <p:sp>
          <p:nvSpPr>
            <p:cNvPr id="15383" name="直接连接符 129068"/>
            <p:cNvSpPr/>
            <p:nvPr/>
          </p:nvSpPr>
          <p:spPr>
            <a:xfrm flipV="1">
              <a:off x="2835" y="1480"/>
              <a:ext cx="0" cy="227"/>
            </a:xfrm>
            <a:prstGeom prst="line">
              <a:avLst/>
            </a:prstGeom>
            <a:ln w="9525" cap="flat" cmpd="sng">
              <a:solidFill>
                <a:schemeClr val="tx1"/>
              </a:solidFill>
              <a:prstDash val="solid"/>
              <a:round/>
              <a:headEnd type="none" w="med" len="med"/>
              <a:tailEnd type="triangle" w="med" len="med"/>
            </a:ln>
          </p:spPr>
        </p:sp>
      </p:grpSp>
      <p:sp>
        <p:nvSpPr>
          <p:cNvPr id="16" name="文本框 114821"/>
          <p:cNvSpPr txBox="1"/>
          <p:nvPr/>
        </p:nvSpPr>
        <p:spPr>
          <a:xfrm>
            <a:off x="3078480" y="4563745"/>
            <a:ext cx="324612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2 </a:t>
            </a:r>
            <a:r>
              <a:rPr lang="zh-CN" altLang="en-US" b="1">
                <a:latin typeface="楷体" panose="02010609060101010101" charset="-122"/>
                <a:ea typeface="楷体" panose="02010609060101010101" charset="-122"/>
                <a:cs typeface="楷体" panose="02010609060101010101" charset="-122"/>
              </a:rPr>
              <a:t>简化的</a:t>
            </a:r>
            <a:r>
              <a:rPr lang="zh-CN" altLang="en-US" b="1" dirty="0">
                <a:latin typeface="楷体" panose="02010609060101010101" charset="-122"/>
                <a:ea typeface="楷体" panose="02010609060101010101" charset="-122"/>
              </a:rPr>
              <a:t>数字通信系统模型</a:t>
            </a:r>
            <a:endParaRPr lang="zh-CN" altLang="en-US" b="1" dirty="0">
              <a:latin typeface="楷体" panose="02010609060101010101" charset="-122"/>
              <a:ea typeface="楷体" panose="02010609060101010101" charset="-122"/>
            </a:endParaRPr>
          </a:p>
        </p:txBody>
      </p:sp>
      <p:sp>
        <p:nvSpPr>
          <p:cNvPr id="6" name="文本框 114821"/>
          <p:cNvSpPr txBox="1"/>
          <p:nvPr/>
        </p:nvSpPr>
        <p:spPr>
          <a:xfrm>
            <a:off x="608965" y="1403985"/>
            <a:ext cx="11089005" cy="829945"/>
          </a:xfrm>
          <a:prstGeom prst="rect">
            <a:avLst/>
          </a:prstGeom>
          <a:noFill/>
          <a:ln w="9525">
            <a:noFill/>
          </a:ln>
        </p:spPr>
        <p:txBody>
          <a:bodyPr wrap="square" anchor="t" anchorCtr="0">
            <a:spAutoFit/>
          </a:bodyPr>
          <a:p>
            <a:pPr>
              <a:spcBef>
                <a:spcPct val="50000"/>
              </a:spcBef>
            </a:pPr>
            <a:r>
              <a:rPr lang="en-US" sz="2400" spc="150">
                <a:solidFill>
                  <a:schemeClr val="tx1">
                    <a:lumMod val="65000"/>
                    <a:lumOff val="35000"/>
                  </a:schemeClr>
                </a:solidFill>
                <a:uFillTx/>
              </a:rPr>
              <a:t>       </a:t>
            </a:r>
            <a:r>
              <a:rPr sz="2400" spc="150">
                <a:solidFill>
                  <a:schemeClr val="tx1">
                    <a:lumMod val="65000"/>
                    <a:lumOff val="35000"/>
                  </a:schemeClr>
                </a:solidFill>
                <a:uFillTx/>
              </a:rPr>
              <a:t>编码理论关注的是信道编码器和信道译码器。为集中考虑信道编码与译码，将</a:t>
            </a:r>
            <a:r>
              <a:rPr lang="zh-CN" sz="2400" spc="150">
                <a:solidFill>
                  <a:schemeClr val="tx1">
                    <a:lumMod val="65000"/>
                    <a:lumOff val="35000"/>
                  </a:schemeClr>
                </a:solidFill>
                <a:uFillTx/>
              </a:rPr>
              <a:t>图</a:t>
            </a:r>
            <a:r>
              <a:rPr lang="en-US" altLang="zh-CN" sz="2400" spc="150">
                <a:solidFill>
                  <a:schemeClr val="tx1">
                    <a:lumMod val="65000"/>
                    <a:lumOff val="35000"/>
                  </a:schemeClr>
                </a:solidFill>
                <a:uFillTx/>
              </a:rPr>
              <a:t>1</a:t>
            </a:r>
            <a:r>
              <a:rPr lang="zh-CN" altLang="en-US" sz="2400" spc="150">
                <a:solidFill>
                  <a:schemeClr val="tx1">
                    <a:lumMod val="65000"/>
                    <a:lumOff val="35000"/>
                  </a:schemeClr>
                </a:solidFill>
                <a:uFillTx/>
              </a:rPr>
              <a:t>的模型</a:t>
            </a:r>
            <a:r>
              <a:rPr sz="2400" spc="150">
                <a:solidFill>
                  <a:schemeClr val="tx1">
                    <a:lumMod val="65000"/>
                    <a:lumOff val="35000"/>
                  </a:schemeClr>
                </a:solidFill>
                <a:uFillTx/>
              </a:rPr>
              <a:t>简化为</a:t>
            </a:r>
            <a:r>
              <a:rPr lang="zh-CN" sz="2400" spc="150">
                <a:solidFill>
                  <a:schemeClr val="tx1">
                    <a:lumMod val="65000"/>
                    <a:lumOff val="35000"/>
                  </a:schemeClr>
                </a:solidFill>
                <a:uFillTx/>
              </a:rPr>
              <a:t>：</a:t>
            </a:r>
            <a:endParaRPr lang="zh-CN" sz="2400" b="1" spc="150" dirty="0">
              <a:solidFill>
                <a:schemeClr val="tx1">
                  <a:lumMod val="65000"/>
                  <a:lumOff val="35000"/>
                </a:schemeClr>
              </a:solidFill>
              <a:uFillTx/>
              <a:latin typeface="Arial" panose="020B0604020202020204" pitchFamily="34" charset="0"/>
              <a:ea typeface="黑体" panose="02010609060101010101" pitchFamily="49" charset="-122"/>
            </a:endParaRPr>
          </a:p>
        </p:txBody>
      </p:sp>
      <p:graphicFrame>
        <p:nvGraphicFramePr>
          <p:cNvPr id="7" name="对象 6">
            <a:hlinkClick r:id="" action="ppaction://ole?verb="/>
          </p:cNvPr>
          <p:cNvGraphicFramePr>
            <a:graphicFrameLocks noChangeAspect="1"/>
          </p:cNvGraphicFramePr>
          <p:nvPr/>
        </p:nvGraphicFramePr>
        <p:xfrm>
          <a:off x="1002665" y="5304155"/>
          <a:ext cx="4853305" cy="474345"/>
        </p:xfrm>
        <a:graphic>
          <a:graphicData uri="http://schemas.openxmlformats.org/presentationml/2006/ole">
            <mc:AlternateContent xmlns:mc="http://schemas.openxmlformats.org/markup-compatibility/2006">
              <mc:Choice xmlns:v="urn:schemas-microsoft-com:vml" Requires="v">
                <p:oleObj spid="_x0000_s2049" name="" r:id="rId1" imgW="2501900" imgH="241300" progId="Equation.KSEE3">
                  <p:embed/>
                </p:oleObj>
              </mc:Choice>
              <mc:Fallback>
                <p:oleObj name="" r:id="rId1" imgW="2501900" imgH="241300" progId="Equation.KSEE3">
                  <p:embed/>
                  <p:pic>
                    <p:nvPicPr>
                      <p:cNvPr id="0" name="图片 2048"/>
                      <p:cNvPicPr/>
                      <p:nvPr/>
                    </p:nvPicPr>
                    <p:blipFill>
                      <a:blip r:embed="rId2"/>
                      <a:stretch>
                        <a:fillRect/>
                      </a:stretch>
                    </p:blipFill>
                    <p:spPr>
                      <a:xfrm>
                        <a:off x="1002665" y="5304155"/>
                        <a:ext cx="4853305" cy="47434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998855" y="5854065"/>
          <a:ext cx="4805045" cy="474345"/>
        </p:xfrm>
        <a:graphic>
          <a:graphicData uri="http://schemas.openxmlformats.org/presentationml/2006/ole">
            <mc:AlternateContent xmlns:mc="http://schemas.openxmlformats.org/markup-compatibility/2006">
              <mc:Choice xmlns:v="urn:schemas-microsoft-com:vml" Requires="v">
                <p:oleObj spid="_x0000_s9" name="" r:id="rId3" imgW="2476500" imgH="241300" progId="Equation.KSEE3">
                  <p:embed/>
                </p:oleObj>
              </mc:Choice>
              <mc:Fallback>
                <p:oleObj name="" r:id="rId3" imgW="2476500" imgH="241300" progId="Equation.KSEE3">
                  <p:embed/>
                  <p:pic>
                    <p:nvPicPr>
                      <p:cNvPr id="0" name="图片 2048"/>
                      <p:cNvPicPr/>
                      <p:nvPr/>
                    </p:nvPicPr>
                    <p:blipFill>
                      <a:blip r:embed="rId4"/>
                      <a:stretch>
                        <a:fillRect/>
                      </a:stretch>
                    </p:blipFill>
                    <p:spPr>
                      <a:xfrm>
                        <a:off x="998855" y="5854065"/>
                        <a:ext cx="4805045" cy="47434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6742748" y="5269548"/>
          <a:ext cx="2513330" cy="449580"/>
        </p:xfrm>
        <a:graphic>
          <a:graphicData uri="http://schemas.openxmlformats.org/presentationml/2006/ole">
            <mc:AlternateContent xmlns:mc="http://schemas.openxmlformats.org/markup-compatibility/2006">
              <mc:Choice xmlns:v="urn:schemas-microsoft-com:vml" Requires="v">
                <p:oleObj spid="_x0000_s11" name="" r:id="rId5" imgW="1295400" imgH="228600" progId="Equation.KSEE3">
                  <p:embed/>
                </p:oleObj>
              </mc:Choice>
              <mc:Fallback>
                <p:oleObj name="" r:id="rId5" imgW="1295400" imgH="228600" progId="Equation.KSEE3">
                  <p:embed/>
                  <p:pic>
                    <p:nvPicPr>
                      <p:cNvPr id="0" name="图片 2048"/>
                      <p:cNvPicPr/>
                      <p:nvPr/>
                    </p:nvPicPr>
                    <p:blipFill>
                      <a:blip r:embed="rId6"/>
                      <a:stretch>
                        <a:fillRect/>
                      </a:stretch>
                    </p:blipFill>
                    <p:spPr>
                      <a:xfrm>
                        <a:off x="6742748" y="5269548"/>
                        <a:ext cx="2513330" cy="44958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6742748" y="5851843"/>
          <a:ext cx="2513330" cy="449580"/>
        </p:xfrm>
        <a:graphic>
          <a:graphicData uri="http://schemas.openxmlformats.org/presentationml/2006/ole">
            <mc:AlternateContent xmlns:mc="http://schemas.openxmlformats.org/markup-compatibility/2006">
              <mc:Choice xmlns:v="urn:schemas-microsoft-com:vml" Requires="v">
                <p:oleObj spid="_x0000_s17" name="" r:id="rId7" imgW="1295400" imgH="228600" progId="Equation.KSEE3">
                  <p:embed/>
                </p:oleObj>
              </mc:Choice>
              <mc:Fallback>
                <p:oleObj name="" r:id="rId7" imgW="1295400" imgH="228600" progId="Equation.KSEE3">
                  <p:embed/>
                  <p:pic>
                    <p:nvPicPr>
                      <p:cNvPr id="0" name="图片 2048"/>
                      <p:cNvPicPr/>
                      <p:nvPr/>
                    </p:nvPicPr>
                    <p:blipFill>
                      <a:blip r:embed="rId8"/>
                      <a:stretch>
                        <a:fillRect/>
                      </a:stretch>
                    </p:blipFill>
                    <p:spPr>
                      <a:xfrm>
                        <a:off x="6742748" y="5851843"/>
                        <a:ext cx="2513330" cy="449580"/>
                      </a:xfrm>
                      <a:prstGeom prst="rect">
                        <a:avLst/>
                      </a:prstGeom>
                    </p:spPr>
                  </p:pic>
                </p:oleObj>
              </mc:Fallback>
            </mc:AlternateContent>
          </a:graphicData>
        </a:graphic>
      </p:graphicFrame>
      <p:sp>
        <p:nvSpPr>
          <p:cNvPr id="18" name="文本框 17"/>
          <p:cNvSpPr txBox="1"/>
          <p:nvPr/>
        </p:nvSpPr>
        <p:spPr>
          <a:xfrm>
            <a:off x="553720" y="5342890"/>
            <a:ext cx="247015" cy="922020"/>
          </a:xfrm>
          <a:prstGeom prst="rect">
            <a:avLst/>
          </a:prstGeom>
          <a:noFill/>
        </p:spPr>
        <p:txBody>
          <a:bodyPr wrap="square" rtlCol="0" anchor="t">
            <a:spAutoFit/>
          </a:bodyPr>
          <a:p>
            <a:r>
              <a:rPr lang="en-US" altLang="zh-CN" sz="5400" b="1" dirty="0">
                <a:solidFill>
                  <a:schemeClr val="accent2"/>
                </a:solidFill>
                <a:latin typeface="黑体" panose="02010609060101010101" pitchFamily="49" charset="-122"/>
                <a:ea typeface="黑体" panose="02010609060101010101" pitchFamily="49" charset="-122"/>
                <a:sym typeface="+mn-ea"/>
              </a:rPr>
              <a:t>{</a:t>
            </a:r>
            <a:endParaRPr lang="en-US" altLang="zh-CN" sz="5400" b="1" dirty="0">
              <a:solidFill>
                <a:schemeClr val="accent2"/>
              </a:solidFill>
              <a:latin typeface="黑体" panose="02010609060101010101" pitchFamily="49" charset="-122"/>
              <a:ea typeface="黑体" panose="02010609060101010101" pitchFamily="49" charset="-122"/>
              <a:sym typeface="+mn-ea"/>
            </a:endParaRPr>
          </a:p>
        </p:txBody>
      </p:sp>
      <p:sp>
        <p:nvSpPr>
          <p:cNvPr id="19" name="文本框 18"/>
          <p:cNvSpPr txBox="1"/>
          <p:nvPr/>
        </p:nvSpPr>
        <p:spPr>
          <a:xfrm>
            <a:off x="6346190" y="5318760"/>
            <a:ext cx="608965" cy="922020"/>
          </a:xfrm>
          <a:prstGeom prst="rect">
            <a:avLst/>
          </a:prstGeom>
          <a:noFill/>
        </p:spPr>
        <p:txBody>
          <a:bodyPr wrap="square" rtlCol="0" anchor="t">
            <a:spAutoFit/>
          </a:bodyPr>
          <a:p>
            <a:r>
              <a:rPr lang="en-US" altLang="zh-CN" sz="5400" b="1" dirty="0">
                <a:solidFill>
                  <a:schemeClr val="accent2"/>
                </a:solidFill>
                <a:latin typeface="黑体" panose="02010609060101010101" pitchFamily="49" charset="-122"/>
                <a:ea typeface="黑体" panose="02010609060101010101" pitchFamily="49" charset="-122"/>
                <a:sym typeface="+mn-ea"/>
              </a:rPr>
              <a:t>{</a:t>
            </a:r>
            <a:endParaRPr lang="en-US" altLang="zh-CN" sz="5400" b="1" dirty="0">
              <a:solidFill>
                <a:schemeClr val="accent2"/>
              </a:solidFill>
              <a:latin typeface="黑体" panose="02010609060101010101" pitchFamily="49" charset="-122"/>
              <a:ea typeface="黑体" panose="02010609060101010101" pitchFamily="49" charset="-122"/>
              <a:sym typeface="+mn-ea"/>
            </a:endParaRPr>
          </a:p>
        </p:txBody>
      </p:sp>
      <p:graphicFrame>
        <p:nvGraphicFramePr>
          <p:cNvPr id="20" name="对象 19">
            <a:hlinkClick r:id="" action="ppaction://ole?verb="/>
          </p:cNvPr>
          <p:cNvGraphicFramePr>
            <a:graphicFrameLocks noChangeAspect="1"/>
          </p:cNvGraphicFramePr>
          <p:nvPr/>
        </p:nvGraphicFramePr>
        <p:xfrm>
          <a:off x="9870123" y="5313363"/>
          <a:ext cx="1502410" cy="849630"/>
        </p:xfrm>
        <a:graphic>
          <a:graphicData uri="http://schemas.openxmlformats.org/presentationml/2006/ole">
            <mc:AlternateContent xmlns:mc="http://schemas.openxmlformats.org/markup-compatibility/2006">
              <mc:Choice xmlns:v="urn:schemas-microsoft-com:vml" Requires="v">
                <p:oleObj spid="_x0000_s21" name="" r:id="rId9" imgW="774065" imgH="431800" progId="Equation.KSEE3">
                  <p:embed/>
                </p:oleObj>
              </mc:Choice>
              <mc:Fallback>
                <p:oleObj name="" r:id="rId9" imgW="774065" imgH="431800" progId="Equation.KSEE3">
                  <p:embed/>
                  <p:pic>
                    <p:nvPicPr>
                      <p:cNvPr id="0" name="图片 2048"/>
                      <p:cNvPicPr/>
                      <p:nvPr/>
                    </p:nvPicPr>
                    <p:blipFill>
                      <a:blip r:embed="rId10"/>
                      <a:stretch>
                        <a:fillRect/>
                      </a:stretch>
                    </p:blipFill>
                    <p:spPr>
                      <a:xfrm>
                        <a:off x="9870123" y="5313363"/>
                        <a:ext cx="1502410" cy="849630"/>
                      </a:xfrm>
                      <a:prstGeom prst="rect">
                        <a:avLst/>
                      </a:prstGeom>
                    </p:spPr>
                  </p:pic>
                </p:oleObj>
              </mc:Fallback>
            </mc:AlternateContent>
          </a:graphicData>
        </a:graphic>
      </p:graphicFrame>
      <p:sp>
        <p:nvSpPr>
          <p:cNvPr id="22" name="文本框 21"/>
          <p:cNvSpPr txBox="1"/>
          <p:nvPr/>
        </p:nvSpPr>
        <p:spPr>
          <a:xfrm>
            <a:off x="9426575" y="5292725"/>
            <a:ext cx="247015" cy="922020"/>
          </a:xfrm>
          <a:prstGeom prst="rect">
            <a:avLst/>
          </a:prstGeom>
          <a:noFill/>
        </p:spPr>
        <p:txBody>
          <a:bodyPr wrap="square" rtlCol="0" anchor="t">
            <a:spAutoFit/>
          </a:bodyPr>
          <a:p>
            <a:r>
              <a:rPr lang="en-US" altLang="zh-CN" sz="5400" b="1" dirty="0">
                <a:solidFill>
                  <a:schemeClr val="accent2"/>
                </a:solidFill>
                <a:latin typeface="黑体" panose="02010609060101010101" pitchFamily="49" charset="-122"/>
                <a:ea typeface="黑体" panose="02010609060101010101" pitchFamily="49" charset="-122"/>
                <a:sym typeface="+mn-ea"/>
              </a:rPr>
              <a:t>{</a:t>
            </a:r>
            <a:endParaRPr lang="en-US" altLang="zh-CN" sz="5400" b="1" dirty="0">
              <a:solidFill>
                <a:schemeClr val="accent2"/>
              </a:solidFill>
              <a:latin typeface="黑体" panose="02010609060101010101" pitchFamily="49" charset="-122"/>
              <a:ea typeface="黑体" panose="02010609060101010101" pitchFamily="49" charset="-122"/>
              <a:sym typeface="+mn-ea"/>
            </a:endParaRPr>
          </a:p>
        </p:txBody>
      </p:sp>
      <p:sp>
        <p:nvSpPr>
          <p:cNvPr id="9219" name="文本框 114821"/>
          <p:cNvSpPr txBox="1"/>
          <p:nvPr/>
        </p:nvSpPr>
        <p:spPr>
          <a:xfrm>
            <a:off x="8528685" y="2049145"/>
            <a:ext cx="3148965" cy="2676525"/>
          </a:xfrm>
          <a:prstGeom prst="rect">
            <a:avLst/>
          </a:prstGeom>
          <a:noFill/>
          <a:ln w="9525">
            <a:noFill/>
          </a:ln>
        </p:spPr>
        <p:txBody>
          <a:bodyPr wrap="square" anchor="t" anchorCtr="0">
            <a:spAutoFit/>
          </a:bodyPr>
          <a:p>
            <a:pPr algn="l" latinLnBrk="0">
              <a:lnSpc>
                <a:spcPct val="100000"/>
              </a:lnSpc>
              <a:spcBef>
                <a:spcPct val="50000"/>
              </a:spcBef>
              <a:buClrTx/>
              <a:buSzTx/>
              <a:buFontTx/>
            </a:pPr>
            <a:r>
              <a:rPr lang="zh-CN" sz="2400" b="1" spc="150">
                <a:solidFill>
                  <a:schemeClr val="accent6">
                    <a:lumMod val="75000"/>
                  </a:schemeClr>
                </a:solidFill>
                <a:uFillTx/>
                <a:sym typeface="+mn-ea"/>
              </a:rPr>
              <a:t>离散信源</a:t>
            </a:r>
            <a:r>
              <a:rPr sz="2400" spc="150">
                <a:solidFill>
                  <a:schemeClr val="tx1">
                    <a:lumMod val="65000"/>
                    <a:lumOff val="35000"/>
                  </a:schemeClr>
                </a:solidFill>
                <a:uFillTx/>
                <a:sym typeface="+mn-ea"/>
              </a:rPr>
              <a:t>：即图1中的信源和信源编码器</a:t>
            </a:r>
            <a:endParaRPr sz="2400" spc="150">
              <a:solidFill>
                <a:schemeClr val="tx1">
                  <a:lumMod val="65000"/>
                  <a:lumOff val="35000"/>
                </a:schemeClr>
              </a:solidFill>
              <a:uFillTx/>
            </a:endParaRPr>
          </a:p>
          <a:p>
            <a:pPr algn="l" latinLnBrk="0">
              <a:lnSpc>
                <a:spcPct val="100000"/>
              </a:lnSpc>
              <a:spcBef>
                <a:spcPct val="50000"/>
              </a:spcBef>
              <a:buClrTx/>
              <a:buSzTx/>
              <a:buFontTx/>
            </a:pPr>
            <a:r>
              <a:rPr lang="zh-CN" sz="2400" b="1" spc="150">
                <a:solidFill>
                  <a:schemeClr val="accent6">
                    <a:lumMod val="75000"/>
                  </a:schemeClr>
                </a:solidFill>
                <a:uFillTx/>
                <a:sym typeface="+mn-ea"/>
              </a:rPr>
              <a:t>编码信道</a:t>
            </a:r>
            <a:r>
              <a:rPr sz="2400" spc="150">
                <a:solidFill>
                  <a:schemeClr val="tx1">
                    <a:lumMod val="65000"/>
                    <a:lumOff val="35000"/>
                  </a:schemeClr>
                </a:solidFill>
                <a:uFillTx/>
                <a:sym typeface="+mn-ea"/>
              </a:rPr>
              <a:t>：调制器、实际信道和解调器</a:t>
            </a:r>
            <a:endParaRPr sz="2400" spc="150">
              <a:solidFill>
                <a:schemeClr val="tx1">
                  <a:lumMod val="65000"/>
                  <a:lumOff val="35000"/>
                </a:schemeClr>
              </a:solidFill>
              <a:uFillTx/>
            </a:endParaRPr>
          </a:p>
          <a:p>
            <a:pPr algn="l" latinLnBrk="0">
              <a:lnSpc>
                <a:spcPct val="100000"/>
              </a:lnSpc>
              <a:spcBef>
                <a:spcPct val="50000"/>
              </a:spcBef>
              <a:buClrTx/>
              <a:buSzTx/>
              <a:buFontTx/>
            </a:pPr>
            <a:r>
              <a:rPr lang="zh-CN" sz="2400" b="1" spc="150">
                <a:solidFill>
                  <a:schemeClr val="accent6">
                    <a:lumMod val="75000"/>
                  </a:schemeClr>
                </a:solidFill>
                <a:uFillTx/>
                <a:sym typeface="+mn-ea"/>
              </a:rPr>
              <a:t>信宿</a:t>
            </a:r>
            <a:r>
              <a:rPr sz="2400" spc="150">
                <a:solidFill>
                  <a:schemeClr val="tx1">
                    <a:lumMod val="65000"/>
                    <a:lumOff val="35000"/>
                  </a:schemeClr>
                </a:solidFill>
                <a:uFillTx/>
                <a:sym typeface="+mn-ea"/>
              </a:rPr>
              <a:t>：信源译码器和用户</a:t>
            </a:r>
            <a:endParaRPr sz="2400" spc="150">
              <a:solidFill>
                <a:schemeClr val="tx1">
                  <a:lumMod val="65000"/>
                  <a:lumOff val="35000"/>
                </a:schemeClr>
              </a:solidFill>
              <a:uFillTx/>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信道模型</a:t>
            </a:r>
            <a:endParaRPr lang="zh-CN" altLang="en-US"/>
          </a:p>
        </p:txBody>
      </p:sp>
      <p:sp>
        <p:nvSpPr>
          <p:cNvPr id="26626" name="矩形 142340"/>
          <p:cNvSpPr/>
          <p:nvPr/>
        </p:nvSpPr>
        <p:spPr>
          <a:xfrm>
            <a:off x="3563938" y="3036253"/>
            <a:ext cx="1944687" cy="935037"/>
          </a:xfrm>
          <a:prstGeom prst="rect">
            <a:avLst/>
          </a:prstGeom>
          <a:solidFill>
            <a:srgbClr val="92D050"/>
          </a:solidFill>
          <a:ln w="9525" cap="flat" cmpd="sng">
            <a:solidFill>
              <a:schemeClr val="tx1"/>
            </a:solidFill>
            <a:prstDash val="dash"/>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26627" name="文本框 142341"/>
          <p:cNvSpPr txBox="1"/>
          <p:nvPr/>
        </p:nvSpPr>
        <p:spPr>
          <a:xfrm>
            <a:off x="3851275" y="3252153"/>
            <a:ext cx="1295400" cy="457200"/>
          </a:xfrm>
          <a:prstGeom prst="rect">
            <a:avLst/>
          </a:prstGeom>
          <a:noFill/>
          <a:ln w="9525">
            <a:noFill/>
          </a:ln>
        </p:spPr>
        <p:txBody>
          <a:bodyPr anchor="t" anchorCtr="0">
            <a:spAutoFit/>
          </a:bodyPr>
          <a:p>
            <a:pPr algn="ctr">
              <a:spcBef>
                <a:spcPct val="50000"/>
              </a:spcBef>
            </a:pPr>
            <a:r>
              <a:rPr lang="zh-CN" altLang="en-US" sz="2400" dirty="0">
                <a:latin typeface="黑体" panose="02010609060101010101" pitchFamily="49" charset="-122"/>
                <a:ea typeface="黑体" panose="02010609060101010101" pitchFamily="49" charset="-122"/>
              </a:rPr>
              <a:t>信 道</a:t>
            </a:r>
            <a:endParaRPr lang="zh-CN" altLang="en-US" sz="2400" dirty="0">
              <a:latin typeface="黑体" panose="02010609060101010101" pitchFamily="49" charset="-122"/>
              <a:ea typeface="黑体" panose="02010609060101010101" pitchFamily="49" charset="-122"/>
            </a:endParaRPr>
          </a:p>
        </p:txBody>
      </p:sp>
      <p:sp>
        <p:nvSpPr>
          <p:cNvPr id="26628" name="直接连接符 142343"/>
          <p:cNvSpPr/>
          <p:nvPr/>
        </p:nvSpPr>
        <p:spPr>
          <a:xfrm>
            <a:off x="2124075" y="3468053"/>
            <a:ext cx="1439863" cy="0"/>
          </a:xfrm>
          <a:prstGeom prst="line">
            <a:avLst/>
          </a:prstGeom>
          <a:ln w="9525" cap="flat" cmpd="sng">
            <a:solidFill>
              <a:schemeClr val="tx1"/>
            </a:solidFill>
            <a:prstDash val="solid"/>
            <a:round/>
            <a:headEnd type="none" w="med" len="med"/>
            <a:tailEnd type="triangle" w="med" len="med"/>
          </a:ln>
        </p:spPr>
      </p:sp>
      <p:sp>
        <p:nvSpPr>
          <p:cNvPr id="26629" name="直接连接符 142344"/>
          <p:cNvSpPr/>
          <p:nvPr/>
        </p:nvSpPr>
        <p:spPr>
          <a:xfrm>
            <a:off x="5508625" y="3468053"/>
            <a:ext cx="1439863" cy="0"/>
          </a:xfrm>
          <a:prstGeom prst="line">
            <a:avLst/>
          </a:prstGeom>
          <a:ln w="9525" cap="flat" cmpd="sng">
            <a:solidFill>
              <a:schemeClr val="tx1"/>
            </a:solidFill>
            <a:prstDash val="solid"/>
            <a:round/>
            <a:headEnd type="none" w="med" len="med"/>
            <a:tailEnd type="triangle" w="med" len="med"/>
          </a:ln>
        </p:spPr>
      </p:sp>
      <p:sp>
        <p:nvSpPr>
          <p:cNvPr id="26630" name="文本框 142345"/>
          <p:cNvSpPr txBox="1"/>
          <p:nvPr/>
        </p:nvSpPr>
        <p:spPr>
          <a:xfrm>
            <a:off x="2482850" y="2939415"/>
            <a:ext cx="649288"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X</a:t>
            </a:r>
            <a:endParaRPr lang="en-US" altLang="zh-CN" sz="2400" b="1" i="1">
              <a:latin typeface="Times New Roman" panose="02020603050405020304" pitchFamily="18" charset="0"/>
              <a:ea typeface="宋体" panose="02010600030101010101" pitchFamily="2" charset="-122"/>
            </a:endParaRPr>
          </a:p>
        </p:txBody>
      </p:sp>
      <p:sp>
        <p:nvSpPr>
          <p:cNvPr id="26631" name="文本框 142346"/>
          <p:cNvSpPr txBox="1"/>
          <p:nvPr/>
        </p:nvSpPr>
        <p:spPr>
          <a:xfrm>
            <a:off x="5867400" y="2963228"/>
            <a:ext cx="649288"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Y</a:t>
            </a:r>
            <a:endParaRPr lang="en-US" altLang="zh-CN" sz="2400" b="1" i="1">
              <a:latin typeface="Times New Roman" panose="02020603050405020304" pitchFamily="18" charset="0"/>
              <a:ea typeface="宋体" panose="02010600030101010101" pitchFamily="2" charset="-122"/>
            </a:endParaRPr>
          </a:p>
        </p:txBody>
      </p:sp>
      <p:sp>
        <p:nvSpPr>
          <p:cNvPr id="26632" name="文本框 142347"/>
          <p:cNvSpPr txBox="1"/>
          <p:nvPr/>
        </p:nvSpPr>
        <p:spPr>
          <a:xfrm>
            <a:off x="3708400" y="2434590"/>
            <a:ext cx="1439863" cy="457200"/>
          </a:xfrm>
          <a:prstGeom prst="rect">
            <a:avLst/>
          </a:prstGeom>
          <a:noFill/>
          <a:ln w="9525">
            <a:noFill/>
          </a:ln>
        </p:spPr>
        <p:txBody>
          <a:bodyPr anchor="t" anchorCtr="0">
            <a:spAutoFit/>
          </a:bodyPr>
          <a:p>
            <a:pPr algn="ctr">
              <a:spcBef>
                <a:spcPct val="50000"/>
              </a:spcBef>
            </a:pPr>
            <a:r>
              <a:rPr lang="en-US" altLang="zh-CN" sz="2400" b="1" i="1">
                <a:latin typeface="Times New Roman" panose="02020603050405020304" pitchFamily="18" charset="0"/>
                <a:ea typeface="宋体" panose="02010600030101010101" pitchFamily="2" charset="-122"/>
              </a:rPr>
              <a:t>P</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Y</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X</a:t>
            </a: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16" name="文本框 114821"/>
          <p:cNvSpPr txBox="1"/>
          <p:nvPr/>
        </p:nvSpPr>
        <p:spPr>
          <a:xfrm>
            <a:off x="3607435" y="4187825"/>
            <a:ext cx="183388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3 </a:t>
            </a:r>
            <a:r>
              <a:rPr lang="zh-CN" altLang="en-US" b="1">
                <a:latin typeface="楷体" panose="02010609060101010101" charset="-122"/>
                <a:ea typeface="楷体" panose="02010609060101010101" charset="-122"/>
                <a:cs typeface="楷体" panose="02010609060101010101" charset="-122"/>
              </a:rPr>
              <a:t>信道</a:t>
            </a:r>
            <a:r>
              <a:rPr lang="zh-CN" altLang="en-US" b="1" dirty="0">
                <a:latin typeface="楷体" panose="02010609060101010101" charset="-122"/>
                <a:ea typeface="楷体" panose="02010609060101010101" charset="-122"/>
              </a:rPr>
              <a:t>模型</a:t>
            </a:r>
            <a:endParaRPr lang="zh-CN" altLang="en-US" b="1" dirty="0">
              <a:latin typeface="楷体" panose="02010609060101010101" charset="-122"/>
              <a:ea typeface="楷体" panose="02010609060101010101" charset="-122"/>
            </a:endParaRPr>
          </a:p>
        </p:txBody>
      </p:sp>
      <p:sp>
        <p:nvSpPr>
          <p:cNvPr id="6" name="文本框 114821"/>
          <p:cNvSpPr txBox="1"/>
          <p:nvPr/>
        </p:nvSpPr>
        <p:spPr>
          <a:xfrm>
            <a:off x="608965" y="1403985"/>
            <a:ext cx="11089005" cy="460375"/>
          </a:xfrm>
          <a:prstGeom prst="rect">
            <a:avLst/>
          </a:prstGeom>
          <a:noFill/>
          <a:ln w="9525">
            <a:noFill/>
          </a:ln>
        </p:spPr>
        <p:txBody>
          <a:bodyPr wrap="square" anchor="t" anchorCtr="0">
            <a:spAutoFit/>
          </a:bodyPr>
          <a:p>
            <a:pPr>
              <a:spcBef>
                <a:spcPct val="50000"/>
              </a:spcBef>
            </a:pPr>
            <a:r>
              <a:rPr sz="2400" spc="150">
                <a:solidFill>
                  <a:schemeClr val="tx1">
                    <a:lumMod val="65000"/>
                    <a:lumOff val="35000"/>
                  </a:schemeClr>
                </a:solidFill>
                <a:uFillTx/>
              </a:rPr>
              <a:t>设计通信系统的关键问题之一：如何解决可靠性和有效性(快速性)这对矛盾</a:t>
            </a:r>
            <a:r>
              <a:rPr lang="zh-CN" sz="2400" spc="150">
                <a:solidFill>
                  <a:schemeClr val="tx1">
                    <a:lumMod val="65000"/>
                    <a:lumOff val="35000"/>
                  </a:schemeClr>
                </a:solidFill>
                <a:uFillTx/>
              </a:rPr>
              <a:t>？</a:t>
            </a:r>
            <a:endParaRPr lang="zh-CN" sz="2400" spc="150">
              <a:solidFill>
                <a:schemeClr val="tx1">
                  <a:lumMod val="65000"/>
                  <a:lumOff val="35000"/>
                </a:schemeClr>
              </a:solidFill>
              <a:uFillTx/>
            </a:endParaRPr>
          </a:p>
        </p:txBody>
      </p:sp>
      <p:sp>
        <p:nvSpPr>
          <p:cNvPr id="9219" name="文本框 114821"/>
          <p:cNvSpPr txBox="1"/>
          <p:nvPr/>
        </p:nvSpPr>
        <p:spPr>
          <a:xfrm>
            <a:off x="7482205" y="2973705"/>
            <a:ext cx="3148965" cy="829945"/>
          </a:xfrm>
          <a:prstGeom prst="rect">
            <a:avLst/>
          </a:prstGeom>
          <a:noFill/>
          <a:ln w="9525">
            <a:noFill/>
          </a:ln>
        </p:spPr>
        <p:txBody>
          <a:bodyPr wrap="square" anchor="t" anchorCtr="0">
            <a:spAutoFit/>
          </a:bodyPr>
          <a:p>
            <a:pPr algn="l" latinLnBrk="0">
              <a:lnSpc>
                <a:spcPct val="100000"/>
              </a:lnSpc>
              <a:spcBef>
                <a:spcPct val="50000"/>
              </a:spcBef>
              <a:buClrTx/>
              <a:buSzTx/>
              <a:buFontTx/>
            </a:pPr>
            <a:r>
              <a:rPr sz="2400" spc="150">
                <a:solidFill>
                  <a:schemeClr val="tx1">
                    <a:lumMod val="65000"/>
                    <a:lumOff val="35000"/>
                  </a:schemeClr>
                </a:solidFill>
                <a:uFillTx/>
                <a:sym typeface="+mn-ea"/>
              </a:rPr>
              <a:t>条件概率 </a:t>
            </a:r>
            <a:r>
              <a:rPr sz="2400" i="1"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P</a:t>
            </a:r>
            <a:r>
              <a:rPr sz="2400"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a:t>
            </a:r>
            <a:r>
              <a:rPr sz="2400" i="1"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Y</a:t>
            </a:r>
            <a:r>
              <a:rPr sz="2400"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a:t>
            </a:r>
            <a:r>
              <a:rPr sz="2400" i="1"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X</a:t>
            </a:r>
            <a:r>
              <a:rPr sz="2400"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a:t>
            </a:r>
            <a:r>
              <a:rPr sz="2400" spc="150">
                <a:solidFill>
                  <a:schemeClr val="tx1">
                    <a:lumMod val="65000"/>
                    <a:lumOff val="35000"/>
                  </a:schemeClr>
                </a:solidFill>
                <a:uFillTx/>
                <a:sym typeface="+mn-ea"/>
              </a:rPr>
              <a:t> </a:t>
            </a:r>
            <a:r>
              <a:rPr lang="zh-CN" sz="2400" spc="150">
                <a:solidFill>
                  <a:schemeClr val="tx1">
                    <a:lumMod val="65000"/>
                    <a:lumOff val="35000"/>
                  </a:schemeClr>
                </a:solidFill>
                <a:uFillTx/>
                <a:sym typeface="+mn-ea"/>
              </a:rPr>
              <a:t>，也叫做</a:t>
            </a:r>
            <a:r>
              <a:rPr lang="zh-CN" sz="2400" b="1" spc="150">
                <a:solidFill>
                  <a:schemeClr val="accent6">
                    <a:lumMod val="75000"/>
                  </a:schemeClr>
                </a:solidFill>
                <a:uFillTx/>
                <a:sym typeface="+mn-ea"/>
              </a:rPr>
              <a:t>似然函数</a:t>
            </a:r>
            <a:endParaRPr sz="2400" spc="150">
              <a:solidFill>
                <a:schemeClr val="tx1">
                  <a:lumMod val="65000"/>
                  <a:lumOff val="35000"/>
                </a:schemeClr>
              </a:solidFill>
              <a:uFillTx/>
              <a:sym typeface="+mn-ea"/>
            </a:endParaRPr>
          </a:p>
        </p:txBody>
      </p:sp>
      <p:graphicFrame>
        <p:nvGraphicFramePr>
          <p:cNvPr id="7" name="对象 6">
            <a:hlinkClick r:id="" action="ppaction://ole?verb="/>
          </p:cNvPr>
          <p:cNvGraphicFramePr>
            <a:graphicFrameLocks noChangeAspect="1"/>
          </p:cNvGraphicFramePr>
          <p:nvPr/>
        </p:nvGraphicFramePr>
        <p:xfrm>
          <a:off x="2551748" y="4957763"/>
          <a:ext cx="2513330" cy="449580"/>
        </p:xfrm>
        <a:graphic>
          <a:graphicData uri="http://schemas.openxmlformats.org/presentationml/2006/ole">
            <mc:AlternateContent xmlns:mc="http://schemas.openxmlformats.org/markup-compatibility/2006">
              <mc:Choice xmlns:v="urn:schemas-microsoft-com:vml" Requires="v">
                <p:oleObj spid="_x0000_s2049" name="" r:id="rId1" imgW="1295400" imgH="228600" progId="Equation.KSEE3">
                  <p:embed/>
                </p:oleObj>
              </mc:Choice>
              <mc:Fallback>
                <p:oleObj name="" r:id="rId1" imgW="1295400" imgH="228600" progId="Equation.KSEE3">
                  <p:embed/>
                  <p:pic>
                    <p:nvPicPr>
                      <p:cNvPr id="0" name="图片 2048"/>
                      <p:cNvPicPr/>
                      <p:nvPr/>
                    </p:nvPicPr>
                    <p:blipFill>
                      <a:blip r:embed="rId2"/>
                      <a:stretch>
                        <a:fillRect/>
                      </a:stretch>
                    </p:blipFill>
                    <p:spPr>
                      <a:xfrm>
                        <a:off x="2551748" y="4957763"/>
                        <a:ext cx="2513330" cy="44958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2527301" y="5613718"/>
          <a:ext cx="2513965" cy="449580"/>
        </p:xfrm>
        <a:graphic>
          <a:graphicData uri="http://schemas.openxmlformats.org/presentationml/2006/ole">
            <mc:AlternateContent xmlns:mc="http://schemas.openxmlformats.org/markup-compatibility/2006">
              <mc:Choice xmlns:v="urn:schemas-microsoft-com:vml" Requires="v">
                <p:oleObj spid="_x0000_s9" name="" r:id="rId3" imgW="1295400" imgH="228600" progId="Equation.KSEE3">
                  <p:embed/>
                </p:oleObj>
              </mc:Choice>
              <mc:Fallback>
                <p:oleObj name="" r:id="rId3" imgW="1295400" imgH="228600" progId="Equation.KSEE3">
                  <p:embed/>
                  <p:pic>
                    <p:nvPicPr>
                      <p:cNvPr id="0" name="图片 2048"/>
                      <p:cNvPicPr/>
                      <p:nvPr/>
                    </p:nvPicPr>
                    <p:blipFill>
                      <a:blip r:embed="rId4"/>
                      <a:stretch>
                        <a:fillRect/>
                      </a:stretch>
                    </p:blipFill>
                    <p:spPr>
                      <a:xfrm>
                        <a:off x="2527301" y="5613718"/>
                        <a:ext cx="2513965" cy="44958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6323013" y="5040313"/>
          <a:ext cx="1502410" cy="849630"/>
        </p:xfrm>
        <a:graphic>
          <a:graphicData uri="http://schemas.openxmlformats.org/presentationml/2006/ole">
            <mc:AlternateContent xmlns:mc="http://schemas.openxmlformats.org/markup-compatibility/2006">
              <mc:Choice xmlns:v="urn:schemas-microsoft-com:vml" Requires="v">
                <p:oleObj spid="_x0000_s11" name="" r:id="rId5" imgW="774065" imgH="431800" progId="Equation.KSEE3">
                  <p:embed/>
                </p:oleObj>
              </mc:Choice>
              <mc:Fallback>
                <p:oleObj name="" r:id="rId5" imgW="774065" imgH="431800" progId="Equation.KSEE3">
                  <p:embed/>
                  <p:pic>
                    <p:nvPicPr>
                      <p:cNvPr id="0" name="图片 2048"/>
                      <p:cNvPicPr/>
                      <p:nvPr/>
                    </p:nvPicPr>
                    <p:blipFill>
                      <a:blip r:embed="rId6"/>
                      <a:stretch>
                        <a:fillRect/>
                      </a:stretch>
                    </p:blipFill>
                    <p:spPr>
                      <a:xfrm>
                        <a:off x="6323013" y="5040313"/>
                        <a:ext cx="1502410" cy="849630"/>
                      </a:xfrm>
                      <a:prstGeom prst="rect">
                        <a:avLst/>
                      </a:prstGeom>
                    </p:spPr>
                  </p:pic>
                </p:oleObj>
              </mc:Fallback>
            </mc:AlternateContent>
          </a:graphicData>
        </a:graphic>
      </p:graphicFrame>
      <p:sp>
        <p:nvSpPr>
          <p:cNvPr id="15" name="文本框 14"/>
          <p:cNvSpPr txBox="1"/>
          <p:nvPr/>
        </p:nvSpPr>
        <p:spPr>
          <a:xfrm>
            <a:off x="5879465" y="5019675"/>
            <a:ext cx="247015" cy="922020"/>
          </a:xfrm>
          <a:prstGeom prst="rect">
            <a:avLst/>
          </a:prstGeom>
          <a:noFill/>
        </p:spPr>
        <p:txBody>
          <a:bodyPr wrap="square" rtlCol="0" anchor="t">
            <a:spAutoFit/>
          </a:bodyPr>
          <a:p>
            <a:r>
              <a:rPr lang="en-US" altLang="zh-CN" sz="5400" b="1" dirty="0">
                <a:solidFill>
                  <a:schemeClr val="accent2"/>
                </a:solidFill>
                <a:latin typeface="黑体" panose="02010609060101010101" pitchFamily="49" charset="-122"/>
                <a:ea typeface="黑体" panose="02010609060101010101" pitchFamily="49" charset="-122"/>
                <a:sym typeface="+mn-ea"/>
              </a:rPr>
              <a:t>{</a:t>
            </a:r>
            <a:endParaRPr lang="en-US" altLang="zh-CN" sz="5400" b="1" dirty="0">
              <a:solidFill>
                <a:schemeClr val="accent2"/>
              </a:solidFill>
              <a:latin typeface="黑体" panose="02010609060101010101" pitchFamily="49" charset="-122"/>
              <a:ea typeface="黑体" panose="02010609060101010101" pitchFamily="49" charset="-122"/>
              <a:sym typeface="+mn-ea"/>
            </a:endParaRPr>
          </a:p>
        </p:txBody>
      </p:sp>
      <p:sp>
        <p:nvSpPr>
          <p:cNvPr id="12" name="文本框 11"/>
          <p:cNvSpPr txBox="1"/>
          <p:nvPr/>
        </p:nvSpPr>
        <p:spPr>
          <a:xfrm>
            <a:off x="1924050" y="4892040"/>
            <a:ext cx="267970" cy="1198880"/>
          </a:xfrm>
          <a:prstGeom prst="rect">
            <a:avLst/>
          </a:prstGeom>
          <a:noFill/>
        </p:spPr>
        <p:txBody>
          <a:bodyPr wrap="square" rtlCol="0" anchor="t">
            <a:spAutoFit/>
          </a:bodyPr>
          <a:p>
            <a:r>
              <a:rPr lang="en-US" altLang="zh-CN" sz="7200" b="1" dirty="0">
                <a:solidFill>
                  <a:schemeClr val="accent2"/>
                </a:solidFill>
                <a:latin typeface="黑体" panose="02010609060101010101" pitchFamily="49" charset="-122"/>
                <a:ea typeface="黑体" panose="02010609060101010101" pitchFamily="49" charset="-122"/>
                <a:sym typeface="+mn-ea"/>
              </a:rPr>
              <a:t>{</a:t>
            </a:r>
            <a:endParaRPr lang="en-US" altLang="zh-CN" sz="7200" b="1" dirty="0">
              <a:solidFill>
                <a:schemeClr val="accent2"/>
              </a:solidFill>
              <a:latin typeface="黑体" panose="02010609060101010101" pitchFamily="49" charset="-122"/>
              <a:ea typeface="黑体" panose="02010609060101010101" pitchFamily="49" charset="-122"/>
              <a:sym typeface="+mn-ea"/>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无记忆信道和有记忆信道</a:t>
            </a:r>
            <a:endParaRPr lang="zh-CN" altLang="en-US"/>
          </a:p>
        </p:txBody>
      </p:sp>
      <p:sp>
        <p:nvSpPr>
          <p:cNvPr id="6" name="文本框 114821"/>
          <p:cNvSpPr txBox="1"/>
          <p:nvPr/>
        </p:nvSpPr>
        <p:spPr>
          <a:xfrm>
            <a:off x="608965" y="1607185"/>
            <a:ext cx="11089005" cy="1198880"/>
          </a:xfrm>
          <a:prstGeom prst="rect">
            <a:avLst/>
          </a:prstGeom>
          <a:noFill/>
          <a:ln w="9525">
            <a:noFill/>
          </a:ln>
        </p:spPr>
        <p:txBody>
          <a:bodyPr wrap="square" anchor="t" anchorCtr="0">
            <a:spAutoFit/>
          </a:bodyPr>
          <a:p>
            <a:pPr>
              <a:spcBef>
                <a:spcPct val="50000"/>
              </a:spcBef>
            </a:pPr>
            <a:r>
              <a:rPr lang="zh-CN" sz="2400" b="1" spc="150">
                <a:solidFill>
                  <a:schemeClr val="accent6">
                    <a:lumMod val="75000"/>
                  </a:schemeClr>
                </a:solidFill>
                <a:uFillTx/>
              </a:rPr>
              <a:t>无记忆信道</a:t>
            </a:r>
            <a:r>
              <a:rPr lang="zh-CN" sz="2400" spc="150">
                <a:solidFill>
                  <a:schemeClr val="tx1">
                    <a:lumMod val="65000"/>
                    <a:lumOff val="35000"/>
                  </a:schemeClr>
                </a:solidFill>
                <a:uFillTx/>
              </a:rPr>
              <a:t>：如果在给定时间间隔上，检测器的输出只与在该时间间隔上传送的信号有关，而与任何前面时间的传送的信号无关，称此信道为无记忆信道。该信道</a:t>
            </a:r>
            <a:r>
              <a:rPr lang="zh-CN" sz="2400" spc="150">
                <a:solidFill>
                  <a:schemeClr val="tx1">
                    <a:lumMod val="65000"/>
                    <a:lumOff val="35000"/>
                  </a:schemeClr>
                </a:solidFill>
                <a:uFillTx/>
              </a:rPr>
              <a:t>可以用如下公式</a:t>
            </a:r>
            <a:r>
              <a:rPr lang="zh-CN" sz="2400" spc="150">
                <a:solidFill>
                  <a:schemeClr val="tx1">
                    <a:lumMod val="65000"/>
                    <a:lumOff val="35000"/>
                  </a:schemeClr>
                </a:solidFill>
                <a:uFillTx/>
              </a:rPr>
              <a:t>表示：</a:t>
            </a:r>
            <a:endParaRPr lang="zh-CN" sz="2400" spc="150">
              <a:solidFill>
                <a:schemeClr val="tx1">
                  <a:lumMod val="65000"/>
                  <a:lumOff val="35000"/>
                </a:schemeClr>
              </a:solidFill>
              <a:uFillTx/>
            </a:endParaRPr>
          </a:p>
        </p:txBody>
      </p:sp>
      <p:graphicFrame>
        <p:nvGraphicFramePr>
          <p:cNvPr id="7" name="对象 6">
            <a:hlinkClick r:id="" action="ppaction://ole?verb="/>
          </p:cNvPr>
          <p:cNvGraphicFramePr>
            <a:graphicFrameLocks noChangeAspect="1"/>
          </p:cNvGraphicFramePr>
          <p:nvPr/>
        </p:nvGraphicFramePr>
        <p:xfrm>
          <a:off x="3853815" y="3038475"/>
          <a:ext cx="4222750" cy="780415"/>
        </p:xfrm>
        <a:graphic>
          <a:graphicData uri="http://schemas.openxmlformats.org/presentationml/2006/ole">
            <mc:AlternateContent xmlns:mc="http://schemas.openxmlformats.org/markup-compatibility/2006">
              <mc:Choice xmlns:v="urn:schemas-microsoft-com:vml" Requires="v">
                <p:oleObj spid="_x0000_s8" name="" r:id="rId1" imgW="1459865" imgH="292100" progId="Equation.KSEE3">
                  <p:embed/>
                </p:oleObj>
              </mc:Choice>
              <mc:Fallback>
                <p:oleObj name="" r:id="rId1" imgW="1459865" imgH="292100" progId="Equation.KSEE3">
                  <p:embed/>
                  <p:pic>
                    <p:nvPicPr>
                      <p:cNvPr id="0" name="图片 2048"/>
                      <p:cNvPicPr/>
                      <p:nvPr/>
                    </p:nvPicPr>
                    <p:blipFill>
                      <a:blip r:embed="rId2"/>
                      <a:stretch>
                        <a:fillRect/>
                      </a:stretch>
                    </p:blipFill>
                    <p:spPr>
                      <a:xfrm>
                        <a:off x="3853815" y="3038475"/>
                        <a:ext cx="4222750" cy="780415"/>
                      </a:xfrm>
                      <a:prstGeom prst="rect">
                        <a:avLst/>
                      </a:prstGeom>
                    </p:spPr>
                  </p:pic>
                </p:oleObj>
              </mc:Fallback>
            </mc:AlternateContent>
          </a:graphicData>
        </a:graphic>
      </p:graphicFrame>
      <p:sp>
        <p:nvSpPr>
          <p:cNvPr id="9" name="文本框 114821"/>
          <p:cNvSpPr txBox="1"/>
          <p:nvPr/>
        </p:nvSpPr>
        <p:spPr>
          <a:xfrm>
            <a:off x="603885" y="3928745"/>
            <a:ext cx="11089005" cy="829945"/>
          </a:xfrm>
          <a:prstGeom prst="rect">
            <a:avLst/>
          </a:prstGeom>
          <a:noFill/>
          <a:ln w="9525">
            <a:noFill/>
          </a:ln>
        </p:spPr>
        <p:txBody>
          <a:bodyPr wrap="square" anchor="t" anchorCtr="0">
            <a:spAutoFit/>
          </a:bodyPr>
          <a:p>
            <a:pPr>
              <a:spcBef>
                <a:spcPct val="50000"/>
              </a:spcBef>
            </a:pPr>
            <a:r>
              <a:rPr lang="zh-CN" sz="2400" b="1" spc="150">
                <a:solidFill>
                  <a:schemeClr val="accent6">
                    <a:lumMod val="75000"/>
                  </a:schemeClr>
                </a:solidFill>
                <a:uFillTx/>
              </a:rPr>
              <a:t>有记忆信道</a:t>
            </a:r>
            <a:r>
              <a:rPr lang="zh-CN" sz="2400" spc="150">
                <a:solidFill>
                  <a:schemeClr val="tx1">
                    <a:lumMod val="65000"/>
                    <a:lumOff val="35000"/>
                  </a:schemeClr>
                </a:solidFill>
                <a:uFillTx/>
              </a:rPr>
              <a:t>：一种</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M</a:t>
            </a:r>
            <a:r>
              <a:rPr lang="zh-CN" sz="2400" spc="150">
                <a:solidFill>
                  <a:schemeClr val="tx1">
                    <a:lumMod val="65000"/>
                    <a:lumOff val="35000"/>
                  </a:schemeClr>
                </a:solidFill>
                <a:uFillTx/>
              </a:rPr>
              <a:t>元输入、</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Q</a:t>
            </a:r>
            <a:r>
              <a:rPr lang="zh-CN" sz="2400" spc="150">
                <a:solidFill>
                  <a:schemeClr val="tx1">
                    <a:lumMod val="65000"/>
                    <a:lumOff val="35000"/>
                  </a:schemeClr>
                </a:solidFill>
                <a:uFillTx/>
              </a:rPr>
              <a:t>元输出的信道模型。该信道</a:t>
            </a:r>
            <a:r>
              <a:rPr lang="zh-CN" sz="2400" spc="150">
                <a:solidFill>
                  <a:schemeClr val="tx1">
                    <a:lumMod val="65000"/>
                    <a:lumOff val="35000"/>
                  </a:schemeClr>
                </a:solidFill>
                <a:uFillTx/>
              </a:rPr>
              <a:t>可以用如下公式</a:t>
            </a:r>
            <a:r>
              <a:rPr lang="zh-CN" sz="2400" spc="150">
                <a:solidFill>
                  <a:schemeClr val="tx1">
                    <a:lumMod val="65000"/>
                    <a:lumOff val="35000"/>
                  </a:schemeClr>
                </a:solidFill>
                <a:uFillTx/>
              </a:rPr>
              <a:t>表示：</a:t>
            </a:r>
            <a:endParaRPr lang="zh-CN" sz="2400" spc="150">
              <a:solidFill>
                <a:schemeClr val="tx1">
                  <a:lumMod val="65000"/>
                  <a:lumOff val="35000"/>
                </a:schemeClr>
              </a:solidFill>
              <a:uFillTx/>
            </a:endParaRPr>
          </a:p>
        </p:txBody>
      </p:sp>
      <p:graphicFrame>
        <p:nvGraphicFramePr>
          <p:cNvPr id="10" name="对象 9">
            <a:hlinkClick r:id="" action="ppaction://ole?verb="/>
          </p:cNvPr>
          <p:cNvGraphicFramePr>
            <a:graphicFrameLocks noChangeAspect="1"/>
          </p:cNvGraphicFramePr>
          <p:nvPr/>
        </p:nvGraphicFramePr>
        <p:xfrm>
          <a:off x="3981450" y="4758690"/>
          <a:ext cx="3967480" cy="1052195"/>
        </p:xfrm>
        <a:graphic>
          <a:graphicData uri="http://schemas.openxmlformats.org/presentationml/2006/ole">
            <mc:AlternateContent xmlns:mc="http://schemas.openxmlformats.org/markup-compatibility/2006">
              <mc:Choice xmlns:v="urn:schemas-microsoft-com:vml" Requires="v">
                <p:oleObj spid="_x0000_s12" name="" r:id="rId3" imgW="1371600" imgH="393700" progId="Equation.KSEE3">
                  <p:embed/>
                </p:oleObj>
              </mc:Choice>
              <mc:Fallback>
                <p:oleObj name="" r:id="rId3" imgW="1371600" imgH="393700" progId="Equation.KSEE3">
                  <p:embed/>
                  <p:pic>
                    <p:nvPicPr>
                      <p:cNvPr id="0" name="图片 2048"/>
                      <p:cNvPicPr/>
                      <p:nvPr/>
                    </p:nvPicPr>
                    <p:blipFill>
                      <a:blip r:embed="rId4"/>
                      <a:stretch>
                        <a:fillRect/>
                      </a:stretch>
                    </p:blipFill>
                    <p:spPr>
                      <a:xfrm>
                        <a:off x="3981450" y="4758690"/>
                        <a:ext cx="3967480" cy="105219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离散无记忆(DMC)信道</a:t>
            </a:r>
            <a:endParaRPr lang="zh-CN" altLang="en-US"/>
          </a:p>
        </p:txBody>
      </p:sp>
      <p:sp>
        <p:nvSpPr>
          <p:cNvPr id="5" name="文本框 114821"/>
          <p:cNvSpPr txBox="1"/>
          <p:nvPr/>
        </p:nvSpPr>
        <p:spPr>
          <a:xfrm>
            <a:off x="1076325" y="1403985"/>
            <a:ext cx="6228080" cy="460375"/>
          </a:xfrm>
          <a:prstGeom prst="rect">
            <a:avLst/>
          </a:prstGeom>
          <a:noFill/>
          <a:ln w="9525">
            <a:noFill/>
          </a:ln>
        </p:spPr>
        <p:txBody>
          <a:bodyPr wrap="square" anchor="t" anchorCtr="0">
            <a:spAutoFit/>
          </a:bodyPr>
          <a:p>
            <a:pPr>
              <a:spcBef>
                <a:spcPct val="50000"/>
              </a:spcBef>
            </a:pPr>
            <a:r>
              <a:rPr sz="2400" spc="150">
                <a:solidFill>
                  <a:schemeClr val="tx1">
                    <a:lumMod val="65000"/>
                    <a:lumOff val="35000"/>
                  </a:schemeClr>
                </a:solidFill>
                <a:uFillTx/>
              </a:rPr>
              <a:t>是一种</a:t>
            </a:r>
            <a:r>
              <a:rPr sz="2400" i="1" spc="150">
                <a:solidFill>
                  <a:schemeClr val="tx1">
                    <a:lumMod val="65000"/>
                    <a:lumOff val="35000"/>
                  </a:schemeClr>
                </a:solidFill>
                <a:uFillTx/>
                <a:latin typeface="Times New Roman" panose="02020603050405020304" pitchFamily="18" charset="0"/>
                <a:cs typeface="Times New Roman" panose="02020603050405020304" pitchFamily="18" charset="0"/>
              </a:rPr>
              <a:t>M</a:t>
            </a:r>
            <a:r>
              <a:rPr sz="2400" spc="150">
                <a:solidFill>
                  <a:schemeClr val="tx1">
                    <a:lumMod val="65000"/>
                    <a:lumOff val="35000"/>
                  </a:schemeClr>
                </a:solidFill>
                <a:uFillTx/>
              </a:rPr>
              <a:t>元输入、</a:t>
            </a:r>
            <a:r>
              <a:rPr sz="2400" i="1" spc="150">
                <a:solidFill>
                  <a:schemeClr val="tx1">
                    <a:lumMod val="65000"/>
                    <a:lumOff val="35000"/>
                  </a:schemeClr>
                </a:solidFill>
                <a:uFillTx/>
                <a:latin typeface="Times New Roman" panose="02020603050405020304" pitchFamily="18" charset="0"/>
                <a:cs typeface="Times New Roman" panose="02020603050405020304" pitchFamily="18" charset="0"/>
              </a:rPr>
              <a:t>Q</a:t>
            </a:r>
            <a:r>
              <a:rPr sz="2400" spc="150">
                <a:solidFill>
                  <a:schemeClr val="tx1">
                    <a:lumMod val="65000"/>
                    <a:lumOff val="35000"/>
                  </a:schemeClr>
                </a:solidFill>
                <a:uFillTx/>
              </a:rPr>
              <a:t>元输出的信道模型</a:t>
            </a:r>
            <a:r>
              <a:rPr lang="zh-CN" sz="2400" spc="150">
                <a:solidFill>
                  <a:schemeClr val="tx1">
                    <a:lumMod val="65000"/>
                    <a:lumOff val="35000"/>
                  </a:schemeClr>
                </a:solidFill>
                <a:uFillTx/>
              </a:rPr>
              <a:t>。</a:t>
            </a:r>
            <a:endParaRPr lang="zh-CN" sz="2400" spc="150">
              <a:solidFill>
                <a:schemeClr val="tx1">
                  <a:lumMod val="65000"/>
                  <a:lumOff val="35000"/>
                </a:schemeClr>
              </a:solidFill>
              <a:uFillTx/>
            </a:endParaRPr>
          </a:p>
        </p:txBody>
      </p:sp>
      <p:sp>
        <p:nvSpPr>
          <p:cNvPr id="6" name="文本框 114821"/>
          <p:cNvSpPr txBox="1"/>
          <p:nvPr/>
        </p:nvSpPr>
        <p:spPr>
          <a:xfrm>
            <a:off x="694690" y="2069465"/>
            <a:ext cx="11035665" cy="829945"/>
          </a:xfrm>
          <a:prstGeom prst="rect">
            <a:avLst/>
          </a:prstGeom>
          <a:noFill/>
          <a:ln w="9525">
            <a:noFill/>
          </a:ln>
        </p:spPr>
        <p:txBody>
          <a:bodyPr wrap="square" anchor="t" anchorCtr="0">
            <a:spAutoFit/>
          </a:bodyPr>
          <a:p>
            <a:pPr>
              <a:spcBef>
                <a:spcPct val="50000"/>
              </a:spcBef>
            </a:pPr>
            <a:r>
              <a:rPr lang="zh-CN" sz="2400" b="1" spc="150">
                <a:solidFill>
                  <a:schemeClr val="accent6">
                    <a:lumMod val="75000"/>
                  </a:schemeClr>
                </a:solidFill>
                <a:uFillTx/>
              </a:rPr>
              <a:t>条件概率</a:t>
            </a:r>
            <a:r>
              <a:rPr lang="zh-CN" sz="2400" b="1" i="1" spc="150">
                <a:solidFill>
                  <a:schemeClr val="accent6">
                    <a:lumMod val="75000"/>
                  </a:schemeClr>
                </a:solidFill>
                <a:uFillTx/>
                <a:latin typeface="Times New Roman" panose="02020603050405020304" pitchFamily="18" charset="0"/>
                <a:cs typeface="Times New Roman" panose="02020603050405020304" pitchFamily="18" charset="0"/>
              </a:rPr>
              <a:t>P</a:t>
            </a:r>
            <a:r>
              <a:rPr lang="zh-CN" sz="2400" b="1" spc="150">
                <a:solidFill>
                  <a:schemeClr val="accent6">
                    <a:lumMod val="75000"/>
                  </a:schemeClr>
                </a:solidFill>
                <a:uFillTx/>
              </a:rPr>
              <a:t>(</a:t>
            </a:r>
            <a:r>
              <a:rPr lang="zh-CN" sz="2400" b="1" i="1" spc="150">
                <a:solidFill>
                  <a:schemeClr val="accent6">
                    <a:lumMod val="75000"/>
                  </a:schemeClr>
                </a:solidFill>
                <a:uFillTx/>
                <a:latin typeface="Times New Roman" panose="02020603050405020304" pitchFamily="18" charset="0"/>
                <a:cs typeface="Times New Roman" panose="02020603050405020304" pitchFamily="18" charset="0"/>
              </a:rPr>
              <a:t>Y</a:t>
            </a:r>
            <a:r>
              <a:rPr lang="zh-CN" sz="2400" b="1" spc="150">
                <a:solidFill>
                  <a:schemeClr val="accent6">
                    <a:lumMod val="75000"/>
                  </a:schemeClr>
                </a:solidFill>
                <a:uFillTx/>
              </a:rPr>
              <a:t>/</a:t>
            </a:r>
            <a:r>
              <a:rPr lang="zh-CN" sz="2400" b="1" i="1" spc="150">
                <a:solidFill>
                  <a:schemeClr val="accent6">
                    <a:lumMod val="75000"/>
                  </a:schemeClr>
                </a:solidFill>
                <a:uFillTx/>
                <a:latin typeface="Times New Roman" panose="02020603050405020304" pitchFamily="18" charset="0"/>
                <a:cs typeface="Times New Roman" panose="02020603050405020304" pitchFamily="18" charset="0"/>
              </a:rPr>
              <a:t>X</a:t>
            </a:r>
            <a:r>
              <a:rPr lang="zh-CN" sz="2400" b="1" spc="150">
                <a:solidFill>
                  <a:schemeClr val="accent6">
                    <a:lumMod val="75000"/>
                  </a:schemeClr>
                </a:solidFill>
                <a:uFillTx/>
              </a:rPr>
              <a:t>)</a:t>
            </a:r>
            <a:r>
              <a:rPr lang="zh-CN" sz="2400" spc="150">
                <a:solidFill>
                  <a:schemeClr val="tx1">
                    <a:lumMod val="65000"/>
                    <a:lumOff val="35000"/>
                  </a:schemeClr>
                </a:solidFill>
                <a:uFillTx/>
              </a:rPr>
              <a:t>是</a:t>
            </a:r>
            <a:r>
              <a:rPr lang="zh-CN" sz="2400" spc="150">
                <a:solidFill>
                  <a:schemeClr val="tx1">
                    <a:lumMod val="65000"/>
                    <a:lumOff val="35000"/>
                  </a:schemeClr>
                </a:solidFill>
                <a:uFillTx/>
                <a:sym typeface="+mn-ea"/>
              </a:rPr>
              <a:t>描述</a:t>
            </a:r>
            <a:r>
              <a:rPr lang="zh-CN" sz="2400" spc="150">
                <a:solidFill>
                  <a:schemeClr val="tx1">
                    <a:lumMod val="65000"/>
                    <a:lumOff val="35000"/>
                  </a:schemeClr>
                </a:solidFill>
                <a:uFillTx/>
              </a:rPr>
              <a:t>该信道的最好方式，也叫做转移概率，其中</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X</a:t>
            </a:r>
            <a:r>
              <a:rPr lang="zh-CN" sz="2400" spc="150">
                <a:solidFill>
                  <a:schemeClr val="tx1">
                    <a:lumMod val="65000"/>
                    <a:lumOff val="35000"/>
                  </a:schemeClr>
                </a:solidFill>
                <a:uFillTx/>
              </a:rPr>
              <a:t>表示调制器输入符号，</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Y</a:t>
            </a:r>
            <a:r>
              <a:rPr lang="zh-CN" sz="2400" spc="150">
                <a:solidFill>
                  <a:schemeClr val="tx1">
                    <a:lumMod val="65000"/>
                    <a:lumOff val="35000"/>
                  </a:schemeClr>
                </a:solidFill>
                <a:uFillTx/>
              </a:rPr>
              <a:t>表示解调器输出符号，</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P</a:t>
            </a:r>
            <a:r>
              <a:rPr lang="zh-CN" sz="2400" spc="150">
                <a:solidFill>
                  <a:schemeClr val="tx1">
                    <a:lumMod val="65000"/>
                    <a:lumOff val="35000"/>
                  </a:schemeClr>
                </a:solidFill>
                <a:uFillTx/>
                <a:sym typeface="+mn-ea"/>
              </a:rPr>
              <a:t>(</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Y</a:t>
            </a:r>
            <a:r>
              <a:rPr lang="zh-CN" sz="2400" spc="150">
                <a:solidFill>
                  <a:schemeClr val="tx1">
                    <a:lumMod val="65000"/>
                    <a:lumOff val="35000"/>
                  </a:schemeClr>
                </a:solidFill>
                <a:uFillTx/>
                <a:sym typeface="+mn-ea"/>
              </a:rPr>
              <a:t>/</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sym typeface="+mn-ea"/>
              </a:rPr>
              <a:t>X</a:t>
            </a:r>
            <a:r>
              <a:rPr lang="zh-CN" sz="2400" spc="150">
                <a:solidFill>
                  <a:schemeClr val="tx1">
                    <a:lumMod val="65000"/>
                    <a:lumOff val="35000"/>
                  </a:schemeClr>
                </a:solidFill>
                <a:uFillTx/>
                <a:sym typeface="+mn-ea"/>
              </a:rPr>
              <a:t>)</a:t>
            </a:r>
            <a:r>
              <a:rPr lang="zh-CN" sz="2400" spc="150">
                <a:solidFill>
                  <a:schemeClr val="tx1">
                    <a:lumMod val="65000"/>
                    <a:lumOff val="35000"/>
                  </a:schemeClr>
                </a:solidFill>
                <a:uFillTx/>
              </a:rPr>
              <a:t>表示发送为</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X</a:t>
            </a:r>
            <a:r>
              <a:rPr lang="zh-CN" sz="2400" spc="150">
                <a:solidFill>
                  <a:schemeClr val="tx1">
                    <a:lumMod val="65000"/>
                    <a:lumOff val="35000"/>
                  </a:schemeClr>
                </a:solidFill>
                <a:uFillTx/>
              </a:rPr>
              <a:t>接收为</a:t>
            </a:r>
            <a:r>
              <a:rPr lang="zh-CN" sz="2400" i="1" spc="150">
                <a:solidFill>
                  <a:schemeClr val="tx1">
                    <a:lumMod val="65000"/>
                    <a:lumOff val="35000"/>
                  </a:schemeClr>
                </a:solidFill>
                <a:uFillTx/>
                <a:latin typeface="Times New Roman" panose="02020603050405020304" pitchFamily="18" charset="0"/>
                <a:cs typeface="Times New Roman" panose="02020603050405020304" pitchFamily="18" charset="0"/>
              </a:rPr>
              <a:t>Y</a:t>
            </a:r>
            <a:r>
              <a:rPr lang="zh-CN" sz="2400" spc="150">
                <a:solidFill>
                  <a:schemeClr val="tx1">
                    <a:lumMod val="65000"/>
                    <a:lumOff val="35000"/>
                  </a:schemeClr>
                </a:solidFill>
                <a:uFillTx/>
              </a:rPr>
              <a:t>的概率。</a:t>
            </a:r>
            <a:endParaRPr lang="zh-CN" sz="2400" spc="150">
              <a:solidFill>
                <a:schemeClr val="tx1">
                  <a:lumMod val="65000"/>
                  <a:lumOff val="35000"/>
                </a:schemeClr>
              </a:solidFill>
              <a:uFillTx/>
            </a:endParaRPr>
          </a:p>
        </p:txBody>
      </p:sp>
      <p:grpSp>
        <p:nvGrpSpPr>
          <p:cNvPr id="28675" name="组合 148498"/>
          <p:cNvGrpSpPr/>
          <p:nvPr/>
        </p:nvGrpSpPr>
        <p:grpSpPr>
          <a:xfrm>
            <a:off x="4708208" y="3237548"/>
            <a:ext cx="2665412" cy="2590800"/>
            <a:chOff x="1837" y="2523"/>
            <a:chExt cx="1679" cy="1632"/>
          </a:xfrm>
        </p:grpSpPr>
        <p:sp>
          <p:nvSpPr>
            <p:cNvPr id="28676" name="椭圆 148484"/>
            <p:cNvSpPr/>
            <p:nvPr/>
          </p:nvSpPr>
          <p:spPr>
            <a:xfrm>
              <a:off x="1837" y="300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p>
              <a:pPr algn="ct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28677" name="椭圆 148485"/>
            <p:cNvSpPr/>
            <p:nvPr/>
          </p:nvSpPr>
          <p:spPr>
            <a:xfrm>
              <a:off x="1837" y="3675"/>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p>
              <a:pPr algn="ct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28678" name="椭圆 148486"/>
            <p:cNvSpPr/>
            <p:nvPr/>
          </p:nvSpPr>
          <p:spPr>
            <a:xfrm>
              <a:off x="3289" y="252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p>
              <a:pPr algn="ct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28679" name="椭圆 148487"/>
            <p:cNvSpPr/>
            <p:nvPr/>
          </p:nvSpPr>
          <p:spPr>
            <a:xfrm>
              <a:off x="3277" y="3051"/>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p>
              <a:pPr algn="ct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28680" name="椭圆 148488"/>
            <p:cNvSpPr/>
            <p:nvPr/>
          </p:nvSpPr>
          <p:spPr>
            <a:xfrm>
              <a:off x="3324" y="3963"/>
              <a:ext cx="192" cy="192"/>
            </a:xfrm>
            <a:prstGeom prst="ellipse">
              <a:avLst/>
            </a:prstGeom>
            <a:solidFill>
              <a:srgbClr val="92D050"/>
            </a:solidFill>
            <a:ln w="9525" cap="flat" cmpd="sng">
              <a:solidFill>
                <a:schemeClr val="tx1"/>
              </a:solidFill>
              <a:prstDash val="solid"/>
              <a:round/>
              <a:headEnd type="none" w="med" len="med"/>
              <a:tailEnd type="none" w="med" len="med"/>
            </a:ln>
          </p:spPr>
          <p:txBody>
            <a:bodyPr wrap="none" anchor="ctr" anchorCtr="0"/>
            <a:p>
              <a:pPr algn="ctr"/>
              <a:r>
                <a:rPr lang="en-US" altLang="zh-CN" sz="2400" i="1">
                  <a:latin typeface="Times New Roman" panose="02020603050405020304" pitchFamily="18" charset="0"/>
                  <a:ea typeface="宋体" panose="02010600030101010101" pitchFamily="2" charset="-122"/>
                </a:rPr>
                <a:t>Q</a:t>
              </a: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28681" name="直接连接符 148489"/>
            <p:cNvSpPr/>
            <p:nvPr/>
          </p:nvSpPr>
          <p:spPr>
            <a:xfrm flipV="1">
              <a:off x="1981" y="2619"/>
              <a:ext cx="1296" cy="384"/>
            </a:xfrm>
            <a:prstGeom prst="line">
              <a:avLst/>
            </a:prstGeom>
            <a:ln w="9525" cap="flat" cmpd="sng">
              <a:solidFill>
                <a:schemeClr val="tx1"/>
              </a:solidFill>
              <a:prstDash val="solid"/>
              <a:round/>
              <a:headEnd type="none" w="med" len="med"/>
              <a:tailEnd type="triangle" w="med" len="med"/>
            </a:ln>
          </p:spPr>
        </p:sp>
        <p:sp>
          <p:nvSpPr>
            <p:cNvPr id="28682" name="直接连接符 148490"/>
            <p:cNvSpPr/>
            <p:nvPr/>
          </p:nvSpPr>
          <p:spPr>
            <a:xfrm>
              <a:off x="2029" y="3099"/>
              <a:ext cx="1248" cy="48"/>
            </a:xfrm>
            <a:prstGeom prst="line">
              <a:avLst/>
            </a:prstGeom>
            <a:ln w="9525" cap="flat" cmpd="sng">
              <a:solidFill>
                <a:schemeClr val="tx1"/>
              </a:solidFill>
              <a:prstDash val="solid"/>
              <a:round/>
              <a:headEnd type="none" w="med" len="med"/>
              <a:tailEnd type="triangle" w="med" len="med"/>
            </a:ln>
          </p:spPr>
        </p:sp>
        <p:sp>
          <p:nvSpPr>
            <p:cNvPr id="28683" name="直接连接符 148491"/>
            <p:cNvSpPr/>
            <p:nvPr/>
          </p:nvSpPr>
          <p:spPr>
            <a:xfrm>
              <a:off x="1981" y="3147"/>
              <a:ext cx="1296" cy="864"/>
            </a:xfrm>
            <a:prstGeom prst="line">
              <a:avLst/>
            </a:prstGeom>
            <a:ln w="9525" cap="flat" cmpd="sng">
              <a:solidFill>
                <a:schemeClr val="tx1"/>
              </a:solidFill>
              <a:prstDash val="solid"/>
              <a:round/>
              <a:headEnd type="none" w="med" len="med"/>
              <a:tailEnd type="triangle" w="med" len="med"/>
            </a:ln>
          </p:spPr>
        </p:sp>
        <p:sp>
          <p:nvSpPr>
            <p:cNvPr id="28684" name="直接连接符 148492"/>
            <p:cNvSpPr/>
            <p:nvPr/>
          </p:nvSpPr>
          <p:spPr>
            <a:xfrm flipV="1">
              <a:off x="1981" y="2667"/>
              <a:ext cx="1296" cy="1056"/>
            </a:xfrm>
            <a:prstGeom prst="line">
              <a:avLst/>
            </a:prstGeom>
            <a:ln w="9525" cap="flat" cmpd="sng">
              <a:solidFill>
                <a:schemeClr val="tx1"/>
              </a:solidFill>
              <a:prstDash val="solid"/>
              <a:round/>
              <a:headEnd type="none" w="med" len="med"/>
              <a:tailEnd type="triangle" w="med" len="med"/>
            </a:ln>
          </p:spPr>
        </p:sp>
        <p:sp>
          <p:nvSpPr>
            <p:cNvPr id="28685" name="直接连接符 148493"/>
            <p:cNvSpPr/>
            <p:nvPr/>
          </p:nvSpPr>
          <p:spPr>
            <a:xfrm flipV="1">
              <a:off x="1981" y="3195"/>
              <a:ext cx="1248" cy="624"/>
            </a:xfrm>
            <a:prstGeom prst="line">
              <a:avLst/>
            </a:prstGeom>
            <a:ln w="9525" cap="flat" cmpd="sng">
              <a:solidFill>
                <a:schemeClr val="tx1"/>
              </a:solidFill>
              <a:prstDash val="solid"/>
              <a:round/>
              <a:headEnd type="none" w="med" len="med"/>
              <a:tailEnd type="triangle" w="med" len="med"/>
            </a:ln>
          </p:spPr>
        </p:sp>
        <p:sp>
          <p:nvSpPr>
            <p:cNvPr id="28686" name="直接连接符 148494"/>
            <p:cNvSpPr/>
            <p:nvPr/>
          </p:nvSpPr>
          <p:spPr>
            <a:xfrm>
              <a:off x="2029" y="3819"/>
              <a:ext cx="1248" cy="288"/>
            </a:xfrm>
            <a:prstGeom prst="line">
              <a:avLst/>
            </a:prstGeom>
            <a:ln w="9525" cap="flat" cmpd="sng">
              <a:solidFill>
                <a:schemeClr val="tx1"/>
              </a:solidFill>
              <a:prstDash val="solid"/>
              <a:round/>
              <a:headEnd type="none" w="med" len="med"/>
              <a:tailEnd type="triangle" w="med" len="med"/>
            </a:ln>
          </p:spPr>
        </p:sp>
        <p:sp>
          <p:nvSpPr>
            <p:cNvPr id="28687" name="文本框 148495"/>
            <p:cNvSpPr txBox="1"/>
            <p:nvPr/>
          </p:nvSpPr>
          <p:spPr>
            <a:xfrm>
              <a:off x="2365" y="2619"/>
              <a:ext cx="644" cy="290"/>
            </a:xfrm>
            <a:prstGeom prst="rect">
              <a:avLst/>
            </a:prstGeom>
            <a:noFill/>
            <a:ln w="9525">
              <a:noFill/>
            </a:ln>
          </p:spPr>
          <p:txBody>
            <a:bodyPr wrap="square" anchor="t" anchorCtr="0">
              <a:spAutoFit/>
            </a:bodyPr>
            <a:p>
              <a:pPr>
                <a:spcBef>
                  <a:spcPct val="50000"/>
                </a:spcBef>
              </a:pP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(0,0)</a:t>
              </a:r>
              <a:endParaRPr lang="en-US" altLang="zh-CN" sz="2400">
                <a:latin typeface="Times New Roman" panose="02020603050405020304" pitchFamily="18" charset="0"/>
                <a:ea typeface="宋体" panose="02010600030101010101" pitchFamily="2" charset="-122"/>
              </a:endParaRPr>
            </a:p>
          </p:txBody>
        </p:sp>
        <p:sp>
          <p:nvSpPr>
            <p:cNvPr id="28688" name="文本框 148496"/>
            <p:cNvSpPr txBox="1"/>
            <p:nvPr/>
          </p:nvSpPr>
          <p:spPr>
            <a:xfrm>
              <a:off x="2426" y="2976"/>
              <a:ext cx="748" cy="290"/>
            </a:xfrm>
            <a:prstGeom prst="rect">
              <a:avLst/>
            </a:prstGeom>
            <a:noFill/>
            <a:ln w="9525">
              <a:noFill/>
            </a:ln>
          </p:spPr>
          <p:txBody>
            <a:bodyPr wrap="square" anchor="t" anchorCtr="0">
              <a:spAutoFit/>
            </a:bodyPr>
            <a:p>
              <a:pPr>
                <a:spcBef>
                  <a:spcPct val="50000"/>
                </a:spcBef>
              </a:pP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(0,1)</a:t>
              </a:r>
              <a:endParaRPr lang="en-US" altLang="zh-CN" sz="2400">
                <a:latin typeface="Times New Roman" panose="02020603050405020304" pitchFamily="18" charset="0"/>
                <a:ea typeface="宋体" panose="02010600030101010101" pitchFamily="2" charset="-122"/>
              </a:endParaRPr>
            </a:p>
          </p:txBody>
        </p:sp>
        <p:sp>
          <p:nvSpPr>
            <p:cNvPr id="28689" name="文本框 148497"/>
            <p:cNvSpPr txBox="1"/>
            <p:nvPr/>
          </p:nvSpPr>
          <p:spPr>
            <a:xfrm>
              <a:off x="2200" y="3793"/>
              <a:ext cx="816" cy="288"/>
            </a:xfrm>
            <a:prstGeom prst="rect">
              <a:avLst/>
            </a:prstGeom>
            <a:noFill/>
            <a:ln w="9525">
              <a:noFill/>
            </a:ln>
          </p:spPr>
          <p:txBody>
            <a:bodyPr anchor="t" anchorCtr="0">
              <a:spAutoFit/>
            </a:bodyPr>
            <a:p>
              <a:pPr>
                <a:spcBef>
                  <a:spcPct val="50000"/>
                </a:spcBef>
              </a:pP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(1,</a:t>
              </a:r>
              <a:r>
                <a:rPr lang="en-US" altLang="zh-CN" sz="2400" i="1">
                  <a:latin typeface="Times New Roman" panose="02020603050405020304" pitchFamily="18" charset="0"/>
                  <a:ea typeface="宋体" panose="02010600030101010101" pitchFamily="2" charset="-122"/>
                </a:rPr>
                <a:t>Q</a:t>
              </a: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grpSp>
      <p:sp>
        <p:nvSpPr>
          <p:cNvPr id="16" name="文本框 114821"/>
          <p:cNvSpPr txBox="1"/>
          <p:nvPr/>
        </p:nvSpPr>
        <p:spPr>
          <a:xfrm>
            <a:off x="3843655" y="6013450"/>
            <a:ext cx="4952365"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4 </a:t>
            </a:r>
            <a:r>
              <a:rPr lang="zh-CN" altLang="en-US" b="1">
                <a:latin typeface="楷体" panose="02010609060101010101" charset="-122"/>
                <a:ea typeface="楷体" panose="02010609060101010101" charset="-122"/>
                <a:cs typeface="楷体" panose="02010609060101010101" charset="-122"/>
              </a:rPr>
              <a:t>二元输入</a:t>
            </a:r>
            <a:r>
              <a:rPr lang="zh-CN" altLang="en-US" b="1" i="1">
                <a:latin typeface="Times New Roman" panose="02020603050405020304" pitchFamily="18" charset="0"/>
                <a:ea typeface="楷体" panose="02010609060101010101" charset="-122"/>
                <a:cs typeface="Times New Roman" panose="02020603050405020304" pitchFamily="18" charset="0"/>
              </a:rPr>
              <a:t>Q</a:t>
            </a:r>
            <a:r>
              <a:rPr lang="zh-CN" altLang="en-US" b="1">
                <a:latin typeface="楷体" panose="02010609060101010101" charset="-122"/>
                <a:ea typeface="楷体" panose="02010609060101010101" charset="-122"/>
                <a:cs typeface="楷体" panose="02010609060101010101" charset="-122"/>
              </a:rPr>
              <a:t>元输出的离散无记忆信道</a:t>
            </a:r>
            <a:r>
              <a:rPr lang="zh-CN" altLang="en-US" b="1" dirty="0">
                <a:latin typeface="楷体" panose="02010609060101010101" charset="-122"/>
                <a:ea typeface="楷体" panose="02010609060101010101" charset="-122"/>
              </a:rPr>
              <a:t>模型</a:t>
            </a:r>
            <a:endParaRPr lang="zh-CN" altLang="en-US" b="1" dirty="0">
              <a:latin typeface="楷体" panose="02010609060101010101" charset="-122"/>
              <a:ea typeface="楷体" panose="02010609060101010101" charset="-122"/>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二元对称(BSC)信道</a:t>
            </a:r>
            <a:endParaRPr lang="zh-CN" altLang="en-US"/>
          </a:p>
        </p:txBody>
      </p:sp>
      <p:grpSp>
        <p:nvGrpSpPr>
          <p:cNvPr id="29699" name="组合 145478"/>
          <p:cNvGrpSpPr/>
          <p:nvPr/>
        </p:nvGrpSpPr>
        <p:grpSpPr>
          <a:xfrm>
            <a:off x="798830" y="2129473"/>
            <a:ext cx="3384550" cy="2116137"/>
            <a:chOff x="884" y="2643"/>
            <a:chExt cx="2132" cy="1333"/>
          </a:xfrm>
        </p:grpSpPr>
        <p:sp>
          <p:nvSpPr>
            <p:cNvPr id="29700" name="直接连接符 145466"/>
            <p:cNvSpPr/>
            <p:nvPr/>
          </p:nvSpPr>
          <p:spPr>
            <a:xfrm>
              <a:off x="1247" y="2931"/>
              <a:ext cx="1361" cy="0"/>
            </a:xfrm>
            <a:prstGeom prst="line">
              <a:avLst/>
            </a:prstGeom>
            <a:ln w="25400" cap="flat" cmpd="sng">
              <a:solidFill>
                <a:schemeClr val="tx1"/>
              </a:solidFill>
              <a:prstDash val="solid"/>
              <a:round/>
              <a:headEnd type="none" w="med" len="med"/>
              <a:tailEnd type="none" w="med" len="med"/>
            </a:ln>
          </p:spPr>
        </p:sp>
        <p:sp>
          <p:nvSpPr>
            <p:cNvPr id="29701" name="直接连接符 145467"/>
            <p:cNvSpPr/>
            <p:nvPr/>
          </p:nvSpPr>
          <p:spPr>
            <a:xfrm>
              <a:off x="1247" y="3657"/>
              <a:ext cx="1361" cy="0"/>
            </a:xfrm>
            <a:prstGeom prst="line">
              <a:avLst/>
            </a:prstGeom>
            <a:ln w="25400" cap="flat" cmpd="sng">
              <a:solidFill>
                <a:schemeClr val="tx1"/>
              </a:solidFill>
              <a:prstDash val="solid"/>
              <a:round/>
              <a:headEnd type="none" w="med" len="med"/>
              <a:tailEnd type="none" w="med" len="med"/>
            </a:ln>
          </p:spPr>
        </p:sp>
        <p:sp>
          <p:nvSpPr>
            <p:cNvPr id="29702" name="直接连接符 145468"/>
            <p:cNvSpPr/>
            <p:nvPr/>
          </p:nvSpPr>
          <p:spPr>
            <a:xfrm flipV="1">
              <a:off x="1247" y="2931"/>
              <a:ext cx="1361" cy="726"/>
            </a:xfrm>
            <a:prstGeom prst="line">
              <a:avLst/>
            </a:prstGeom>
            <a:ln w="25400" cap="flat" cmpd="sng">
              <a:solidFill>
                <a:schemeClr val="tx1"/>
              </a:solidFill>
              <a:prstDash val="solid"/>
              <a:round/>
              <a:headEnd type="none" w="med" len="med"/>
              <a:tailEnd type="none" w="med" len="med"/>
            </a:ln>
          </p:spPr>
        </p:sp>
        <p:sp>
          <p:nvSpPr>
            <p:cNvPr id="29703" name="直接连接符 145469"/>
            <p:cNvSpPr/>
            <p:nvPr/>
          </p:nvSpPr>
          <p:spPr>
            <a:xfrm>
              <a:off x="1247" y="2931"/>
              <a:ext cx="1361" cy="726"/>
            </a:xfrm>
            <a:prstGeom prst="line">
              <a:avLst/>
            </a:prstGeom>
            <a:ln w="25400" cap="flat" cmpd="sng">
              <a:solidFill>
                <a:schemeClr val="tx1"/>
              </a:solidFill>
              <a:prstDash val="solid"/>
              <a:round/>
              <a:headEnd type="none" w="med" len="med"/>
              <a:tailEnd type="none" w="med" len="med"/>
            </a:ln>
          </p:spPr>
        </p:sp>
        <p:sp>
          <p:nvSpPr>
            <p:cNvPr id="29704" name="文本框 145470"/>
            <p:cNvSpPr txBox="1"/>
            <p:nvPr/>
          </p:nvSpPr>
          <p:spPr>
            <a:xfrm>
              <a:off x="884" y="2779"/>
              <a:ext cx="363" cy="288"/>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29705" name="文本框 145471"/>
            <p:cNvSpPr txBox="1"/>
            <p:nvPr/>
          </p:nvSpPr>
          <p:spPr>
            <a:xfrm>
              <a:off x="2653" y="2779"/>
              <a:ext cx="363" cy="288"/>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0</a:t>
              </a:r>
              <a:endParaRPr lang="en-US" altLang="zh-CN" sz="2400">
                <a:latin typeface="Times New Roman" panose="02020603050405020304" pitchFamily="18" charset="0"/>
                <a:ea typeface="宋体" panose="02010600030101010101" pitchFamily="2" charset="-122"/>
              </a:endParaRPr>
            </a:p>
          </p:txBody>
        </p:sp>
        <p:sp>
          <p:nvSpPr>
            <p:cNvPr id="29706" name="文本框 145472"/>
            <p:cNvSpPr txBox="1"/>
            <p:nvPr/>
          </p:nvSpPr>
          <p:spPr>
            <a:xfrm>
              <a:off x="884" y="3520"/>
              <a:ext cx="363" cy="288"/>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29707" name="文本框 145473"/>
            <p:cNvSpPr txBox="1"/>
            <p:nvPr/>
          </p:nvSpPr>
          <p:spPr>
            <a:xfrm>
              <a:off x="2653" y="3520"/>
              <a:ext cx="363" cy="288"/>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29708" name="文本框 145474"/>
            <p:cNvSpPr txBox="1"/>
            <p:nvPr/>
          </p:nvSpPr>
          <p:spPr>
            <a:xfrm>
              <a:off x="2108" y="2960"/>
              <a:ext cx="363" cy="290"/>
            </a:xfrm>
            <a:prstGeom prst="rect">
              <a:avLst/>
            </a:prstGeom>
            <a:noFill/>
            <a:ln w="9525">
              <a:noFill/>
            </a:ln>
          </p:spPr>
          <p:txBody>
            <a:bodyPr anchor="t" anchorCtr="0">
              <a:spAutoFit/>
            </a:bodyPr>
            <a:p>
              <a:pPr algn="ctr">
                <a:spcBef>
                  <a:spcPct val="50000"/>
                </a:spcBef>
              </a:pP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p:txBody>
        </p:sp>
        <p:sp>
          <p:nvSpPr>
            <p:cNvPr id="29709" name="文本框 145475"/>
            <p:cNvSpPr txBox="1"/>
            <p:nvPr/>
          </p:nvSpPr>
          <p:spPr>
            <a:xfrm>
              <a:off x="2108" y="3323"/>
              <a:ext cx="363" cy="290"/>
            </a:xfrm>
            <a:prstGeom prst="rect">
              <a:avLst/>
            </a:prstGeom>
            <a:noFill/>
            <a:ln w="9525">
              <a:noFill/>
            </a:ln>
          </p:spPr>
          <p:txBody>
            <a:bodyPr anchor="t" anchorCtr="0">
              <a:spAutoFit/>
            </a:bodyPr>
            <a:p>
              <a:pPr algn="ctr">
                <a:spcBef>
                  <a:spcPct val="50000"/>
                </a:spcBef>
              </a:pP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p:txBody>
        </p:sp>
        <p:sp>
          <p:nvSpPr>
            <p:cNvPr id="29710" name="文本框 145476"/>
            <p:cNvSpPr txBox="1"/>
            <p:nvPr/>
          </p:nvSpPr>
          <p:spPr>
            <a:xfrm>
              <a:off x="1564" y="2643"/>
              <a:ext cx="636" cy="290"/>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1</a:t>
              </a: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p:txBody>
        </p:sp>
        <p:sp>
          <p:nvSpPr>
            <p:cNvPr id="29711" name="文本框 145477"/>
            <p:cNvSpPr txBox="1"/>
            <p:nvPr/>
          </p:nvSpPr>
          <p:spPr>
            <a:xfrm>
              <a:off x="1563" y="3686"/>
              <a:ext cx="636" cy="290"/>
            </a:xfrm>
            <a:prstGeom prst="rect">
              <a:avLst/>
            </a:prstGeom>
            <a:noFill/>
            <a:ln w="9525">
              <a:noFill/>
            </a:ln>
          </p:spPr>
          <p:txBody>
            <a:bodyPr anchor="t" anchorCtr="0">
              <a:spAutoFit/>
            </a:bodyPr>
            <a:p>
              <a:pPr algn="ctr">
                <a:spcBef>
                  <a:spcPct val="50000"/>
                </a:spcBef>
              </a:pPr>
              <a:r>
                <a:rPr lang="en-US" altLang="zh-CN" sz="2400">
                  <a:latin typeface="Times New Roman" panose="02020603050405020304" pitchFamily="18" charset="0"/>
                  <a:ea typeface="宋体" panose="02010600030101010101" pitchFamily="2" charset="-122"/>
                </a:rPr>
                <a:t>1</a:t>
              </a: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p:txBody>
        </p:sp>
      </p:grpSp>
      <p:sp>
        <p:nvSpPr>
          <p:cNvPr id="7" name="文本框 114821"/>
          <p:cNvSpPr txBox="1"/>
          <p:nvPr/>
        </p:nvSpPr>
        <p:spPr>
          <a:xfrm>
            <a:off x="1198245" y="4283075"/>
            <a:ext cx="269113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5</a:t>
            </a:r>
            <a:r>
              <a:rPr lang="en-US" altLang="zh-CN" b="1">
                <a:latin typeface="Times New Roman" panose="02020603050405020304" pitchFamily="18" charset="0"/>
                <a:ea typeface="楷体" panose="02010609060101010101" charset="-122"/>
                <a:cs typeface="Times New Roman" panose="02020603050405020304" pitchFamily="18" charset="0"/>
              </a:rPr>
              <a:t> </a:t>
            </a:r>
            <a:r>
              <a:rPr lang="zh-CN" altLang="en-US" b="1">
                <a:latin typeface="楷体" panose="02010609060101010101" charset="-122"/>
                <a:ea typeface="楷体" panose="02010609060101010101" charset="-122"/>
                <a:cs typeface="楷体" panose="02010609060101010101" charset="-122"/>
              </a:rPr>
              <a:t>二元</a:t>
            </a:r>
            <a:r>
              <a:rPr lang="zh-CN" altLang="en-US" b="1">
                <a:ea typeface="楷体" panose="02010609060101010101" charset="-122"/>
              </a:rPr>
              <a:t>对称信道</a:t>
            </a:r>
            <a:r>
              <a:rPr lang="zh-CN" altLang="en-US" b="1" dirty="0">
                <a:latin typeface="楷体" panose="02010609060101010101" charset="-122"/>
                <a:ea typeface="楷体" panose="02010609060101010101" charset="-122"/>
              </a:rPr>
              <a:t>模型</a:t>
            </a:r>
            <a:endParaRPr lang="zh-CN" altLang="en-US" b="1" dirty="0">
              <a:latin typeface="楷体" panose="02010609060101010101" charset="-122"/>
              <a:ea typeface="楷体" panose="02010609060101010101" charset="-122"/>
            </a:endParaRPr>
          </a:p>
        </p:txBody>
      </p:sp>
      <p:sp>
        <p:nvSpPr>
          <p:cNvPr id="29712" name="文本框 145479"/>
          <p:cNvSpPr txBox="1"/>
          <p:nvPr/>
        </p:nvSpPr>
        <p:spPr>
          <a:xfrm>
            <a:off x="5295583" y="2376488"/>
            <a:ext cx="3095625" cy="1568450"/>
          </a:xfrm>
          <a:prstGeom prst="rect">
            <a:avLst/>
          </a:prstGeom>
          <a:noFill/>
          <a:ln w="9525">
            <a:noFill/>
          </a:ln>
        </p:spPr>
        <p:txBody>
          <a:bodyPr anchor="t" anchorCtr="0">
            <a:spAutoFit/>
          </a:bodyPr>
          <a:p>
            <a:pPr>
              <a:spcBef>
                <a:spcPct val="50000"/>
              </a:spcBef>
            </a:pP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(0/0)=</a:t>
            </a: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(1/1)=1-</a:t>
            </a: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a:p>
            <a:pPr>
              <a:spcBef>
                <a:spcPct val="50000"/>
              </a:spcBef>
            </a:pP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(0/1)=</a:t>
            </a: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(1/0)=</a:t>
            </a:r>
            <a:r>
              <a:rPr lang="en-US" altLang="zh-CN" sz="2400" i="1">
                <a:latin typeface="Times New Roman" panose="02020603050405020304" pitchFamily="18" charset="0"/>
                <a:ea typeface="宋体" panose="02010600030101010101" pitchFamily="2" charset="-122"/>
              </a:rPr>
              <a:t>p</a:t>
            </a:r>
            <a:endParaRPr lang="en-US" altLang="zh-CN" sz="2400" i="1">
              <a:latin typeface="Times New Roman" panose="02020603050405020304" pitchFamily="18" charset="0"/>
              <a:ea typeface="宋体" panose="02010600030101010101" pitchFamily="2" charset="-122"/>
            </a:endParaRPr>
          </a:p>
          <a:p>
            <a:pPr>
              <a:spcBef>
                <a:spcPct val="50000"/>
              </a:spcBef>
            </a:pPr>
            <a:r>
              <a:rPr lang="en-US" altLang="zh-CN" sz="2400">
                <a:latin typeface="Times New Roman" panose="02020603050405020304" pitchFamily="18" charset="0"/>
                <a:ea typeface="宋体" panose="02010600030101010101" pitchFamily="2" charset="-122"/>
              </a:rPr>
              <a:t>0≤</a:t>
            </a:r>
            <a:r>
              <a:rPr lang="en-US" altLang="zh-CN" sz="2400" i="1">
                <a:latin typeface="Times New Roman" panose="02020603050405020304" pitchFamily="18" charset="0"/>
                <a:ea typeface="宋体" panose="02010600030101010101" pitchFamily="2" charset="-122"/>
              </a:rPr>
              <a:t>p</a:t>
            </a:r>
            <a:r>
              <a:rPr lang="en-US" altLang="zh-CN" sz="2400">
                <a:latin typeface="Times New Roman" panose="02020603050405020304" pitchFamily="18" charset="0"/>
                <a:ea typeface="宋体" panose="02010600030101010101" pitchFamily="2" charset="-122"/>
              </a:rPr>
              <a:t>≤1</a:t>
            </a:r>
            <a:endParaRPr lang="en-US" altLang="zh-CN" sz="2400">
              <a:latin typeface="Times New Roman" panose="02020603050405020304" pitchFamily="18" charset="0"/>
              <a:ea typeface="宋体" panose="02010600030101010101" pitchFamily="2" charset="-122"/>
            </a:endParaRPr>
          </a:p>
        </p:txBody>
      </p:sp>
      <p:sp>
        <p:nvSpPr>
          <p:cNvPr id="8" name="左右箭头 7"/>
          <p:cNvSpPr/>
          <p:nvPr/>
        </p:nvSpPr>
        <p:spPr>
          <a:xfrm>
            <a:off x="4267200" y="3007360"/>
            <a:ext cx="762000" cy="304800"/>
          </a:xfrm>
          <a:prstGeom prst="leftRightArrow">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9" name="文本框 114821"/>
          <p:cNvSpPr txBox="1"/>
          <p:nvPr/>
        </p:nvSpPr>
        <p:spPr>
          <a:xfrm>
            <a:off x="1076325" y="5224145"/>
            <a:ext cx="9548495" cy="460375"/>
          </a:xfrm>
          <a:prstGeom prst="rect">
            <a:avLst/>
          </a:prstGeom>
          <a:noFill/>
          <a:ln w="9525">
            <a:noFill/>
          </a:ln>
        </p:spPr>
        <p:txBody>
          <a:bodyPr wrap="square" anchor="t" anchorCtr="0">
            <a:spAutoFit/>
          </a:bodyPr>
          <a:p>
            <a:pPr>
              <a:spcBef>
                <a:spcPct val="50000"/>
              </a:spcBef>
            </a:pPr>
            <a:r>
              <a:rPr lang="zh-CN" sz="2400" b="1" spc="150">
                <a:solidFill>
                  <a:schemeClr val="accent6">
                    <a:lumMod val="75000"/>
                  </a:schemeClr>
                </a:solidFill>
                <a:uFillTx/>
              </a:rPr>
              <a:t>信道矩阵</a:t>
            </a:r>
            <a:r>
              <a:rPr lang="zh-CN" sz="2400" spc="150">
                <a:solidFill>
                  <a:schemeClr val="tx1">
                    <a:lumMod val="65000"/>
                    <a:lumOff val="35000"/>
                  </a:schemeClr>
                </a:solidFill>
                <a:uFillTx/>
              </a:rPr>
              <a:t>：一个信道也可由它的转移概率组成的矩阵来表示。</a:t>
            </a:r>
            <a:endParaRPr lang="zh-CN" sz="2400" spc="150">
              <a:solidFill>
                <a:schemeClr val="tx1">
                  <a:lumMod val="65000"/>
                  <a:lumOff val="35000"/>
                </a:schemeClr>
              </a:solidFill>
              <a:uFillTx/>
            </a:endParaRPr>
          </a:p>
        </p:txBody>
      </p:sp>
      <p:sp>
        <p:nvSpPr>
          <p:cNvPr id="11" name="左右箭头 10"/>
          <p:cNvSpPr/>
          <p:nvPr/>
        </p:nvSpPr>
        <p:spPr>
          <a:xfrm>
            <a:off x="7807960" y="3042920"/>
            <a:ext cx="762000" cy="304800"/>
          </a:xfrm>
          <a:prstGeom prst="leftRightArrow">
            <a:avLst/>
          </a:prstGeom>
          <a:solidFill>
            <a:srgbClr val="92D05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graphicFrame>
        <p:nvGraphicFramePr>
          <p:cNvPr id="12" name="对象 11">
            <a:hlinkClick r:id="" action="ppaction://ole?verb="/>
          </p:cNvPr>
          <p:cNvGraphicFramePr>
            <a:graphicFrameLocks noChangeAspect="1"/>
          </p:cNvGraphicFramePr>
          <p:nvPr/>
        </p:nvGraphicFramePr>
        <p:xfrm>
          <a:off x="8965883" y="2438400"/>
          <a:ext cx="2143760" cy="1247775"/>
        </p:xfrm>
        <a:graphic>
          <a:graphicData uri="http://schemas.openxmlformats.org/presentationml/2006/ole">
            <mc:AlternateContent xmlns:mc="http://schemas.openxmlformats.org/markup-compatibility/2006">
              <mc:Choice xmlns:v="urn:schemas-microsoft-com:vml" Requires="v">
                <p:oleObj spid="_x0000_s2049" name="" r:id="rId1" imgW="1104900" imgH="634365" progId="Equation.KSEE3">
                  <p:embed/>
                </p:oleObj>
              </mc:Choice>
              <mc:Fallback>
                <p:oleObj name="" r:id="rId1" imgW="1104900" imgH="634365" progId="Equation.KSEE3">
                  <p:embed/>
                  <p:pic>
                    <p:nvPicPr>
                      <p:cNvPr id="0" name="图片 2048"/>
                      <p:cNvPicPr/>
                      <p:nvPr/>
                    </p:nvPicPr>
                    <p:blipFill>
                      <a:blip r:embed="rId2"/>
                      <a:stretch>
                        <a:fillRect/>
                      </a:stretch>
                    </p:blipFill>
                    <p:spPr>
                      <a:xfrm>
                        <a:off x="8965883" y="2438400"/>
                        <a:ext cx="2143760" cy="124777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信道矩阵</a:t>
            </a:r>
            <a:endParaRPr lang="zh-CN" altLang="en-US"/>
          </a:p>
        </p:txBody>
      </p:sp>
      <p:sp>
        <p:nvSpPr>
          <p:cNvPr id="7" name="文本框 114821"/>
          <p:cNvSpPr txBox="1"/>
          <p:nvPr/>
        </p:nvSpPr>
        <p:spPr>
          <a:xfrm>
            <a:off x="1137285" y="1576705"/>
            <a:ext cx="6163310" cy="460375"/>
          </a:xfrm>
          <a:prstGeom prst="rect">
            <a:avLst/>
          </a:prstGeom>
          <a:noFill/>
          <a:ln w="9525">
            <a:noFill/>
          </a:ln>
        </p:spPr>
        <p:txBody>
          <a:bodyPr wrap="square" anchor="t" anchorCtr="0">
            <a:spAutoFit/>
          </a:bodyPr>
          <a:p>
            <a:pPr>
              <a:spcBef>
                <a:spcPct val="50000"/>
              </a:spcBef>
            </a:pPr>
            <a:r>
              <a:rPr lang="en-US" sz="2400" spc="150">
                <a:solidFill>
                  <a:schemeClr val="tx1">
                    <a:lumMod val="65000"/>
                    <a:lumOff val="35000"/>
                  </a:schemeClr>
                </a:solidFill>
                <a:uFillTx/>
              </a:rPr>
              <a:t> </a:t>
            </a:r>
            <a:r>
              <a:rPr sz="2400" spc="150">
                <a:solidFill>
                  <a:schemeClr val="tx1">
                    <a:lumMod val="65000"/>
                    <a:lumOff val="35000"/>
                  </a:schemeClr>
                </a:solidFill>
                <a:uFillTx/>
              </a:rPr>
              <a:t>一般离散单符号信道的信道矩阵为</a:t>
            </a:r>
            <a:r>
              <a:rPr lang="zh-CN" sz="2400" spc="150">
                <a:solidFill>
                  <a:schemeClr val="tx1">
                    <a:lumMod val="65000"/>
                    <a:lumOff val="35000"/>
                  </a:schemeClr>
                </a:solidFill>
                <a:uFillTx/>
              </a:rPr>
              <a:t>：</a:t>
            </a:r>
            <a:endParaRPr lang="zh-CN" sz="2400" b="1" spc="150" dirty="0">
              <a:solidFill>
                <a:schemeClr val="tx1">
                  <a:lumMod val="65000"/>
                  <a:lumOff val="35000"/>
                </a:schemeClr>
              </a:solidFill>
              <a:uFillTx/>
              <a:latin typeface="Arial" panose="020B0604020202020204" pitchFamily="34" charset="0"/>
              <a:ea typeface="黑体" panose="02010609060101010101" pitchFamily="49" charset="-122"/>
            </a:endParaRPr>
          </a:p>
        </p:txBody>
      </p:sp>
      <p:graphicFrame>
        <p:nvGraphicFramePr>
          <p:cNvPr id="8" name="对象 7">
            <a:hlinkClick r:id="" action="ppaction://ole?verb="/>
          </p:cNvPr>
          <p:cNvGraphicFramePr>
            <a:graphicFrameLocks noChangeAspect="1"/>
          </p:cNvGraphicFramePr>
          <p:nvPr/>
        </p:nvGraphicFramePr>
        <p:xfrm>
          <a:off x="3580765" y="2275840"/>
          <a:ext cx="5545455" cy="2248535"/>
        </p:xfrm>
        <a:graphic>
          <a:graphicData uri="http://schemas.openxmlformats.org/presentationml/2006/ole">
            <mc:AlternateContent xmlns:mc="http://schemas.openxmlformats.org/markup-compatibility/2006">
              <mc:Choice xmlns:v="urn:schemas-microsoft-com:vml" Requires="v">
                <p:oleObj spid="_x0000_s9" name="" r:id="rId1" imgW="2425700" imgH="1143000" progId="Equation.KSEE3">
                  <p:embed/>
                </p:oleObj>
              </mc:Choice>
              <mc:Fallback>
                <p:oleObj name="" r:id="rId1" imgW="2425700" imgH="1143000" progId="Equation.KSEE3">
                  <p:embed/>
                  <p:pic>
                    <p:nvPicPr>
                      <p:cNvPr id="0" name="图片 2048"/>
                      <p:cNvPicPr/>
                      <p:nvPr/>
                    </p:nvPicPr>
                    <p:blipFill>
                      <a:blip r:embed="rId2"/>
                      <a:stretch>
                        <a:fillRect/>
                      </a:stretch>
                    </p:blipFill>
                    <p:spPr>
                      <a:xfrm>
                        <a:off x="3580765" y="2275840"/>
                        <a:ext cx="5545455" cy="2248535"/>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加性高斯白噪声(AWGN)信道</a:t>
            </a:r>
            <a:endParaRPr lang="zh-CN" altLang="en-US"/>
          </a:p>
        </p:txBody>
      </p:sp>
      <p:sp>
        <p:nvSpPr>
          <p:cNvPr id="3" name="内容占位符 2"/>
          <p:cNvSpPr>
            <a:spLocks noGrp="1"/>
          </p:cNvSpPr>
          <p:nvPr>
            <p:ph idx="1"/>
          </p:nvPr>
        </p:nvSpPr>
        <p:spPr>
          <a:xfrm>
            <a:off x="608330" y="1490345"/>
            <a:ext cx="10909300" cy="2399665"/>
          </a:xfrm>
        </p:spPr>
        <p:txBody>
          <a:bodyPr>
            <a:normAutofit/>
          </a:bodyPr>
          <a:p>
            <a:r>
              <a:rPr lang="zh-CN" sz="2400" b="1">
                <a:solidFill>
                  <a:schemeClr val="accent6">
                    <a:lumMod val="75000"/>
                  </a:schemeClr>
                </a:solidFill>
              </a:rPr>
              <a:t>加性噪声</a:t>
            </a:r>
            <a:r>
              <a:rPr sz="2400"/>
              <a:t>：叠加在信号上的一种噪声</a:t>
            </a:r>
            <a:r>
              <a:rPr lang="zh-CN" sz="2400"/>
              <a:t>。</a:t>
            </a:r>
            <a:endParaRPr sz="2400"/>
          </a:p>
          <a:p>
            <a:r>
              <a:rPr lang="zh-CN" sz="2400" b="1">
                <a:solidFill>
                  <a:schemeClr val="accent6">
                    <a:lumMod val="75000"/>
                  </a:schemeClr>
                </a:solidFill>
              </a:rPr>
              <a:t>白噪声</a:t>
            </a:r>
            <a:r>
              <a:rPr sz="2400"/>
              <a:t>：噪声的功率谱密度在所有的频率上均为一常数</a:t>
            </a:r>
            <a:r>
              <a:rPr lang="zh-CN" sz="2400"/>
              <a:t>。</a:t>
            </a:r>
            <a:endParaRPr sz="2400"/>
          </a:p>
          <a:p>
            <a:r>
              <a:rPr lang="zh-CN" sz="2400" b="1">
                <a:solidFill>
                  <a:schemeClr val="accent6">
                    <a:lumMod val="75000"/>
                  </a:schemeClr>
                </a:solidFill>
              </a:rPr>
              <a:t>高斯白噪声</a:t>
            </a:r>
            <a:r>
              <a:rPr sz="2400"/>
              <a:t>：白噪声取值的概率分布服从高斯分布</a:t>
            </a:r>
            <a:r>
              <a:rPr lang="zh-CN" sz="2400"/>
              <a:t>，</a:t>
            </a:r>
            <a:r>
              <a:rPr sz="2400"/>
              <a:t>其自相关系数为无延时的冲击函数</a:t>
            </a:r>
            <a:r>
              <a:rPr lang="zh-CN" sz="2400"/>
              <a:t>。</a:t>
            </a:r>
            <a:endParaRPr lang="zh-CN" sz="2400"/>
          </a:p>
        </p:txBody>
      </p:sp>
      <p:grpSp>
        <p:nvGrpSpPr>
          <p:cNvPr id="36869" name="组合 35853"/>
          <p:cNvGrpSpPr/>
          <p:nvPr/>
        </p:nvGrpSpPr>
        <p:grpSpPr>
          <a:xfrm>
            <a:off x="2505710" y="4182745"/>
            <a:ext cx="3313113" cy="1368425"/>
            <a:chOff x="612" y="2976"/>
            <a:chExt cx="2087" cy="862"/>
          </a:xfrm>
        </p:grpSpPr>
        <p:sp>
          <p:nvSpPr>
            <p:cNvPr id="36870" name="文本框 154645"/>
            <p:cNvSpPr txBox="1"/>
            <p:nvPr/>
          </p:nvSpPr>
          <p:spPr>
            <a:xfrm>
              <a:off x="884" y="3338"/>
              <a:ext cx="408" cy="228"/>
            </a:xfrm>
            <a:prstGeom prst="rect">
              <a:avLst/>
            </a:prstGeom>
            <a:noFill/>
            <a:ln w="9525">
              <a:noFill/>
            </a:ln>
          </p:spPr>
          <p:txBody>
            <a:bodyPr anchor="t" anchorCtr="0"/>
            <a:p>
              <a:pPr algn="just" eaLnBrk="0" hangingPunct="0"/>
              <a:r>
                <a:rPr lang="en-US" altLang="zh-CN" sz="2400" i="1">
                  <a:latin typeface="Times New Roman" panose="02020603050405020304" pitchFamily="18" charset="0"/>
                  <a:ea typeface="宋体" panose="02010600030101010101" pitchFamily="2" charset="-122"/>
                </a:rPr>
                <a:t>x</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36871" name="椭圆 154657"/>
            <p:cNvSpPr/>
            <p:nvPr/>
          </p:nvSpPr>
          <p:spPr>
            <a:xfrm>
              <a:off x="1428" y="3430"/>
              <a:ext cx="454" cy="408"/>
            </a:xfrm>
            <a:prstGeom prst="ellipse">
              <a:avLst/>
            </a:prstGeom>
            <a:solidFill>
              <a:srgbClr val="92D050"/>
            </a:solidFill>
            <a:ln w="9525" cap="flat" cmpd="sng">
              <a:solidFill>
                <a:schemeClr val="tx1"/>
              </a:solidFill>
              <a:prstDash val="solid"/>
              <a:round/>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6872" name="文本框 154658"/>
            <p:cNvSpPr txBox="1"/>
            <p:nvPr/>
          </p:nvSpPr>
          <p:spPr>
            <a:xfrm>
              <a:off x="1519" y="3476"/>
              <a:ext cx="272" cy="288"/>
            </a:xfrm>
            <a:prstGeom prst="rect">
              <a:avLst/>
            </a:prstGeom>
            <a:noFill/>
            <a:ln w="9525">
              <a:noFill/>
            </a:ln>
          </p:spPr>
          <p:txBody>
            <a:bodyPr anchor="t" anchorCtr="0">
              <a:spAutoFit/>
            </a:bodyPr>
            <a:p>
              <a:pPr algn="ctr">
                <a:spcBef>
                  <a:spcPct val="50000"/>
                </a:spcBef>
              </a:pP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p:txBody>
        </p:sp>
        <p:sp>
          <p:nvSpPr>
            <p:cNvPr id="36873" name="直接连接符 154659"/>
            <p:cNvSpPr/>
            <p:nvPr/>
          </p:nvSpPr>
          <p:spPr>
            <a:xfrm>
              <a:off x="612" y="3657"/>
              <a:ext cx="817" cy="0"/>
            </a:xfrm>
            <a:prstGeom prst="line">
              <a:avLst/>
            </a:prstGeom>
            <a:ln w="25400" cap="flat" cmpd="sng">
              <a:solidFill>
                <a:schemeClr val="tx1"/>
              </a:solidFill>
              <a:prstDash val="solid"/>
              <a:round/>
              <a:headEnd type="none" w="med" len="med"/>
              <a:tailEnd type="triangle" w="med" len="med"/>
            </a:ln>
          </p:spPr>
        </p:sp>
        <p:sp>
          <p:nvSpPr>
            <p:cNvPr id="36874" name="直接连接符 154660"/>
            <p:cNvSpPr/>
            <p:nvPr/>
          </p:nvSpPr>
          <p:spPr>
            <a:xfrm>
              <a:off x="1882" y="3657"/>
              <a:ext cx="817" cy="0"/>
            </a:xfrm>
            <a:prstGeom prst="line">
              <a:avLst/>
            </a:prstGeom>
            <a:ln w="25400" cap="flat" cmpd="sng">
              <a:solidFill>
                <a:schemeClr val="tx1"/>
              </a:solidFill>
              <a:prstDash val="solid"/>
              <a:round/>
              <a:headEnd type="none" w="med" len="med"/>
              <a:tailEnd type="triangle" w="med" len="med"/>
            </a:ln>
          </p:spPr>
        </p:sp>
        <p:sp>
          <p:nvSpPr>
            <p:cNvPr id="36875" name="直接连接符 154661"/>
            <p:cNvSpPr/>
            <p:nvPr/>
          </p:nvSpPr>
          <p:spPr>
            <a:xfrm>
              <a:off x="1655" y="3023"/>
              <a:ext cx="0" cy="409"/>
            </a:xfrm>
            <a:prstGeom prst="line">
              <a:avLst/>
            </a:prstGeom>
            <a:ln w="25400" cap="flat" cmpd="sng">
              <a:solidFill>
                <a:schemeClr val="tx1"/>
              </a:solidFill>
              <a:prstDash val="solid"/>
              <a:round/>
              <a:headEnd type="none" w="med" len="med"/>
              <a:tailEnd type="triangle" w="med" len="med"/>
            </a:ln>
          </p:spPr>
        </p:sp>
        <p:sp>
          <p:nvSpPr>
            <p:cNvPr id="36876" name="文本框 154662"/>
            <p:cNvSpPr txBox="1"/>
            <p:nvPr/>
          </p:nvSpPr>
          <p:spPr>
            <a:xfrm>
              <a:off x="2064" y="3294"/>
              <a:ext cx="408" cy="228"/>
            </a:xfrm>
            <a:prstGeom prst="rect">
              <a:avLst/>
            </a:prstGeom>
            <a:noFill/>
            <a:ln w="9525">
              <a:noFill/>
            </a:ln>
          </p:spPr>
          <p:txBody>
            <a:bodyPr anchor="t" anchorCtr="0"/>
            <a:p>
              <a:pPr algn="just" eaLnBrk="0" hangingPunct="0"/>
              <a:r>
                <a:rPr lang="en-US" altLang="zh-CN" sz="2400" i="1" err="1">
                  <a:latin typeface="Times New Roman" panose="02020603050405020304" pitchFamily="18" charset="0"/>
                  <a:ea typeface="宋体" panose="02010600030101010101" pitchFamily="2" charset="-122"/>
                </a:rPr>
                <a:t>y</a:t>
              </a:r>
              <a:r>
                <a:rPr lang="en-US" altLang="zh-CN" sz="2400" err="1">
                  <a:latin typeface="Times New Roman" panose="02020603050405020304" pitchFamily="18" charset="0"/>
                  <a:ea typeface="宋体" panose="02010600030101010101" pitchFamily="2" charset="-122"/>
                </a:rPr>
                <a:t>(</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36877" name="文本框 154663"/>
            <p:cNvSpPr txBox="1"/>
            <p:nvPr/>
          </p:nvSpPr>
          <p:spPr>
            <a:xfrm>
              <a:off x="1655" y="2976"/>
              <a:ext cx="408" cy="228"/>
            </a:xfrm>
            <a:prstGeom prst="rect">
              <a:avLst/>
            </a:prstGeom>
            <a:noFill/>
            <a:ln w="9525">
              <a:noFill/>
            </a:ln>
          </p:spPr>
          <p:txBody>
            <a:bodyPr anchor="t" anchorCtr="0"/>
            <a:p>
              <a:pPr algn="just" eaLnBrk="0" hangingPunct="0"/>
              <a:r>
                <a:rPr lang="en-US" altLang="zh-CN" sz="2400" i="1" err="1">
                  <a:latin typeface="Times New Roman" panose="02020603050405020304" pitchFamily="18" charset="0"/>
                  <a:ea typeface="宋体" panose="02010600030101010101" pitchFamily="2" charset="-122"/>
                </a:rPr>
                <a:t>n</a:t>
              </a:r>
              <a:r>
                <a:rPr lang="en-US" altLang="zh-CN" sz="2400" err="1">
                  <a:latin typeface="Times New Roman" panose="02020603050405020304" pitchFamily="18" charset="0"/>
                  <a:ea typeface="宋体" panose="02010600030101010101" pitchFamily="2" charset="-122"/>
                </a:rPr>
                <a:t>(</a:t>
              </a:r>
              <a:r>
                <a:rPr lang="en-US" altLang="zh-CN" sz="2400" i="1" err="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grpSp>
      <p:sp>
        <p:nvSpPr>
          <p:cNvPr id="36867" name="矩形 154643"/>
          <p:cNvSpPr/>
          <p:nvPr/>
        </p:nvSpPr>
        <p:spPr>
          <a:xfrm>
            <a:off x="6483985" y="4385945"/>
            <a:ext cx="3180080" cy="457200"/>
          </a:xfrm>
          <a:prstGeom prst="rect">
            <a:avLst/>
          </a:prstGeom>
          <a:noFill/>
          <a:ln w="9525">
            <a:noFill/>
          </a:ln>
        </p:spPr>
        <p:txBody>
          <a:bodyPr anchor="t" anchorCtr="0"/>
          <a:p>
            <a:pPr marL="342900" indent="-342900">
              <a:spcBef>
                <a:spcPct val="20000"/>
              </a:spcBef>
              <a:buClr>
                <a:schemeClr val="hlink"/>
              </a:buClr>
              <a:buSzPct val="65000"/>
              <a:buFont typeface="Wingdings" panose="05000000000000000000" pitchFamily="2" charset="2"/>
            </a:pPr>
            <a:r>
              <a:rPr lang="en-US" altLang="zh-CN" sz="2400" i="1">
                <a:latin typeface="Times New Roman" panose="02020603050405020304" pitchFamily="18" charset="0"/>
                <a:ea typeface="宋体" panose="02010600030101010101" pitchFamily="2" charset="-122"/>
              </a:rPr>
              <a:t>n</a:t>
            </a:r>
            <a:r>
              <a:rPr lang="en-US" altLang="zh-CN" sz="2400">
                <a:latin typeface="Times New Roman" panose="02020603050405020304" pitchFamily="18" charset="0"/>
                <a:ea typeface="宋体" panose="02010600030101010101" pitchFamily="2" charset="-122"/>
              </a:rPr>
              <a:t>(</a:t>
            </a:r>
            <a:r>
              <a:rPr lang="en-US" altLang="zh-CN" sz="2400" i="1">
                <a:latin typeface="Times New Roman" panose="02020603050405020304" pitchFamily="18" charset="0"/>
                <a:ea typeface="宋体" panose="02010600030101010101" pitchFamily="2" charset="-122"/>
              </a:rPr>
              <a:t>t</a:t>
            </a:r>
            <a:r>
              <a:rPr lang="en-US" altLang="zh-CN" sz="2400">
                <a:latin typeface="Times New Roman" panose="02020603050405020304" pitchFamily="18" charset="0"/>
                <a:ea typeface="宋体" panose="02010600030101010101" pitchFamily="2" charset="-122"/>
              </a:rPr>
              <a:t>) ~ </a:t>
            </a:r>
            <a:r>
              <a:rPr sz="2400" spc="150">
                <a:solidFill>
                  <a:schemeClr val="tx1">
                    <a:lumMod val="65000"/>
                    <a:lumOff val="35000"/>
                  </a:schemeClr>
                </a:solidFill>
                <a:uFillTx/>
              </a:rPr>
              <a:t>高斯白噪声</a:t>
            </a:r>
            <a:endParaRPr lang="zh-CN" altLang="en-US" sz="2800">
              <a:latin typeface="华文行楷" panose="02010800040101010101" pitchFamily="2" charset="-122"/>
              <a:ea typeface="华文行楷" panose="02010800040101010101" pitchFamily="2" charset="-122"/>
            </a:endParaRPr>
          </a:p>
        </p:txBody>
      </p:sp>
      <p:graphicFrame>
        <p:nvGraphicFramePr>
          <p:cNvPr id="6" name="对象 5">
            <a:hlinkClick r:id="" action="ppaction://ole?verb="/>
          </p:cNvPr>
          <p:cNvGraphicFramePr>
            <a:graphicFrameLocks noChangeAspect="1"/>
          </p:cNvGraphicFramePr>
          <p:nvPr/>
        </p:nvGraphicFramePr>
        <p:xfrm>
          <a:off x="6424296" y="5103813"/>
          <a:ext cx="3030855" cy="774700"/>
        </p:xfrm>
        <a:graphic>
          <a:graphicData uri="http://schemas.openxmlformats.org/presentationml/2006/ole">
            <mc:AlternateContent xmlns:mc="http://schemas.openxmlformats.org/markup-compatibility/2006">
              <mc:Choice xmlns:v="urn:schemas-microsoft-com:vml" Requires="v">
                <p:oleObj spid="_x0000_s4" name="" r:id="rId1" imgW="1562100" imgH="393700" progId="Equation.KSEE3">
                  <p:embed/>
                </p:oleObj>
              </mc:Choice>
              <mc:Fallback>
                <p:oleObj name="" r:id="rId1" imgW="1562100" imgH="393700" progId="Equation.KSEE3">
                  <p:embed/>
                  <p:pic>
                    <p:nvPicPr>
                      <p:cNvPr id="0" name="图片 2048"/>
                      <p:cNvPicPr/>
                      <p:nvPr/>
                    </p:nvPicPr>
                    <p:blipFill>
                      <a:blip r:embed="rId2"/>
                      <a:stretch>
                        <a:fillRect/>
                      </a:stretch>
                    </p:blipFill>
                    <p:spPr>
                      <a:xfrm>
                        <a:off x="6424296" y="5103813"/>
                        <a:ext cx="3030855" cy="774700"/>
                      </a:xfrm>
                      <a:prstGeom prst="rect">
                        <a:avLst/>
                      </a:prstGeom>
                    </p:spPr>
                  </p:pic>
                </p:oleObj>
              </mc:Fallback>
            </mc:AlternateContent>
          </a:graphicData>
        </a:graphic>
      </p:graphicFrame>
      <p:sp>
        <p:nvSpPr>
          <p:cNvPr id="5" name="文本框 114821"/>
          <p:cNvSpPr txBox="1"/>
          <p:nvPr/>
        </p:nvSpPr>
        <p:spPr>
          <a:xfrm>
            <a:off x="2946400" y="5682615"/>
            <a:ext cx="2462530"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6</a:t>
            </a:r>
            <a:r>
              <a:rPr lang="en-US" altLang="zh-CN" b="1">
                <a:latin typeface="Times New Roman" panose="02020603050405020304" pitchFamily="18" charset="0"/>
                <a:ea typeface="楷体" panose="02010609060101010101" charset="-122"/>
                <a:cs typeface="Times New Roman" panose="02020603050405020304" pitchFamily="18" charset="0"/>
              </a:rPr>
              <a:t> AWGN</a:t>
            </a:r>
            <a:r>
              <a:rPr lang="zh-CN" altLang="en-US" b="1">
                <a:ea typeface="楷体" panose="02010609060101010101" charset="-122"/>
              </a:rPr>
              <a:t>信道模型</a:t>
            </a:r>
            <a:endParaRPr lang="zh-CN" altLang="en-US" b="1">
              <a:ea typeface="楷体" panose="02010609060101010101" charset="-122"/>
            </a:endParaRPr>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本章授课</a:t>
            </a:r>
            <a:r>
              <a:rPr lang="zh-CN" altLang="en-US"/>
              <a:t>内容</a:t>
            </a:r>
            <a:endParaRPr lang="zh-CN" altLang="en-US"/>
          </a:p>
        </p:txBody>
      </p:sp>
      <p:sp>
        <p:nvSpPr>
          <p:cNvPr id="3" name="内容占位符 2"/>
          <p:cNvSpPr>
            <a:spLocks noGrp="1"/>
          </p:cNvSpPr>
          <p:nvPr>
            <p:ph idx="1"/>
          </p:nvPr>
        </p:nvSpPr>
        <p:spPr>
          <a:xfrm>
            <a:off x="608330" y="1550035"/>
            <a:ext cx="10749915" cy="2699385"/>
          </a:xfrm>
        </p:spPr>
        <p:txBody>
          <a:bodyPr>
            <a:noAutofit/>
          </a:bodyPr>
          <a:p>
            <a:pPr algn="l">
              <a:lnSpc>
                <a:spcPct val="200000"/>
              </a:lnSpc>
              <a:buClrTx/>
              <a:buSzTx/>
            </a:pPr>
            <a:r>
              <a:rPr sz="2400">
                <a:solidFill>
                  <a:schemeClr val="bg1">
                    <a:lumMod val="75000"/>
                  </a:schemeClr>
                </a:solidFill>
              </a:rPr>
              <a:t>课程概述</a:t>
            </a:r>
            <a:endParaRPr sz="2400">
              <a:solidFill>
                <a:schemeClr val="bg1">
                  <a:lumMod val="75000"/>
                </a:schemeClr>
              </a:solidFill>
            </a:endParaRPr>
          </a:p>
          <a:p>
            <a:pPr>
              <a:lnSpc>
                <a:spcPct val="200000"/>
              </a:lnSpc>
            </a:pPr>
            <a:r>
              <a:rPr sz="2400">
                <a:solidFill>
                  <a:schemeClr val="bg1">
                    <a:lumMod val="75000"/>
                  </a:schemeClr>
                </a:solidFill>
              </a:rPr>
              <a:t>信息论与编码的发展历史</a:t>
            </a:r>
            <a:endParaRPr sz="2400">
              <a:solidFill>
                <a:schemeClr val="accent1"/>
              </a:solidFill>
            </a:endParaRPr>
          </a:p>
          <a:p>
            <a:pPr>
              <a:lnSpc>
                <a:spcPct val="200000"/>
              </a:lnSpc>
            </a:pPr>
            <a:r>
              <a:rPr sz="2400">
                <a:solidFill>
                  <a:schemeClr val="bg1">
                    <a:lumMod val="75000"/>
                  </a:schemeClr>
                </a:solidFill>
                <a:sym typeface="+mn-ea"/>
              </a:rPr>
              <a:t>数字通信系统的组成及各种信道</a:t>
            </a:r>
            <a:endParaRPr sz="2400">
              <a:solidFill>
                <a:schemeClr val="accent1"/>
              </a:solidFill>
            </a:endParaRPr>
          </a:p>
          <a:p>
            <a:pPr>
              <a:lnSpc>
                <a:spcPct val="200000"/>
              </a:lnSpc>
            </a:pPr>
            <a:r>
              <a:rPr lang="zh-CN" sz="2400">
                <a:solidFill>
                  <a:schemeClr val="accent1"/>
                </a:solidFill>
                <a:sym typeface="+mn-ea"/>
              </a:rPr>
              <a:t>编译码</a:t>
            </a:r>
            <a:r>
              <a:rPr lang="zh-CN" sz="2400">
                <a:solidFill>
                  <a:schemeClr val="accent1"/>
                </a:solidFill>
              </a:rPr>
              <a:t>涉及的一些基本概念</a:t>
            </a:r>
            <a:endParaRPr lang="zh-CN" sz="2400">
              <a:solidFill>
                <a:schemeClr val="accent1"/>
              </a:solidFill>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信息传输率</a:t>
            </a:r>
            <a:endParaRPr lang="zh-CN" altLang="en-US"/>
          </a:p>
        </p:txBody>
      </p:sp>
      <p:sp>
        <p:nvSpPr>
          <p:cNvPr id="3" name="内容占位符 2"/>
          <p:cNvSpPr>
            <a:spLocks noGrp="1"/>
          </p:cNvSpPr>
          <p:nvPr>
            <p:ph idx="1"/>
          </p:nvPr>
        </p:nvSpPr>
        <p:spPr>
          <a:xfrm>
            <a:off x="608330" y="1490345"/>
            <a:ext cx="10840085" cy="3483610"/>
          </a:xfrm>
        </p:spPr>
        <p:txBody>
          <a:bodyPr>
            <a:noAutofit/>
          </a:bodyPr>
          <a:p>
            <a:pPr algn="just"/>
            <a:r>
              <a:rPr lang="zh-CN" sz="2400" b="1">
                <a:solidFill>
                  <a:schemeClr val="accent6">
                    <a:lumMod val="75000"/>
                  </a:schemeClr>
                </a:solidFill>
              </a:rPr>
              <a:t>符号传输率</a:t>
            </a:r>
            <a:r>
              <a:rPr sz="2400"/>
              <a:t>：为</a:t>
            </a:r>
            <a:r>
              <a:rPr sz="2400">
                <a:latin typeface="Times New Roman" panose="02020603050405020304" pitchFamily="18" charset="0"/>
                <a:cs typeface="Times New Roman" panose="02020603050405020304" pitchFamily="18" charset="0"/>
              </a:rPr>
              <a:t>1</a:t>
            </a:r>
            <a:r>
              <a:rPr sz="2400"/>
              <a:t>/</a:t>
            </a:r>
            <a:r>
              <a:rPr sz="2400" i="1">
                <a:latin typeface="Times New Roman" panose="02020603050405020304" pitchFamily="18" charset="0"/>
                <a:cs typeface="Times New Roman" panose="02020603050405020304" pitchFamily="18" charset="0"/>
              </a:rPr>
              <a:t>T</a:t>
            </a:r>
            <a:r>
              <a:rPr sz="2400"/>
              <a:t>，每</a:t>
            </a:r>
            <a:r>
              <a:rPr sz="2400" i="1">
                <a:latin typeface="Times New Roman" panose="02020603050405020304" pitchFamily="18" charset="0"/>
                <a:cs typeface="Times New Roman" panose="02020603050405020304" pitchFamily="18" charset="0"/>
              </a:rPr>
              <a:t>T</a:t>
            </a:r>
            <a:r>
              <a:rPr sz="2400"/>
              <a:t>秒传输一个编码符号</a:t>
            </a:r>
            <a:r>
              <a:rPr lang="zh-CN" sz="2400"/>
              <a:t>，即单位时间内传输的符号</a:t>
            </a:r>
            <a:r>
              <a:rPr lang="zh-CN" sz="2400"/>
              <a:t>个数。</a:t>
            </a:r>
            <a:endParaRPr lang="zh-CN" sz="2400"/>
          </a:p>
          <a:p>
            <a:pPr algn="just"/>
            <a:r>
              <a:rPr lang="zh-CN" sz="2400" b="1">
                <a:solidFill>
                  <a:schemeClr val="accent6">
                    <a:lumMod val="75000"/>
                  </a:schemeClr>
                </a:solidFill>
                <a:sym typeface="+mn-ea"/>
              </a:rPr>
              <a:t>码速率</a:t>
            </a:r>
            <a:r>
              <a:rPr lang="zh-CN" sz="2400">
                <a:sym typeface="+mn-ea"/>
              </a:rPr>
              <a:t>：编码后的数据流中有用部分的比例，对于</a:t>
            </a:r>
            <a:r>
              <a:rPr lang="en-US" altLang="zh-CN" sz="2400">
                <a:sym typeface="+mn-ea"/>
              </a:rPr>
              <a:t>(</a:t>
            </a:r>
            <a:r>
              <a:rPr lang="zh-CN" sz="2400" i="1">
                <a:latin typeface="Times New Roman" panose="02020603050405020304" pitchFamily="18" charset="0"/>
                <a:cs typeface="Times New Roman" panose="02020603050405020304" pitchFamily="18" charset="0"/>
                <a:sym typeface="+mn-ea"/>
              </a:rPr>
              <a:t>n</a:t>
            </a:r>
            <a:r>
              <a:rPr lang="en-US" altLang="zh-CN" sz="2400">
                <a:latin typeface="Times New Roman" panose="02020603050405020304" pitchFamily="18" charset="0"/>
                <a:cs typeface="Times New Roman" panose="02020603050405020304" pitchFamily="18" charset="0"/>
                <a:sym typeface="+mn-ea"/>
              </a:rPr>
              <a:t>,</a:t>
            </a:r>
            <a:r>
              <a:rPr lang="zh-CN" sz="2400" i="1">
                <a:latin typeface="Times New Roman" panose="02020603050405020304" pitchFamily="18" charset="0"/>
                <a:cs typeface="Times New Roman" panose="02020603050405020304" pitchFamily="18" charset="0"/>
                <a:sym typeface="+mn-ea"/>
              </a:rPr>
              <a:t>k</a:t>
            </a:r>
            <a:r>
              <a:rPr lang="en-US" altLang="zh-CN" sz="2400">
                <a:sym typeface="+mn-ea"/>
              </a:rPr>
              <a:t>)</a:t>
            </a:r>
            <a:r>
              <a:rPr lang="zh-CN" sz="2400">
                <a:sym typeface="+mn-ea"/>
              </a:rPr>
              <a:t>线性分组码，</a:t>
            </a:r>
            <a:r>
              <a:rPr sz="2400">
                <a:sym typeface="+mn-ea"/>
              </a:rPr>
              <a:t>码速率</a:t>
            </a:r>
            <a:r>
              <a:rPr lang="zh-CN" sz="2400">
                <a:sym typeface="+mn-ea"/>
              </a:rPr>
              <a:t>为</a:t>
            </a:r>
            <a:r>
              <a:rPr sz="2400" i="1">
                <a:latin typeface="Times New Roman" panose="02020603050405020304" pitchFamily="18" charset="0"/>
                <a:cs typeface="Times New Roman" panose="02020603050405020304" pitchFamily="18" charset="0"/>
                <a:sym typeface="+mn-ea"/>
              </a:rPr>
              <a:t>R</a:t>
            </a:r>
            <a:r>
              <a:rPr sz="2400">
                <a:sym typeface="+mn-ea"/>
              </a:rPr>
              <a:t>=</a:t>
            </a:r>
            <a:r>
              <a:rPr sz="2400" i="1">
                <a:latin typeface="Times New Roman" panose="02020603050405020304" pitchFamily="18" charset="0"/>
                <a:cs typeface="Times New Roman" panose="02020603050405020304" pitchFamily="18" charset="0"/>
                <a:sym typeface="+mn-ea"/>
              </a:rPr>
              <a:t>k</a:t>
            </a:r>
            <a:r>
              <a:rPr sz="2400">
                <a:sym typeface="+mn-ea"/>
              </a:rPr>
              <a:t>/</a:t>
            </a:r>
            <a:r>
              <a:rPr sz="2400" i="1">
                <a:latin typeface="Times New Roman" panose="02020603050405020304" pitchFamily="18" charset="0"/>
                <a:cs typeface="Times New Roman" panose="02020603050405020304" pitchFamily="18" charset="0"/>
                <a:sym typeface="+mn-ea"/>
              </a:rPr>
              <a:t>n</a:t>
            </a:r>
            <a:r>
              <a:rPr sz="2400">
                <a:sym typeface="+mn-ea"/>
              </a:rPr>
              <a:t>，即</a:t>
            </a:r>
            <a:r>
              <a:rPr sz="2400" i="1">
                <a:latin typeface="Times New Roman" panose="02020603050405020304" pitchFamily="18" charset="0"/>
                <a:cs typeface="Times New Roman" panose="02020603050405020304" pitchFamily="18" charset="0"/>
                <a:sym typeface="+mn-ea"/>
              </a:rPr>
              <a:t>k</a:t>
            </a:r>
            <a:r>
              <a:rPr sz="2400">
                <a:sym typeface="+mn-ea"/>
              </a:rPr>
              <a:t>个信息比特对应于传送</a:t>
            </a:r>
            <a:r>
              <a:rPr sz="2400" i="1">
                <a:latin typeface="Times New Roman" panose="02020603050405020304" pitchFamily="18" charset="0"/>
                <a:cs typeface="Times New Roman" panose="02020603050405020304" pitchFamily="18" charset="0"/>
                <a:sym typeface="+mn-ea"/>
              </a:rPr>
              <a:t>n</a:t>
            </a:r>
            <a:r>
              <a:rPr sz="2400">
                <a:sym typeface="+mn-ea"/>
              </a:rPr>
              <a:t>个符号</a:t>
            </a:r>
            <a:r>
              <a:rPr lang="zh-CN" sz="2400">
                <a:sym typeface="+mn-ea"/>
              </a:rPr>
              <a:t>。</a:t>
            </a:r>
            <a:endParaRPr lang="zh-CN" sz="2400">
              <a:sym typeface="+mn-ea"/>
            </a:endParaRPr>
          </a:p>
          <a:p>
            <a:pPr algn="just"/>
            <a:r>
              <a:rPr lang="zh-CN" sz="2400" b="1">
                <a:solidFill>
                  <a:schemeClr val="accent6">
                    <a:lumMod val="75000"/>
                  </a:schemeClr>
                </a:solidFill>
              </a:rPr>
              <a:t>信息传输率(数据率)</a:t>
            </a:r>
            <a:r>
              <a:rPr sz="2400"/>
              <a:t>：在编码系统中，若码速率是</a:t>
            </a:r>
            <a:r>
              <a:rPr sz="2400" i="1">
                <a:latin typeface="Times New Roman" panose="02020603050405020304" pitchFamily="18" charset="0"/>
                <a:cs typeface="Times New Roman" panose="02020603050405020304" pitchFamily="18" charset="0"/>
              </a:rPr>
              <a:t>R</a:t>
            </a:r>
            <a:r>
              <a:rPr sz="2400"/>
              <a:t>=</a:t>
            </a:r>
            <a:r>
              <a:rPr sz="2400" i="1">
                <a:latin typeface="Times New Roman" panose="02020603050405020304" pitchFamily="18" charset="0"/>
                <a:cs typeface="Times New Roman" panose="02020603050405020304" pitchFamily="18" charset="0"/>
              </a:rPr>
              <a:t>k</a:t>
            </a:r>
            <a:r>
              <a:rPr sz="2400"/>
              <a:t>/</a:t>
            </a:r>
            <a:r>
              <a:rPr sz="2400" i="1">
                <a:latin typeface="Times New Roman" panose="02020603050405020304" pitchFamily="18" charset="0"/>
                <a:cs typeface="Times New Roman" panose="02020603050405020304" pitchFamily="18" charset="0"/>
              </a:rPr>
              <a:t>n</a:t>
            </a:r>
            <a:r>
              <a:rPr sz="2400"/>
              <a:t>，则信息传输率(数据率)为</a:t>
            </a:r>
            <a:r>
              <a:rPr sz="2400" i="1">
                <a:latin typeface="Times New Roman" panose="02020603050405020304" pitchFamily="18" charset="0"/>
                <a:cs typeface="Times New Roman" panose="02020603050405020304" pitchFamily="18" charset="0"/>
              </a:rPr>
              <a:t>R</a:t>
            </a:r>
            <a:r>
              <a:rPr sz="2400"/>
              <a:t>/</a:t>
            </a:r>
            <a:r>
              <a:rPr sz="2400" i="1">
                <a:latin typeface="Times New Roman" panose="02020603050405020304" pitchFamily="18" charset="0"/>
                <a:cs typeface="Times New Roman" panose="02020603050405020304" pitchFamily="18" charset="0"/>
              </a:rPr>
              <a:t>T</a:t>
            </a:r>
            <a:r>
              <a:rPr sz="2400">
                <a:sym typeface="+mn-ea"/>
              </a:rPr>
              <a:t>(bit/s)</a:t>
            </a:r>
            <a:r>
              <a:rPr lang="zh-CN" sz="2400"/>
              <a:t>。</a:t>
            </a:r>
            <a:endParaRPr lang="zh-CN" sz="24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信道带宽</a:t>
            </a:r>
            <a:endParaRPr lang="zh-CN" altLang="en-US"/>
          </a:p>
        </p:txBody>
      </p:sp>
      <p:sp>
        <p:nvSpPr>
          <p:cNvPr id="3" name="内容占位符 2"/>
          <p:cNvSpPr>
            <a:spLocks noGrp="1"/>
          </p:cNvSpPr>
          <p:nvPr>
            <p:ph idx="1"/>
          </p:nvPr>
        </p:nvSpPr>
        <p:spPr>
          <a:xfrm>
            <a:off x="608330" y="1490345"/>
            <a:ext cx="11303635" cy="4179570"/>
          </a:xfrm>
        </p:spPr>
        <p:txBody>
          <a:bodyPr>
            <a:noAutofit/>
          </a:bodyPr>
          <a:p>
            <a:pPr algn="just"/>
            <a:r>
              <a:rPr sz="2400">
                <a:sym typeface="+mn-ea"/>
              </a:rPr>
              <a:t>除了噪声的作用造成信号改变外，所有的通信系统都会因为带宽有限而造成信号失真。</a:t>
            </a:r>
            <a:endParaRPr sz="2400">
              <a:sym typeface="+mn-ea"/>
            </a:endParaRPr>
          </a:p>
          <a:p>
            <a:pPr algn="just"/>
            <a:r>
              <a:rPr lang="zh-CN" sz="2400" b="1">
                <a:solidFill>
                  <a:schemeClr val="accent6">
                    <a:lumMod val="75000"/>
                  </a:schemeClr>
                </a:solidFill>
                <a:sym typeface="+mn-ea"/>
              </a:rPr>
              <a:t>最小信道带宽</a:t>
            </a:r>
            <a:r>
              <a:rPr sz="2400">
                <a:sym typeface="+mn-ea"/>
              </a:rPr>
              <a:t>：</a:t>
            </a:r>
            <a:r>
              <a:rPr sz="2400">
                <a:sym typeface="+mn-ea"/>
              </a:rPr>
              <a:t>为基本保证信号不因带宽原因而失真</a:t>
            </a:r>
            <a:r>
              <a:rPr lang="zh-CN" sz="2400">
                <a:sym typeface="+mn-ea"/>
              </a:rPr>
              <a:t>，</a:t>
            </a:r>
            <a:r>
              <a:rPr sz="2400">
                <a:sym typeface="+mn-ea"/>
              </a:rPr>
              <a:t>粗略估计等于</a:t>
            </a:r>
            <a:r>
              <a:rPr sz="2400" i="1">
                <a:latin typeface="Times New Roman" panose="02020603050405020304" pitchFamily="18" charset="0"/>
                <a:cs typeface="Times New Roman" panose="02020603050405020304" pitchFamily="18" charset="0"/>
                <a:sym typeface="+mn-ea"/>
              </a:rPr>
              <a:t>W</a:t>
            </a:r>
            <a:r>
              <a:rPr sz="2400">
                <a:sym typeface="+mn-ea"/>
              </a:rPr>
              <a:t>=</a:t>
            </a:r>
            <a:r>
              <a:rPr sz="2400">
                <a:latin typeface="Times New Roman" panose="02020603050405020304" pitchFamily="18" charset="0"/>
                <a:cs typeface="Times New Roman" panose="02020603050405020304" pitchFamily="18" charset="0"/>
                <a:sym typeface="+mn-ea"/>
              </a:rPr>
              <a:t>1</a:t>
            </a:r>
            <a:r>
              <a:rPr sz="2400">
                <a:sym typeface="+mn-ea"/>
              </a:rPr>
              <a:t>/(</a:t>
            </a:r>
            <a:r>
              <a:rPr sz="2400">
                <a:latin typeface="Times New Roman" panose="02020603050405020304" pitchFamily="18" charset="0"/>
                <a:cs typeface="Times New Roman" panose="02020603050405020304" pitchFamily="18" charset="0"/>
                <a:sym typeface="+mn-ea"/>
              </a:rPr>
              <a:t>2</a:t>
            </a:r>
            <a:r>
              <a:rPr sz="2400" i="1">
                <a:latin typeface="Times New Roman" panose="02020603050405020304" pitchFamily="18" charset="0"/>
                <a:cs typeface="Times New Roman" panose="02020603050405020304" pitchFamily="18" charset="0"/>
                <a:sym typeface="+mn-ea"/>
              </a:rPr>
              <a:t>T</a:t>
            </a:r>
            <a:r>
              <a:rPr sz="2400">
                <a:sym typeface="+mn-ea"/>
              </a:rPr>
              <a:t>)(</a:t>
            </a:r>
            <a:r>
              <a:rPr sz="2400">
                <a:latin typeface="Times New Roman" panose="02020603050405020304" pitchFamily="18" charset="0"/>
                <a:cs typeface="Times New Roman" panose="02020603050405020304" pitchFamily="18" charset="0"/>
                <a:sym typeface="+mn-ea"/>
              </a:rPr>
              <a:t>H</a:t>
            </a:r>
            <a:r>
              <a:rPr lang="en-US" sz="2400">
                <a:latin typeface="Times New Roman" panose="02020603050405020304" pitchFamily="18" charset="0"/>
                <a:cs typeface="Times New Roman" panose="02020603050405020304" pitchFamily="18" charset="0"/>
                <a:sym typeface="+mn-ea"/>
              </a:rPr>
              <a:t>z</a:t>
            </a:r>
            <a:r>
              <a:rPr sz="2400">
                <a:sym typeface="+mn-ea"/>
              </a:rPr>
              <a:t>)</a:t>
            </a:r>
            <a:r>
              <a:rPr lang="zh-CN" sz="2400">
                <a:sym typeface="+mn-ea"/>
              </a:rPr>
              <a:t>。</a:t>
            </a:r>
            <a:endParaRPr sz="2400">
              <a:sym typeface="+mn-ea"/>
            </a:endParaRPr>
          </a:p>
          <a:p>
            <a:r>
              <a:rPr lang="zh-CN" sz="2400" b="1">
                <a:solidFill>
                  <a:schemeClr val="accent6">
                    <a:lumMod val="75000"/>
                  </a:schemeClr>
                </a:solidFill>
                <a:sym typeface="+mn-ea"/>
              </a:rPr>
              <a:t>未编码系统</a:t>
            </a:r>
            <a:r>
              <a:rPr sz="2400">
                <a:sym typeface="+mn-ea"/>
              </a:rPr>
              <a:t>：数据率</a:t>
            </a:r>
            <a:r>
              <a:rPr sz="2400">
                <a:latin typeface="Times New Roman" panose="02020603050405020304" pitchFamily="18" charset="0"/>
                <a:cs typeface="Times New Roman" panose="02020603050405020304" pitchFamily="18" charset="0"/>
                <a:sym typeface="+mn-ea"/>
              </a:rPr>
              <a:t>1</a:t>
            </a:r>
            <a:r>
              <a:rPr sz="2400">
                <a:sym typeface="+mn-ea"/>
              </a:rPr>
              <a:t>/</a:t>
            </a:r>
            <a:r>
              <a:rPr sz="2400" i="1">
                <a:latin typeface="Times New Roman" panose="02020603050405020304" pitchFamily="18" charset="0"/>
                <a:cs typeface="Times New Roman" panose="02020603050405020304" pitchFamily="18" charset="0"/>
                <a:sym typeface="+mn-ea"/>
              </a:rPr>
              <a:t>T</a:t>
            </a:r>
            <a:r>
              <a:rPr sz="2400">
                <a:sym typeface="+mn-ea"/>
              </a:rPr>
              <a:t>=</a:t>
            </a:r>
            <a:r>
              <a:rPr sz="2400">
                <a:latin typeface="Times New Roman" panose="02020603050405020304" pitchFamily="18" charset="0"/>
                <a:cs typeface="Times New Roman" panose="02020603050405020304" pitchFamily="18" charset="0"/>
                <a:sym typeface="+mn-ea"/>
              </a:rPr>
              <a:t>2</a:t>
            </a:r>
            <a:r>
              <a:rPr sz="2400" i="1">
                <a:latin typeface="Times New Roman" panose="02020603050405020304" pitchFamily="18" charset="0"/>
                <a:cs typeface="Times New Roman" panose="02020603050405020304" pitchFamily="18" charset="0"/>
                <a:sym typeface="+mn-ea"/>
              </a:rPr>
              <a:t>W</a:t>
            </a:r>
            <a:r>
              <a:rPr sz="2400">
                <a:sym typeface="+mn-ea"/>
              </a:rPr>
              <a:t>，受到带宽影响</a:t>
            </a:r>
            <a:r>
              <a:rPr lang="zh-CN" sz="2400">
                <a:sym typeface="+mn-ea"/>
              </a:rPr>
              <a:t>。</a:t>
            </a:r>
            <a:endParaRPr sz="2400">
              <a:sym typeface="+mn-ea"/>
            </a:endParaRPr>
          </a:p>
          <a:p>
            <a:pPr algn="just"/>
            <a:r>
              <a:rPr lang="zh-CN" sz="2400" b="1">
                <a:solidFill>
                  <a:schemeClr val="accent6">
                    <a:lumMod val="75000"/>
                  </a:schemeClr>
                </a:solidFill>
                <a:sym typeface="+mn-ea"/>
              </a:rPr>
              <a:t>二元编码系统</a:t>
            </a:r>
            <a:r>
              <a:rPr sz="2400">
                <a:sym typeface="+mn-ea"/>
              </a:rPr>
              <a:t>：数据率</a:t>
            </a:r>
            <a:r>
              <a:rPr sz="2400" i="1">
                <a:latin typeface="Times New Roman" panose="02020603050405020304" pitchFamily="18" charset="0"/>
                <a:cs typeface="Times New Roman" panose="02020603050405020304" pitchFamily="18" charset="0"/>
                <a:sym typeface="+mn-ea"/>
              </a:rPr>
              <a:t>R</a:t>
            </a:r>
            <a:r>
              <a:rPr sz="2400">
                <a:sym typeface="+mn-ea"/>
              </a:rPr>
              <a:t>/</a:t>
            </a:r>
            <a:r>
              <a:rPr sz="2400" i="1">
                <a:latin typeface="Times New Roman" panose="02020603050405020304" pitchFamily="18" charset="0"/>
                <a:cs typeface="Times New Roman" panose="02020603050405020304" pitchFamily="18" charset="0"/>
                <a:sym typeface="+mn-ea"/>
              </a:rPr>
              <a:t>T</a:t>
            </a:r>
            <a:r>
              <a:rPr sz="2400">
                <a:sym typeface="+mn-ea"/>
              </a:rPr>
              <a:t>=</a:t>
            </a:r>
            <a:r>
              <a:rPr sz="2400">
                <a:latin typeface="Times New Roman" panose="02020603050405020304" pitchFamily="18" charset="0"/>
                <a:cs typeface="Times New Roman" panose="02020603050405020304" pitchFamily="18" charset="0"/>
                <a:sym typeface="+mn-ea"/>
              </a:rPr>
              <a:t>2</a:t>
            </a:r>
            <a:r>
              <a:rPr sz="2400" i="1">
                <a:latin typeface="Times New Roman" panose="02020603050405020304" pitchFamily="18" charset="0"/>
                <a:cs typeface="Times New Roman" panose="02020603050405020304" pitchFamily="18" charset="0"/>
                <a:sym typeface="+mn-ea"/>
              </a:rPr>
              <a:t>RW</a:t>
            </a:r>
            <a:r>
              <a:rPr sz="2400">
                <a:sym typeface="+mn-ea"/>
              </a:rPr>
              <a:t>。</a:t>
            </a:r>
            <a:r>
              <a:rPr lang="zh-CN" sz="2400">
                <a:sym typeface="+mn-ea"/>
              </a:rPr>
              <a:t>同未编码系统相比，</a:t>
            </a:r>
            <a:r>
              <a:rPr sz="2400">
                <a:sym typeface="+mn-ea"/>
              </a:rPr>
              <a:t>若要保持数据率不变，则要求带宽扩展</a:t>
            </a:r>
            <a:r>
              <a:rPr sz="2400">
                <a:latin typeface="Times New Roman" panose="02020603050405020304" pitchFamily="18" charset="0"/>
                <a:cs typeface="Times New Roman" panose="02020603050405020304" pitchFamily="18" charset="0"/>
                <a:sym typeface="+mn-ea"/>
              </a:rPr>
              <a:t>1</a:t>
            </a:r>
            <a:r>
              <a:rPr sz="2400">
                <a:sym typeface="+mn-ea"/>
              </a:rPr>
              <a:t>/</a:t>
            </a:r>
            <a:r>
              <a:rPr sz="2400" i="1">
                <a:latin typeface="Times New Roman" panose="02020603050405020304" pitchFamily="18" charset="0"/>
                <a:cs typeface="Times New Roman" panose="02020603050405020304" pitchFamily="18" charset="0"/>
                <a:sym typeface="+mn-ea"/>
              </a:rPr>
              <a:t>R</a:t>
            </a:r>
            <a:r>
              <a:rPr sz="2400">
                <a:sym typeface="+mn-ea"/>
              </a:rPr>
              <a:t>倍</a:t>
            </a:r>
            <a:r>
              <a:rPr lang="zh-CN" sz="2400">
                <a:sym typeface="+mn-ea"/>
              </a:rPr>
              <a:t>。</a:t>
            </a:r>
            <a:endParaRPr lang="zh-CN" sz="2400">
              <a:sym typeface="+mn-ea"/>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AWGN信道的分组编码系统</a:t>
            </a:r>
            <a:endParaRPr lang="zh-CN" altLang="en-US"/>
          </a:p>
        </p:txBody>
      </p:sp>
      <p:sp>
        <p:nvSpPr>
          <p:cNvPr id="39937" name="矩形 157740"/>
          <p:cNvSpPr/>
          <p:nvPr/>
        </p:nvSpPr>
        <p:spPr>
          <a:xfrm>
            <a:off x="1131253" y="3656648"/>
            <a:ext cx="1008062"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39" name="直接连接符 157701"/>
          <p:cNvSpPr/>
          <p:nvPr/>
        </p:nvSpPr>
        <p:spPr>
          <a:xfrm>
            <a:off x="3939540" y="1424623"/>
            <a:ext cx="73025" cy="3024187"/>
          </a:xfrm>
          <a:prstGeom prst="line">
            <a:avLst/>
          </a:prstGeom>
          <a:ln w="25400" cap="flat" cmpd="sng">
            <a:solidFill>
              <a:srgbClr val="000000"/>
            </a:solidFill>
            <a:prstDash val="dash"/>
            <a:round/>
            <a:headEnd type="none" w="med" len="med"/>
            <a:tailEnd type="none" w="med" len="med"/>
          </a:ln>
        </p:spPr>
      </p:sp>
      <p:sp>
        <p:nvSpPr>
          <p:cNvPr id="39940" name="文本框 157705"/>
          <p:cNvSpPr txBox="1"/>
          <p:nvPr/>
        </p:nvSpPr>
        <p:spPr>
          <a:xfrm>
            <a:off x="1275715" y="3801110"/>
            <a:ext cx="647700"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信 宿</a:t>
            </a:r>
            <a:endParaRPr lang="zh-CN" altLang="en-US" sz="1400" b="1" dirty="0">
              <a:latin typeface="Arial" panose="020B0604020202020204" pitchFamily="34" charset="0"/>
              <a:ea typeface="宋体" panose="02010600030101010101" pitchFamily="2" charset="-122"/>
            </a:endParaRPr>
          </a:p>
        </p:txBody>
      </p:sp>
      <p:sp>
        <p:nvSpPr>
          <p:cNvPr id="39941" name="矩形 157706"/>
          <p:cNvSpPr/>
          <p:nvPr/>
        </p:nvSpPr>
        <p:spPr>
          <a:xfrm>
            <a:off x="2571115" y="1856423"/>
            <a:ext cx="1079500" cy="577850"/>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42" name="文本框 157707"/>
          <p:cNvSpPr txBox="1"/>
          <p:nvPr/>
        </p:nvSpPr>
        <p:spPr>
          <a:xfrm>
            <a:off x="2713990" y="2000885"/>
            <a:ext cx="936625"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编 码 器</a:t>
            </a:r>
            <a:endParaRPr lang="zh-CN" altLang="en-US" sz="1400" b="1" dirty="0">
              <a:latin typeface="Arial" panose="020B0604020202020204" pitchFamily="34" charset="0"/>
              <a:ea typeface="宋体" panose="02010600030101010101" pitchFamily="2" charset="-122"/>
            </a:endParaRPr>
          </a:p>
        </p:txBody>
      </p:sp>
      <p:sp>
        <p:nvSpPr>
          <p:cNvPr id="39943" name="矩形 157710"/>
          <p:cNvSpPr/>
          <p:nvPr/>
        </p:nvSpPr>
        <p:spPr>
          <a:xfrm>
            <a:off x="4084003" y="1856423"/>
            <a:ext cx="1152525"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44" name="文本框 157711"/>
          <p:cNvSpPr txBox="1"/>
          <p:nvPr/>
        </p:nvSpPr>
        <p:spPr>
          <a:xfrm>
            <a:off x="4228465" y="2000885"/>
            <a:ext cx="863600"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调 制 器</a:t>
            </a:r>
            <a:endParaRPr lang="zh-CN" altLang="en-US" sz="1400" b="1" dirty="0">
              <a:latin typeface="Arial" panose="020B0604020202020204" pitchFamily="34" charset="0"/>
              <a:ea typeface="宋体" panose="02010600030101010101" pitchFamily="2" charset="-122"/>
            </a:endParaRPr>
          </a:p>
        </p:txBody>
      </p:sp>
      <p:sp>
        <p:nvSpPr>
          <p:cNvPr id="39945" name="矩形 157712"/>
          <p:cNvSpPr/>
          <p:nvPr/>
        </p:nvSpPr>
        <p:spPr>
          <a:xfrm>
            <a:off x="6100128" y="2648585"/>
            <a:ext cx="1368425" cy="576263"/>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46" name="文本框 157713"/>
          <p:cNvSpPr txBox="1"/>
          <p:nvPr/>
        </p:nvSpPr>
        <p:spPr>
          <a:xfrm>
            <a:off x="6171565" y="2793048"/>
            <a:ext cx="1295400" cy="304800"/>
          </a:xfrm>
          <a:prstGeom prst="rect">
            <a:avLst/>
          </a:prstGeom>
          <a:noFill/>
          <a:ln w="9525">
            <a:noFill/>
          </a:ln>
        </p:spPr>
        <p:txBody>
          <a:bodyPr anchor="t" anchorCtr="0">
            <a:spAutoFit/>
          </a:bodyPr>
          <a:p>
            <a:pPr>
              <a:spcBef>
                <a:spcPct val="50000"/>
              </a:spcBef>
            </a:pPr>
            <a:r>
              <a:rPr lang="en-US" altLang="zh-CN" sz="1400" b="1">
                <a:latin typeface="Times New Roman" panose="02020603050405020304" pitchFamily="18" charset="0"/>
                <a:ea typeface="宋体" panose="02010600030101010101" pitchFamily="2" charset="-122"/>
              </a:rPr>
              <a:t>AWGN</a:t>
            </a: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信 道</a:t>
            </a:r>
            <a:endParaRPr lang="zh-CN" altLang="en-US" sz="1400" b="1" dirty="0">
              <a:latin typeface="Arial" panose="020B0604020202020204" pitchFamily="34" charset="0"/>
              <a:ea typeface="宋体" panose="02010600030101010101" pitchFamily="2" charset="-122"/>
            </a:endParaRPr>
          </a:p>
        </p:txBody>
      </p:sp>
      <p:sp>
        <p:nvSpPr>
          <p:cNvPr id="39947" name="矩形 157714"/>
          <p:cNvSpPr/>
          <p:nvPr/>
        </p:nvSpPr>
        <p:spPr>
          <a:xfrm>
            <a:off x="6100128" y="3656648"/>
            <a:ext cx="1368425"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48" name="文本框 157715"/>
          <p:cNvSpPr txBox="1"/>
          <p:nvPr/>
        </p:nvSpPr>
        <p:spPr>
          <a:xfrm>
            <a:off x="6100128" y="3801110"/>
            <a:ext cx="1368425" cy="304800"/>
          </a:xfrm>
          <a:prstGeom prst="rect">
            <a:avLst/>
          </a:prstGeom>
          <a:noFill/>
          <a:ln w="9525">
            <a:noFill/>
          </a:ln>
        </p:spPr>
        <p:txBody>
          <a:bodyPr anchor="t" anchorCtr="0">
            <a:spAutoFit/>
          </a:bodyPr>
          <a:p>
            <a:pPr>
              <a:spcBef>
                <a:spcPct val="50000"/>
              </a:spcBef>
            </a:pP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匹 配 滤 波 器</a:t>
            </a:r>
            <a:endParaRPr lang="zh-CN" altLang="en-US" sz="1400" b="1" dirty="0">
              <a:latin typeface="Arial" panose="020B0604020202020204" pitchFamily="34" charset="0"/>
              <a:ea typeface="宋体" panose="02010600030101010101" pitchFamily="2" charset="-122"/>
            </a:endParaRPr>
          </a:p>
        </p:txBody>
      </p:sp>
      <p:sp>
        <p:nvSpPr>
          <p:cNvPr id="39949" name="矩形 157716"/>
          <p:cNvSpPr/>
          <p:nvPr/>
        </p:nvSpPr>
        <p:spPr>
          <a:xfrm>
            <a:off x="2644140" y="3656648"/>
            <a:ext cx="1008063" cy="577850"/>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50" name="文本框 157717"/>
          <p:cNvSpPr txBox="1"/>
          <p:nvPr/>
        </p:nvSpPr>
        <p:spPr>
          <a:xfrm>
            <a:off x="2715578" y="3801110"/>
            <a:ext cx="863600"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译 码 器</a:t>
            </a:r>
            <a:endParaRPr lang="zh-CN" altLang="en-US" sz="1400" b="1" dirty="0">
              <a:latin typeface="Arial" panose="020B0604020202020204" pitchFamily="34" charset="0"/>
              <a:ea typeface="宋体" panose="02010600030101010101" pitchFamily="2" charset="-122"/>
            </a:endParaRPr>
          </a:p>
        </p:txBody>
      </p:sp>
      <p:sp>
        <p:nvSpPr>
          <p:cNvPr id="39951" name="矩形 157718"/>
          <p:cNvSpPr/>
          <p:nvPr/>
        </p:nvSpPr>
        <p:spPr>
          <a:xfrm>
            <a:off x="4084003" y="3656648"/>
            <a:ext cx="1295400"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52" name="文本框 157719"/>
          <p:cNvSpPr txBox="1"/>
          <p:nvPr/>
        </p:nvSpPr>
        <p:spPr>
          <a:xfrm>
            <a:off x="4084003" y="3801110"/>
            <a:ext cx="1296987" cy="304800"/>
          </a:xfrm>
          <a:prstGeom prst="rect">
            <a:avLst/>
          </a:prstGeom>
          <a:noFill/>
          <a:ln w="9525">
            <a:noFill/>
          </a:ln>
        </p:spPr>
        <p:txBody>
          <a:bodyPr anchor="t" anchorCtr="0">
            <a:spAutoFit/>
          </a:bodyPr>
          <a:p>
            <a:pPr>
              <a:spcBef>
                <a:spcPct val="50000"/>
              </a:spcBef>
            </a:pPr>
            <a:r>
              <a:rPr lang="en-US" altLang="zh-CN" sz="1400" b="1" i="1">
                <a:latin typeface="Times New Roman" panose="02020603050405020304" pitchFamily="18" charset="0"/>
                <a:ea typeface="宋体" panose="02010600030101010101" pitchFamily="2" charset="-122"/>
              </a:rPr>
              <a:t>Q</a:t>
            </a:r>
            <a:r>
              <a:rPr lang="en-US" altLang="zh-CN" sz="1400" b="1">
                <a:latin typeface="Arial" panose="020B0604020202020204" pitchFamily="34" charset="0"/>
                <a:ea typeface="宋体" panose="02010600030101010101" pitchFamily="2" charset="-122"/>
              </a:rPr>
              <a:t> </a:t>
            </a:r>
            <a:r>
              <a:rPr lang="zh-CN" altLang="en-US" sz="1400" b="1" dirty="0">
                <a:latin typeface="Arial" panose="020B0604020202020204" pitchFamily="34" charset="0"/>
                <a:ea typeface="宋体" panose="02010600030101010101" pitchFamily="2" charset="-122"/>
              </a:rPr>
              <a:t>级 量 化 器</a:t>
            </a:r>
            <a:endParaRPr lang="zh-CN" altLang="en-US" sz="1400" b="1" dirty="0">
              <a:latin typeface="Arial" panose="020B0604020202020204" pitchFamily="34" charset="0"/>
              <a:ea typeface="宋体" panose="02010600030101010101" pitchFamily="2" charset="-122"/>
            </a:endParaRPr>
          </a:p>
        </p:txBody>
      </p:sp>
      <p:sp>
        <p:nvSpPr>
          <p:cNvPr id="39953" name="直接连接符 157721"/>
          <p:cNvSpPr/>
          <p:nvPr/>
        </p:nvSpPr>
        <p:spPr>
          <a:xfrm>
            <a:off x="2139315" y="2164398"/>
            <a:ext cx="433388" cy="0"/>
          </a:xfrm>
          <a:prstGeom prst="line">
            <a:avLst/>
          </a:prstGeom>
          <a:ln w="9525" cap="flat" cmpd="sng">
            <a:solidFill>
              <a:schemeClr val="tx1"/>
            </a:solidFill>
            <a:prstDash val="solid"/>
            <a:round/>
            <a:headEnd type="none" w="med" len="med"/>
            <a:tailEnd type="triangle" w="med" len="med"/>
          </a:ln>
        </p:spPr>
      </p:sp>
      <p:sp>
        <p:nvSpPr>
          <p:cNvPr id="39954" name="直接连接符 157722"/>
          <p:cNvSpPr/>
          <p:nvPr/>
        </p:nvSpPr>
        <p:spPr>
          <a:xfrm>
            <a:off x="3652203" y="2164398"/>
            <a:ext cx="433387" cy="0"/>
          </a:xfrm>
          <a:prstGeom prst="line">
            <a:avLst/>
          </a:prstGeom>
          <a:ln w="9525" cap="flat" cmpd="sng">
            <a:solidFill>
              <a:schemeClr val="tx1"/>
            </a:solidFill>
            <a:prstDash val="solid"/>
            <a:round/>
            <a:headEnd type="none" w="med" len="med"/>
            <a:tailEnd type="triangle" w="med" len="med"/>
          </a:ln>
        </p:spPr>
      </p:sp>
      <p:sp>
        <p:nvSpPr>
          <p:cNvPr id="39955" name="直接连接符 157724"/>
          <p:cNvSpPr/>
          <p:nvPr/>
        </p:nvSpPr>
        <p:spPr>
          <a:xfrm>
            <a:off x="6747828" y="2145348"/>
            <a:ext cx="0" cy="503237"/>
          </a:xfrm>
          <a:prstGeom prst="line">
            <a:avLst/>
          </a:prstGeom>
          <a:ln w="9525" cap="flat" cmpd="sng">
            <a:solidFill>
              <a:schemeClr val="tx1"/>
            </a:solidFill>
            <a:prstDash val="solid"/>
            <a:round/>
            <a:headEnd type="none" w="med" len="med"/>
            <a:tailEnd type="triangle" w="med" len="med"/>
          </a:ln>
        </p:spPr>
      </p:sp>
      <p:sp>
        <p:nvSpPr>
          <p:cNvPr id="39956" name="直接连接符 157725"/>
          <p:cNvSpPr/>
          <p:nvPr/>
        </p:nvSpPr>
        <p:spPr>
          <a:xfrm>
            <a:off x="6747828" y="3224848"/>
            <a:ext cx="0" cy="431800"/>
          </a:xfrm>
          <a:prstGeom prst="line">
            <a:avLst/>
          </a:prstGeom>
          <a:ln w="9525" cap="flat" cmpd="sng">
            <a:solidFill>
              <a:schemeClr val="tx1"/>
            </a:solidFill>
            <a:prstDash val="solid"/>
            <a:round/>
            <a:headEnd type="none" w="med" len="med"/>
            <a:tailEnd type="triangle" w="med" len="med"/>
          </a:ln>
        </p:spPr>
      </p:sp>
      <p:sp>
        <p:nvSpPr>
          <p:cNvPr id="39957" name="文本框 157726"/>
          <p:cNvSpPr txBox="1"/>
          <p:nvPr/>
        </p:nvSpPr>
        <p:spPr>
          <a:xfrm>
            <a:off x="1131253" y="1346835"/>
            <a:ext cx="935037" cy="366713"/>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U</a:t>
            </a:r>
            <a:r>
              <a:rPr lang="en-US" altLang="zh-CN" b="1" i="1" baseline="-25000">
                <a:latin typeface="Times New Roman" panose="02020603050405020304" pitchFamily="18" charset="0"/>
                <a:ea typeface="宋体" panose="02010600030101010101" pitchFamily="2" charset="-122"/>
              </a:rPr>
              <a:t>m</a:t>
            </a:r>
            <a:r>
              <a:rPr lang="en-US" altLang="zh-CN" b="1">
                <a:latin typeface="Times New Roman" panose="02020603050405020304" pitchFamily="18" charset="0"/>
                <a:ea typeface="宋体" panose="02010600030101010101" pitchFamily="2" charset="-122"/>
              </a:rPr>
              <a:t>=</a:t>
            </a:r>
            <a:r>
              <a:rPr lang="en-US" altLang="zh-CN" b="1" i="1" err="1">
                <a:latin typeface="Times New Roman" panose="02020603050405020304" pitchFamily="18" charset="0"/>
                <a:ea typeface="宋体" panose="02010600030101010101" pitchFamily="2" charset="-122"/>
              </a:rPr>
              <a:t>H</a:t>
            </a:r>
            <a:r>
              <a:rPr lang="en-US" altLang="zh-CN" b="1" i="1" baseline="-25000" err="1">
                <a:latin typeface="Times New Roman" panose="02020603050405020304" pitchFamily="18" charset="0"/>
                <a:ea typeface="宋体" panose="02010600030101010101" pitchFamily="2" charset="-122"/>
              </a:rPr>
              <a:t>m</a:t>
            </a:r>
            <a:endParaRPr lang="en-US" altLang="zh-CN" b="1" i="1" baseline="-25000">
              <a:latin typeface="Times New Roman" panose="02020603050405020304" pitchFamily="18" charset="0"/>
              <a:ea typeface="宋体" panose="02010600030101010101" pitchFamily="2" charset="-122"/>
            </a:endParaRPr>
          </a:p>
        </p:txBody>
      </p:sp>
      <p:sp>
        <p:nvSpPr>
          <p:cNvPr id="39958" name="文本框 157727"/>
          <p:cNvSpPr txBox="1"/>
          <p:nvPr/>
        </p:nvSpPr>
        <p:spPr>
          <a:xfrm>
            <a:off x="2210753" y="4010660"/>
            <a:ext cx="360362" cy="366713"/>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V</a:t>
            </a:r>
            <a:endParaRPr lang="en-US" altLang="zh-CN" b="1" i="1">
              <a:latin typeface="Times New Roman" panose="02020603050405020304" pitchFamily="18" charset="0"/>
              <a:ea typeface="宋体" panose="02010600030101010101" pitchFamily="2" charset="-122"/>
            </a:endParaRPr>
          </a:p>
        </p:txBody>
      </p:sp>
      <p:sp>
        <p:nvSpPr>
          <p:cNvPr id="39959" name="文本框 157728"/>
          <p:cNvSpPr txBox="1"/>
          <p:nvPr/>
        </p:nvSpPr>
        <p:spPr>
          <a:xfrm>
            <a:off x="3652203" y="1705610"/>
            <a:ext cx="576262" cy="366713"/>
          </a:xfrm>
          <a:prstGeom prst="rect">
            <a:avLst/>
          </a:prstGeom>
          <a:noFill/>
          <a:ln w="9525">
            <a:noFill/>
          </a:ln>
        </p:spPr>
        <p:txBody>
          <a:bodyPr anchor="t" anchorCtr="0">
            <a:spAutoFit/>
          </a:bodyPr>
          <a:p>
            <a:pPr>
              <a:spcBef>
                <a:spcPct val="50000"/>
              </a:spcBef>
            </a:pPr>
            <a:r>
              <a:rPr lang="en-US" altLang="zh-CN" b="1" i="1" err="1">
                <a:latin typeface="Times New Roman" panose="02020603050405020304" pitchFamily="18" charset="0"/>
                <a:ea typeface="宋体" panose="02010600030101010101" pitchFamily="2" charset="-122"/>
              </a:rPr>
              <a:t>X</a:t>
            </a:r>
            <a:r>
              <a:rPr lang="en-US" altLang="zh-CN" b="1" i="1" baseline="-25000" err="1">
                <a:latin typeface="Times New Roman" panose="02020603050405020304" pitchFamily="18" charset="0"/>
                <a:ea typeface="宋体" panose="02010600030101010101" pitchFamily="2" charset="-122"/>
              </a:rPr>
              <a:t>m</a:t>
            </a:r>
            <a:endParaRPr lang="en-US" altLang="zh-CN" b="1" i="1" baseline="-25000">
              <a:latin typeface="Times New Roman" panose="02020603050405020304" pitchFamily="18" charset="0"/>
              <a:ea typeface="宋体" panose="02010600030101010101" pitchFamily="2" charset="-122"/>
            </a:endParaRPr>
          </a:p>
        </p:txBody>
      </p:sp>
      <p:sp>
        <p:nvSpPr>
          <p:cNvPr id="39960" name="文本框 157729"/>
          <p:cNvSpPr txBox="1"/>
          <p:nvPr/>
        </p:nvSpPr>
        <p:spPr>
          <a:xfrm>
            <a:off x="3652203" y="4010660"/>
            <a:ext cx="360362" cy="366713"/>
          </a:xfrm>
          <a:prstGeom prst="rect">
            <a:avLst/>
          </a:prstGeom>
          <a:noFill/>
          <a:ln w="9525">
            <a:noFill/>
          </a:ln>
        </p:spPr>
        <p:txBody>
          <a:bodyPr anchor="t" anchorCtr="0">
            <a:spAutoFit/>
          </a:bodyPr>
          <a:p>
            <a:pPr>
              <a:spcBef>
                <a:spcPct val="50000"/>
              </a:spcBef>
            </a:pPr>
            <a:r>
              <a:rPr lang="en-US" altLang="zh-CN" b="1" i="1">
                <a:latin typeface="Times New Roman" panose="02020603050405020304" pitchFamily="18" charset="0"/>
                <a:ea typeface="宋体" panose="02010600030101010101" pitchFamily="2" charset="-122"/>
              </a:rPr>
              <a:t>Y</a:t>
            </a:r>
            <a:endParaRPr lang="en-US" altLang="zh-CN" b="1" i="1">
              <a:latin typeface="Times New Roman" panose="02020603050405020304" pitchFamily="18" charset="0"/>
              <a:ea typeface="宋体" panose="02010600030101010101" pitchFamily="2" charset="-122"/>
            </a:endParaRPr>
          </a:p>
        </p:txBody>
      </p:sp>
      <p:sp>
        <p:nvSpPr>
          <p:cNvPr id="39961" name="文本框 157730"/>
          <p:cNvSpPr txBox="1"/>
          <p:nvPr/>
        </p:nvSpPr>
        <p:spPr>
          <a:xfrm>
            <a:off x="5452428" y="1705610"/>
            <a:ext cx="647700" cy="366713"/>
          </a:xfrm>
          <a:prstGeom prst="rect">
            <a:avLst/>
          </a:prstGeom>
          <a:noFill/>
          <a:ln w="9525">
            <a:noFill/>
          </a:ln>
        </p:spPr>
        <p:txBody>
          <a:bodyPr anchor="t" anchorCtr="0">
            <a:spAutoFit/>
          </a:bodyPr>
          <a:p>
            <a:pPr>
              <a:spcBef>
                <a:spcPct val="50000"/>
              </a:spcBef>
            </a:pPr>
            <a:r>
              <a:rPr lang="en-US" altLang="zh-CN" i="1" err="1">
                <a:latin typeface="Times New Roman" panose="02020603050405020304" pitchFamily="18" charset="0"/>
                <a:ea typeface="宋体" panose="02010600030101010101" pitchFamily="2" charset="-122"/>
              </a:rPr>
              <a:t>x</a:t>
            </a:r>
            <a:r>
              <a:rPr lang="en-US" altLang="zh-CN" i="1" baseline="-25000" err="1">
                <a:latin typeface="Times New Roman" panose="02020603050405020304" pitchFamily="18" charset="0"/>
                <a:ea typeface="宋体" panose="02010600030101010101" pitchFamily="2" charset="-122"/>
              </a:rPr>
              <a:t>m</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9962" name="文本框 157731"/>
          <p:cNvSpPr txBox="1"/>
          <p:nvPr/>
        </p:nvSpPr>
        <p:spPr>
          <a:xfrm>
            <a:off x="5523865" y="3945573"/>
            <a:ext cx="574675" cy="366712"/>
          </a:xfrm>
          <a:prstGeom prst="rect">
            <a:avLst/>
          </a:prstGeom>
          <a:noFill/>
          <a:ln w="9525">
            <a:noFill/>
          </a:ln>
        </p:spPr>
        <p:txBody>
          <a:bodyPr anchor="t" anchorCtr="0">
            <a:spAutoFit/>
          </a:bodyPr>
          <a:p>
            <a:pPr>
              <a:spcBef>
                <a:spcPct val="50000"/>
              </a:spcBef>
            </a:pPr>
            <a:r>
              <a:rPr lang="en-US" altLang="zh-CN" i="1" err="1">
                <a:latin typeface="Times New Roman" panose="02020603050405020304" pitchFamily="18" charset="0"/>
                <a:ea typeface="宋体" panose="02010600030101010101" pitchFamily="2" charset="-122"/>
              </a:rPr>
              <a:t>y</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39963" name="直接连接符 157735"/>
          <p:cNvSpPr/>
          <p:nvPr/>
        </p:nvSpPr>
        <p:spPr>
          <a:xfrm flipH="1">
            <a:off x="5379403" y="3945573"/>
            <a:ext cx="720725" cy="0"/>
          </a:xfrm>
          <a:prstGeom prst="line">
            <a:avLst/>
          </a:prstGeom>
          <a:ln w="9525" cap="flat" cmpd="sng">
            <a:solidFill>
              <a:schemeClr val="tx1"/>
            </a:solidFill>
            <a:prstDash val="solid"/>
            <a:round/>
            <a:headEnd type="none" w="med" len="med"/>
            <a:tailEnd type="triangle" w="med" len="med"/>
          </a:ln>
        </p:spPr>
      </p:sp>
      <p:sp>
        <p:nvSpPr>
          <p:cNvPr id="39964" name="直接连接符 157737"/>
          <p:cNvSpPr/>
          <p:nvPr/>
        </p:nvSpPr>
        <p:spPr>
          <a:xfrm flipH="1">
            <a:off x="3652203" y="3945573"/>
            <a:ext cx="431800" cy="0"/>
          </a:xfrm>
          <a:prstGeom prst="line">
            <a:avLst/>
          </a:prstGeom>
          <a:ln w="9525" cap="flat" cmpd="sng">
            <a:solidFill>
              <a:schemeClr val="tx1"/>
            </a:solidFill>
            <a:prstDash val="solid"/>
            <a:round/>
            <a:headEnd type="none" w="med" len="med"/>
            <a:tailEnd type="triangle" w="med" len="med"/>
          </a:ln>
        </p:spPr>
      </p:sp>
      <p:sp>
        <p:nvSpPr>
          <p:cNvPr id="39965" name="矩形 157738"/>
          <p:cNvSpPr/>
          <p:nvPr/>
        </p:nvSpPr>
        <p:spPr>
          <a:xfrm>
            <a:off x="1131253" y="1856423"/>
            <a:ext cx="1008062" cy="576262"/>
          </a:xfrm>
          <a:prstGeom prst="rect">
            <a:avLst/>
          </a:prstGeom>
          <a:solidFill>
            <a:srgbClr val="92D050"/>
          </a:solidFill>
          <a:ln w="9525" cap="flat" cmpd="sng">
            <a:solidFill>
              <a:schemeClr val="tx1"/>
            </a:solidFill>
            <a:prstDash val="solid"/>
            <a:miter/>
            <a:headEnd type="none" w="med" len="med"/>
            <a:tailEnd type="none" w="med" len="med"/>
          </a:ln>
        </p:spPr>
        <p:txBody>
          <a:bodyPr anchor="t" anchorCtr="0"/>
          <a:p>
            <a:pPr algn="ctr"/>
            <a:endParaRPr lang="zh-CN" altLang="en-US" dirty="0">
              <a:latin typeface="Arial" panose="020B0604020202020204" pitchFamily="34" charset="0"/>
              <a:ea typeface="宋体" panose="02010600030101010101" pitchFamily="2" charset="-122"/>
            </a:endParaRPr>
          </a:p>
        </p:txBody>
      </p:sp>
      <p:sp>
        <p:nvSpPr>
          <p:cNvPr id="39966" name="文本框 157703"/>
          <p:cNvSpPr txBox="1"/>
          <p:nvPr/>
        </p:nvSpPr>
        <p:spPr>
          <a:xfrm>
            <a:off x="1202690" y="2000885"/>
            <a:ext cx="863600"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数 字 源</a:t>
            </a:r>
            <a:endParaRPr lang="zh-CN" altLang="en-US" sz="1400" b="1" dirty="0">
              <a:latin typeface="Arial" panose="020B0604020202020204" pitchFamily="34" charset="0"/>
              <a:ea typeface="宋体" panose="02010600030101010101" pitchFamily="2" charset="-122"/>
            </a:endParaRPr>
          </a:p>
        </p:txBody>
      </p:sp>
      <p:sp>
        <p:nvSpPr>
          <p:cNvPr id="39967" name="直接连接符 157739"/>
          <p:cNvSpPr/>
          <p:nvPr/>
        </p:nvSpPr>
        <p:spPr>
          <a:xfrm>
            <a:off x="5236528" y="2145348"/>
            <a:ext cx="1511300" cy="0"/>
          </a:xfrm>
          <a:prstGeom prst="line">
            <a:avLst/>
          </a:prstGeom>
          <a:ln w="9525" cap="flat" cmpd="sng">
            <a:solidFill>
              <a:schemeClr val="tx1"/>
            </a:solidFill>
            <a:prstDash val="solid"/>
            <a:round/>
            <a:headEnd type="none" w="med" len="med"/>
            <a:tailEnd type="none" w="med" len="med"/>
          </a:ln>
        </p:spPr>
      </p:sp>
      <p:sp>
        <p:nvSpPr>
          <p:cNvPr id="39968" name="直接连接符 157741"/>
          <p:cNvSpPr/>
          <p:nvPr/>
        </p:nvSpPr>
        <p:spPr>
          <a:xfrm flipH="1">
            <a:off x="2139315" y="3945573"/>
            <a:ext cx="504825" cy="0"/>
          </a:xfrm>
          <a:prstGeom prst="line">
            <a:avLst/>
          </a:prstGeom>
          <a:ln w="9525" cap="flat" cmpd="sng">
            <a:solidFill>
              <a:schemeClr val="tx1"/>
            </a:solidFill>
            <a:prstDash val="solid"/>
            <a:round/>
            <a:headEnd type="none" w="med" len="med"/>
            <a:tailEnd type="triangle" w="med" len="med"/>
          </a:ln>
        </p:spPr>
      </p:sp>
      <p:sp>
        <p:nvSpPr>
          <p:cNvPr id="39969" name="文本框 157742"/>
          <p:cNvSpPr txBox="1"/>
          <p:nvPr/>
        </p:nvSpPr>
        <p:spPr>
          <a:xfrm>
            <a:off x="4155440" y="1371283"/>
            <a:ext cx="1800225" cy="304800"/>
          </a:xfrm>
          <a:prstGeom prst="rect">
            <a:avLst/>
          </a:prstGeom>
          <a:noFill/>
          <a:ln w="9525">
            <a:noFill/>
          </a:ln>
        </p:spPr>
        <p:txBody>
          <a:bodyPr anchor="t" anchorCtr="0">
            <a:spAutoFit/>
          </a:bodyPr>
          <a:p>
            <a:pPr>
              <a:spcBef>
                <a:spcPct val="50000"/>
              </a:spcBef>
            </a:pPr>
            <a:r>
              <a:rPr lang="zh-CN" altLang="en-US" sz="1400" b="1" dirty="0">
                <a:latin typeface="Arial" panose="020B0604020202020204" pitchFamily="34" charset="0"/>
                <a:ea typeface="宋体" panose="02010600030101010101" pitchFamily="2" charset="-122"/>
              </a:rPr>
              <a:t>离 散 无 记 忆 信 道</a:t>
            </a:r>
            <a:endParaRPr lang="zh-CN" altLang="en-US" sz="1400" b="1" dirty="0">
              <a:latin typeface="Arial" panose="020B0604020202020204" pitchFamily="34" charset="0"/>
              <a:ea typeface="宋体" panose="02010600030101010101" pitchFamily="2" charset="-122"/>
            </a:endParaRPr>
          </a:p>
        </p:txBody>
      </p:sp>
      <p:sp>
        <p:nvSpPr>
          <p:cNvPr id="7" name="文本框 114821"/>
          <p:cNvSpPr txBox="1"/>
          <p:nvPr/>
        </p:nvSpPr>
        <p:spPr>
          <a:xfrm>
            <a:off x="2249170" y="4451350"/>
            <a:ext cx="4095115" cy="368300"/>
          </a:xfrm>
          <a:prstGeom prst="rect">
            <a:avLst/>
          </a:prstGeom>
          <a:noFill/>
          <a:ln w="9525">
            <a:noFill/>
          </a:ln>
        </p:spPr>
        <p:txBody>
          <a:bodyPr wrap="square" anchor="t" anchorCtr="0">
            <a:spAutoFit/>
          </a:bodyPr>
          <a:p>
            <a:pPr>
              <a:spcBef>
                <a:spcPct val="50000"/>
              </a:spcBef>
            </a:pPr>
            <a:r>
              <a:rPr lang="en-US" altLang="zh-CN" b="1">
                <a:latin typeface="楷体" panose="02010609060101010101" charset="-122"/>
                <a:ea typeface="楷体" panose="02010609060101010101" charset="-122"/>
                <a:cs typeface="楷体" panose="02010609060101010101" charset="-122"/>
              </a:rPr>
              <a:t> </a:t>
            </a:r>
            <a:r>
              <a:rPr lang="zh-CN" altLang="en-US" b="1">
                <a:latin typeface="楷体" panose="02010609060101010101" charset="-122"/>
                <a:ea typeface="楷体" panose="02010609060101010101" charset="-122"/>
                <a:cs typeface="楷体" panose="02010609060101010101" charset="-122"/>
              </a:rPr>
              <a:t>图</a:t>
            </a:r>
            <a:r>
              <a:rPr lang="en-US" altLang="zh-CN" b="1">
                <a:latin typeface="Times New Roman" panose="02020603050405020304" pitchFamily="18" charset="0"/>
                <a:ea typeface="楷体" panose="02010609060101010101" charset="-122"/>
                <a:cs typeface="Times New Roman" panose="02020603050405020304" pitchFamily="18" charset="0"/>
              </a:rPr>
              <a:t>7</a:t>
            </a:r>
            <a:r>
              <a:rPr lang="en-US" altLang="zh-CN" b="1">
                <a:latin typeface="Times New Roman" panose="02020603050405020304" pitchFamily="18" charset="0"/>
                <a:ea typeface="楷体" panose="02010609060101010101" charset="-122"/>
                <a:cs typeface="Times New Roman" panose="02020603050405020304" pitchFamily="18" charset="0"/>
              </a:rPr>
              <a:t> AWGN</a:t>
            </a:r>
            <a:r>
              <a:rPr lang="zh-CN" altLang="en-US" b="1">
                <a:ea typeface="楷体" panose="02010609060101010101" charset="-122"/>
              </a:rPr>
              <a:t>信道的分组编码系统</a:t>
            </a:r>
            <a:r>
              <a:rPr lang="zh-CN" altLang="en-US" b="1">
                <a:ea typeface="楷体" panose="02010609060101010101" charset="-122"/>
              </a:rPr>
              <a:t>模型</a:t>
            </a:r>
            <a:endParaRPr lang="zh-CN" altLang="en-US" b="1">
              <a:ea typeface="楷体" panose="02010609060101010101" charset="-122"/>
            </a:endParaRPr>
          </a:p>
        </p:txBody>
      </p:sp>
      <p:graphicFrame>
        <p:nvGraphicFramePr>
          <p:cNvPr id="6" name="对象 5">
            <a:hlinkClick r:id="" action="ppaction://ole?verb="/>
          </p:cNvPr>
          <p:cNvGraphicFramePr>
            <a:graphicFrameLocks noChangeAspect="1"/>
          </p:cNvGraphicFramePr>
          <p:nvPr/>
        </p:nvGraphicFramePr>
        <p:xfrm>
          <a:off x="8313421" y="1778001"/>
          <a:ext cx="2883535" cy="450215"/>
        </p:xfrm>
        <a:graphic>
          <a:graphicData uri="http://schemas.openxmlformats.org/presentationml/2006/ole">
            <mc:AlternateContent xmlns:mc="http://schemas.openxmlformats.org/markup-compatibility/2006">
              <mc:Choice xmlns:v="urn:schemas-microsoft-com:vml" Requires="v">
                <p:oleObj spid="_x0000_s2049" name="" r:id="rId1" imgW="1485900" imgH="228600" progId="Equation.KSEE3">
                  <p:embed/>
                </p:oleObj>
              </mc:Choice>
              <mc:Fallback>
                <p:oleObj name="" r:id="rId1" imgW="1485900" imgH="228600" progId="Equation.KSEE3">
                  <p:embed/>
                  <p:pic>
                    <p:nvPicPr>
                      <p:cNvPr id="0" name="图片 2048"/>
                      <p:cNvPicPr/>
                      <p:nvPr/>
                    </p:nvPicPr>
                    <p:blipFill>
                      <a:blip r:embed="rId2"/>
                      <a:stretch>
                        <a:fillRect/>
                      </a:stretch>
                    </p:blipFill>
                    <p:spPr>
                      <a:xfrm>
                        <a:off x="8313421" y="1778001"/>
                        <a:ext cx="2883535" cy="45021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8382001" y="2478406"/>
          <a:ext cx="2562225" cy="450215"/>
        </p:xfrm>
        <a:graphic>
          <a:graphicData uri="http://schemas.openxmlformats.org/presentationml/2006/ole">
            <mc:AlternateContent xmlns:mc="http://schemas.openxmlformats.org/markup-compatibility/2006">
              <mc:Choice xmlns:v="urn:schemas-microsoft-com:vml" Requires="v">
                <p:oleObj spid="_x0000_s8" name="" r:id="rId3" imgW="1320165" imgH="228600" progId="Equation.KSEE3">
                  <p:embed/>
                </p:oleObj>
              </mc:Choice>
              <mc:Fallback>
                <p:oleObj name="" r:id="rId3" imgW="1320165" imgH="228600" progId="Equation.KSEE3">
                  <p:embed/>
                  <p:pic>
                    <p:nvPicPr>
                      <p:cNvPr id="0" name="图片 2048"/>
                      <p:cNvPicPr/>
                      <p:nvPr/>
                    </p:nvPicPr>
                    <p:blipFill>
                      <a:blip r:embed="rId4"/>
                      <a:stretch>
                        <a:fillRect/>
                      </a:stretch>
                    </p:blipFill>
                    <p:spPr>
                      <a:xfrm>
                        <a:off x="8382001" y="2478406"/>
                        <a:ext cx="2562225" cy="450215"/>
                      </a:xfrm>
                      <a:prstGeom prst="rect">
                        <a:avLst/>
                      </a:prstGeom>
                    </p:spPr>
                  </p:pic>
                </p:oleObj>
              </mc:Fallback>
            </mc:AlternateContent>
          </a:graphicData>
        </a:graphic>
      </p:graphicFrame>
      <p:sp>
        <p:nvSpPr>
          <p:cNvPr id="39972" name="矩形 157745"/>
          <p:cNvSpPr/>
          <p:nvPr/>
        </p:nvSpPr>
        <p:spPr>
          <a:xfrm>
            <a:off x="8646795" y="3233420"/>
            <a:ext cx="2662555" cy="1345565"/>
          </a:xfrm>
          <a:prstGeom prst="rect">
            <a:avLst/>
          </a:prstGeom>
          <a:noFill/>
          <a:ln w="9525">
            <a:noFill/>
          </a:ln>
        </p:spPr>
        <p:txBody>
          <a:bodyPr anchor="t" anchorCtr="0"/>
          <a:p>
            <a:pPr marL="342900" indent="-342900">
              <a:lnSpc>
                <a:spcPct val="130000"/>
              </a:lnSpc>
              <a:spcBef>
                <a:spcPct val="20000"/>
              </a:spcBef>
            </a:pPr>
            <a:r>
              <a:rPr lang="en-US" altLang="zh-CN" sz="2400" i="1">
                <a:latin typeface="Times New Roman" panose="02020603050405020304" pitchFamily="18" charset="0"/>
                <a:ea typeface="宋体" panose="02010600030101010101" pitchFamily="2" charset="-122"/>
              </a:rPr>
              <a:t>K </a:t>
            </a:r>
            <a:r>
              <a:rPr lang="en-US" altLang="zh-CN" sz="240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黑体" panose="02010609060101010101" pitchFamily="49" charset="-122"/>
              </a:rPr>
              <a:t>分组长度</a:t>
            </a:r>
            <a:endParaRPr lang="zh-CN" altLang="en-US" sz="2400" b="1" dirty="0">
              <a:latin typeface="Times New Roman" panose="02020603050405020304" pitchFamily="18" charset="0"/>
              <a:ea typeface="黑体" panose="02010609060101010101" pitchFamily="49" charset="-122"/>
            </a:endParaRPr>
          </a:p>
          <a:p>
            <a:pPr marL="342900" indent="-342900">
              <a:lnSpc>
                <a:spcPct val="130000"/>
              </a:lnSpc>
              <a:spcBef>
                <a:spcPct val="20000"/>
              </a:spcBef>
            </a:pPr>
            <a:r>
              <a:rPr lang="en-US" altLang="zh-CN" sz="2400" b="1" i="1">
                <a:latin typeface="Times New Roman" panose="02020603050405020304" pitchFamily="18" charset="0"/>
                <a:ea typeface="宋体" panose="02010600030101010101" pitchFamily="2" charset="-122"/>
              </a:rPr>
              <a:t>H</a:t>
            </a:r>
            <a:r>
              <a:rPr lang="en-US" altLang="zh-CN" sz="2400" b="1" i="1" baseline="-30000">
                <a:latin typeface="Times New Roman" panose="02020603050405020304" pitchFamily="18" charset="0"/>
                <a:ea typeface="宋体" panose="02010600030101010101" pitchFamily="2" charset="-122"/>
              </a:rPr>
              <a:t>m</a:t>
            </a:r>
            <a:r>
              <a:rPr lang="en-US" altLang="zh-CN" sz="2400">
                <a:latin typeface="Times New Roman" panose="02020603050405020304" pitchFamily="18" charset="0"/>
                <a:ea typeface="宋体" panose="02010600030101010101" pitchFamily="2" charset="-122"/>
              </a:rPr>
              <a:t> ~ </a:t>
            </a:r>
            <a:r>
              <a:rPr lang="zh-CN" altLang="en-US" sz="2400" dirty="0">
                <a:latin typeface="Times New Roman" panose="02020603050405020304" pitchFamily="18" charset="0"/>
                <a:ea typeface="宋体" panose="02010600030101010101" pitchFamily="2" charset="-122"/>
              </a:rPr>
              <a:t>第</a:t>
            </a:r>
            <a:r>
              <a:rPr lang="en-US" altLang="zh-CN" sz="2400" i="1">
                <a:latin typeface="Times New Roman" panose="02020603050405020304" pitchFamily="18" charset="0"/>
                <a:ea typeface="宋体" panose="02010600030101010101" pitchFamily="2" charset="-122"/>
              </a:rPr>
              <a:t>m</a:t>
            </a:r>
            <a:r>
              <a:rPr lang="zh-CN" altLang="en-US" sz="2400" dirty="0">
                <a:latin typeface="Times New Roman" panose="02020603050405020304" pitchFamily="18" charset="0"/>
                <a:ea typeface="宋体" panose="02010600030101010101" pitchFamily="2" charset="-122"/>
              </a:rPr>
              <a:t>个消息</a:t>
            </a:r>
            <a:endParaRPr lang="zh-CN" altLang="en-US" sz="2400" dirty="0">
              <a:latin typeface="Times New Roman" panose="02020603050405020304" pitchFamily="18" charset="0"/>
              <a:ea typeface="宋体" panose="02010600030101010101" pitchFamily="2" charset="-122"/>
            </a:endParaRPr>
          </a:p>
        </p:txBody>
      </p:sp>
      <p:sp>
        <p:nvSpPr>
          <p:cNvPr id="9" name="内容占位符 8"/>
          <p:cNvSpPr>
            <a:spLocks noGrp="1"/>
          </p:cNvSpPr>
          <p:nvPr>
            <p:ph idx="1"/>
          </p:nvPr>
        </p:nvSpPr>
        <p:spPr>
          <a:xfrm>
            <a:off x="364490" y="4934585"/>
            <a:ext cx="6605905" cy="619125"/>
          </a:xfrm>
        </p:spPr>
        <p:txBody>
          <a:bodyPr/>
          <a:p>
            <a:r>
              <a:rPr sz="2400"/>
              <a:t>译码器的</a:t>
            </a:r>
            <a:r>
              <a:rPr lang="zh-CN" sz="2400" b="1">
                <a:solidFill>
                  <a:schemeClr val="accent6">
                    <a:lumMod val="75000"/>
                  </a:schemeClr>
                </a:solidFill>
              </a:rPr>
              <a:t>条件错误概率</a:t>
            </a:r>
            <a:r>
              <a:rPr sz="2400"/>
              <a:t>：已知接收序列</a:t>
            </a:r>
            <a:r>
              <a:rPr sz="2400" i="1">
                <a:latin typeface="Times New Roman" panose="02020603050405020304" pitchFamily="18" charset="0"/>
                <a:cs typeface="Times New Roman" panose="02020603050405020304" pitchFamily="18" charset="0"/>
              </a:rPr>
              <a:t>Y</a:t>
            </a:r>
            <a:r>
              <a:rPr sz="2400"/>
              <a:t>时</a:t>
            </a:r>
            <a:endParaRPr sz="2400"/>
          </a:p>
        </p:txBody>
      </p:sp>
      <p:graphicFrame>
        <p:nvGraphicFramePr>
          <p:cNvPr id="10" name="对象 9">
            <a:hlinkClick r:id="" action="ppaction://ole?verb="/>
          </p:cNvPr>
          <p:cNvGraphicFramePr>
            <a:graphicFrameLocks noChangeAspect="1"/>
          </p:cNvGraphicFramePr>
          <p:nvPr/>
        </p:nvGraphicFramePr>
        <p:xfrm>
          <a:off x="6811963" y="5019041"/>
          <a:ext cx="4904740" cy="450215"/>
        </p:xfrm>
        <a:graphic>
          <a:graphicData uri="http://schemas.openxmlformats.org/presentationml/2006/ole">
            <mc:AlternateContent xmlns:mc="http://schemas.openxmlformats.org/markup-compatibility/2006">
              <mc:Choice xmlns:v="urn:schemas-microsoft-com:vml" Requires="v">
                <p:oleObj spid="_x0000_s11" name="" r:id="rId5" imgW="2527300" imgH="228600" progId="Equation.KSEE3">
                  <p:embed/>
                </p:oleObj>
              </mc:Choice>
              <mc:Fallback>
                <p:oleObj name="" r:id="rId5" imgW="2527300" imgH="228600" progId="Equation.KSEE3">
                  <p:embed/>
                  <p:pic>
                    <p:nvPicPr>
                      <p:cNvPr id="0" name="图片 2048"/>
                      <p:cNvPicPr/>
                      <p:nvPr/>
                    </p:nvPicPr>
                    <p:blipFill>
                      <a:blip r:embed="rId6"/>
                      <a:stretch>
                        <a:fillRect/>
                      </a:stretch>
                    </p:blipFill>
                    <p:spPr>
                      <a:xfrm>
                        <a:off x="6811963" y="5019041"/>
                        <a:ext cx="4904740" cy="450215"/>
                      </a:xfrm>
                      <a:prstGeom prst="rect">
                        <a:avLst/>
                      </a:prstGeom>
                    </p:spPr>
                  </p:pic>
                </p:oleObj>
              </mc:Fallback>
            </mc:AlternateContent>
          </a:graphicData>
        </a:graphic>
      </p:graphicFrame>
      <p:sp>
        <p:nvSpPr>
          <p:cNvPr id="12" name="内容占位符 8"/>
          <p:cNvSpPr>
            <a:spLocks noGrp="1"/>
          </p:cNvSpPr>
          <p:nvPr/>
        </p:nvSpPr>
        <p:spPr>
          <a:xfrm>
            <a:off x="8035290" y="5478145"/>
            <a:ext cx="1018540" cy="619125"/>
          </a:xfrm>
          <a:prstGeom prst="rect">
            <a:avLst/>
          </a:prstGeom>
        </p:spPr>
        <p:txBody>
          <a:bodyPr vert="horz" lIns="90000" tIns="46800" rIns="90000" bIns="46800" rtlCol="0"/>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sz="2000"/>
              <a:t>简记为</a:t>
            </a:r>
            <a:endParaRPr lang="zh-CN" sz="2000"/>
          </a:p>
        </p:txBody>
      </p:sp>
      <p:graphicFrame>
        <p:nvGraphicFramePr>
          <p:cNvPr id="13" name="对象 12">
            <a:hlinkClick r:id="" action="ppaction://ole?verb="/>
          </p:cNvPr>
          <p:cNvGraphicFramePr>
            <a:graphicFrameLocks noChangeAspect="1"/>
          </p:cNvGraphicFramePr>
          <p:nvPr/>
        </p:nvGraphicFramePr>
        <p:xfrm>
          <a:off x="9054466" y="5552441"/>
          <a:ext cx="2489835" cy="450215"/>
        </p:xfrm>
        <a:graphic>
          <a:graphicData uri="http://schemas.openxmlformats.org/presentationml/2006/ole">
            <mc:AlternateContent xmlns:mc="http://schemas.openxmlformats.org/markup-compatibility/2006">
              <mc:Choice xmlns:v="urn:schemas-microsoft-com:vml" Requires="v">
                <p:oleObj spid="_x0000_s14" name="" r:id="rId7" imgW="1282700" imgH="228600" progId="Equation.KSEE3">
                  <p:embed/>
                </p:oleObj>
              </mc:Choice>
              <mc:Fallback>
                <p:oleObj name="" r:id="rId7" imgW="1282700" imgH="228600" progId="Equation.KSEE3">
                  <p:embed/>
                  <p:pic>
                    <p:nvPicPr>
                      <p:cNvPr id="0" name="图片 2048"/>
                      <p:cNvPicPr/>
                      <p:nvPr/>
                    </p:nvPicPr>
                    <p:blipFill>
                      <a:blip r:embed="rId8"/>
                      <a:stretch>
                        <a:fillRect/>
                      </a:stretch>
                    </p:blipFill>
                    <p:spPr>
                      <a:xfrm>
                        <a:off x="9054466" y="5552441"/>
                        <a:ext cx="2489835" cy="450215"/>
                      </a:xfrm>
                      <a:prstGeom prst="rect">
                        <a:avLst/>
                      </a:prstGeom>
                    </p:spPr>
                  </p:pic>
                </p:oleObj>
              </mc:Fallback>
            </mc:AlternateContent>
          </a:graphicData>
        </a:graphic>
      </p:graphicFrame>
      <p:sp>
        <p:nvSpPr>
          <p:cNvPr id="15" name="内容占位符 8"/>
          <p:cNvSpPr>
            <a:spLocks noGrp="1"/>
          </p:cNvSpPr>
          <p:nvPr/>
        </p:nvSpPr>
        <p:spPr>
          <a:xfrm>
            <a:off x="369570" y="5874385"/>
            <a:ext cx="3282315" cy="61912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400"/>
              <a:t>译码器的</a:t>
            </a:r>
            <a:r>
              <a:rPr lang="zh-CN" sz="2400" b="1">
                <a:solidFill>
                  <a:schemeClr val="accent6">
                    <a:lumMod val="75000"/>
                  </a:schemeClr>
                </a:solidFill>
              </a:rPr>
              <a:t>错误概率</a:t>
            </a:r>
            <a:r>
              <a:rPr sz="2400"/>
              <a:t>：</a:t>
            </a:r>
            <a:endParaRPr sz="2400"/>
          </a:p>
        </p:txBody>
      </p:sp>
      <p:graphicFrame>
        <p:nvGraphicFramePr>
          <p:cNvPr id="16" name="对象 15">
            <a:hlinkClick r:id="" action="ppaction://ole?verb="/>
          </p:cNvPr>
          <p:cNvGraphicFramePr>
            <a:graphicFrameLocks noChangeAspect="1"/>
          </p:cNvGraphicFramePr>
          <p:nvPr/>
        </p:nvGraphicFramePr>
        <p:xfrm>
          <a:off x="3482023" y="6002338"/>
          <a:ext cx="4658360" cy="675640"/>
        </p:xfrm>
        <a:graphic>
          <a:graphicData uri="http://schemas.openxmlformats.org/presentationml/2006/ole">
            <mc:AlternateContent xmlns:mc="http://schemas.openxmlformats.org/markup-compatibility/2006">
              <mc:Choice xmlns:v="urn:schemas-microsoft-com:vml" Requires="v">
                <p:oleObj spid="_x0000_s17" name="" r:id="rId9" imgW="2400300" imgH="342900" progId="Equation.KSEE3">
                  <p:embed/>
                </p:oleObj>
              </mc:Choice>
              <mc:Fallback>
                <p:oleObj name="" r:id="rId9" imgW="2400300" imgH="342900" progId="Equation.KSEE3">
                  <p:embed/>
                  <p:pic>
                    <p:nvPicPr>
                      <p:cNvPr id="0" name="图片 2048"/>
                      <p:cNvPicPr/>
                      <p:nvPr/>
                    </p:nvPicPr>
                    <p:blipFill>
                      <a:blip r:embed="rId10"/>
                      <a:stretch>
                        <a:fillRect/>
                      </a:stretch>
                    </p:blipFill>
                    <p:spPr>
                      <a:xfrm>
                        <a:off x="3482023" y="6002338"/>
                        <a:ext cx="4658360" cy="675640"/>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最佳译码规则</a:t>
            </a:r>
            <a:r>
              <a:rPr lang="zh-CN" altLang="en-US"/>
              <a:t>和最大后验概率译码</a:t>
            </a:r>
            <a:endParaRPr lang="zh-CN" altLang="en-US"/>
          </a:p>
        </p:txBody>
      </p:sp>
      <p:sp>
        <p:nvSpPr>
          <p:cNvPr id="3" name="内容占位符 2"/>
          <p:cNvSpPr>
            <a:spLocks noGrp="1"/>
          </p:cNvSpPr>
          <p:nvPr>
            <p:ph idx="1"/>
          </p:nvPr>
        </p:nvSpPr>
        <p:spPr>
          <a:xfrm>
            <a:off x="608330" y="1490345"/>
            <a:ext cx="10831830" cy="3076575"/>
          </a:xfrm>
        </p:spPr>
        <p:txBody>
          <a:bodyPr>
            <a:normAutofit/>
          </a:bodyPr>
          <a:p>
            <a:r>
              <a:rPr lang="zh-CN" sz="2400" b="1">
                <a:solidFill>
                  <a:schemeClr val="accent6">
                    <a:lumMod val="75000"/>
                  </a:schemeClr>
                </a:solidFill>
              </a:rPr>
              <a:t>最佳译码规则</a:t>
            </a:r>
            <a:r>
              <a:rPr sz="2400"/>
              <a:t>：能够使译码错误概率</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E</a:t>
            </a:r>
            <a:r>
              <a:rPr sz="2400"/>
              <a:t>)达到最小的译码规则</a:t>
            </a:r>
            <a:endParaRPr sz="2400"/>
          </a:p>
          <a:p>
            <a:r>
              <a:rPr sz="2400">
                <a:sym typeface="+mn-ea"/>
              </a:rPr>
              <a:t>由于接收序列</a:t>
            </a:r>
            <a:r>
              <a:rPr sz="2400" i="1">
                <a:latin typeface="Times New Roman" panose="02020603050405020304" pitchFamily="18" charset="0"/>
                <a:cs typeface="Times New Roman" panose="02020603050405020304" pitchFamily="18" charset="0"/>
                <a:sym typeface="+mn-ea"/>
              </a:rPr>
              <a:t>Y</a:t>
            </a:r>
            <a:r>
              <a:rPr sz="2400">
                <a:sym typeface="+mn-ea"/>
              </a:rPr>
              <a:t>是译码前产生的</a:t>
            </a:r>
            <a:r>
              <a:rPr lang="zh-CN" sz="2400"/>
              <a:t>，所以</a:t>
            </a:r>
            <a:r>
              <a:rPr sz="2400" i="1">
                <a:latin typeface="Times New Roman" panose="02020603050405020304" pitchFamily="18" charset="0"/>
                <a:cs typeface="Times New Roman" panose="02020603050405020304" pitchFamily="18" charset="0"/>
                <a:sym typeface="+mn-ea"/>
              </a:rPr>
              <a:t>P</a:t>
            </a:r>
            <a:r>
              <a:rPr sz="2400">
                <a:sym typeface="+mn-ea"/>
              </a:rPr>
              <a:t>(</a:t>
            </a:r>
            <a:r>
              <a:rPr sz="2400" i="1">
                <a:latin typeface="Times New Roman" panose="02020603050405020304" pitchFamily="18" charset="0"/>
                <a:cs typeface="Times New Roman" panose="02020603050405020304" pitchFamily="18" charset="0"/>
                <a:sym typeface="+mn-ea"/>
              </a:rPr>
              <a:t>Y</a:t>
            </a:r>
            <a:r>
              <a:rPr sz="2400">
                <a:sym typeface="+mn-ea"/>
              </a:rPr>
              <a:t>)与译码规则无关</a:t>
            </a:r>
            <a:endParaRPr sz="2400"/>
          </a:p>
          <a:p>
            <a:r>
              <a:rPr sz="2400"/>
              <a:t>最佳译码规则必须对所有</a:t>
            </a:r>
            <a:r>
              <a:rPr sz="2400" i="1">
                <a:latin typeface="Times New Roman" panose="02020603050405020304" pitchFamily="18" charset="0"/>
                <a:cs typeface="Times New Roman" panose="02020603050405020304" pitchFamily="18" charset="0"/>
              </a:rPr>
              <a:t>Y</a:t>
            </a:r>
            <a:r>
              <a:rPr sz="2400"/>
              <a:t>，使得</a:t>
            </a:r>
            <a:r>
              <a:rPr lang="en-US" sz="2400"/>
              <a:t>                            </a:t>
            </a:r>
            <a:r>
              <a:rPr lang="zh-CN" altLang="en-US" sz="2400"/>
              <a:t>最小，</a:t>
            </a:r>
            <a:r>
              <a:rPr lang="zh-CN" altLang="en-US" sz="2400"/>
              <a:t>即</a:t>
            </a:r>
            <a:endParaRPr lang="zh-CN" altLang="en-US" sz="2400"/>
          </a:p>
          <a:p>
            <a:pPr marL="0" indent="0">
              <a:buNone/>
            </a:pPr>
            <a:r>
              <a:rPr lang="en-US" altLang="zh-CN" sz="2400"/>
              <a:t>                        </a:t>
            </a:r>
            <a:r>
              <a:rPr lang="zh-CN" altLang="en-US" sz="2400"/>
              <a:t>最大。</a:t>
            </a:r>
            <a:endParaRPr lang="zh-CN" altLang="en-US" sz="2400"/>
          </a:p>
        </p:txBody>
      </p:sp>
      <p:graphicFrame>
        <p:nvGraphicFramePr>
          <p:cNvPr id="9" name="对象 8">
            <a:hlinkClick r:id="" action="ppaction://ole?verb="/>
          </p:cNvPr>
          <p:cNvGraphicFramePr>
            <a:graphicFrameLocks noChangeAspect="1"/>
          </p:cNvGraphicFramePr>
          <p:nvPr/>
        </p:nvGraphicFramePr>
        <p:xfrm>
          <a:off x="5738813" y="2843848"/>
          <a:ext cx="2711450" cy="425450"/>
        </p:xfrm>
        <a:graphic>
          <a:graphicData uri="http://schemas.openxmlformats.org/presentationml/2006/ole">
            <mc:AlternateContent xmlns:mc="http://schemas.openxmlformats.org/markup-compatibility/2006">
              <mc:Choice xmlns:v="urn:schemas-microsoft-com:vml" Requires="v">
                <p:oleObj spid="_x0000_s10" name="" r:id="rId1" imgW="1397000" imgH="215900" progId="Equation.KSEE3">
                  <p:embed/>
                </p:oleObj>
              </mc:Choice>
              <mc:Fallback>
                <p:oleObj name="" r:id="rId1" imgW="1397000" imgH="215900" progId="Equation.KSEE3">
                  <p:embed/>
                  <p:pic>
                    <p:nvPicPr>
                      <p:cNvPr id="0" name="图片 2048"/>
                      <p:cNvPicPr/>
                      <p:nvPr/>
                    </p:nvPicPr>
                    <p:blipFill>
                      <a:blip r:embed="rId2"/>
                      <a:stretch>
                        <a:fillRect/>
                      </a:stretch>
                    </p:blipFill>
                    <p:spPr>
                      <a:xfrm>
                        <a:off x="5738813" y="2843848"/>
                        <a:ext cx="2711450" cy="42545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1295400" y="3425825"/>
          <a:ext cx="1553210" cy="404495"/>
        </p:xfrm>
        <a:graphic>
          <a:graphicData uri="http://schemas.openxmlformats.org/presentationml/2006/ole">
            <mc:AlternateContent xmlns:mc="http://schemas.openxmlformats.org/markup-compatibility/2006">
              <mc:Choice xmlns:v="urn:schemas-microsoft-com:vml" Requires="v">
                <p:oleObj spid="_x0000_s12" name="" r:id="rId3" imgW="800100" imgH="215900" progId="Equation.KSEE3">
                  <p:embed/>
                </p:oleObj>
              </mc:Choice>
              <mc:Fallback>
                <p:oleObj name="" r:id="rId3" imgW="800100" imgH="215900" progId="Equation.KSEE3">
                  <p:embed/>
                  <p:pic>
                    <p:nvPicPr>
                      <p:cNvPr id="0" name="图片 2048"/>
                      <p:cNvPicPr/>
                      <p:nvPr/>
                    </p:nvPicPr>
                    <p:blipFill>
                      <a:blip r:embed="rId4"/>
                      <a:stretch>
                        <a:fillRect/>
                      </a:stretch>
                    </p:blipFill>
                    <p:spPr>
                      <a:xfrm>
                        <a:off x="1295400" y="3425825"/>
                        <a:ext cx="1553210" cy="404495"/>
                      </a:xfrm>
                      <a:prstGeom prst="rect">
                        <a:avLst/>
                      </a:prstGeom>
                    </p:spPr>
                  </p:pic>
                </p:oleObj>
              </mc:Fallback>
            </mc:AlternateContent>
          </a:graphicData>
        </a:graphic>
      </p:graphicFrame>
      <p:sp>
        <p:nvSpPr>
          <p:cNvPr id="4" name="内容占位符 2"/>
          <p:cNvSpPr>
            <a:spLocks noGrp="1"/>
          </p:cNvSpPr>
          <p:nvPr/>
        </p:nvSpPr>
        <p:spPr>
          <a:xfrm>
            <a:off x="608330" y="3928745"/>
            <a:ext cx="10840085" cy="221488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sz="2400" b="1">
                <a:solidFill>
                  <a:schemeClr val="accent6">
                    <a:lumMod val="75000"/>
                  </a:schemeClr>
                </a:solidFill>
              </a:rPr>
              <a:t>最大后验概率译码</a:t>
            </a:r>
            <a:r>
              <a:rPr sz="2400"/>
              <a:t>：对于每个输入</a:t>
            </a:r>
            <a:r>
              <a:rPr sz="2400" i="1">
                <a:latin typeface="Times New Roman" panose="02020603050405020304" pitchFamily="18" charset="0"/>
                <a:cs typeface="Times New Roman" panose="02020603050405020304" pitchFamily="18" charset="0"/>
              </a:rPr>
              <a:t>Y</a:t>
            </a:r>
            <a:r>
              <a:rPr sz="2400"/>
              <a:t>，如果译码器能在码字集合中选择一个码字，作为发送码字的估值，并且使</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X</a:t>
            </a:r>
            <a:r>
              <a:rPr sz="2400"/>
              <a:t>/</a:t>
            </a:r>
            <a:r>
              <a:rPr sz="2400" i="1">
                <a:latin typeface="Times New Roman" panose="02020603050405020304" pitchFamily="18" charset="0"/>
                <a:cs typeface="Times New Roman" panose="02020603050405020304" pitchFamily="18" charset="0"/>
              </a:rPr>
              <a:t>Y</a:t>
            </a:r>
            <a:r>
              <a:rPr sz="2400"/>
              <a:t>)最大，则这种译码规则一定能使译码器输出的错误概率最小</a:t>
            </a:r>
            <a:r>
              <a:rPr lang="zh-CN" sz="2400"/>
              <a:t>。</a:t>
            </a:r>
            <a:endParaRPr lang="zh-CN" sz="2400"/>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似然函数</a:t>
            </a:r>
            <a:endParaRPr lang="zh-CN" altLang="en-US"/>
          </a:p>
        </p:txBody>
      </p:sp>
      <p:sp>
        <p:nvSpPr>
          <p:cNvPr id="3" name="内容占位符 2"/>
          <p:cNvSpPr>
            <a:spLocks noGrp="1"/>
          </p:cNvSpPr>
          <p:nvPr>
            <p:ph idx="1"/>
          </p:nvPr>
        </p:nvSpPr>
        <p:spPr>
          <a:xfrm>
            <a:off x="608330" y="2465705"/>
            <a:ext cx="10831830" cy="2501900"/>
          </a:xfrm>
        </p:spPr>
        <p:txBody>
          <a:bodyPr>
            <a:normAutofit/>
          </a:bodyPr>
          <a:p>
            <a:r>
              <a:rPr sz="2400"/>
              <a:t>对于给定的</a:t>
            </a:r>
            <a:r>
              <a:rPr sz="2400" i="1">
                <a:latin typeface="Times New Roman" panose="02020603050405020304" pitchFamily="18" charset="0"/>
                <a:cs typeface="Times New Roman" panose="02020603050405020304" pitchFamily="18" charset="0"/>
              </a:rPr>
              <a:t>Y</a:t>
            </a:r>
            <a:r>
              <a:rPr sz="2400"/>
              <a:t>，可选择能使公式(1)右边最大的向量作为</a:t>
            </a:r>
            <a:r>
              <a:rPr sz="2400" i="1">
                <a:latin typeface="Times New Roman" panose="02020603050405020304" pitchFamily="18" charset="0"/>
                <a:cs typeface="Times New Roman" panose="02020603050405020304" pitchFamily="18" charset="0"/>
              </a:rPr>
              <a:t>X</a:t>
            </a:r>
            <a:r>
              <a:rPr sz="2400"/>
              <a:t>的估计值</a:t>
            </a:r>
            <a:r>
              <a:rPr lang="zh-CN" sz="2400"/>
              <a:t>。</a:t>
            </a:r>
            <a:endParaRPr sz="2400"/>
          </a:p>
          <a:p>
            <a:r>
              <a:rPr sz="2400"/>
              <a:t>如果所有码字都是等可能的，即</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X</a:t>
            </a:r>
            <a:r>
              <a:rPr sz="2400"/>
              <a:t>)是常数，那么公式(1)左边最大，就推导出</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)最大</a:t>
            </a:r>
            <a:r>
              <a:rPr lang="zh-CN" sz="2400"/>
              <a:t>。</a:t>
            </a:r>
            <a:endParaRPr sz="2400"/>
          </a:p>
          <a:p>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)：叫做似然函数、信道转移概率</a:t>
            </a:r>
            <a:r>
              <a:rPr lang="zh-CN" sz="2400"/>
              <a:t>。</a:t>
            </a:r>
            <a:endParaRPr lang="zh-CN" sz="2400"/>
          </a:p>
        </p:txBody>
      </p:sp>
      <p:sp>
        <p:nvSpPr>
          <p:cNvPr id="4" name="内容占位符 2"/>
          <p:cNvSpPr>
            <a:spLocks noGrp="1"/>
          </p:cNvSpPr>
          <p:nvPr/>
        </p:nvSpPr>
        <p:spPr>
          <a:xfrm>
            <a:off x="654050" y="1536065"/>
            <a:ext cx="2477135" cy="65849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400"/>
              <a:t>Bayes公式：</a:t>
            </a:r>
            <a:endParaRPr sz="2400"/>
          </a:p>
        </p:txBody>
      </p:sp>
      <p:graphicFrame>
        <p:nvGraphicFramePr>
          <p:cNvPr id="7" name="对象 6">
            <a:hlinkClick r:id="" action="ppaction://ole?verb="/>
          </p:cNvPr>
          <p:cNvGraphicFramePr>
            <a:graphicFrameLocks noChangeAspect="1"/>
          </p:cNvGraphicFramePr>
          <p:nvPr/>
        </p:nvGraphicFramePr>
        <p:xfrm>
          <a:off x="3128011" y="1477010"/>
          <a:ext cx="3303905" cy="826135"/>
        </p:xfrm>
        <a:graphic>
          <a:graphicData uri="http://schemas.openxmlformats.org/presentationml/2006/ole">
            <mc:AlternateContent xmlns:mc="http://schemas.openxmlformats.org/markup-compatibility/2006">
              <mc:Choice xmlns:v="urn:schemas-microsoft-com:vml" Requires="v">
                <p:oleObj spid="_x0000_s8" name="" r:id="rId1" imgW="1701800" imgH="419100" progId="Equation.KSEE3">
                  <p:embed/>
                </p:oleObj>
              </mc:Choice>
              <mc:Fallback>
                <p:oleObj name="" r:id="rId1" imgW="1701800" imgH="419100" progId="Equation.KSEE3">
                  <p:embed/>
                  <p:pic>
                    <p:nvPicPr>
                      <p:cNvPr id="0" name="图片 2048"/>
                      <p:cNvPicPr/>
                      <p:nvPr/>
                    </p:nvPicPr>
                    <p:blipFill>
                      <a:blip r:embed="rId2"/>
                      <a:stretch>
                        <a:fillRect/>
                      </a:stretch>
                    </p:blipFill>
                    <p:spPr>
                      <a:xfrm>
                        <a:off x="3128011" y="1477010"/>
                        <a:ext cx="3303905" cy="826135"/>
                      </a:xfrm>
                      <a:prstGeom prst="rect">
                        <a:avLst/>
                      </a:prstGeom>
                    </p:spPr>
                  </p:pic>
                </p:oleObj>
              </mc:Fallback>
            </mc:AlternateContent>
          </a:graphicData>
        </a:graphic>
      </p:graphicFrame>
      <p:sp>
        <p:nvSpPr>
          <p:cNvPr id="5" name="文本框 4"/>
          <p:cNvSpPr txBox="1"/>
          <p:nvPr/>
        </p:nvSpPr>
        <p:spPr>
          <a:xfrm>
            <a:off x="6852920" y="1732280"/>
            <a:ext cx="1346835" cy="398780"/>
          </a:xfrm>
          <a:prstGeom prst="rect">
            <a:avLst/>
          </a:prstGeom>
          <a:noFill/>
        </p:spPr>
        <p:txBody>
          <a:bodyPr wrap="square" rtlCol="0" anchor="t">
            <a:spAutoFit/>
          </a:bodyPr>
          <a:p>
            <a:r>
              <a:rPr sz="2000" spc="150">
                <a:solidFill>
                  <a:schemeClr val="tx1">
                    <a:lumMod val="65000"/>
                    <a:lumOff val="35000"/>
                  </a:schemeClr>
                </a:solidFill>
                <a:uFillTx/>
                <a:sym typeface="+mn-ea"/>
              </a:rPr>
              <a:t>公式</a:t>
            </a:r>
            <a:r>
              <a:rPr lang="en-US" sz="2000" spc="150">
                <a:solidFill>
                  <a:schemeClr val="tx1">
                    <a:lumMod val="65000"/>
                    <a:lumOff val="35000"/>
                  </a:schemeClr>
                </a:solidFill>
                <a:uFillTx/>
                <a:sym typeface="+mn-ea"/>
              </a:rPr>
              <a:t>(</a:t>
            </a:r>
            <a:r>
              <a:rPr sz="2000" spc="150">
                <a:solidFill>
                  <a:schemeClr val="tx1">
                    <a:lumMod val="65000"/>
                    <a:lumOff val="35000"/>
                  </a:schemeClr>
                </a:solidFill>
                <a:uFillTx/>
                <a:sym typeface="+mn-ea"/>
              </a:rPr>
              <a:t>1</a:t>
            </a:r>
            <a:r>
              <a:rPr lang="en-US" sz="2000" spc="150">
                <a:solidFill>
                  <a:schemeClr val="tx1">
                    <a:lumMod val="65000"/>
                    <a:lumOff val="35000"/>
                  </a:schemeClr>
                </a:solidFill>
                <a:uFillTx/>
                <a:sym typeface="+mn-ea"/>
              </a:rPr>
              <a:t>)</a:t>
            </a:r>
            <a:endParaRPr lang="en-US" sz="2000" b="1" spc="150" dirty="0">
              <a:solidFill>
                <a:schemeClr val="tx1">
                  <a:lumMod val="65000"/>
                  <a:lumOff val="35000"/>
                </a:schemeClr>
              </a:solidFill>
              <a:uFillTx/>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6"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最大似然译码</a:t>
            </a:r>
            <a:endParaRPr lang="zh-CN" altLang="en-US"/>
          </a:p>
        </p:txBody>
      </p:sp>
      <p:sp>
        <p:nvSpPr>
          <p:cNvPr id="3" name="内容占位符 2"/>
          <p:cNvSpPr>
            <a:spLocks noGrp="1"/>
          </p:cNvSpPr>
          <p:nvPr>
            <p:ph idx="1"/>
          </p:nvPr>
        </p:nvSpPr>
        <p:spPr>
          <a:xfrm>
            <a:off x="608330" y="1490345"/>
            <a:ext cx="10831830" cy="5055235"/>
          </a:xfrm>
        </p:spPr>
        <p:txBody>
          <a:bodyPr>
            <a:normAutofit/>
          </a:bodyPr>
          <a:p>
            <a:r>
              <a:rPr lang="zh-CN" sz="2400" b="1">
                <a:solidFill>
                  <a:schemeClr val="accent6">
                    <a:lumMod val="75000"/>
                  </a:schemeClr>
                </a:solidFill>
              </a:rPr>
              <a:t>定义</a:t>
            </a:r>
            <a:r>
              <a:rPr sz="2400"/>
              <a:t>：若能在码字集合选择合适的码字</a:t>
            </a:r>
            <a:r>
              <a:rPr sz="2400" i="1">
                <a:latin typeface="Times New Roman" panose="02020603050405020304" pitchFamily="18" charset="0"/>
                <a:cs typeface="Times New Roman" panose="02020603050405020304" pitchFamily="18" charset="0"/>
              </a:rPr>
              <a:t>X</a:t>
            </a:r>
            <a:r>
              <a:rPr sz="2400"/>
              <a:t>，使得</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)最大，则这种译码规则被称为最大似然译码</a:t>
            </a:r>
            <a:r>
              <a:rPr lang="zh-CN" sz="2400"/>
              <a:t>。</a:t>
            </a:r>
            <a:endParaRPr sz="2400"/>
          </a:p>
          <a:p>
            <a:r>
              <a:rPr sz="2400"/>
              <a:t>对数似然函数：由于</a:t>
            </a:r>
            <a:r>
              <a:rPr sz="2400">
                <a:latin typeface="Times New Roman" panose="02020603050405020304" pitchFamily="18" charset="0"/>
                <a:cs typeface="Times New Roman" panose="02020603050405020304" pitchFamily="18" charset="0"/>
              </a:rPr>
              <a:t>ln</a:t>
            </a:r>
            <a:r>
              <a:rPr sz="2400" i="1">
                <a:latin typeface="Times New Roman" panose="02020603050405020304" pitchFamily="18" charset="0"/>
                <a:cs typeface="Times New Roman" panose="02020603050405020304" pitchFamily="18" charset="0"/>
              </a:rPr>
              <a:t>x</a:t>
            </a:r>
            <a:r>
              <a:rPr sz="2400"/>
              <a:t>与</a:t>
            </a:r>
            <a:r>
              <a:rPr sz="2400" i="1">
                <a:latin typeface="Times New Roman" panose="02020603050405020304" pitchFamily="18" charset="0"/>
                <a:cs typeface="Times New Roman" panose="02020603050405020304" pitchFamily="18" charset="0"/>
              </a:rPr>
              <a:t>x</a:t>
            </a:r>
            <a:r>
              <a:rPr sz="2400"/>
              <a:t>是单调关系，故有</a:t>
            </a:r>
            <a:r>
              <a:rPr sz="2400">
                <a:latin typeface="Times New Roman" panose="02020603050405020304" pitchFamily="18" charset="0"/>
                <a:cs typeface="Times New Roman" panose="02020603050405020304" pitchFamily="18" charset="0"/>
              </a:rPr>
              <a:t>ln</a:t>
            </a:r>
            <a:r>
              <a:rPr sz="2400" i="1">
                <a:latin typeface="Times New Roman" panose="02020603050405020304" pitchFamily="18" charset="0"/>
                <a:cs typeface="Times New Roman" panose="02020603050405020304" pitchFamily="18" charset="0"/>
              </a:rPr>
              <a:t>P</a:t>
            </a:r>
            <a:r>
              <a:rPr sz="2400"/>
              <a:t>(</a:t>
            </a:r>
            <a:r>
              <a:rPr sz="2400" i="1">
                <a:latin typeface="Times New Roman" panose="02020603050405020304" pitchFamily="18" charset="0"/>
                <a:cs typeface="Times New Roman" panose="02020603050405020304" pitchFamily="18" charset="0"/>
              </a:rPr>
              <a:t>Y</a:t>
            </a:r>
            <a:r>
              <a:rPr sz="2400"/>
              <a:t>/</a:t>
            </a:r>
            <a:r>
              <a:rPr sz="2400" i="1">
                <a:latin typeface="Times New Roman" panose="02020603050405020304" pitchFamily="18" charset="0"/>
                <a:cs typeface="Times New Roman" panose="02020603050405020304" pitchFamily="18" charset="0"/>
              </a:rPr>
              <a:t>X</a:t>
            </a:r>
            <a:r>
              <a:rPr sz="2400"/>
              <a:t>)</a:t>
            </a:r>
            <a:r>
              <a:rPr lang="zh-CN" sz="2400"/>
              <a:t>。</a:t>
            </a:r>
            <a:endParaRPr sz="2400"/>
          </a:p>
          <a:p>
            <a:r>
              <a:rPr sz="2400"/>
              <a:t>对于离散无记忆信道，由于</a:t>
            </a:r>
            <a:r>
              <a:rPr lang="en-US" sz="2400"/>
              <a:t>                           </a:t>
            </a:r>
            <a:r>
              <a:rPr lang="zh-CN" altLang="en-US" sz="2400"/>
              <a:t>，</a:t>
            </a:r>
            <a:r>
              <a:rPr sz="2400"/>
              <a:t>所以</a:t>
            </a:r>
            <a:endParaRPr sz="2400"/>
          </a:p>
          <a:p>
            <a:r>
              <a:rPr sz="2400">
                <a:sym typeface="+mn-ea"/>
              </a:rPr>
              <a:t>MLD：对应的译码器称为最大似然译码器</a:t>
            </a:r>
            <a:r>
              <a:rPr lang="zh-CN" sz="2400">
                <a:sym typeface="+mn-ea"/>
              </a:rPr>
              <a:t>。</a:t>
            </a:r>
            <a:endParaRPr lang="zh-CN" sz="2400">
              <a:sym typeface="+mn-ea"/>
            </a:endParaRPr>
          </a:p>
          <a:p>
            <a:r>
              <a:rPr lang="zh-CN" sz="2400">
                <a:sym typeface="+mn-ea"/>
              </a:rPr>
              <a:t>MLD规则</a:t>
            </a:r>
            <a:r>
              <a:rPr sz="2400">
                <a:sym typeface="+mn-ea"/>
              </a:rPr>
              <a:t>：</a:t>
            </a:r>
            <a:r>
              <a:rPr lang="zh-CN" sz="2400">
                <a:sym typeface="+mn-ea"/>
              </a:rPr>
              <a:t>是最为可行的一种译码规则。</a:t>
            </a:r>
            <a:endParaRPr lang="zh-CN" sz="2400">
              <a:sym typeface="+mn-ea"/>
            </a:endParaRPr>
          </a:p>
          <a:p>
            <a:r>
              <a:rPr lang="zh-CN" sz="2400">
                <a:sym typeface="+mn-ea"/>
              </a:rPr>
              <a:t>对于DMC和BSC信道是一种最佳译码准则。但是在某些情况下并不是最佳的译码规则，如当发送端不是以等概率发送码字的时候。</a:t>
            </a:r>
            <a:endParaRPr lang="zh-CN" sz="2400">
              <a:sym typeface="+mn-ea"/>
            </a:endParaRPr>
          </a:p>
        </p:txBody>
      </p:sp>
      <p:graphicFrame>
        <p:nvGraphicFramePr>
          <p:cNvPr id="7" name="对象 6">
            <a:hlinkClick r:id="" action="ppaction://ole?verb="/>
          </p:cNvPr>
          <p:cNvGraphicFramePr>
            <a:graphicFrameLocks noChangeAspect="1"/>
          </p:cNvGraphicFramePr>
          <p:nvPr/>
        </p:nvGraphicFramePr>
        <p:xfrm>
          <a:off x="4848226" y="3236595"/>
          <a:ext cx="2834005" cy="676275"/>
        </p:xfrm>
        <a:graphic>
          <a:graphicData uri="http://schemas.openxmlformats.org/presentationml/2006/ole">
            <mc:AlternateContent xmlns:mc="http://schemas.openxmlformats.org/markup-compatibility/2006">
              <mc:Choice xmlns:v="urn:schemas-microsoft-com:vml" Requires="v">
                <p:oleObj spid="_x0000_s8" name="" r:id="rId1" imgW="1459865" imgH="342900" progId="Equation.KSEE3">
                  <p:embed/>
                </p:oleObj>
              </mc:Choice>
              <mc:Fallback>
                <p:oleObj name="" r:id="rId1" imgW="1459865" imgH="342900" progId="Equation.KSEE3">
                  <p:embed/>
                  <p:pic>
                    <p:nvPicPr>
                      <p:cNvPr id="0" name="图片 2048"/>
                      <p:cNvPicPr/>
                      <p:nvPr/>
                    </p:nvPicPr>
                    <p:blipFill>
                      <a:blip r:embed="rId2"/>
                      <a:stretch>
                        <a:fillRect/>
                      </a:stretch>
                    </p:blipFill>
                    <p:spPr>
                      <a:xfrm>
                        <a:off x="4848226" y="3236595"/>
                        <a:ext cx="2834005" cy="67627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8588693" y="3256915"/>
          <a:ext cx="3277870" cy="676275"/>
        </p:xfrm>
        <a:graphic>
          <a:graphicData uri="http://schemas.openxmlformats.org/presentationml/2006/ole">
            <mc:AlternateContent xmlns:mc="http://schemas.openxmlformats.org/markup-compatibility/2006">
              <mc:Choice xmlns:v="urn:schemas-microsoft-com:vml" Requires="v">
                <p:oleObj spid="_x0000_s5" name="" r:id="rId3" imgW="1688465" imgH="342900" progId="Equation.KSEE3">
                  <p:embed/>
                </p:oleObj>
              </mc:Choice>
              <mc:Fallback>
                <p:oleObj name="" r:id="rId3" imgW="1688465" imgH="342900" progId="Equation.KSEE3">
                  <p:embed/>
                  <p:pic>
                    <p:nvPicPr>
                      <p:cNvPr id="0" name="图片 2048"/>
                      <p:cNvPicPr/>
                      <p:nvPr/>
                    </p:nvPicPr>
                    <p:blipFill>
                      <a:blip r:embed="rId4"/>
                      <a:stretch>
                        <a:fillRect/>
                      </a:stretch>
                    </p:blipFill>
                    <p:spPr>
                      <a:xfrm>
                        <a:off x="8588693" y="3256915"/>
                        <a:ext cx="3277870" cy="676275"/>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BSC信道的最大似然译码</a:t>
            </a:r>
            <a:endParaRPr lang="zh-CN" altLang="en-US"/>
          </a:p>
        </p:txBody>
      </p:sp>
      <p:sp>
        <p:nvSpPr>
          <p:cNvPr id="3" name="内容占位符 2"/>
          <p:cNvSpPr>
            <a:spLocks noGrp="1"/>
          </p:cNvSpPr>
          <p:nvPr>
            <p:ph idx="1"/>
          </p:nvPr>
        </p:nvSpPr>
        <p:spPr>
          <a:xfrm>
            <a:off x="608330" y="2526665"/>
            <a:ext cx="10831830" cy="694690"/>
          </a:xfrm>
        </p:spPr>
        <p:txBody>
          <a:bodyPr>
            <a:noAutofit/>
          </a:bodyPr>
          <a:p>
            <a:r>
              <a:rPr sz="2400" i="1">
                <a:latin typeface="Times New Roman" panose="02020603050405020304" pitchFamily="18" charset="0"/>
                <a:cs typeface="Times New Roman" panose="02020603050405020304" pitchFamily="18" charset="0"/>
              </a:rPr>
              <a:t>Y</a:t>
            </a:r>
            <a:r>
              <a:rPr sz="2400"/>
              <a:t>为二元序列，用</a:t>
            </a:r>
            <a:r>
              <a:rPr sz="2400" i="1">
                <a:latin typeface="Times New Roman" panose="02020603050405020304" pitchFamily="18" charset="0"/>
                <a:cs typeface="Times New Roman" panose="02020603050405020304" pitchFamily="18" charset="0"/>
              </a:rPr>
              <a:t>d</a:t>
            </a:r>
            <a:r>
              <a:rPr sz="2400"/>
              <a:t>(</a:t>
            </a:r>
            <a:r>
              <a:rPr sz="2400" i="1">
                <a:latin typeface="Times New Roman" panose="02020603050405020304" pitchFamily="18" charset="0"/>
                <a:cs typeface="Times New Roman" panose="02020603050405020304" pitchFamily="18" charset="0"/>
              </a:rPr>
              <a:t>Y</a:t>
            </a:r>
            <a:r>
              <a:rPr sz="2400"/>
              <a:t>, </a:t>
            </a:r>
            <a:r>
              <a:rPr sz="2400" i="1">
                <a:latin typeface="Times New Roman" panose="02020603050405020304" pitchFamily="18" charset="0"/>
                <a:cs typeface="Times New Roman" panose="02020603050405020304" pitchFamily="18" charset="0"/>
              </a:rPr>
              <a:t>X</a:t>
            </a:r>
            <a:r>
              <a:rPr sz="2400"/>
              <a:t>)表示</a:t>
            </a:r>
            <a:r>
              <a:rPr sz="2400" i="1">
                <a:latin typeface="Times New Roman" panose="02020603050405020304" pitchFamily="18" charset="0"/>
                <a:cs typeface="Times New Roman" panose="02020603050405020304" pitchFamily="18" charset="0"/>
              </a:rPr>
              <a:t>Y</a:t>
            </a:r>
            <a:r>
              <a:rPr sz="2400"/>
              <a:t>和</a:t>
            </a:r>
            <a:r>
              <a:rPr sz="2400" i="1">
                <a:latin typeface="Times New Roman" panose="02020603050405020304" pitchFamily="18" charset="0"/>
                <a:cs typeface="Times New Roman" panose="02020603050405020304" pitchFamily="18" charset="0"/>
              </a:rPr>
              <a:t>X</a:t>
            </a:r>
            <a:r>
              <a:rPr sz="2400"/>
              <a:t>之间的距离，即不同位数的个数</a:t>
            </a:r>
            <a:endParaRPr sz="2400"/>
          </a:p>
        </p:txBody>
      </p:sp>
      <p:graphicFrame>
        <p:nvGraphicFramePr>
          <p:cNvPr id="7" name="对象 6">
            <a:hlinkClick r:id="" action="ppaction://ole?verb="/>
          </p:cNvPr>
          <p:cNvGraphicFramePr>
            <a:graphicFrameLocks noChangeAspect="1"/>
          </p:cNvGraphicFramePr>
          <p:nvPr/>
        </p:nvGraphicFramePr>
        <p:xfrm>
          <a:off x="4207511" y="1511935"/>
          <a:ext cx="3180715" cy="951865"/>
        </p:xfrm>
        <a:graphic>
          <a:graphicData uri="http://schemas.openxmlformats.org/presentationml/2006/ole">
            <mc:AlternateContent xmlns:mc="http://schemas.openxmlformats.org/markup-compatibility/2006">
              <mc:Choice xmlns:v="urn:schemas-microsoft-com:vml" Requires="v">
                <p:oleObj spid="_x0000_s8" name="" r:id="rId1" imgW="1638300" imgH="482600" progId="Equation.KSEE3">
                  <p:embed/>
                </p:oleObj>
              </mc:Choice>
              <mc:Fallback>
                <p:oleObj name="" r:id="rId1" imgW="1638300" imgH="482600" progId="Equation.KSEE3">
                  <p:embed/>
                  <p:pic>
                    <p:nvPicPr>
                      <p:cNvPr id="0" name="图片 2048"/>
                      <p:cNvPicPr/>
                      <p:nvPr/>
                    </p:nvPicPr>
                    <p:blipFill>
                      <a:blip r:embed="rId2"/>
                      <a:stretch>
                        <a:fillRect/>
                      </a:stretch>
                    </p:blipFill>
                    <p:spPr>
                      <a:xfrm>
                        <a:off x="4207511" y="1511935"/>
                        <a:ext cx="3180715" cy="95186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1056640" y="3351213"/>
          <a:ext cx="5744845" cy="1303020"/>
        </p:xfrm>
        <a:graphic>
          <a:graphicData uri="http://schemas.openxmlformats.org/presentationml/2006/ole">
            <mc:AlternateContent xmlns:mc="http://schemas.openxmlformats.org/markup-compatibility/2006">
              <mc:Choice xmlns:v="urn:schemas-microsoft-com:vml" Requires="v">
                <p:oleObj spid="_x0000_s5" name="" r:id="rId3" imgW="2959100" imgH="660400" progId="Equation.KSEE3">
                  <p:embed/>
                </p:oleObj>
              </mc:Choice>
              <mc:Fallback>
                <p:oleObj name="" r:id="rId3" imgW="2959100" imgH="660400" progId="Equation.KSEE3">
                  <p:embed/>
                  <p:pic>
                    <p:nvPicPr>
                      <p:cNvPr id="0" name="图片 2048"/>
                      <p:cNvPicPr/>
                      <p:nvPr/>
                    </p:nvPicPr>
                    <p:blipFill>
                      <a:blip r:embed="rId4"/>
                      <a:stretch>
                        <a:fillRect/>
                      </a:stretch>
                    </p:blipFill>
                    <p:spPr>
                      <a:xfrm>
                        <a:off x="1056640" y="3351213"/>
                        <a:ext cx="5744845" cy="1303020"/>
                      </a:xfrm>
                      <a:prstGeom prst="rect">
                        <a:avLst/>
                      </a:prstGeom>
                    </p:spPr>
                  </p:pic>
                </p:oleObj>
              </mc:Fallback>
            </mc:AlternateContent>
          </a:graphicData>
        </a:graphic>
      </p:graphicFrame>
      <p:sp>
        <p:nvSpPr>
          <p:cNvPr id="9" name="矩形 8"/>
          <p:cNvSpPr/>
          <p:nvPr/>
        </p:nvSpPr>
        <p:spPr>
          <a:xfrm>
            <a:off x="7579360" y="3552825"/>
            <a:ext cx="2624455" cy="88709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graphicFrame>
        <p:nvGraphicFramePr>
          <p:cNvPr id="6" name="对象 5">
            <a:hlinkClick r:id="" action="ppaction://ole?verb="/>
          </p:cNvPr>
          <p:cNvGraphicFramePr>
            <a:graphicFrameLocks noChangeAspect="1"/>
          </p:cNvGraphicFramePr>
          <p:nvPr/>
        </p:nvGraphicFramePr>
        <p:xfrm>
          <a:off x="7682231" y="3589338"/>
          <a:ext cx="2465705" cy="826770"/>
        </p:xfrm>
        <a:graphic>
          <a:graphicData uri="http://schemas.openxmlformats.org/presentationml/2006/ole">
            <mc:AlternateContent xmlns:mc="http://schemas.openxmlformats.org/markup-compatibility/2006">
              <mc:Choice xmlns:v="urn:schemas-microsoft-com:vml" Requires="v">
                <p:oleObj spid="_x0000_s10" name="" r:id="rId5" imgW="1270000" imgH="419100" progId="Equation.KSEE3">
                  <p:embed/>
                </p:oleObj>
              </mc:Choice>
              <mc:Fallback>
                <p:oleObj name="" r:id="rId5" imgW="1270000" imgH="419100" progId="Equation.KSEE3">
                  <p:embed/>
                  <p:pic>
                    <p:nvPicPr>
                      <p:cNvPr id="0" name="图片 2048"/>
                      <p:cNvPicPr/>
                      <p:nvPr/>
                    </p:nvPicPr>
                    <p:blipFill>
                      <a:blip r:embed="rId6"/>
                      <a:stretch>
                        <a:fillRect/>
                      </a:stretch>
                    </p:blipFill>
                    <p:spPr>
                      <a:xfrm>
                        <a:off x="7682231" y="3589338"/>
                        <a:ext cx="2465705" cy="826770"/>
                      </a:xfrm>
                      <a:prstGeom prst="rect">
                        <a:avLst/>
                      </a:prstGeom>
                    </p:spPr>
                  </p:pic>
                </p:oleObj>
              </mc:Fallback>
            </mc:AlternateContent>
          </a:graphicData>
        </a:graphic>
      </p:graphicFrame>
      <p:sp>
        <p:nvSpPr>
          <p:cNvPr id="11" name="圆角矩形 10"/>
          <p:cNvSpPr/>
          <p:nvPr/>
        </p:nvSpPr>
        <p:spPr>
          <a:xfrm>
            <a:off x="3281680" y="4765675"/>
            <a:ext cx="5486400" cy="619125"/>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zh-CN" altLang="en-US"/>
          </a:p>
        </p:txBody>
      </p:sp>
      <p:sp>
        <p:nvSpPr>
          <p:cNvPr id="12" name="文本框 11"/>
          <p:cNvSpPr txBox="1"/>
          <p:nvPr/>
        </p:nvSpPr>
        <p:spPr>
          <a:xfrm>
            <a:off x="3355975" y="4803140"/>
            <a:ext cx="5370195" cy="534035"/>
          </a:xfrm>
          <a:prstGeom prst="rect">
            <a:avLst/>
          </a:prstGeom>
          <a:noFill/>
        </p:spPr>
        <p:txBody>
          <a:bodyPr wrap="square" rtlCol="0" anchor="t">
            <a:spAutoFit/>
          </a:bodyPr>
          <a:p>
            <a:pPr algn="just">
              <a:lnSpc>
                <a:spcPct val="120000"/>
              </a:lnSpc>
              <a:spcBef>
                <a:spcPts val="0"/>
              </a:spcBef>
              <a:buClr>
                <a:srgbClr val="000000"/>
              </a:buClr>
              <a:buSzPct val="65000"/>
              <a:buFont typeface="Wingdings" panose="05000000000000000000" charset="0"/>
            </a:pPr>
            <a:r>
              <a:rPr lang="en-US" altLang="zh-CN" sz="2400" b="1">
                <a:solidFill>
                  <a:srgbClr val="0070C0"/>
                </a:solidFill>
                <a:latin typeface="Times New Roman" panose="02020603050405020304" pitchFamily="18" charset="0"/>
                <a:ea typeface="黑体" panose="02010609060101010101" pitchFamily="49" charset="-122"/>
                <a:cs typeface="+mn-ea"/>
                <a:sym typeface="+mn-ea"/>
              </a:rPr>
              <a:t>即想要</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P</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Y</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X</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)最大，则需要</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d</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Y</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 </a:t>
            </a:r>
            <a:r>
              <a:rPr lang="en-US" altLang="zh-CN" sz="2400" b="1" i="1">
                <a:solidFill>
                  <a:srgbClr val="0070C0"/>
                </a:solidFill>
                <a:latin typeface="Times New Roman" panose="02020603050405020304" pitchFamily="18" charset="0"/>
                <a:ea typeface="黑体" panose="02010609060101010101" pitchFamily="49" charset="-122"/>
                <a:cs typeface="+mn-ea"/>
                <a:sym typeface="+mn-ea"/>
              </a:rPr>
              <a:t>X</a:t>
            </a:r>
            <a:r>
              <a:rPr lang="en-US" altLang="zh-CN" sz="2400" b="1">
                <a:solidFill>
                  <a:srgbClr val="0070C0"/>
                </a:solidFill>
                <a:latin typeface="Times New Roman" panose="02020603050405020304" pitchFamily="18" charset="0"/>
                <a:ea typeface="黑体" panose="02010609060101010101" pitchFamily="49" charset="-122"/>
                <a:cs typeface="+mn-ea"/>
                <a:sym typeface="+mn-ea"/>
              </a:rPr>
              <a:t>)最小</a:t>
            </a:r>
            <a:endParaRPr lang="en-US" altLang="zh-CN" sz="2400" b="1">
              <a:solidFill>
                <a:srgbClr val="0070C0"/>
              </a:solidFill>
              <a:latin typeface="Times New Roman" panose="02020603050405020304" pitchFamily="18" charset="0"/>
              <a:ea typeface="黑体" panose="02010609060101010101" pitchFamily="49" charset="-122"/>
              <a:cs typeface="+mn-ea"/>
              <a:sym typeface="+mn-ea"/>
            </a:endParaRPr>
          </a:p>
        </p:txBody>
      </p:sp>
      <p:sp>
        <p:nvSpPr>
          <p:cNvPr id="13" name="内容占位符 2"/>
          <p:cNvSpPr>
            <a:spLocks noGrp="1"/>
          </p:cNvSpPr>
          <p:nvPr/>
        </p:nvSpPr>
        <p:spPr>
          <a:xfrm>
            <a:off x="664210" y="5457825"/>
            <a:ext cx="11068685" cy="108204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400"/>
              <a:t>最小距离译码器：在BSC中，MLD规则变成了选择能使</a:t>
            </a:r>
            <a:r>
              <a:rPr sz="2400" i="1">
                <a:latin typeface="Times New Roman" panose="02020603050405020304" pitchFamily="18" charset="0"/>
                <a:cs typeface="Times New Roman" panose="02020603050405020304" pitchFamily="18" charset="0"/>
              </a:rPr>
              <a:t>Y</a:t>
            </a:r>
            <a:r>
              <a:rPr sz="2400"/>
              <a:t>和</a:t>
            </a:r>
            <a:r>
              <a:rPr sz="2400" i="1">
                <a:latin typeface="Times New Roman" panose="02020603050405020304" pitchFamily="18" charset="0"/>
                <a:cs typeface="Times New Roman" panose="02020603050405020304" pitchFamily="18" charset="0"/>
              </a:rPr>
              <a:t>X</a:t>
            </a:r>
            <a:r>
              <a:rPr sz="2400"/>
              <a:t>之间的汉明距离为最小的向量，作为码字</a:t>
            </a:r>
            <a:r>
              <a:rPr sz="2400" i="1">
                <a:latin typeface="Times New Roman" panose="02020603050405020304" pitchFamily="18" charset="0"/>
                <a:cs typeface="Times New Roman" panose="02020603050405020304" pitchFamily="18" charset="0"/>
              </a:rPr>
              <a:t>X</a:t>
            </a:r>
            <a:r>
              <a:rPr sz="2400"/>
              <a:t>的估计值</a:t>
            </a:r>
            <a:endParaRPr sz="2400"/>
          </a:p>
        </p:txBody>
      </p:sp>
      <p:sp>
        <p:nvSpPr>
          <p:cNvPr id="14" name="灯片编号占位符 1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r>
              <a:rPr lang="zh-CN" altLang="en-US"/>
              <a:t>教学参考</a:t>
            </a:r>
            <a:r>
              <a:rPr lang="zh-CN" altLang="en-US"/>
              <a:t>书</a:t>
            </a:r>
            <a:endParaRPr lang="zh-CN" altLang="en-US"/>
          </a:p>
        </p:txBody>
      </p:sp>
      <p:sp>
        <p:nvSpPr>
          <p:cNvPr id="3" name="内容占位符 2"/>
          <p:cNvSpPr>
            <a:spLocks noGrp="1"/>
          </p:cNvSpPr>
          <p:nvPr>
            <p:ph idx="1"/>
          </p:nvPr>
        </p:nvSpPr>
        <p:spPr>
          <a:xfrm>
            <a:off x="608330" y="1490345"/>
            <a:ext cx="10968990" cy="3583940"/>
          </a:xfrm>
        </p:spPr>
        <p:txBody>
          <a:bodyPr>
            <a:noAutofit/>
          </a:bodyPr>
          <a:p>
            <a:pPr marL="0" indent="0">
              <a:buNone/>
            </a:pPr>
            <a:r>
              <a:rPr lang="en-US" altLang="zh-CN" sz="2000"/>
              <a:t>[1] </a:t>
            </a:r>
            <a:r>
              <a:rPr lang="zh-CN" altLang="en-US" sz="2000"/>
              <a:t>信息论与编码.吴伯修, 归绍升, 祝宗泰, 俞槐铨编. 电子工业出版社, 1987.</a:t>
            </a:r>
            <a:endParaRPr lang="zh-CN" altLang="en-US" sz="2000"/>
          </a:p>
          <a:p>
            <a:pPr marL="0" indent="0">
              <a:buNone/>
            </a:pPr>
            <a:r>
              <a:rPr lang="en-US" altLang="zh-CN" sz="2000"/>
              <a:t>[2] </a:t>
            </a:r>
            <a:r>
              <a:rPr lang="zh-CN" altLang="en-US" sz="2000"/>
              <a:t>信息论与最优编码. 章照止, 林须端著. 上海科学技术出版社, 1993.</a:t>
            </a:r>
            <a:endParaRPr lang="zh-CN" altLang="en-US" sz="2000"/>
          </a:p>
          <a:p>
            <a:pPr marL="0" indent="0">
              <a:buNone/>
            </a:pPr>
            <a:r>
              <a:rPr lang="en-US" altLang="zh-CN" sz="2000"/>
              <a:t>[3] </a:t>
            </a:r>
            <a:r>
              <a:rPr lang="zh-CN" altLang="en-US" sz="2000"/>
              <a:t>信息论、编码与密码学. Ranjan Bose著. 机械工业出版社, 2004.</a:t>
            </a:r>
            <a:endParaRPr lang="zh-CN" altLang="en-US" sz="2000"/>
          </a:p>
          <a:p>
            <a:pPr marL="0" indent="0">
              <a:buNone/>
            </a:pPr>
            <a:r>
              <a:rPr lang="en-US" altLang="zh-CN" sz="2000"/>
              <a:t>[4] </a:t>
            </a:r>
            <a:r>
              <a:rPr lang="zh-CN" altLang="en-US" sz="2000"/>
              <a:t>信息论与编码理论. Robert J. Mcelece著. 电子工业出版社, 2004.</a:t>
            </a:r>
            <a:endParaRPr lang="zh-CN" altLang="en-US" sz="2000"/>
          </a:p>
          <a:p>
            <a:pPr marL="0" indent="0">
              <a:buNone/>
            </a:pPr>
            <a:r>
              <a:rPr lang="en-US" altLang="zh-CN" sz="2000"/>
              <a:t>[5] </a:t>
            </a:r>
            <a:r>
              <a:rPr lang="zh-CN" altLang="en-US" sz="2000"/>
              <a:t>信息论与编码理论.王育民,李晖,梁传甲编著.高等教育出版社,2005.</a:t>
            </a:r>
            <a:endParaRPr lang="zh-CN" altLang="en-US" sz="2000"/>
          </a:p>
          <a:p>
            <a:pPr marL="0" indent="0">
              <a:buNone/>
            </a:pPr>
            <a:r>
              <a:rPr lang="en-US" altLang="zh-CN" sz="2000"/>
              <a:t>[6] </a:t>
            </a:r>
            <a:r>
              <a:rPr lang="zh-CN" altLang="en-US" sz="2000"/>
              <a:t>信息论与编码理论(第二版).陈鲁生,沈世镒编.科学出版社,2010.</a:t>
            </a:r>
            <a:endParaRPr lang="zh-CN" altLang="en-US" sz="2000"/>
          </a:p>
          <a:p>
            <a:pPr marL="0" indent="0">
              <a:buNone/>
            </a:pPr>
            <a:r>
              <a:rPr lang="en-US" altLang="zh-CN" sz="2000"/>
              <a:t>[7] </a:t>
            </a:r>
            <a:r>
              <a:rPr lang="zh-CN" altLang="en-US" sz="2000"/>
              <a:t>信息论与信源编码理论.刘建成著.北京邮电大学出版社,2010.</a:t>
            </a:r>
            <a:endParaRPr lang="zh-CN" altLang="en-US" sz="20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课后自学</a:t>
            </a:r>
            <a:r>
              <a:rPr lang="zh-CN" altLang="en-US">
                <a:sym typeface="+mn-ea"/>
              </a:rPr>
              <a:t>要求</a:t>
            </a:r>
            <a:endParaRPr lang="zh-CN" altLang="en-US">
              <a:sym typeface="+mn-ea"/>
            </a:endParaRPr>
          </a:p>
        </p:txBody>
      </p:sp>
      <p:sp>
        <p:nvSpPr>
          <p:cNvPr id="3" name="内容占位符 2"/>
          <p:cNvSpPr>
            <a:spLocks noGrp="1"/>
          </p:cNvSpPr>
          <p:nvPr>
            <p:ph idx="1"/>
          </p:nvPr>
        </p:nvSpPr>
        <p:spPr>
          <a:xfrm>
            <a:off x="608330" y="1490345"/>
            <a:ext cx="10831830" cy="2404745"/>
          </a:xfrm>
        </p:spPr>
        <p:txBody>
          <a:bodyPr>
            <a:noAutofit/>
          </a:bodyPr>
          <a:p>
            <a:r>
              <a:rPr sz="2400">
                <a:highlight>
                  <a:srgbClr val="FFFF00"/>
                </a:highlight>
                <a:sym typeface="+mn-ea"/>
              </a:rPr>
              <a:t>了解香农、汉明</a:t>
            </a:r>
            <a:r>
              <a:rPr lang="zh-CN" sz="2400">
                <a:highlight>
                  <a:srgbClr val="FFFF00"/>
                </a:highlight>
                <a:sym typeface="+mn-ea"/>
              </a:rPr>
              <a:t>等</a:t>
            </a:r>
            <a:r>
              <a:rPr sz="2400">
                <a:highlight>
                  <a:srgbClr val="FFFF00"/>
                </a:highlight>
                <a:sym typeface="+mn-ea"/>
              </a:rPr>
              <a:t>的信息论与编码理论的奠基人</a:t>
            </a:r>
            <a:r>
              <a:rPr lang="zh-CN" sz="2400">
                <a:highlight>
                  <a:srgbClr val="FFFF00"/>
                </a:highlight>
                <a:sym typeface="+mn-ea"/>
              </a:rPr>
              <a:t>及相关研究领域的科学家代表</a:t>
            </a:r>
            <a:r>
              <a:rPr lang="zh-CN" sz="2400">
                <a:highlight>
                  <a:srgbClr val="FFFF00"/>
                </a:highlight>
                <a:sym typeface="+mn-ea"/>
              </a:rPr>
              <a:t>人物的科学研究</a:t>
            </a:r>
            <a:r>
              <a:rPr lang="zh-CN" sz="2400">
                <a:highlight>
                  <a:srgbClr val="FFFF00"/>
                </a:highlight>
                <a:sym typeface="+mn-ea"/>
              </a:rPr>
              <a:t>内容</a:t>
            </a:r>
            <a:endParaRPr lang="zh-CN" sz="2400">
              <a:highlight>
                <a:srgbClr val="FFFF00"/>
              </a:highlight>
              <a:sym typeface="+mn-ea"/>
            </a:endParaRPr>
          </a:p>
          <a:p>
            <a:r>
              <a:rPr lang="zh-CN" sz="2400">
                <a:highlight>
                  <a:srgbClr val="FFFF00"/>
                </a:highlight>
                <a:sym typeface="+mn-ea"/>
              </a:rPr>
              <a:t>阅读仙农的经典论文：A Mathematical Theory of Communication，文献信息C. E. S</a:t>
            </a:r>
            <a:r>
              <a:rPr lang="en-US" altLang="zh-CN" sz="2400">
                <a:highlight>
                  <a:srgbClr val="FFFF00"/>
                </a:highlight>
                <a:sym typeface="+mn-ea"/>
              </a:rPr>
              <a:t>hannon</a:t>
            </a:r>
            <a:r>
              <a:rPr lang="en-US" altLang="zh-CN" sz="2400">
                <a:highlight>
                  <a:srgbClr val="FFFF00"/>
                </a:highlight>
                <a:sym typeface="+mn-ea"/>
              </a:rPr>
              <a:t>, </a:t>
            </a:r>
            <a:r>
              <a:rPr lang="zh-CN" sz="2400">
                <a:highlight>
                  <a:srgbClr val="FFFF00"/>
                </a:highlight>
                <a:sym typeface="+mn-ea"/>
              </a:rPr>
              <a:t>A Mathematical Theory of Communication</a:t>
            </a:r>
            <a:r>
              <a:rPr lang="en-US" altLang="zh-CN" sz="2400">
                <a:highlight>
                  <a:srgbClr val="FFFF00"/>
                </a:highlight>
                <a:sym typeface="+mn-ea"/>
              </a:rPr>
              <a:t>, </a:t>
            </a:r>
            <a:r>
              <a:rPr lang="zh-CN" sz="2400">
                <a:highlight>
                  <a:srgbClr val="FFFF00"/>
                </a:highlight>
                <a:sym typeface="+mn-ea"/>
              </a:rPr>
              <a:t>The Bell System Technical Journal,</a:t>
            </a:r>
            <a:r>
              <a:rPr lang="en-US" altLang="zh-CN" sz="2400">
                <a:highlight>
                  <a:srgbClr val="FFFF00"/>
                </a:highlight>
                <a:sym typeface="+mn-ea"/>
              </a:rPr>
              <a:t> </a:t>
            </a:r>
            <a:r>
              <a:rPr lang="zh-CN" sz="2400">
                <a:highlight>
                  <a:srgbClr val="FFFF00"/>
                </a:highlight>
                <a:sym typeface="+mn-ea"/>
              </a:rPr>
              <a:t>Vol. 27, pp. 379–423, 623–656, July, October, 1948.</a:t>
            </a:r>
            <a:endParaRPr lang="zh-CN" sz="2400">
              <a:highlight>
                <a:srgbClr val="FFFF00"/>
              </a:highlight>
              <a:sym typeface="+mn-ea"/>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答疑</a:t>
            </a:r>
            <a:r>
              <a:rPr lang="zh-CN" altLang="en-US"/>
              <a:t>时间</a:t>
            </a:r>
            <a:endParaRPr lang="zh-CN" altLang="en-US"/>
          </a:p>
        </p:txBody>
      </p:sp>
      <p:sp>
        <p:nvSpPr>
          <p:cNvPr id="3" name="内容占位符 2"/>
          <p:cNvSpPr>
            <a:spLocks noGrp="1"/>
          </p:cNvSpPr>
          <p:nvPr>
            <p:ph idx="1"/>
          </p:nvPr>
        </p:nvSpPr>
        <p:spPr/>
        <p:txBody>
          <a:bodyPr/>
          <a:p>
            <a:r>
              <a:rPr lang="zh-CN" altLang="en-US" sz="3200"/>
              <a:t>请上课学生提</a:t>
            </a:r>
            <a:r>
              <a:rPr lang="zh-CN" altLang="en-US" sz="3200"/>
              <a:t>出宝贵的问题</a:t>
            </a:r>
            <a:endParaRPr lang="zh-CN" altLang="en-US" sz="32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176"/>
</p:tagLst>
</file>

<file path=ppt/tags/tag67.xml><?xml version="1.0" encoding="utf-8"?>
<p:tagLst xmlns:p="http://schemas.openxmlformats.org/presentationml/2006/main">
  <p:tag name="KSO_WM_BEAUTIFY_FLAG" val="#wm#"/>
  <p:tag name="KSO_WM_TEMPLATE_CATEGORY" val="custom"/>
  <p:tag name="KSO_WM_TEMPLATE_INDEX" val="20205176"/>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43_5*m_h_i*1_1_1"/>
  <p:tag name="KSO_WM_TEMPLATE_CATEGORY" val="diagram"/>
  <p:tag name="KSO_WM_TEMPLATE_INDEX" val="20199043"/>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199043_5*m_h_i*1_2_1"/>
  <p:tag name="KSO_WM_TEMPLATE_CATEGORY" val="diagram"/>
  <p:tag name="KSO_WM_TEMPLATE_INDEX" val="20199043"/>
  <p:tag name="KSO_WM_UNIT_LAYERLEVEL" val="1_1_1"/>
  <p:tag name="KSO_WM_TAG_VERSION" val="1.0"/>
  <p:tag name="KSO_WM_BEAUTIFY_FLAG" val="#wm#"/>
  <p:tag name="KSO_WM_UNIT_FILL_FORE_SCHEMECOLOR_INDEX" val="6"/>
  <p:tag name="KSO_WM_UNIT_FILL_TYPE" val="1"/>
  <p:tag name="KSO_WM_UNIT_TEXT_FILL_FORE_SCHEMECOLOR_INDEX" val="14"/>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199043_5*m_h_i*1_3_1"/>
  <p:tag name="KSO_WM_TEMPLATE_CATEGORY" val="diagram"/>
  <p:tag name="KSO_WM_TEMPLATE_INDEX" val="20199043"/>
  <p:tag name="KSO_WM_UNIT_LAYERLEVEL" val="1_1_1"/>
  <p:tag name="KSO_WM_TAG_VERSION" val="1.0"/>
  <p:tag name="KSO_WM_BEAUTIFY_FLAG" val="#wm#"/>
  <p:tag name="KSO_WM_UNIT_FILL_FORE_SCHEMECOLOR_INDEX" val="7"/>
  <p:tag name="KSO_WM_UNIT_FILL_TYPE" val="1"/>
  <p:tag name="KSO_WM_UNIT_TEXT_FILL_FORE_SCHEMECOLOR_INDEX" val="14"/>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199043_5*m_h_i*1_4_1"/>
  <p:tag name="KSO_WM_TEMPLATE_CATEGORY" val="diagram"/>
  <p:tag name="KSO_WM_TEMPLATE_INDEX" val="20199043"/>
  <p:tag name="KSO_WM_UNIT_LAYERLEVEL" val="1_1_1"/>
  <p:tag name="KSO_WM_TAG_VERSION" val="1.0"/>
  <p:tag name="KSO_WM_BEAUTIFY_FLAG" val="#wm#"/>
  <p:tag name="KSO_WM_UNIT_FILL_FORE_SCHEMECOLOR_INDEX" val="8"/>
  <p:tag name="KSO_WM_UNIT_FILL_TYPE" val="1"/>
  <p:tag name="KSO_WM_UNIT_TEXT_FILL_FORE_SCHEMECOLOR_INDEX" val="14"/>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6_1"/>
  <p:tag name="KSO_WM_UNIT_ID" val="diagram20199043_5*m_h_i*1_6_1"/>
  <p:tag name="KSO_WM_TEMPLATE_CATEGORY" val="diagram"/>
  <p:tag name="KSO_WM_TEMPLATE_INDEX" val="20199043"/>
  <p:tag name="KSO_WM_UNIT_LAYERLEVEL" val="1_1_1"/>
  <p:tag name="KSO_WM_TAG_VERSION" val="1.0"/>
  <p:tag name="KSO_WM_BEAUTIFY_FLAG" val="#wm#"/>
  <p:tag name="KSO_WM_UNIT_FILL_FORE_SCHEMECOLOR_INDEX" val="10"/>
  <p:tag name="KSO_WM_UNIT_FILL_TYPE" val="1"/>
  <p:tag name="KSO_WM_UNIT_TEXT_FILL_FORE_SCHEMECOLOR_INDEX" val="14"/>
  <p:tag name="KSO_WM_UNIT_TEXT_FILL_TYPE" val="1"/>
</p:tagLst>
</file>

<file path=ppt/tags/tag73.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43_5*m_h_f*1_1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74.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199043_5*m_h_a*1_1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75.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199043_5*m_h_f*1_2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76.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199043_5*m_h_a*1_2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77.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199043_5*m_h_f*1_3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78.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199043_5*m_h_a*1_3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79.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199043_5*m_h_f*1_4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80.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199043_5*m_h_a*1_4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81.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199043_5*m_h_f*1_5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82.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199043_5*m_h_a*1_5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199043_5*m_h_i*1_5_2"/>
  <p:tag name="KSO_WM_TEMPLATE_CATEGORY" val="diagram"/>
  <p:tag name="KSO_WM_TEMPLATE_INDEX" val="20199043"/>
  <p:tag name="KSO_WM_UNIT_LAYERLEVEL" val="1_1_1"/>
  <p:tag name="KSO_WM_TAG_VERSION" val="1.0"/>
  <p:tag name="KSO_WM_BEAUTIFY_FLAG" val="#wm#"/>
  <p:tag name="KSO_WM_UNIT_FILL_FORE_SCHEMECOLOR_INDEX" val="9"/>
  <p:tag name="KSO_WM_UNIT_FILL_TYPE" val="1"/>
  <p:tag name="KSO_WM_UNIT_TEXT_FILL_FORE_SCHEMECOLOR_INDEX" val="14"/>
  <p:tag name="KSO_WM_UNIT_TEXT_FILL_TYPE" val="1"/>
</p:tagLst>
</file>

<file path=ppt/tags/tag84.xml><?xml version="1.0" encoding="utf-8"?>
<p:tagLst xmlns:p="http://schemas.openxmlformats.org/presentationml/2006/main">
  <p:tag name="KSO_WM_UNIT_NOCLEAR" val="0"/>
  <p:tag name="KSO_WM_UNIT_VALUE" val="14"/>
  <p:tag name="KSO_WM_UNIT_HIGHLIGHT" val="0"/>
  <p:tag name="KSO_WM_UNIT_COMPATIBLE" val="0"/>
  <p:tag name="KSO_WM_UNIT_DIAGRAM_ISNUMVISUAL" val="0"/>
  <p:tag name="KSO_WM_UNIT_DIAGRAM_ISREFERUNIT" val="0"/>
  <p:tag name="KSO_WM_DIAGRAM_GROUP_CODE" val="m1-1"/>
  <p:tag name="KSO_WM_UNIT_TYPE" val="m_h_f"/>
  <p:tag name="KSO_WM_UNIT_INDEX" val="1_6_1"/>
  <p:tag name="KSO_WM_UNIT_ID" val="diagram20199043_5*m_h_f*1_6_1"/>
  <p:tag name="KSO_WM_TEMPLATE_CATEGORY" val="diagram"/>
  <p:tag name="KSO_WM_TEMPLATE_INDEX" val="20199043"/>
  <p:tag name="KSO_WM_UNIT_LAYERLEVEL" val="1_1_1"/>
  <p:tag name="KSO_WM_TAG_VERSION" val="1.0"/>
  <p:tag name="KSO_WM_BEAUTIFY_FLAG" val="#wm#"/>
  <p:tag name="KSO_WM_UNIT_PRESET_TEXT" val="单击此处添加文本具体内容"/>
  <p:tag name="KSO_WM_UNIT_TEXT_FILL_FORE_SCHEMECOLOR_INDEX" val="14"/>
  <p:tag name="KSO_WM_UNIT_TEXT_FILL_TYPE" val="1"/>
</p:tagLst>
</file>

<file path=ppt/tags/tag85.xml><?xml version="1.0" encoding="utf-8"?>
<p:tagLst xmlns:p="http://schemas.openxmlformats.org/presentationml/2006/main">
  <p:tag name="KSO_WM_UNIT_ISCONTENTS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6_1"/>
  <p:tag name="KSO_WM_UNIT_ID" val="diagram20199043_5*m_h_a*1_6_1"/>
  <p:tag name="KSO_WM_TEMPLATE_CATEGORY" val="diagram"/>
  <p:tag name="KSO_WM_TEMPLATE_INDEX" val="20199043"/>
  <p:tag name="KSO_WM_UNIT_LAYERLEVEL" val="1_1_1"/>
  <p:tag name="KSO_WM_TAG_VERSION" val="1.0"/>
  <p:tag name="KSO_WM_BEAUTIFY_FLAG" val="#wm#"/>
  <p:tag name="KSO_WM_UNIT_PRESET_TEXT" val="添加标题"/>
  <p:tag name="KSO_WM_UNIT_TEXT_FILL_FORE_SCHEMECOLOR_INDEX" val="13"/>
  <p:tag name="KSO_WM_UNIT_TEXT_FILL_TYPE" val="1"/>
</p:tagLst>
</file>

<file path=ppt/tags/tag86.xml><?xml version="1.0" encoding="utf-8"?>
<p:tagLst xmlns:p="http://schemas.openxmlformats.org/presentationml/2006/main">
  <p:tag name="KSO_WM_BEAUTIFY_FLAG" val="#wm#"/>
  <p:tag name="KSO_WM_TEMPLATE_CATEGORY" val="custom"/>
  <p:tag name="KSO_WM_TEMPLATE_INDEX" val="20205176"/>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wm#"/>
  <p:tag name="KSO_WM_TEMPLATE_CATEGORY" val="custom"/>
  <p:tag name="KSO_WM_TEMPLATE_INDEX" val="20205176"/>
</p:tagLst>
</file>

<file path=ppt/tags/tag90.xml><?xml version="1.0" encoding="utf-8"?>
<p:tagLst xmlns:p="http://schemas.openxmlformats.org/presentationml/2006/main">
  <p:tag name="KSO_WM_BEAUTIFY_FLAG" val="#wm#"/>
  <p:tag name="KSO_WM_TEMPLATE_CATEGORY" val="custom"/>
  <p:tag name="KSO_WM_TEMPLATE_INDEX" val="20205176"/>
</p:tagLst>
</file>

<file path=ppt/tags/tag91.xml><?xml version="1.0" encoding="utf-8"?>
<p:tagLst xmlns:p="http://schemas.openxmlformats.org/presentationml/2006/main">
  <p:tag name="KSO_WM_BEAUTIFY_FLAG" val="#wm#"/>
  <p:tag name="KSO_WM_TEMPLATE_CATEGORY" val="custom"/>
  <p:tag name="KSO_WM_TEMPLATE_INDEX" val="20205176"/>
</p:tagLst>
</file>

<file path=ppt/tags/tag92.xml><?xml version="1.0" encoding="utf-8"?>
<p:tagLst xmlns:p="http://schemas.openxmlformats.org/presentationml/2006/main">
  <p:tag name="KSO_WM_BEAUTIFY_FLAG" val="#wm#"/>
  <p:tag name="KSO_WM_TEMPLATE_CATEGORY" val="custom"/>
  <p:tag name="KSO_WM_TEMPLATE_INDEX" val="20205176"/>
</p:tagLst>
</file>

<file path=ppt/tags/tag93.xml><?xml version="1.0" encoding="utf-8"?>
<p:tagLst xmlns:p="http://schemas.openxmlformats.org/presentationml/2006/main">
  <p:tag name="KSO_WM_BEAUTIFY_FLAG" val="#wm#"/>
  <p:tag name="KSO_WM_TEMPLATE_CATEGORY" val="custom"/>
  <p:tag name="KSO_WM_TEMPLATE_INDEX" val="20205176"/>
</p:tagLst>
</file>

<file path=ppt/tags/tag94.xml><?xml version="1.0" encoding="utf-8"?>
<p:tagLst xmlns:p="http://schemas.openxmlformats.org/presentationml/2006/main">
  <p:tag name="KSO_WM_BEAUTIFY_FLAG" val="#wm#"/>
  <p:tag name="KSO_WM_TEMPLATE_CATEGORY" val="custom"/>
  <p:tag name="KSO_WM_TEMPLATE_INDEX" val="20205176"/>
</p:tagLst>
</file>

<file path=ppt/tags/tag95.xml><?xml version="1.0" encoding="utf-8"?>
<p:tagLst xmlns:p="http://schemas.openxmlformats.org/presentationml/2006/main">
  <p:tag name="KSO_WM_BEAUTIFY_FLAG" val="#wm#"/>
  <p:tag name="KSO_WM_TEMPLATE_CATEGORY" val="custom"/>
  <p:tag name="KSO_WM_TEMPLATE_INDEX" val="20205176"/>
</p:tagLst>
</file>

<file path=ppt/tags/tag96.xml><?xml version="1.0" encoding="utf-8"?>
<p:tagLst xmlns:p="http://schemas.openxmlformats.org/presentationml/2006/main">
  <p:tag name="KSO_WM_BEAUTIFY_FLAG" val="#wm#"/>
  <p:tag name="KSO_WM_TEMPLATE_CATEGORY" val="custom"/>
  <p:tag name="KSO_WM_TEMPLATE_INDEX" val="20205176"/>
</p:tagLst>
</file>

<file path=ppt/tags/tag97.xml><?xml version="1.0" encoding="utf-8"?>
<p:tagLst xmlns:p="http://schemas.openxmlformats.org/presentationml/2006/main">
  <p:tag name="KSO_WM_BEAUTIFY_FLAG" val="#wm#"/>
  <p:tag name="KSO_WM_TEMPLATE_CATEGORY" val="custom"/>
  <p:tag name="KSO_WM_TEMPLATE_INDEX" val="20205176"/>
</p:tagLst>
</file>

<file path=ppt/tags/tag98.xml><?xml version="1.0" encoding="utf-8"?>
<p:tagLst xmlns:p="http://schemas.openxmlformats.org/presentationml/2006/main">
  <p:tag name="KSO_WM_BEAUTIFY_FLAG" val="#wm#"/>
  <p:tag name="KSO_WM_TEMPLATE_CATEGORY" val="custom"/>
  <p:tag name="KSO_WM_TEMPLATE_INDEX" val="20205176"/>
</p:tagLst>
</file>

<file path=ppt/tags/tag99.xml><?xml version="1.0" encoding="utf-8"?>
<p:tagLst xmlns:p="http://schemas.openxmlformats.org/presentationml/2006/main">
  <p:tag name="KSO_WM_BEAUTIFY_FLAG" val="#wm#"/>
  <p:tag name="KSO_WM_TEMPLATE_CATEGORY" val="custom"/>
  <p:tag name="KSO_WM_TEMPLATE_INDEX" val="20205176"/>
</p:tagLst>
</file>

<file path=ppt/tags/tag100.xml><?xml version="1.0" encoding="utf-8"?>
<p:tagLst xmlns:p="http://schemas.openxmlformats.org/presentationml/2006/main">
  <p:tag name="KSO_WM_BEAUTIFY_FLAG" val="#wm#"/>
  <p:tag name="KSO_WM_TEMPLATE_CATEGORY" val="custom"/>
  <p:tag name="KSO_WM_TEMPLATE_INDEX" val="20205176"/>
</p:tagLst>
</file>

<file path=ppt/tags/tag101.xml><?xml version="1.0" encoding="utf-8"?>
<p:tagLst xmlns:p="http://schemas.openxmlformats.org/presentationml/2006/main">
  <p:tag name="KSO_WM_BEAUTIFY_FLAG" val="#wm#"/>
  <p:tag name="KSO_WM_TEMPLATE_CATEGORY" val="custom"/>
  <p:tag name="KSO_WM_TEMPLATE_INDEX" val="20205176"/>
</p:tagLst>
</file>

<file path=ppt/tags/tag102.xml><?xml version="1.0" encoding="utf-8"?>
<p:tagLst xmlns:p="http://schemas.openxmlformats.org/presentationml/2006/main">
  <p:tag name="KSO_WM_BEAUTIFY_FLAG" val="#wm#"/>
  <p:tag name="KSO_WM_TEMPLATE_CATEGORY" val="custom"/>
  <p:tag name="KSO_WM_TEMPLATE_INDEX" val="20205176"/>
</p:tagLst>
</file>

<file path=ppt/tags/tag103.xml><?xml version="1.0" encoding="utf-8"?>
<p:tagLst xmlns:p="http://schemas.openxmlformats.org/presentationml/2006/main">
  <p:tag name="KSO_WM_BEAUTIFY_FLAG" val="#wm#"/>
  <p:tag name="KSO_WM_TEMPLATE_CATEGORY" val="custom"/>
  <p:tag name="KSO_WM_TEMPLATE_INDEX" val="20205176"/>
</p:tagLst>
</file>

<file path=ppt/tags/tag104.xml><?xml version="1.0" encoding="utf-8"?>
<p:tagLst xmlns:p="http://schemas.openxmlformats.org/presentationml/2006/main">
  <p:tag name="KSO_WM_BEAUTIFY_FLAG" val="#wm#"/>
  <p:tag name="KSO_WM_TEMPLATE_CATEGORY" val="custom"/>
  <p:tag name="KSO_WM_TEMPLATE_INDEX" val="20205176"/>
</p:tagLst>
</file>

<file path=ppt/tags/tag105.xml><?xml version="1.0" encoding="utf-8"?>
<p:tagLst xmlns:p="http://schemas.openxmlformats.org/presentationml/2006/main">
  <p:tag name="KSO_WM_BEAUTIFY_FLAG" val="#wm#"/>
  <p:tag name="KSO_WM_TEMPLATE_CATEGORY" val="custom"/>
  <p:tag name="KSO_WM_TEMPLATE_INDEX" val="20205176"/>
</p:tagLst>
</file>

<file path=ppt/tags/tag106.xml><?xml version="1.0" encoding="utf-8"?>
<p:tagLst xmlns:p="http://schemas.openxmlformats.org/presentationml/2006/main">
  <p:tag name="KSO_WM_BEAUTIFY_FLAG" val="#wm#"/>
  <p:tag name="KSO_WM_TEMPLATE_CATEGORY" val="custom"/>
  <p:tag name="KSO_WM_TEMPLATE_INDEX" val="20205176"/>
</p:tagLst>
</file>

<file path=ppt/tags/tag107.xml><?xml version="1.0" encoding="utf-8"?>
<p:tagLst xmlns:p="http://schemas.openxmlformats.org/presentationml/2006/main">
  <p:tag name="KSO_WM_BEAUTIFY_FLAG" val="#wm#"/>
  <p:tag name="KSO_WM_TEMPLATE_CATEGORY" val="custom"/>
  <p:tag name="KSO_WM_TEMPLATE_INDEX" val="20205176"/>
</p:tagLst>
</file>

<file path=ppt/tags/tag108.xml><?xml version="1.0" encoding="utf-8"?>
<p:tagLst xmlns:p="http://schemas.openxmlformats.org/presentationml/2006/main">
  <p:tag name="KSO_WM_BEAUTIFY_FLAG" val="#wm#"/>
  <p:tag name="KSO_WM_TEMPLATE_CATEGORY" val="custom"/>
  <p:tag name="KSO_WM_TEMPLATE_INDEX" val="20205176"/>
</p:tagLst>
</file>

<file path=ppt/tags/tag109.xml><?xml version="1.0" encoding="utf-8"?>
<p:tagLst xmlns:p="http://schemas.openxmlformats.org/presentationml/2006/main">
  <p:tag name="KSO_WM_BEAUTIFY_FLAG" val="#wm#"/>
  <p:tag name="KSO_WM_TEMPLATE_CATEGORY" val="custom"/>
  <p:tag name="KSO_WM_TEMPLATE_INDEX" val="20205176"/>
</p:tagLst>
</file>

<file path=ppt/tags/tag110.xml><?xml version="1.0" encoding="utf-8"?>
<p:tagLst xmlns:p="http://schemas.openxmlformats.org/presentationml/2006/main">
  <p:tag name="KSO_WM_BEAUTIFY_FLAG" val="#wm#"/>
  <p:tag name="KSO_WM_TEMPLATE_CATEGORY" val="custom"/>
  <p:tag name="KSO_WM_TEMPLATE_INDEX" val="20205176"/>
</p:tagLst>
</file>

<file path=ppt/tags/tag111.xml><?xml version="1.0" encoding="utf-8"?>
<p:tagLst xmlns:p="http://schemas.openxmlformats.org/presentationml/2006/main">
  <p:tag name="KSO_WM_BEAUTIFY_FLAG" val="#wm#"/>
  <p:tag name="KSO_WM_TEMPLATE_CATEGORY" val="custom"/>
  <p:tag name="KSO_WM_TEMPLATE_INDEX" val="20205176"/>
</p:tagLst>
</file>

<file path=ppt/tags/tag112.xml><?xml version="1.0" encoding="utf-8"?>
<p:tagLst xmlns:p="http://schemas.openxmlformats.org/presentationml/2006/main">
  <p:tag name="KSO_WM_BEAUTIFY_FLAG" val="#wm#"/>
  <p:tag name="KSO_WM_TEMPLATE_CATEGORY" val="custom"/>
  <p:tag name="KSO_WM_TEMPLATE_INDEX" val="20205176"/>
</p:tagLst>
</file>

<file path=ppt/tags/tag113.xml><?xml version="1.0" encoding="utf-8"?>
<p:tagLst xmlns:p="http://schemas.openxmlformats.org/presentationml/2006/main">
  <p:tag name="KSO_WM_BEAUTIFY_FLAG" val="#wm#"/>
  <p:tag name="KSO_WM_TEMPLATE_CATEGORY" val="custom"/>
  <p:tag name="KSO_WM_TEMPLATE_INDEX" val="20205176"/>
</p:tagLst>
</file>

<file path=ppt/tags/tag114.xml><?xml version="1.0" encoding="utf-8"?>
<p:tagLst xmlns:p="http://schemas.openxmlformats.org/presentationml/2006/main">
  <p:tag name="KSO_WM_BEAUTIFY_FLAG" val="#wm#"/>
  <p:tag name="KSO_WM_TEMPLATE_CATEGORY" val="custom"/>
  <p:tag name="KSO_WM_TEMPLATE_INDEX" val="20205176"/>
</p:tagLst>
</file>

<file path=ppt/tags/tag115.xml><?xml version="1.0" encoding="utf-8"?>
<p:tagLst xmlns:p="http://schemas.openxmlformats.org/presentationml/2006/main">
  <p:tag name="KSO_WM_BEAUTIFY_FLAG" val="#wm#"/>
  <p:tag name="KSO_WM_TEMPLATE_CATEGORY" val="custom"/>
  <p:tag name="KSO_WM_TEMPLATE_INDEX" val="20205176"/>
</p:tagLst>
</file>

<file path=ppt/tags/tag116.xml><?xml version="1.0" encoding="utf-8"?>
<p:tagLst xmlns:p="http://schemas.openxmlformats.org/presentationml/2006/main">
  <p:tag name="KSO_WM_BEAUTIFY_FLAG" val="#wm#"/>
  <p:tag name="KSO_WM_TEMPLATE_CATEGORY" val="custom"/>
  <p:tag name="KSO_WM_TEMPLATE_INDEX" val="20205176"/>
</p:tagLst>
</file>

<file path=ppt/tags/tag117.xml><?xml version="1.0" encoding="utf-8"?>
<p:tagLst xmlns:p="http://schemas.openxmlformats.org/presentationml/2006/main">
  <p:tag name="KSO_WM_BEAUTIFY_FLAG" val="#wm#"/>
  <p:tag name="KSO_WM_TEMPLATE_CATEGORY" val="custom"/>
  <p:tag name="KSO_WM_TEMPLATE_INDEX" val="20205176"/>
</p:tagLst>
</file>

<file path=ppt/tags/tag118.xml><?xml version="1.0" encoding="utf-8"?>
<p:tagLst xmlns:p="http://schemas.openxmlformats.org/presentationml/2006/main">
  <p:tag name="KSO_WM_BEAUTIFY_FLAG" val="#wm#"/>
  <p:tag name="KSO_WM_TEMPLATE_CATEGORY" val="custom"/>
  <p:tag name="KSO_WM_TEMPLATE_INDEX" val="20205176"/>
</p:tagLst>
</file>

<file path=ppt/tags/tag119.xml><?xml version="1.0" encoding="utf-8"?>
<p:tagLst xmlns:p="http://schemas.openxmlformats.org/presentationml/2006/main">
  <p:tag name="KSO_WM_BEAUTIFY_FLAG" val="#wm#"/>
  <p:tag name="KSO_WM_TEMPLATE_CATEGORY" val="custom"/>
  <p:tag name="KSO_WM_TEMPLATE_INDEX" val="20205176"/>
</p:tagLst>
</file>

<file path=ppt/tags/tag120.xml><?xml version="1.0" encoding="utf-8"?>
<p:tagLst xmlns:p="http://schemas.openxmlformats.org/presentationml/2006/main">
  <p:tag name="KSO_WM_BEAUTIFY_FLAG" val="#wm#"/>
  <p:tag name="KSO_WM_TEMPLATE_CATEGORY" val="custom"/>
  <p:tag name="KSO_WM_TEMPLATE_INDEX" val="20205176"/>
</p:tagLst>
</file>

<file path=ppt/tags/tag121.xml><?xml version="1.0" encoding="utf-8"?>
<p:tagLst xmlns:p="http://schemas.openxmlformats.org/presentationml/2006/main">
  <p:tag name="KSO_WM_BEAUTIFY_FLAG" val="#wm#"/>
  <p:tag name="KSO_WM_TEMPLATE_CATEGORY" val="custom"/>
  <p:tag name="KSO_WM_TEMPLATE_INDEX" val="20205176"/>
</p:tagLst>
</file>

<file path=ppt/tags/tag122.xml><?xml version="1.0" encoding="utf-8"?>
<p:tagLst xmlns:p="http://schemas.openxmlformats.org/presentationml/2006/main">
  <p:tag name="KSO_WM_BEAUTIFY_FLAG" val="#wm#"/>
  <p:tag name="KSO_WM_TEMPLATE_CATEGORY" val="custom"/>
  <p:tag name="KSO_WM_TEMPLATE_INDEX" val="20205176"/>
</p:tagLst>
</file>

<file path=ppt/tags/tag123.xml><?xml version="1.0" encoding="utf-8"?>
<p:tagLst xmlns:p="http://schemas.openxmlformats.org/presentationml/2006/main">
  <p:tag name="KSO_WM_BEAUTIFY_FLAG" val="#wm#"/>
  <p:tag name="KSO_WM_TEMPLATE_CATEGORY" val="custom"/>
  <p:tag name="KSO_WM_TEMPLATE_INDEX" val="20205176"/>
</p:tagLst>
</file>

<file path=ppt/tags/tag124.xml><?xml version="1.0" encoding="utf-8"?>
<p:tagLst xmlns:p="http://schemas.openxmlformats.org/presentationml/2006/main">
  <p:tag name="KSO_WM_BEAUTIFY_FLAG" val="#wm#"/>
  <p:tag name="KSO_WM_TEMPLATE_CATEGORY" val="custom"/>
  <p:tag name="KSO_WM_TEMPLATE_INDEX" val="20205176"/>
</p:tagLst>
</file>

<file path=ppt/tags/tag125.xml><?xml version="1.0" encoding="utf-8"?>
<p:tagLst xmlns:p="http://schemas.openxmlformats.org/presentationml/2006/main">
  <p:tag name="KSO_WM_BEAUTIFY_FLAG" val="#wm#"/>
  <p:tag name="KSO_WM_TEMPLATE_CATEGORY" val="custom"/>
  <p:tag name="KSO_WM_TEMPLATE_INDEX" val="20205176"/>
</p:tagLst>
</file>

<file path=ppt/tags/tag126.xml><?xml version="1.0" encoding="utf-8"?>
<p:tagLst xmlns:p="http://schemas.openxmlformats.org/presentationml/2006/main">
  <p:tag name="KSO_WM_BEAUTIFY_FLAG" val="#wm#"/>
  <p:tag name="KSO_WM_TEMPLATE_CATEGORY" val="custom"/>
  <p:tag name="KSO_WM_TEMPLATE_INDEX" val="20205176"/>
</p:tagLst>
</file>

<file path=ppt/tags/tag127.xml><?xml version="1.0" encoding="utf-8"?>
<p:tagLst xmlns:p="http://schemas.openxmlformats.org/presentationml/2006/main">
  <p:tag name="KSO_WM_BEAUTIFY_FLAG" val="#wm#"/>
  <p:tag name="KSO_WM_TEMPLATE_CATEGORY" val="custom"/>
  <p:tag name="KSO_WM_TEMPLATE_INDEX" val="20205176"/>
</p:tagLst>
</file>

<file path=ppt/tags/tag128.xml><?xml version="1.0" encoding="utf-8"?>
<p:tagLst xmlns:p="http://schemas.openxmlformats.org/presentationml/2006/main">
  <p:tag name="KSO_WM_BEAUTIFY_FLAG" val="#wm#"/>
  <p:tag name="KSO_WM_TEMPLATE_CATEGORY" val="custom"/>
  <p:tag name="KSO_WM_TEMPLATE_INDEX" val="20205176"/>
</p:tagLst>
</file>

<file path=ppt/tags/tag129.xml><?xml version="1.0" encoding="utf-8"?>
<p:tagLst xmlns:p="http://schemas.openxmlformats.org/presentationml/2006/main">
  <p:tag name="COMMONDATA" val="eyJoZGlkIjoiYTU3MjAzOGI1ZWM1NjI3YTE0MjIzZDIwNTMwM2NhZjEifQ=="/>
  <p:tag name="commondata" val="eyJoZGlkIjoiYTI1ODE0ODU1YTU1NThjYzg2NDQwMzM1MzA4YzFkNjE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7806</Words>
  <Application>WPS 演示</Application>
  <PresentationFormat>宽屏</PresentationFormat>
  <Paragraphs>737</Paragraphs>
  <Slides>44</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51</vt:i4>
      </vt:variant>
      <vt:variant>
        <vt:lpstr>幻灯片标题</vt:lpstr>
      </vt:variant>
      <vt:variant>
        <vt:i4>44</vt:i4>
      </vt:variant>
    </vt:vector>
  </HeadingPairs>
  <TitlesOfParts>
    <vt:vector size="107" baseType="lpstr">
      <vt:lpstr>Arial</vt:lpstr>
      <vt:lpstr>宋体</vt:lpstr>
      <vt:lpstr>Wingdings</vt:lpstr>
      <vt:lpstr>Wingdings</vt:lpstr>
      <vt:lpstr>Times New Roman</vt:lpstr>
      <vt:lpstr>微软雅黑</vt:lpstr>
      <vt:lpstr>黑体</vt:lpstr>
      <vt:lpstr>楷体</vt:lpstr>
      <vt:lpstr>Arial Unicode MS</vt:lpstr>
      <vt:lpstr>Calibri</vt:lpstr>
      <vt:lpstr>华文行楷</vt:lpstr>
      <vt:lpstr>Office 主题​​</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Equation.KSEE3</vt:lpstr>
      <vt:lpstr>Equation.KSEE3</vt:lpstr>
      <vt:lpstr>Equation.KSEE3</vt:lpstr>
      <vt:lpstr>Equation.KSEE3</vt:lpstr>
      <vt:lpstr>Paint.Picture</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Paint.Picture</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Paint.Picture</vt:lpstr>
      <vt:lpstr>Equation.KSEE3</vt:lpstr>
      <vt:lpstr>Equation.KSEE3</vt:lpstr>
      <vt:lpstr>Paint.Picture</vt:lpstr>
      <vt:lpstr>Paint.Picture</vt:lpstr>
      <vt:lpstr>Paint.Picture</vt:lpstr>
      <vt:lpstr>Paint.Picture</vt:lpstr>
      <vt:lpstr>第一章 信息论与编码理论概述</vt:lpstr>
      <vt:lpstr>本章授课内容</vt:lpstr>
      <vt:lpstr>本章授课内容</vt:lpstr>
      <vt:lpstr>课程背景—通信及相关安全技术的飞速发展</vt:lpstr>
      <vt:lpstr>课程内容—课程QQ群 160126718</vt:lpstr>
      <vt:lpstr>课程目标</vt:lpstr>
      <vt:lpstr>本章授课内容</vt:lpstr>
      <vt:lpstr>把统计学引入物理学领域</vt:lpstr>
      <vt:lpstr>电磁和电子学促进电信系统的发明</vt:lpstr>
      <vt:lpstr>电磁和电子学促进电信系统的发明</vt:lpstr>
      <vt:lpstr>电磁和电子学促进电信系统的发明</vt:lpstr>
      <vt:lpstr>讨论通信的可靠性和有效性</vt:lpstr>
      <vt:lpstr>讨论通信的可靠性和有效性</vt:lpstr>
      <vt:lpstr>维纳的工作有力地推动了信息论的创立</vt:lpstr>
      <vt:lpstr>香农创立了信息论</vt:lpstr>
      <vt:lpstr>汉明码</vt:lpstr>
      <vt:lpstr>汉明的科研事迹(课堂思政)</vt:lpstr>
      <vt:lpstr>编码理论的发展历史</vt:lpstr>
      <vt:lpstr>本章授课内容</vt:lpstr>
      <vt:lpstr>编码机制</vt:lpstr>
      <vt:lpstr>信源编码</vt:lpstr>
      <vt:lpstr>随机错误</vt:lpstr>
      <vt:lpstr>突发错误</vt:lpstr>
      <vt:lpstr>纠错码</vt:lpstr>
      <vt:lpstr>纠错码的分类</vt:lpstr>
      <vt:lpstr>数字通信系统模型</vt:lpstr>
      <vt:lpstr>数字通信系统的简化模型</vt:lpstr>
      <vt:lpstr>信道模型</vt:lpstr>
      <vt:lpstr>无记忆信道和有记忆信道</vt:lpstr>
      <vt:lpstr>离散无记忆(DMC)信道</vt:lpstr>
      <vt:lpstr>二元对称(BSC)信道</vt:lpstr>
      <vt:lpstr>信道矩阵</vt:lpstr>
      <vt:lpstr>加性高斯白噪声(AWGN)信道</vt:lpstr>
      <vt:lpstr>本章授课内容</vt:lpstr>
      <vt:lpstr>信息传输率</vt:lpstr>
      <vt:lpstr>信道带宽</vt:lpstr>
      <vt:lpstr>AWGN信道的分组编码系统</vt:lpstr>
      <vt:lpstr>最佳译码规则和最大后验概率译码</vt:lpstr>
      <vt:lpstr>似然函数</vt:lpstr>
      <vt:lpstr>最大似然译码</vt:lpstr>
      <vt:lpstr>BSC信道的最大似然译码</vt:lpstr>
      <vt:lpstr>教学参考书</vt:lpstr>
      <vt:lpstr>课后自学要求</vt:lpstr>
      <vt:lpstr>答疑时间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无</cp:lastModifiedBy>
  <cp:revision>341</cp:revision>
  <dcterms:created xsi:type="dcterms:W3CDTF">2019-06-19T02:08:00Z</dcterms:created>
  <dcterms:modified xsi:type="dcterms:W3CDTF">2024-09-09T12:46:33Z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F0E9528097B94E2A8262C8BB4CF258A0</vt:lpwstr>
  </property>
</Properties>
</file>