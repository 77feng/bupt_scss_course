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3"/>
    <p:sldId id="351" r:id="rId4"/>
    <p:sldId id="352" r:id="rId5"/>
    <p:sldId id="279" r:id="rId6"/>
    <p:sldId id="292" r:id="rId7"/>
    <p:sldId id="277" r:id="rId8"/>
    <p:sldId id="278" r:id="rId9"/>
    <p:sldId id="280" r:id="rId10"/>
    <p:sldId id="283" r:id="rId11"/>
    <p:sldId id="353" r:id="rId12"/>
    <p:sldId id="282" r:id="rId13"/>
    <p:sldId id="284" r:id="rId14"/>
    <p:sldId id="321" r:id="rId15"/>
    <p:sldId id="285" r:id="rId16"/>
    <p:sldId id="354" r:id="rId17"/>
    <p:sldId id="286" r:id="rId18"/>
    <p:sldId id="287" r:id="rId19"/>
    <p:sldId id="288" r:id="rId20"/>
    <p:sldId id="355" r:id="rId21"/>
    <p:sldId id="308" r:id="rId22"/>
    <p:sldId id="349" r:id="rId23"/>
    <p:sldId id="350" r:id="rId24"/>
    <p:sldId id="314" r:id="rId25"/>
    <p:sldId id="257" r:id="rId26"/>
    <p:sldId id="374" r:id="rId27"/>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37"/>
        <p:guide pos="384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gs" Target="tags/tag9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notesMaster" Target="notesMasters/notesMaster1.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smtClean="0"/>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5.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tags" Target="../tags/tag69.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tags" Target="../tags/tag70.xml"/><Relationship Id="rId2" Type="http://schemas.openxmlformats.org/officeDocument/2006/relationships/image" Target="../media/image2.wmf"/><Relationship Id="rId1"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image" Target="../media/image3.wmf"/><Relationship Id="rId1"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tags" Target="../tags/tag72.xml"/><Relationship Id="rId2" Type="http://schemas.openxmlformats.org/officeDocument/2006/relationships/image" Target="../media/image4.wmf"/><Relationship Id="rId1"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tags" Target="../tags/tag73.xml"/><Relationship Id="rId2" Type="http://schemas.openxmlformats.org/officeDocument/2006/relationships/image" Target="../media/image5.wmf"/><Relationship Id="rId1"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1.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tags" Target="../tags/tag75.xml"/><Relationship Id="rId2" Type="http://schemas.openxmlformats.org/officeDocument/2006/relationships/image" Target="../media/image6.wmf"/><Relationship Id="rId1"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7.xml"/><Relationship Id="rId1" Type="http://schemas.openxmlformats.org/officeDocument/2006/relationships/tags" Target="../tags/tag76.xml"/></Relationships>
</file>

<file path=ppt/slides/_rels/slide13.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tags" Target="../tags/tag78.xml"/><Relationship Id="rId2" Type="http://schemas.openxmlformats.org/officeDocument/2006/relationships/image" Target="../media/image7.wmf"/><Relationship Id="rId1" Type="http://schemas.openxmlformats.org/officeDocument/2006/relationships/oleObject" Target="../embeddings/oleObject7.bin"/></Relationships>
</file>

<file path=ppt/slides/_rels/slide14.xml.rels><?xml version="1.0" encoding="UTF-8" standalone="yes"?>
<Relationships xmlns="http://schemas.openxmlformats.org/package/2006/relationships"><Relationship Id="rId9" Type="http://schemas.openxmlformats.org/officeDocument/2006/relationships/vmlDrawing" Target="../drawings/vmlDrawing8.vml"/><Relationship Id="rId8" Type="http://schemas.openxmlformats.org/officeDocument/2006/relationships/slideLayout" Target="../slideLayouts/slideLayout2.xml"/><Relationship Id="rId7" Type="http://schemas.openxmlformats.org/officeDocument/2006/relationships/tags" Target="../tags/tag79.xml"/><Relationship Id="rId6" Type="http://schemas.openxmlformats.org/officeDocument/2006/relationships/image" Target="../media/image10.wmf"/><Relationship Id="rId5" Type="http://schemas.openxmlformats.org/officeDocument/2006/relationships/oleObject" Target="../embeddings/oleObject10.bin"/><Relationship Id="rId4" Type="http://schemas.openxmlformats.org/officeDocument/2006/relationships/image" Target="../media/image9.wmf"/><Relationship Id="rId3" Type="http://schemas.openxmlformats.org/officeDocument/2006/relationships/oleObject" Target="../embeddings/oleObject9.bin"/><Relationship Id="rId2" Type="http://schemas.openxmlformats.org/officeDocument/2006/relationships/image" Target="../media/image8.wmf"/><Relationship Id="rId1" Type="http://schemas.openxmlformats.org/officeDocument/2006/relationships/oleObject" Target="../embeddings/oleObject8.bin"/></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2.xml"/><Relationship Id="rId2" Type="http://schemas.openxmlformats.org/officeDocument/2006/relationships/image" Target="../media/image11.png"/><Relationship Id="rId1" Type="http://schemas.openxmlformats.org/officeDocument/2006/relationships/tags" Target="../tags/tag8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20.xml.rels><?xml version="1.0" encoding="UTF-8" standalone="yes"?>
<Relationships xmlns="http://schemas.openxmlformats.org/package/2006/relationships"><Relationship Id="rId7" Type="http://schemas.openxmlformats.org/officeDocument/2006/relationships/vmlDrawing" Target="../drawings/vmlDrawing9.vml"/><Relationship Id="rId6" Type="http://schemas.openxmlformats.org/officeDocument/2006/relationships/slideLayout" Target="../slideLayouts/slideLayout2.xml"/><Relationship Id="rId5" Type="http://schemas.openxmlformats.org/officeDocument/2006/relationships/tags" Target="../tags/tag86.xml"/><Relationship Id="rId4" Type="http://schemas.openxmlformats.org/officeDocument/2006/relationships/image" Target="../media/image13.wmf"/><Relationship Id="rId3" Type="http://schemas.openxmlformats.org/officeDocument/2006/relationships/oleObject" Target="../embeddings/oleObject12.bin"/><Relationship Id="rId2" Type="http://schemas.openxmlformats.org/officeDocument/2006/relationships/image" Target="../media/image12.wmf"/><Relationship Id="rId1" Type="http://schemas.openxmlformats.org/officeDocument/2006/relationships/oleObject" Target="../embeddings/oleObject11.bin"/></Relationships>
</file>

<file path=ppt/slides/_rels/slide21.xml.rels><?xml version="1.0" encoding="UTF-8" standalone="yes"?>
<Relationships xmlns="http://schemas.openxmlformats.org/package/2006/relationships"><Relationship Id="rId7" Type="http://schemas.openxmlformats.org/officeDocument/2006/relationships/vmlDrawing" Target="../drawings/vmlDrawing10.vml"/><Relationship Id="rId6" Type="http://schemas.openxmlformats.org/officeDocument/2006/relationships/slideLayout" Target="../slideLayouts/slideLayout2.xml"/><Relationship Id="rId5" Type="http://schemas.openxmlformats.org/officeDocument/2006/relationships/tags" Target="../tags/tag87.xml"/><Relationship Id="rId4" Type="http://schemas.openxmlformats.org/officeDocument/2006/relationships/image" Target="../media/image15.wmf"/><Relationship Id="rId3" Type="http://schemas.openxmlformats.org/officeDocument/2006/relationships/oleObject" Target="../embeddings/oleObject14.bin"/><Relationship Id="rId2" Type="http://schemas.openxmlformats.org/officeDocument/2006/relationships/image" Target="../media/image14.wmf"/><Relationship Id="rId1" Type="http://schemas.openxmlformats.org/officeDocument/2006/relationships/oleObject" Target="../embeddings/oleObject13.bin"/></Relationships>
</file>

<file path=ppt/slides/_rels/slide22.xml.rels><?xml version="1.0" encoding="UTF-8" standalone="yes"?>
<Relationships xmlns="http://schemas.openxmlformats.org/package/2006/relationships"><Relationship Id="rId7" Type="http://schemas.openxmlformats.org/officeDocument/2006/relationships/vmlDrawing" Target="../drawings/vmlDrawing11.vml"/><Relationship Id="rId6" Type="http://schemas.openxmlformats.org/officeDocument/2006/relationships/slideLayout" Target="../slideLayouts/slideLayout2.xml"/><Relationship Id="rId5" Type="http://schemas.openxmlformats.org/officeDocument/2006/relationships/tags" Target="../tags/tag88.xml"/><Relationship Id="rId4" Type="http://schemas.openxmlformats.org/officeDocument/2006/relationships/image" Target="../media/image17.wmf"/><Relationship Id="rId3" Type="http://schemas.openxmlformats.org/officeDocument/2006/relationships/oleObject" Target="../embeddings/oleObject16.bin"/><Relationship Id="rId2" Type="http://schemas.openxmlformats.org/officeDocument/2006/relationships/image" Target="../media/image16.wmf"/><Relationship Id="rId1" Type="http://schemas.openxmlformats.org/officeDocument/2006/relationships/oleObject" Target="../embeddings/oleObject15.bin"/></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80" y="1131570"/>
            <a:ext cx="9799320" cy="1594485"/>
          </a:xfrm>
        </p:spPr>
        <p:txBody>
          <a:bodyPr>
            <a:normAutofit fontScale="90000"/>
          </a:bodyPr>
          <a:p>
            <a:r>
              <a:rPr lang="zh-CN" altLang="zh-CN" sz="4800"/>
              <a:t>第</a:t>
            </a:r>
            <a:r>
              <a:rPr lang="zh-CN" altLang="zh-CN" sz="4800"/>
              <a:t>二章 信息论基础与信源编码理论</a:t>
            </a:r>
            <a:endParaRPr lang="zh-CN" altLang="zh-CN" sz="4800"/>
          </a:p>
        </p:txBody>
      </p:sp>
      <p:sp>
        <p:nvSpPr>
          <p:cNvPr id="3" name="副标题 2"/>
          <p:cNvSpPr>
            <a:spLocks noGrp="1"/>
          </p:cNvSpPr>
          <p:nvPr>
            <p:ph type="subTitle" idx="1"/>
            <p:custDataLst>
              <p:tags r:id="rId2"/>
            </p:custDataLst>
          </p:nvPr>
        </p:nvSpPr>
        <p:spPr/>
        <p:txBody>
          <a:bodyPr/>
          <a:p>
            <a:r>
              <a:rPr lang="zh-CN" altLang="en-US"/>
              <a:t>李丽香</a:t>
            </a:r>
            <a:endParaRPr lang="zh-CN" altLang="en-US"/>
          </a:p>
          <a:p>
            <a:r>
              <a:rPr lang="zh-CN" altLang="en-US"/>
              <a:t>北京邮电大学网络空间安全学院</a:t>
            </a:r>
            <a:endParaRPr lang="zh-CN" altLang="en-US"/>
          </a:p>
        </p:txBody>
      </p:sp>
      <p:sp>
        <p:nvSpPr>
          <p:cNvPr id="5" name="文本框 4"/>
          <p:cNvSpPr txBox="1"/>
          <p:nvPr/>
        </p:nvSpPr>
        <p:spPr>
          <a:xfrm>
            <a:off x="680720" y="268605"/>
            <a:ext cx="3891915" cy="460375"/>
          </a:xfrm>
          <a:prstGeom prst="rect">
            <a:avLst/>
          </a:prstGeom>
          <a:noFill/>
        </p:spPr>
        <p:txBody>
          <a:bodyPr wrap="square" rtlCol="0">
            <a:spAutoFit/>
          </a:bodyPr>
          <a:p>
            <a:r>
              <a:rPr lang="zh-CN" altLang="en-US" sz="2400"/>
              <a:t>《编码</a:t>
            </a:r>
            <a:r>
              <a:rPr lang="zh-CN" altLang="en-US" sz="2400"/>
              <a:t>理论》课程</a:t>
            </a:r>
            <a:endParaRPr lang="zh-CN" altLang="en-US" sz="24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dirty="0"/>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本章授课</a:t>
            </a:r>
            <a:r>
              <a:rPr lang="zh-CN" altLang="en-US"/>
              <a:t>内容</a:t>
            </a:r>
            <a:endParaRPr lang="zh-CN" altLang="en-US"/>
          </a:p>
        </p:txBody>
      </p:sp>
      <p:sp>
        <p:nvSpPr>
          <p:cNvPr id="3" name="内容占位符 2"/>
          <p:cNvSpPr>
            <a:spLocks noGrp="1"/>
          </p:cNvSpPr>
          <p:nvPr>
            <p:ph idx="1"/>
          </p:nvPr>
        </p:nvSpPr>
        <p:spPr>
          <a:xfrm>
            <a:off x="608330" y="1550035"/>
            <a:ext cx="10749915" cy="3526790"/>
          </a:xfrm>
        </p:spPr>
        <p:txBody>
          <a:bodyPr>
            <a:noAutofit/>
          </a:bodyPr>
          <a:p>
            <a:pPr>
              <a:lnSpc>
                <a:spcPct val="200000"/>
              </a:lnSpc>
            </a:pPr>
            <a:r>
              <a:rPr lang="zh-CN" sz="2400">
                <a:solidFill>
                  <a:schemeClr val="accent1"/>
                </a:solidFill>
              </a:rPr>
              <a:t>信息论涉及的一些基础概念及其数学定义</a:t>
            </a:r>
            <a:endParaRPr sz="2400">
              <a:solidFill>
                <a:schemeClr val="accent1"/>
              </a:solidFill>
            </a:endParaRPr>
          </a:p>
          <a:p>
            <a:pPr>
              <a:lnSpc>
                <a:spcPct val="200000"/>
              </a:lnSpc>
            </a:pPr>
            <a:r>
              <a:rPr sz="2400">
                <a:solidFill>
                  <a:schemeClr val="accent1"/>
                </a:solidFill>
              </a:rPr>
              <a:t>无失真信源编码</a:t>
            </a:r>
            <a:endParaRPr sz="2400">
              <a:solidFill>
                <a:schemeClr val="accent1"/>
              </a:solidFill>
            </a:endParaRPr>
          </a:p>
          <a:p>
            <a:pPr>
              <a:lnSpc>
                <a:spcPct val="200000"/>
              </a:lnSpc>
            </a:pPr>
            <a:r>
              <a:rPr sz="2400">
                <a:solidFill>
                  <a:schemeClr val="accent1"/>
                </a:solidFill>
              </a:rPr>
              <a:t>经典的信源编码方法</a:t>
            </a:r>
            <a:endParaRPr sz="2400">
              <a:solidFill>
                <a:schemeClr val="accent1"/>
              </a:solidFill>
            </a:endParaRPr>
          </a:p>
          <a:p>
            <a:pPr>
              <a:lnSpc>
                <a:spcPct val="200000"/>
              </a:lnSpc>
            </a:pPr>
            <a:r>
              <a:rPr lang="zh-CN" sz="2400">
                <a:solidFill>
                  <a:schemeClr val="accent1"/>
                </a:solidFill>
              </a:rPr>
              <a:t>纠错码的理论基础</a:t>
            </a:r>
            <a:endParaRPr lang="zh-CN" sz="2400">
              <a:solidFill>
                <a:schemeClr val="accent1"/>
              </a:solidFill>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本章授课</a:t>
            </a:r>
            <a:r>
              <a:rPr lang="zh-CN" altLang="en-US"/>
              <a:t>内容</a:t>
            </a:r>
            <a:endParaRPr lang="zh-CN" altLang="en-US"/>
          </a:p>
        </p:txBody>
      </p:sp>
      <p:sp>
        <p:nvSpPr>
          <p:cNvPr id="3" name="内容占位符 2"/>
          <p:cNvSpPr>
            <a:spLocks noGrp="1"/>
          </p:cNvSpPr>
          <p:nvPr>
            <p:ph idx="1"/>
          </p:nvPr>
        </p:nvSpPr>
        <p:spPr>
          <a:xfrm>
            <a:off x="608330" y="1550035"/>
            <a:ext cx="10749915" cy="3526790"/>
          </a:xfrm>
        </p:spPr>
        <p:txBody>
          <a:bodyPr>
            <a:noAutofit/>
          </a:bodyPr>
          <a:p>
            <a:pPr>
              <a:lnSpc>
                <a:spcPct val="200000"/>
              </a:lnSpc>
            </a:pPr>
            <a:r>
              <a:rPr lang="zh-CN" sz="2400">
                <a:solidFill>
                  <a:schemeClr val="accent1"/>
                </a:solidFill>
              </a:rPr>
              <a:t>信息论涉及的一些基础概念及其数学定义</a:t>
            </a:r>
            <a:endParaRPr sz="2400">
              <a:solidFill>
                <a:schemeClr val="accent1"/>
              </a:solidFill>
            </a:endParaRPr>
          </a:p>
          <a:p>
            <a:pPr algn="l">
              <a:lnSpc>
                <a:spcPct val="200000"/>
              </a:lnSpc>
              <a:buClrTx/>
              <a:buSzTx/>
            </a:pPr>
            <a:r>
              <a:rPr sz="2400">
                <a:solidFill>
                  <a:schemeClr val="bg1">
                    <a:lumMod val="75000"/>
                  </a:schemeClr>
                </a:solidFill>
              </a:rPr>
              <a:t>无失真信源编码</a:t>
            </a:r>
            <a:endParaRPr sz="2400">
              <a:solidFill>
                <a:schemeClr val="bg1">
                  <a:lumMod val="75000"/>
                </a:schemeClr>
              </a:solidFill>
            </a:endParaRPr>
          </a:p>
          <a:p>
            <a:pPr>
              <a:lnSpc>
                <a:spcPct val="200000"/>
              </a:lnSpc>
            </a:pPr>
            <a:r>
              <a:rPr sz="2400">
                <a:solidFill>
                  <a:schemeClr val="bg1">
                    <a:lumMod val="75000"/>
                  </a:schemeClr>
                </a:solidFill>
              </a:rPr>
              <a:t>经典的信源编码方法</a:t>
            </a:r>
            <a:endParaRPr sz="2400">
              <a:solidFill>
                <a:schemeClr val="accent1"/>
              </a:solidFill>
            </a:endParaRPr>
          </a:p>
          <a:p>
            <a:pPr>
              <a:lnSpc>
                <a:spcPct val="200000"/>
              </a:lnSpc>
            </a:pPr>
            <a:r>
              <a:rPr sz="2400">
                <a:solidFill>
                  <a:schemeClr val="bg1">
                    <a:lumMod val="75000"/>
                  </a:schemeClr>
                </a:solidFill>
              </a:rPr>
              <a:t>纠错码的理论基础</a:t>
            </a:r>
            <a:endParaRPr lang="zh-CN" sz="2400">
              <a:solidFill>
                <a:schemeClr val="accent1"/>
              </a:solidFill>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信息的概念</a:t>
            </a:r>
            <a:endParaRPr lang="zh-CN" altLang="en-US"/>
          </a:p>
        </p:txBody>
      </p:sp>
      <p:sp>
        <p:nvSpPr>
          <p:cNvPr id="3" name="内容占位符 2"/>
          <p:cNvSpPr>
            <a:spLocks noGrp="1"/>
          </p:cNvSpPr>
          <p:nvPr>
            <p:ph idx="1"/>
          </p:nvPr>
        </p:nvSpPr>
        <p:spPr>
          <a:xfrm>
            <a:off x="608330" y="1490345"/>
            <a:ext cx="10831830" cy="4839335"/>
          </a:xfrm>
        </p:spPr>
        <p:txBody>
          <a:bodyPr>
            <a:noAutofit/>
          </a:bodyPr>
          <a:p>
            <a:r>
              <a:rPr sz="2400"/>
              <a:t>1948年，仙农发表了一篇重要的论文《通信的数学理论》，对信息作了科学的定义</a:t>
            </a:r>
            <a:r>
              <a:rPr lang="zh-CN" sz="2400"/>
              <a:t>。</a:t>
            </a:r>
            <a:endParaRPr sz="2400"/>
          </a:p>
          <a:p>
            <a:r>
              <a:rPr sz="2400"/>
              <a:t>先请读几个句子：</a:t>
            </a:r>
            <a:endParaRPr sz="2400"/>
          </a:p>
          <a:p>
            <a:pPr lvl="1">
              <a:buFont typeface="Wingdings" panose="05000000000000000000" charset="0"/>
              <a:buChar char="p"/>
            </a:pPr>
            <a:r>
              <a:rPr sz="2130"/>
              <a:t>明天，太阳从东方升起</a:t>
            </a:r>
            <a:r>
              <a:rPr lang="zh-CN" sz="2130"/>
              <a:t>。</a:t>
            </a:r>
            <a:endParaRPr sz="2130"/>
          </a:p>
          <a:p>
            <a:pPr lvl="1">
              <a:buFont typeface="Wingdings" panose="05000000000000000000" charset="0"/>
              <a:buChar char="p"/>
            </a:pPr>
            <a:r>
              <a:rPr sz="2130"/>
              <a:t>电话铃声将会在一个小时之内响</a:t>
            </a:r>
            <a:r>
              <a:rPr lang="zh-CN" sz="2130"/>
              <a:t>。</a:t>
            </a:r>
            <a:endParaRPr sz="2130"/>
          </a:p>
          <a:p>
            <a:pPr lvl="1">
              <a:buFont typeface="Wingdings" panose="05000000000000000000" charset="0"/>
              <a:buChar char="p"/>
            </a:pPr>
            <a:r>
              <a:rPr sz="2130"/>
              <a:t>这个冬天，哈尔滨将下雨</a:t>
            </a:r>
            <a:r>
              <a:rPr lang="zh-CN" sz="2130"/>
              <a:t>。</a:t>
            </a:r>
            <a:endParaRPr sz="2130"/>
          </a:p>
          <a:p>
            <a:r>
              <a:rPr sz="2400"/>
              <a:t>一个句子中所含信息的多少，同句子中所表达的事件出现的概率有关</a:t>
            </a:r>
            <a:r>
              <a:rPr lang="zh-CN" sz="2400"/>
              <a:t>，</a:t>
            </a:r>
            <a:r>
              <a:rPr sz="2400"/>
              <a:t>呈现相反的关系</a:t>
            </a:r>
            <a:r>
              <a:rPr lang="zh-CN" sz="2400"/>
              <a:t>。</a:t>
            </a:r>
            <a:endParaRPr sz="2400"/>
          </a:p>
          <a:p>
            <a:r>
              <a:rPr sz="2400"/>
              <a:t>仙农对于</a:t>
            </a:r>
            <a:r>
              <a:rPr lang="zh-CN" sz="2400" b="1">
                <a:solidFill>
                  <a:schemeClr val="accent6">
                    <a:lumMod val="75000"/>
                  </a:schemeClr>
                </a:solidFill>
              </a:rPr>
              <a:t>信息的定义</a:t>
            </a:r>
            <a:r>
              <a:rPr sz="2400"/>
              <a:t>：</a:t>
            </a:r>
            <a:r>
              <a:rPr sz="2400">
                <a:highlight>
                  <a:srgbClr val="FFFF00"/>
                </a:highlight>
              </a:rPr>
              <a:t>信息是事物运动状态或存在方式不确定性的描述</a:t>
            </a:r>
            <a:r>
              <a:rPr lang="zh-CN" sz="2400"/>
              <a:t>。</a:t>
            </a:r>
            <a:endParaRPr lang="zh-CN" sz="24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自信息</a:t>
            </a:r>
            <a:endParaRPr lang="zh-CN" altLang="en-US"/>
          </a:p>
        </p:txBody>
      </p:sp>
      <p:sp>
        <p:nvSpPr>
          <p:cNvPr id="3" name="内容占位符 2"/>
          <p:cNvSpPr>
            <a:spLocks noGrp="1"/>
          </p:cNvSpPr>
          <p:nvPr>
            <p:ph idx="1"/>
          </p:nvPr>
        </p:nvSpPr>
        <p:spPr>
          <a:xfrm>
            <a:off x="608330" y="1490345"/>
            <a:ext cx="10831830" cy="2937510"/>
          </a:xfrm>
        </p:spPr>
        <p:txBody>
          <a:bodyPr>
            <a:noAutofit/>
          </a:bodyPr>
          <a:p>
            <a:r>
              <a:rPr lang="zh-CN" sz="2400" b="1">
                <a:solidFill>
                  <a:schemeClr val="accent6">
                    <a:lumMod val="75000"/>
                  </a:schemeClr>
                </a:solidFill>
              </a:rPr>
              <a:t>定义</a:t>
            </a:r>
            <a:r>
              <a:rPr sz="2400"/>
              <a:t>：考虑离散随机变量</a:t>
            </a:r>
            <a:r>
              <a:rPr sz="2400" i="1">
                <a:latin typeface="Times New Roman" panose="02020603050405020304" pitchFamily="18" charset="0"/>
                <a:cs typeface="Times New Roman" panose="02020603050405020304" pitchFamily="18" charset="0"/>
              </a:rPr>
              <a:t>X</a:t>
            </a:r>
            <a:r>
              <a:rPr sz="2400"/>
              <a:t>，其样本空间为{</a:t>
            </a:r>
            <a:r>
              <a:rPr sz="2400" i="1">
                <a:latin typeface="Times New Roman" panose="02020603050405020304" pitchFamily="18" charset="0"/>
                <a:cs typeface="Times New Roman" panose="02020603050405020304" pitchFamily="18" charset="0"/>
              </a:rPr>
              <a:t>x</a:t>
            </a:r>
            <a:r>
              <a:rPr sz="2400" i="1" baseline="-25000">
                <a:latin typeface="Times New Roman" panose="02020603050405020304" pitchFamily="18" charset="0"/>
                <a:cs typeface="Times New Roman" panose="02020603050405020304" pitchFamily="18" charset="0"/>
              </a:rPr>
              <a:t>i</a:t>
            </a:r>
            <a:r>
              <a:rPr sz="2400"/>
              <a:t>, </a:t>
            </a:r>
            <a:r>
              <a:rPr sz="2400" i="1">
                <a:latin typeface="Times New Roman" panose="02020603050405020304" pitchFamily="18" charset="0"/>
                <a:cs typeface="Times New Roman" panose="02020603050405020304" pitchFamily="18" charset="0"/>
              </a:rPr>
              <a:t>i</a:t>
            </a:r>
            <a:r>
              <a:rPr sz="2400"/>
              <a:t>=</a:t>
            </a:r>
            <a:r>
              <a:rPr sz="2400">
                <a:latin typeface="Times New Roman" panose="02020603050405020304" pitchFamily="18" charset="0"/>
                <a:cs typeface="Times New Roman" panose="02020603050405020304" pitchFamily="18" charset="0"/>
              </a:rPr>
              <a:t>1, 2,…,</a:t>
            </a:r>
            <a:r>
              <a:rPr sz="2400" i="1">
                <a:latin typeface="Times New Roman" panose="02020603050405020304" pitchFamily="18" charset="0"/>
                <a:cs typeface="Times New Roman" panose="02020603050405020304" pitchFamily="18" charset="0"/>
              </a:rPr>
              <a:t>n</a:t>
            </a:r>
            <a:r>
              <a:rPr sz="2400"/>
              <a:t>}，则事件</a:t>
            </a:r>
            <a:r>
              <a:rPr sz="2400" i="1">
                <a:latin typeface="Times New Roman" panose="02020603050405020304" pitchFamily="18" charset="0"/>
                <a:cs typeface="Times New Roman" panose="02020603050405020304" pitchFamily="18" charset="0"/>
              </a:rPr>
              <a:t>X</a:t>
            </a:r>
            <a:r>
              <a:rPr sz="2400"/>
              <a:t>=</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t>的自信息的定义为</a:t>
            </a:r>
            <a:endParaRPr sz="2400"/>
          </a:p>
          <a:p>
            <a:pPr marL="0" indent="0">
              <a:buNone/>
            </a:pPr>
            <a:endParaRPr sz="2400"/>
          </a:p>
          <a:p>
            <a:r>
              <a:rPr sz="2400"/>
              <a:t>自信息的单位由对数的底来决定，以</a:t>
            </a:r>
            <a:r>
              <a:rPr sz="2400">
                <a:latin typeface="Times New Roman" panose="02020603050405020304" pitchFamily="18" charset="0"/>
                <a:cs typeface="Times New Roman" panose="02020603050405020304" pitchFamily="18" charset="0"/>
              </a:rPr>
              <a:t>2</a:t>
            </a:r>
            <a:r>
              <a:rPr sz="2400"/>
              <a:t>为底，单位就是比特(bits)，以</a:t>
            </a:r>
            <a:r>
              <a:rPr sz="2400" i="1">
                <a:latin typeface="Times New Roman" panose="02020603050405020304" pitchFamily="18" charset="0"/>
                <a:cs typeface="Times New Roman" panose="02020603050405020304" pitchFamily="18" charset="0"/>
              </a:rPr>
              <a:t>e</a:t>
            </a:r>
            <a:r>
              <a:rPr sz="2400"/>
              <a:t>为底就是奈特(nats)</a:t>
            </a:r>
            <a:r>
              <a:rPr lang="zh-CN" sz="2400"/>
              <a:t>。</a:t>
            </a:r>
            <a:r>
              <a:rPr sz="2400"/>
              <a:t>自信息非负</a:t>
            </a:r>
            <a:r>
              <a:rPr lang="zh-CN" sz="2400"/>
              <a:t>。</a:t>
            </a:r>
            <a:endParaRPr lang="zh-CN" sz="2400"/>
          </a:p>
        </p:txBody>
      </p:sp>
      <p:graphicFrame>
        <p:nvGraphicFramePr>
          <p:cNvPr id="7" name="对象 6">
            <a:hlinkClick r:id="" action="ppaction://ole?verb="/>
          </p:cNvPr>
          <p:cNvGraphicFramePr>
            <a:graphicFrameLocks noChangeAspect="1"/>
          </p:cNvGraphicFramePr>
          <p:nvPr/>
        </p:nvGraphicFramePr>
        <p:xfrm>
          <a:off x="3754756" y="2131695"/>
          <a:ext cx="3772535" cy="951865"/>
        </p:xfrm>
        <a:graphic>
          <a:graphicData uri="http://schemas.openxmlformats.org/presentationml/2006/ole">
            <mc:AlternateContent xmlns:mc="http://schemas.openxmlformats.org/markup-compatibility/2006">
              <mc:Choice xmlns:v="urn:schemas-microsoft-com:vml" Requires="v">
                <p:oleObj spid="_x0000_s8" name="" r:id="rId1" imgW="1943100" imgH="482600" progId="Equation.KSEE3">
                  <p:embed/>
                </p:oleObj>
              </mc:Choice>
              <mc:Fallback>
                <p:oleObj name="" r:id="rId1" imgW="1943100" imgH="482600" progId="Equation.KSEE3">
                  <p:embed/>
                  <p:pic>
                    <p:nvPicPr>
                      <p:cNvPr id="0" name="图片 2048"/>
                      <p:cNvPicPr/>
                      <p:nvPr/>
                    </p:nvPicPr>
                    <p:blipFill>
                      <a:blip r:embed="rId2"/>
                      <a:stretch>
                        <a:fillRect/>
                      </a:stretch>
                    </p:blipFill>
                    <p:spPr>
                      <a:xfrm>
                        <a:off x="3754756" y="2131695"/>
                        <a:ext cx="3772535" cy="951865"/>
                      </a:xfrm>
                      <a:prstGeom prst="rect">
                        <a:avLst/>
                      </a:prstGeom>
                    </p:spPr>
                  </p:pic>
                </p:oleObj>
              </mc:Fallback>
            </mc:AlternateContent>
          </a:graphicData>
        </a:graphic>
      </p:graphicFrame>
      <p:sp>
        <p:nvSpPr>
          <p:cNvPr id="9" name="矩形 8"/>
          <p:cNvSpPr/>
          <p:nvPr/>
        </p:nvSpPr>
        <p:spPr>
          <a:xfrm>
            <a:off x="1050925" y="4535805"/>
            <a:ext cx="10006965" cy="1715135"/>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4" name="文本框 3"/>
          <p:cNvSpPr txBox="1"/>
          <p:nvPr/>
        </p:nvSpPr>
        <p:spPr>
          <a:xfrm>
            <a:off x="1198245" y="4595495"/>
            <a:ext cx="9703435" cy="1568450"/>
          </a:xfrm>
          <a:prstGeom prst="rect">
            <a:avLst/>
          </a:prstGeom>
          <a:noFill/>
        </p:spPr>
        <p:txBody>
          <a:bodyPr wrap="square" rtlCol="0" anchor="t">
            <a:spAutoFit/>
          </a:bodyPr>
          <a:p>
            <a:pPr algn="just">
              <a:lnSpc>
                <a:spcPct val="120000"/>
              </a:lnSpc>
              <a:spcBef>
                <a:spcPts val="0"/>
              </a:spcBef>
              <a:buClr>
                <a:schemeClr val="hlink"/>
              </a:buClr>
              <a:buSzPct val="65000"/>
            </a:pPr>
            <a:r>
              <a:rPr lang="zh-CN" altLang="en-US" sz="2000" b="1" dirty="0">
                <a:solidFill>
                  <a:srgbClr val="FF0000"/>
                </a:solidFill>
                <a:latin typeface="楷体" panose="02010609060101010101" charset="-122"/>
                <a:ea typeface="楷体" panose="02010609060101010101" charset="-122"/>
                <a:cs typeface="楷体" panose="02010609060101010101" charset="-122"/>
                <a:sym typeface="+mn-ea"/>
              </a:rPr>
              <a:t>例子：</a:t>
            </a:r>
            <a:r>
              <a:rPr lang="zh-CN" altLang="en-US" sz="2000" b="1" dirty="0">
                <a:solidFill>
                  <a:srgbClr val="0070C0"/>
                </a:solidFill>
                <a:latin typeface="Times New Roman" panose="02020603050405020304" pitchFamily="18" charset="0"/>
                <a:ea typeface="黑体" panose="02010609060101010101" pitchFamily="49" charset="-122"/>
                <a:sym typeface="+mn-ea"/>
              </a:rPr>
              <a:t>考虑一个可以同时输出</a:t>
            </a:r>
            <a:r>
              <a:rPr lang="en-US" altLang="zh-CN" sz="2000" b="1">
                <a:solidFill>
                  <a:srgbClr val="0070C0"/>
                </a:solidFill>
                <a:latin typeface="Times New Roman" panose="02020603050405020304" pitchFamily="18" charset="0"/>
                <a:ea typeface="黑体" panose="02010609060101010101" pitchFamily="49" charset="-122"/>
                <a:sym typeface="+mn-ea"/>
              </a:rPr>
              <a:t>2</a:t>
            </a:r>
            <a:r>
              <a:rPr lang="zh-CN" altLang="en-US" sz="2000" b="1" dirty="0">
                <a:solidFill>
                  <a:srgbClr val="0070C0"/>
                </a:solidFill>
                <a:latin typeface="Times New Roman" panose="02020603050405020304" pitchFamily="18" charset="0"/>
                <a:ea typeface="黑体" panose="02010609060101010101" pitchFamily="49" charset="-122"/>
                <a:sym typeface="+mn-ea"/>
              </a:rPr>
              <a:t>个比特的离散无记忆的信源</a:t>
            </a:r>
            <a:r>
              <a:rPr lang="en-US" altLang="zh-CN" sz="2000" b="1">
                <a:solidFill>
                  <a:srgbClr val="0070C0"/>
                </a:solidFill>
                <a:latin typeface="Times New Roman" panose="02020603050405020304" pitchFamily="18" charset="0"/>
                <a:ea typeface="黑体" panose="02010609060101010101" pitchFamily="49" charset="-122"/>
                <a:sym typeface="+mn-ea"/>
              </a:rPr>
              <a:t>C</a:t>
            </a:r>
            <a:r>
              <a:rPr lang="zh-CN" altLang="en-US" sz="2000" b="1" dirty="0">
                <a:solidFill>
                  <a:srgbClr val="0070C0"/>
                </a:solidFill>
                <a:latin typeface="Times New Roman" panose="02020603050405020304" pitchFamily="18" charset="0"/>
                <a:ea typeface="黑体" panose="02010609060101010101" pitchFamily="49" charset="-122"/>
                <a:sym typeface="+mn-ea"/>
              </a:rPr>
              <a:t>。该信源有</a:t>
            </a:r>
            <a:r>
              <a:rPr lang="en-US" altLang="zh-CN" sz="2000" b="1">
                <a:solidFill>
                  <a:srgbClr val="0070C0"/>
                </a:solidFill>
                <a:latin typeface="Times New Roman" panose="02020603050405020304" pitchFamily="18" charset="0"/>
                <a:ea typeface="黑体" panose="02010609060101010101" pitchFamily="49" charset="-122"/>
                <a:sym typeface="+mn-ea"/>
              </a:rPr>
              <a:t>4</a:t>
            </a:r>
            <a:r>
              <a:rPr lang="zh-CN" altLang="en-US" sz="2000" b="1" dirty="0">
                <a:solidFill>
                  <a:srgbClr val="0070C0"/>
                </a:solidFill>
                <a:latin typeface="Times New Roman" panose="02020603050405020304" pitchFamily="18" charset="0"/>
                <a:ea typeface="黑体" panose="02010609060101010101" pitchFamily="49" charset="-122"/>
                <a:sym typeface="+mn-ea"/>
              </a:rPr>
              <a:t>种可能的输出</a:t>
            </a:r>
            <a:r>
              <a:rPr lang="en-US" altLang="zh-CN" sz="2000" b="1">
                <a:solidFill>
                  <a:srgbClr val="0070C0"/>
                </a:solidFill>
                <a:latin typeface="Times New Roman" panose="02020603050405020304" pitchFamily="18" charset="0"/>
                <a:ea typeface="黑体" panose="02010609060101010101" pitchFamily="49" charset="-122"/>
                <a:sym typeface="+mn-ea"/>
              </a:rPr>
              <a:t>{00, 01, 10, 11}</a:t>
            </a:r>
            <a:r>
              <a:rPr lang="zh-CN" altLang="en-US" sz="2000" b="1" dirty="0">
                <a:solidFill>
                  <a:srgbClr val="0070C0"/>
                </a:solidFill>
                <a:latin typeface="Times New Roman" panose="02020603050405020304" pitchFamily="18" charset="0"/>
                <a:ea typeface="黑体" panose="02010609060101010101" pitchFamily="49" charset="-122"/>
                <a:sym typeface="+mn-ea"/>
              </a:rPr>
              <a:t>，其中每一种可能的输出</a:t>
            </a:r>
            <a:r>
              <a:rPr lang="zh-CN" altLang="en-US" sz="2000" b="1" dirty="0">
                <a:solidFill>
                  <a:srgbClr val="0070C0"/>
                </a:solidFill>
                <a:latin typeface="Times New Roman" panose="02020603050405020304" pitchFamily="18" charset="0"/>
                <a:ea typeface="黑体" panose="02010609060101010101" pitchFamily="49" charset="-122"/>
                <a:sym typeface="+mn-ea"/>
              </a:rPr>
              <a:t>都是独立不相关的</a:t>
            </a:r>
            <a:r>
              <a:rPr lang="zh-CN" altLang="en-US" sz="2000" b="1" dirty="0">
                <a:solidFill>
                  <a:srgbClr val="0070C0"/>
                </a:solidFill>
                <a:latin typeface="Times New Roman" panose="02020603050405020304" pitchFamily="18" charset="0"/>
                <a:ea typeface="黑体" panose="02010609060101010101" pitchFamily="49" charset="-122"/>
                <a:sym typeface="+mn-ea"/>
              </a:rPr>
              <a:t>，其出现的概率为</a:t>
            </a:r>
            <a:r>
              <a:rPr lang="en-US" altLang="zh-CN" sz="2000" b="1" i="1">
                <a:solidFill>
                  <a:srgbClr val="0070C0"/>
                </a:solidFill>
                <a:latin typeface="Times New Roman" panose="02020603050405020304" pitchFamily="18" charset="0"/>
                <a:ea typeface="黑体" panose="02010609060101010101" pitchFamily="49" charset="-122"/>
                <a:sym typeface="+mn-ea"/>
              </a:rPr>
              <a:t>P</a:t>
            </a:r>
            <a:r>
              <a:rPr lang="en-US" altLang="zh-CN" sz="2000" b="1">
                <a:solidFill>
                  <a:srgbClr val="0070C0"/>
                </a:solidFill>
                <a:latin typeface="Times New Roman" panose="02020603050405020304" pitchFamily="18" charset="0"/>
                <a:ea typeface="黑体" panose="02010609060101010101" pitchFamily="49" charset="-122"/>
                <a:sym typeface="+mn-ea"/>
              </a:rPr>
              <a:t>(</a:t>
            </a:r>
            <a:r>
              <a:rPr lang="en-US" altLang="zh-CN" sz="2000" b="1" i="1">
                <a:solidFill>
                  <a:srgbClr val="0070C0"/>
                </a:solidFill>
                <a:latin typeface="Times New Roman" panose="02020603050405020304" pitchFamily="18" charset="0"/>
                <a:ea typeface="黑体" panose="02010609060101010101" pitchFamily="49" charset="-122"/>
                <a:sym typeface="+mn-ea"/>
              </a:rPr>
              <a:t>C</a:t>
            </a:r>
            <a:r>
              <a:rPr lang="en-US" altLang="zh-CN" sz="2000" b="1">
                <a:solidFill>
                  <a:srgbClr val="0070C0"/>
                </a:solidFill>
                <a:latin typeface="Times New Roman" panose="02020603050405020304" pitchFamily="18" charset="0"/>
                <a:ea typeface="黑体" panose="02010609060101010101" pitchFamily="49" charset="-122"/>
                <a:sym typeface="+mn-ea"/>
              </a:rPr>
              <a:t>)=0.25</a:t>
            </a:r>
            <a:r>
              <a:rPr lang="zh-CN" sz="2000" b="1">
                <a:solidFill>
                  <a:srgbClr val="0070C0"/>
                </a:solidFill>
                <a:latin typeface="Times New Roman" panose="02020603050405020304" pitchFamily="18" charset="0"/>
                <a:ea typeface="黑体" panose="02010609060101010101" pitchFamily="49" charset="-122"/>
              </a:rPr>
              <a:t>。因此，</a:t>
            </a:r>
            <a:r>
              <a:rPr lang="zh-CN" altLang="en-US" sz="2000" b="1" dirty="0">
                <a:solidFill>
                  <a:srgbClr val="0070C0"/>
                </a:solidFill>
                <a:latin typeface="Times New Roman" panose="02020603050405020304" pitchFamily="18" charset="0"/>
                <a:ea typeface="黑体" panose="02010609060101010101" pitchFamily="49" charset="-122"/>
                <a:sym typeface="+mn-ea"/>
              </a:rPr>
              <a:t>信源</a:t>
            </a:r>
            <a:r>
              <a:rPr lang="en-US" altLang="zh-CN" sz="2000" b="1">
                <a:solidFill>
                  <a:srgbClr val="0070C0"/>
                </a:solidFill>
                <a:latin typeface="Times New Roman" panose="02020603050405020304" pitchFamily="18" charset="0"/>
                <a:ea typeface="黑体" panose="02010609060101010101" pitchFamily="49" charset="-122"/>
                <a:sym typeface="+mn-ea"/>
              </a:rPr>
              <a:t>C</a:t>
            </a:r>
            <a:r>
              <a:rPr lang="zh-CN" altLang="en-US" sz="2000" b="1" dirty="0">
                <a:solidFill>
                  <a:srgbClr val="0070C0"/>
                </a:solidFill>
                <a:latin typeface="Times New Roman" panose="02020603050405020304" pitchFamily="18" charset="0"/>
                <a:ea typeface="黑体" panose="02010609060101010101" pitchFamily="49" charset="-122"/>
                <a:sym typeface="+mn-ea"/>
              </a:rPr>
              <a:t>的每个可能的输出的自信息为</a:t>
            </a:r>
            <a:endParaRPr lang="zh-CN" altLang="en-US" sz="2000" b="1" dirty="0">
              <a:solidFill>
                <a:srgbClr val="0070C0"/>
              </a:solidFill>
              <a:latin typeface="Times New Roman" panose="02020603050405020304" pitchFamily="18" charset="0"/>
              <a:ea typeface="黑体" panose="02010609060101010101" pitchFamily="49" charset="-122"/>
            </a:endParaRPr>
          </a:p>
          <a:p>
            <a:pPr algn="just">
              <a:lnSpc>
                <a:spcPct val="120000"/>
              </a:lnSpc>
              <a:spcBef>
                <a:spcPts val="0"/>
              </a:spcBef>
              <a:buClr>
                <a:schemeClr val="hlink"/>
              </a:buClr>
              <a:buSzPct val="65000"/>
            </a:pPr>
            <a:r>
              <a:rPr lang="en-US" altLang="zh-CN" sz="2000" b="1" i="1">
                <a:solidFill>
                  <a:srgbClr val="0070C0"/>
                </a:solidFill>
                <a:latin typeface="Times New Roman" panose="02020603050405020304" pitchFamily="18" charset="0"/>
                <a:ea typeface="黑体" panose="02010609060101010101" pitchFamily="49" charset="-122"/>
                <a:sym typeface="+mn-ea"/>
              </a:rPr>
              <a:t>I</a:t>
            </a:r>
            <a:r>
              <a:rPr lang="en-US" altLang="zh-CN" sz="2000" b="1">
                <a:solidFill>
                  <a:srgbClr val="0070C0"/>
                </a:solidFill>
                <a:latin typeface="Times New Roman" panose="02020603050405020304" pitchFamily="18" charset="0"/>
                <a:ea typeface="黑体" panose="02010609060101010101" pitchFamily="49" charset="-122"/>
                <a:sym typeface="+mn-ea"/>
              </a:rPr>
              <a:t>(</a:t>
            </a:r>
            <a:r>
              <a:rPr lang="en-US" altLang="zh-CN" sz="2000" b="1" i="1">
                <a:solidFill>
                  <a:srgbClr val="0070C0"/>
                </a:solidFill>
                <a:latin typeface="Times New Roman" panose="02020603050405020304" pitchFamily="18" charset="0"/>
                <a:ea typeface="黑体" panose="02010609060101010101" pitchFamily="49" charset="-122"/>
                <a:sym typeface="+mn-ea"/>
              </a:rPr>
              <a:t>C</a:t>
            </a:r>
            <a:r>
              <a:rPr lang="en-US" altLang="zh-CN" sz="2000" b="1">
                <a:solidFill>
                  <a:srgbClr val="0070C0"/>
                </a:solidFill>
                <a:latin typeface="Times New Roman" panose="02020603050405020304" pitchFamily="18" charset="0"/>
                <a:ea typeface="黑体" panose="02010609060101010101" pitchFamily="49" charset="-122"/>
                <a:sym typeface="+mn-ea"/>
              </a:rPr>
              <a:t>)=-log</a:t>
            </a:r>
            <a:r>
              <a:rPr lang="en-US" altLang="zh-CN" sz="2000" b="1" baseline="-25000">
                <a:solidFill>
                  <a:srgbClr val="0070C0"/>
                </a:solidFill>
                <a:latin typeface="Times New Roman" panose="02020603050405020304" pitchFamily="18" charset="0"/>
                <a:ea typeface="黑体" panose="02010609060101010101" pitchFamily="49" charset="-122"/>
                <a:sym typeface="+mn-ea"/>
              </a:rPr>
              <a:t>2</a:t>
            </a:r>
            <a:r>
              <a:rPr lang="en-US" altLang="zh-CN" sz="2000" b="1" i="1">
                <a:solidFill>
                  <a:srgbClr val="0070C0"/>
                </a:solidFill>
                <a:latin typeface="Times New Roman" panose="02020603050405020304" pitchFamily="18" charset="0"/>
                <a:ea typeface="黑体" panose="02010609060101010101" pitchFamily="49" charset="-122"/>
                <a:sym typeface="+mn-ea"/>
              </a:rPr>
              <a:t>P</a:t>
            </a:r>
            <a:r>
              <a:rPr lang="en-US" altLang="zh-CN" sz="2000" b="1">
                <a:solidFill>
                  <a:srgbClr val="0070C0"/>
                </a:solidFill>
                <a:latin typeface="Times New Roman" panose="02020603050405020304" pitchFamily="18" charset="0"/>
                <a:ea typeface="黑体" panose="02010609060101010101" pitchFamily="49" charset="-122"/>
                <a:sym typeface="+mn-ea"/>
              </a:rPr>
              <a:t>(</a:t>
            </a:r>
            <a:r>
              <a:rPr lang="en-US" altLang="zh-CN" sz="2000" b="1" i="1">
                <a:solidFill>
                  <a:srgbClr val="0070C0"/>
                </a:solidFill>
                <a:latin typeface="Times New Roman" panose="02020603050405020304" pitchFamily="18" charset="0"/>
                <a:ea typeface="黑体" panose="02010609060101010101" pitchFamily="49" charset="-122"/>
                <a:sym typeface="+mn-ea"/>
              </a:rPr>
              <a:t>x</a:t>
            </a:r>
            <a:r>
              <a:rPr lang="en-US" altLang="zh-CN" sz="2000" b="1" i="1" baseline="-25000">
                <a:solidFill>
                  <a:srgbClr val="0070C0"/>
                </a:solidFill>
                <a:latin typeface="Times New Roman" panose="02020603050405020304" pitchFamily="18" charset="0"/>
                <a:ea typeface="黑体" panose="02010609060101010101" pitchFamily="49" charset="-122"/>
                <a:sym typeface="+mn-ea"/>
              </a:rPr>
              <a:t>i</a:t>
            </a:r>
            <a:r>
              <a:rPr lang="en-US" altLang="zh-CN" sz="2000" b="1">
                <a:solidFill>
                  <a:srgbClr val="0070C0"/>
                </a:solidFill>
                <a:latin typeface="Times New Roman" panose="02020603050405020304" pitchFamily="18" charset="0"/>
                <a:ea typeface="黑体" panose="02010609060101010101" pitchFamily="49" charset="-122"/>
                <a:sym typeface="+mn-ea"/>
              </a:rPr>
              <a:t>)=-log</a:t>
            </a:r>
            <a:r>
              <a:rPr lang="en-US" altLang="zh-CN" sz="2000" b="1" baseline="-25000">
                <a:solidFill>
                  <a:srgbClr val="0070C0"/>
                </a:solidFill>
                <a:latin typeface="Times New Roman" panose="02020603050405020304" pitchFamily="18" charset="0"/>
                <a:ea typeface="黑体" panose="02010609060101010101" pitchFamily="49" charset="-122"/>
                <a:sym typeface="+mn-ea"/>
              </a:rPr>
              <a:t>2</a:t>
            </a:r>
            <a:r>
              <a:rPr lang="en-US" altLang="zh-CN" sz="2000" b="1">
                <a:solidFill>
                  <a:srgbClr val="0070C0"/>
                </a:solidFill>
                <a:latin typeface="Times New Roman" panose="02020603050405020304" pitchFamily="18" charset="0"/>
                <a:ea typeface="黑体" panose="02010609060101010101" pitchFamily="49" charset="-122"/>
                <a:sym typeface="+mn-ea"/>
              </a:rPr>
              <a:t>0.25=2bits</a:t>
            </a:r>
            <a:endParaRPr lang="en-US" altLang="zh-CN" sz="2000" b="1" dirty="0">
              <a:solidFill>
                <a:srgbClr val="0070C0"/>
              </a:solidFill>
              <a:latin typeface="Times New Roman" panose="02020603050405020304" pitchFamily="18" charset="0"/>
              <a:ea typeface="黑体" panose="02010609060101010101" pitchFamily="49" charset="-122"/>
              <a:cs typeface="楷体" panose="02010609060101010101" charset="-122"/>
              <a:sym typeface="+mn-ea"/>
            </a:endParaRPr>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条件自信息</a:t>
            </a:r>
            <a:endParaRPr lang="zh-CN" altLang="en-US"/>
          </a:p>
        </p:txBody>
      </p:sp>
      <p:sp>
        <p:nvSpPr>
          <p:cNvPr id="3" name="内容占位符 2"/>
          <p:cNvSpPr>
            <a:spLocks noGrp="1"/>
          </p:cNvSpPr>
          <p:nvPr>
            <p:ph idx="1"/>
          </p:nvPr>
        </p:nvSpPr>
        <p:spPr>
          <a:xfrm>
            <a:off x="608330" y="1490345"/>
            <a:ext cx="10831830" cy="3830955"/>
          </a:xfrm>
        </p:spPr>
        <p:txBody>
          <a:bodyPr>
            <a:noAutofit/>
          </a:bodyPr>
          <a:p>
            <a:r>
              <a:rPr lang="zh-CN" sz="2400" b="1">
                <a:solidFill>
                  <a:schemeClr val="accent6">
                    <a:lumMod val="75000"/>
                  </a:schemeClr>
                </a:solidFill>
              </a:rPr>
              <a:t>定义</a:t>
            </a:r>
            <a:r>
              <a:rPr sz="2400"/>
              <a:t>：在给定</a:t>
            </a:r>
            <a:r>
              <a:rPr sz="2400" i="1">
                <a:latin typeface="Times New Roman" panose="02020603050405020304" pitchFamily="18" charset="0"/>
                <a:cs typeface="Times New Roman" panose="02020603050405020304" pitchFamily="18" charset="0"/>
              </a:rPr>
              <a:t>Y</a:t>
            </a:r>
            <a:r>
              <a:rPr sz="2400"/>
              <a:t>=</a:t>
            </a:r>
            <a:r>
              <a:rPr sz="2400" i="1">
                <a:latin typeface="Times New Roman" panose="02020603050405020304" pitchFamily="18" charset="0"/>
                <a:cs typeface="Times New Roman" panose="02020603050405020304" pitchFamily="18" charset="0"/>
              </a:rPr>
              <a:t>y</a:t>
            </a:r>
            <a:r>
              <a:rPr sz="2400" i="1" baseline="-25000">
                <a:latin typeface="Times New Roman" panose="02020603050405020304" pitchFamily="18" charset="0"/>
                <a:cs typeface="Times New Roman" panose="02020603050405020304" pitchFamily="18" charset="0"/>
              </a:rPr>
              <a:t>i</a:t>
            </a:r>
            <a:r>
              <a:rPr sz="2400"/>
              <a:t>的情况下，考虑离散随机变量</a:t>
            </a:r>
            <a:r>
              <a:rPr sz="2400" i="1">
                <a:latin typeface="Times New Roman" panose="02020603050405020304" pitchFamily="18" charset="0"/>
                <a:cs typeface="Times New Roman" panose="02020603050405020304" pitchFamily="18" charset="0"/>
              </a:rPr>
              <a:t>X</a:t>
            </a:r>
            <a:r>
              <a:rPr sz="2400"/>
              <a:t>，其样本空间为</a:t>
            </a:r>
            <a:r>
              <a:rPr sz="2400">
                <a:sym typeface="+mn-ea"/>
              </a:rPr>
              <a:t>{</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sym typeface="+mn-ea"/>
              </a:rPr>
              <a:t>, </a:t>
            </a:r>
            <a:r>
              <a:rPr sz="2400" i="1">
                <a:latin typeface="Times New Roman" panose="02020603050405020304" pitchFamily="18" charset="0"/>
                <a:cs typeface="Times New Roman" panose="02020603050405020304" pitchFamily="18" charset="0"/>
                <a:sym typeface="+mn-ea"/>
              </a:rPr>
              <a:t>i</a:t>
            </a:r>
            <a:r>
              <a:rPr sz="2400">
                <a:sym typeface="+mn-ea"/>
              </a:rPr>
              <a:t>=</a:t>
            </a:r>
            <a:r>
              <a:rPr sz="2400">
                <a:latin typeface="Times New Roman" panose="02020603050405020304" pitchFamily="18" charset="0"/>
                <a:cs typeface="Times New Roman" panose="02020603050405020304" pitchFamily="18" charset="0"/>
                <a:sym typeface="+mn-ea"/>
              </a:rPr>
              <a:t>1, 2,…,</a:t>
            </a:r>
            <a:r>
              <a:rPr sz="2400" i="1">
                <a:latin typeface="Times New Roman" panose="02020603050405020304" pitchFamily="18" charset="0"/>
                <a:cs typeface="Times New Roman" panose="02020603050405020304" pitchFamily="18" charset="0"/>
                <a:sym typeface="+mn-ea"/>
              </a:rPr>
              <a:t>n</a:t>
            </a:r>
            <a:r>
              <a:rPr sz="2400">
                <a:sym typeface="+mn-ea"/>
              </a:rPr>
              <a:t>}</a:t>
            </a:r>
            <a:r>
              <a:rPr sz="2400"/>
              <a:t>，则事件</a:t>
            </a:r>
            <a:r>
              <a:rPr sz="2400" i="1">
                <a:latin typeface="Times New Roman" panose="02020603050405020304" pitchFamily="18" charset="0"/>
                <a:cs typeface="Times New Roman" panose="02020603050405020304" pitchFamily="18" charset="0"/>
                <a:sym typeface="+mn-ea"/>
              </a:rPr>
              <a:t>X</a:t>
            </a:r>
            <a:r>
              <a:rPr sz="2400">
                <a:sym typeface="+mn-ea"/>
              </a:rPr>
              <a:t>=</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t>的条件自信息量的定义为</a:t>
            </a:r>
            <a:endParaRPr sz="2400"/>
          </a:p>
          <a:p>
            <a:endParaRPr sz="2400"/>
          </a:p>
          <a:p>
            <a:endParaRPr sz="2400"/>
          </a:p>
          <a:p>
            <a:pPr marL="0" indent="0">
              <a:buNone/>
            </a:pPr>
            <a:r>
              <a:rPr lang="en-US" sz="2400"/>
              <a:t>   </a:t>
            </a:r>
            <a:r>
              <a:rPr sz="2400"/>
              <a:t>其中</a:t>
            </a:r>
            <a:r>
              <a:rPr lang="zh-CN" sz="2400"/>
              <a:t>，</a:t>
            </a:r>
            <a:r>
              <a:rPr sz="2400" i="1">
                <a:latin typeface="Times New Roman" panose="02020603050405020304" pitchFamily="18" charset="0"/>
                <a:cs typeface="Times New Roman" panose="02020603050405020304" pitchFamily="18" charset="0"/>
              </a:rPr>
              <a:t>P</a:t>
            </a:r>
            <a:r>
              <a:rPr sz="2400"/>
              <a:t>(</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t>|</a:t>
            </a:r>
            <a:r>
              <a:rPr lang="en-US" sz="2400" i="1">
                <a:latin typeface="Times New Roman" panose="02020603050405020304" pitchFamily="18" charset="0"/>
                <a:cs typeface="Times New Roman" panose="02020603050405020304" pitchFamily="18" charset="0"/>
                <a:sym typeface="+mn-ea"/>
              </a:rPr>
              <a:t>y</a:t>
            </a:r>
            <a:r>
              <a:rPr sz="2400" i="1" baseline="-25000">
                <a:latin typeface="Times New Roman" panose="02020603050405020304" pitchFamily="18" charset="0"/>
                <a:cs typeface="Times New Roman" panose="02020603050405020304" pitchFamily="18" charset="0"/>
                <a:sym typeface="+mn-ea"/>
              </a:rPr>
              <a:t>i</a:t>
            </a:r>
            <a:r>
              <a:rPr sz="2400"/>
              <a:t>)是</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t>的条件概率，也称为后验概率</a:t>
            </a:r>
            <a:r>
              <a:rPr lang="zh-CN" sz="2400"/>
              <a:t>。</a:t>
            </a:r>
            <a:r>
              <a:rPr sz="2400" i="1">
                <a:latin typeface="Times New Roman" panose="02020603050405020304" pitchFamily="18" charset="0"/>
                <a:cs typeface="Times New Roman" panose="02020603050405020304" pitchFamily="18" charset="0"/>
                <a:sym typeface="+mn-ea"/>
              </a:rPr>
              <a:t>P</a:t>
            </a:r>
            <a:r>
              <a:rPr sz="2400">
                <a:sym typeface="+mn-ea"/>
              </a:rPr>
              <a:t>(</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sym typeface="+mn-ea"/>
              </a:rPr>
              <a:t>)称为先验概率</a:t>
            </a:r>
            <a:r>
              <a:rPr lang="zh-CN" sz="2400">
                <a:sym typeface="+mn-ea"/>
              </a:rPr>
              <a:t>。</a:t>
            </a:r>
            <a:endParaRPr sz="2400"/>
          </a:p>
          <a:p>
            <a:r>
              <a:rPr sz="2400"/>
              <a:t>条件自信息量非负</a:t>
            </a:r>
            <a:r>
              <a:rPr lang="zh-CN" sz="2400"/>
              <a:t>。</a:t>
            </a:r>
            <a:endParaRPr lang="zh-CN" sz="2400"/>
          </a:p>
        </p:txBody>
      </p:sp>
      <p:graphicFrame>
        <p:nvGraphicFramePr>
          <p:cNvPr id="7" name="对象 6">
            <a:hlinkClick r:id="" action="ppaction://ole?verb="/>
          </p:cNvPr>
          <p:cNvGraphicFramePr>
            <a:graphicFrameLocks noChangeAspect="1"/>
          </p:cNvGraphicFramePr>
          <p:nvPr/>
        </p:nvGraphicFramePr>
        <p:xfrm>
          <a:off x="3790633" y="2677478"/>
          <a:ext cx="4610100" cy="1002030"/>
        </p:xfrm>
        <a:graphic>
          <a:graphicData uri="http://schemas.openxmlformats.org/presentationml/2006/ole">
            <mc:AlternateContent xmlns:mc="http://schemas.openxmlformats.org/markup-compatibility/2006">
              <mc:Choice xmlns:v="urn:schemas-microsoft-com:vml" Requires="v">
                <p:oleObj spid="_x0000_s8" name="" r:id="rId1" imgW="2374265" imgH="508000" progId="Equation.KSEE3">
                  <p:embed/>
                </p:oleObj>
              </mc:Choice>
              <mc:Fallback>
                <p:oleObj name="" r:id="rId1" imgW="2374265" imgH="508000" progId="Equation.KSEE3">
                  <p:embed/>
                  <p:pic>
                    <p:nvPicPr>
                      <p:cNvPr id="0" name="图片 2048"/>
                      <p:cNvPicPr/>
                      <p:nvPr/>
                    </p:nvPicPr>
                    <p:blipFill>
                      <a:blip r:embed="rId2"/>
                      <a:stretch>
                        <a:fillRect/>
                      </a:stretch>
                    </p:blipFill>
                    <p:spPr>
                      <a:xfrm>
                        <a:off x="3790633" y="2677478"/>
                        <a:ext cx="4610100" cy="1002030"/>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互信息</a:t>
            </a:r>
            <a:endParaRPr lang="zh-CN" altLang="en-US"/>
          </a:p>
        </p:txBody>
      </p:sp>
      <p:sp>
        <p:nvSpPr>
          <p:cNvPr id="3" name="内容占位符 2"/>
          <p:cNvSpPr>
            <a:spLocks noGrp="1"/>
          </p:cNvSpPr>
          <p:nvPr>
            <p:ph idx="1"/>
          </p:nvPr>
        </p:nvSpPr>
        <p:spPr>
          <a:xfrm>
            <a:off x="608330" y="1490345"/>
            <a:ext cx="10831830" cy="3035300"/>
          </a:xfrm>
        </p:spPr>
        <p:txBody>
          <a:bodyPr>
            <a:noAutofit/>
          </a:bodyPr>
          <a:p>
            <a:r>
              <a:rPr lang="zh-CN" sz="2400" b="1">
                <a:solidFill>
                  <a:schemeClr val="accent6">
                    <a:lumMod val="75000"/>
                  </a:schemeClr>
                </a:solidFill>
                <a:sym typeface="+mn-ea"/>
              </a:rPr>
              <a:t>定义</a:t>
            </a:r>
            <a:r>
              <a:rPr sz="2400">
                <a:sym typeface="+mn-ea"/>
              </a:rPr>
              <a:t>： </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sym typeface="+mn-ea"/>
              </a:rPr>
              <a:t>和</a:t>
            </a:r>
            <a:r>
              <a:rPr lang="en-US" sz="2400" i="1">
                <a:latin typeface="Times New Roman" panose="02020603050405020304" pitchFamily="18" charset="0"/>
                <a:cs typeface="Times New Roman" panose="02020603050405020304" pitchFamily="18" charset="0"/>
                <a:sym typeface="+mn-ea"/>
              </a:rPr>
              <a:t>y</a:t>
            </a:r>
            <a:r>
              <a:rPr sz="2400" i="1" baseline="-25000">
                <a:latin typeface="Times New Roman" panose="02020603050405020304" pitchFamily="18" charset="0"/>
                <a:cs typeface="Times New Roman" panose="02020603050405020304" pitchFamily="18" charset="0"/>
                <a:sym typeface="+mn-ea"/>
              </a:rPr>
              <a:t>i</a:t>
            </a:r>
            <a:r>
              <a:rPr sz="2400">
                <a:sym typeface="+mn-ea"/>
              </a:rPr>
              <a:t>之间的互信息定义为</a:t>
            </a:r>
            <a:endParaRPr sz="2400">
              <a:sym typeface="+mn-ea"/>
            </a:endParaRPr>
          </a:p>
          <a:p>
            <a:r>
              <a:rPr sz="2400">
                <a:sym typeface="+mn-ea"/>
              </a:rPr>
              <a:t>互信息的性质：</a:t>
            </a:r>
            <a:endParaRPr sz="2400">
              <a:sym typeface="+mn-ea"/>
            </a:endParaRPr>
          </a:p>
          <a:p>
            <a:pPr lvl="1">
              <a:buFont typeface="Wingdings" panose="05000000000000000000" charset="0"/>
              <a:buChar char="p"/>
            </a:pPr>
            <a:r>
              <a:rPr sz="2130">
                <a:sym typeface="+mn-ea"/>
              </a:rPr>
              <a:t>性质1：互易性 </a:t>
            </a:r>
            <a:r>
              <a:rPr sz="2130" i="1">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sz="2130" i="1">
                <a:latin typeface="Times New Roman" panose="02020603050405020304" pitchFamily="18" charset="0"/>
                <a:cs typeface="Times New Roman" panose="02020603050405020304" pitchFamily="18" charset="0"/>
                <a:sym typeface="+mn-ea"/>
              </a:rPr>
              <a:t>x</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lang="en-US" sz="2130" i="1">
                <a:latin typeface="Times New Roman" panose="02020603050405020304" pitchFamily="18" charset="0"/>
                <a:cs typeface="Times New Roman" panose="02020603050405020304" pitchFamily="18" charset="0"/>
                <a:sym typeface="+mn-ea"/>
              </a:rPr>
              <a:t>y</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 </a:t>
            </a:r>
            <a:r>
              <a:rPr sz="2130" i="1">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lang="en-US" sz="2130" i="1">
                <a:latin typeface="Times New Roman" panose="02020603050405020304" pitchFamily="18" charset="0"/>
                <a:cs typeface="Times New Roman" panose="02020603050405020304" pitchFamily="18" charset="0"/>
                <a:sym typeface="+mn-ea"/>
              </a:rPr>
              <a:t>y</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sz="2130" i="1">
                <a:latin typeface="Times New Roman" panose="02020603050405020304" pitchFamily="18" charset="0"/>
                <a:cs typeface="Times New Roman" panose="02020603050405020304" pitchFamily="18" charset="0"/>
                <a:sym typeface="+mn-ea"/>
              </a:rPr>
              <a:t>x</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lang="zh-CN" sz="2130">
                <a:latin typeface="Times New Roman" panose="02020603050405020304" pitchFamily="18" charset="0"/>
                <a:cs typeface="Times New Roman" panose="02020603050405020304" pitchFamily="18" charset="0"/>
                <a:sym typeface="+mn-ea"/>
              </a:rPr>
              <a:t>。</a:t>
            </a:r>
            <a:endParaRPr sz="2130">
              <a:sym typeface="+mn-ea"/>
            </a:endParaRPr>
          </a:p>
          <a:p>
            <a:pPr lvl="1">
              <a:buFont typeface="Wingdings" panose="05000000000000000000" charset="0"/>
              <a:buChar char="p"/>
            </a:pPr>
            <a:r>
              <a:rPr sz="2130">
                <a:sym typeface="+mn-ea"/>
              </a:rPr>
              <a:t>性质2：当</a:t>
            </a:r>
            <a:r>
              <a:rPr sz="2130" i="1">
                <a:latin typeface="Times New Roman" panose="02020603050405020304" pitchFamily="18" charset="0"/>
                <a:cs typeface="Times New Roman" panose="02020603050405020304" pitchFamily="18" charset="0"/>
                <a:sym typeface="+mn-ea"/>
              </a:rPr>
              <a:t>x</a:t>
            </a:r>
            <a:r>
              <a:rPr sz="2130" i="1" baseline="-25000">
                <a:latin typeface="Times New Roman" panose="02020603050405020304" pitchFamily="18" charset="0"/>
                <a:cs typeface="Times New Roman" panose="02020603050405020304" pitchFamily="18" charset="0"/>
                <a:sym typeface="+mn-ea"/>
              </a:rPr>
              <a:t>i</a:t>
            </a:r>
            <a:r>
              <a:rPr sz="2130">
                <a:sym typeface="+mn-ea"/>
              </a:rPr>
              <a:t>和</a:t>
            </a:r>
            <a:r>
              <a:rPr lang="en-US" sz="2130" i="1">
                <a:latin typeface="Times New Roman" panose="02020603050405020304" pitchFamily="18" charset="0"/>
                <a:cs typeface="Times New Roman" panose="02020603050405020304" pitchFamily="18" charset="0"/>
                <a:sym typeface="+mn-ea"/>
              </a:rPr>
              <a:t>y</a:t>
            </a:r>
            <a:r>
              <a:rPr sz="2130" i="1" baseline="-25000">
                <a:latin typeface="Times New Roman" panose="02020603050405020304" pitchFamily="18" charset="0"/>
                <a:cs typeface="Times New Roman" panose="02020603050405020304" pitchFamily="18" charset="0"/>
                <a:sym typeface="+mn-ea"/>
              </a:rPr>
              <a:t>i</a:t>
            </a:r>
            <a:r>
              <a:rPr sz="2130">
                <a:sym typeface="+mn-ea"/>
              </a:rPr>
              <a:t>是统计上独立的，即</a:t>
            </a:r>
            <a:r>
              <a:rPr sz="2130" i="1">
                <a:latin typeface="Times New Roman" panose="02020603050405020304" pitchFamily="18" charset="0"/>
                <a:cs typeface="Times New Roman" panose="02020603050405020304" pitchFamily="18" charset="0"/>
                <a:sym typeface="+mn-ea"/>
              </a:rPr>
              <a:t>P</a:t>
            </a:r>
            <a:r>
              <a:rPr sz="2130">
                <a:latin typeface="Times New Roman" panose="02020603050405020304" pitchFamily="18" charset="0"/>
                <a:cs typeface="Times New Roman" panose="02020603050405020304" pitchFamily="18" charset="0"/>
                <a:sym typeface="+mn-ea"/>
              </a:rPr>
              <a:t>(</a:t>
            </a:r>
            <a:r>
              <a:rPr sz="2130" i="1">
                <a:latin typeface="Times New Roman" panose="02020603050405020304" pitchFamily="18" charset="0"/>
                <a:cs typeface="Times New Roman" panose="02020603050405020304" pitchFamily="18" charset="0"/>
                <a:sym typeface="+mn-ea"/>
              </a:rPr>
              <a:t>x</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lang="en-US" sz="2130" i="1">
                <a:latin typeface="Times New Roman" panose="02020603050405020304" pitchFamily="18" charset="0"/>
                <a:cs typeface="Times New Roman" panose="02020603050405020304" pitchFamily="18" charset="0"/>
                <a:sym typeface="+mn-ea"/>
              </a:rPr>
              <a:t>y</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 </a:t>
            </a:r>
            <a:r>
              <a:rPr sz="2130" i="1">
                <a:latin typeface="Times New Roman" panose="02020603050405020304" pitchFamily="18" charset="0"/>
                <a:cs typeface="Times New Roman" panose="02020603050405020304" pitchFamily="18" charset="0"/>
                <a:sym typeface="+mn-ea"/>
              </a:rPr>
              <a:t>P</a:t>
            </a:r>
            <a:r>
              <a:rPr sz="2130">
                <a:latin typeface="Times New Roman" panose="02020603050405020304" pitchFamily="18" charset="0"/>
                <a:cs typeface="Times New Roman" panose="02020603050405020304" pitchFamily="18" charset="0"/>
                <a:sym typeface="+mn-ea"/>
              </a:rPr>
              <a:t>(</a:t>
            </a:r>
            <a:r>
              <a:rPr sz="2130" i="1">
                <a:latin typeface="Times New Roman" panose="02020603050405020304" pitchFamily="18" charset="0"/>
                <a:cs typeface="Times New Roman" panose="02020603050405020304" pitchFamily="18" charset="0"/>
                <a:sym typeface="+mn-ea"/>
              </a:rPr>
              <a:t>x</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sz="2130">
                <a:sym typeface="+mn-ea"/>
              </a:rPr>
              <a:t>，则</a:t>
            </a:r>
            <a:r>
              <a:rPr sz="2130" i="1">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sz="2130" i="1">
                <a:latin typeface="Times New Roman" panose="02020603050405020304" pitchFamily="18" charset="0"/>
                <a:cs typeface="Times New Roman" panose="02020603050405020304" pitchFamily="18" charset="0"/>
                <a:sym typeface="+mn-ea"/>
              </a:rPr>
              <a:t>x</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lang="en-US" sz="2130" i="1">
                <a:latin typeface="Times New Roman" panose="02020603050405020304" pitchFamily="18" charset="0"/>
                <a:cs typeface="Times New Roman" panose="02020603050405020304" pitchFamily="18" charset="0"/>
                <a:sym typeface="+mn-ea"/>
              </a:rPr>
              <a:t>y</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)=0</a:t>
            </a:r>
            <a:r>
              <a:rPr lang="zh-CN" sz="2130">
                <a:latin typeface="Times New Roman" panose="02020603050405020304" pitchFamily="18" charset="0"/>
                <a:cs typeface="Times New Roman" panose="02020603050405020304" pitchFamily="18" charset="0"/>
                <a:sym typeface="+mn-ea"/>
              </a:rPr>
              <a:t>。</a:t>
            </a:r>
            <a:endParaRPr sz="2130">
              <a:sym typeface="+mn-ea"/>
            </a:endParaRPr>
          </a:p>
          <a:p>
            <a:pPr lvl="1">
              <a:buFont typeface="Wingdings" panose="05000000000000000000" charset="0"/>
              <a:buChar char="p"/>
            </a:pPr>
            <a:r>
              <a:rPr sz="2130">
                <a:sym typeface="+mn-ea"/>
              </a:rPr>
              <a:t>性质3：互信息量可以是正的，也可以是负的</a:t>
            </a:r>
            <a:r>
              <a:rPr lang="zh-CN" sz="2130">
                <a:sym typeface="+mn-ea"/>
              </a:rPr>
              <a:t>。</a:t>
            </a:r>
            <a:endParaRPr lang="zh-CN" sz="2130">
              <a:sym typeface="+mn-ea"/>
            </a:endParaRPr>
          </a:p>
        </p:txBody>
      </p:sp>
      <p:graphicFrame>
        <p:nvGraphicFramePr>
          <p:cNvPr id="6" name="对象 5">
            <a:hlinkClick r:id="" action="ppaction://ole?verb="/>
          </p:cNvPr>
          <p:cNvGraphicFramePr>
            <a:graphicFrameLocks noChangeAspect="1"/>
          </p:cNvGraphicFramePr>
          <p:nvPr/>
        </p:nvGraphicFramePr>
        <p:xfrm>
          <a:off x="5735638" y="1364298"/>
          <a:ext cx="2885440" cy="952500"/>
        </p:xfrm>
        <a:graphic>
          <a:graphicData uri="http://schemas.openxmlformats.org/presentationml/2006/ole">
            <mc:AlternateContent xmlns:mc="http://schemas.openxmlformats.org/markup-compatibility/2006">
              <mc:Choice xmlns:v="urn:schemas-microsoft-com:vml" Requires="v">
                <p:oleObj spid="_x0000_s7" name="" r:id="rId1" imgW="1485900" imgH="482600" progId="Equation.KSEE3">
                  <p:embed/>
                </p:oleObj>
              </mc:Choice>
              <mc:Fallback>
                <p:oleObj name="" r:id="rId1" imgW="1485900" imgH="482600" progId="Equation.KSEE3">
                  <p:embed/>
                  <p:pic>
                    <p:nvPicPr>
                      <p:cNvPr id="0" name="图片 2048"/>
                      <p:cNvPicPr/>
                      <p:nvPr/>
                    </p:nvPicPr>
                    <p:blipFill>
                      <a:blip r:embed="rId2"/>
                      <a:stretch>
                        <a:fillRect/>
                      </a:stretch>
                    </p:blipFill>
                    <p:spPr>
                      <a:xfrm>
                        <a:off x="5735638" y="1364298"/>
                        <a:ext cx="2885440" cy="952500"/>
                      </a:xfrm>
                      <a:prstGeom prst="rect">
                        <a:avLst/>
                      </a:prstGeom>
                    </p:spPr>
                  </p:pic>
                </p:oleObj>
              </mc:Fallback>
            </mc:AlternateContent>
          </a:graphicData>
        </a:graphic>
      </p:graphicFrame>
      <p:sp>
        <p:nvSpPr>
          <p:cNvPr id="9" name="矩形 8"/>
          <p:cNvSpPr/>
          <p:nvPr/>
        </p:nvSpPr>
        <p:spPr>
          <a:xfrm>
            <a:off x="2710180" y="5006975"/>
            <a:ext cx="6113780" cy="57023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8" name="文本框 7"/>
          <p:cNvSpPr txBox="1"/>
          <p:nvPr/>
        </p:nvSpPr>
        <p:spPr>
          <a:xfrm>
            <a:off x="2973070" y="5033645"/>
            <a:ext cx="5737225" cy="460375"/>
          </a:xfrm>
          <a:prstGeom prst="rect">
            <a:avLst/>
          </a:prstGeom>
          <a:noFill/>
        </p:spPr>
        <p:txBody>
          <a:bodyPr wrap="square" rtlCol="0" anchor="t">
            <a:spAutoFit/>
          </a:bodyPr>
          <a:p>
            <a:pPr algn="just">
              <a:lnSpc>
                <a:spcPct val="120000"/>
              </a:lnSpc>
              <a:spcBef>
                <a:spcPts val="0"/>
              </a:spcBef>
              <a:buClr>
                <a:schemeClr val="hlink"/>
              </a:buClr>
              <a:buSzPct val="65000"/>
            </a:pPr>
            <a:r>
              <a:rPr sz="2000" b="1">
                <a:solidFill>
                  <a:srgbClr val="FF0000"/>
                </a:solidFill>
                <a:latin typeface="楷体" panose="02010609060101010101" charset="-122"/>
                <a:ea typeface="楷体" panose="02010609060101010101" charset="-122"/>
              </a:rPr>
              <a:t>思考题：</a:t>
            </a:r>
            <a:r>
              <a:rPr sz="2000" b="1">
                <a:latin typeface="Times New Roman" panose="02020603050405020304" pitchFamily="18" charset="0"/>
                <a:ea typeface="黑体" panose="02010609060101010101" pitchFamily="49" charset="-122"/>
                <a:cs typeface="Times New Roman" panose="02020603050405020304" pitchFamily="18" charset="0"/>
              </a:rPr>
              <a:t>计算二元对称(BSC)信道的互信息量</a:t>
            </a:r>
            <a:r>
              <a:rPr lang="en-US" sz="2000" b="1">
                <a:latin typeface="Times New Roman" panose="02020603050405020304" pitchFamily="18" charset="0"/>
                <a:ea typeface="黑体" panose="02010609060101010101" pitchFamily="49" charset="-122"/>
                <a:cs typeface="Times New Roman" panose="02020603050405020304" pitchFamily="18" charset="0"/>
              </a:rPr>
              <a:t>?</a:t>
            </a:r>
            <a:endParaRPr lang="en-US" sz="20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平均自信息量(信息熵)</a:t>
            </a:r>
            <a:endParaRPr lang="zh-CN" altLang="en-US"/>
          </a:p>
        </p:txBody>
      </p:sp>
      <p:sp>
        <p:nvSpPr>
          <p:cNvPr id="3" name="内容占位符 2"/>
          <p:cNvSpPr>
            <a:spLocks noGrp="1"/>
          </p:cNvSpPr>
          <p:nvPr>
            <p:ph idx="1"/>
          </p:nvPr>
        </p:nvSpPr>
        <p:spPr>
          <a:xfrm>
            <a:off x="608330" y="1490345"/>
            <a:ext cx="10831830" cy="3018790"/>
          </a:xfrm>
        </p:spPr>
        <p:txBody>
          <a:bodyPr>
            <a:noAutofit/>
          </a:bodyPr>
          <a:p>
            <a:r>
              <a:rPr lang="zh-CN" sz="2400" b="1">
                <a:solidFill>
                  <a:schemeClr val="accent6">
                    <a:lumMod val="75000"/>
                  </a:schemeClr>
                </a:solidFill>
                <a:sym typeface="+mn-ea"/>
              </a:rPr>
              <a:t>定义</a:t>
            </a:r>
            <a:r>
              <a:rPr lang="zh-CN" sz="2400">
                <a:sym typeface="+mn-ea"/>
              </a:rPr>
              <a:t>：离散随机变量</a:t>
            </a:r>
            <a:r>
              <a:rPr lang="zh-CN" sz="2400" i="1">
                <a:latin typeface="Times New Roman" panose="02020603050405020304" pitchFamily="18" charset="0"/>
                <a:cs typeface="Times New Roman" panose="02020603050405020304" pitchFamily="18" charset="0"/>
                <a:sym typeface="+mn-ea"/>
              </a:rPr>
              <a:t>X</a:t>
            </a:r>
            <a:r>
              <a:rPr lang="zh-CN" sz="2400">
                <a:sym typeface="+mn-ea"/>
              </a:rPr>
              <a:t>的平均自信息定义为，其样本空间为</a:t>
            </a:r>
            <a:r>
              <a:rPr sz="2400">
                <a:sym typeface="+mn-ea"/>
              </a:rPr>
              <a:t>{</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sym typeface="+mn-ea"/>
              </a:rPr>
              <a:t>, </a:t>
            </a:r>
            <a:r>
              <a:rPr sz="2400" i="1">
                <a:latin typeface="Times New Roman" panose="02020603050405020304" pitchFamily="18" charset="0"/>
                <a:cs typeface="Times New Roman" panose="02020603050405020304" pitchFamily="18" charset="0"/>
                <a:sym typeface="+mn-ea"/>
              </a:rPr>
              <a:t>i</a:t>
            </a:r>
            <a:r>
              <a:rPr sz="2400">
                <a:sym typeface="+mn-ea"/>
              </a:rPr>
              <a:t>=</a:t>
            </a:r>
            <a:r>
              <a:rPr sz="2400">
                <a:latin typeface="Times New Roman" panose="02020603050405020304" pitchFamily="18" charset="0"/>
                <a:cs typeface="Times New Roman" panose="02020603050405020304" pitchFamily="18" charset="0"/>
                <a:sym typeface="+mn-ea"/>
              </a:rPr>
              <a:t>1, 2,…,</a:t>
            </a:r>
            <a:r>
              <a:rPr sz="2400" i="1">
                <a:latin typeface="Times New Roman" panose="02020603050405020304" pitchFamily="18" charset="0"/>
                <a:cs typeface="Times New Roman" panose="02020603050405020304" pitchFamily="18" charset="0"/>
                <a:sym typeface="+mn-ea"/>
              </a:rPr>
              <a:t>n</a:t>
            </a:r>
            <a:r>
              <a:rPr sz="2400">
                <a:sym typeface="+mn-ea"/>
              </a:rPr>
              <a:t>}</a:t>
            </a:r>
            <a:r>
              <a:rPr lang="zh-CN" sz="2400">
                <a:sym typeface="+mn-ea"/>
              </a:rPr>
              <a:t>，则事件</a:t>
            </a:r>
            <a:r>
              <a:rPr lang="zh-CN" sz="2400" i="1">
                <a:latin typeface="Times New Roman" panose="02020603050405020304" pitchFamily="18" charset="0"/>
                <a:cs typeface="Times New Roman" panose="02020603050405020304" pitchFamily="18" charset="0"/>
                <a:sym typeface="+mn-ea"/>
              </a:rPr>
              <a:t>X</a:t>
            </a:r>
            <a:r>
              <a:rPr lang="zh-CN"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lang="zh-CN" sz="2400">
                <a:sym typeface="+mn-ea"/>
              </a:rPr>
              <a:t>的平均自信息量的定义为</a:t>
            </a:r>
            <a:endParaRPr lang="zh-CN" sz="2400">
              <a:sym typeface="+mn-ea"/>
            </a:endParaRPr>
          </a:p>
          <a:p>
            <a:pPr marL="0" indent="0">
              <a:buNone/>
            </a:pPr>
            <a:endParaRPr lang="zh-CN" sz="2400">
              <a:sym typeface="+mn-ea"/>
            </a:endParaRPr>
          </a:p>
          <a:p>
            <a:pPr marL="0" indent="0">
              <a:buNone/>
            </a:pPr>
            <a:endParaRPr lang="zh-CN" sz="2400">
              <a:sym typeface="+mn-ea"/>
            </a:endParaRPr>
          </a:p>
          <a:p>
            <a:pPr marL="0" indent="0">
              <a:buNone/>
            </a:pPr>
            <a:r>
              <a:rPr lang="en-US" altLang="zh-CN" sz="2400">
                <a:sym typeface="+mn-ea"/>
              </a:rPr>
              <a:t>  </a:t>
            </a:r>
            <a:r>
              <a:rPr lang="zh-CN" sz="2400">
                <a:sym typeface="+mn-ea"/>
              </a:rPr>
              <a:t>其中</a:t>
            </a:r>
            <a:r>
              <a:rPr lang="zh-CN" sz="2400" i="1">
                <a:latin typeface="Times New Roman" panose="02020603050405020304" pitchFamily="18" charset="0"/>
                <a:cs typeface="Times New Roman" panose="02020603050405020304" pitchFamily="18" charset="0"/>
                <a:sym typeface="+mn-ea"/>
              </a:rPr>
              <a:t>H</a:t>
            </a:r>
            <a:r>
              <a:rPr lang="zh-CN" sz="2400">
                <a:latin typeface="Times New Roman" panose="02020603050405020304" pitchFamily="18" charset="0"/>
                <a:cs typeface="Times New Roman" panose="02020603050405020304" pitchFamily="18" charset="0"/>
                <a:sym typeface="+mn-ea"/>
              </a:rPr>
              <a:t>(</a:t>
            </a:r>
            <a:r>
              <a:rPr lang="zh-CN" sz="2400" i="1">
                <a:latin typeface="Times New Roman" panose="02020603050405020304" pitchFamily="18" charset="0"/>
                <a:cs typeface="Times New Roman" panose="02020603050405020304" pitchFamily="18" charset="0"/>
                <a:sym typeface="+mn-ea"/>
              </a:rPr>
              <a:t>X</a:t>
            </a:r>
            <a:r>
              <a:rPr lang="zh-CN" sz="2400">
                <a:latin typeface="Times New Roman" panose="02020603050405020304" pitchFamily="18" charset="0"/>
                <a:cs typeface="Times New Roman" panose="02020603050405020304" pitchFamily="18" charset="0"/>
                <a:sym typeface="+mn-ea"/>
              </a:rPr>
              <a:t>)</a:t>
            </a:r>
            <a:r>
              <a:rPr lang="zh-CN" sz="2400">
                <a:sym typeface="+mn-ea"/>
              </a:rPr>
              <a:t>表示每个信源符号的平均信息量。</a:t>
            </a:r>
            <a:endParaRPr lang="zh-CN" sz="2400">
              <a:sym typeface="+mn-ea"/>
            </a:endParaRPr>
          </a:p>
        </p:txBody>
      </p:sp>
      <p:graphicFrame>
        <p:nvGraphicFramePr>
          <p:cNvPr id="4" name="对象 3">
            <a:hlinkClick r:id="" action="ppaction://ole?verb="/>
          </p:cNvPr>
          <p:cNvGraphicFramePr>
            <a:graphicFrameLocks noChangeAspect="1"/>
          </p:cNvGraphicFramePr>
          <p:nvPr/>
        </p:nvGraphicFramePr>
        <p:xfrm>
          <a:off x="1945640" y="2655570"/>
          <a:ext cx="7151370" cy="969010"/>
        </p:xfrm>
        <a:graphic>
          <a:graphicData uri="http://schemas.openxmlformats.org/presentationml/2006/ole">
            <mc:AlternateContent xmlns:mc="http://schemas.openxmlformats.org/markup-compatibility/2006">
              <mc:Choice xmlns:v="urn:schemas-microsoft-com:vml" Requires="v">
                <p:oleObj spid="_x0000_s5" name="" r:id="rId1" imgW="3683000" imgH="508000" progId="Equation.KSEE3">
                  <p:embed/>
                </p:oleObj>
              </mc:Choice>
              <mc:Fallback>
                <p:oleObj name="" r:id="rId1" imgW="3683000" imgH="508000" progId="Equation.KSEE3">
                  <p:embed/>
                  <p:pic>
                    <p:nvPicPr>
                      <p:cNvPr id="0" name="图片 2048"/>
                      <p:cNvPicPr/>
                      <p:nvPr/>
                    </p:nvPicPr>
                    <p:blipFill>
                      <a:blip r:embed="rId2"/>
                      <a:stretch>
                        <a:fillRect/>
                      </a:stretch>
                    </p:blipFill>
                    <p:spPr>
                      <a:xfrm>
                        <a:off x="1945640" y="2655570"/>
                        <a:ext cx="7151370" cy="969010"/>
                      </a:xfrm>
                      <a:prstGeom prst="rect">
                        <a:avLst/>
                      </a:prstGeom>
                    </p:spPr>
                  </p:pic>
                </p:oleObj>
              </mc:Fallback>
            </mc:AlternateContent>
          </a:graphicData>
        </a:graphic>
      </p:graphicFrame>
      <p:sp>
        <p:nvSpPr>
          <p:cNvPr id="9" name="矩形 8"/>
          <p:cNvSpPr/>
          <p:nvPr/>
        </p:nvSpPr>
        <p:spPr>
          <a:xfrm>
            <a:off x="1050925" y="4627245"/>
            <a:ext cx="10006965" cy="1326515"/>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6" name="文本框 5"/>
          <p:cNvSpPr txBox="1"/>
          <p:nvPr/>
        </p:nvSpPr>
        <p:spPr>
          <a:xfrm>
            <a:off x="1198245" y="4686935"/>
            <a:ext cx="9703435" cy="1198880"/>
          </a:xfrm>
          <a:prstGeom prst="rect">
            <a:avLst/>
          </a:prstGeom>
          <a:noFill/>
        </p:spPr>
        <p:txBody>
          <a:bodyPr wrap="square" rtlCol="0" anchor="t">
            <a:spAutoFit/>
          </a:bodyPr>
          <a:p>
            <a:pPr algn="just">
              <a:lnSpc>
                <a:spcPct val="120000"/>
              </a:lnSpc>
              <a:spcBef>
                <a:spcPts val="0"/>
              </a:spcBef>
              <a:buClr>
                <a:schemeClr val="hlink"/>
              </a:buClr>
              <a:buSzPct val="65000"/>
            </a:pPr>
            <a:r>
              <a:rPr lang="zh-CN" altLang="en-US" sz="2000" b="1" dirty="0">
                <a:solidFill>
                  <a:srgbClr val="FF0000"/>
                </a:solidFill>
                <a:latin typeface="楷体" panose="02010609060101010101" charset="-122"/>
                <a:ea typeface="楷体" panose="02010609060101010101" charset="-122"/>
                <a:cs typeface="楷体" panose="02010609060101010101" charset="-122"/>
                <a:sym typeface="+mn-ea"/>
              </a:rPr>
              <a:t>例子：</a:t>
            </a:r>
            <a:r>
              <a:rPr sz="2000" b="1">
                <a:solidFill>
                  <a:srgbClr val="0070C0"/>
                </a:solidFill>
                <a:latin typeface="Times New Roman" panose="02020603050405020304" pitchFamily="18" charset="0"/>
                <a:ea typeface="黑体" panose="02010609060101010101" pitchFamily="49" charset="-122"/>
              </a:rPr>
              <a:t>变量</a:t>
            </a:r>
            <a:r>
              <a:rPr sz="2000" b="1" i="1">
                <a:solidFill>
                  <a:srgbClr val="0070C0"/>
                </a:solidFill>
                <a:latin typeface="Times New Roman" panose="02020603050405020304" pitchFamily="18" charset="0"/>
                <a:ea typeface="黑体" panose="02010609060101010101" pitchFamily="49" charset="-122"/>
              </a:rPr>
              <a:t>X</a:t>
            </a:r>
            <a:r>
              <a:rPr sz="2000" b="1">
                <a:solidFill>
                  <a:srgbClr val="0070C0"/>
                </a:solidFill>
                <a:latin typeface="Times New Roman" panose="02020603050405020304" pitchFamily="18" charset="0"/>
                <a:ea typeface="黑体" panose="02010609060101010101" pitchFamily="49" charset="-122"/>
              </a:rPr>
              <a:t>，</a:t>
            </a:r>
            <a:r>
              <a:rPr sz="2000" b="1" i="1">
                <a:solidFill>
                  <a:srgbClr val="0070C0"/>
                </a:solidFill>
                <a:latin typeface="Times New Roman" panose="02020603050405020304" pitchFamily="18" charset="0"/>
                <a:ea typeface="黑体" panose="02010609060101010101" pitchFamily="49" charset="-122"/>
              </a:rPr>
              <a:t>P</a:t>
            </a:r>
            <a:r>
              <a:rPr sz="2000" b="1">
                <a:solidFill>
                  <a:srgbClr val="0070C0"/>
                </a:solidFill>
                <a:latin typeface="Times New Roman" panose="02020603050405020304" pitchFamily="18" charset="0"/>
                <a:ea typeface="黑体" panose="02010609060101010101" pitchFamily="49" charset="-122"/>
              </a:rPr>
              <a:t>(</a:t>
            </a:r>
            <a:r>
              <a:rPr sz="2000" b="1" i="1">
                <a:solidFill>
                  <a:srgbClr val="0070C0"/>
                </a:solidFill>
                <a:latin typeface="Times New Roman" panose="02020603050405020304" pitchFamily="18" charset="0"/>
                <a:ea typeface="黑体" panose="02010609060101010101" pitchFamily="49" charset="-122"/>
              </a:rPr>
              <a:t>X</a:t>
            </a:r>
            <a:r>
              <a:rPr sz="2000" b="1">
                <a:solidFill>
                  <a:srgbClr val="0070C0"/>
                </a:solidFill>
                <a:latin typeface="Times New Roman" panose="02020603050405020304" pitchFamily="18" charset="0"/>
                <a:ea typeface="黑体" panose="02010609060101010101" pitchFamily="49" charset="-122"/>
              </a:rPr>
              <a:t>=</a:t>
            </a:r>
            <a:r>
              <a:rPr sz="2000" b="1" i="1">
                <a:solidFill>
                  <a:srgbClr val="0070C0"/>
                </a:solidFill>
                <a:latin typeface="Times New Roman" panose="02020603050405020304" pitchFamily="18" charset="0"/>
                <a:ea typeface="黑体" panose="02010609060101010101" pitchFamily="49" charset="-122"/>
              </a:rPr>
              <a:t>x</a:t>
            </a:r>
            <a:r>
              <a:rPr sz="2000" b="1" baseline="-25000">
                <a:solidFill>
                  <a:srgbClr val="0070C0"/>
                </a:solidFill>
                <a:latin typeface="Times New Roman" panose="02020603050405020304" pitchFamily="18" charset="0"/>
                <a:ea typeface="黑体" panose="02010609060101010101" pitchFamily="49" charset="-122"/>
              </a:rPr>
              <a:t>1</a:t>
            </a:r>
            <a:r>
              <a:rPr sz="2000" b="1">
                <a:solidFill>
                  <a:srgbClr val="0070C0"/>
                </a:solidFill>
                <a:latin typeface="Times New Roman" panose="02020603050405020304" pitchFamily="18" charset="0"/>
                <a:ea typeface="黑体" panose="02010609060101010101" pitchFamily="49" charset="-122"/>
              </a:rPr>
              <a:t>)=0.99, </a:t>
            </a:r>
            <a:r>
              <a:rPr sz="2000" b="1" i="1">
                <a:solidFill>
                  <a:srgbClr val="0070C0"/>
                </a:solidFill>
                <a:latin typeface="Times New Roman" panose="02020603050405020304" pitchFamily="18" charset="0"/>
                <a:ea typeface="黑体" panose="02010609060101010101" pitchFamily="49" charset="-122"/>
              </a:rPr>
              <a:t>P</a:t>
            </a:r>
            <a:r>
              <a:rPr sz="2000" b="1">
                <a:solidFill>
                  <a:srgbClr val="0070C0"/>
                </a:solidFill>
                <a:latin typeface="Times New Roman" panose="02020603050405020304" pitchFamily="18" charset="0"/>
                <a:ea typeface="黑体" panose="02010609060101010101" pitchFamily="49" charset="-122"/>
              </a:rPr>
              <a:t>(</a:t>
            </a:r>
            <a:r>
              <a:rPr sz="2000" b="1" i="1">
                <a:solidFill>
                  <a:srgbClr val="0070C0"/>
                </a:solidFill>
                <a:latin typeface="Times New Roman" panose="02020603050405020304" pitchFamily="18" charset="0"/>
                <a:ea typeface="黑体" panose="02010609060101010101" pitchFamily="49" charset="-122"/>
              </a:rPr>
              <a:t>X</a:t>
            </a:r>
            <a:r>
              <a:rPr sz="2000" b="1">
                <a:solidFill>
                  <a:srgbClr val="0070C0"/>
                </a:solidFill>
                <a:latin typeface="Times New Roman" panose="02020603050405020304" pitchFamily="18" charset="0"/>
                <a:ea typeface="黑体" panose="02010609060101010101" pitchFamily="49" charset="-122"/>
              </a:rPr>
              <a:t>=</a:t>
            </a:r>
            <a:r>
              <a:rPr sz="2000" b="1" i="1">
                <a:solidFill>
                  <a:srgbClr val="0070C0"/>
                </a:solidFill>
                <a:latin typeface="Times New Roman" panose="02020603050405020304" pitchFamily="18" charset="0"/>
                <a:ea typeface="黑体" panose="02010609060101010101" pitchFamily="49" charset="-122"/>
              </a:rPr>
              <a:t>x</a:t>
            </a:r>
            <a:r>
              <a:rPr sz="2000" b="1" baseline="-25000">
                <a:solidFill>
                  <a:srgbClr val="0070C0"/>
                </a:solidFill>
                <a:latin typeface="Times New Roman" panose="02020603050405020304" pitchFamily="18" charset="0"/>
                <a:ea typeface="黑体" panose="02010609060101010101" pitchFamily="49" charset="-122"/>
              </a:rPr>
              <a:t>2</a:t>
            </a:r>
            <a:r>
              <a:rPr sz="2000" b="1">
                <a:solidFill>
                  <a:srgbClr val="0070C0"/>
                </a:solidFill>
                <a:latin typeface="Times New Roman" panose="02020603050405020304" pitchFamily="18" charset="0"/>
                <a:ea typeface="黑体" panose="02010609060101010101" pitchFamily="49" charset="-122"/>
              </a:rPr>
              <a:t>)=0.01, 变量</a:t>
            </a:r>
            <a:r>
              <a:rPr sz="2000" b="1" i="1">
                <a:solidFill>
                  <a:srgbClr val="0070C0"/>
                </a:solidFill>
                <a:latin typeface="Times New Roman" panose="02020603050405020304" pitchFamily="18" charset="0"/>
                <a:ea typeface="黑体" panose="02010609060101010101" pitchFamily="49" charset="-122"/>
              </a:rPr>
              <a:t>Y</a:t>
            </a:r>
            <a:r>
              <a:rPr sz="2000" b="1">
                <a:solidFill>
                  <a:srgbClr val="0070C0"/>
                </a:solidFill>
                <a:latin typeface="Times New Roman" panose="02020603050405020304" pitchFamily="18" charset="0"/>
                <a:ea typeface="黑体" panose="02010609060101010101" pitchFamily="49" charset="-122"/>
              </a:rPr>
              <a:t>，</a:t>
            </a:r>
            <a:r>
              <a:rPr sz="2000" b="1" i="1">
                <a:solidFill>
                  <a:srgbClr val="0070C0"/>
                </a:solidFill>
                <a:latin typeface="Times New Roman" panose="02020603050405020304" pitchFamily="18" charset="0"/>
                <a:ea typeface="黑体" panose="02010609060101010101" pitchFamily="49" charset="-122"/>
              </a:rPr>
              <a:t>P</a:t>
            </a:r>
            <a:r>
              <a:rPr sz="2000" b="1">
                <a:solidFill>
                  <a:srgbClr val="0070C0"/>
                </a:solidFill>
                <a:latin typeface="Times New Roman" panose="02020603050405020304" pitchFamily="18" charset="0"/>
                <a:ea typeface="黑体" panose="02010609060101010101" pitchFamily="49" charset="-122"/>
              </a:rPr>
              <a:t>(</a:t>
            </a:r>
            <a:r>
              <a:rPr sz="2000" b="1" i="1">
                <a:solidFill>
                  <a:srgbClr val="0070C0"/>
                </a:solidFill>
                <a:latin typeface="Times New Roman" panose="02020603050405020304" pitchFamily="18" charset="0"/>
                <a:ea typeface="黑体" panose="02010609060101010101" pitchFamily="49" charset="-122"/>
              </a:rPr>
              <a:t>Y</a:t>
            </a:r>
            <a:r>
              <a:rPr sz="2000" b="1">
                <a:solidFill>
                  <a:srgbClr val="0070C0"/>
                </a:solidFill>
                <a:latin typeface="Times New Roman" panose="02020603050405020304" pitchFamily="18" charset="0"/>
                <a:ea typeface="黑体" panose="02010609060101010101" pitchFamily="49" charset="-122"/>
              </a:rPr>
              <a:t>=</a:t>
            </a:r>
            <a:r>
              <a:rPr sz="2000" b="1" i="1">
                <a:solidFill>
                  <a:srgbClr val="0070C0"/>
                </a:solidFill>
                <a:latin typeface="Times New Roman" panose="02020603050405020304" pitchFamily="18" charset="0"/>
                <a:ea typeface="黑体" panose="02010609060101010101" pitchFamily="49" charset="-122"/>
              </a:rPr>
              <a:t>y</a:t>
            </a:r>
            <a:r>
              <a:rPr sz="2000" b="1" baseline="-25000">
                <a:solidFill>
                  <a:srgbClr val="0070C0"/>
                </a:solidFill>
                <a:latin typeface="Times New Roman" panose="02020603050405020304" pitchFamily="18" charset="0"/>
                <a:ea typeface="黑体" panose="02010609060101010101" pitchFamily="49" charset="-122"/>
              </a:rPr>
              <a:t>1</a:t>
            </a:r>
            <a:r>
              <a:rPr sz="2000" b="1">
                <a:solidFill>
                  <a:srgbClr val="0070C0"/>
                </a:solidFill>
                <a:latin typeface="Times New Roman" panose="02020603050405020304" pitchFamily="18" charset="0"/>
                <a:ea typeface="黑体" panose="02010609060101010101" pitchFamily="49" charset="-122"/>
              </a:rPr>
              <a:t>)=0.5, </a:t>
            </a:r>
            <a:r>
              <a:rPr sz="2000" b="1" i="1">
                <a:solidFill>
                  <a:srgbClr val="0070C0"/>
                </a:solidFill>
                <a:latin typeface="Times New Roman" panose="02020603050405020304" pitchFamily="18" charset="0"/>
                <a:ea typeface="黑体" panose="02010609060101010101" pitchFamily="49" charset="-122"/>
              </a:rPr>
              <a:t>P</a:t>
            </a:r>
            <a:r>
              <a:rPr sz="2000" b="1">
                <a:solidFill>
                  <a:srgbClr val="0070C0"/>
                </a:solidFill>
                <a:latin typeface="Times New Roman" panose="02020603050405020304" pitchFamily="18" charset="0"/>
                <a:ea typeface="黑体" panose="02010609060101010101" pitchFamily="49" charset="-122"/>
              </a:rPr>
              <a:t>(</a:t>
            </a:r>
            <a:r>
              <a:rPr sz="2000" b="1" i="1">
                <a:solidFill>
                  <a:srgbClr val="0070C0"/>
                </a:solidFill>
                <a:latin typeface="Times New Roman" panose="02020603050405020304" pitchFamily="18" charset="0"/>
                <a:ea typeface="黑体" panose="02010609060101010101" pitchFamily="49" charset="-122"/>
              </a:rPr>
              <a:t>Y</a:t>
            </a:r>
            <a:r>
              <a:rPr sz="2000" b="1">
                <a:solidFill>
                  <a:srgbClr val="0070C0"/>
                </a:solidFill>
                <a:latin typeface="Times New Roman" panose="02020603050405020304" pitchFamily="18" charset="0"/>
                <a:ea typeface="黑体" panose="02010609060101010101" pitchFamily="49" charset="-122"/>
              </a:rPr>
              <a:t>=</a:t>
            </a:r>
            <a:r>
              <a:rPr sz="2000" b="1" i="1">
                <a:solidFill>
                  <a:srgbClr val="0070C0"/>
                </a:solidFill>
                <a:latin typeface="Times New Roman" panose="02020603050405020304" pitchFamily="18" charset="0"/>
                <a:ea typeface="黑体" panose="02010609060101010101" pitchFamily="49" charset="-122"/>
              </a:rPr>
              <a:t>y</a:t>
            </a:r>
            <a:r>
              <a:rPr sz="2000" b="1" baseline="-25000">
                <a:solidFill>
                  <a:srgbClr val="0070C0"/>
                </a:solidFill>
                <a:latin typeface="Times New Roman" panose="02020603050405020304" pitchFamily="18" charset="0"/>
                <a:ea typeface="黑体" panose="02010609060101010101" pitchFamily="49" charset="-122"/>
              </a:rPr>
              <a:t>2</a:t>
            </a:r>
            <a:r>
              <a:rPr sz="2000" b="1">
                <a:solidFill>
                  <a:srgbClr val="0070C0"/>
                </a:solidFill>
                <a:latin typeface="Times New Roman" panose="02020603050405020304" pitchFamily="18" charset="0"/>
                <a:ea typeface="黑体" panose="02010609060101010101" pitchFamily="49" charset="-122"/>
              </a:rPr>
              <a:t>)=0.5, 则信息熵为</a:t>
            </a:r>
            <a:r>
              <a:rPr sz="2000" b="1" i="1">
                <a:solidFill>
                  <a:srgbClr val="0070C0"/>
                </a:solidFill>
                <a:latin typeface="Times New Roman" panose="02020603050405020304" pitchFamily="18" charset="0"/>
                <a:ea typeface="黑体" panose="02010609060101010101" pitchFamily="49" charset="-122"/>
              </a:rPr>
              <a:t>H</a:t>
            </a:r>
            <a:r>
              <a:rPr sz="2000" b="1">
                <a:solidFill>
                  <a:srgbClr val="0070C0"/>
                </a:solidFill>
                <a:latin typeface="Times New Roman" panose="02020603050405020304" pitchFamily="18" charset="0"/>
                <a:ea typeface="黑体" panose="02010609060101010101" pitchFamily="49" charset="-122"/>
              </a:rPr>
              <a:t>(</a:t>
            </a:r>
            <a:r>
              <a:rPr sz="2000" b="1" i="1">
                <a:solidFill>
                  <a:srgbClr val="0070C0"/>
                </a:solidFill>
                <a:latin typeface="Times New Roman" panose="02020603050405020304" pitchFamily="18" charset="0"/>
                <a:ea typeface="黑体" panose="02010609060101010101" pitchFamily="49" charset="-122"/>
              </a:rPr>
              <a:t>X</a:t>
            </a:r>
            <a:r>
              <a:rPr sz="2000" b="1">
                <a:solidFill>
                  <a:srgbClr val="0070C0"/>
                </a:solidFill>
                <a:latin typeface="Times New Roman" panose="02020603050405020304" pitchFamily="18" charset="0"/>
                <a:ea typeface="黑体" panose="02010609060101010101" pitchFamily="49" charset="-122"/>
              </a:rPr>
              <a:t>)=-0.99log0.99-0.01log0.01=0.08(比特/符号)</a:t>
            </a:r>
            <a:r>
              <a:rPr lang="zh-CN" sz="2000" b="1">
                <a:solidFill>
                  <a:srgbClr val="0070C0"/>
                </a:solidFill>
                <a:latin typeface="Times New Roman" panose="02020603050405020304" pitchFamily="18" charset="0"/>
                <a:ea typeface="黑体" panose="02010609060101010101" pitchFamily="49" charset="-122"/>
              </a:rPr>
              <a:t>，</a:t>
            </a:r>
            <a:endParaRPr sz="2000" b="1">
              <a:solidFill>
                <a:srgbClr val="0070C0"/>
              </a:solidFill>
              <a:latin typeface="Times New Roman" panose="02020603050405020304" pitchFamily="18" charset="0"/>
              <a:ea typeface="黑体" panose="02010609060101010101" pitchFamily="49" charset="-122"/>
            </a:endParaRPr>
          </a:p>
          <a:p>
            <a:pPr algn="just">
              <a:lnSpc>
                <a:spcPct val="120000"/>
              </a:lnSpc>
              <a:spcBef>
                <a:spcPts val="0"/>
              </a:spcBef>
              <a:buClr>
                <a:schemeClr val="hlink"/>
              </a:buClr>
              <a:buSzPct val="65000"/>
            </a:pPr>
            <a:r>
              <a:rPr sz="2000" b="1" i="1">
                <a:solidFill>
                  <a:srgbClr val="0070C0"/>
                </a:solidFill>
                <a:latin typeface="Times New Roman" panose="02020603050405020304" pitchFamily="18" charset="0"/>
                <a:ea typeface="黑体" panose="02010609060101010101" pitchFamily="49" charset="-122"/>
              </a:rPr>
              <a:t>H</a:t>
            </a:r>
            <a:r>
              <a:rPr sz="2000" b="1">
                <a:solidFill>
                  <a:srgbClr val="0070C0"/>
                </a:solidFill>
                <a:latin typeface="Times New Roman" panose="02020603050405020304" pitchFamily="18" charset="0"/>
                <a:ea typeface="黑体" panose="02010609060101010101" pitchFamily="49" charset="-122"/>
              </a:rPr>
              <a:t>(</a:t>
            </a:r>
            <a:r>
              <a:rPr sz="2000" b="1" i="1">
                <a:solidFill>
                  <a:srgbClr val="0070C0"/>
                </a:solidFill>
                <a:latin typeface="Times New Roman" panose="02020603050405020304" pitchFamily="18" charset="0"/>
                <a:ea typeface="黑体" panose="02010609060101010101" pitchFamily="49" charset="-122"/>
              </a:rPr>
              <a:t>Y</a:t>
            </a:r>
            <a:r>
              <a:rPr sz="2000" b="1">
                <a:solidFill>
                  <a:srgbClr val="0070C0"/>
                </a:solidFill>
                <a:latin typeface="Times New Roman" panose="02020603050405020304" pitchFamily="18" charset="0"/>
                <a:ea typeface="黑体" panose="02010609060101010101" pitchFamily="49" charset="-122"/>
              </a:rPr>
              <a:t>)=-0.5log0.5-0.5log0.5=1(比特/符号)</a:t>
            </a:r>
            <a:r>
              <a:rPr lang="zh-CN" sz="2000" b="1">
                <a:solidFill>
                  <a:srgbClr val="0070C0"/>
                </a:solidFill>
                <a:latin typeface="Times New Roman" panose="02020603050405020304" pitchFamily="18" charset="0"/>
                <a:ea typeface="黑体" panose="02010609060101010101" pitchFamily="49" charset="-122"/>
              </a:rPr>
              <a:t>。</a:t>
            </a:r>
            <a:endParaRPr lang="zh-CN" sz="2000" b="1">
              <a:solidFill>
                <a:srgbClr val="0070C0"/>
              </a:solidFill>
              <a:latin typeface="Times New Roman" panose="02020603050405020304" pitchFamily="18" charset="0"/>
              <a:ea typeface="黑体" panose="02010609060101010101" pitchFamily="49" charset="-122"/>
            </a:endParaRPr>
          </a:p>
        </p:txBody>
      </p:sp>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平均条件自信息量(条件熵)</a:t>
            </a:r>
            <a:endParaRPr lang="zh-CN" altLang="en-US"/>
          </a:p>
        </p:txBody>
      </p:sp>
      <p:sp>
        <p:nvSpPr>
          <p:cNvPr id="3" name="内容占位符 2"/>
          <p:cNvSpPr>
            <a:spLocks noGrp="1"/>
          </p:cNvSpPr>
          <p:nvPr>
            <p:ph idx="1"/>
          </p:nvPr>
        </p:nvSpPr>
        <p:spPr>
          <a:xfrm>
            <a:off x="608330" y="1490345"/>
            <a:ext cx="10831830" cy="672465"/>
          </a:xfrm>
        </p:spPr>
        <p:txBody>
          <a:bodyPr>
            <a:noAutofit/>
          </a:bodyPr>
          <a:p>
            <a:r>
              <a:rPr lang="zh-CN" sz="2400" b="1">
                <a:solidFill>
                  <a:schemeClr val="accent6">
                    <a:lumMod val="75000"/>
                  </a:schemeClr>
                </a:solidFill>
                <a:sym typeface="+mn-ea"/>
              </a:rPr>
              <a:t>定义</a:t>
            </a:r>
            <a:r>
              <a:rPr sz="2400">
                <a:sym typeface="+mn-ea"/>
              </a:rPr>
              <a:t>：平均条件自信息</a:t>
            </a:r>
            <a:r>
              <a:rPr sz="2400" i="1">
                <a:latin typeface="Times New Roman" panose="02020603050405020304" pitchFamily="18" charset="0"/>
                <a:cs typeface="Times New Roman" panose="02020603050405020304" pitchFamily="18" charset="0"/>
                <a:sym typeface="+mn-ea"/>
              </a:rPr>
              <a:t>H</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Y</a:t>
            </a:r>
            <a:r>
              <a:rPr sz="2400">
                <a:latin typeface="Times New Roman" panose="02020603050405020304" pitchFamily="18" charset="0"/>
                <a:cs typeface="Times New Roman" panose="02020603050405020304" pitchFamily="18" charset="0"/>
                <a:sym typeface="+mn-ea"/>
              </a:rPr>
              <a:t>)</a:t>
            </a:r>
            <a:r>
              <a:rPr sz="2400">
                <a:sym typeface="+mn-ea"/>
              </a:rPr>
              <a:t>定义为</a:t>
            </a:r>
            <a:endParaRPr sz="2400">
              <a:sym typeface="+mn-ea"/>
            </a:endParaRPr>
          </a:p>
        </p:txBody>
      </p:sp>
      <p:graphicFrame>
        <p:nvGraphicFramePr>
          <p:cNvPr id="5" name="对象 4">
            <a:hlinkClick r:id="" action="ppaction://ole?verb="/>
          </p:cNvPr>
          <p:cNvGraphicFramePr>
            <a:graphicFrameLocks noChangeAspect="1"/>
          </p:cNvGraphicFramePr>
          <p:nvPr/>
        </p:nvGraphicFramePr>
        <p:xfrm>
          <a:off x="3664585" y="2339340"/>
          <a:ext cx="4507230" cy="921385"/>
        </p:xfrm>
        <a:graphic>
          <a:graphicData uri="http://schemas.openxmlformats.org/presentationml/2006/ole">
            <mc:AlternateContent xmlns:mc="http://schemas.openxmlformats.org/markup-compatibility/2006">
              <mc:Choice xmlns:v="urn:schemas-microsoft-com:vml" Requires="v">
                <p:oleObj spid="_x0000_s6" name="" r:id="rId1" imgW="2222500" imgH="482600" progId="Equation.KSEE3">
                  <p:embed/>
                </p:oleObj>
              </mc:Choice>
              <mc:Fallback>
                <p:oleObj name="" r:id="rId1" imgW="2222500" imgH="482600" progId="Equation.KSEE3">
                  <p:embed/>
                  <p:pic>
                    <p:nvPicPr>
                      <p:cNvPr id="0" name="图片 2048"/>
                      <p:cNvPicPr/>
                      <p:nvPr/>
                    </p:nvPicPr>
                    <p:blipFill>
                      <a:blip r:embed="rId2"/>
                      <a:stretch>
                        <a:fillRect/>
                      </a:stretch>
                    </p:blipFill>
                    <p:spPr>
                      <a:xfrm>
                        <a:off x="3664585" y="2339340"/>
                        <a:ext cx="4507230" cy="921385"/>
                      </a:xfrm>
                      <a:prstGeom prst="rect">
                        <a:avLst/>
                      </a:prstGeom>
                    </p:spPr>
                  </p:pic>
                </p:oleObj>
              </mc:Fallback>
            </mc:AlternateContent>
          </a:graphicData>
        </a:graphic>
      </p:graphicFrame>
      <p:sp>
        <p:nvSpPr>
          <p:cNvPr id="9" name="矩形 8"/>
          <p:cNvSpPr/>
          <p:nvPr/>
        </p:nvSpPr>
        <p:spPr>
          <a:xfrm>
            <a:off x="2305685" y="3801110"/>
            <a:ext cx="7607300" cy="57023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10" name="文本框 9"/>
          <p:cNvSpPr txBox="1"/>
          <p:nvPr/>
        </p:nvSpPr>
        <p:spPr>
          <a:xfrm>
            <a:off x="2467610" y="3827780"/>
            <a:ext cx="7345680" cy="460375"/>
          </a:xfrm>
          <a:prstGeom prst="rect">
            <a:avLst/>
          </a:prstGeom>
          <a:noFill/>
        </p:spPr>
        <p:txBody>
          <a:bodyPr wrap="square" rtlCol="0" anchor="t">
            <a:spAutoFit/>
          </a:bodyPr>
          <a:p>
            <a:pPr algn="just">
              <a:lnSpc>
                <a:spcPct val="120000"/>
              </a:lnSpc>
              <a:spcBef>
                <a:spcPts val="0"/>
              </a:spcBef>
              <a:buClr>
                <a:schemeClr val="hlink"/>
              </a:buClr>
              <a:buSzPct val="65000"/>
            </a:pPr>
            <a:r>
              <a:rPr sz="2000" b="1">
                <a:solidFill>
                  <a:srgbClr val="FF0000"/>
                </a:solidFill>
                <a:latin typeface="楷体" panose="02010609060101010101" charset="-122"/>
                <a:ea typeface="楷体" panose="02010609060101010101" charset="-122"/>
              </a:rPr>
              <a:t>思考题：</a:t>
            </a:r>
            <a:r>
              <a:rPr sz="2000" b="1">
                <a:latin typeface="Times New Roman" panose="02020603050405020304" pitchFamily="18" charset="0"/>
                <a:ea typeface="黑体" panose="02010609060101010101" pitchFamily="49" charset="-122"/>
                <a:cs typeface="Times New Roman" panose="02020603050405020304" pitchFamily="18" charset="0"/>
              </a:rPr>
              <a:t>计算二元对称(BSC)信道的平均条件自信息量(条件熵)</a:t>
            </a:r>
            <a:r>
              <a:rPr lang="en-US" sz="2000" b="1">
                <a:latin typeface="Times New Roman" panose="02020603050405020304" pitchFamily="18" charset="0"/>
                <a:ea typeface="黑体" panose="02010609060101010101" pitchFamily="49" charset="-122"/>
                <a:cs typeface="Times New Roman" panose="02020603050405020304" pitchFamily="18" charset="0"/>
              </a:rPr>
              <a:t>?</a:t>
            </a:r>
            <a:endParaRPr lang="en-US" sz="20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本章授课</a:t>
            </a:r>
            <a:r>
              <a:rPr lang="zh-CN" altLang="en-US"/>
              <a:t>内容</a:t>
            </a:r>
            <a:endParaRPr lang="zh-CN" altLang="en-US"/>
          </a:p>
        </p:txBody>
      </p:sp>
      <p:sp>
        <p:nvSpPr>
          <p:cNvPr id="3" name="内容占位符 2"/>
          <p:cNvSpPr>
            <a:spLocks noGrp="1"/>
          </p:cNvSpPr>
          <p:nvPr>
            <p:ph idx="1"/>
          </p:nvPr>
        </p:nvSpPr>
        <p:spPr>
          <a:xfrm>
            <a:off x="608330" y="1550035"/>
            <a:ext cx="10749915" cy="3526790"/>
          </a:xfrm>
        </p:spPr>
        <p:txBody>
          <a:bodyPr>
            <a:noAutofit/>
          </a:bodyPr>
          <a:p>
            <a:pPr>
              <a:lnSpc>
                <a:spcPct val="200000"/>
              </a:lnSpc>
            </a:pPr>
            <a:r>
              <a:rPr sz="2400">
                <a:solidFill>
                  <a:schemeClr val="bg1">
                    <a:lumMod val="75000"/>
                  </a:schemeClr>
                </a:solidFill>
              </a:rPr>
              <a:t>信息论涉及的一些基础概念及其数学定义</a:t>
            </a:r>
            <a:endParaRPr sz="2400">
              <a:solidFill>
                <a:schemeClr val="accent1"/>
              </a:solidFill>
            </a:endParaRPr>
          </a:p>
          <a:p>
            <a:pPr algn="l">
              <a:lnSpc>
                <a:spcPct val="200000"/>
              </a:lnSpc>
              <a:buClrTx/>
              <a:buSzTx/>
            </a:pPr>
            <a:r>
              <a:rPr lang="zh-CN" sz="2400">
                <a:solidFill>
                  <a:schemeClr val="accent1"/>
                </a:solidFill>
              </a:rPr>
              <a:t>无失真信源编码</a:t>
            </a:r>
            <a:endParaRPr sz="2400">
              <a:solidFill>
                <a:schemeClr val="bg1">
                  <a:lumMod val="75000"/>
                </a:schemeClr>
              </a:solidFill>
            </a:endParaRPr>
          </a:p>
          <a:p>
            <a:pPr>
              <a:lnSpc>
                <a:spcPct val="200000"/>
              </a:lnSpc>
            </a:pPr>
            <a:r>
              <a:rPr sz="2400">
                <a:solidFill>
                  <a:schemeClr val="bg1">
                    <a:lumMod val="75000"/>
                  </a:schemeClr>
                </a:solidFill>
              </a:rPr>
              <a:t>经典的信源编码方法</a:t>
            </a:r>
            <a:endParaRPr sz="2400">
              <a:solidFill>
                <a:schemeClr val="accent1"/>
              </a:solidFill>
            </a:endParaRPr>
          </a:p>
          <a:p>
            <a:pPr>
              <a:lnSpc>
                <a:spcPct val="200000"/>
              </a:lnSpc>
            </a:pPr>
            <a:r>
              <a:rPr sz="2400">
                <a:solidFill>
                  <a:schemeClr val="bg1">
                    <a:lumMod val="75000"/>
                  </a:schemeClr>
                </a:solidFill>
              </a:rPr>
              <a:t>纠错码的理论基础</a:t>
            </a:r>
            <a:endParaRPr lang="zh-CN" sz="2400">
              <a:solidFill>
                <a:schemeClr val="accent1"/>
              </a:solidFill>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等长信源编码定理</a:t>
            </a:r>
            <a:endParaRPr lang="zh-CN" altLang="en-US"/>
          </a:p>
        </p:txBody>
      </p:sp>
      <p:sp>
        <p:nvSpPr>
          <p:cNvPr id="3" name="内容占位符 2"/>
          <p:cNvSpPr>
            <a:spLocks noGrp="1"/>
          </p:cNvSpPr>
          <p:nvPr>
            <p:ph idx="1"/>
          </p:nvPr>
        </p:nvSpPr>
        <p:spPr>
          <a:xfrm>
            <a:off x="608330" y="1490345"/>
            <a:ext cx="10831830" cy="3702050"/>
          </a:xfrm>
        </p:spPr>
        <p:txBody>
          <a:bodyPr>
            <a:noAutofit/>
          </a:bodyPr>
          <a:p>
            <a:r>
              <a:rPr lang="zh-CN" sz="2400" b="1">
                <a:solidFill>
                  <a:schemeClr val="accent6">
                    <a:lumMod val="75000"/>
                  </a:schemeClr>
                </a:solidFill>
                <a:sym typeface="+mn-ea"/>
              </a:rPr>
              <a:t>定理</a:t>
            </a:r>
            <a:r>
              <a:rPr sz="2400">
                <a:sym typeface="+mn-ea"/>
              </a:rPr>
              <a:t>: 一个熵为</a:t>
            </a:r>
            <a:r>
              <a:rPr sz="2400" i="1">
                <a:latin typeface="Times New Roman" panose="02020603050405020304" pitchFamily="18" charset="0"/>
                <a:cs typeface="Times New Roman" panose="02020603050405020304" pitchFamily="18" charset="0"/>
                <a:sym typeface="+mn-ea"/>
              </a:rPr>
              <a:t>H</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a:sym typeface="+mn-ea"/>
              </a:rPr>
              <a:t>的离散无记忆信源，若对信源长为</a:t>
            </a:r>
            <a:r>
              <a:rPr sz="2400" i="1">
                <a:latin typeface="Times New Roman" panose="02020603050405020304" pitchFamily="18" charset="0"/>
                <a:cs typeface="Times New Roman" panose="02020603050405020304" pitchFamily="18" charset="0"/>
                <a:sym typeface="+mn-ea"/>
              </a:rPr>
              <a:t>N</a:t>
            </a:r>
            <a:r>
              <a:rPr sz="2400">
                <a:sym typeface="+mn-ea"/>
              </a:rPr>
              <a:t>的符号序列进行等长编码，设码字是从</a:t>
            </a:r>
            <a:r>
              <a:rPr sz="2400" i="1">
                <a:latin typeface="Times New Roman" panose="02020603050405020304" pitchFamily="18" charset="0"/>
                <a:cs typeface="Times New Roman" panose="02020603050405020304" pitchFamily="18" charset="0"/>
                <a:sym typeface="+mn-ea"/>
              </a:rPr>
              <a:t>r</a:t>
            </a:r>
            <a:r>
              <a:rPr sz="2400">
                <a:sym typeface="+mn-ea"/>
              </a:rPr>
              <a:t>个字母的码符号集合中，选取</a:t>
            </a:r>
            <a:r>
              <a:rPr sz="2400" i="1">
                <a:latin typeface="Times New Roman" panose="02020603050405020304" pitchFamily="18" charset="0"/>
                <a:cs typeface="Times New Roman" panose="02020603050405020304" pitchFamily="18" charset="0"/>
                <a:sym typeface="+mn-ea"/>
              </a:rPr>
              <a:t>l</a:t>
            </a:r>
            <a:r>
              <a:rPr sz="2400">
                <a:sym typeface="+mn-ea"/>
              </a:rPr>
              <a:t>个码元组成。对于任意的</a:t>
            </a:r>
            <a:r>
              <a:rPr sz="2400" i="1">
                <a:latin typeface="Times New Roman" panose="02020603050405020304" pitchFamily="18" charset="0"/>
                <a:cs typeface="Times New Roman" panose="02020603050405020304" pitchFamily="18" charset="0"/>
                <a:sym typeface="+mn-ea"/>
              </a:rPr>
              <a:t>ε</a:t>
            </a:r>
            <a:r>
              <a:rPr sz="2400">
                <a:latin typeface="Times New Roman" panose="02020603050405020304" pitchFamily="18" charset="0"/>
                <a:cs typeface="Times New Roman" panose="02020603050405020304" pitchFamily="18" charset="0"/>
                <a:sym typeface="+mn-ea"/>
              </a:rPr>
              <a:t>&gt;0</a:t>
            </a:r>
            <a:r>
              <a:rPr sz="2400">
                <a:sym typeface="+mn-ea"/>
              </a:rPr>
              <a:t>，只要满足</a:t>
            </a:r>
            <a:endParaRPr sz="2400">
              <a:sym typeface="+mn-ea"/>
            </a:endParaRPr>
          </a:p>
          <a:p>
            <a:endParaRPr sz="2400">
              <a:sym typeface="+mn-ea"/>
            </a:endParaRPr>
          </a:p>
          <a:p>
            <a:endParaRPr sz="2400">
              <a:sym typeface="+mn-ea"/>
            </a:endParaRPr>
          </a:p>
          <a:p>
            <a:pPr marL="0" indent="0">
              <a:buNone/>
            </a:pPr>
            <a:r>
              <a:rPr lang="en-US" sz="2400">
                <a:sym typeface="+mn-ea"/>
              </a:rPr>
              <a:t>  </a:t>
            </a:r>
            <a:r>
              <a:rPr sz="2400">
                <a:sym typeface="+mn-ea"/>
              </a:rPr>
              <a:t>则当</a:t>
            </a:r>
            <a:r>
              <a:rPr sz="2400" i="1">
                <a:latin typeface="Times New Roman" panose="02020603050405020304" pitchFamily="18" charset="0"/>
                <a:cs typeface="Times New Roman" panose="02020603050405020304" pitchFamily="18" charset="0"/>
                <a:sym typeface="+mn-ea"/>
              </a:rPr>
              <a:t>N</a:t>
            </a:r>
            <a:r>
              <a:rPr sz="2400">
                <a:sym typeface="+mn-ea"/>
              </a:rPr>
              <a:t>足够大时，可实现几乎无失真编码，即译码错误概率可为任意小。</a:t>
            </a:r>
            <a:endParaRPr sz="2400">
              <a:sym typeface="+mn-ea"/>
            </a:endParaRPr>
          </a:p>
        </p:txBody>
      </p:sp>
      <p:graphicFrame>
        <p:nvGraphicFramePr>
          <p:cNvPr id="5" name="对象 4">
            <a:hlinkClick r:id="" action="ppaction://ole?verb="/>
          </p:cNvPr>
          <p:cNvGraphicFramePr>
            <a:graphicFrameLocks noChangeAspect="1"/>
          </p:cNvGraphicFramePr>
          <p:nvPr/>
        </p:nvGraphicFramePr>
        <p:xfrm>
          <a:off x="4951730" y="3207385"/>
          <a:ext cx="1931670" cy="800735"/>
        </p:xfrm>
        <a:graphic>
          <a:graphicData uri="http://schemas.openxmlformats.org/presentationml/2006/ole">
            <mc:AlternateContent xmlns:mc="http://schemas.openxmlformats.org/markup-compatibility/2006">
              <mc:Choice xmlns:v="urn:schemas-microsoft-com:vml" Requires="v">
                <p:oleObj spid="_x0000_s6" name="" r:id="rId1" imgW="952500" imgH="419100" progId="Equation.KSEE3">
                  <p:embed/>
                </p:oleObj>
              </mc:Choice>
              <mc:Fallback>
                <p:oleObj name="" r:id="rId1" imgW="952500" imgH="419100" progId="Equation.KSEE3">
                  <p:embed/>
                  <p:pic>
                    <p:nvPicPr>
                      <p:cNvPr id="0" name="图片 2048"/>
                      <p:cNvPicPr/>
                      <p:nvPr/>
                    </p:nvPicPr>
                    <p:blipFill>
                      <a:blip r:embed="rId2"/>
                      <a:stretch>
                        <a:fillRect/>
                      </a:stretch>
                    </p:blipFill>
                    <p:spPr>
                      <a:xfrm>
                        <a:off x="4951730" y="3207385"/>
                        <a:ext cx="1931670" cy="800735"/>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变长码</a:t>
            </a:r>
            <a:endParaRPr lang="zh-CN" altLang="en-US"/>
          </a:p>
        </p:txBody>
      </p:sp>
      <p:graphicFrame>
        <p:nvGraphicFramePr>
          <p:cNvPr id="228426" name="内容占位符 228425"/>
          <p:cNvGraphicFramePr/>
          <p:nvPr>
            <p:ph idx="1"/>
            <p:custDataLst>
              <p:tags r:id="rId1"/>
            </p:custDataLst>
          </p:nvPr>
        </p:nvGraphicFramePr>
        <p:xfrm>
          <a:off x="1044575" y="2069148"/>
          <a:ext cx="5407025" cy="2286000"/>
        </p:xfrm>
        <a:graphic>
          <a:graphicData uri="http://schemas.openxmlformats.org/drawingml/2006/table">
            <a:tbl>
              <a:tblPr/>
              <a:tblGrid>
                <a:gridCol w="1352550"/>
                <a:gridCol w="1350963"/>
                <a:gridCol w="1352550"/>
                <a:gridCol w="1350962"/>
              </a:tblGrid>
              <a:tr h="455613">
                <a:tc>
                  <a:txBody>
                    <a:bodyPr/>
                    <a:p>
                      <a:pPr marL="0" lvl="0" indent="0">
                        <a:buNone/>
                      </a:pPr>
                      <a:r>
                        <a:rPr lang="zh-CN" altLang="en-US" sz="2400" b="1" dirty="0">
                          <a:ea typeface="黑体" panose="02010609060101010101" pitchFamily="49" charset="-122"/>
                        </a:rPr>
                        <a:t>字母</a:t>
                      </a:r>
                      <a:endParaRPr lang="zh-CN" altLang="en-US" sz="2400" b="1" dirty="0">
                        <a:ea typeface="黑体" panose="02010609060101010101" pitchFamily="49"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indent="0">
                        <a:buNone/>
                      </a:pPr>
                      <a:r>
                        <a:rPr lang="zh-CN" altLang="en-US" sz="2400" b="1" dirty="0">
                          <a:ea typeface="黑体" panose="02010609060101010101" pitchFamily="49" charset="-122"/>
                        </a:rPr>
                        <a:t>码字</a:t>
                      </a:r>
                      <a:endParaRPr lang="zh-CN" altLang="en-US" sz="2400" b="1" dirty="0">
                        <a:ea typeface="黑体" panose="02010609060101010101"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indent="0">
                        <a:buNone/>
                      </a:pPr>
                      <a:r>
                        <a:rPr lang="zh-CN" altLang="en-US" sz="2400" b="1" dirty="0">
                          <a:ea typeface="黑体" panose="02010609060101010101" pitchFamily="49" charset="-122"/>
                        </a:rPr>
                        <a:t>字母</a:t>
                      </a:r>
                      <a:endParaRPr lang="zh-CN" altLang="en-US" sz="2400" b="1" dirty="0">
                        <a:ea typeface="黑体" panose="02010609060101010101"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indent="0">
                        <a:buNone/>
                      </a:pPr>
                      <a:r>
                        <a:rPr lang="zh-CN" altLang="en-US" sz="2400" b="1" dirty="0">
                          <a:ea typeface="黑体" panose="02010609060101010101" pitchFamily="49" charset="-122"/>
                        </a:rPr>
                        <a:t>码字</a:t>
                      </a:r>
                      <a:endParaRPr lang="zh-CN" altLang="en-US" sz="2400" b="1" dirty="0">
                        <a:ea typeface="黑体" panose="02010609060101010101" pitchFamily="49"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5612">
                <a:tc>
                  <a:txBody>
                    <a:bodyPr/>
                    <a:p>
                      <a:pPr marL="0" lvl="0" indent="0">
                        <a:buNone/>
                      </a:pPr>
                      <a:r>
                        <a:rPr lang="en-US" altLang="zh-CN" sz="2400">
                          <a:latin typeface="Times New Roman" panose="02020603050405020304" pitchFamily="18" charset="0"/>
                        </a:rPr>
                        <a:t>A</a:t>
                      </a:r>
                      <a:endParaRPr lang="zh-CN" altLang="en-US" sz="240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indent="0">
                        <a:buNone/>
                      </a:pPr>
                      <a:r>
                        <a:rPr lang="en-US" altLang="zh-CN" sz="2400">
                          <a:latin typeface="Times New Roman" panose="02020603050405020304" pitchFamily="18" charset="0"/>
                        </a:rPr>
                        <a:t>0</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indent="0">
                        <a:buNone/>
                      </a:pPr>
                      <a:r>
                        <a:rPr lang="en-US" altLang="zh-CN" sz="2400">
                          <a:latin typeface="Times New Roman" panose="02020603050405020304" pitchFamily="18" charset="0"/>
                        </a:rPr>
                        <a:t>E</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indent="0">
                        <a:buNone/>
                      </a:pPr>
                      <a:r>
                        <a:rPr lang="en-US" altLang="zh-CN" sz="2400">
                          <a:latin typeface="Times New Roman" panose="02020603050405020304" pitchFamily="18" charset="0"/>
                        </a:rPr>
                        <a:t>10</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5613">
                <a:tc>
                  <a:txBody>
                    <a:bodyPr/>
                    <a:p>
                      <a:pPr marL="0" lvl="0" indent="0">
                        <a:buNone/>
                      </a:pPr>
                      <a:r>
                        <a:rPr lang="en-US" altLang="zh-CN" sz="2400">
                          <a:latin typeface="Times New Roman" panose="02020603050405020304" pitchFamily="18" charset="0"/>
                        </a:rPr>
                        <a:t>B</a:t>
                      </a:r>
                      <a:endParaRPr lang="zh-CN" altLang="en-US" sz="240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indent="0">
                        <a:buNone/>
                      </a:pPr>
                      <a:r>
                        <a:rPr lang="en-US" altLang="zh-CN" sz="2400">
                          <a:latin typeface="Times New Roman" panose="02020603050405020304" pitchFamily="18" charset="0"/>
                        </a:rPr>
                        <a:t>1</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indent="0">
                        <a:buNone/>
                      </a:pPr>
                      <a:r>
                        <a:rPr lang="en-US" altLang="zh-CN" sz="2400">
                          <a:latin typeface="Times New Roman" panose="02020603050405020304" pitchFamily="18" charset="0"/>
                        </a:rPr>
                        <a:t>F</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indent="0">
                        <a:buNone/>
                      </a:pPr>
                      <a:r>
                        <a:rPr lang="en-US" altLang="zh-CN" sz="2400">
                          <a:latin typeface="Times New Roman" panose="02020603050405020304" pitchFamily="18" charset="0"/>
                        </a:rPr>
                        <a:t>11</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5612">
                <a:tc>
                  <a:txBody>
                    <a:bodyPr/>
                    <a:p>
                      <a:pPr marL="0" lvl="0" indent="0">
                        <a:buNone/>
                      </a:pPr>
                      <a:r>
                        <a:rPr lang="en-US" altLang="zh-CN" sz="2400">
                          <a:latin typeface="Times New Roman" panose="02020603050405020304" pitchFamily="18" charset="0"/>
                        </a:rPr>
                        <a:t>C</a:t>
                      </a:r>
                      <a:endParaRPr lang="zh-CN" altLang="en-US" sz="240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indent="0">
                        <a:buNone/>
                      </a:pPr>
                      <a:r>
                        <a:rPr lang="en-US" altLang="zh-CN" sz="2400">
                          <a:latin typeface="Times New Roman" panose="02020603050405020304" pitchFamily="18" charset="0"/>
                        </a:rPr>
                        <a:t>00</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indent="0">
                        <a:buNone/>
                      </a:pPr>
                      <a:r>
                        <a:rPr lang="en-US" altLang="zh-CN" sz="2400">
                          <a:latin typeface="Times New Roman" panose="02020603050405020304" pitchFamily="18" charset="0"/>
                        </a:rPr>
                        <a:t>G</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indent="0">
                        <a:buNone/>
                      </a:pPr>
                      <a:r>
                        <a:rPr lang="en-US" altLang="zh-CN" sz="2400">
                          <a:latin typeface="Times New Roman" panose="02020603050405020304" pitchFamily="18" charset="0"/>
                        </a:rPr>
                        <a:t>000</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5613">
                <a:tc>
                  <a:txBody>
                    <a:bodyPr/>
                    <a:p>
                      <a:pPr marL="0" lvl="0" indent="0">
                        <a:buNone/>
                      </a:pPr>
                      <a:r>
                        <a:rPr lang="en-US" altLang="zh-CN" sz="2400">
                          <a:latin typeface="Times New Roman" panose="02020603050405020304" pitchFamily="18" charset="0"/>
                        </a:rPr>
                        <a:t>D</a:t>
                      </a:r>
                      <a:endParaRPr lang="zh-CN" altLang="en-US" sz="240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p>
                      <a:pPr marL="0" lvl="0" indent="0">
                        <a:buNone/>
                      </a:pPr>
                      <a:r>
                        <a:rPr lang="en-US" altLang="zh-CN" sz="2400">
                          <a:latin typeface="Times New Roman" panose="02020603050405020304" pitchFamily="18" charset="0"/>
                        </a:rPr>
                        <a:t>01</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p>
                      <a:pPr marL="0" lvl="0" indent="0">
                        <a:buNone/>
                      </a:pPr>
                      <a:r>
                        <a:rPr lang="en-US" altLang="zh-CN" sz="2400">
                          <a:latin typeface="Times New Roman" panose="02020603050405020304" pitchFamily="18" charset="0"/>
                        </a:rPr>
                        <a:t>H</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p>
                      <a:pPr marL="0" lvl="0" indent="0">
                        <a:buNone/>
                      </a:pPr>
                      <a:r>
                        <a:rPr lang="en-US" altLang="zh-CN" sz="2400">
                          <a:latin typeface="Times New Roman" panose="02020603050405020304" pitchFamily="18" charset="0"/>
                        </a:rPr>
                        <a:t>111</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7" name="文本框 114821"/>
          <p:cNvSpPr txBox="1"/>
          <p:nvPr/>
        </p:nvSpPr>
        <p:spPr>
          <a:xfrm>
            <a:off x="1953260" y="1595120"/>
            <a:ext cx="3319780" cy="368300"/>
          </a:xfrm>
          <a:prstGeom prst="rect">
            <a:avLst/>
          </a:prstGeom>
          <a:noFill/>
          <a:ln w="9525">
            <a:noFill/>
          </a:ln>
        </p:spPr>
        <p:txBody>
          <a:bodyPr wrap="square" anchor="t" anchorCtr="0">
            <a:spAutoFit/>
          </a:bodyPr>
          <a:p>
            <a:pPr>
              <a:spcBef>
                <a:spcPct val="50000"/>
              </a:spcBef>
            </a:pPr>
            <a:r>
              <a:rPr lang="en-US" altLang="zh-CN" b="1">
                <a:latin typeface="楷体" panose="02010609060101010101" charset="-122"/>
                <a:ea typeface="楷体" panose="02010609060101010101" charset="-122"/>
                <a:cs typeface="楷体" panose="02010609060101010101" charset="-122"/>
              </a:rPr>
              <a:t> </a:t>
            </a:r>
            <a:r>
              <a:rPr lang="zh-CN" altLang="en-US" b="1">
                <a:latin typeface="楷体" panose="02010609060101010101" charset="-122"/>
                <a:ea typeface="楷体" panose="02010609060101010101" charset="-122"/>
                <a:cs typeface="楷体" panose="02010609060101010101" charset="-122"/>
              </a:rPr>
              <a:t>表</a:t>
            </a:r>
            <a:r>
              <a:rPr lang="en-US" altLang="zh-CN" b="1">
                <a:latin typeface="Times New Roman" panose="02020603050405020304" pitchFamily="18" charset="0"/>
                <a:ea typeface="楷体" panose="02010609060101010101" charset="-122"/>
                <a:cs typeface="Times New Roman" panose="02020603050405020304" pitchFamily="18" charset="0"/>
              </a:rPr>
              <a:t>1 </a:t>
            </a:r>
            <a:r>
              <a:rPr lang="zh-CN" altLang="en-US" b="1">
                <a:latin typeface="Times New Roman" panose="02020603050405020304" pitchFamily="18" charset="0"/>
                <a:ea typeface="楷体" panose="02010609060101010101" charset="-122"/>
                <a:cs typeface="Times New Roman" panose="02020603050405020304" pitchFamily="18" charset="0"/>
              </a:rPr>
              <a:t>译码不唯一</a:t>
            </a:r>
            <a:r>
              <a:rPr lang="zh-CN" altLang="en-US" b="1">
                <a:latin typeface="Times New Roman" panose="02020603050405020304" pitchFamily="18" charset="0"/>
                <a:ea typeface="楷体" panose="02010609060101010101" charset="-122"/>
                <a:cs typeface="Times New Roman" panose="02020603050405020304" pitchFamily="18" charset="0"/>
              </a:rPr>
              <a:t>的变长码例</a:t>
            </a:r>
            <a:r>
              <a:rPr lang="zh-CN" altLang="en-US" b="1">
                <a:latin typeface="Times New Roman" panose="02020603050405020304" pitchFamily="18" charset="0"/>
                <a:ea typeface="楷体" panose="02010609060101010101" charset="-122"/>
                <a:cs typeface="Times New Roman" panose="02020603050405020304" pitchFamily="18" charset="0"/>
              </a:rPr>
              <a:t>子</a:t>
            </a:r>
            <a:endParaRPr lang="zh-CN" altLang="en-US" b="1">
              <a:latin typeface="Times New Roman" panose="02020603050405020304" pitchFamily="18" charset="0"/>
              <a:ea typeface="楷体" panose="02010609060101010101" charset="-122"/>
              <a:cs typeface="Times New Roman" panose="02020603050405020304" pitchFamily="18" charset="0"/>
            </a:endParaRPr>
          </a:p>
        </p:txBody>
      </p:sp>
      <p:sp>
        <p:nvSpPr>
          <p:cNvPr id="5" name="内容占位符 2"/>
          <p:cNvSpPr>
            <a:spLocks noGrp="1"/>
          </p:cNvSpPr>
          <p:nvPr/>
        </p:nvSpPr>
        <p:spPr>
          <a:xfrm>
            <a:off x="6854190" y="1724025"/>
            <a:ext cx="4722495" cy="2958465"/>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sz="2400">
                <a:sym typeface="+mn-ea"/>
              </a:rPr>
              <a:t>若对字母序列ABADCAB进行编码，则得到0 1 0 01 00 0 1</a:t>
            </a:r>
            <a:endParaRPr sz="2400">
              <a:sym typeface="+mn-ea"/>
            </a:endParaRPr>
          </a:p>
          <a:p>
            <a:r>
              <a:rPr lang="zh-CN" sz="2400" b="1">
                <a:solidFill>
                  <a:schemeClr val="accent6">
                    <a:lumMod val="75000"/>
                  </a:schemeClr>
                </a:solidFill>
                <a:sym typeface="+mn-ea"/>
              </a:rPr>
              <a:t>译码不唯一</a:t>
            </a:r>
            <a:r>
              <a:rPr sz="2400">
                <a:sym typeface="+mn-ea"/>
              </a:rPr>
              <a:t>：可能被译为DADAAAB(01 0 01 0 0 0 1)或者AEDGB(0 10 01 000 1)</a:t>
            </a:r>
            <a:endParaRPr sz="2400">
              <a:sym typeface="+mn-ea"/>
            </a:endParaRPr>
          </a:p>
        </p:txBody>
      </p:sp>
      <p:sp>
        <p:nvSpPr>
          <p:cNvPr id="11" name="圆角矩形 10"/>
          <p:cNvSpPr/>
          <p:nvPr/>
        </p:nvSpPr>
        <p:spPr>
          <a:xfrm>
            <a:off x="2031365" y="5151755"/>
            <a:ext cx="7943850" cy="619125"/>
          </a:xfrm>
          <a:prstGeom prst="round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12" name="文本框 11"/>
          <p:cNvSpPr txBox="1"/>
          <p:nvPr/>
        </p:nvSpPr>
        <p:spPr>
          <a:xfrm>
            <a:off x="2256155" y="5189220"/>
            <a:ext cx="7449820" cy="534035"/>
          </a:xfrm>
          <a:prstGeom prst="rect">
            <a:avLst/>
          </a:prstGeom>
          <a:noFill/>
        </p:spPr>
        <p:txBody>
          <a:bodyPr wrap="square" rtlCol="0" anchor="t">
            <a:spAutoFit/>
          </a:bodyPr>
          <a:p>
            <a:pPr algn="just">
              <a:lnSpc>
                <a:spcPct val="120000"/>
              </a:lnSpc>
              <a:spcBef>
                <a:spcPts val="0"/>
              </a:spcBef>
              <a:buClr>
                <a:srgbClr val="000000"/>
              </a:buClr>
              <a:buSzPct val="65000"/>
              <a:buFont typeface="Wingdings" panose="05000000000000000000" charset="0"/>
            </a:pPr>
            <a:r>
              <a:rPr lang="en-US" altLang="zh-CN" sz="2400" b="1">
                <a:latin typeface="Times New Roman" panose="02020603050405020304" pitchFamily="18" charset="0"/>
                <a:ea typeface="黑体" panose="02010609060101010101" pitchFamily="49" charset="-122"/>
                <a:cs typeface="+mn-ea"/>
                <a:sym typeface="+mn-ea"/>
              </a:rPr>
              <a:t>注：变长码必须是惟一可译码</a:t>
            </a:r>
            <a:r>
              <a:rPr lang="zh-CN" altLang="en-US" sz="2400" b="1">
                <a:latin typeface="Times New Roman" panose="02020603050405020304" pitchFamily="18" charset="0"/>
                <a:ea typeface="黑体" panose="02010609060101010101" pitchFamily="49" charset="-122"/>
                <a:cs typeface="+mn-ea"/>
                <a:sym typeface="+mn-ea"/>
              </a:rPr>
              <a:t>，</a:t>
            </a:r>
            <a:r>
              <a:rPr lang="en-US" altLang="zh-CN" sz="2400" b="1">
                <a:latin typeface="Times New Roman" panose="02020603050405020304" pitchFamily="18" charset="0"/>
                <a:ea typeface="黑体" panose="02010609060101010101" pitchFamily="49" charset="-122"/>
                <a:cs typeface="+mn-ea"/>
                <a:sym typeface="+mn-ea"/>
              </a:rPr>
              <a:t>才能实现无失真编码</a:t>
            </a:r>
            <a:r>
              <a:rPr lang="zh-CN" altLang="en-US" sz="2400" b="1">
                <a:latin typeface="Times New Roman" panose="02020603050405020304" pitchFamily="18" charset="0"/>
                <a:ea typeface="黑体" panose="02010609060101010101" pitchFamily="49" charset="-122"/>
                <a:cs typeface="+mn-ea"/>
                <a:sym typeface="+mn-ea"/>
              </a:rPr>
              <a:t>。</a:t>
            </a:r>
            <a:endParaRPr lang="zh-CN" altLang="en-US" sz="2400" b="1">
              <a:latin typeface="Times New Roman" panose="02020603050405020304" pitchFamily="18" charset="0"/>
              <a:ea typeface="黑体" panose="02010609060101010101" pitchFamily="49" charset="-122"/>
              <a:cs typeface="+mn-ea"/>
              <a:sym typeface="+mn-ea"/>
            </a:endParaRPr>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变长信源编码定理</a:t>
            </a:r>
            <a:endParaRPr lang="zh-CN" altLang="en-US"/>
          </a:p>
        </p:txBody>
      </p:sp>
      <p:sp>
        <p:nvSpPr>
          <p:cNvPr id="3" name="内容占位符 2"/>
          <p:cNvSpPr>
            <a:spLocks noGrp="1"/>
          </p:cNvSpPr>
          <p:nvPr>
            <p:ph idx="1"/>
          </p:nvPr>
        </p:nvSpPr>
        <p:spPr>
          <a:xfrm>
            <a:off x="608330" y="1490345"/>
            <a:ext cx="10831830" cy="3702050"/>
          </a:xfrm>
        </p:spPr>
        <p:txBody>
          <a:bodyPr>
            <a:noAutofit/>
          </a:bodyPr>
          <a:p>
            <a:r>
              <a:rPr lang="zh-CN" sz="2400" b="1">
                <a:solidFill>
                  <a:schemeClr val="accent6">
                    <a:lumMod val="75000"/>
                  </a:schemeClr>
                </a:solidFill>
                <a:sym typeface="+mn-ea"/>
              </a:rPr>
              <a:t>定理</a:t>
            </a:r>
            <a:r>
              <a:rPr sz="2400">
                <a:sym typeface="+mn-ea"/>
              </a:rPr>
              <a:t>:一个熵为</a:t>
            </a:r>
            <a:r>
              <a:rPr sz="2400" i="1">
                <a:latin typeface="Times New Roman" panose="02020603050405020304" pitchFamily="18" charset="0"/>
                <a:cs typeface="Times New Roman" panose="02020603050405020304" pitchFamily="18" charset="0"/>
                <a:sym typeface="+mn-ea"/>
              </a:rPr>
              <a:t>H</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a:sym typeface="+mn-ea"/>
              </a:rPr>
              <a:t>的离散无记忆信源，并有</a:t>
            </a:r>
            <a:r>
              <a:rPr sz="2400" i="1">
                <a:latin typeface="Times New Roman" panose="02020603050405020304" pitchFamily="18" charset="0"/>
                <a:cs typeface="Times New Roman" panose="02020603050405020304" pitchFamily="18" charset="0"/>
                <a:sym typeface="+mn-ea"/>
              </a:rPr>
              <a:t>r</a:t>
            </a:r>
            <a:r>
              <a:rPr sz="2400">
                <a:sym typeface="+mn-ea"/>
              </a:rPr>
              <a:t>个码元的码符号集合，总可以找到一种无失真编码方法，构成惟一可译码，使其平均码长满足</a:t>
            </a:r>
            <a:endParaRPr sz="2400">
              <a:sym typeface="+mn-ea"/>
            </a:endParaRPr>
          </a:p>
          <a:p>
            <a:endParaRPr sz="2400">
              <a:sym typeface="+mn-ea"/>
            </a:endParaRPr>
          </a:p>
          <a:p>
            <a:endParaRPr sz="2400">
              <a:sym typeface="+mn-ea"/>
            </a:endParaRPr>
          </a:p>
          <a:p>
            <a:pPr marL="0" indent="0">
              <a:buNone/>
            </a:pPr>
            <a:r>
              <a:rPr lang="en-US" sz="2400">
                <a:sym typeface="+mn-ea"/>
              </a:rPr>
              <a:t>  </a:t>
            </a:r>
            <a:r>
              <a:rPr sz="2400">
                <a:sym typeface="+mn-ea"/>
              </a:rPr>
              <a:t>则当</a:t>
            </a:r>
            <a:r>
              <a:rPr sz="2400" i="1">
                <a:latin typeface="Times New Roman" panose="02020603050405020304" pitchFamily="18" charset="0"/>
                <a:cs typeface="Times New Roman" panose="02020603050405020304" pitchFamily="18" charset="0"/>
                <a:sym typeface="+mn-ea"/>
              </a:rPr>
              <a:t>N</a:t>
            </a:r>
            <a:r>
              <a:rPr sz="2400">
                <a:sym typeface="+mn-ea"/>
              </a:rPr>
              <a:t>足够大时，可实现几乎无失真编码，即译码错误概率可为任意小。</a:t>
            </a:r>
            <a:endParaRPr sz="2400">
              <a:sym typeface="+mn-ea"/>
            </a:endParaRPr>
          </a:p>
        </p:txBody>
      </p:sp>
      <p:graphicFrame>
        <p:nvGraphicFramePr>
          <p:cNvPr id="4" name="对象 3">
            <a:hlinkClick r:id="" action="ppaction://ole?verb="/>
          </p:cNvPr>
          <p:cNvGraphicFramePr>
            <a:graphicFrameLocks noChangeAspect="1"/>
          </p:cNvGraphicFramePr>
          <p:nvPr/>
        </p:nvGraphicFramePr>
        <p:xfrm>
          <a:off x="4197985" y="2732405"/>
          <a:ext cx="3931920" cy="967740"/>
        </p:xfrm>
        <a:graphic>
          <a:graphicData uri="http://schemas.openxmlformats.org/presentationml/2006/ole">
            <mc:AlternateContent xmlns:mc="http://schemas.openxmlformats.org/markup-compatibility/2006">
              <mc:Choice xmlns:v="urn:schemas-microsoft-com:vml" Requires="v">
                <p:oleObj spid="_x0000_s7" name="" r:id="rId1" imgW="1397000" imgH="419100" progId="Equation.KSEE3">
                  <p:embed/>
                </p:oleObj>
              </mc:Choice>
              <mc:Fallback>
                <p:oleObj name="" r:id="rId1" imgW="1397000" imgH="419100" progId="Equation.KSEE3">
                  <p:embed/>
                  <p:pic>
                    <p:nvPicPr>
                      <p:cNvPr id="0" name="图片 2048"/>
                      <p:cNvPicPr/>
                      <p:nvPr/>
                    </p:nvPicPr>
                    <p:blipFill>
                      <a:blip r:embed="rId2"/>
                      <a:stretch>
                        <a:fillRect/>
                      </a:stretch>
                    </p:blipFill>
                    <p:spPr>
                      <a:xfrm>
                        <a:off x="4197985" y="2732405"/>
                        <a:ext cx="3931920" cy="967740"/>
                      </a:xfrm>
                      <a:prstGeom prst="rect">
                        <a:avLst/>
                      </a:prstGeom>
                    </p:spPr>
                  </p:pic>
                </p:oleObj>
              </mc:Fallback>
            </mc:AlternateContent>
          </a:graphicData>
        </a:graphic>
      </p:graphicFrame>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信道的信息传输率</a:t>
            </a:r>
            <a:endParaRPr lang="zh-CN" altLang="en-US"/>
          </a:p>
        </p:txBody>
      </p:sp>
      <p:sp>
        <p:nvSpPr>
          <p:cNvPr id="3" name="内容占位符 2"/>
          <p:cNvSpPr>
            <a:spLocks noGrp="1"/>
          </p:cNvSpPr>
          <p:nvPr>
            <p:ph idx="1"/>
          </p:nvPr>
        </p:nvSpPr>
        <p:spPr>
          <a:xfrm>
            <a:off x="608330" y="1490345"/>
            <a:ext cx="10831830" cy="3054985"/>
          </a:xfrm>
        </p:spPr>
        <p:txBody>
          <a:bodyPr>
            <a:noAutofit/>
          </a:bodyPr>
          <a:p>
            <a:r>
              <a:rPr sz="2400">
                <a:sym typeface="+mn-ea"/>
              </a:rPr>
              <a:t>变长信源编码定理中的极限值</a:t>
            </a:r>
            <a:r>
              <a:rPr sz="2400" i="1">
                <a:latin typeface="Times New Roman" panose="02020603050405020304" pitchFamily="18" charset="0"/>
                <a:cs typeface="Times New Roman" panose="02020603050405020304" pitchFamily="18" charset="0"/>
                <a:sym typeface="+mn-ea"/>
              </a:rPr>
              <a:t>H</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)/log</a:t>
            </a:r>
            <a:r>
              <a:rPr sz="2400" i="1">
                <a:latin typeface="Times New Roman" panose="02020603050405020304" pitchFamily="18" charset="0"/>
                <a:cs typeface="Times New Roman" panose="02020603050405020304" pitchFamily="18" charset="0"/>
                <a:sym typeface="+mn-ea"/>
              </a:rPr>
              <a:t>r</a:t>
            </a:r>
            <a:r>
              <a:rPr sz="2400">
                <a:sym typeface="+mn-ea"/>
              </a:rPr>
              <a:t>同等长信源编码定理中的极限值是一致的</a:t>
            </a:r>
            <a:r>
              <a:rPr lang="zh-CN" sz="2400">
                <a:sym typeface="+mn-ea"/>
              </a:rPr>
              <a:t>。</a:t>
            </a:r>
            <a:endParaRPr sz="2400">
              <a:sym typeface="+mn-ea"/>
            </a:endParaRPr>
          </a:p>
          <a:p>
            <a:r>
              <a:rPr lang="zh-CN" sz="2400" b="1">
                <a:solidFill>
                  <a:schemeClr val="accent6">
                    <a:lumMod val="75000"/>
                  </a:schemeClr>
                </a:solidFill>
                <a:sym typeface="+mn-ea"/>
              </a:rPr>
              <a:t>定义</a:t>
            </a:r>
            <a:r>
              <a:rPr sz="2400">
                <a:sym typeface="+mn-ea"/>
              </a:rPr>
              <a:t>：信道的信息传输率(码率)为</a:t>
            </a:r>
            <a:endParaRPr sz="2400">
              <a:sym typeface="+mn-ea"/>
            </a:endParaRPr>
          </a:p>
          <a:p>
            <a:endParaRPr sz="2400">
              <a:sym typeface="+mn-ea"/>
            </a:endParaRPr>
          </a:p>
          <a:p>
            <a:r>
              <a:rPr sz="2400">
                <a:sym typeface="+mn-ea"/>
              </a:rPr>
              <a:t>因为                 </a:t>
            </a:r>
            <a:r>
              <a:rPr lang="en-US" sz="2400">
                <a:sym typeface="+mn-ea"/>
              </a:rPr>
              <a:t>            </a:t>
            </a:r>
            <a:r>
              <a:rPr sz="2400">
                <a:sym typeface="+mn-ea"/>
              </a:rPr>
              <a:t>所以得到编码后信道的信息传输率为</a:t>
            </a:r>
            <a:endParaRPr sz="2400">
              <a:sym typeface="+mn-ea"/>
            </a:endParaRPr>
          </a:p>
        </p:txBody>
      </p:sp>
      <p:graphicFrame>
        <p:nvGraphicFramePr>
          <p:cNvPr id="4" name="对象 3">
            <a:hlinkClick r:id="" action="ppaction://ole?verb="/>
          </p:cNvPr>
          <p:cNvGraphicFramePr>
            <a:graphicFrameLocks noChangeAspect="1"/>
          </p:cNvGraphicFramePr>
          <p:nvPr/>
        </p:nvGraphicFramePr>
        <p:xfrm>
          <a:off x="5956300" y="2453640"/>
          <a:ext cx="1930400" cy="967740"/>
        </p:xfrm>
        <a:graphic>
          <a:graphicData uri="http://schemas.openxmlformats.org/presentationml/2006/ole">
            <mc:AlternateContent xmlns:mc="http://schemas.openxmlformats.org/markup-compatibility/2006">
              <mc:Choice xmlns:v="urn:schemas-microsoft-com:vml" Requires="v">
                <p:oleObj spid="_x0000_s5" name="" r:id="rId1" imgW="685800" imgH="419100" progId="Equation.KSEE3">
                  <p:embed/>
                </p:oleObj>
              </mc:Choice>
              <mc:Fallback>
                <p:oleObj name="" r:id="rId1" imgW="685800" imgH="419100" progId="Equation.KSEE3">
                  <p:embed/>
                  <p:pic>
                    <p:nvPicPr>
                      <p:cNvPr id="0" name="图片 2048"/>
                      <p:cNvPicPr/>
                      <p:nvPr/>
                    </p:nvPicPr>
                    <p:blipFill>
                      <a:blip r:embed="rId2"/>
                      <a:stretch>
                        <a:fillRect/>
                      </a:stretch>
                    </p:blipFill>
                    <p:spPr>
                      <a:xfrm>
                        <a:off x="5956300" y="2453640"/>
                        <a:ext cx="1930400" cy="967740"/>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1590358" y="3790315"/>
          <a:ext cx="2931795" cy="557530"/>
        </p:xfrm>
        <a:graphic>
          <a:graphicData uri="http://schemas.openxmlformats.org/presentationml/2006/ole">
            <mc:AlternateContent xmlns:mc="http://schemas.openxmlformats.org/markup-compatibility/2006">
              <mc:Choice xmlns:v="urn:schemas-microsoft-com:vml" Requires="v">
                <p:oleObj spid="_x0000_s8" name="" r:id="rId3" imgW="1041400" imgH="241300" progId="Equation.KSEE3">
                  <p:embed/>
                </p:oleObj>
              </mc:Choice>
              <mc:Fallback>
                <p:oleObj name="" r:id="rId3" imgW="1041400" imgH="241300" progId="Equation.KSEE3">
                  <p:embed/>
                  <p:pic>
                    <p:nvPicPr>
                      <p:cNvPr id="0" name="图片 2048"/>
                      <p:cNvPicPr/>
                      <p:nvPr/>
                    </p:nvPicPr>
                    <p:blipFill>
                      <a:blip r:embed="rId4"/>
                      <a:stretch>
                        <a:fillRect/>
                      </a:stretch>
                    </p:blipFill>
                    <p:spPr>
                      <a:xfrm>
                        <a:off x="1590358" y="3790315"/>
                        <a:ext cx="2931795" cy="557530"/>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9819641" y="3790315"/>
          <a:ext cx="1108710" cy="469900"/>
        </p:xfrm>
        <a:graphic>
          <a:graphicData uri="http://schemas.openxmlformats.org/presentationml/2006/ole">
            <mc:AlternateContent xmlns:mc="http://schemas.openxmlformats.org/markup-compatibility/2006">
              <mc:Choice xmlns:v="urn:schemas-microsoft-com:vml" Requires="v">
                <p:oleObj spid="_x0000_s10" name="" r:id="rId5" imgW="393700" imgH="203200" progId="Equation.KSEE3">
                  <p:embed/>
                </p:oleObj>
              </mc:Choice>
              <mc:Fallback>
                <p:oleObj name="" r:id="rId5" imgW="393700" imgH="203200" progId="Equation.KSEE3">
                  <p:embed/>
                  <p:pic>
                    <p:nvPicPr>
                      <p:cNvPr id="0" name="图片 2048"/>
                      <p:cNvPicPr/>
                      <p:nvPr/>
                    </p:nvPicPr>
                    <p:blipFill>
                      <a:blip r:embed="rId6"/>
                      <a:stretch>
                        <a:fillRect/>
                      </a:stretch>
                    </p:blipFill>
                    <p:spPr>
                      <a:xfrm>
                        <a:off x="9819641" y="3790315"/>
                        <a:ext cx="1108710" cy="469900"/>
                      </a:xfrm>
                      <a:prstGeom prst="rect">
                        <a:avLst/>
                      </a:prstGeom>
                    </p:spPr>
                  </p:pic>
                </p:oleObj>
              </mc:Fallback>
            </mc:AlternateContent>
          </a:graphicData>
        </a:graphic>
      </p:graphicFrame>
      <p:sp>
        <p:nvSpPr>
          <p:cNvPr id="6" name="灯片编号占位符 5"/>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本章授课</a:t>
            </a:r>
            <a:r>
              <a:rPr lang="zh-CN" altLang="en-US"/>
              <a:t>内容</a:t>
            </a:r>
            <a:endParaRPr lang="zh-CN" altLang="en-US"/>
          </a:p>
        </p:txBody>
      </p:sp>
      <p:sp>
        <p:nvSpPr>
          <p:cNvPr id="3" name="内容占位符 2"/>
          <p:cNvSpPr>
            <a:spLocks noGrp="1"/>
          </p:cNvSpPr>
          <p:nvPr>
            <p:ph idx="1"/>
          </p:nvPr>
        </p:nvSpPr>
        <p:spPr>
          <a:xfrm>
            <a:off x="608330" y="1550035"/>
            <a:ext cx="10749915" cy="3526790"/>
          </a:xfrm>
        </p:spPr>
        <p:txBody>
          <a:bodyPr>
            <a:noAutofit/>
          </a:bodyPr>
          <a:p>
            <a:pPr>
              <a:lnSpc>
                <a:spcPct val="200000"/>
              </a:lnSpc>
            </a:pPr>
            <a:r>
              <a:rPr sz="2400">
                <a:solidFill>
                  <a:schemeClr val="bg1">
                    <a:lumMod val="75000"/>
                  </a:schemeClr>
                </a:solidFill>
              </a:rPr>
              <a:t>信息论涉及的一些基础概念及其数学定义</a:t>
            </a:r>
            <a:endParaRPr sz="2400">
              <a:solidFill>
                <a:schemeClr val="accent1"/>
              </a:solidFill>
            </a:endParaRPr>
          </a:p>
          <a:p>
            <a:pPr algn="l">
              <a:lnSpc>
                <a:spcPct val="200000"/>
              </a:lnSpc>
              <a:buClrTx/>
              <a:buSzTx/>
            </a:pPr>
            <a:r>
              <a:rPr sz="2400">
                <a:solidFill>
                  <a:schemeClr val="bg1">
                    <a:lumMod val="75000"/>
                  </a:schemeClr>
                </a:solidFill>
              </a:rPr>
              <a:t>无失真信源编码</a:t>
            </a:r>
            <a:endParaRPr sz="2400">
              <a:solidFill>
                <a:schemeClr val="bg1">
                  <a:lumMod val="75000"/>
                </a:schemeClr>
              </a:solidFill>
            </a:endParaRPr>
          </a:p>
          <a:p>
            <a:pPr>
              <a:lnSpc>
                <a:spcPct val="200000"/>
              </a:lnSpc>
            </a:pPr>
            <a:r>
              <a:rPr lang="zh-CN" sz="2400">
                <a:solidFill>
                  <a:schemeClr val="accent1"/>
                </a:solidFill>
              </a:rPr>
              <a:t>经典的信源编码方法</a:t>
            </a:r>
            <a:endParaRPr sz="2400">
              <a:solidFill>
                <a:schemeClr val="accent1"/>
              </a:solidFill>
            </a:endParaRPr>
          </a:p>
          <a:p>
            <a:pPr>
              <a:lnSpc>
                <a:spcPct val="200000"/>
              </a:lnSpc>
            </a:pPr>
            <a:r>
              <a:rPr sz="2400">
                <a:solidFill>
                  <a:schemeClr val="bg1">
                    <a:lumMod val="75000"/>
                  </a:schemeClr>
                </a:solidFill>
              </a:rPr>
              <a:t>纠错码的理论基础</a:t>
            </a:r>
            <a:endParaRPr lang="zh-CN" sz="2400">
              <a:solidFill>
                <a:schemeClr val="accent1"/>
              </a:solidFill>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信源编码—霍夫曼(Huffman)编码</a:t>
            </a:r>
            <a:endParaRPr lang="zh-CN" altLang="en-US"/>
          </a:p>
        </p:txBody>
      </p:sp>
      <p:sp>
        <p:nvSpPr>
          <p:cNvPr id="3" name="内容占位符 2"/>
          <p:cNvSpPr>
            <a:spLocks noGrp="1"/>
          </p:cNvSpPr>
          <p:nvPr>
            <p:ph idx="1"/>
          </p:nvPr>
        </p:nvSpPr>
        <p:spPr>
          <a:xfrm>
            <a:off x="608330" y="1490345"/>
            <a:ext cx="10831830" cy="2882265"/>
          </a:xfrm>
        </p:spPr>
        <p:txBody>
          <a:bodyPr>
            <a:noAutofit/>
          </a:bodyPr>
          <a:p>
            <a:r>
              <a:rPr sz="2400">
                <a:sym typeface="+mn-ea"/>
              </a:rPr>
              <a:t>一个离散无记忆信源有7个符号</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latin typeface="Times New Roman" panose="02020603050405020304" pitchFamily="18" charset="0"/>
                <a:cs typeface="Times New Roman" panose="02020603050405020304" pitchFamily="18" charset="0"/>
                <a:sym typeface="+mn-ea"/>
              </a:rPr>
              <a:t>, </a:t>
            </a:r>
            <a:r>
              <a:rPr sz="2400" i="1">
                <a:latin typeface="Times New Roman" panose="02020603050405020304" pitchFamily="18" charset="0"/>
                <a:cs typeface="Times New Roman" panose="02020603050405020304" pitchFamily="18" charset="0"/>
                <a:sym typeface="+mn-ea"/>
              </a:rPr>
              <a:t>i</a:t>
            </a:r>
            <a:r>
              <a:rPr sz="2400">
                <a:latin typeface="Times New Roman" panose="02020603050405020304" pitchFamily="18" charset="0"/>
                <a:cs typeface="Times New Roman" panose="02020603050405020304" pitchFamily="18" charset="0"/>
                <a:sym typeface="+mn-ea"/>
              </a:rPr>
              <a:t>=1,..,7，</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baseline="-25000">
                <a:latin typeface="Times New Roman" panose="02020603050405020304" pitchFamily="18" charset="0"/>
                <a:cs typeface="Times New Roman" panose="02020603050405020304" pitchFamily="18" charset="0"/>
                <a:sym typeface="+mn-ea"/>
              </a:rPr>
              <a:t>1</a:t>
            </a:r>
            <a:r>
              <a:rPr sz="2400">
                <a:latin typeface="Times New Roman" panose="02020603050405020304" pitchFamily="18" charset="0"/>
                <a:cs typeface="Times New Roman" panose="02020603050405020304" pitchFamily="18" charset="0"/>
                <a:sym typeface="+mn-ea"/>
              </a:rPr>
              <a:t>)=0.37, </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2</a:t>
            </a:r>
            <a:r>
              <a:rPr sz="2400">
                <a:latin typeface="Times New Roman" panose="02020603050405020304" pitchFamily="18" charset="0"/>
                <a:cs typeface="Times New Roman" panose="02020603050405020304" pitchFamily="18" charset="0"/>
                <a:sym typeface="+mn-ea"/>
              </a:rPr>
              <a:t>)=0.33, </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3</a:t>
            </a:r>
            <a:r>
              <a:rPr sz="2400">
                <a:latin typeface="Times New Roman" panose="02020603050405020304" pitchFamily="18" charset="0"/>
                <a:cs typeface="Times New Roman" panose="02020603050405020304" pitchFamily="18" charset="0"/>
                <a:sym typeface="+mn-ea"/>
              </a:rPr>
              <a:t>)=0.16, </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4</a:t>
            </a:r>
            <a:r>
              <a:rPr sz="2400">
                <a:latin typeface="Times New Roman" panose="02020603050405020304" pitchFamily="18" charset="0"/>
                <a:cs typeface="Times New Roman" panose="02020603050405020304" pitchFamily="18" charset="0"/>
                <a:sym typeface="+mn-ea"/>
              </a:rPr>
              <a:t>)=0.07, </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5</a:t>
            </a:r>
            <a:r>
              <a:rPr sz="2400">
                <a:latin typeface="Times New Roman" panose="02020603050405020304" pitchFamily="18" charset="0"/>
                <a:cs typeface="Times New Roman" panose="02020603050405020304" pitchFamily="18" charset="0"/>
                <a:sym typeface="+mn-ea"/>
              </a:rPr>
              <a:t>)=0.04, </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6</a:t>
            </a:r>
            <a:r>
              <a:rPr sz="2400">
                <a:latin typeface="Times New Roman" panose="02020603050405020304" pitchFamily="18" charset="0"/>
                <a:cs typeface="Times New Roman" panose="02020603050405020304" pitchFamily="18" charset="0"/>
                <a:sym typeface="+mn-ea"/>
              </a:rPr>
              <a:t>)=0.02, </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7</a:t>
            </a:r>
            <a:r>
              <a:rPr sz="2400">
                <a:latin typeface="Times New Roman" panose="02020603050405020304" pitchFamily="18" charset="0"/>
                <a:cs typeface="Times New Roman" panose="02020603050405020304" pitchFamily="18" charset="0"/>
                <a:sym typeface="+mn-ea"/>
              </a:rPr>
              <a:t>)=0.01</a:t>
            </a:r>
            <a:r>
              <a:rPr sz="2400">
                <a:sym typeface="+mn-ea"/>
              </a:rPr>
              <a:t>, 将7个信源符号按照概率递减的顺序进行排序</a:t>
            </a:r>
            <a:r>
              <a:rPr lang="zh-CN" sz="2400">
                <a:sym typeface="+mn-ea"/>
              </a:rPr>
              <a:t>，</a:t>
            </a:r>
            <a:r>
              <a:rPr sz="2400">
                <a:sym typeface="+mn-ea"/>
              </a:rPr>
              <a:t>构造如图8所示的霍夫曼树</a:t>
            </a:r>
            <a:r>
              <a:rPr lang="zh-CN" sz="2400">
                <a:sym typeface="+mn-ea"/>
              </a:rPr>
              <a:t>。</a:t>
            </a:r>
            <a:endParaRPr sz="2400">
              <a:sym typeface="+mn-ea"/>
            </a:endParaRPr>
          </a:p>
          <a:p>
            <a:r>
              <a:rPr sz="2400">
                <a:sym typeface="+mn-ea"/>
              </a:rPr>
              <a:t>按照编码路径从后往前返回，就得到对应的码字</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7</a:t>
            </a:r>
            <a:r>
              <a:rPr sz="2400">
                <a:latin typeface="Times New Roman" panose="02020603050405020304" pitchFamily="18" charset="0"/>
                <a:cs typeface="Times New Roman" panose="02020603050405020304" pitchFamily="18" charset="0"/>
                <a:sym typeface="+mn-ea"/>
              </a:rPr>
              <a:t>=111111, </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6</a:t>
            </a:r>
            <a:r>
              <a:rPr sz="2400">
                <a:latin typeface="Times New Roman" panose="02020603050405020304" pitchFamily="18" charset="0"/>
                <a:cs typeface="Times New Roman" panose="02020603050405020304" pitchFamily="18" charset="0"/>
                <a:sym typeface="+mn-ea"/>
              </a:rPr>
              <a:t>=111110, </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5</a:t>
            </a:r>
            <a:r>
              <a:rPr sz="2400">
                <a:latin typeface="Times New Roman" panose="02020603050405020304" pitchFamily="18" charset="0"/>
                <a:cs typeface="Times New Roman" panose="02020603050405020304" pitchFamily="18" charset="0"/>
                <a:sym typeface="+mn-ea"/>
              </a:rPr>
              <a:t>=11110, </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4</a:t>
            </a:r>
            <a:r>
              <a:rPr sz="2400">
                <a:latin typeface="Times New Roman" panose="02020603050405020304" pitchFamily="18" charset="0"/>
                <a:cs typeface="Times New Roman" panose="02020603050405020304" pitchFamily="18" charset="0"/>
                <a:sym typeface="+mn-ea"/>
              </a:rPr>
              <a:t>=1110，</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3</a:t>
            </a:r>
            <a:r>
              <a:rPr sz="2400">
                <a:latin typeface="Times New Roman" panose="02020603050405020304" pitchFamily="18" charset="0"/>
                <a:cs typeface="Times New Roman" panose="02020603050405020304" pitchFamily="18" charset="0"/>
                <a:sym typeface="+mn-ea"/>
              </a:rPr>
              <a:t>=110, </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2</a:t>
            </a:r>
            <a:r>
              <a:rPr sz="2400">
                <a:latin typeface="Times New Roman" panose="02020603050405020304" pitchFamily="18" charset="0"/>
                <a:cs typeface="Times New Roman" panose="02020603050405020304" pitchFamily="18" charset="0"/>
                <a:sym typeface="+mn-ea"/>
              </a:rPr>
              <a:t>=10，</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1</a:t>
            </a:r>
            <a:r>
              <a:rPr sz="2400">
                <a:latin typeface="Times New Roman" panose="02020603050405020304" pitchFamily="18" charset="0"/>
                <a:cs typeface="Times New Roman" panose="02020603050405020304" pitchFamily="18" charset="0"/>
                <a:sym typeface="+mn-ea"/>
              </a:rPr>
              <a:t>=0</a:t>
            </a:r>
            <a:r>
              <a:rPr lang="zh-CN" sz="2400">
                <a:latin typeface="Times New Roman" panose="02020603050405020304" pitchFamily="18" charset="0"/>
                <a:cs typeface="Times New Roman" panose="02020603050405020304" pitchFamily="18" charset="0"/>
                <a:sym typeface="+mn-ea"/>
              </a:rPr>
              <a:t>。</a:t>
            </a:r>
            <a:endParaRPr lang="zh-CN" sz="2400">
              <a:latin typeface="Times New Roman" panose="02020603050405020304" pitchFamily="18" charset="0"/>
              <a:cs typeface="Times New Roman" panose="02020603050405020304" pitchFamily="18" charset="0"/>
              <a:sym typeface="+mn-ea"/>
            </a:endParaRPr>
          </a:p>
        </p:txBody>
      </p:sp>
      <p:sp>
        <p:nvSpPr>
          <p:cNvPr id="5" name="文本框 114821"/>
          <p:cNvSpPr txBox="1"/>
          <p:nvPr/>
        </p:nvSpPr>
        <p:spPr>
          <a:xfrm>
            <a:off x="2427605" y="6129655"/>
            <a:ext cx="1964690" cy="368300"/>
          </a:xfrm>
          <a:prstGeom prst="rect">
            <a:avLst/>
          </a:prstGeom>
          <a:noFill/>
          <a:ln w="9525">
            <a:noFill/>
          </a:ln>
        </p:spPr>
        <p:txBody>
          <a:bodyPr wrap="square" anchor="t" anchorCtr="0">
            <a:spAutoFit/>
          </a:bodyPr>
          <a:p>
            <a:pPr>
              <a:spcBef>
                <a:spcPct val="50000"/>
              </a:spcBef>
            </a:pPr>
            <a:r>
              <a:rPr lang="en-US" altLang="zh-CN" b="1">
                <a:latin typeface="楷体" panose="02010609060101010101" charset="-122"/>
                <a:ea typeface="楷体" panose="02010609060101010101" charset="-122"/>
                <a:cs typeface="楷体" panose="02010609060101010101" charset="-122"/>
              </a:rPr>
              <a:t> </a:t>
            </a:r>
            <a:r>
              <a:rPr lang="zh-CN" altLang="en-US" b="1">
                <a:latin typeface="楷体" panose="02010609060101010101" charset="-122"/>
                <a:ea typeface="楷体" panose="02010609060101010101" charset="-122"/>
                <a:cs typeface="楷体" panose="02010609060101010101" charset="-122"/>
              </a:rPr>
              <a:t>图</a:t>
            </a:r>
            <a:r>
              <a:rPr lang="en-US" altLang="zh-CN" b="1">
                <a:latin typeface="Times New Roman" panose="02020603050405020304" pitchFamily="18" charset="0"/>
                <a:ea typeface="楷体" panose="02010609060101010101" charset="-122"/>
                <a:cs typeface="Times New Roman" panose="02020603050405020304" pitchFamily="18" charset="0"/>
              </a:rPr>
              <a:t>8</a:t>
            </a:r>
            <a:r>
              <a:rPr lang="en-US" altLang="zh-CN" b="1">
                <a:latin typeface="Times New Roman" panose="02020603050405020304" pitchFamily="18" charset="0"/>
                <a:ea typeface="楷体" panose="02010609060101010101" charset="-122"/>
                <a:cs typeface="Times New Roman" panose="02020603050405020304" pitchFamily="18" charset="0"/>
              </a:rPr>
              <a:t> </a:t>
            </a:r>
            <a:r>
              <a:rPr b="1">
                <a:latin typeface="Times New Roman" panose="02020603050405020304" pitchFamily="18" charset="0"/>
                <a:ea typeface="楷体" panose="02010609060101010101" charset="-122"/>
                <a:cs typeface="Times New Roman" panose="02020603050405020304" pitchFamily="18" charset="0"/>
              </a:rPr>
              <a:t>霍夫曼树</a:t>
            </a:r>
            <a:endParaRPr lang="zh-CN" altLang="en-US" b="1">
              <a:latin typeface="Times New Roman" panose="02020603050405020304" pitchFamily="18" charset="0"/>
              <a:ea typeface="楷体" panose="02010609060101010101" charset="-122"/>
              <a:cs typeface="Times New Roman" panose="02020603050405020304" pitchFamily="18" charset="0"/>
            </a:endParaRPr>
          </a:p>
        </p:txBody>
      </p:sp>
      <p:pic>
        <p:nvPicPr>
          <p:cNvPr id="101379" name="图片 236551"/>
          <p:cNvPicPr>
            <a:picLocks noChangeAspect="1"/>
          </p:cNvPicPr>
          <p:nvPr>
            <p:custDataLst>
              <p:tags r:id="rId1"/>
            </p:custDataLst>
          </p:nvPr>
        </p:nvPicPr>
        <p:blipFill>
          <a:blip r:embed="rId2"/>
          <a:stretch>
            <a:fillRect/>
          </a:stretch>
        </p:blipFill>
        <p:spPr>
          <a:xfrm>
            <a:off x="1381760" y="4170363"/>
            <a:ext cx="4572000" cy="1989137"/>
          </a:xfrm>
          <a:prstGeom prst="rect">
            <a:avLst/>
          </a:prstGeom>
          <a:noFill/>
          <a:ln w="9525">
            <a:noFill/>
          </a:ln>
        </p:spPr>
      </p:pic>
      <p:sp>
        <p:nvSpPr>
          <p:cNvPr id="6" name="矩形 5"/>
          <p:cNvSpPr/>
          <p:nvPr/>
        </p:nvSpPr>
        <p:spPr>
          <a:xfrm>
            <a:off x="7208520" y="4843780"/>
            <a:ext cx="3382645" cy="92646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11" name="文本框 10"/>
          <p:cNvSpPr txBox="1"/>
          <p:nvPr/>
        </p:nvSpPr>
        <p:spPr>
          <a:xfrm>
            <a:off x="7320280" y="4870450"/>
            <a:ext cx="3152140" cy="829945"/>
          </a:xfrm>
          <a:prstGeom prst="rect">
            <a:avLst/>
          </a:prstGeom>
          <a:noFill/>
        </p:spPr>
        <p:txBody>
          <a:bodyPr wrap="square" rtlCol="0" anchor="t">
            <a:spAutoFit/>
          </a:bodyPr>
          <a:p>
            <a:pPr algn="just">
              <a:lnSpc>
                <a:spcPct val="120000"/>
              </a:lnSpc>
              <a:spcBef>
                <a:spcPts val="0"/>
              </a:spcBef>
              <a:buClr>
                <a:schemeClr val="hlink"/>
              </a:buClr>
              <a:buSzPct val="65000"/>
            </a:pPr>
            <a:r>
              <a:rPr sz="2000" b="1">
                <a:solidFill>
                  <a:srgbClr val="FF0000"/>
                </a:solidFill>
                <a:latin typeface="楷体" panose="02010609060101010101" charset="-122"/>
                <a:ea typeface="楷体" panose="02010609060101010101" charset="-122"/>
              </a:rPr>
              <a:t>思考题：</a:t>
            </a:r>
            <a:r>
              <a:rPr lang="zh-CN" sz="2000" b="1">
                <a:latin typeface="Times New Roman" panose="02020603050405020304" pitchFamily="18" charset="0"/>
                <a:ea typeface="黑体" panose="02010609060101010101" pitchFamily="49" charset="-122"/>
                <a:cs typeface="Times New Roman" panose="02020603050405020304" pitchFamily="18" charset="0"/>
              </a:rPr>
              <a:t>如何编程序实现霍夫曼编码</a:t>
            </a:r>
            <a:r>
              <a:rPr lang="en-US" sz="2000" b="1">
                <a:latin typeface="Times New Roman" panose="02020603050405020304" pitchFamily="18" charset="0"/>
                <a:ea typeface="黑体" panose="02010609060101010101" pitchFamily="49" charset="-122"/>
                <a:cs typeface="Times New Roman" panose="02020603050405020304" pitchFamily="18" charset="0"/>
              </a:rPr>
              <a:t>?</a:t>
            </a:r>
            <a:endParaRPr lang="en-US" sz="20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游程编码</a:t>
            </a:r>
            <a:endParaRPr lang="zh-CN" altLang="en-US"/>
          </a:p>
        </p:txBody>
      </p:sp>
      <p:sp>
        <p:nvSpPr>
          <p:cNvPr id="3" name="内容占位符 2"/>
          <p:cNvSpPr>
            <a:spLocks noGrp="1"/>
          </p:cNvSpPr>
          <p:nvPr>
            <p:ph idx="1"/>
          </p:nvPr>
        </p:nvSpPr>
        <p:spPr>
          <a:xfrm>
            <a:off x="608330" y="1490345"/>
            <a:ext cx="10831830" cy="2430145"/>
          </a:xfrm>
        </p:spPr>
        <p:txBody>
          <a:bodyPr>
            <a:noAutofit/>
          </a:bodyPr>
          <a:p>
            <a:r>
              <a:rPr lang="zh-CN" sz="2400" b="1">
                <a:solidFill>
                  <a:schemeClr val="accent6">
                    <a:lumMod val="75000"/>
                  </a:schemeClr>
                </a:solidFill>
                <a:sym typeface="+mn-ea"/>
              </a:rPr>
              <a:t>游程</a:t>
            </a:r>
            <a:r>
              <a:rPr sz="2400">
                <a:sym typeface="+mn-ea"/>
              </a:rPr>
              <a:t>：信源输出的字符序列中，各种字符连续的重复出现的字符串的个数</a:t>
            </a:r>
            <a:r>
              <a:rPr lang="zh-CN" sz="2400">
                <a:sym typeface="+mn-ea"/>
              </a:rPr>
              <a:t>。</a:t>
            </a:r>
            <a:endParaRPr sz="2400">
              <a:sym typeface="+mn-ea"/>
            </a:endParaRPr>
          </a:p>
          <a:p>
            <a:r>
              <a:rPr lang="zh-CN" sz="2400" b="1">
                <a:solidFill>
                  <a:schemeClr val="accent6">
                    <a:lumMod val="75000"/>
                  </a:schemeClr>
                </a:solidFill>
                <a:sym typeface="+mn-ea"/>
              </a:rPr>
              <a:t>游程编码</a:t>
            </a:r>
            <a:r>
              <a:rPr sz="2400">
                <a:sym typeface="+mn-ea"/>
              </a:rPr>
              <a:t>：就是将这种字符序列映射成字符串的长度和字符串的位置的标志序列</a:t>
            </a:r>
            <a:r>
              <a:rPr lang="zh-CN" sz="2400">
                <a:sym typeface="+mn-ea"/>
              </a:rPr>
              <a:t>。</a:t>
            </a:r>
            <a:endParaRPr sz="2400">
              <a:sym typeface="+mn-ea"/>
            </a:endParaRPr>
          </a:p>
          <a:p>
            <a:r>
              <a:rPr sz="2400">
                <a:sym typeface="+mn-ea"/>
              </a:rPr>
              <a:t>游程编码常用作图形文件的编码方式，如.bmp和.tiff</a:t>
            </a:r>
            <a:r>
              <a:rPr lang="zh-CN" sz="2400">
                <a:sym typeface="+mn-ea"/>
              </a:rPr>
              <a:t>。</a:t>
            </a:r>
            <a:endParaRPr lang="zh-CN" sz="2400">
              <a:sym typeface="+mn-ea"/>
            </a:endParaRPr>
          </a:p>
        </p:txBody>
      </p:sp>
      <p:sp>
        <p:nvSpPr>
          <p:cNvPr id="9" name="矩形 8"/>
          <p:cNvSpPr/>
          <p:nvPr/>
        </p:nvSpPr>
        <p:spPr>
          <a:xfrm>
            <a:off x="1050925" y="3926205"/>
            <a:ext cx="10006965" cy="1326515"/>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6" name="文本框 5"/>
          <p:cNvSpPr txBox="1"/>
          <p:nvPr/>
        </p:nvSpPr>
        <p:spPr>
          <a:xfrm>
            <a:off x="1198245" y="3985895"/>
            <a:ext cx="9703435" cy="1198880"/>
          </a:xfrm>
          <a:prstGeom prst="rect">
            <a:avLst/>
          </a:prstGeom>
          <a:noFill/>
        </p:spPr>
        <p:txBody>
          <a:bodyPr wrap="square" rtlCol="0" anchor="t">
            <a:spAutoFit/>
          </a:bodyPr>
          <a:p>
            <a:pPr algn="just">
              <a:lnSpc>
                <a:spcPct val="120000"/>
              </a:lnSpc>
              <a:spcBef>
                <a:spcPts val="0"/>
              </a:spcBef>
              <a:buClr>
                <a:schemeClr val="hlink"/>
              </a:buClr>
              <a:buSzPct val="65000"/>
            </a:pPr>
            <a:r>
              <a:rPr lang="zh-CN" altLang="en-US" sz="2000" b="1" dirty="0">
                <a:solidFill>
                  <a:srgbClr val="FF0000"/>
                </a:solidFill>
                <a:latin typeface="楷体" panose="02010609060101010101" charset="-122"/>
                <a:ea typeface="楷体" panose="02010609060101010101" charset="-122"/>
                <a:cs typeface="楷体" panose="02010609060101010101" charset="-122"/>
                <a:sym typeface="+mn-ea"/>
              </a:rPr>
              <a:t>例子：</a:t>
            </a:r>
            <a:r>
              <a:rPr sz="2000" b="1">
                <a:solidFill>
                  <a:srgbClr val="0070C0"/>
                </a:solidFill>
                <a:latin typeface="Times New Roman" panose="02020603050405020304" pitchFamily="18" charset="0"/>
                <a:ea typeface="黑体" panose="02010609060101010101" pitchFamily="49" charset="-122"/>
              </a:rPr>
              <a:t>考虑比特序列11111111111111100000000000000000001111，可以被表示成(15,1),(19,0),(4,1)，字符最长的重复的数目为19，因此，把该比特序列编码为(01111,1), (10011,0), (00100,1)，此时压缩率为18:38=1:2.11</a:t>
            </a:r>
            <a:r>
              <a:rPr lang="zh-CN" sz="2000" b="1">
                <a:solidFill>
                  <a:srgbClr val="0070C0"/>
                </a:solidFill>
                <a:latin typeface="Times New Roman" panose="02020603050405020304" pitchFamily="18" charset="0"/>
                <a:ea typeface="黑体" panose="02010609060101010101" pitchFamily="49" charset="-122"/>
              </a:rPr>
              <a:t>。</a:t>
            </a:r>
            <a:endParaRPr lang="zh-CN" sz="2000" b="1">
              <a:solidFill>
                <a:srgbClr val="0070C0"/>
              </a:solidFill>
              <a:latin typeface="Times New Roman" panose="02020603050405020304" pitchFamily="18" charset="0"/>
              <a:ea typeface="黑体" panose="02010609060101010101" pitchFamily="49" charset="-122"/>
            </a:endParaRPr>
          </a:p>
        </p:txBody>
      </p:sp>
      <p:sp>
        <p:nvSpPr>
          <p:cNvPr id="4" name="矩形 3"/>
          <p:cNvSpPr/>
          <p:nvPr/>
        </p:nvSpPr>
        <p:spPr>
          <a:xfrm>
            <a:off x="3432810" y="5730240"/>
            <a:ext cx="4426585" cy="51689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11" name="文本框 10"/>
          <p:cNvSpPr txBox="1"/>
          <p:nvPr/>
        </p:nvSpPr>
        <p:spPr>
          <a:xfrm>
            <a:off x="3544570" y="5756910"/>
            <a:ext cx="4328795" cy="460375"/>
          </a:xfrm>
          <a:prstGeom prst="rect">
            <a:avLst/>
          </a:prstGeom>
          <a:noFill/>
        </p:spPr>
        <p:txBody>
          <a:bodyPr wrap="square" rtlCol="0" anchor="t">
            <a:spAutoFit/>
          </a:bodyPr>
          <a:p>
            <a:pPr algn="just">
              <a:lnSpc>
                <a:spcPct val="120000"/>
              </a:lnSpc>
              <a:spcBef>
                <a:spcPts val="0"/>
              </a:spcBef>
              <a:buClr>
                <a:schemeClr val="hlink"/>
              </a:buClr>
              <a:buSzPct val="65000"/>
            </a:pPr>
            <a:r>
              <a:rPr sz="2000" b="1">
                <a:solidFill>
                  <a:srgbClr val="FF0000"/>
                </a:solidFill>
                <a:latin typeface="楷体" panose="02010609060101010101" charset="-122"/>
                <a:ea typeface="楷体" panose="02010609060101010101" charset="-122"/>
              </a:rPr>
              <a:t>思考题：</a:t>
            </a:r>
            <a:r>
              <a:rPr lang="zh-CN" sz="2000" b="1">
                <a:latin typeface="Times New Roman" panose="02020603050405020304" pitchFamily="18" charset="0"/>
                <a:ea typeface="黑体" panose="02010609060101010101" pitchFamily="49" charset="-122"/>
                <a:cs typeface="Times New Roman" panose="02020603050405020304" pitchFamily="18" charset="0"/>
              </a:rPr>
              <a:t>如何编程序实现</a:t>
            </a:r>
            <a:r>
              <a:rPr lang="zh-CN" sz="2000" b="1">
                <a:latin typeface="Times New Roman" panose="02020603050405020304" pitchFamily="18" charset="0"/>
                <a:ea typeface="黑体" panose="02010609060101010101" pitchFamily="49" charset="-122"/>
                <a:cs typeface="Times New Roman" panose="02020603050405020304" pitchFamily="18" charset="0"/>
              </a:rPr>
              <a:t>游程编码</a:t>
            </a:r>
            <a:r>
              <a:rPr lang="en-US" sz="2000" b="1">
                <a:latin typeface="Times New Roman" panose="02020603050405020304" pitchFamily="18" charset="0"/>
                <a:ea typeface="黑体" panose="02010609060101010101" pitchFamily="49" charset="-122"/>
                <a:cs typeface="Times New Roman" panose="02020603050405020304" pitchFamily="18" charset="0"/>
              </a:rPr>
              <a:t>?</a:t>
            </a:r>
            <a:endParaRPr lang="en-US" sz="20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LZ(Lemple-Ziv)编码</a:t>
            </a:r>
            <a:endParaRPr lang="zh-CN" altLang="en-US"/>
          </a:p>
        </p:txBody>
      </p:sp>
      <p:sp>
        <p:nvSpPr>
          <p:cNvPr id="3" name="内容占位符 2"/>
          <p:cNvSpPr>
            <a:spLocks noGrp="1"/>
          </p:cNvSpPr>
          <p:nvPr>
            <p:ph idx="1"/>
          </p:nvPr>
        </p:nvSpPr>
        <p:spPr>
          <a:xfrm>
            <a:off x="608330" y="1490345"/>
            <a:ext cx="10831830" cy="2849880"/>
          </a:xfrm>
        </p:spPr>
        <p:txBody>
          <a:bodyPr>
            <a:noAutofit/>
          </a:bodyPr>
          <a:p>
            <a:r>
              <a:rPr sz="2000">
                <a:sym typeface="+mn-ea"/>
              </a:rPr>
              <a:t>分段的方法：1)游程先取第一个符号作为第一段，然后再继续分段</a:t>
            </a:r>
            <a:r>
              <a:rPr lang="zh-CN" sz="2000">
                <a:sym typeface="+mn-ea"/>
              </a:rPr>
              <a:t>；</a:t>
            </a:r>
            <a:r>
              <a:rPr sz="2000">
                <a:sym typeface="+mn-ea"/>
              </a:rPr>
              <a:t>2)若有出现与前面符号一样时，就再添加紧跟后面的一个符号一起组成一段</a:t>
            </a:r>
            <a:r>
              <a:rPr lang="zh-CN" sz="2000">
                <a:sym typeface="+mn-ea"/>
              </a:rPr>
              <a:t>；</a:t>
            </a:r>
            <a:r>
              <a:rPr sz="2000">
                <a:sym typeface="+mn-ea"/>
              </a:rPr>
              <a:t>3)尽可能取最少个连着的符号并保证各段都不相同</a:t>
            </a:r>
            <a:r>
              <a:rPr lang="zh-CN" sz="2000">
                <a:sym typeface="+mn-ea"/>
              </a:rPr>
              <a:t>；</a:t>
            </a:r>
            <a:r>
              <a:rPr sz="2000">
                <a:sym typeface="+mn-ea"/>
              </a:rPr>
              <a:t>4)以此类推，直至信源符号序列结束</a:t>
            </a:r>
            <a:r>
              <a:rPr lang="zh-CN" sz="2000">
                <a:sym typeface="+mn-ea"/>
              </a:rPr>
              <a:t>。</a:t>
            </a:r>
            <a:endParaRPr sz="2000">
              <a:sym typeface="+mn-ea"/>
            </a:endParaRPr>
          </a:p>
          <a:p>
            <a:r>
              <a:rPr sz="2000">
                <a:sym typeface="+mn-ea"/>
              </a:rPr>
              <a:t>编码方法：首先去掉最后一个符号，然后看剩下的字符串在字典中的排序，这个排序值转换成二进制数作为指针</a:t>
            </a:r>
            <a:r>
              <a:rPr lang="en-US" sz="2000" i="1">
                <a:latin typeface="Times New Roman" panose="02020603050405020304" pitchFamily="18" charset="0"/>
                <a:cs typeface="Times New Roman" panose="02020603050405020304" pitchFamily="18" charset="0"/>
                <a:sym typeface="+mn-ea"/>
              </a:rPr>
              <a:t>X</a:t>
            </a:r>
            <a:r>
              <a:rPr sz="2000">
                <a:sym typeface="+mn-ea"/>
              </a:rPr>
              <a:t>的值，最后一个信源符号作为码字第2项</a:t>
            </a:r>
            <a:r>
              <a:rPr sz="2000" i="1">
                <a:latin typeface="Times New Roman" panose="02020603050405020304" pitchFamily="18" charset="0"/>
                <a:cs typeface="Times New Roman" panose="02020603050405020304" pitchFamily="18" charset="0"/>
                <a:sym typeface="+mn-ea"/>
              </a:rPr>
              <a:t>d</a:t>
            </a:r>
            <a:r>
              <a:rPr sz="2000">
                <a:sym typeface="+mn-ea"/>
              </a:rPr>
              <a:t>的值，即得到码字</a:t>
            </a:r>
            <a:r>
              <a:rPr sz="2000">
                <a:latin typeface="Times New Roman" panose="02020603050405020304" pitchFamily="18" charset="0"/>
                <a:cs typeface="Times New Roman" panose="02020603050405020304" pitchFamily="18" charset="0"/>
                <a:sym typeface="+mn-ea"/>
              </a:rPr>
              <a:t>(</a:t>
            </a:r>
            <a:r>
              <a:rPr sz="2000" i="1">
                <a:latin typeface="Times New Roman" panose="02020603050405020304" pitchFamily="18" charset="0"/>
                <a:cs typeface="Times New Roman" panose="02020603050405020304" pitchFamily="18" charset="0"/>
                <a:sym typeface="+mn-ea"/>
              </a:rPr>
              <a:t>X</a:t>
            </a:r>
            <a:r>
              <a:rPr sz="2000">
                <a:latin typeface="Times New Roman" panose="02020603050405020304" pitchFamily="18" charset="0"/>
                <a:cs typeface="Times New Roman" panose="02020603050405020304" pitchFamily="18" charset="0"/>
                <a:sym typeface="+mn-ea"/>
              </a:rPr>
              <a:t>, </a:t>
            </a:r>
            <a:r>
              <a:rPr sz="2000" i="1">
                <a:latin typeface="Times New Roman" panose="02020603050405020304" pitchFamily="18" charset="0"/>
                <a:cs typeface="Times New Roman" panose="02020603050405020304" pitchFamily="18" charset="0"/>
                <a:sym typeface="+mn-ea"/>
              </a:rPr>
              <a:t>d</a:t>
            </a:r>
            <a:r>
              <a:rPr sz="2000">
                <a:latin typeface="Times New Roman" panose="02020603050405020304" pitchFamily="18" charset="0"/>
                <a:cs typeface="Times New Roman" panose="02020603050405020304" pitchFamily="18" charset="0"/>
                <a:sym typeface="+mn-ea"/>
              </a:rPr>
              <a:t>)</a:t>
            </a:r>
            <a:r>
              <a:rPr lang="zh-CN" sz="2000">
                <a:sym typeface="+mn-ea"/>
              </a:rPr>
              <a:t>。</a:t>
            </a:r>
            <a:endParaRPr lang="zh-CN" sz="2000">
              <a:sym typeface="+mn-ea"/>
            </a:endParaRPr>
          </a:p>
        </p:txBody>
      </p:sp>
      <p:sp>
        <p:nvSpPr>
          <p:cNvPr id="9" name="矩形 8"/>
          <p:cNvSpPr/>
          <p:nvPr/>
        </p:nvSpPr>
        <p:spPr>
          <a:xfrm>
            <a:off x="1050925" y="4200525"/>
            <a:ext cx="10006965" cy="1326515"/>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6" name="文本框 5"/>
          <p:cNvSpPr txBox="1"/>
          <p:nvPr/>
        </p:nvSpPr>
        <p:spPr>
          <a:xfrm>
            <a:off x="1198245" y="4260215"/>
            <a:ext cx="9703435" cy="1198880"/>
          </a:xfrm>
          <a:prstGeom prst="rect">
            <a:avLst/>
          </a:prstGeom>
          <a:noFill/>
        </p:spPr>
        <p:txBody>
          <a:bodyPr wrap="square" rtlCol="0" anchor="t">
            <a:spAutoFit/>
          </a:bodyPr>
          <a:p>
            <a:pPr algn="just">
              <a:lnSpc>
                <a:spcPct val="120000"/>
              </a:lnSpc>
              <a:spcBef>
                <a:spcPts val="0"/>
              </a:spcBef>
              <a:buClr>
                <a:schemeClr val="hlink"/>
              </a:buClr>
              <a:buSzPct val="65000"/>
            </a:pPr>
            <a:r>
              <a:rPr lang="zh-CN" altLang="en-US" sz="2000" b="1" dirty="0">
                <a:solidFill>
                  <a:srgbClr val="FF0000"/>
                </a:solidFill>
                <a:latin typeface="楷体" panose="02010609060101010101" charset="-122"/>
                <a:ea typeface="楷体" panose="02010609060101010101" charset="-122"/>
                <a:cs typeface="楷体" panose="02010609060101010101" charset="-122"/>
                <a:sym typeface="+mn-ea"/>
              </a:rPr>
              <a:t>例子：</a:t>
            </a:r>
            <a:r>
              <a:rPr sz="2000" b="1">
                <a:solidFill>
                  <a:srgbClr val="0070C0"/>
                </a:solidFill>
                <a:latin typeface="Times New Roman" panose="02020603050405020304" pitchFamily="18" charset="0"/>
                <a:ea typeface="黑体" panose="02010609060101010101" pitchFamily="49" charset="-122"/>
              </a:rPr>
              <a:t>考虑比特序列101011011010101011，根据上面的编码方法可把该比特序列分段为1, 0, 10, 11, 01, 101, 010, 1011</a:t>
            </a:r>
            <a:r>
              <a:rPr lang="zh-CN" sz="2000" b="1">
                <a:solidFill>
                  <a:srgbClr val="0070C0"/>
                </a:solidFill>
                <a:latin typeface="Times New Roman" panose="02020603050405020304" pitchFamily="18" charset="0"/>
                <a:ea typeface="黑体" panose="02010609060101010101" pitchFamily="49" charset="-122"/>
              </a:rPr>
              <a:t>。</a:t>
            </a:r>
            <a:endParaRPr lang="zh-CN" sz="2000" b="1">
              <a:solidFill>
                <a:srgbClr val="0070C0"/>
              </a:solidFill>
              <a:latin typeface="Times New Roman" panose="02020603050405020304" pitchFamily="18" charset="0"/>
              <a:ea typeface="黑体" panose="02010609060101010101" pitchFamily="49" charset="-122"/>
            </a:endParaRPr>
          </a:p>
          <a:p>
            <a:pPr algn="just">
              <a:lnSpc>
                <a:spcPct val="120000"/>
              </a:lnSpc>
              <a:spcBef>
                <a:spcPts val="0"/>
              </a:spcBef>
              <a:buClr>
                <a:schemeClr val="hlink"/>
              </a:buClr>
              <a:buSzPct val="65000"/>
            </a:pPr>
            <a:r>
              <a:rPr lang="zh-CN" sz="2000" b="1">
                <a:solidFill>
                  <a:srgbClr val="0070C0"/>
                </a:solidFill>
                <a:latin typeface="Times New Roman" panose="02020603050405020304" pitchFamily="18" charset="0"/>
                <a:ea typeface="黑体" panose="02010609060101010101" pitchFamily="49" charset="-122"/>
              </a:rPr>
              <a:t>码字为：(000,1),( 000,0), (001,0), (001,1), (010,1), (011,1), (101,0), (110,1)。</a:t>
            </a:r>
            <a:endParaRPr lang="zh-CN" sz="2000" b="1">
              <a:solidFill>
                <a:srgbClr val="0070C0"/>
              </a:solidFill>
              <a:latin typeface="Times New Roman" panose="02020603050405020304" pitchFamily="18" charset="0"/>
              <a:ea typeface="黑体" panose="02010609060101010101" pitchFamily="49" charset="-122"/>
            </a:endParaRPr>
          </a:p>
        </p:txBody>
      </p:sp>
      <p:cxnSp>
        <p:nvCxnSpPr>
          <p:cNvPr id="5" name="直接箭头连接符 4"/>
          <p:cNvCxnSpPr/>
          <p:nvPr/>
        </p:nvCxnSpPr>
        <p:spPr>
          <a:xfrm>
            <a:off x="2102485" y="4950460"/>
            <a:ext cx="2251075" cy="307340"/>
          </a:xfrm>
          <a:prstGeom prst="straightConnector1">
            <a:avLst/>
          </a:prstGeom>
          <a:noFill/>
          <a:ln>
            <a:solidFill>
              <a:srgbClr val="7030A0"/>
            </a:solidFill>
            <a:tailEnd type="arrow"/>
          </a:ln>
        </p:spPr>
      </p:cxnSp>
      <p:cxnSp>
        <p:nvCxnSpPr>
          <p:cNvPr id="4" name="直接箭头连接符 3"/>
          <p:cNvCxnSpPr/>
          <p:nvPr/>
        </p:nvCxnSpPr>
        <p:spPr>
          <a:xfrm>
            <a:off x="2293620" y="4852035"/>
            <a:ext cx="2373630" cy="322580"/>
          </a:xfrm>
          <a:prstGeom prst="straightConnector1">
            <a:avLst/>
          </a:prstGeom>
          <a:noFill/>
          <a:ln>
            <a:solidFill>
              <a:srgbClr val="0070C0"/>
            </a:solidFill>
            <a:tailEnd type="arrow"/>
          </a:ln>
        </p:spPr>
      </p:cxnSp>
      <p:sp>
        <p:nvSpPr>
          <p:cNvPr id="7" name="矩形 6"/>
          <p:cNvSpPr/>
          <p:nvPr/>
        </p:nvSpPr>
        <p:spPr>
          <a:xfrm>
            <a:off x="3448685" y="5862320"/>
            <a:ext cx="4426585" cy="51689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11" name="文本框 10"/>
          <p:cNvSpPr txBox="1"/>
          <p:nvPr/>
        </p:nvSpPr>
        <p:spPr>
          <a:xfrm>
            <a:off x="3560445" y="5888990"/>
            <a:ext cx="4328795" cy="460375"/>
          </a:xfrm>
          <a:prstGeom prst="rect">
            <a:avLst/>
          </a:prstGeom>
          <a:noFill/>
        </p:spPr>
        <p:txBody>
          <a:bodyPr wrap="square" rtlCol="0" anchor="t">
            <a:spAutoFit/>
          </a:bodyPr>
          <a:p>
            <a:pPr algn="just">
              <a:lnSpc>
                <a:spcPct val="120000"/>
              </a:lnSpc>
              <a:spcBef>
                <a:spcPts val="0"/>
              </a:spcBef>
              <a:buClr>
                <a:schemeClr val="hlink"/>
              </a:buClr>
              <a:buSzPct val="65000"/>
            </a:pPr>
            <a:r>
              <a:rPr sz="2000" b="1">
                <a:solidFill>
                  <a:srgbClr val="FF0000"/>
                </a:solidFill>
                <a:latin typeface="楷体" panose="02010609060101010101" charset="-122"/>
                <a:ea typeface="楷体" panose="02010609060101010101" charset="-122"/>
              </a:rPr>
              <a:t>思考题：</a:t>
            </a:r>
            <a:r>
              <a:rPr lang="zh-CN" sz="2000" b="1">
                <a:latin typeface="Times New Roman" panose="02020603050405020304" pitchFamily="18" charset="0"/>
                <a:ea typeface="黑体" panose="02010609060101010101" pitchFamily="49" charset="-122"/>
                <a:cs typeface="Times New Roman" panose="02020603050405020304" pitchFamily="18" charset="0"/>
              </a:rPr>
              <a:t>如何编程序实现</a:t>
            </a:r>
            <a:r>
              <a:rPr lang="en-US" altLang="zh-CN" sz="2000" b="1">
                <a:latin typeface="Times New Roman" panose="02020603050405020304" pitchFamily="18" charset="0"/>
                <a:ea typeface="黑体" panose="02010609060101010101" pitchFamily="49" charset="-122"/>
                <a:cs typeface="Times New Roman" panose="02020603050405020304" pitchFamily="18" charset="0"/>
              </a:rPr>
              <a:t>LZ</a:t>
            </a:r>
            <a:r>
              <a:rPr lang="zh-CN" sz="2000" b="1">
                <a:latin typeface="Times New Roman" panose="02020603050405020304" pitchFamily="18" charset="0"/>
                <a:ea typeface="黑体" panose="02010609060101010101" pitchFamily="49" charset="-122"/>
                <a:cs typeface="Times New Roman" panose="02020603050405020304" pitchFamily="18" charset="0"/>
              </a:rPr>
              <a:t>编码</a:t>
            </a:r>
            <a:r>
              <a:rPr lang="en-US" sz="2000" b="1">
                <a:latin typeface="Times New Roman" panose="02020603050405020304" pitchFamily="18" charset="0"/>
                <a:ea typeface="黑体" panose="02010609060101010101" pitchFamily="49" charset="-122"/>
                <a:cs typeface="Times New Roman" panose="02020603050405020304" pitchFamily="18" charset="0"/>
              </a:rPr>
              <a:t>?</a:t>
            </a:r>
            <a:endParaRPr lang="en-US" sz="20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灯片编号占位符 7"/>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本章授课</a:t>
            </a:r>
            <a:r>
              <a:rPr lang="zh-CN" altLang="en-US"/>
              <a:t>内容</a:t>
            </a:r>
            <a:endParaRPr lang="zh-CN" altLang="en-US"/>
          </a:p>
        </p:txBody>
      </p:sp>
      <p:sp>
        <p:nvSpPr>
          <p:cNvPr id="3" name="内容占位符 2"/>
          <p:cNvSpPr>
            <a:spLocks noGrp="1"/>
          </p:cNvSpPr>
          <p:nvPr>
            <p:ph idx="1"/>
          </p:nvPr>
        </p:nvSpPr>
        <p:spPr>
          <a:xfrm>
            <a:off x="608330" y="1550035"/>
            <a:ext cx="10749915" cy="3526790"/>
          </a:xfrm>
        </p:spPr>
        <p:txBody>
          <a:bodyPr>
            <a:noAutofit/>
          </a:bodyPr>
          <a:p>
            <a:pPr>
              <a:lnSpc>
                <a:spcPct val="200000"/>
              </a:lnSpc>
            </a:pPr>
            <a:r>
              <a:rPr sz="2400">
                <a:solidFill>
                  <a:schemeClr val="bg1">
                    <a:lumMod val="75000"/>
                  </a:schemeClr>
                </a:solidFill>
              </a:rPr>
              <a:t>信息论涉及的一些基础概念及其数学定义</a:t>
            </a:r>
            <a:endParaRPr sz="2400">
              <a:solidFill>
                <a:schemeClr val="accent1"/>
              </a:solidFill>
            </a:endParaRPr>
          </a:p>
          <a:p>
            <a:pPr algn="l">
              <a:lnSpc>
                <a:spcPct val="200000"/>
              </a:lnSpc>
              <a:buClrTx/>
              <a:buSzTx/>
            </a:pPr>
            <a:r>
              <a:rPr sz="2400">
                <a:solidFill>
                  <a:schemeClr val="bg1">
                    <a:lumMod val="75000"/>
                  </a:schemeClr>
                </a:solidFill>
              </a:rPr>
              <a:t>无失真信源编码</a:t>
            </a:r>
            <a:endParaRPr sz="2400">
              <a:solidFill>
                <a:schemeClr val="bg1">
                  <a:lumMod val="75000"/>
                </a:schemeClr>
              </a:solidFill>
            </a:endParaRPr>
          </a:p>
          <a:p>
            <a:pPr>
              <a:lnSpc>
                <a:spcPct val="200000"/>
              </a:lnSpc>
            </a:pPr>
            <a:r>
              <a:rPr sz="2400">
                <a:solidFill>
                  <a:schemeClr val="bg1">
                    <a:lumMod val="75000"/>
                  </a:schemeClr>
                </a:solidFill>
              </a:rPr>
              <a:t>经典的信源编码方法</a:t>
            </a:r>
            <a:endParaRPr sz="2400">
              <a:solidFill>
                <a:schemeClr val="accent1"/>
              </a:solidFill>
            </a:endParaRPr>
          </a:p>
          <a:p>
            <a:pPr>
              <a:lnSpc>
                <a:spcPct val="200000"/>
              </a:lnSpc>
            </a:pPr>
            <a:r>
              <a:rPr lang="zh-CN" sz="2400">
                <a:solidFill>
                  <a:schemeClr val="accent1"/>
                </a:solidFill>
              </a:rPr>
              <a:t>纠错码的理论基础</a:t>
            </a:r>
            <a:endParaRPr lang="zh-CN" sz="2400">
              <a:solidFill>
                <a:schemeClr val="accent1"/>
              </a:solidFill>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信道容量</a:t>
            </a:r>
            <a:endParaRPr lang="zh-CN" altLang="en-US"/>
          </a:p>
        </p:txBody>
      </p:sp>
      <p:sp>
        <p:nvSpPr>
          <p:cNvPr id="3" name="内容占位符 2"/>
          <p:cNvSpPr>
            <a:spLocks noGrp="1"/>
          </p:cNvSpPr>
          <p:nvPr>
            <p:ph idx="1"/>
          </p:nvPr>
        </p:nvSpPr>
        <p:spPr>
          <a:xfrm>
            <a:off x="608330" y="1490345"/>
            <a:ext cx="10831830" cy="1765300"/>
          </a:xfrm>
        </p:spPr>
        <p:txBody>
          <a:bodyPr>
            <a:noAutofit/>
          </a:bodyPr>
          <a:p>
            <a:r>
              <a:rPr lang="zh-CN" sz="2400" b="1">
                <a:solidFill>
                  <a:schemeClr val="accent6">
                    <a:lumMod val="75000"/>
                  </a:schemeClr>
                </a:solidFill>
                <a:sym typeface="+mn-ea"/>
              </a:rPr>
              <a:t>定义</a:t>
            </a:r>
            <a:r>
              <a:rPr sz="2400">
                <a:sym typeface="+mn-ea"/>
              </a:rPr>
              <a:t>：考虑某种概率分布为</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a:sym typeface="+mn-ea"/>
              </a:rPr>
              <a:t>的离散无记忆信源，对于一个固定的信道，信道容量被定义为最大的平均互信息，此时传输每个符号平均获得的信息量最大，即对于每个固定的信道可以达到最大的信息传输率，即</a:t>
            </a:r>
            <a:endParaRPr sz="2400">
              <a:sym typeface="+mn-ea"/>
            </a:endParaRPr>
          </a:p>
        </p:txBody>
      </p:sp>
      <p:graphicFrame>
        <p:nvGraphicFramePr>
          <p:cNvPr id="4" name="对象 3">
            <a:hlinkClick r:id="" action="ppaction://ole?verb="/>
          </p:cNvPr>
          <p:cNvGraphicFramePr>
            <a:graphicFrameLocks noChangeAspect="1"/>
          </p:cNvGraphicFramePr>
          <p:nvPr/>
        </p:nvGraphicFramePr>
        <p:xfrm>
          <a:off x="2261870" y="3136900"/>
          <a:ext cx="7861935" cy="925195"/>
        </p:xfrm>
        <a:graphic>
          <a:graphicData uri="http://schemas.openxmlformats.org/presentationml/2006/ole">
            <mc:AlternateContent xmlns:mc="http://schemas.openxmlformats.org/markup-compatibility/2006">
              <mc:Choice xmlns:v="urn:schemas-microsoft-com:vml" Requires="v">
                <p:oleObj spid="_x0000_s5" name="" r:id="rId1" imgW="3352800" imgH="495300" progId="Equation.KSEE3">
                  <p:embed/>
                </p:oleObj>
              </mc:Choice>
              <mc:Fallback>
                <p:oleObj name="" r:id="rId1" imgW="3352800" imgH="495300" progId="Equation.KSEE3">
                  <p:embed/>
                  <p:pic>
                    <p:nvPicPr>
                      <p:cNvPr id="0" name="图片 2048"/>
                      <p:cNvPicPr/>
                      <p:nvPr/>
                    </p:nvPicPr>
                    <p:blipFill>
                      <a:blip r:embed="rId2"/>
                      <a:stretch>
                        <a:fillRect/>
                      </a:stretch>
                    </p:blipFill>
                    <p:spPr>
                      <a:xfrm>
                        <a:off x="2261870" y="3136900"/>
                        <a:ext cx="7861935" cy="925195"/>
                      </a:xfrm>
                      <a:prstGeom prst="rect">
                        <a:avLst/>
                      </a:prstGeom>
                    </p:spPr>
                  </p:pic>
                </p:oleObj>
              </mc:Fallback>
            </mc:AlternateContent>
          </a:graphicData>
        </a:graphic>
      </p:graphicFrame>
      <p:sp>
        <p:nvSpPr>
          <p:cNvPr id="6" name="内容占位符 2"/>
          <p:cNvSpPr>
            <a:spLocks noGrp="1"/>
          </p:cNvSpPr>
          <p:nvPr/>
        </p:nvSpPr>
        <p:spPr>
          <a:xfrm>
            <a:off x="582930" y="4340225"/>
            <a:ext cx="2649855" cy="526415"/>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a:sym typeface="+mn-ea"/>
              </a:rPr>
              <a:t>  </a:t>
            </a:r>
            <a:r>
              <a:rPr sz="2400">
                <a:sym typeface="+mn-ea"/>
              </a:rPr>
              <a:t>其约束条件为</a:t>
            </a:r>
            <a:endParaRPr sz="2400">
              <a:sym typeface="+mn-ea"/>
            </a:endParaRPr>
          </a:p>
        </p:txBody>
      </p:sp>
      <p:graphicFrame>
        <p:nvGraphicFramePr>
          <p:cNvPr id="7" name="对象 6">
            <a:hlinkClick r:id="" action="ppaction://ole?verb="/>
          </p:cNvPr>
          <p:cNvGraphicFramePr>
            <a:graphicFrameLocks noChangeAspect="1"/>
          </p:cNvGraphicFramePr>
          <p:nvPr/>
        </p:nvGraphicFramePr>
        <p:xfrm>
          <a:off x="2924810" y="4273550"/>
          <a:ext cx="3187065" cy="854075"/>
        </p:xfrm>
        <a:graphic>
          <a:graphicData uri="http://schemas.openxmlformats.org/presentationml/2006/ole">
            <mc:AlternateContent xmlns:mc="http://schemas.openxmlformats.org/markup-compatibility/2006">
              <mc:Choice xmlns:v="urn:schemas-microsoft-com:vml" Requires="v">
                <p:oleObj spid="_x0000_s8" name="" r:id="rId3" imgW="1358900" imgH="457200" progId="Equation.KSEE3">
                  <p:embed/>
                </p:oleObj>
              </mc:Choice>
              <mc:Fallback>
                <p:oleObj name="" r:id="rId3" imgW="1358900" imgH="457200" progId="Equation.KSEE3">
                  <p:embed/>
                  <p:pic>
                    <p:nvPicPr>
                      <p:cNvPr id="0" name="图片 2048"/>
                      <p:cNvPicPr/>
                      <p:nvPr/>
                    </p:nvPicPr>
                    <p:blipFill>
                      <a:blip r:embed="rId4"/>
                      <a:stretch>
                        <a:fillRect/>
                      </a:stretch>
                    </p:blipFill>
                    <p:spPr>
                      <a:xfrm>
                        <a:off x="2924810" y="4273550"/>
                        <a:ext cx="3187065" cy="854075"/>
                      </a:xfrm>
                      <a:prstGeom prst="rect">
                        <a:avLst/>
                      </a:prstGeom>
                    </p:spPr>
                  </p:pic>
                </p:oleObj>
              </mc:Fallback>
            </mc:AlternateContent>
          </a:graphicData>
        </a:graphic>
      </p:graphicFrame>
      <p:sp>
        <p:nvSpPr>
          <p:cNvPr id="9" name="矩形 8"/>
          <p:cNvSpPr/>
          <p:nvPr/>
        </p:nvSpPr>
        <p:spPr>
          <a:xfrm>
            <a:off x="3266440" y="5394960"/>
            <a:ext cx="5396865" cy="51689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10" name="文本框 9"/>
          <p:cNvSpPr txBox="1"/>
          <p:nvPr/>
        </p:nvSpPr>
        <p:spPr>
          <a:xfrm>
            <a:off x="3378200" y="5421630"/>
            <a:ext cx="5522595" cy="460375"/>
          </a:xfrm>
          <a:prstGeom prst="rect">
            <a:avLst/>
          </a:prstGeom>
          <a:noFill/>
        </p:spPr>
        <p:txBody>
          <a:bodyPr wrap="square" rtlCol="0" anchor="t">
            <a:spAutoFit/>
          </a:bodyPr>
          <a:p>
            <a:pPr algn="just">
              <a:lnSpc>
                <a:spcPct val="120000"/>
              </a:lnSpc>
              <a:spcBef>
                <a:spcPts val="0"/>
              </a:spcBef>
              <a:buClr>
                <a:schemeClr val="hlink"/>
              </a:buClr>
              <a:buSzPct val="65000"/>
            </a:pPr>
            <a:r>
              <a:rPr sz="2000" b="1">
                <a:solidFill>
                  <a:srgbClr val="FF0000"/>
                </a:solidFill>
                <a:latin typeface="楷体" panose="02010609060101010101" charset="-122"/>
                <a:ea typeface="楷体" panose="02010609060101010101" charset="-122"/>
              </a:rPr>
              <a:t>思考题：</a:t>
            </a:r>
            <a:r>
              <a:rPr lang="zh-CN" sz="2000" b="1">
                <a:latin typeface="Times New Roman" panose="02020603050405020304" pitchFamily="18" charset="0"/>
                <a:ea typeface="黑体" panose="02010609060101010101" pitchFamily="49" charset="-122"/>
                <a:cs typeface="Times New Roman" panose="02020603050405020304" pitchFamily="18" charset="0"/>
              </a:rPr>
              <a:t>如何计算给定某种信道的信道容量</a:t>
            </a:r>
            <a:r>
              <a:rPr lang="en-US" sz="2000" b="1">
                <a:latin typeface="Times New Roman" panose="02020603050405020304" pitchFamily="18" charset="0"/>
                <a:ea typeface="黑体" panose="02010609060101010101" pitchFamily="49" charset="-122"/>
                <a:cs typeface="Times New Roman" panose="02020603050405020304" pitchFamily="18" charset="0"/>
              </a:rPr>
              <a:t>?</a:t>
            </a:r>
            <a:endParaRPr lang="en-US" sz="20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灯片编号占位符 10"/>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纠错编码的理论基础</a:t>
            </a:r>
            <a:endParaRPr lang="zh-CN" altLang="en-US"/>
          </a:p>
        </p:txBody>
      </p:sp>
      <p:sp>
        <p:nvSpPr>
          <p:cNvPr id="3" name="内容占位符 2"/>
          <p:cNvSpPr>
            <a:spLocks noGrp="1"/>
          </p:cNvSpPr>
          <p:nvPr>
            <p:ph idx="1"/>
          </p:nvPr>
        </p:nvSpPr>
        <p:spPr>
          <a:xfrm>
            <a:off x="608330" y="1490345"/>
            <a:ext cx="10831830" cy="4930775"/>
          </a:xfrm>
        </p:spPr>
        <p:txBody>
          <a:bodyPr>
            <a:normAutofit lnSpcReduction="20000"/>
          </a:bodyPr>
          <a:p>
            <a:pPr>
              <a:lnSpc>
                <a:spcPct val="150000"/>
              </a:lnSpc>
            </a:pPr>
            <a:r>
              <a:rPr lang="zh-CN" sz="2400" b="1">
                <a:solidFill>
                  <a:schemeClr val="accent6">
                    <a:lumMod val="75000"/>
                  </a:schemeClr>
                </a:solidFill>
              </a:rPr>
              <a:t>香农编码定理</a:t>
            </a:r>
            <a:r>
              <a:rPr sz="2400"/>
              <a:t>：</a:t>
            </a:r>
            <a:r>
              <a:rPr sz="2400">
                <a:highlight>
                  <a:srgbClr val="FFFF00"/>
                </a:highlight>
              </a:rPr>
              <a:t>如果系统的传输率小于信道容量，那么适当选择编码技术就能实现可靠通信，即可以将差错率减小到任意小的程度</a:t>
            </a:r>
            <a:r>
              <a:rPr sz="2400"/>
              <a:t>。更确切地，每个信道都具有固定的信道容量</a:t>
            </a:r>
            <a:r>
              <a:rPr sz="2400" i="1">
                <a:latin typeface="Times New Roman" panose="02020603050405020304" pitchFamily="18" charset="0"/>
                <a:cs typeface="Times New Roman" panose="02020603050405020304" pitchFamily="18" charset="0"/>
              </a:rPr>
              <a:t>C</a:t>
            </a:r>
            <a:r>
              <a:rPr sz="2400"/>
              <a:t>，对任何小于</a:t>
            </a:r>
            <a:r>
              <a:rPr sz="2400" i="1">
                <a:latin typeface="Times New Roman" panose="02020603050405020304" pitchFamily="18" charset="0"/>
                <a:cs typeface="Times New Roman" panose="02020603050405020304" pitchFamily="18" charset="0"/>
              </a:rPr>
              <a:t>C</a:t>
            </a:r>
            <a:r>
              <a:rPr sz="2400"/>
              <a:t>的信息传输率</a:t>
            </a:r>
            <a:r>
              <a:rPr sz="2400" i="1">
                <a:latin typeface="Times New Roman" panose="02020603050405020304" pitchFamily="18" charset="0"/>
                <a:cs typeface="Times New Roman" panose="02020603050405020304" pitchFamily="18" charset="0"/>
              </a:rPr>
              <a:t>R</a:t>
            </a:r>
            <a:r>
              <a:rPr sz="2400"/>
              <a:t>，存在一个码长为</a:t>
            </a:r>
            <a:r>
              <a:rPr sz="2400" i="1">
                <a:latin typeface="Times New Roman" panose="02020603050405020304" pitchFamily="18" charset="0"/>
                <a:cs typeface="Times New Roman" panose="02020603050405020304" pitchFamily="18" charset="0"/>
              </a:rPr>
              <a:t>n</a:t>
            </a:r>
            <a:r>
              <a:rPr sz="2400"/>
              <a:t>码率为</a:t>
            </a:r>
            <a:r>
              <a:rPr sz="2400" i="1">
                <a:latin typeface="Times New Roman" panose="02020603050405020304" pitchFamily="18" charset="0"/>
                <a:cs typeface="Times New Roman" panose="02020603050405020304" pitchFamily="18" charset="0"/>
              </a:rPr>
              <a:t>R</a:t>
            </a:r>
            <a:r>
              <a:rPr sz="2400"/>
              <a:t>的分组码，若用最大似然译码，则其译码错误概率为   		。对于码率为</a:t>
            </a:r>
            <a:r>
              <a:rPr sz="2400" i="1">
                <a:latin typeface="Times New Roman" panose="02020603050405020304" pitchFamily="18" charset="0"/>
                <a:cs typeface="Times New Roman" panose="02020603050405020304" pitchFamily="18" charset="0"/>
              </a:rPr>
              <a:t>R</a:t>
            </a:r>
            <a:r>
              <a:rPr sz="2400"/>
              <a:t>约束长度为</a:t>
            </a:r>
            <a:r>
              <a:rPr sz="2400" i="1">
                <a:latin typeface="Times New Roman" panose="02020603050405020304" pitchFamily="18" charset="0"/>
                <a:cs typeface="Times New Roman" panose="02020603050405020304" pitchFamily="18" charset="0"/>
              </a:rPr>
              <a:t>n</a:t>
            </a:r>
            <a:r>
              <a:rPr sz="2400" i="1" baseline="-25000">
                <a:latin typeface="Times New Roman" panose="02020603050405020304" pitchFamily="18" charset="0"/>
                <a:cs typeface="Times New Roman" panose="02020603050405020304" pitchFamily="18" charset="0"/>
              </a:rPr>
              <a:t>e</a:t>
            </a:r>
            <a:r>
              <a:rPr sz="2400"/>
              <a:t>的卷积码，其译码错误概率也有类似的关系，即            </a:t>
            </a:r>
            <a:r>
              <a:rPr lang="en-US" sz="2400"/>
              <a:t>    </a:t>
            </a:r>
            <a:r>
              <a:rPr sz="2400"/>
              <a:t>，其中</a:t>
            </a:r>
            <a:r>
              <a:rPr sz="2400" i="1">
                <a:latin typeface="Times New Roman" panose="02020603050405020304" pitchFamily="18" charset="0"/>
                <a:cs typeface="Times New Roman" panose="02020603050405020304" pitchFamily="18" charset="0"/>
              </a:rPr>
              <a:t>A</a:t>
            </a:r>
            <a:r>
              <a:rPr sz="2400"/>
              <a:t>和</a:t>
            </a:r>
            <a:r>
              <a:rPr sz="2400" i="1">
                <a:latin typeface="Times New Roman" panose="02020603050405020304" pitchFamily="18" charset="0"/>
                <a:cs typeface="Times New Roman" panose="02020603050405020304" pitchFamily="18" charset="0"/>
              </a:rPr>
              <a:t>B</a:t>
            </a:r>
            <a:r>
              <a:rPr sz="2400"/>
              <a:t>都为大于</a:t>
            </a:r>
            <a:r>
              <a:rPr sz="2400">
                <a:latin typeface="Times New Roman" panose="02020603050405020304" pitchFamily="18" charset="0"/>
                <a:cs typeface="Times New Roman" panose="02020603050405020304" pitchFamily="18" charset="0"/>
              </a:rPr>
              <a:t>0</a:t>
            </a:r>
            <a:r>
              <a:rPr sz="2400"/>
              <a:t>的数，</a:t>
            </a:r>
            <a:r>
              <a:rPr sz="2400" i="1">
                <a:latin typeface="Times New Roman" panose="02020603050405020304" pitchFamily="18" charset="0"/>
                <a:cs typeface="Times New Roman" panose="02020603050405020304" pitchFamily="18" charset="0"/>
              </a:rPr>
              <a:t>E</a:t>
            </a:r>
            <a:r>
              <a:rPr sz="2400" i="1" baseline="-25000">
                <a:latin typeface="Times New Roman" panose="02020603050405020304" pitchFamily="18" charset="0"/>
                <a:cs typeface="Times New Roman" panose="02020603050405020304" pitchFamily="18" charset="0"/>
              </a:rPr>
              <a:t>b</a:t>
            </a:r>
            <a:r>
              <a:rPr sz="2400"/>
              <a:t>(</a:t>
            </a:r>
            <a:r>
              <a:rPr sz="2400" i="1">
                <a:latin typeface="Times New Roman" panose="02020603050405020304" pitchFamily="18" charset="0"/>
                <a:cs typeface="Times New Roman" panose="02020603050405020304" pitchFamily="18" charset="0"/>
              </a:rPr>
              <a:t>R</a:t>
            </a:r>
            <a:r>
              <a:rPr sz="2400"/>
              <a:t>)和</a:t>
            </a:r>
            <a:r>
              <a:rPr sz="2400" i="1">
                <a:latin typeface="Times New Roman" panose="02020603050405020304" pitchFamily="18" charset="0"/>
                <a:cs typeface="Times New Roman" panose="02020603050405020304" pitchFamily="18" charset="0"/>
              </a:rPr>
              <a:t>E</a:t>
            </a:r>
            <a:r>
              <a:rPr sz="2400" i="1" baseline="-25000">
                <a:latin typeface="Times New Roman" panose="02020603050405020304" pitchFamily="18" charset="0"/>
                <a:cs typeface="Times New Roman" panose="02020603050405020304" pitchFamily="18" charset="0"/>
              </a:rPr>
              <a:t>e</a:t>
            </a:r>
            <a:r>
              <a:rPr sz="2400"/>
              <a:t>(</a:t>
            </a:r>
            <a:r>
              <a:rPr sz="2400" i="1">
                <a:latin typeface="Times New Roman" panose="02020603050405020304" pitchFamily="18" charset="0"/>
                <a:cs typeface="Times New Roman" panose="02020603050405020304" pitchFamily="18" charset="0"/>
              </a:rPr>
              <a:t>R</a:t>
            </a:r>
            <a:r>
              <a:rPr sz="2400"/>
              <a:t>)为正实函数，叫做误差指数。</a:t>
            </a:r>
            <a:endParaRPr sz="2400"/>
          </a:p>
        </p:txBody>
      </p:sp>
      <p:graphicFrame>
        <p:nvGraphicFramePr>
          <p:cNvPr id="4" name="对象 3">
            <a:hlinkClick r:id="" action="ppaction://ole?verb="/>
          </p:cNvPr>
          <p:cNvGraphicFramePr>
            <a:graphicFrameLocks noChangeAspect="1"/>
          </p:cNvGraphicFramePr>
          <p:nvPr/>
        </p:nvGraphicFramePr>
        <p:xfrm>
          <a:off x="920750" y="3499485"/>
          <a:ext cx="1583690" cy="376555"/>
        </p:xfrm>
        <a:graphic>
          <a:graphicData uri="http://schemas.openxmlformats.org/presentationml/2006/ole">
            <mc:AlternateContent xmlns:mc="http://schemas.openxmlformats.org/markup-compatibility/2006">
              <mc:Choice xmlns:v="urn:schemas-microsoft-com:vml" Requires="v">
                <p:oleObj spid="_x0000_s1025" name="" r:id="rId1" imgW="876300" imgH="203200" progId="Equation.KSEE3">
                  <p:embed/>
                </p:oleObj>
              </mc:Choice>
              <mc:Fallback>
                <p:oleObj name="" r:id="rId1" imgW="876300" imgH="203200" progId="Equation.KSEE3">
                  <p:embed/>
                  <p:pic>
                    <p:nvPicPr>
                      <p:cNvPr id="0" name="图片 1024"/>
                      <p:cNvPicPr/>
                      <p:nvPr/>
                    </p:nvPicPr>
                    <p:blipFill>
                      <a:blip r:embed="rId2"/>
                      <a:stretch>
                        <a:fillRect/>
                      </a:stretch>
                    </p:blipFill>
                    <p:spPr>
                      <a:xfrm>
                        <a:off x="920750" y="3499485"/>
                        <a:ext cx="1583690" cy="376555"/>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3221990" y="4010025"/>
          <a:ext cx="1637030" cy="379095"/>
        </p:xfrm>
        <a:graphic>
          <a:graphicData uri="http://schemas.openxmlformats.org/presentationml/2006/ole">
            <mc:AlternateContent xmlns:mc="http://schemas.openxmlformats.org/markup-compatibility/2006">
              <mc:Choice xmlns:v="urn:schemas-microsoft-com:vml" Requires="v">
                <p:oleObj spid="_x0000_s6" name="" r:id="rId3" imgW="901700" imgH="203200" progId="Equation.KSEE3">
                  <p:embed/>
                </p:oleObj>
              </mc:Choice>
              <mc:Fallback>
                <p:oleObj name="" r:id="rId3" imgW="901700" imgH="203200" progId="Equation.KSEE3">
                  <p:embed/>
                  <p:pic>
                    <p:nvPicPr>
                      <p:cNvPr id="0" name="图片 1024"/>
                      <p:cNvPicPr/>
                      <p:nvPr/>
                    </p:nvPicPr>
                    <p:blipFill>
                      <a:blip r:embed="rId4"/>
                      <a:stretch>
                        <a:fillRect/>
                      </a:stretch>
                    </p:blipFill>
                    <p:spPr>
                      <a:xfrm>
                        <a:off x="3221990" y="4010025"/>
                        <a:ext cx="1637030" cy="379095"/>
                      </a:xfrm>
                      <a:prstGeom prst="rect">
                        <a:avLst/>
                      </a:prstGeom>
                    </p:spPr>
                  </p:pic>
                </p:oleObj>
              </mc:Fallback>
            </mc:AlternateContent>
          </a:graphicData>
        </a:graphic>
      </p:graphicFrame>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科学哲学：过程比结果更重要</a:t>
            </a:r>
            <a:r>
              <a:rPr lang="en-US" altLang="zh-CN"/>
              <a:t>(</a:t>
            </a:r>
            <a:r>
              <a:rPr lang="zh-CN" altLang="en-US"/>
              <a:t>课堂思政</a:t>
            </a:r>
            <a:r>
              <a:rPr lang="en-US" altLang="zh-CN"/>
              <a:t>)</a:t>
            </a:r>
            <a:endParaRPr lang="en-US" altLang="zh-CN"/>
          </a:p>
        </p:txBody>
      </p:sp>
      <p:sp>
        <p:nvSpPr>
          <p:cNvPr id="3" name="内容占位符 2"/>
          <p:cNvSpPr>
            <a:spLocks noGrp="1"/>
          </p:cNvSpPr>
          <p:nvPr>
            <p:ph idx="1"/>
          </p:nvPr>
        </p:nvSpPr>
        <p:spPr>
          <a:xfrm>
            <a:off x="608330" y="1490345"/>
            <a:ext cx="10831830" cy="3271520"/>
          </a:xfrm>
        </p:spPr>
        <p:txBody>
          <a:bodyPr>
            <a:noAutofit/>
          </a:bodyPr>
          <a:p>
            <a:r>
              <a:rPr lang="zh-CN" sz="2400">
                <a:sym typeface="+mn-ea"/>
              </a:rPr>
              <a:t>香</a:t>
            </a:r>
            <a:r>
              <a:rPr sz="2400"/>
              <a:t>农编码定理解决了纠错码的存在性问题，虽然仙农当时未能构造出一个纠错码，但是从此之后纠错编码的研究与应用开始了前所未有的发展，人们一直在不停的努力解决构造性问题。为了接近信息传输率的上限，已经提出了很多的纠错编码技术。</a:t>
            </a:r>
            <a:endParaRPr sz="2400"/>
          </a:p>
          <a:p>
            <a:r>
              <a:rPr sz="2400"/>
              <a:t>我们从</a:t>
            </a:r>
            <a:r>
              <a:rPr lang="zh-CN" sz="2400"/>
              <a:t>香</a:t>
            </a:r>
            <a:r>
              <a:rPr sz="2400"/>
              <a:t>农(1916-2001)生平故事中得到一个启示：富有创造性的富有成果的生活也可以是快乐的生活</a:t>
            </a:r>
            <a:r>
              <a:rPr lang="zh-CN" sz="2400"/>
              <a:t>。</a:t>
            </a:r>
            <a:endParaRPr lang="zh-CN" sz="2400"/>
          </a:p>
        </p:txBody>
      </p:sp>
      <p:graphicFrame>
        <p:nvGraphicFramePr>
          <p:cNvPr id="12" name="对象 11"/>
          <p:cNvGraphicFramePr/>
          <p:nvPr/>
        </p:nvGraphicFramePr>
        <p:xfrm>
          <a:off x="802640" y="4938395"/>
          <a:ext cx="5115560" cy="1207135"/>
        </p:xfrm>
        <a:graphic>
          <a:graphicData uri="http://schemas.openxmlformats.org/presentationml/2006/ole">
            <mc:AlternateContent xmlns:mc="http://schemas.openxmlformats.org/markup-compatibility/2006">
              <mc:Choice xmlns:v="urn:schemas-microsoft-com:vml" Requires="v">
                <p:oleObj spid="_x0000_s13" name="" r:id="rId1" imgW="5422900" imgH="1206500" progId="Paint.Picture">
                  <p:embed/>
                </p:oleObj>
              </mc:Choice>
              <mc:Fallback>
                <p:oleObj name="" r:id="rId1" imgW="5422900" imgH="1206500" progId="Paint.Picture">
                  <p:embed/>
                  <p:pic>
                    <p:nvPicPr>
                      <p:cNvPr id="0" name="图片 12"/>
                      <p:cNvPicPr/>
                      <p:nvPr/>
                    </p:nvPicPr>
                    <p:blipFill>
                      <a:blip r:embed="rId2"/>
                      <a:stretch>
                        <a:fillRect/>
                      </a:stretch>
                    </p:blipFill>
                    <p:spPr>
                      <a:xfrm>
                        <a:off x="802640" y="4938395"/>
                        <a:ext cx="5115560" cy="1207135"/>
                      </a:xfrm>
                      <a:prstGeom prst="rect">
                        <a:avLst/>
                      </a:prstGeom>
                    </p:spPr>
                  </p:pic>
                </p:oleObj>
              </mc:Fallback>
            </mc:AlternateContent>
          </a:graphicData>
        </a:graphic>
      </p:graphicFrame>
      <p:graphicFrame>
        <p:nvGraphicFramePr>
          <p:cNvPr id="16" name="对象 15"/>
          <p:cNvGraphicFramePr/>
          <p:nvPr/>
        </p:nvGraphicFramePr>
        <p:xfrm>
          <a:off x="6175375" y="4938395"/>
          <a:ext cx="5028565" cy="1283970"/>
        </p:xfrm>
        <a:graphic>
          <a:graphicData uri="http://schemas.openxmlformats.org/presentationml/2006/ole">
            <mc:AlternateContent xmlns:mc="http://schemas.openxmlformats.org/markup-compatibility/2006">
              <mc:Choice xmlns:v="urn:schemas-microsoft-com:vml" Requires="v">
                <p:oleObj spid="_x0000_s17" name="" r:id="rId3" imgW="5422900" imgH="1282700" progId="Paint.Picture">
                  <p:embed/>
                </p:oleObj>
              </mc:Choice>
              <mc:Fallback>
                <p:oleObj name="" r:id="rId3" imgW="5422900" imgH="1282700" progId="Paint.Picture">
                  <p:embed/>
                  <p:pic>
                    <p:nvPicPr>
                      <p:cNvPr id="0" name="图片 16"/>
                      <p:cNvPicPr/>
                      <p:nvPr/>
                    </p:nvPicPr>
                    <p:blipFill>
                      <a:blip r:embed="rId4"/>
                      <a:stretch>
                        <a:fillRect/>
                      </a:stretch>
                    </p:blipFill>
                    <p:spPr>
                      <a:xfrm>
                        <a:off x="6175375" y="4938395"/>
                        <a:ext cx="5028565" cy="1283970"/>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信道编码定理</a:t>
            </a:r>
            <a:endParaRPr lang="zh-CN" altLang="en-US"/>
          </a:p>
        </p:txBody>
      </p:sp>
      <p:sp>
        <p:nvSpPr>
          <p:cNvPr id="3" name="内容占位符 2"/>
          <p:cNvSpPr>
            <a:spLocks noGrp="1"/>
          </p:cNvSpPr>
          <p:nvPr>
            <p:ph idx="1"/>
          </p:nvPr>
        </p:nvSpPr>
        <p:spPr>
          <a:xfrm>
            <a:off x="608330" y="1490345"/>
            <a:ext cx="10831830" cy="3119755"/>
          </a:xfrm>
        </p:spPr>
        <p:txBody>
          <a:bodyPr>
            <a:noAutofit/>
          </a:bodyPr>
          <a:p>
            <a:r>
              <a:rPr lang="zh-CN" sz="2400" b="1">
                <a:solidFill>
                  <a:schemeClr val="accent6">
                    <a:lumMod val="75000"/>
                  </a:schemeClr>
                </a:solidFill>
                <a:sym typeface="+mn-ea"/>
              </a:rPr>
              <a:t>定理</a:t>
            </a:r>
            <a:r>
              <a:rPr sz="2400">
                <a:sym typeface="+mn-ea"/>
              </a:rPr>
              <a:t>：假设DMS有信源字符集</a:t>
            </a:r>
            <a:r>
              <a:rPr sz="2400" i="1">
                <a:latin typeface="Times New Roman" panose="02020603050405020304" pitchFamily="18" charset="0"/>
                <a:cs typeface="Times New Roman" panose="02020603050405020304" pitchFamily="18" charset="0"/>
                <a:sym typeface="+mn-ea"/>
              </a:rPr>
              <a:t>X</a:t>
            </a:r>
            <a:r>
              <a:rPr sz="2400">
                <a:sym typeface="+mn-ea"/>
              </a:rPr>
              <a:t>，熵为每信源符号</a:t>
            </a:r>
            <a:r>
              <a:rPr sz="2400" i="1">
                <a:latin typeface="Times New Roman" panose="02020603050405020304" pitchFamily="18" charset="0"/>
                <a:cs typeface="Times New Roman" panose="02020603050405020304" pitchFamily="18" charset="0"/>
                <a:sym typeface="+mn-ea"/>
              </a:rPr>
              <a:t>H</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a:sym typeface="+mn-ea"/>
              </a:rPr>
              <a:t>比特，而且信源每</a:t>
            </a:r>
            <a:r>
              <a:rPr sz="2400" i="1">
                <a:latin typeface="Times New Roman" panose="02020603050405020304" pitchFamily="18" charset="0"/>
                <a:cs typeface="Times New Roman" panose="02020603050405020304" pitchFamily="18" charset="0"/>
                <a:sym typeface="+mn-ea"/>
              </a:rPr>
              <a:t>T</a:t>
            </a:r>
            <a:r>
              <a:rPr sz="2400" i="1" baseline="-25000">
                <a:latin typeface="Times New Roman" panose="02020603050405020304" pitchFamily="18" charset="0"/>
                <a:cs typeface="Times New Roman" panose="02020603050405020304" pitchFamily="18" charset="0"/>
                <a:sym typeface="+mn-ea"/>
              </a:rPr>
              <a:t>s</a:t>
            </a:r>
            <a:r>
              <a:rPr sz="2400">
                <a:sym typeface="+mn-ea"/>
              </a:rPr>
              <a:t>秒产生一个符号，那么信源的平均信息率为每秒</a:t>
            </a:r>
            <a:r>
              <a:rPr sz="2400" i="1">
                <a:latin typeface="Times New Roman" panose="02020603050405020304" pitchFamily="18" charset="0"/>
                <a:cs typeface="Times New Roman" panose="02020603050405020304" pitchFamily="18" charset="0"/>
                <a:sym typeface="+mn-ea"/>
              </a:rPr>
              <a:t>H</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T</a:t>
            </a:r>
            <a:r>
              <a:rPr sz="2400" i="1" baseline="-25000">
                <a:latin typeface="Times New Roman" panose="02020603050405020304" pitchFamily="18" charset="0"/>
                <a:cs typeface="Times New Roman" panose="02020603050405020304" pitchFamily="18" charset="0"/>
                <a:sym typeface="+mn-ea"/>
              </a:rPr>
              <a:t>s</a:t>
            </a:r>
            <a:r>
              <a:rPr sz="2400">
                <a:sym typeface="+mn-ea"/>
              </a:rPr>
              <a:t>比特，假设信道可以每</a:t>
            </a:r>
            <a:r>
              <a:rPr sz="2400" i="1">
                <a:latin typeface="Times New Roman" panose="02020603050405020304" pitchFamily="18" charset="0"/>
                <a:cs typeface="Times New Roman" panose="02020603050405020304" pitchFamily="18" charset="0"/>
                <a:sym typeface="+mn-ea"/>
              </a:rPr>
              <a:t>T</a:t>
            </a:r>
            <a:r>
              <a:rPr lang="en-US" sz="2400" i="1" baseline="-25000">
                <a:latin typeface="Times New Roman" panose="02020603050405020304" pitchFamily="18" charset="0"/>
                <a:cs typeface="Times New Roman" panose="02020603050405020304" pitchFamily="18" charset="0"/>
                <a:sym typeface="+mn-ea"/>
              </a:rPr>
              <a:t>c</a:t>
            </a:r>
            <a:r>
              <a:rPr sz="2400">
                <a:sym typeface="+mn-ea"/>
              </a:rPr>
              <a:t>秒使用一次，而信道容量为每次信道使用</a:t>
            </a:r>
            <a:r>
              <a:rPr sz="2400" i="1">
                <a:latin typeface="Times New Roman" panose="02020603050405020304" pitchFamily="18" charset="0"/>
                <a:cs typeface="Times New Roman" panose="02020603050405020304" pitchFamily="18" charset="0"/>
                <a:sym typeface="+mn-ea"/>
              </a:rPr>
              <a:t>C</a:t>
            </a:r>
            <a:r>
              <a:rPr sz="2400">
                <a:sym typeface="+mn-ea"/>
              </a:rPr>
              <a:t>比特，那么每单位时间的信道容量为每秒钟</a:t>
            </a:r>
            <a:r>
              <a:rPr sz="2400" i="1">
                <a:latin typeface="Times New Roman" panose="02020603050405020304" pitchFamily="18" charset="0"/>
                <a:cs typeface="Times New Roman" panose="02020603050405020304" pitchFamily="18" charset="0"/>
                <a:sym typeface="+mn-ea"/>
              </a:rPr>
              <a:t>C</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T</a:t>
            </a:r>
            <a:r>
              <a:rPr lang="en-US" sz="2400" i="1" baseline="-25000">
                <a:latin typeface="Times New Roman" panose="02020603050405020304" pitchFamily="18" charset="0"/>
                <a:cs typeface="Times New Roman" panose="02020603050405020304" pitchFamily="18" charset="0"/>
                <a:sym typeface="+mn-ea"/>
              </a:rPr>
              <a:t>c</a:t>
            </a:r>
            <a:r>
              <a:rPr sz="2400">
                <a:sym typeface="+mn-ea"/>
              </a:rPr>
              <a:t>比特。如果</a:t>
            </a:r>
            <a:r>
              <a:rPr sz="2400" i="1">
                <a:latin typeface="Times New Roman" panose="02020603050405020304" pitchFamily="18" charset="0"/>
                <a:cs typeface="Times New Roman" panose="02020603050405020304" pitchFamily="18" charset="0"/>
                <a:sym typeface="+mn-ea"/>
              </a:rPr>
              <a:t>H</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T</a:t>
            </a:r>
            <a:r>
              <a:rPr sz="2400" i="1" baseline="-25000">
                <a:latin typeface="Times New Roman" panose="02020603050405020304" pitchFamily="18" charset="0"/>
                <a:cs typeface="Times New Roman" panose="02020603050405020304" pitchFamily="18" charset="0"/>
                <a:sym typeface="+mn-ea"/>
              </a:rPr>
              <a:t>s</a:t>
            </a:r>
            <a:r>
              <a:rPr sz="2400">
                <a:latin typeface="Times New Roman" panose="02020603050405020304" pitchFamily="18" charset="0"/>
                <a:cs typeface="Times New Roman" panose="02020603050405020304" pitchFamily="18" charset="0"/>
                <a:sym typeface="+mn-ea"/>
              </a:rPr>
              <a:t>≤ </a:t>
            </a:r>
            <a:r>
              <a:rPr sz="2400" i="1">
                <a:latin typeface="Times New Roman" panose="02020603050405020304" pitchFamily="18" charset="0"/>
                <a:cs typeface="Times New Roman" panose="02020603050405020304" pitchFamily="18" charset="0"/>
                <a:sym typeface="+mn-ea"/>
              </a:rPr>
              <a:t>C</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T</a:t>
            </a:r>
            <a:r>
              <a:rPr lang="en-US" sz="2400" i="1" baseline="-25000">
                <a:latin typeface="Times New Roman" panose="02020603050405020304" pitchFamily="18" charset="0"/>
                <a:cs typeface="Times New Roman" panose="02020603050405020304" pitchFamily="18" charset="0"/>
                <a:sym typeface="+mn-ea"/>
              </a:rPr>
              <a:t>c</a:t>
            </a:r>
            <a:r>
              <a:rPr sz="2400">
                <a:sym typeface="+mn-ea"/>
              </a:rPr>
              <a:t>，那么就存在编码方案使得在有噪声的信道上传输的信源消息，能够以任意小的错误概率进行恢复。</a:t>
            </a:r>
            <a:endParaRPr sz="2400">
              <a:sym typeface="+mn-ea"/>
            </a:endParaRPr>
          </a:p>
        </p:txBody>
      </p:sp>
      <p:sp>
        <p:nvSpPr>
          <p:cNvPr id="6" name="矩形 5"/>
          <p:cNvSpPr/>
          <p:nvPr/>
        </p:nvSpPr>
        <p:spPr>
          <a:xfrm>
            <a:off x="997585" y="4750435"/>
            <a:ext cx="10134600" cy="1354455"/>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10" name="文本框 9"/>
          <p:cNvSpPr txBox="1"/>
          <p:nvPr/>
        </p:nvSpPr>
        <p:spPr>
          <a:xfrm>
            <a:off x="1122045" y="4813300"/>
            <a:ext cx="9888220" cy="1198880"/>
          </a:xfrm>
          <a:prstGeom prst="rect">
            <a:avLst/>
          </a:prstGeom>
          <a:noFill/>
        </p:spPr>
        <p:txBody>
          <a:bodyPr wrap="square" rtlCol="0" anchor="t">
            <a:spAutoFit/>
          </a:bodyPr>
          <a:p>
            <a:pPr algn="just">
              <a:lnSpc>
                <a:spcPct val="120000"/>
              </a:lnSpc>
              <a:spcBef>
                <a:spcPts val="0"/>
              </a:spcBef>
              <a:buClr>
                <a:schemeClr val="hlink"/>
              </a:buClr>
              <a:buSzPct val="65000"/>
              <a:buFontTx/>
            </a:pPr>
            <a:r>
              <a:rPr lang="zh-CN" sz="2000" b="1">
                <a:solidFill>
                  <a:srgbClr val="FF0000"/>
                </a:solidFill>
                <a:latin typeface="楷体" panose="02010609060101010101" charset="-122"/>
                <a:ea typeface="楷体" panose="02010609060101010101" charset="-122"/>
              </a:rPr>
              <a:t>例子</a:t>
            </a:r>
            <a:r>
              <a:rPr sz="2000" b="1">
                <a:solidFill>
                  <a:srgbClr val="FF0000"/>
                </a:solidFill>
                <a:latin typeface="楷体" panose="02010609060101010101" charset="-122"/>
                <a:ea typeface="楷体" panose="02010609060101010101" charset="-122"/>
              </a:rPr>
              <a:t>：</a:t>
            </a:r>
            <a:r>
              <a:rPr sz="2000" b="1">
                <a:solidFill>
                  <a:srgbClr val="0070C0"/>
                </a:solidFill>
                <a:latin typeface="Times New Roman" panose="02020603050405020304" pitchFamily="18" charset="0"/>
                <a:ea typeface="黑体" panose="02010609060101010101" pitchFamily="49" charset="-122"/>
                <a:sym typeface="+mn-ea"/>
              </a:rPr>
              <a:t>考虑BSC信道，信道容量</a:t>
            </a:r>
            <a:r>
              <a:rPr sz="2000" b="1" i="1">
                <a:solidFill>
                  <a:srgbClr val="0070C0"/>
                </a:solidFill>
                <a:latin typeface="Times New Roman" panose="02020603050405020304" pitchFamily="18" charset="0"/>
                <a:ea typeface="黑体" panose="02010609060101010101" pitchFamily="49" charset="-122"/>
                <a:sym typeface="+mn-ea"/>
              </a:rPr>
              <a:t>C</a:t>
            </a:r>
            <a:r>
              <a:rPr sz="2000" b="1">
                <a:solidFill>
                  <a:srgbClr val="0070C0"/>
                </a:solidFill>
                <a:latin typeface="Times New Roman" panose="02020603050405020304" pitchFamily="18" charset="0"/>
                <a:ea typeface="黑体" panose="02010609060101010101" pitchFamily="49" charset="-122"/>
                <a:sym typeface="+mn-ea"/>
              </a:rPr>
              <a:t>=1+</a:t>
            </a:r>
            <a:r>
              <a:rPr sz="2000" b="1" i="1">
                <a:solidFill>
                  <a:srgbClr val="0070C0"/>
                </a:solidFill>
                <a:latin typeface="Times New Roman" panose="02020603050405020304" pitchFamily="18" charset="0"/>
                <a:ea typeface="黑体" panose="02010609060101010101" pitchFamily="49" charset="-122"/>
                <a:sym typeface="+mn-ea"/>
              </a:rPr>
              <a:t>p</a:t>
            </a:r>
            <a:r>
              <a:rPr sz="2000" b="1">
                <a:solidFill>
                  <a:srgbClr val="0070C0"/>
                </a:solidFill>
                <a:latin typeface="Times New Roman" panose="02020603050405020304" pitchFamily="18" charset="0"/>
                <a:ea typeface="黑体" panose="02010609060101010101" pitchFamily="49" charset="-122"/>
                <a:sym typeface="+mn-ea"/>
              </a:rPr>
              <a:t>log2</a:t>
            </a:r>
            <a:r>
              <a:rPr sz="2000" b="1" i="1">
                <a:solidFill>
                  <a:srgbClr val="0070C0"/>
                </a:solidFill>
                <a:latin typeface="Times New Roman" panose="02020603050405020304" pitchFamily="18" charset="0"/>
                <a:ea typeface="黑体" panose="02010609060101010101" pitchFamily="49" charset="-122"/>
                <a:sym typeface="+mn-ea"/>
              </a:rPr>
              <a:t>p</a:t>
            </a:r>
            <a:r>
              <a:rPr sz="2000" b="1">
                <a:solidFill>
                  <a:srgbClr val="0070C0"/>
                </a:solidFill>
                <a:latin typeface="Times New Roman" panose="02020603050405020304" pitchFamily="18" charset="0"/>
                <a:ea typeface="黑体" panose="02010609060101010101" pitchFamily="49" charset="-122"/>
                <a:sym typeface="+mn-ea"/>
              </a:rPr>
              <a:t>+ (1-</a:t>
            </a:r>
            <a:r>
              <a:rPr sz="2000" b="1" i="1">
                <a:solidFill>
                  <a:srgbClr val="0070C0"/>
                </a:solidFill>
                <a:latin typeface="Times New Roman" panose="02020603050405020304" pitchFamily="18" charset="0"/>
                <a:ea typeface="黑体" panose="02010609060101010101" pitchFamily="49" charset="-122"/>
                <a:sym typeface="+mn-ea"/>
              </a:rPr>
              <a:t>p</a:t>
            </a:r>
            <a:r>
              <a:rPr sz="2000" b="1">
                <a:solidFill>
                  <a:srgbClr val="0070C0"/>
                </a:solidFill>
                <a:latin typeface="Times New Roman" panose="02020603050405020304" pitchFamily="18" charset="0"/>
                <a:ea typeface="黑体" panose="02010609060101010101" pitchFamily="49" charset="-122"/>
                <a:sym typeface="+mn-ea"/>
              </a:rPr>
              <a:t>)log2(1-</a:t>
            </a:r>
            <a:r>
              <a:rPr sz="2000" b="1" i="1">
                <a:solidFill>
                  <a:srgbClr val="0070C0"/>
                </a:solidFill>
                <a:latin typeface="Times New Roman" panose="02020603050405020304" pitchFamily="18" charset="0"/>
                <a:ea typeface="黑体" panose="02010609060101010101" pitchFamily="49" charset="-122"/>
                <a:sym typeface="+mn-ea"/>
              </a:rPr>
              <a:t>p</a:t>
            </a:r>
            <a:r>
              <a:rPr sz="2000" b="1">
                <a:solidFill>
                  <a:srgbClr val="0070C0"/>
                </a:solidFill>
                <a:latin typeface="Times New Roman" panose="02020603050405020304" pitchFamily="18" charset="0"/>
                <a:ea typeface="黑体" panose="02010609060101010101" pitchFamily="49" charset="-122"/>
                <a:sym typeface="+mn-ea"/>
              </a:rPr>
              <a:t>)，如果转移概率</a:t>
            </a:r>
            <a:r>
              <a:rPr sz="2000" b="1" i="1">
                <a:solidFill>
                  <a:srgbClr val="0070C0"/>
                </a:solidFill>
                <a:latin typeface="Times New Roman" panose="02020603050405020304" pitchFamily="18" charset="0"/>
                <a:ea typeface="黑体" panose="02010609060101010101" pitchFamily="49" charset="-122"/>
                <a:sym typeface="+mn-ea"/>
              </a:rPr>
              <a:t>p</a:t>
            </a:r>
            <a:r>
              <a:rPr sz="2000" b="1">
                <a:solidFill>
                  <a:srgbClr val="0070C0"/>
                </a:solidFill>
                <a:latin typeface="Times New Roman" panose="02020603050405020304" pitchFamily="18" charset="0"/>
                <a:ea typeface="黑体" panose="02010609060101010101" pitchFamily="49" charset="-122"/>
                <a:sym typeface="+mn-ea"/>
              </a:rPr>
              <a:t>=10</a:t>
            </a:r>
            <a:r>
              <a:rPr sz="2000" b="1" baseline="30000">
                <a:solidFill>
                  <a:srgbClr val="0070C0"/>
                </a:solidFill>
                <a:latin typeface="Times New Roman" panose="02020603050405020304" pitchFamily="18" charset="0"/>
                <a:ea typeface="黑体" panose="02010609060101010101" pitchFamily="49" charset="-122"/>
                <a:sym typeface="+mn-ea"/>
              </a:rPr>
              <a:t>-2</a:t>
            </a:r>
            <a:r>
              <a:rPr sz="2000" b="1">
                <a:solidFill>
                  <a:srgbClr val="0070C0"/>
                </a:solidFill>
                <a:latin typeface="Times New Roman" panose="02020603050405020304" pitchFamily="18" charset="0"/>
                <a:ea typeface="黑体" panose="02010609060101010101" pitchFamily="49" charset="-122"/>
                <a:sym typeface="+mn-ea"/>
              </a:rPr>
              <a:t>，则可计算出</a:t>
            </a:r>
            <a:r>
              <a:rPr sz="2000" b="1" i="1">
                <a:solidFill>
                  <a:srgbClr val="0070C0"/>
                </a:solidFill>
                <a:latin typeface="Times New Roman" panose="02020603050405020304" pitchFamily="18" charset="0"/>
                <a:ea typeface="黑体" panose="02010609060101010101" pitchFamily="49" charset="-122"/>
                <a:sym typeface="+mn-ea"/>
              </a:rPr>
              <a:t>C</a:t>
            </a:r>
            <a:r>
              <a:rPr sz="2000" b="1">
                <a:solidFill>
                  <a:srgbClr val="0070C0"/>
                </a:solidFill>
                <a:latin typeface="Times New Roman" panose="02020603050405020304" pitchFamily="18" charset="0"/>
                <a:ea typeface="黑体" panose="02010609060101010101" pitchFamily="49" charset="-122"/>
                <a:sym typeface="+mn-ea"/>
              </a:rPr>
              <a:t>=0.919，那么就可以知道肯定存在信息传输率为</a:t>
            </a:r>
            <a:r>
              <a:rPr sz="2000" b="1" i="1">
                <a:solidFill>
                  <a:srgbClr val="0070C0"/>
                </a:solidFill>
                <a:latin typeface="Times New Roman" panose="02020603050405020304" pitchFamily="18" charset="0"/>
                <a:ea typeface="黑体" panose="02010609060101010101" pitchFamily="49" charset="-122"/>
                <a:sym typeface="+mn-ea"/>
              </a:rPr>
              <a:t>r</a:t>
            </a:r>
            <a:r>
              <a:rPr sz="2000" b="1">
                <a:solidFill>
                  <a:srgbClr val="0070C0"/>
                </a:solidFill>
                <a:latin typeface="Times New Roman" panose="02020603050405020304" pitchFamily="18" charset="0"/>
                <a:ea typeface="黑体" panose="02010609060101010101" pitchFamily="49" charset="-122"/>
                <a:sym typeface="+mn-ea"/>
              </a:rPr>
              <a:t>≤0.919的编码方案，使得信息可以在有噪声的信道上传输的信源消息，能够以任意小的错误概率进行恢复。</a:t>
            </a:r>
            <a:endParaRPr sz="2000" b="1">
              <a:solidFill>
                <a:srgbClr val="0070C0"/>
              </a:solidFill>
              <a:latin typeface="Times New Roman" panose="02020603050405020304" pitchFamily="18" charset="0"/>
              <a:ea typeface="黑体" panose="02010609060101010101" pitchFamily="49" charset="-122"/>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教学参考</a:t>
            </a:r>
            <a:r>
              <a:rPr lang="zh-CN" altLang="en-US"/>
              <a:t>书</a:t>
            </a:r>
            <a:endParaRPr lang="zh-CN" altLang="en-US"/>
          </a:p>
        </p:txBody>
      </p:sp>
      <p:sp>
        <p:nvSpPr>
          <p:cNvPr id="3" name="内容占位符 2"/>
          <p:cNvSpPr>
            <a:spLocks noGrp="1"/>
          </p:cNvSpPr>
          <p:nvPr>
            <p:ph idx="1"/>
          </p:nvPr>
        </p:nvSpPr>
        <p:spPr>
          <a:xfrm>
            <a:off x="608330" y="1490345"/>
            <a:ext cx="10968990" cy="3583940"/>
          </a:xfrm>
        </p:spPr>
        <p:txBody>
          <a:bodyPr>
            <a:noAutofit/>
          </a:bodyPr>
          <a:p>
            <a:pPr marL="0" indent="0">
              <a:buNone/>
            </a:pPr>
            <a:r>
              <a:rPr lang="en-US" altLang="zh-CN" sz="2000"/>
              <a:t>[1] </a:t>
            </a:r>
            <a:r>
              <a:rPr lang="zh-CN" altLang="en-US" sz="2000"/>
              <a:t>信息论与编码.吴伯修, 归绍升, 祝宗泰, 俞槐铨编. 电子工业出版社, 1987.</a:t>
            </a:r>
            <a:endParaRPr lang="zh-CN" altLang="en-US" sz="2000"/>
          </a:p>
          <a:p>
            <a:pPr marL="0" indent="0">
              <a:buNone/>
            </a:pPr>
            <a:r>
              <a:rPr lang="en-US" altLang="zh-CN" sz="2000"/>
              <a:t>[2] </a:t>
            </a:r>
            <a:r>
              <a:rPr lang="zh-CN" altLang="en-US" sz="2000"/>
              <a:t>信息论与最优编码. 章照止, 林须端著. 上海科学技术出版社, 1993.</a:t>
            </a:r>
            <a:endParaRPr lang="zh-CN" altLang="en-US" sz="2000"/>
          </a:p>
          <a:p>
            <a:pPr marL="0" indent="0">
              <a:buNone/>
            </a:pPr>
            <a:r>
              <a:rPr lang="en-US" altLang="zh-CN" sz="2000"/>
              <a:t>[3] </a:t>
            </a:r>
            <a:r>
              <a:rPr lang="zh-CN" altLang="en-US" sz="2000"/>
              <a:t>信息论、编码与密码学. Ranjan Bose著. 机械工业出版社, 2004.</a:t>
            </a:r>
            <a:endParaRPr lang="zh-CN" altLang="en-US" sz="2000"/>
          </a:p>
          <a:p>
            <a:pPr marL="0" indent="0">
              <a:buNone/>
            </a:pPr>
            <a:r>
              <a:rPr lang="en-US" altLang="zh-CN" sz="2000"/>
              <a:t>[4] </a:t>
            </a:r>
            <a:r>
              <a:rPr lang="zh-CN" altLang="en-US" sz="2000"/>
              <a:t>信息论与编码理论. Robert J. Mcelece著. 电子工业出版社, 2004.</a:t>
            </a:r>
            <a:endParaRPr lang="zh-CN" altLang="en-US" sz="2000"/>
          </a:p>
          <a:p>
            <a:pPr marL="0" indent="0">
              <a:buNone/>
            </a:pPr>
            <a:r>
              <a:rPr lang="en-US" altLang="zh-CN" sz="2000"/>
              <a:t>[5] </a:t>
            </a:r>
            <a:r>
              <a:rPr lang="zh-CN" altLang="en-US" sz="2000"/>
              <a:t>信息论与编码理论.王育民,李晖,梁传甲编著.高等教育出版社,2005.</a:t>
            </a:r>
            <a:endParaRPr lang="zh-CN" altLang="en-US" sz="2000"/>
          </a:p>
          <a:p>
            <a:pPr marL="0" indent="0">
              <a:buNone/>
            </a:pPr>
            <a:r>
              <a:rPr lang="en-US" altLang="zh-CN" sz="2000"/>
              <a:t>[6] </a:t>
            </a:r>
            <a:r>
              <a:rPr lang="zh-CN" altLang="en-US" sz="2000"/>
              <a:t>信息论与编码理论(第二版).陈鲁生,沈世镒编.科学出版社,2010.</a:t>
            </a:r>
            <a:endParaRPr lang="zh-CN" altLang="en-US" sz="2000"/>
          </a:p>
          <a:p>
            <a:pPr marL="0" indent="0">
              <a:buNone/>
            </a:pPr>
            <a:r>
              <a:rPr lang="en-US" altLang="zh-CN" sz="2000"/>
              <a:t>[7] </a:t>
            </a:r>
            <a:r>
              <a:rPr lang="zh-CN" altLang="en-US" sz="2000"/>
              <a:t>信息论与信源编码理论.刘建成著.北京邮电大学出版社,2010.</a:t>
            </a:r>
            <a:endParaRPr lang="zh-CN" altLang="en-US" sz="20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答疑</a:t>
            </a:r>
            <a:r>
              <a:rPr lang="zh-CN" altLang="en-US"/>
              <a:t>时间</a:t>
            </a:r>
            <a:endParaRPr lang="zh-CN" altLang="en-US"/>
          </a:p>
        </p:txBody>
      </p:sp>
      <p:sp>
        <p:nvSpPr>
          <p:cNvPr id="3" name="内容占位符 2"/>
          <p:cNvSpPr>
            <a:spLocks noGrp="1"/>
          </p:cNvSpPr>
          <p:nvPr>
            <p:ph idx="1"/>
          </p:nvPr>
        </p:nvSpPr>
        <p:spPr/>
        <p:txBody>
          <a:bodyPr/>
          <a:p>
            <a:r>
              <a:rPr lang="zh-CN" altLang="en-US" sz="3200"/>
              <a:t>请上课学生提</a:t>
            </a:r>
            <a:r>
              <a:rPr lang="zh-CN" altLang="en-US" sz="3200"/>
              <a:t>出宝贵的问题</a:t>
            </a:r>
            <a:endParaRPr lang="zh-CN" altLang="en-US" sz="32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6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wm#"/>
  <p:tag name="KSO_WM_TEMPLATE_CATEGORY" val="custom"/>
  <p:tag name="KSO_WM_TEMPLATE_INDEX" val="20205176"/>
</p:tagLst>
</file>

<file path=ppt/tags/tag67.xml><?xml version="1.0" encoding="utf-8"?>
<p:tagLst xmlns:p="http://schemas.openxmlformats.org/presentationml/2006/main">
  <p:tag name="KSO_WM_BEAUTIFY_FLAG" val="#wm#"/>
  <p:tag name="KSO_WM_TEMPLATE_CATEGORY" val="custom"/>
  <p:tag name="KSO_WM_TEMPLATE_INDEX" val="20205176"/>
</p:tagLst>
</file>

<file path=ppt/tags/tag68.xml><?xml version="1.0" encoding="utf-8"?>
<p:tagLst xmlns:p="http://schemas.openxmlformats.org/presentationml/2006/main">
  <p:tag name="KSO_WM_BEAUTIFY_FLAG" val="#wm#"/>
  <p:tag name="KSO_WM_TEMPLATE_CATEGORY" val="custom"/>
  <p:tag name="KSO_WM_TEMPLATE_INDEX" val="20205176"/>
</p:tagLst>
</file>

<file path=ppt/tags/tag69.xml><?xml version="1.0" encoding="utf-8"?>
<p:tagLst xmlns:p="http://schemas.openxmlformats.org/presentationml/2006/main">
  <p:tag name="KSO_WM_BEAUTIFY_FLAG" val="#wm#"/>
  <p:tag name="KSO_WM_TEMPLATE_CATEGORY" val="custom"/>
  <p:tag name="KSO_WM_TEMPLATE_INDEX" val="20205176"/>
</p:tagLst>
</file>

<file path=ppt/tags/tag70.xml><?xml version="1.0" encoding="utf-8"?>
<p:tagLst xmlns:p="http://schemas.openxmlformats.org/presentationml/2006/main">
  <p:tag name="KSO_WM_BEAUTIFY_FLAG" val="#wm#"/>
  <p:tag name="KSO_WM_TEMPLATE_CATEGORY" val="custom"/>
  <p:tag name="KSO_WM_TEMPLATE_INDEX" val="20205176"/>
</p:tagLst>
</file>

<file path=ppt/tags/tag71.xml><?xml version="1.0" encoding="utf-8"?>
<p:tagLst xmlns:p="http://schemas.openxmlformats.org/presentationml/2006/main">
  <p:tag name="KSO_WM_BEAUTIFY_FLAG" val="#wm#"/>
  <p:tag name="KSO_WM_TEMPLATE_CATEGORY" val="custom"/>
  <p:tag name="KSO_WM_TEMPLATE_INDEX" val="20205176"/>
</p:tagLst>
</file>

<file path=ppt/tags/tag72.xml><?xml version="1.0" encoding="utf-8"?>
<p:tagLst xmlns:p="http://schemas.openxmlformats.org/presentationml/2006/main">
  <p:tag name="KSO_WM_BEAUTIFY_FLAG" val="#wm#"/>
  <p:tag name="KSO_WM_TEMPLATE_CATEGORY" val="custom"/>
  <p:tag name="KSO_WM_TEMPLATE_INDEX" val="20205176"/>
</p:tagLst>
</file>

<file path=ppt/tags/tag73.xml><?xml version="1.0" encoding="utf-8"?>
<p:tagLst xmlns:p="http://schemas.openxmlformats.org/presentationml/2006/main">
  <p:tag name="KSO_WM_BEAUTIFY_FLAG" val="#wm#"/>
  <p:tag name="KSO_WM_TEMPLATE_CATEGORY" val="custom"/>
  <p:tag name="KSO_WM_TEMPLATE_INDEX" val="20205176"/>
</p:tagLst>
</file>

<file path=ppt/tags/tag74.xml><?xml version="1.0" encoding="utf-8"?>
<p:tagLst xmlns:p="http://schemas.openxmlformats.org/presentationml/2006/main">
  <p:tag name="KSO_WM_BEAUTIFY_FLAG" val="#wm#"/>
  <p:tag name="KSO_WM_TEMPLATE_CATEGORY" val="custom"/>
  <p:tag name="KSO_WM_TEMPLATE_INDEX" val="20205176"/>
</p:tagLst>
</file>

<file path=ppt/tags/tag75.xml><?xml version="1.0" encoding="utf-8"?>
<p:tagLst xmlns:p="http://schemas.openxmlformats.org/presentationml/2006/main">
  <p:tag name="KSO_WM_BEAUTIFY_FLAG" val="#wm#"/>
  <p:tag name="KSO_WM_TEMPLATE_CATEGORY" val="custom"/>
  <p:tag name="KSO_WM_TEMPLATE_INDEX" val="20205176"/>
</p:tagLst>
</file>

<file path=ppt/tags/tag76.xml><?xml version="1.0" encoding="utf-8"?>
<p:tagLst xmlns:p="http://schemas.openxmlformats.org/presentationml/2006/main">
  <p:tag name="KSO_WM_UNIT_TABLE_BEAUTIFY" val="smartTable{c9b933e4-f957-4c16-ac7a-31c28a31c11f}"/>
</p:tagLst>
</file>

<file path=ppt/tags/tag77.xml><?xml version="1.0" encoding="utf-8"?>
<p:tagLst xmlns:p="http://schemas.openxmlformats.org/presentationml/2006/main">
  <p:tag name="KSO_WM_BEAUTIFY_FLAG" val="#wm#"/>
  <p:tag name="KSO_WM_TEMPLATE_CATEGORY" val="custom"/>
  <p:tag name="KSO_WM_TEMPLATE_INDEX" val="20205176"/>
</p:tagLst>
</file>

<file path=ppt/tags/tag78.xml><?xml version="1.0" encoding="utf-8"?>
<p:tagLst xmlns:p="http://schemas.openxmlformats.org/presentationml/2006/main">
  <p:tag name="KSO_WM_BEAUTIFY_FLAG" val="#wm#"/>
  <p:tag name="KSO_WM_TEMPLATE_CATEGORY" val="custom"/>
  <p:tag name="KSO_WM_TEMPLATE_INDEX" val="20205176"/>
</p:tagLst>
</file>

<file path=ppt/tags/tag79.xml><?xml version="1.0" encoding="utf-8"?>
<p:tagLst xmlns:p="http://schemas.openxmlformats.org/presentationml/2006/main">
  <p:tag name="KSO_WM_BEAUTIFY_FLAG" val="#wm#"/>
  <p:tag name="KSO_WM_TEMPLATE_CATEGORY" val="custom"/>
  <p:tag name="KSO_WM_TEMPLATE_INDEX" val="20205176"/>
</p:tagLst>
</file>

<file path=ppt/tags/tag80.xml><?xml version="1.0" encoding="utf-8"?>
<p:tagLst xmlns:p="http://schemas.openxmlformats.org/presentationml/2006/main">
  <p:tag name="KSO_WM_BEAUTIFY_FLAG" val="#wm#"/>
  <p:tag name="KSO_WM_TEMPLATE_CATEGORY" val="custom"/>
  <p:tag name="KSO_WM_TEMPLATE_INDEX" val="20205176"/>
</p:tagLst>
</file>

<file path=ppt/tags/tag81.xml><?xml version="1.0" encoding="utf-8"?>
<p:tagLst xmlns:p="http://schemas.openxmlformats.org/presentationml/2006/main">
  <p:tag name="KSO_WM_UNIT_PLACING_PICTURE_USER_VIEWPORT" val="{&quot;height&quot;:3132.499212598425,&quot;width&quot;:7200}"/>
</p:tagLst>
</file>

<file path=ppt/tags/tag82.xml><?xml version="1.0" encoding="utf-8"?>
<p:tagLst xmlns:p="http://schemas.openxmlformats.org/presentationml/2006/main">
  <p:tag name="KSO_WM_BEAUTIFY_FLAG" val="#wm#"/>
  <p:tag name="KSO_WM_TEMPLATE_CATEGORY" val="custom"/>
  <p:tag name="KSO_WM_TEMPLATE_INDEX" val="20205176"/>
</p:tagLst>
</file>

<file path=ppt/tags/tag83.xml><?xml version="1.0" encoding="utf-8"?>
<p:tagLst xmlns:p="http://schemas.openxmlformats.org/presentationml/2006/main">
  <p:tag name="KSO_WM_BEAUTIFY_FLAG" val="#wm#"/>
  <p:tag name="KSO_WM_TEMPLATE_CATEGORY" val="custom"/>
  <p:tag name="KSO_WM_TEMPLATE_INDEX" val="20205176"/>
</p:tagLst>
</file>

<file path=ppt/tags/tag84.xml><?xml version="1.0" encoding="utf-8"?>
<p:tagLst xmlns:p="http://schemas.openxmlformats.org/presentationml/2006/main">
  <p:tag name="KSO_WM_BEAUTIFY_FLAG" val="#wm#"/>
  <p:tag name="KSO_WM_TEMPLATE_CATEGORY" val="custom"/>
  <p:tag name="KSO_WM_TEMPLATE_INDEX" val="20205176"/>
</p:tagLst>
</file>

<file path=ppt/tags/tag85.xml><?xml version="1.0" encoding="utf-8"?>
<p:tagLst xmlns:p="http://schemas.openxmlformats.org/presentationml/2006/main">
  <p:tag name="KSO_WM_BEAUTIFY_FLAG" val="#wm#"/>
  <p:tag name="KSO_WM_TEMPLATE_CATEGORY" val="custom"/>
  <p:tag name="KSO_WM_TEMPLATE_INDEX" val="20205176"/>
</p:tagLst>
</file>

<file path=ppt/tags/tag86.xml><?xml version="1.0" encoding="utf-8"?>
<p:tagLst xmlns:p="http://schemas.openxmlformats.org/presentationml/2006/main">
  <p:tag name="KSO_WM_BEAUTIFY_FLAG" val="#wm#"/>
  <p:tag name="KSO_WM_TEMPLATE_CATEGORY" val="custom"/>
  <p:tag name="KSO_WM_TEMPLATE_INDEX" val="20205176"/>
</p:tagLst>
</file>

<file path=ppt/tags/tag87.xml><?xml version="1.0" encoding="utf-8"?>
<p:tagLst xmlns:p="http://schemas.openxmlformats.org/presentationml/2006/main">
  <p:tag name="KSO_WM_BEAUTIFY_FLAG" val="#wm#"/>
  <p:tag name="KSO_WM_TEMPLATE_CATEGORY" val="custom"/>
  <p:tag name="KSO_WM_TEMPLATE_INDEX" val="20205176"/>
</p:tagLst>
</file>

<file path=ppt/tags/tag88.xml><?xml version="1.0" encoding="utf-8"?>
<p:tagLst xmlns:p="http://schemas.openxmlformats.org/presentationml/2006/main">
  <p:tag name="KSO_WM_BEAUTIFY_FLAG" val="#wm#"/>
  <p:tag name="KSO_WM_TEMPLATE_CATEGORY" val="custom"/>
  <p:tag name="KSO_WM_TEMPLATE_INDEX" val="20205176"/>
</p:tagLst>
</file>

<file path=ppt/tags/tag89.xml><?xml version="1.0" encoding="utf-8"?>
<p:tagLst xmlns:p="http://schemas.openxmlformats.org/presentationml/2006/main">
  <p:tag name="KSO_WM_BEAUTIFY_FLAG" val="#wm#"/>
  <p:tag name="KSO_WM_TEMPLATE_CATEGORY" val="custom"/>
  <p:tag name="KSO_WM_TEMPLATE_INDEX" val="20205176"/>
</p:tagLst>
</file>

<file path=ppt/tags/tag90.xml><?xml version="1.0" encoding="utf-8"?>
<p:tagLst xmlns:p="http://schemas.openxmlformats.org/presentationml/2006/main">
  <p:tag name="KSO_WM_BEAUTIFY_FLAG" val="#wm#"/>
  <p:tag name="KSO_WM_TEMPLATE_CATEGORY" val="custom"/>
  <p:tag name="KSO_WM_TEMPLATE_INDEX" val="20205176"/>
</p:tagLst>
</file>

<file path=ppt/tags/tag91.xml><?xml version="1.0" encoding="utf-8"?>
<p:tagLst xmlns:p="http://schemas.openxmlformats.org/presentationml/2006/main">
  <p:tag name="KSO_WM_BEAUTIFY_FLAG" val="#wm#"/>
  <p:tag name="KSO_WM_TEMPLATE_CATEGORY" val="custom"/>
  <p:tag name="KSO_WM_TEMPLATE_INDEX" val="20205176"/>
</p:tagLst>
</file>

<file path=ppt/tags/tag92.xml><?xml version="1.0" encoding="utf-8"?>
<p:tagLst xmlns:p="http://schemas.openxmlformats.org/presentationml/2006/main">
  <p:tag name="COMMONDATA" val="eyJoZGlkIjoiYTU3MjAzOGI1ZWM1NjI3YTE0MjIzZDIwNTMwM2NhZjE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3901</Words>
  <Application>WPS 演示</Application>
  <PresentationFormat>宽屏</PresentationFormat>
  <Paragraphs>281</Paragraphs>
  <Slides>25</Slides>
  <Notes>4</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16</vt:i4>
      </vt:variant>
      <vt:variant>
        <vt:lpstr>幻灯片标题</vt:lpstr>
      </vt:variant>
      <vt:variant>
        <vt:i4>25</vt:i4>
      </vt:variant>
    </vt:vector>
  </HeadingPairs>
  <TitlesOfParts>
    <vt:vector size="52" baseType="lpstr">
      <vt:lpstr>Arial</vt:lpstr>
      <vt:lpstr>宋体</vt:lpstr>
      <vt:lpstr>Wingdings</vt:lpstr>
      <vt:lpstr>Wingdings</vt:lpstr>
      <vt:lpstr>Times New Roman</vt:lpstr>
      <vt:lpstr>楷体</vt:lpstr>
      <vt:lpstr>黑体</vt:lpstr>
      <vt:lpstr>微软雅黑</vt:lpstr>
      <vt:lpstr>Arial Unicode MS</vt:lpstr>
      <vt:lpstr>Calibri</vt:lpstr>
      <vt:lpstr>Office 主题​​</vt:lpstr>
      <vt:lpstr>Equation.KSEE3</vt:lpstr>
      <vt:lpstr>Equation.KSEE3</vt:lpstr>
      <vt:lpstr>Equation.KSEE3</vt:lpstr>
      <vt:lpstr>Equation.KSEE3</vt:lpstr>
      <vt:lpstr>Equation.KSEE3</vt:lpstr>
      <vt:lpstr>Equation.KSEE3</vt:lpstr>
      <vt:lpstr>Paint.Picture</vt:lpstr>
      <vt:lpstr>Paint.Picture</vt:lpstr>
      <vt:lpstr>Equation.KSEE3</vt:lpstr>
      <vt:lpstr>Equation.KSEE3</vt:lpstr>
      <vt:lpstr>Equation.KSEE3</vt:lpstr>
      <vt:lpstr>Equation.KSEE3</vt:lpstr>
      <vt:lpstr>Equation.KSEE3</vt:lpstr>
      <vt:lpstr>Equation.KSEE3</vt:lpstr>
      <vt:lpstr>Equation.KSEE3</vt:lpstr>
      <vt:lpstr>Equation.KSEE3</vt:lpstr>
      <vt:lpstr>第二章 信息论基础与信源编码理论</vt:lpstr>
      <vt:lpstr>本章授课内容</vt:lpstr>
      <vt:lpstr>本章授课内容</vt:lpstr>
      <vt:lpstr>信息的概念</vt:lpstr>
      <vt:lpstr>自信息</vt:lpstr>
      <vt:lpstr>条件自信息</vt:lpstr>
      <vt:lpstr>互信息</vt:lpstr>
      <vt:lpstr>平均自信息量(信息熵)</vt:lpstr>
      <vt:lpstr>平均条件自信息量(条件熵)</vt:lpstr>
      <vt:lpstr>本章授课内容</vt:lpstr>
      <vt:lpstr>等长信源编码定理</vt:lpstr>
      <vt:lpstr>变长码</vt:lpstr>
      <vt:lpstr>变长信源编码定理</vt:lpstr>
      <vt:lpstr>信道的信息传输率</vt:lpstr>
      <vt:lpstr>本章授课内容</vt:lpstr>
      <vt:lpstr>信源编码—霍夫曼(Huffman)编码</vt:lpstr>
      <vt:lpstr>游程编码</vt:lpstr>
      <vt:lpstr>LZ(Lemple-Ziv)编码</vt:lpstr>
      <vt:lpstr>本章授课内容</vt:lpstr>
      <vt:lpstr>信道容量</vt:lpstr>
      <vt:lpstr>纠错编码的理论基础</vt:lpstr>
      <vt:lpstr>科学哲学：过程比结果更重要(课堂思政)</vt:lpstr>
      <vt:lpstr>信道编码定理</vt:lpstr>
      <vt:lpstr>教学参考书</vt:lpstr>
      <vt:lpstr>答疑时间</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无</cp:lastModifiedBy>
  <cp:revision>334</cp:revision>
  <dcterms:created xsi:type="dcterms:W3CDTF">2019-06-19T02:08:00Z</dcterms:created>
  <dcterms:modified xsi:type="dcterms:W3CDTF">2023-09-20T03:23:55Z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2052-12.1.0.15404</vt:lpwstr>
  </property>
  <property fmtid="{D5CDD505-2E9C-101B-9397-08002B2CF9AE}" pid="3" name="ICV">
    <vt:lpwstr>F0E9528097B94E2A8262C8BB4CF258A0</vt:lpwstr>
  </property>
</Properties>
</file>