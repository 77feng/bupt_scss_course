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7"/>
  </p:notesMasterIdLst>
  <p:handoutMasterIdLst>
    <p:handoutMasterId r:id="rId135"/>
  </p:handoutMasterIdLst>
  <p:sldIdLst>
    <p:sldId id="256" r:id="rId6"/>
    <p:sldId id="1744" r:id="rId8"/>
    <p:sldId id="1753" r:id="rId9"/>
    <p:sldId id="1728" r:id="rId10"/>
    <p:sldId id="1810" r:id="rId11"/>
    <p:sldId id="1811" r:id="rId12"/>
    <p:sldId id="1813" r:id="rId13"/>
    <p:sldId id="1812" r:id="rId14"/>
    <p:sldId id="1814" r:id="rId15"/>
    <p:sldId id="1732" r:id="rId16"/>
    <p:sldId id="1741" r:id="rId17"/>
    <p:sldId id="1733" r:id="rId18"/>
    <p:sldId id="1752" r:id="rId19"/>
    <p:sldId id="1735" r:id="rId20"/>
    <p:sldId id="1738" r:id="rId21"/>
    <p:sldId id="1739" r:id="rId22"/>
    <p:sldId id="1773" r:id="rId23"/>
    <p:sldId id="1747" r:id="rId24"/>
    <p:sldId id="1748" r:id="rId25"/>
    <p:sldId id="1754" r:id="rId26"/>
    <p:sldId id="1755" r:id="rId27"/>
    <p:sldId id="1862" r:id="rId28"/>
    <p:sldId id="1746" r:id="rId29"/>
    <p:sldId id="1768" r:id="rId30"/>
    <p:sldId id="1769" r:id="rId31"/>
    <p:sldId id="1818" r:id="rId32"/>
    <p:sldId id="1770" r:id="rId33"/>
    <p:sldId id="1815" r:id="rId34"/>
    <p:sldId id="1816" r:id="rId35"/>
    <p:sldId id="1830" r:id="rId36"/>
    <p:sldId id="1831" r:id="rId37"/>
    <p:sldId id="1832" r:id="rId38"/>
    <p:sldId id="1833" r:id="rId39"/>
    <p:sldId id="1834" r:id="rId40"/>
    <p:sldId id="1835" r:id="rId41"/>
    <p:sldId id="1836" r:id="rId42"/>
    <p:sldId id="1837" r:id="rId43"/>
    <p:sldId id="1838" r:id="rId44"/>
    <p:sldId id="1839" r:id="rId45"/>
    <p:sldId id="1840" r:id="rId46"/>
    <p:sldId id="1863" r:id="rId47"/>
    <p:sldId id="1865" r:id="rId48"/>
    <p:sldId id="1864" r:id="rId49"/>
    <p:sldId id="1866" r:id="rId50"/>
    <p:sldId id="1867" r:id="rId51"/>
    <p:sldId id="1868" r:id="rId52"/>
    <p:sldId id="1817" r:id="rId53"/>
    <p:sldId id="1845" r:id="rId54"/>
    <p:sldId id="1846" r:id="rId55"/>
    <p:sldId id="1771" r:id="rId56"/>
    <p:sldId id="1774" r:id="rId57"/>
    <p:sldId id="1847" r:id="rId58"/>
    <p:sldId id="1775" r:id="rId59"/>
    <p:sldId id="1776" r:id="rId60"/>
    <p:sldId id="1848" r:id="rId61"/>
    <p:sldId id="1777" r:id="rId62"/>
    <p:sldId id="1778" r:id="rId63"/>
    <p:sldId id="1861" r:id="rId64"/>
    <p:sldId id="1779" r:id="rId65"/>
    <p:sldId id="1772" r:id="rId66"/>
    <p:sldId id="1780" r:id="rId67"/>
    <p:sldId id="1781" r:id="rId68"/>
    <p:sldId id="1782" r:id="rId69"/>
    <p:sldId id="1783" r:id="rId70"/>
    <p:sldId id="1784" r:id="rId71"/>
    <p:sldId id="1849" r:id="rId72"/>
    <p:sldId id="1785" r:id="rId73"/>
    <p:sldId id="1786" r:id="rId74"/>
    <p:sldId id="1859" r:id="rId75"/>
    <p:sldId id="1860" r:id="rId76"/>
    <p:sldId id="1787" r:id="rId77"/>
    <p:sldId id="1788" r:id="rId78"/>
    <p:sldId id="1790" r:id="rId79"/>
    <p:sldId id="1791" r:id="rId80"/>
    <p:sldId id="1789" r:id="rId81"/>
    <p:sldId id="1792" r:id="rId82"/>
    <p:sldId id="1794" r:id="rId83"/>
    <p:sldId id="1850" r:id="rId84"/>
    <p:sldId id="1795" r:id="rId85"/>
    <p:sldId id="1796" r:id="rId86"/>
    <p:sldId id="1797" r:id="rId87"/>
    <p:sldId id="1798" r:id="rId88"/>
    <p:sldId id="1799" r:id="rId89"/>
    <p:sldId id="1869" r:id="rId90"/>
    <p:sldId id="1765" r:id="rId91"/>
    <p:sldId id="1766" r:id="rId92"/>
    <p:sldId id="1767" r:id="rId93"/>
    <p:sldId id="1762" r:id="rId94"/>
    <p:sldId id="1804" r:id="rId95"/>
    <p:sldId id="1806" r:id="rId96"/>
    <p:sldId id="1852" r:id="rId97"/>
    <p:sldId id="1851" r:id="rId98"/>
    <p:sldId id="1853" r:id="rId99"/>
    <p:sldId id="1807" r:id="rId100"/>
    <p:sldId id="1854" r:id="rId101"/>
    <p:sldId id="1870" r:id="rId102"/>
    <p:sldId id="1871" r:id="rId103"/>
    <p:sldId id="1873" r:id="rId104"/>
    <p:sldId id="1874" r:id="rId105"/>
    <p:sldId id="1875" r:id="rId106"/>
    <p:sldId id="1876" r:id="rId107"/>
    <p:sldId id="1877" r:id="rId108"/>
    <p:sldId id="1878" r:id="rId109"/>
    <p:sldId id="1879" r:id="rId110"/>
    <p:sldId id="1880" r:id="rId111"/>
    <p:sldId id="1881" r:id="rId112"/>
    <p:sldId id="1882" r:id="rId113"/>
    <p:sldId id="1883" r:id="rId114"/>
    <p:sldId id="1884" r:id="rId115"/>
    <p:sldId id="1885" r:id="rId116"/>
    <p:sldId id="1886" r:id="rId117"/>
    <p:sldId id="1887" r:id="rId118"/>
    <p:sldId id="1888" r:id="rId119"/>
    <p:sldId id="1889" r:id="rId120"/>
    <p:sldId id="1890" r:id="rId121"/>
    <p:sldId id="1891" r:id="rId122"/>
    <p:sldId id="1892" r:id="rId123"/>
    <p:sldId id="1899" r:id="rId124"/>
    <p:sldId id="1893" r:id="rId125"/>
    <p:sldId id="1894" r:id="rId126"/>
    <p:sldId id="1895" r:id="rId127"/>
    <p:sldId id="1896" r:id="rId128"/>
    <p:sldId id="1897" r:id="rId129"/>
    <p:sldId id="1898" r:id="rId130"/>
    <p:sldId id="1900" r:id="rId131"/>
    <p:sldId id="1856" r:id="rId132"/>
    <p:sldId id="1858" r:id="rId133"/>
    <p:sldId id="1220" r:id="rId134"/>
  </p:sldIdLst>
  <p:sldSz cx="9144000" cy="6858000" type="screen4x3"/>
  <p:notesSz cx="9942195" cy="6760845"/>
  <p:custDataLst>
    <p:tags r:id="rId139"/>
  </p:custDataLst>
  <p:defaultTextStyle>
    <a:defPPr>
      <a:defRPr lang="zh-CN"/>
    </a:defPPr>
    <a:lvl1pPr marL="0" lvl="0"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2147" userDrawn="1">
          <p15:clr>
            <a:srgbClr val="A4A3A4"/>
          </p15:clr>
        </p15:guide>
        <p15:guide id="2" pos="2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A5FA"/>
    <a:srgbClr val="00CCFF"/>
    <a:srgbClr val="FFD9C0"/>
    <a:srgbClr val="FFD6BB"/>
    <a:srgbClr val="FCB2BC"/>
    <a:srgbClr val="A0D2D7"/>
    <a:srgbClr val="F6B9EB"/>
    <a:srgbClr val="005A9A"/>
    <a:srgbClr val="A70A03"/>
    <a:srgbClr val="D508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07" autoAdjust="0"/>
    <p:restoredTop sz="96357" autoAdjust="0"/>
  </p:normalViewPr>
  <p:slideViewPr>
    <p:cSldViewPr showGuides="1">
      <p:cViewPr varScale="1">
        <p:scale>
          <a:sx n="114" d="100"/>
          <a:sy n="114" d="100"/>
        </p:scale>
        <p:origin x="1458" y="102"/>
      </p:cViewPr>
      <p:guideLst>
        <p:guide orient="horz" pos="2147"/>
        <p:guide pos="2884"/>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99" Type="http://schemas.openxmlformats.org/officeDocument/2006/relationships/slide" Target="slides/slide93.xml"/><Relationship Id="rId98" Type="http://schemas.openxmlformats.org/officeDocument/2006/relationships/slide" Target="slides/slide92.xml"/><Relationship Id="rId97" Type="http://schemas.openxmlformats.org/officeDocument/2006/relationships/slide" Target="slides/slide91.xml"/><Relationship Id="rId96" Type="http://schemas.openxmlformats.org/officeDocument/2006/relationships/slide" Target="slides/slide90.xml"/><Relationship Id="rId95" Type="http://schemas.openxmlformats.org/officeDocument/2006/relationships/slide" Target="slides/slide89.xml"/><Relationship Id="rId94" Type="http://schemas.openxmlformats.org/officeDocument/2006/relationships/slide" Target="slides/slide88.xml"/><Relationship Id="rId93" Type="http://schemas.openxmlformats.org/officeDocument/2006/relationships/slide" Target="slides/slide87.xml"/><Relationship Id="rId92" Type="http://schemas.openxmlformats.org/officeDocument/2006/relationships/slide" Target="slides/slide86.xml"/><Relationship Id="rId91" Type="http://schemas.openxmlformats.org/officeDocument/2006/relationships/slide" Target="slides/slide85.xml"/><Relationship Id="rId90" Type="http://schemas.openxmlformats.org/officeDocument/2006/relationships/slide" Target="slides/slide84.xml"/><Relationship Id="rId9" Type="http://schemas.openxmlformats.org/officeDocument/2006/relationships/slide" Target="slides/slide3.xml"/><Relationship Id="rId89" Type="http://schemas.openxmlformats.org/officeDocument/2006/relationships/slide" Target="slides/slide83.xml"/><Relationship Id="rId88" Type="http://schemas.openxmlformats.org/officeDocument/2006/relationships/slide" Target="slides/slide82.xml"/><Relationship Id="rId87" Type="http://schemas.openxmlformats.org/officeDocument/2006/relationships/slide" Target="slides/slide81.xml"/><Relationship Id="rId86" Type="http://schemas.openxmlformats.org/officeDocument/2006/relationships/slide" Target="slides/slide80.xml"/><Relationship Id="rId85" Type="http://schemas.openxmlformats.org/officeDocument/2006/relationships/slide" Target="slides/slide79.xml"/><Relationship Id="rId84" Type="http://schemas.openxmlformats.org/officeDocument/2006/relationships/slide" Target="slides/slide78.xml"/><Relationship Id="rId83" Type="http://schemas.openxmlformats.org/officeDocument/2006/relationships/slide" Target="slides/slide77.xml"/><Relationship Id="rId82" Type="http://schemas.openxmlformats.org/officeDocument/2006/relationships/slide" Target="slides/slide76.xml"/><Relationship Id="rId81" Type="http://schemas.openxmlformats.org/officeDocument/2006/relationships/slide" Target="slides/slide75.xml"/><Relationship Id="rId80" Type="http://schemas.openxmlformats.org/officeDocument/2006/relationships/slide" Target="slides/slide74.xml"/><Relationship Id="rId8" Type="http://schemas.openxmlformats.org/officeDocument/2006/relationships/slide" Target="slides/slide2.xml"/><Relationship Id="rId79" Type="http://schemas.openxmlformats.org/officeDocument/2006/relationships/slide" Target="slides/slide73.xml"/><Relationship Id="rId78" Type="http://schemas.openxmlformats.org/officeDocument/2006/relationships/slide" Target="slides/slide72.xml"/><Relationship Id="rId77" Type="http://schemas.openxmlformats.org/officeDocument/2006/relationships/slide" Target="slides/slide71.xml"/><Relationship Id="rId76" Type="http://schemas.openxmlformats.org/officeDocument/2006/relationships/slide" Target="slides/slide70.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notesMaster" Target="notesMasters/notesMaster1.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9" Type="http://schemas.openxmlformats.org/officeDocument/2006/relationships/tags" Target="tags/tag13.xml"/><Relationship Id="rId138" Type="http://schemas.openxmlformats.org/officeDocument/2006/relationships/tableStyles" Target="tableStyles.xml"/><Relationship Id="rId137" Type="http://schemas.openxmlformats.org/officeDocument/2006/relationships/viewProps" Target="viewProps.xml"/><Relationship Id="rId136" Type="http://schemas.openxmlformats.org/officeDocument/2006/relationships/presProps" Target="presProps.xml"/><Relationship Id="rId135" Type="http://schemas.openxmlformats.org/officeDocument/2006/relationships/handoutMaster" Target="handoutMasters/handoutMaster1.xml"/><Relationship Id="rId134" Type="http://schemas.openxmlformats.org/officeDocument/2006/relationships/slide" Target="slides/slide128.xml"/><Relationship Id="rId133" Type="http://schemas.openxmlformats.org/officeDocument/2006/relationships/slide" Target="slides/slide127.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 Type="http://schemas.openxmlformats.org/officeDocument/2006/relationships/slide" Target="slides/slide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125" Type="http://schemas.openxmlformats.org/officeDocument/2006/relationships/slide" Target="slides/slide119.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121" Type="http://schemas.openxmlformats.org/officeDocument/2006/relationships/slide" Target="slides/slide115.xml"/><Relationship Id="rId120" Type="http://schemas.openxmlformats.org/officeDocument/2006/relationships/slide" Target="slides/slide114.xml"/><Relationship Id="rId12" Type="http://schemas.openxmlformats.org/officeDocument/2006/relationships/slide" Target="slides/slide6.xml"/><Relationship Id="rId119" Type="http://schemas.openxmlformats.org/officeDocument/2006/relationships/slide" Target="slides/slide113.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4" Type="http://schemas.openxmlformats.org/officeDocument/2006/relationships/slide" Target="slides/slide108.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110" Type="http://schemas.openxmlformats.org/officeDocument/2006/relationships/slide" Target="slides/slide104.xml"/><Relationship Id="rId11" Type="http://schemas.openxmlformats.org/officeDocument/2006/relationships/slide" Target="slides/slide5.xml"/><Relationship Id="rId109" Type="http://schemas.openxmlformats.org/officeDocument/2006/relationships/slide" Target="slides/slide103.xml"/><Relationship Id="rId108" Type="http://schemas.openxmlformats.org/officeDocument/2006/relationships/slide" Target="slides/slide102.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10" Type="http://schemas.openxmlformats.org/officeDocument/2006/relationships/slide" Target="slides/slide4.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8475" cy="338138"/>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5632450" y="0"/>
            <a:ext cx="4308475" cy="338138"/>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6421438"/>
            <a:ext cx="4308475" cy="338138"/>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5632450" y="6421438"/>
            <a:ext cx="4308475" cy="338138"/>
          </a:xfrm>
          <a:prstGeom prst="rect">
            <a:avLst/>
          </a:prstGeom>
        </p:spPr>
        <p:txBody>
          <a:bodyPr vert="horz" wrap="square" lIns="91440" tIns="45720" rIns="91440" bIns="45720" numCol="1" anchor="b" anchorCtr="0" compatLnSpc="1"/>
          <a:lstStyle/>
          <a:p>
            <a:pPr lvl="0" algn="r" eaLnBrk="1" hangingPunct="1">
              <a:buChar char="•"/>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8475" cy="338138"/>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5632450" y="0"/>
            <a:ext cx="4308475" cy="338138"/>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3279775" y="506413"/>
            <a:ext cx="3382963" cy="2536825"/>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993775" y="3211513"/>
            <a:ext cx="7954963" cy="3043238"/>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6421438"/>
            <a:ext cx="4308475" cy="338138"/>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5632450" y="6421438"/>
            <a:ext cx="4308475" cy="338138"/>
          </a:xfrm>
          <a:prstGeom prst="rect">
            <a:avLst/>
          </a:prstGeom>
        </p:spPr>
        <p:txBody>
          <a:bodyPr vert="horz" wrap="square" lIns="91440" tIns="45720" rIns="91440" bIns="45720" numCol="1" anchor="b" anchorCtr="0" compatLnSpc="1"/>
          <a:lstStyle/>
          <a:p>
            <a:pPr lvl="0" algn="r" eaLnBrk="1" hangingPunct="1">
              <a:buChar char="•"/>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uFillTx/>
                <a:latin typeface="Times New Roman" panose="02020603050405020304" pitchFamily="18" charset="0"/>
                <a:ea typeface="黑体" panose="02010609060101010101" pitchFamily="49" charset="-122"/>
                <a:sym typeface="+mn-ea"/>
              </a:rPr>
              <a:t>在香农定理的指导下，信道编码理论和技术逐步发展成熟。纠删码</a:t>
            </a:r>
            <a:r>
              <a:rPr lang="en-US" altLang="zh-CN" sz="1200" dirty="0">
                <a:uFillTx/>
                <a:latin typeface="Times New Roman" panose="02020603050405020304" pitchFamily="18" charset="0"/>
                <a:ea typeface="黑体" panose="02010609060101010101" pitchFamily="49" charset="-122"/>
                <a:sym typeface="+mn-ea"/>
              </a:rPr>
              <a:t>(Erasure Code)</a:t>
            </a:r>
            <a:r>
              <a:rPr lang="zh-CN" altLang="en-US" sz="1200" dirty="0">
                <a:uFillTx/>
                <a:latin typeface="Times New Roman" panose="02020603050405020304" pitchFamily="18" charset="0"/>
                <a:ea typeface="黑体" panose="02010609060101010101" pitchFamily="49" charset="-122"/>
                <a:sym typeface="+mn-ea"/>
              </a:rPr>
              <a:t>原来是</a:t>
            </a:r>
            <a:r>
              <a:rPr lang="zh-CN" altLang="en-US" sz="1200" dirty="0">
                <a:solidFill>
                  <a:schemeClr val="accent2"/>
                </a:solidFill>
                <a:uFillTx/>
                <a:latin typeface="Times New Roman" panose="02020603050405020304" pitchFamily="18" charset="0"/>
                <a:ea typeface="黑体" panose="02010609060101010101" pitchFamily="49" charset="-122"/>
                <a:sym typeface="+mn-ea"/>
              </a:rPr>
              <a:t>无线通信中有噪信道编码的一种</a:t>
            </a:r>
            <a:r>
              <a:rPr lang="zh-CN" altLang="en-US" sz="1200" dirty="0">
                <a:uFillTx/>
                <a:latin typeface="Times New Roman" panose="02020603050405020304" pitchFamily="18" charset="0"/>
                <a:ea typeface="黑体" panose="02010609060101010101" pitchFamily="49" charset="-122"/>
                <a:sym typeface="+mn-ea"/>
              </a:rPr>
              <a:t>，后来由</a:t>
            </a:r>
            <a:r>
              <a:rPr lang="en-US" altLang="zh-CN" sz="1200" dirty="0" err="1">
                <a:uFillTx/>
                <a:latin typeface="Times New Roman" panose="02020603050405020304" pitchFamily="18" charset="0"/>
                <a:ea typeface="黑体" panose="02010609060101010101" pitchFamily="49" charset="-122"/>
                <a:sym typeface="+mn-ea"/>
              </a:rPr>
              <a:t>Karnin</a:t>
            </a:r>
            <a:r>
              <a:rPr lang="zh-CN" altLang="en-US" sz="1200" dirty="0">
                <a:uFillTx/>
                <a:latin typeface="Times New Roman" panose="02020603050405020304" pitchFamily="18" charset="0"/>
                <a:ea typeface="黑体" panose="02010609060101010101" pitchFamily="49" charset="-122"/>
                <a:sym typeface="+mn-ea"/>
              </a:rPr>
              <a:t>提出的密钥共享</a:t>
            </a:r>
            <a:r>
              <a:rPr lang="en-US" altLang="zh-CN" sz="1200" dirty="0">
                <a:uFillTx/>
                <a:latin typeface="Times New Roman" panose="02020603050405020304" pitchFamily="18" charset="0"/>
                <a:ea typeface="黑体" panose="02010609060101010101" pitchFamily="49" charset="-122"/>
                <a:sym typeface="+mn-ea"/>
              </a:rPr>
              <a:t>(Secret Sharing)</a:t>
            </a:r>
            <a:r>
              <a:rPr lang="zh-CN" altLang="en-US" sz="1200" dirty="0">
                <a:uFillTx/>
                <a:latin typeface="Times New Roman" panose="02020603050405020304" pitchFamily="18" charset="0"/>
                <a:ea typeface="黑体" panose="02010609060101010101" pitchFamily="49" charset="-122"/>
                <a:sym typeface="+mn-ea"/>
              </a:rPr>
              <a:t>以及</a:t>
            </a:r>
            <a:r>
              <a:rPr lang="en-US" altLang="zh-CN" sz="1200" dirty="0" err="1">
                <a:uFillTx/>
                <a:latin typeface="Times New Roman" panose="02020603050405020304" pitchFamily="18" charset="0"/>
                <a:ea typeface="黑体" panose="02010609060101010101" pitchFamily="49" charset="-122"/>
                <a:sym typeface="+mn-ea"/>
              </a:rPr>
              <a:t>M.O.Rabin</a:t>
            </a:r>
            <a:r>
              <a:rPr lang="zh-CN" altLang="en-US" sz="1200" dirty="0">
                <a:uFillTx/>
                <a:latin typeface="Times New Roman" panose="02020603050405020304" pitchFamily="18" charset="0"/>
                <a:ea typeface="黑体" panose="02010609060101010101" pitchFamily="49" charset="-122"/>
                <a:sym typeface="+mn-ea"/>
              </a:rPr>
              <a:t>提出的</a:t>
            </a:r>
            <a:r>
              <a:rPr lang="en-US" altLang="zh-CN" sz="1200" dirty="0">
                <a:uFillTx/>
                <a:latin typeface="Times New Roman" panose="02020603050405020304" pitchFamily="18" charset="0"/>
                <a:ea typeface="黑体" panose="02010609060101010101" pitchFamily="49" charset="-122"/>
                <a:sym typeface="+mn-ea"/>
              </a:rPr>
              <a:t>IDA(Information Dispersal Algorithm)</a:t>
            </a:r>
            <a:r>
              <a:rPr lang="zh-CN" altLang="en-US" sz="1200" dirty="0">
                <a:uFillTx/>
                <a:latin typeface="Times New Roman" panose="02020603050405020304" pitchFamily="18" charset="0"/>
                <a:ea typeface="黑体" panose="02010609060101010101" pitchFamily="49" charset="-122"/>
                <a:sym typeface="+mn-ea"/>
              </a:rPr>
              <a:t>算法，将其引入到计算机应用中</a:t>
            </a:r>
            <a:r>
              <a:rPr lang="en-US" altLang="zh-CN" sz="1200" dirty="0">
                <a:uFillTx/>
                <a:latin typeface="Times New Roman" panose="02020603050405020304" pitchFamily="18" charset="0"/>
                <a:ea typeface="黑体" panose="02010609060101010101" pitchFamily="49" charset="-122"/>
                <a:sym typeface="+mn-ea"/>
              </a:rPr>
              <a:t>,</a:t>
            </a:r>
            <a:r>
              <a:rPr lang="zh-CN" altLang="en-US" sz="1200" dirty="0">
                <a:uFillTx/>
                <a:latin typeface="Times New Roman" panose="02020603050405020304" pitchFamily="18" charset="0"/>
                <a:ea typeface="黑体" panose="02010609060101010101" pitchFamily="49" charset="-122"/>
                <a:sym typeface="+mn-ea"/>
              </a:rPr>
              <a:t>发展到现在已有数十种编码。</a:t>
            </a:r>
            <a:endParaRPr lang="en-US" altLang="zh-CN" sz="1200" dirty="0">
              <a:uFillTx/>
              <a:latin typeface="Times New Roman" panose="02020603050405020304" pitchFamily="18" charset="0"/>
              <a:ea typeface="黑体" panose="02010609060101010101" pitchFamily="49" charset="-122"/>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dirty="0">
                <a:uFillTx/>
                <a:latin typeface="Times New Roman" panose="02020603050405020304" pitchFamily="18" charset="0"/>
                <a:ea typeface="黑体" panose="02010609060101010101" pitchFamily="49" charset="-122"/>
                <a:sym typeface="+mn-ea"/>
              </a:rPr>
              <a:t>前向纠错</a:t>
            </a:r>
            <a:r>
              <a:rPr lang="en-US" altLang="zh-CN" sz="1200" dirty="0">
                <a:uFillTx/>
                <a:latin typeface="Times New Roman" panose="02020603050405020304" pitchFamily="18" charset="0"/>
                <a:ea typeface="黑体" panose="02010609060101010101" pitchFamily="49" charset="-122"/>
                <a:sym typeface="+mn-ea"/>
              </a:rPr>
              <a:t>(Forward Error Correcting</a:t>
            </a:r>
            <a:r>
              <a:rPr lang="zh-CN" altLang="en-US" sz="1200" dirty="0">
                <a:uFillTx/>
                <a:latin typeface="Times New Roman" panose="02020603050405020304" pitchFamily="18" charset="0"/>
                <a:ea typeface="黑体" panose="02010609060101010101" pitchFamily="49" charset="-122"/>
                <a:sym typeface="+mn-ea"/>
              </a:rPr>
              <a:t>，</a:t>
            </a:r>
            <a:r>
              <a:rPr lang="en-US" altLang="zh-CN" sz="1200" dirty="0">
                <a:uFillTx/>
                <a:latin typeface="Times New Roman" panose="02020603050405020304" pitchFamily="18" charset="0"/>
                <a:ea typeface="黑体" panose="02010609060101010101" pitchFamily="49" charset="-122"/>
                <a:sym typeface="+mn-ea"/>
              </a:rPr>
              <a:t>FEC)</a:t>
            </a:r>
            <a:r>
              <a:rPr lang="zh-CN" altLang="en-US" sz="1200" dirty="0">
                <a:uFillTx/>
                <a:latin typeface="Times New Roman" panose="02020603050405020304" pitchFamily="18" charset="0"/>
                <a:ea typeface="黑体" panose="02010609060101010101" pitchFamily="49" charset="-122"/>
                <a:sym typeface="+mn-ea"/>
              </a:rPr>
              <a:t>技术近年来广泛应用于信息处理的各个领域。各种纠错码所讨论的错误检测和纠错也多用于低层协议</a:t>
            </a:r>
            <a:r>
              <a:rPr lang="en-US" altLang="zh-CN" sz="1200" dirty="0">
                <a:uFillTx/>
                <a:latin typeface="Times New Roman" panose="02020603050405020304" pitchFamily="18" charset="0"/>
                <a:ea typeface="黑体" panose="02010609060101010101" pitchFamily="49" charset="-122"/>
                <a:sym typeface="+mn-ea"/>
              </a:rPr>
              <a:t>(</a:t>
            </a:r>
            <a:r>
              <a:rPr lang="zh-CN" altLang="en-US" sz="1200" dirty="0">
                <a:uFillTx/>
                <a:latin typeface="Times New Roman" panose="02020603050405020304" pitchFamily="18" charset="0"/>
                <a:ea typeface="黑体" panose="02010609060101010101" pitchFamily="49" charset="-122"/>
                <a:sym typeface="+mn-ea"/>
              </a:rPr>
              <a:t>如链路层</a:t>
            </a:r>
            <a:r>
              <a:rPr lang="en-US" altLang="zh-CN" sz="1200" dirty="0">
                <a:uFillTx/>
                <a:latin typeface="Times New Roman" panose="02020603050405020304" pitchFamily="18" charset="0"/>
                <a:ea typeface="黑体" panose="02010609060101010101" pitchFamily="49" charset="-122"/>
                <a:sym typeface="+mn-ea"/>
              </a:rPr>
              <a:t>)</a:t>
            </a:r>
            <a:r>
              <a:rPr lang="zh-CN" altLang="en-US" sz="1200" dirty="0">
                <a:uFillTx/>
                <a:latin typeface="Times New Roman" panose="02020603050405020304" pitchFamily="18" charset="0"/>
                <a:ea typeface="黑体" panose="02010609060101010101" pitchFamily="49" charset="-122"/>
                <a:sym typeface="+mn-ea"/>
              </a:rPr>
              <a:t>以比特串为单位的纠错。纠错码纠正的误码位置一般是未知的，而误码位置可知的错误被称为删除错误，</a:t>
            </a:r>
            <a:r>
              <a:rPr lang="zh-CN" altLang="en-US" sz="1200" dirty="0">
                <a:solidFill>
                  <a:srgbClr val="FF0000"/>
                </a:solidFill>
                <a:uFillTx/>
                <a:latin typeface="Times New Roman" panose="02020603050405020304" pitchFamily="18" charset="0"/>
                <a:ea typeface="黑体" panose="02010609060101010101" pitchFamily="49" charset="-122"/>
                <a:sym typeface="+mn-ea"/>
              </a:rPr>
              <a:t>纠正删除错误的纠错码称为纠删码</a:t>
            </a:r>
            <a:r>
              <a:rPr lang="zh-CN" altLang="en-US" sz="1200" dirty="0">
                <a:uFillTx/>
                <a:latin typeface="Times New Roman" panose="02020603050405020304" pitchFamily="18" charset="0"/>
                <a:ea typeface="黑体" panose="02010609060101010101" pitchFamily="49" charset="-122"/>
                <a:sym typeface="+mn-ea"/>
              </a:rPr>
              <a:t>（</a:t>
            </a:r>
            <a:r>
              <a:rPr lang="en-US" altLang="zh-CN" sz="1200" dirty="0">
                <a:uFillTx/>
                <a:latin typeface="Times New Roman" panose="02020603050405020304" pitchFamily="18" charset="0"/>
                <a:ea typeface="黑体" panose="02010609060101010101" pitchFamily="49" charset="-122"/>
                <a:sym typeface="+mn-ea"/>
              </a:rPr>
              <a:t>Erasure Codes</a:t>
            </a:r>
            <a:r>
              <a:rPr lang="zh-CN" altLang="en-US" sz="1200" dirty="0">
                <a:uFillTx/>
                <a:latin typeface="Times New Roman" panose="02020603050405020304" pitchFamily="18" charset="0"/>
                <a:ea typeface="黑体" panose="02010609060101010101" pitchFamily="49" charset="-122"/>
                <a:sym typeface="+mn-ea"/>
              </a:rPr>
              <a:t>）。</a:t>
            </a:r>
            <a:endParaRPr lang="zh-CN" altLang="en-US" sz="1200" dirty="0">
              <a:uFillTx/>
              <a:latin typeface="Times New Roman" panose="02020603050405020304" pitchFamily="18" charset="0"/>
              <a:ea typeface="黑体" panose="02010609060101010101" pitchFamily="49" charset="-122"/>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(4)</a:t>
            </a:r>
            <a:r>
              <a:rPr lang="zh-CN" altLang="en-US" dirty="0"/>
              <a:t>做一夜</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(4)</a:t>
            </a:r>
            <a:r>
              <a:rPr lang="zh-CN" altLang="en-US" dirty="0"/>
              <a:t>做一夜</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分开</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分开</a:t>
            </a: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分开</a:t>
            </a: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分开</a:t>
            </a: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分开</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分开</a:t>
            </a: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分开</a:t>
            </a:r>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latin typeface="+mn-lt"/>
              </a:rPr>
              <a:t>Raptor</a:t>
            </a:r>
            <a:r>
              <a:rPr lang="zh-CN" altLang="en-US" dirty="0">
                <a:latin typeface="+mn-lt"/>
              </a:rPr>
              <a:t>码是</a:t>
            </a:r>
            <a:r>
              <a:rPr lang="en-US" altLang="zh-CN" dirty="0">
                <a:latin typeface="+mn-lt"/>
              </a:rPr>
              <a:t>LT</a:t>
            </a:r>
            <a:r>
              <a:rPr lang="zh-CN" altLang="en-US" dirty="0">
                <a:latin typeface="+mn-lt"/>
              </a:rPr>
              <a:t>码的基础上发展出来的改进版。</a:t>
            </a:r>
            <a:endParaRPr lang="en-US" altLang="zh-CN" dirty="0">
              <a:latin typeface="+mn-lt"/>
            </a:endParaRPr>
          </a:p>
          <a:p>
            <a:r>
              <a:rPr lang="zh-CN" altLang="en-US" dirty="0">
                <a:latin typeface="+mn-lt"/>
              </a:rPr>
              <a:t>它是基于这样一个认识：</a:t>
            </a:r>
            <a:r>
              <a:rPr lang="en-US" altLang="zh-CN" dirty="0">
                <a:latin typeface="+mn-lt"/>
              </a:rPr>
              <a:t>LT</a:t>
            </a:r>
            <a:r>
              <a:rPr lang="zh-CN" altLang="en-US" dirty="0">
                <a:latin typeface="+mn-lt"/>
              </a:rPr>
              <a:t>码生成的编码包中有少量连接度很高的包，这些包的作用主要是保证对所有数据包的良好覆盖，从而保证译码的完整性，然而这些高连接度包的存在消耗了很多编译码异或操作，同时也降低了低连接度包的比例，从而减小了译码过程中可译集的大小，降低了译码成功率。如果能采用别的方法来代替高连接度包完成对数据包的良好覆盖则可以有效地提高译码成功率并降低编译码复杂度。</a:t>
            </a:r>
            <a:endParaRPr lang="en-US" altLang="zh-CN" dirty="0">
              <a:latin typeface="+mn-lt"/>
            </a:endParaRPr>
          </a:p>
          <a:p>
            <a:r>
              <a:rPr lang="zh-CN" altLang="en-US" dirty="0">
                <a:latin typeface="+mn-lt"/>
              </a:rPr>
              <a:t>基于这个思想，</a:t>
            </a:r>
            <a:r>
              <a:rPr lang="en-US" altLang="zh-CN" dirty="0">
                <a:latin typeface="+mn-lt"/>
              </a:rPr>
              <a:t>Raptor</a:t>
            </a:r>
            <a:r>
              <a:rPr lang="zh-CN" altLang="en-US" dirty="0">
                <a:latin typeface="+mn-lt"/>
              </a:rPr>
              <a:t>码提出</a:t>
            </a:r>
            <a:r>
              <a:rPr lang="zh-CN" altLang="en-US" dirty="0">
                <a:solidFill>
                  <a:srgbClr val="FF0000"/>
                </a:solidFill>
                <a:latin typeface="+mn-lt"/>
              </a:rPr>
              <a:t>采用两步编码</a:t>
            </a:r>
            <a:r>
              <a:rPr lang="zh-CN" altLang="en-US" dirty="0">
                <a:latin typeface="+mn-lt"/>
              </a:rPr>
              <a:t>的方式。首先对</a:t>
            </a:r>
            <a:r>
              <a:rPr lang="zh-CN" altLang="en-US" dirty="0">
                <a:solidFill>
                  <a:srgbClr val="FF0000"/>
                </a:solidFill>
                <a:latin typeface="+mn-lt"/>
              </a:rPr>
              <a:t>原始信息用一个分组码进行预编码</a:t>
            </a:r>
            <a:r>
              <a:rPr lang="zh-CN" altLang="en-US" dirty="0">
                <a:latin typeface="+mn-lt"/>
              </a:rPr>
              <a:t>，然后</a:t>
            </a:r>
            <a:r>
              <a:rPr lang="zh-CN" altLang="en-US" dirty="0">
                <a:solidFill>
                  <a:srgbClr val="FF0000"/>
                </a:solidFill>
                <a:latin typeface="+mn-lt"/>
              </a:rPr>
              <a:t>采用一个弱化的</a:t>
            </a:r>
            <a:r>
              <a:rPr lang="en-US" altLang="zh-CN" dirty="0">
                <a:solidFill>
                  <a:srgbClr val="FF0000"/>
                </a:solidFill>
                <a:latin typeface="+mn-lt"/>
              </a:rPr>
              <a:t>LT</a:t>
            </a:r>
            <a:r>
              <a:rPr lang="zh-CN" altLang="en-US" dirty="0">
                <a:solidFill>
                  <a:srgbClr val="FF0000"/>
                </a:solidFill>
                <a:latin typeface="+mn-lt"/>
              </a:rPr>
              <a:t>码对数据进行编码并发送</a:t>
            </a:r>
            <a:r>
              <a:rPr lang="zh-CN" altLang="en-US" dirty="0">
                <a:latin typeface="+mn-lt"/>
              </a:rPr>
              <a:t>。所谓弱化的</a:t>
            </a:r>
            <a:r>
              <a:rPr lang="en-US" altLang="zh-CN" dirty="0">
                <a:latin typeface="+mn-lt"/>
              </a:rPr>
              <a:t>LT</a:t>
            </a:r>
            <a:r>
              <a:rPr lang="zh-CN" altLang="en-US" dirty="0">
                <a:latin typeface="+mn-lt"/>
              </a:rPr>
              <a:t>码是指它生成的编码包没有高连接度包，无法完全译出原始数据。</a:t>
            </a:r>
            <a:r>
              <a:rPr lang="en-US" altLang="zh-CN" dirty="0">
                <a:latin typeface="+mn-lt"/>
              </a:rPr>
              <a:t>Raptor</a:t>
            </a:r>
            <a:r>
              <a:rPr lang="zh-CN" altLang="en-US" dirty="0">
                <a:latin typeface="+mn-lt"/>
              </a:rPr>
              <a:t>码译码时，首先用</a:t>
            </a:r>
            <a:r>
              <a:rPr lang="en-US" altLang="zh-CN" dirty="0">
                <a:latin typeface="+mn-lt"/>
              </a:rPr>
              <a:t>BP</a:t>
            </a:r>
            <a:r>
              <a:rPr lang="zh-CN" altLang="en-US" dirty="0">
                <a:latin typeface="+mn-lt"/>
              </a:rPr>
              <a:t>算法对数据进行正常译码。由于弱化</a:t>
            </a:r>
            <a:r>
              <a:rPr lang="en-US" altLang="zh-CN" dirty="0">
                <a:latin typeface="+mn-lt"/>
              </a:rPr>
              <a:t>LT</a:t>
            </a:r>
            <a:r>
              <a:rPr lang="zh-CN" altLang="en-US" dirty="0">
                <a:latin typeface="+mn-lt"/>
              </a:rPr>
              <a:t>码能以很高的概率恢复出绝大多数的数据包，因此剩下未被译码的数据包所占的比例就被控制在一个很小的范围以内，这些未被译码的数据不再通过高连接度的编码包来保证覆盖和恢复，而是利用预编码的纠错能力进行恢复。通过联合优化弱化</a:t>
            </a:r>
            <a:r>
              <a:rPr lang="en-US" altLang="zh-CN" dirty="0">
                <a:latin typeface="+mn-lt"/>
              </a:rPr>
              <a:t>LT</a:t>
            </a:r>
            <a:r>
              <a:rPr lang="zh-CN" altLang="en-US" dirty="0">
                <a:latin typeface="+mn-lt"/>
              </a:rPr>
              <a:t>码和预编码的码率和参数，</a:t>
            </a:r>
            <a:r>
              <a:rPr lang="en-US" altLang="zh-CN" dirty="0">
                <a:latin typeface="+mn-lt"/>
              </a:rPr>
              <a:t>Raptor</a:t>
            </a:r>
            <a:r>
              <a:rPr lang="zh-CN" altLang="en-US" dirty="0">
                <a:latin typeface="+mn-lt"/>
              </a:rPr>
              <a:t>可以获得更低的编译码复杂度，而在相同译码开销下能实现更高的译码成功率。</a:t>
            </a: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latin typeface="+mn-lt"/>
              </a:rPr>
              <a:t>RAID</a:t>
            </a:r>
            <a:r>
              <a:rPr lang="zh-CN" altLang="en-US" dirty="0">
                <a:latin typeface="+mn-lt"/>
              </a:rPr>
              <a:t>全称独立磁盘冗余阵列，</a:t>
            </a:r>
            <a:r>
              <a:rPr lang="en-US" altLang="zh-CN" dirty="0">
                <a:latin typeface="+mn-lt"/>
              </a:rPr>
              <a:t>1989 </a:t>
            </a:r>
            <a:r>
              <a:rPr lang="zh-CN" altLang="en-US" dirty="0">
                <a:latin typeface="+mn-lt"/>
              </a:rPr>
              <a:t>年开始成为基于磁盘的数据保护标准，事实证明它是一个可靠的数据保护方法，但现在最基本的存储原理正在慢慢发生变化，</a:t>
            </a:r>
            <a:r>
              <a:rPr lang="en-US" altLang="zh-CN" dirty="0">
                <a:latin typeface="+mn-lt"/>
              </a:rPr>
              <a:t>RAID </a:t>
            </a:r>
            <a:r>
              <a:rPr lang="zh-CN" altLang="en-US" dirty="0">
                <a:latin typeface="+mn-lt"/>
              </a:rPr>
              <a:t>也面临再次革命。</a:t>
            </a:r>
            <a:r>
              <a:rPr lang="en-US" altLang="zh-CN" dirty="0">
                <a:latin typeface="+mn-lt"/>
              </a:rPr>
              <a:t>RAID</a:t>
            </a:r>
            <a:r>
              <a:rPr lang="zh-CN" altLang="en-US" dirty="0">
                <a:latin typeface="+mn-lt"/>
              </a:rPr>
              <a:t>的目的是在硬盘驱动器</a:t>
            </a:r>
            <a:r>
              <a:rPr lang="en-US" altLang="zh-CN" dirty="0">
                <a:latin typeface="+mn-lt"/>
              </a:rPr>
              <a:t>(HDD)</a:t>
            </a:r>
            <a:r>
              <a:rPr lang="zh-CN" altLang="en-US" dirty="0">
                <a:latin typeface="+mn-lt"/>
              </a:rPr>
              <a:t>失效时保护数据，当</a:t>
            </a:r>
            <a:r>
              <a:rPr lang="en-US" altLang="zh-CN" dirty="0">
                <a:latin typeface="+mn-lt"/>
              </a:rPr>
              <a:t>HDD</a:t>
            </a:r>
            <a:r>
              <a:rPr lang="zh-CN" altLang="en-US" dirty="0">
                <a:latin typeface="+mn-lt"/>
              </a:rPr>
              <a:t>发生故障时，根据不同类型的</a:t>
            </a:r>
            <a:r>
              <a:rPr lang="en-US" altLang="zh-CN" dirty="0">
                <a:latin typeface="+mn-lt"/>
              </a:rPr>
              <a:t>RAID</a:t>
            </a:r>
            <a:r>
              <a:rPr lang="zh-CN" altLang="en-US" dirty="0">
                <a:latin typeface="+mn-lt"/>
              </a:rPr>
              <a:t>，它里面的数据可通过奇偶校验或镜像副本重新创建，但电子机械式硬盘发生故障的几率很高。</a:t>
            </a:r>
            <a:r>
              <a:rPr lang="en-US" altLang="zh-CN" dirty="0">
                <a:latin typeface="+mn-lt"/>
              </a:rPr>
              <a:t>Erasure code </a:t>
            </a:r>
            <a:r>
              <a:rPr lang="zh-CN" altLang="en-US" dirty="0">
                <a:latin typeface="+mn-lt"/>
              </a:rPr>
              <a:t>存储与</a:t>
            </a:r>
            <a:r>
              <a:rPr lang="en-US" altLang="zh-CN" dirty="0">
                <a:latin typeface="+mn-lt"/>
              </a:rPr>
              <a:t>RAID</a:t>
            </a:r>
            <a:r>
              <a:rPr lang="zh-CN" altLang="en-US" dirty="0">
                <a:latin typeface="+mn-lt"/>
              </a:rPr>
              <a:t>完全不同，它消除了所有</a:t>
            </a:r>
            <a:r>
              <a:rPr lang="en-US" altLang="zh-CN" dirty="0">
                <a:latin typeface="+mn-lt"/>
              </a:rPr>
              <a:t>RAID</a:t>
            </a:r>
            <a:r>
              <a:rPr lang="zh-CN" altLang="en-US" dirty="0">
                <a:latin typeface="+mn-lt"/>
              </a:rPr>
              <a:t>问题，它是一种全新的技术。</a:t>
            </a:r>
            <a:endParaRPr lang="en-US" altLang="zh-CN" dirty="0">
              <a:latin typeface="+mn-lt"/>
            </a:endParaRPr>
          </a:p>
          <a:p>
            <a:pPr>
              <a:lnSpc>
                <a:spcPts val="3400"/>
              </a:lnSpc>
            </a:pPr>
            <a:r>
              <a:rPr lang="zh-CN" altLang="en-US" dirty="0">
                <a:latin typeface="+mn-lt"/>
              </a:rPr>
              <a:t>在</a:t>
            </a:r>
            <a:r>
              <a:rPr lang="en-US" altLang="zh-CN" dirty="0" err="1">
                <a:latin typeface="+mn-lt"/>
              </a:rPr>
              <a:t>Ceph</a:t>
            </a:r>
            <a:r>
              <a:rPr lang="zh-CN" altLang="en-US" dirty="0">
                <a:latin typeface="+mn-lt"/>
              </a:rPr>
              <a:t>中纠删码相对于多副本而言，读取数据需要同时访问更多的磁盘，由算法本身带来的额外网络消耗，以及磁盘故障时额外</a:t>
            </a:r>
            <a:r>
              <a:rPr lang="en-US" altLang="zh-CN" dirty="0">
                <a:latin typeface="+mn-lt"/>
              </a:rPr>
              <a:t>CPU</a:t>
            </a:r>
            <a:r>
              <a:rPr lang="zh-CN" altLang="en-US" dirty="0">
                <a:latin typeface="+mn-lt"/>
              </a:rPr>
              <a:t>消耗，导致纠删码性能比多副本要差，因此仅适合于存储大量对时延不敏感的冷数据（如备份数据）。</a:t>
            </a:r>
            <a:endParaRPr lang="zh-CN" altLang="en-US" dirty="0">
              <a:latin typeface="+mn-lt"/>
            </a:endParaRPr>
          </a:p>
          <a:p>
            <a:pPr>
              <a:lnSpc>
                <a:spcPts val="3400"/>
              </a:lnSpc>
            </a:pPr>
            <a:r>
              <a:rPr lang="en-US" altLang="zh-CN" dirty="0">
                <a:latin typeface="+mn-lt"/>
              </a:rPr>
              <a:t>         </a:t>
            </a:r>
            <a:r>
              <a:rPr lang="en-US" altLang="zh-CN" dirty="0" err="1">
                <a:latin typeface="+mn-lt"/>
              </a:rPr>
              <a:t>AWCloud</a:t>
            </a:r>
            <a:r>
              <a:rPr lang="zh-CN" altLang="en-US" dirty="0">
                <a:latin typeface="+mn-lt"/>
              </a:rPr>
              <a:t>利用</a:t>
            </a:r>
            <a:r>
              <a:rPr lang="en-US" altLang="zh-CN" dirty="0">
                <a:latin typeface="+mn-lt"/>
              </a:rPr>
              <a:t>FPGA</a:t>
            </a:r>
            <a:r>
              <a:rPr lang="zh-CN" altLang="en-US" dirty="0">
                <a:latin typeface="+mn-lt"/>
              </a:rPr>
              <a:t>高效的计算能力，将原本使用</a:t>
            </a:r>
            <a:r>
              <a:rPr lang="en-US" altLang="zh-CN" dirty="0">
                <a:latin typeface="+mn-lt"/>
              </a:rPr>
              <a:t>CPU</a:t>
            </a:r>
            <a:r>
              <a:rPr lang="zh-CN" altLang="en-US" dirty="0">
                <a:latin typeface="+mn-lt"/>
              </a:rPr>
              <a:t>计算的纠删码算法</a:t>
            </a:r>
            <a:r>
              <a:rPr lang="en-US" altLang="zh-CN" dirty="0">
                <a:latin typeface="+mn-lt"/>
              </a:rPr>
              <a:t>offload</a:t>
            </a:r>
            <a:r>
              <a:rPr lang="zh-CN" altLang="en-US" dirty="0">
                <a:latin typeface="+mn-lt"/>
              </a:rPr>
              <a:t>到</a:t>
            </a:r>
            <a:r>
              <a:rPr lang="en-US" altLang="zh-CN" dirty="0">
                <a:latin typeface="+mn-lt"/>
              </a:rPr>
              <a:t>FPGA</a:t>
            </a:r>
            <a:r>
              <a:rPr lang="zh-CN" altLang="en-US" dirty="0">
                <a:latin typeface="+mn-lt"/>
              </a:rPr>
              <a:t>硬件上，通过</a:t>
            </a:r>
            <a:r>
              <a:rPr lang="en-US" altLang="zh-CN" dirty="0">
                <a:latin typeface="+mn-lt"/>
              </a:rPr>
              <a:t>PCI-e</a:t>
            </a:r>
            <a:r>
              <a:rPr lang="zh-CN" altLang="en-US" dirty="0">
                <a:latin typeface="+mn-lt"/>
              </a:rPr>
              <a:t>方式完成数据在</a:t>
            </a:r>
            <a:r>
              <a:rPr lang="en-US" altLang="zh-CN" dirty="0">
                <a:latin typeface="+mn-lt"/>
              </a:rPr>
              <a:t>CPU</a:t>
            </a:r>
            <a:r>
              <a:rPr lang="zh-CN" altLang="en-US" dirty="0">
                <a:latin typeface="+mn-lt"/>
              </a:rPr>
              <a:t>和</a:t>
            </a:r>
            <a:r>
              <a:rPr lang="en-US" altLang="zh-CN" dirty="0">
                <a:latin typeface="+mn-lt"/>
              </a:rPr>
              <a:t>FPGA</a:t>
            </a:r>
            <a:r>
              <a:rPr lang="zh-CN" altLang="en-US" dirty="0">
                <a:latin typeface="+mn-lt"/>
              </a:rPr>
              <a:t>硬件之间的交换，最终达到降低</a:t>
            </a:r>
            <a:r>
              <a:rPr lang="en-US" altLang="zh-CN" dirty="0">
                <a:latin typeface="+mn-lt"/>
              </a:rPr>
              <a:t>CPU</a:t>
            </a:r>
            <a:r>
              <a:rPr lang="zh-CN" altLang="en-US" dirty="0">
                <a:latin typeface="+mn-lt"/>
              </a:rPr>
              <a:t>消耗的方式来提升集群性能，寻求成本与性能之间的平衡。</a:t>
            </a:r>
            <a:endParaRPr lang="zh-CN" altLang="en-US" dirty="0">
              <a:latin typeface="+mn-lt"/>
            </a:endParaRPr>
          </a:p>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ts val="3400"/>
              </a:lnSpc>
            </a:pPr>
            <a:r>
              <a:rPr lang="zh-CN" altLang="en-US" sz="1200" dirty="0">
                <a:latin typeface="+mn-lt"/>
              </a:rPr>
              <a:t>（</a:t>
            </a:r>
            <a:r>
              <a:rPr lang="en-US" altLang="zh-CN" sz="1200" dirty="0">
                <a:latin typeface="+mn-lt"/>
              </a:rPr>
              <a:t>1</a:t>
            </a:r>
            <a:r>
              <a:rPr lang="zh-CN" altLang="en-US" sz="1200" dirty="0">
                <a:latin typeface="+mn-lt"/>
              </a:rPr>
              <a:t>）</a:t>
            </a:r>
            <a:r>
              <a:rPr lang="en-US" altLang="zh-CN" sz="1200" dirty="0">
                <a:latin typeface="+mn-lt"/>
              </a:rPr>
              <a:t>Erasure Code</a:t>
            </a:r>
            <a:r>
              <a:rPr lang="zh-CN" altLang="en-US" sz="1200" dirty="0">
                <a:latin typeface="+mn-lt"/>
              </a:rPr>
              <a:t>最大的优势是能够</a:t>
            </a:r>
            <a:r>
              <a:rPr lang="zh-CN" altLang="en-US" sz="1200" dirty="0">
                <a:solidFill>
                  <a:srgbClr val="FF0000"/>
                </a:solidFill>
                <a:latin typeface="+mn-lt"/>
              </a:rPr>
              <a:t>灵活的设定副本数量</a:t>
            </a:r>
            <a:r>
              <a:rPr lang="zh-CN" altLang="en-US" sz="1200" dirty="0">
                <a:latin typeface="+mn-lt"/>
              </a:rPr>
              <a:t>，从而在数据持久性和成本间做出权衡，满足不同的应用场景。比如储存冷数据时，可将副本数缩小至</a:t>
            </a:r>
            <a:r>
              <a:rPr lang="en-US" altLang="zh-CN" sz="1200" dirty="0">
                <a:latin typeface="+mn-lt"/>
              </a:rPr>
              <a:t>1.2</a:t>
            </a:r>
            <a:r>
              <a:rPr lang="zh-CN" altLang="en-US" sz="1200" dirty="0">
                <a:latin typeface="+mn-lt"/>
              </a:rPr>
              <a:t>，即冗余数据是有</a:t>
            </a:r>
            <a:r>
              <a:rPr lang="en-US" altLang="zh-CN" sz="1200" dirty="0">
                <a:latin typeface="+mn-lt"/>
              </a:rPr>
              <a:t>0.2</a:t>
            </a:r>
            <a:r>
              <a:rPr lang="zh-CN" altLang="en-US" sz="1200" dirty="0">
                <a:latin typeface="+mn-lt"/>
              </a:rPr>
              <a:t>。</a:t>
            </a:r>
            <a:endParaRPr lang="en-US" altLang="zh-CN" sz="1200" dirty="0">
              <a:latin typeface="+mn-lt"/>
            </a:endParaRPr>
          </a:p>
          <a:p>
            <a:pPr>
              <a:lnSpc>
                <a:spcPts val="3400"/>
              </a:lnSpc>
            </a:pPr>
            <a:r>
              <a:rPr lang="en-US" altLang="zh-CN" sz="1200" dirty="0">
                <a:latin typeface="+mn-lt"/>
              </a:rPr>
              <a:t>         </a:t>
            </a:r>
            <a:r>
              <a:rPr lang="zh-CN" altLang="en-US" sz="1200" dirty="0">
                <a:latin typeface="+mn-lt"/>
              </a:rPr>
              <a:t>（</a:t>
            </a:r>
            <a:r>
              <a:rPr lang="en-US" altLang="zh-CN" sz="1200" dirty="0">
                <a:latin typeface="+mn-lt"/>
              </a:rPr>
              <a:t>2</a:t>
            </a:r>
            <a:r>
              <a:rPr lang="zh-CN" altLang="en-US" sz="1200" dirty="0">
                <a:latin typeface="+mn-lt"/>
              </a:rPr>
              <a:t>）</a:t>
            </a:r>
            <a:r>
              <a:rPr lang="en-US" altLang="zh-CN" sz="1200" dirty="0">
                <a:latin typeface="+mn-lt"/>
              </a:rPr>
              <a:t>Erasure code</a:t>
            </a:r>
            <a:r>
              <a:rPr lang="zh-CN" altLang="en-US" sz="1200" dirty="0">
                <a:latin typeface="+mn-lt"/>
              </a:rPr>
              <a:t>使用的</a:t>
            </a:r>
            <a:r>
              <a:rPr lang="zh-CN" altLang="en-US" sz="1200" dirty="0">
                <a:solidFill>
                  <a:srgbClr val="FF0000"/>
                </a:solidFill>
                <a:latin typeface="+mn-lt"/>
              </a:rPr>
              <a:t>数据块可以分布在一个数据中心</a:t>
            </a:r>
            <a:r>
              <a:rPr lang="zh-CN" altLang="en-US" sz="1200" dirty="0">
                <a:latin typeface="+mn-lt"/>
              </a:rPr>
              <a:t>、城市、地区或全球任何地方</a:t>
            </a:r>
            <a:r>
              <a:rPr lang="zh-CN" altLang="en-US" sz="1200" dirty="0">
                <a:solidFill>
                  <a:srgbClr val="FF0000"/>
                </a:solidFill>
                <a:latin typeface="+mn-lt"/>
              </a:rPr>
              <a:t>的不同存储位置</a:t>
            </a:r>
            <a:r>
              <a:rPr lang="zh-CN" altLang="en-US" sz="1200" dirty="0">
                <a:latin typeface="+mn-lt"/>
              </a:rPr>
              <a:t>。</a:t>
            </a:r>
            <a:r>
              <a:rPr lang="en-US" altLang="zh-CN" sz="1200" dirty="0">
                <a:latin typeface="+mn-lt"/>
              </a:rPr>
              <a:t>Erasure code</a:t>
            </a:r>
            <a:r>
              <a:rPr lang="zh-CN" altLang="en-US" sz="1200" dirty="0">
                <a:solidFill>
                  <a:srgbClr val="FF0000"/>
                </a:solidFill>
                <a:latin typeface="+mn-lt"/>
              </a:rPr>
              <a:t>有内置的数据安全性</a:t>
            </a:r>
            <a:r>
              <a:rPr lang="zh-CN" altLang="en-US" sz="1200" dirty="0">
                <a:latin typeface="+mn-lt"/>
              </a:rPr>
              <a:t>，因为每个独立的数据块不包含足以泄露原始数据集的信息，要完全挽回完整的数据集，需要用到不同存储节点上的大量数据块子集，究竞需要多少数据块取决于当初加入到每个数据块的额外信息决定的，额外信息越多意味着恢复整个数据集需要的数据块越少。</a:t>
            </a:r>
            <a:endParaRPr lang="en-US" altLang="zh-CN" sz="1200" dirty="0">
              <a:latin typeface="+mn-lt"/>
            </a:endParaRPr>
          </a:p>
          <a:p>
            <a:pPr>
              <a:lnSpc>
                <a:spcPts val="3400"/>
              </a:lnSpc>
            </a:pPr>
            <a:r>
              <a:rPr lang="en-US" altLang="zh-CN" sz="1200" dirty="0">
                <a:latin typeface="+mn-lt"/>
              </a:rPr>
              <a:t>         </a:t>
            </a:r>
            <a:r>
              <a:rPr lang="zh-CN" altLang="en-US" sz="1200" dirty="0">
                <a:latin typeface="+mn-lt"/>
              </a:rPr>
              <a:t>（</a:t>
            </a:r>
            <a:r>
              <a:rPr lang="en-US" altLang="zh-CN" sz="1200" dirty="0">
                <a:latin typeface="+mn-lt"/>
              </a:rPr>
              <a:t>3</a:t>
            </a:r>
            <a:r>
              <a:rPr lang="zh-CN" altLang="en-US" sz="1200" dirty="0">
                <a:latin typeface="+mn-lt"/>
              </a:rPr>
              <a:t>）</a:t>
            </a:r>
            <a:r>
              <a:rPr lang="en-US" altLang="zh-CN" sz="1200" dirty="0">
                <a:latin typeface="+mn-lt"/>
              </a:rPr>
              <a:t>Erasure code</a:t>
            </a:r>
            <a:r>
              <a:rPr lang="zh-CN" altLang="en-US" sz="1200" dirty="0">
                <a:solidFill>
                  <a:srgbClr val="FF0000"/>
                </a:solidFill>
                <a:latin typeface="+mn-lt"/>
              </a:rPr>
              <a:t>在面对自然灾难或技术故障时具有很好的恢复能力</a:t>
            </a:r>
            <a:r>
              <a:rPr lang="zh-CN" altLang="en-US" sz="1200" dirty="0">
                <a:latin typeface="+mn-lt"/>
              </a:rPr>
              <a:t>，因为只需要数据块的一个子集就可以恢复原始数据，实际上，使用</a:t>
            </a:r>
            <a:r>
              <a:rPr lang="en-US" altLang="zh-CN" sz="1200" dirty="0">
                <a:latin typeface="+mn-lt"/>
              </a:rPr>
              <a:t>Erasure code </a:t>
            </a:r>
            <a:r>
              <a:rPr lang="zh-CN" altLang="en-US" sz="1200" dirty="0">
                <a:latin typeface="+mn-lt"/>
              </a:rPr>
              <a:t>时，允许同时发生多种故障，包括托管设备，服务器，存储元件，</a:t>
            </a:r>
            <a:r>
              <a:rPr lang="en-US" altLang="zh-CN" sz="1200" dirty="0">
                <a:latin typeface="+mn-lt"/>
              </a:rPr>
              <a:t>HDD </a:t>
            </a:r>
            <a:r>
              <a:rPr lang="zh-CN" altLang="en-US" sz="1200" dirty="0">
                <a:latin typeface="+mn-lt"/>
              </a:rPr>
              <a:t>或网络，数据始终保持是可访问的。</a:t>
            </a:r>
            <a:endParaRPr lang="en-US" altLang="zh-CN" sz="1200" dirty="0">
              <a:latin typeface="+mn-lt"/>
              <a:sym typeface="+mn-ea"/>
            </a:endParaRPr>
          </a:p>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21212"/>
                </a:solidFill>
                <a:effectLst/>
                <a:latin typeface="Marlett" charset="0"/>
              </a:rPr>
              <a:t>网络负载：在出现硬盘故障后，重建数据非常耗</a:t>
            </a:r>
            <a:r>
              <a:rPr lang="en-US" altLang="zh-CN" b="0" i="0" dirty="0">
                <a:solidFill>
                  <a:srgbClr val="121212"/>
                </a:solidFill>
                <a:effectLst/>
                <a:latin typeface="Marlett" charset="0"/>
              </a:rPr>
              <a:t>CPU</a:t>
            </a:r>
            <a:r>
              <a:rPr lang="zh-CN" altLang="en-US" b="0" i="0" dirty="0">
                <a:solidFill>
                  <a:srgbClr val="121212"/>
                </a:solidFill>
                <a:effectLst/>
                <a:latin typeface="Marlett" charset="0"/>
              </a:rPr>
              <a:t>，而且计算一个数据块需要通过网络读出</a:t>
            </a:r>
            <a:r>
              <a:rPr lang="en-US" altLang="zh-CN" b="0" i="0" dirty="0">
                <a:solidFill>
                  <a:srgbClr val="121212"/>
                </a:solidFill>
                <a:effectLst/>
                <a:latin typeface="Marlett" charset="0"/>
              </a:rPr>
              <a:t>k</a:t>
            </a:r>
            <a:r>
              <a:rPr lang="zh-CN" altLang="en-US" b="0" i="0" dirty="0">
                <a:solidFill>
                  <a:srgbClr val="121212"/>
                </a:solidFill>
                <a:effectLst/>
                <a:latin typeface="Marlett" charset="0"/>
              </a:rPr>
              <a:t>倍的数据并传输，因而网络负载成倍增加。</a:t>
            </a:r>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7" Type="http://schemas.openxmlformats.org/officeDocument/2006/relationships/image" Target="../media/image15.jpeg"/><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jpe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46685" y="123825"/>
            <a:ext cx="8540115" cy="678815"/>
          </a:xfrm>
          <a:ln w="12700" cmpd="sng">
            <a:noFill/>
            <a:prstDash val="solid"/>
          </a:ln>
        </p:spPr>
        <p:txBody>
          <a:bodyPr/>
          <a:lstStyle>
            <a:lvl1pPr algn="l">
              <a:defRPr/>
            </a:lvl1pPr>
          </a:lstStyle>
          <a:p>
            <a:r>
              <a:rPr lang="zh-CN" altLang="en-US"/>
              <a:t>       </a:t>
            </a:r>
            <a:endParaRPr lang="zh-CN" altLang="en-US"/>
          </a:p>
        </p:txBody>
      </p:sp>
      <p:sp>
        <p:nvSpPr>
          <p:cNvPr id="3" name="内容占位符 2"/>
          <p:cNvSpPr>
            <a:spLocks noGrp="1"/>
          </p:cNvSpPr>
          <p:nvPr>
            <p:ph idx="1"/>
          </p:nvPr>
        </p:nvSpPr>
        <p:spPr>
          <a:xfrm>
            <a:off x="365760" y="920115"/>
            <a:ext cx="8321040" cy="520636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pic>
        <p:nvPicPr>
          <p:cNvPr id="7" name="图片 6"/>
          <p:cNvPicPr>
            <a:picLocks noChangeAspect="1"/>
          </p:cNvPicPr>
          <p:nvPr userDrawn="1"/>
        </p:nvPicPr>
        <p:blipFill>
          <a:blip r:embed="rId2"/>
          <a:stretch>
            <a:fillRect/>
          </a:stretch>
        </p:blipFill>
        <p:spPr>
          <a:xfrm>
            <a:off x="146685" y="123825"/>
            <a:ext cx="657225" cy="66675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pic>
        <p:nvPicPr>
          <p:cNvPr id="5137" name="Picture 2"/>
          <p:cNvPicPr>
            <a:picLocks noChangeAspect="1"/>
          </p:cNvPicPr>
          <p:nvPr userDrawn="1"/>
        </p:nvPicPr>
        <p:blipFill>
          <a:blip/>
          <a:stretch>
            <a:fillRect/>
          </a:stretch>
        </p:blipFill>
        <p:spPr>
          <a:xfrm>
            <a:off x="8229600" y="3175"/>
            <a:ext cx="914400" cy="914400"/>
          </a:xfrm>
          <a:prstGeom prst="rect">
            <a:avLst/>
          </a:prstGeom>
          <a:noFill/>
          <a:ln w="9525">
            <a:noFill/>
          </a:ln>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3" name="Rectangle 4"/>
          <p:cNvSpPr>
            <a:spLocks noGrp="1" noChangeArrowheads="1"/>
          </p:cNvSpPr>
          <p:nvPr>
            <p:ph type="dt" sz="half" idx="2"/>
          </p:nvPr>
        </p:nvSpPr>
        <p:spPr bwMode="auto">
          <a:xfrm>
            <a:off x="457200" y="6245225"/>
            <a:ext cx="21336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indent="0" algn="l" defTabSz="914400" rtl="0" fontAlgn="base" latinLnBrk="0">
              <a:lnSpc>
                <a:spcPct val="100000"/>
              </a:lnSpc>
              <a:spcBef>
                <a:spcPct val="0"/>
              </a:spcBef>
              <a:spcAft>
                <a:spcPct val="0"/>
              </a:spcAft>
              <a:buClrTx/>
              <a:buSzTx/>
              <a:buFont typeface="Arial" panose="020B0604020202020204" pitchFamily="34" charset="0"/>
              <a:buNone/>
              <a:defRPr/>
            </a:pPr>
            <a:endParaRPr kumimoji="0" lang="en-US" altLang="zh-CN" b="0" i="0" kern="1200" cap="none" spc="0" normalizeH="0" baseline="0" noProof="0">
              <a:solidFill>
                <a:schemeClr val="tx1"/>
              </a:solidFill>
              <a:latin typeface="Arial" panose="020B0604020202020204" pitchFamily="34" charset="0"/>
              <a:ea typeface="宋体" panose="02010600030101010101" pitchFamily="2" charset="-122"/>
              <a:cs typeface="+mn-cs"/>
            </a:endParaRPr>
          </a:p>
        </p:txBody>
      </p:sp>
      <p:sp>
        <p:nvSpPr>
          <p:cNvPr id="24" name="Rectangle 5"/>
          <p:cNvSpPr>
            <a:spLocks noGrp="1" noChangeArrowheads="1"/>
          </p:cNvSpPr>
          <p:nvPr>
            <p:ph type="ftr" sz="quarter" idx="3"/>
          </p:nvPr>
        </p:nvSpPr>
        <p:spPr bwMode="auto">
          <a:xfrm>
            <a:off x="3124200" y="6245225"/>
            <a:ext cx="28956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indent="0" defTabSz="914400" rtl="0" fontAlgn="base" latinLnBrk="0">
              <a:lnSpc>
                <a:spcPct val="100000"/>
              </a:lnSpc>
              <a:spcBef>
                <a:spcPct val="0"/>
              </a:spcBef>
              <a:spcAft>
                <a:spcPct val="0"/>
              </a:spcAft>
              <a:buClrTx/>
              <a:buSzTx/>
              <a:buFont typeface="Arial" panose="020B0604020202020204" pitchFamily="34" charset="0"/>
              <a:buNone/>
              <a:defRPr/>
            </a:pPr>
            <a:endParaRPr kumimoji="0" lang="en-US" altLang="zh-CN" b="0" i="0" kern="1200" cap="none" spc="0" normalizeH="0" baseline="0" noProof="0">
              <a:solidFill>
                <a:schemeClr val="tx1"/>
              </a:solidFill>
              <a:latin typeface="Arial" panose="020B0604020202020204" pitchFamily="34" charset="0"/>
              <a:ea typeface="宋体" panose="02010600030101010101" pitchFamily="2" charset="-122"/>
              <a:cs typeface="+mn-cs"/>
            </a:endParaRPr>
          </a:p>
        </p:txBody>
      </p:sp>
      <p:sp>
        <p:nvSpPr>
          <p:cNvPr id="25" name="Rectangle 6"/>
          <p:cNvSpPr>
            <a:spLocks noGrp="1" noChangeArrowheads="1"/>
          </p:cNvSpPr>
          <p:nvPr>
            <p:ph type="sldNum" sz="quarter" idx="4"/>
          </p:nvPr>
        </p:nvSpPr>
        <p:spPr bwMode="auto">
          <a:xfrm>
            <a:off x="6553200" y="6245225"/>
            <a:ext cx="21336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906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0673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91350" y="152400"/>
            <a:ext cx="2000250" cy="5867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990600" y="152400"/>
            <a:ext cx="5848350" cy="58674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6146" name="Picture 4"/>
          <p:cNvPicPr>
            <a:picLocks noChangeAspect="1"/>
          </p:cNvPicPr>
          <p:nvPr/>
        </p:nvPicPr>
        <p:blipFill>
          <a:blip r:embed="rId2"/>
          <a:stretch>
            <a:fillRect/>
          </a:stretch>
        </p:blipFill>
        <p:spPr>
          <a:xfrm>
            <a:off x="6365875" y="5973763"/>
            <a:ext cx="2435225" cy="601662"/>
          </a:xfrm>
          <a:prstGeom prst="rect">
            <a:avLst/>
          </a:prstGeom>
          <a:noFill/>
          <a:ln w="9525">
            <a:noFill/>
          </a:ln>
        </p:spPr>
      </p:pic>
      <p:sp>
        <p:nvSpPr>
          <p:cNvPr id="6147" name="Line 2"/>
          <p:cNvSpPr/>
          <p:nvPr userDrawn="1"/>
        </p:nvSpPr>
        <p:spPr>
          <a:xfrm flipV="1">
            <a:off x="323850" y="1268413"/>
            <a:ext cx="8496300" cy="0"/>
          </a:xfrm>
          <a:prstGeom prst="line">
            <a:avLst/>
          </a:prstGeom>
          <a:ln w="25400" cap="flat" cmpd="sng">
            <a:solidFill>
              <a:schemeClr val="tx2"/>
            </a:solidFill>
            <a:prstDash val="solid"/>
            <a:headEnd type="none" w="sm" len="sm"/>
            <a:tailEnd type="none" w="sm" len="sm"/>
          </a:ln>
        </p:spPr>
      </p:sp>
      <p:sp>
        <p:nvSpPr>
          <p:cNvPr id="6148" name="Rectangle 6"/>
          <p:cNvSpPr/>
          <p:nvPr userDrawn="1"/>
        </p:nvSpPr>
        <p:spPr>
          <a:xfrm>
            <a:off x="8374063" y="6453188"/>
            <a:ext cx="769937" cy="241300"/>
          </a:xfrm>
          <a:prstGeom prst="rect">
            <a:avLst/>
          </a:prstGeom>
          <a:noFill/>
          <a:ln w="9525">
            <a:noFill/>
          </a:ln>
        </p:spPr>
        <p:txBody>
          <a:bodyPr wrap="none" lIns="90488" tIns="44450" rIns="90488" bIns="44450">
            <a:spAutoFit/>
          </a:bodyPr>
          <a:lstStyle/>
          <a:p>
            <a:pPr lvl="0" algn="r"/>
            <a:r>
              <a:rPr lang="zh-CN" altLang="en-US" sz="1000" dirty="0">
                <a:solidFill>
                  <a:srgbClr val="000000"/>
                </a:solidFill>
                <a:latin typeface="FuturaA Md BT" charset="0"/>
              </a:rPr>
              <a:t>   </a:t>
            </a:r>
            <a:r>
              <a:rPr lang="en-US" altLang="zh-CN" sz="1000" dirty="0">
                <a:solidFill>
                  <a:srgbClr val="000000"/>
                </a:solidFill>
                <a:latin typeface="FuturaA Md BT" charset="0"/>
              </a:rPr>
              <a:t>Page </a:t>
            </a:r>
            <a:fld id="{9A0DB2DC-4C9A-4742-B13C-FB6460FD3503}" type="slidenum">
              <a:rPr lang="en-US" altLang="zh-CN" sz="1000" dirty="0">
                <a:solidFill>
                  <a:srgbClr val="000000"/>
                </a:solidFill>
                <a:latin typeface="FuturaA Md BT" charset="0"/>
              </a:rPr>
            </a:fld>
            <a:endParaRPr lang="en-US" altLang="zh-CN" sz="1000" dirty="0">
              <a:solidFill>
                <a:srgbClr val="000000"/>
              </a:solidFill>
              <a:latin typeface="FuturaA Md BT" charset="0"/>
            </a:endParaRPr>
          </a:p>
        </p:txBody>
      </p:sp>
      <p:grpSp>
        <p:nvGrpSpPr>
          <p:cNvPr id="6149" name="Group 10"/>
          <p:cNvGrpSpPr/>
          <p:nvPr userDrawn="1"/>
        </p:nvGrpSpPr>
        <p:grpSpPr>
          <a:xfrm>
            <a:off x="827088" y="5516563"/>
            <a:ext cx="8315325" cy="1360487"/>
            <a:chOff x="249" y="2341"/>
            <a:chExt cx="5178" cy="1613"/>
          </a:xfrm>
        </p:grpSpPr>
        <p:pic>
          <p:nvPicPr>
            <p:cNvPr id="6157" name="Picture 11" descr="未命名-1"/>
            <p:cNvPicPr>
              <a:picLocks noChangeAspect="1"/>
            </p:cNvPicPr>
            <p:nvPr/>
          </p:nvPicPr>
          <p:blipFill>
            <a:blip r:embed="rId3"/>
            <a:stretch>
              <a:fillRect/>
            </a:stretch>
          </p:blipFill>
          <p:spPr>
            <a:xfrm>
              <a:off x="249" y="2341"/>
              <a:ext cx="5178" cy="1434"/>
            </a:xfrm>
            <a:prstGeom prst="rect">
              <a:avLst/>
            </a:prstGeom>
            <a:noFill/>
            <a:ln w="9525">
              <a:noFill/>
            </a:ln>
          </p:spPr>
        </p:pic>
        <p:sp>
          <p:nvSpPr>
            <p:cNvPr id="15" name="Rectangle 12"/>
            <p:cNvSpPr>
              <a:spLocks noChangeArrowheads="1"/>
            </p:cNvSpPr>
            <p:nvPr/>
          </p:nvSpPr>
          <p:spPr bwMode="gray">
            <a:xfrm>
              <a:off x="1877" y="3593"/>
              <a:ext cx="115" cy="361"/>
            </a:xfrm>
            <a:prstGeom prst="rect">
              <a:avLst/>
            </a:prstGeom>
            <a:noFill/>
            <a:ln w="9525" algn="ctr">
              <a:noFill/>
              <a:miter lim="800000"/>
            </a:ln>
            <a:effec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1"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pic>
        <p:nvPicPr>
          <p:cNvPr id="6150" name="Picture 16" descr="logo"/>
          <p:cNvPicPr>
            <a:picLocks noChangeAspect="1"/>
          </p:cNvPicPr>
          <p:nvPr userDrawn="1"/>
        </p:nvPicPr>
        <p:blipFill>
          <a:blip r:embed="rId4"/>
          <a:stretch>
            <a:fillRect/>
          </a:stretch>
        </p:blipFill>
        <p:spPr>
          <a:xfrm>
            <a:off x="144463" y="333375"/>
            <a:ext cx="3348037" cy="719138"/>
          </a:xfrm>
          <a:prstGeom prst="rect">
            <a:avLst/>
          </a:prstGeom>
          <a:noFill/>
          <a:ln w="9525">
            <a:noFill/>
          </a:ln>
        </p:spPr>
      </p:pic>
      <p:pic>
        <p:nvPicPr>
          <p:cNvPr id="6151" name="Picture 17"/>
          <p:cNvPicPr>
            <a:picLocks noChangeAspect="1"/>
          </p:cNvPicPr>
          <p:nvPr userDrawn="1"/>
        </p:nvPicPr>
        <p:blipFill>
          <a:blip r:embed="rId5"/>
          <a:stretch>
            <a:fillRect/>
          </a:stretch>
        </p:blipFill>
        <p:spPr>
          <a:xfrm>
            <a:off x="179388" y="5734050"/>
            <a:ext cx="1079500" cy="1057275"/>
          </a:xfrm>
          <a:prstGeom prst="rect">
            <a:avLst/>
          </a:prstGeom>
          <a:noFill/>
          <a:ln w="9525">
            <a:noFill/>
          </a:ln>
        </p:spPr>
      </p:pic>
      <p:sp>
        <p:nvSpPr>
          <p:cNvPr id="6152" name="Rectangle 13"/>
          <p:cNvSpPr/>
          <p:nvPr userDrawn="1"/>
        </p:nvSpPr>
        <p:spPr>
          <a:xfrm>
            <a:off x="8374063" y="6453188"/>
            <a:ext cx="769937" cy="241300"/>
          </a:xfrm>
          <a:prstGeom prst="rect">
            <a:avLst/>
          </a:prstGeom>
          <a:noFill/>
          <a:ln w="9525">
            <a:noFill/>
          </a:ln>
        </p:spPr>
        <p:txBody>
          <a:bodyPr wrap="none" lIns="90488" tIns="44450" rIns="90488" bIns="44450">
            <a:spAutoFit/>
          </a:bodyPr>
          <a:lstStyle/>
          <a:p>
            <a:pPr lvl="0" algn="r"/>
            <a:r>
              <a:rPr lang="zh-CN" altLang="en-US" sz="1000" dirty="0">
                <a:solidFill>
                  <a:srgbClr val="000000"/>
                </a:solidFill>
                <a:latin typeface="FuturaA Md BT" charset="0"/>
              </a:rPr>
              <a:t>   </a:t>
            </a:r>
            <a:r>
              <a:rPr lang="en-US" altLang="zh-CN" sz="1000" dirty="0">
                <a:solidFill>
                  <a:srgbClr val="000000"/>
                </a:solidFill>
                <a:latin typeface="FuturaA Md BT" charset="0"/>
              </a:rPr>
              <a:t>Page </a:t>
            </a:r>
            <a:fld id="{9A0DB2DC-4C9A-4742-B13C-FB6460FD3503}" type="slidenum">
              <a:rPr lang="en-US" altLang="zh-CN" sz="1000" dirty="0">
                <a:solidFill>
                  <a:srgbClr val="000000"/>
                </a:solidFill>
                <a:latin typeface="FuturaA Md BT" charset="0"/>
              </a:rPr>
            </a:fld>
            <a:endParaRPr lang="en-US" altLang="zh-CN" sz="1000" dirty="0">
              <a:solidFill>
                <a:srgbClr val="000000"/>
              </a:solidFill>
              <a:latin typeface="FuturaA Md BT" charset="0"/>
            </a:endParaRPr>
          </a:p>
        </p:txBody>
      </p:sp>
      <p:pic>
        <p:nvPicPr>
          <p:cNvPr id="6153" name="Picture 14" descr="蓝色LOGO"/>
          <p:cNvPicPr>
            <a:picLocks noChangeAspect="1"/>
          </p:cNvPicPr>
          <p:nvPr userDrawn="1"/>
        </p:nvPicPr>
        <p:blipFill>
          <a:blip r:embed="rId6"/>
          <a:stretch>
            <a:fillRect/>
          </a:stretch>
        </p:blipFill>
        <p:spPr>
          <a:xfrm>
            <a:off x="34925" y="188913"/>
            <a:ext cx="3673475" cy="863600"/>
          </a:xfrm>
          <a:prstGeom prst="rect">
            <a:avLst/>
          </a:prstGeom>
          <a:noFill/>
          <a:ln w="9525">
            <a:noFill/>
          </a:ln>
        </p:spPr>
      </p:pic>
      <p:pic>
        <p:nvPicPr>
          <p:cNvPr id="6154" name="Picture 15" descr="教3楼"/>
          <p:cNvPicPr>
            <a:picLocks noChangeAspect="1"/>
          </p:cNvPicPr>
          <p:nvPr userDrawn="1"/>
        </p:nvPicPr>
        <p:blipFill>
          <a:blip r:embed="rId7"/>
          <a:stretch>
            <a:fillRect/>
          </a:stretch>
        </p:blipFill>
        <p:spPr>
          <a:xfrm>
            <a:off x="0" y="3789363"/>
            <a:ext cx="9144000" cy="3095625"/>
          </a:xfrm>
          <a:prstGeom prst="rect">
            <a:avLst/>
          </a:prstGeom>
          <a:noFill/>
          <a:ln w="9525">
            <a:noFill/>
          </a:ln>
        </p:spPr>
      </p:pic>
      <p:sp>
        <p:nvSpPr>
          <p:cNvPr id="2999298" name="Rectangle 2"/>
          <p:cNvSpPr>
            <a:spLocks noGrp="1" noChangeArrowheads="1"/>
          </p:cNvSpPr>
          <p:nvPr>
            <p:ph type="ctrTitle"/>
          </p:nvPr>
        </p:nvSpPr>
        <p:spPr>
          <a:xfrm>
            <a:off x="685800" y="1273175"/>
            <a:ext cx="7772400" cy="1470025"/>
          </a:xfrm>
        </p:spPr>
        <p:txBody>
          <a:bodyPr/>
          <a:lstStyle>
            <a:lvl1pPr algn="ctr">
              <a:defRPr sz="4400">
                <a:solidFill>
                  <a:srgbClr val="FF3300"/>
                </a:solidFill>
                <a:ea typeface="华文中宋" panose="02010600040101010101" pitchFamily="2" charset="-122"/>
              </a:defRPr>
            </a:lvl1pPr>
          </a:lstStyle>
          <a:p>
            <a:pPr lvl="0"/>
            <a:r>
              <a:rPr lang="zh-CN" altLang="en-US" noProof="0"/>
              <a:t>单击此处编辑母版标题样式</a:t>
            </a:r>
            <a:endParaRPr lang="zh-CN" altLang="en-US" noProof="0"/>
          </a:p>
        </p:txBody>
      </p:sp>
      <p:sp>
        <p:nvSpPr>
          <p:cNvPr id="2999299" name="Rectangle 3"/>
          <p:cNvSpPr>
            <a:spLocks noGrp="1" noChangeArrowheads="1"/>
          </p:cNvSpPr>
          <p:nvPr>
            <p:ph type="subTitle" idx="1"/>
          </p:nvPr>
        </p:nvSpPr>
        <p:spPr>
          <a:xfrm>
            <a:off x="1371600" y="3028950"/>
            <a:ext cx="6400800" cy="1752600"/>
          </a:xfrm>
        </p:spPr>
        <p:txBody>
          <a:bodyPr/>
          <a:lstStyle>
            <a:lvl1pPr marL="0" indent="0" algn="ctr">
              <a:buFont typeface="Wingdings" panose="05000000000000000000" pitchFamily="2" charset="2"/>
              <a:buNone/>
              <a:defRPr>
                <a:solidFill>
                  <a:srgbClr val="0000FF"/>
                </a:solidFill>
                <a:ea typeface="隶书" panose="02010509060101010101" pitchFamily="49" charset="-122"/>
              </a:defRPr>
            </a:lvl1pPr>
          </a:lstStyle>
          <a:p>
            <a:pPr lvl="0"/>
            <a:r>
              <a:rPr lang="zh-CN" altLang="en-US" noProof="0"/>
              <a:t>单击此处编辑母版副标题样式</a:t>
            </a:r>
            <a:endParaRPr lang="zh-CN" altLang="en-US" noProof="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90575" y="1219200"/>
            <a:ext cx="3810000" cy="487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52975" y="1219200"/>
            <a:ext cx="3810000" cy="487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10000"/>
              </a:lnSpc>
              <a:spcBef>
                <a:spcPct val="40000"/>
              </a:spcBef>
              <a:spcAft>
                <a:spcPct val="1000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66"/>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6413" y="104775"/>
            <a:ext cx="2020887" cy="59912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90575" y="104775"/>
            <a:ext cx="5913438" cy="59912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0" Type="http://schemas.openxmlformats.org/officeDocument/2006/relationships/theme" Target="../theme/theme3.xml"/><Relationship Id="rId2" Type="http://schemas.openxmlformats.org/officeDocument/2006/relationships/slideLayout" Target="../slideLayouts/slideLayout24.xml"/><Relationship Id="rId19" Type="http://schemas.openxmlformats.org/officeDocument/2006/relationships/image" Target="../media/image9.png"/><Relationship Id="rId18" Type="http://schemas.openxmlformats.org/officeDocument/2006/relationships/image" Target="../media/image8.jpeg"/><Relationship Id="rId17" Type="http://schemas.openxmlformats.org/officeDocument/2006/relationships/image" Target="../media/image7.jpeg"/><Relationship Id="rId16" Type="http://schemas.openxmlformats.org/officeDocument/2006/relationships/image" Target="../media/image6.jpeg"/><Relationship Id="rId15" Type="http://schemas.openxmlformats.org/officeDocument/2006/relationships/image" Target="../media/image5.jpeg"/><Relationship Id="rId14" Type="http://schemas.openxmlformats.org/officeDocument/2006/relationships/image" Target="../media/image4.jpeg"/><Relationship Id="rId13" Type="http://schemas.openxmlformats.org/officeDocument/2006/relationships/image" Target="../media/image3.jpeg"/><Relationship Id="rId12" Type="http://schemas.openxmlformats.org/officeDocument/2006/relationships/image" Target="../media/image2.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image" Target="../media/image12.jpe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1027" name="文本占位符 2"/>
          <p:cNvSpPr>
            <a:spLocks noGrp="1"/>
          </p:cNvSpPr>
          <p:nvPr>
            <p:ph type="body" idx="1"/>
          </p:nvPr>
        </p:nvSpPr>
        <p:spPr>
          <a:xfrm>
            <a:off x="457200" y="1600200"/>
            <a:ext cx="8229600" cy="4525963"/>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2051" name="文本占位符 2"/>
          <p:cNvSpPr>
            <a:spLocks noGrp="1"/>
          </p:cNvSpPr>
          <p:nvPr>
            <p:ph type="body" idx="1"/>
          </p:nvPr>
        </p:nvSpPr>
        <p:spPr>
          <a:xfrm>
            <a:off x="457200" y="1600200"/>
            <a:ext cx="8229600" cy="4525963"/>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10"/>
          <p:cNvPicPr>
            <a:picLocks noChangeAspect="1"/>
          </p:cNvPicPr>
          <p:nvPr userDrawn="1"/>
        </p:nvPicPr>
        <p:blipFill>
          <a:blip/>
          <a:stretch>
            <a:fillRect/>
          </a:stretch>
        </p:blipFill>
        <p:spPr>
          <a:xfrm>
            <a:off x="0" y="0"/>
            <a:ext cx="9144000" cy="6858000"/>
          </a:xfrm>
          <a:prstGeom prst="rect">
            <a:avLst/>
          </a:prstGeom>
          <a:noFill/>
          <a:ln w="9525">
            <a:noFill/>
          </a:ln>
        </p:spPr>
      </p:pic>
      <p:pic>
        <p:nvPicPr>
          <p:cNvPr id="2051" name="Picture 12" descr="a_1"/>
          <p:cNvPicPr>
            <a:picLocks noChangeAspect="1"/>
          </p:cNvPicPr>
          <p:nvPr userDrawn="1"/>
        </p:nvPicPr>
        <p:blipFill>
          <a:blip r:embed="rId12"/>
          <a:srcRect l="2174"/>
          <a:stretch>
            <a:fillRect/>
          </a:stretch>
        </p:blipFill>
        <p:spPr>
          <a:xfrm>
            <a:off x="0" y="0"/>
            <a:ext cx="9144000" cy="5308600"/>
          </a:xfrm>
          <a:prstGeom prst="rect">
            <a:avLst/>
          </a:prstGeom>
          <a:noFill/>
          <a:ln w="9525">
            <a:noFill/>
          </a:ln>
        </p:spPr>
      </p:pic>
      <p:sp>
        <p:nvSpPr>
          <p:cNvPr id="2052" name="Rectangle 22"/>
          <p:cNvSpPr>
            <a:spLocks noChangeArrowheads="1"/>
          </p:cNvSpPr>
          <p:nvPr/>
        </p:nvSpPr>
        <p:spPr bwMode="auto">
          <a:xfrm>
            <a:off x="0" y="2590800"/>
            <a:ext cx="9144000" cy="1066800"/>
          </a:xfrm>
          <a:prstGeom prst="rect">
            <a:avLst/>
          </a:prstGeom>
          <a:gradFill rotWithShape="1">
            <a:gsLst>
              <a:gs pos="0">
                <a:srgbClr val="3191D3"/>
              </a:gs>
              <a:gs pos="100000">
                <a:srgbClr val="17436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3" name="Rectangle 14" descr="mao1-1"/>
          <p:cNvSpPr>
            <a:spLocks noChangeAspect="1" noChangeArrowheads="1"/>
          </p:cNvSpPr>
          <p:nvPr/>
        </p:nvSpPr>
        <p:spPr bwMode="auto">
          <a:xfrm>
            <a:off x="8153400" y="4967288"/>
            <a:ext cx="969963" cy="900113"/>
          </a:xfrm>
          <a:prstGeom prst="rect">
            <a:avLst/>
          </a:prstGeom>
          <a:blipFill dpi="0" rotWithShape="1">
            <a:blip r:embed="rId13"/>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4" name="Rectangle 15" descr="xmy2-1"/>
          <p:cNvSpPr>
            <a:spLocks noChangeAspect="1" noChangeArrowheads="1"/>
          </p:cNvSpPr>
          <p:nvPr/>
        </p:nvSpPr>
        <p:spPr bwMode="auto">
          <a:xfrm>
            <a:off x="8153400" y="3976688"/>
            <a:ext cx="969963" cy="900113"/>
          </a:xfrm>
          <a:prstGeom prst="rect">
            <a:avLst/>
          </a:prstGeom>
          <a:blipFill dpi="0" rotWithShape="1">
            <a:blip r:embed="rId14"/>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16" descr="xm-1"/>
          <p:cNvSpPr>
            <a:spLocks noChangeArrowheads="1"/>
          </p:cNvSpPr>
          <p:nvPr/>
        </p:nvSpPr>
        <p:spPr bwMode="auto">
          <a:xfrm>
            <a:off x="6019800" y="5957888"/>
            <a:ext cx="1066800" cy="900113"/>
          </a:xfrm>
          <a:prstGeom prst="rect">
            <a:avLst/>
          </a:prstGeom>
          <a:blipFill dpi="0" rotWithShape="1">
            <a:blip r:embed="rId15"/>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6" name="Rectangle 17" descr="xue2-1"/>
          <p:cNvSpPr>
            <a:spLocks noChangeAspect="1" noChangeArrowheads="1"/>
          </p:cNvSpPr>
          <p:nvPr/>
        </p:nvSpPr>
        <p:spPr bwMode="auto">
          <a:xfrm>
            <a:off x="7134225" y="5943600"/>
            <a:ext cx="969963" cy="900113"/>
          </a:xfrm>
          <a:prstGeom prst="rect">
            <a:avLst/>
          </a:prstGeom>
          <a:blipFill dpi="0" rotWithShape="1">
            <a:blip r:embed="rId16"/>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7" name="Rectangle 18" descr="mao-1"/>
          <p:cNvSpPr>
            <a:spLocks noChangeAspect="1" noChangeArrowheads="1"/>
          </p:cNvSpPr>
          <p:nvPr/>
        </p:nvSpPr>
        <p:spPr bwMode="auto">
          <a:xfrm>
            <a:off x="7107238" y="4967288"/>
            <a:ext cx="969963" cy="900113"/>
          </a:xfrm>
          <a:prstGeom prst="rect">
            <a:avLst/>
          </a:prstGeom>
          <a:blipFill dpi="0" rotWithShape="1">
            <a:blip r:embed="rId17"/>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8" name="Rectangle 19" descr="xiaoxun-1"/>
          <p:cNvSpPr>
            <a:spLocks noChangeAspect="1" noChangeArrowheads="1"/>
          </p:cNvSpPr>
          <p:nvPr/>
        </p:nvSpPr>
        <p:spPr bwMode="auto">
          <a:xfrm>
            <a:off x="8153400" y="5943600"/>
            <a:ext cx="969963" cy="900113"/>
          </a:xfrm>
          <a:prstGeom prst="rect">
            <a:avLst/>
          </a:prstGeom>
          <a:blipFill dpi="0" rotWithShape="1">
            <a:blip r:embed="rId18"/>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83" name="Line 26"/>
          <p:cNvSpPr/>
          <p:nvPr userDrawn="1"/>
        </p:nvSpPr>
        <p:spPr>
          <a:xfrm>
            <a:off x="0" y="3657600"/>
            <a:ext cx="9144000" cy="0"/>
          </a:xfrm>
          <a:prstGeom prst="line">
            <a:avLst/>
          </a:prstGeom>
          <a:ln w="38100" cap="flat" cmpd="sng">
            <a:solidFill>
              <a:srgbClr val="FFFFFF"/>
            </a:solidFill>
            <a:prstDash val="solid"/>
            <a:headEnd type="none" w="med" len="med"/>
            <a:tailEnd type="none" w="med" len="med"/>
          </a:ln>
        </p:spPr>
      </p:sp>
      <p:sp>
        <p:nvSpPr>
          <p:cNvPr id="3084" name="Line 27"/>
          <p:cNvSpPr/>
          <p:nvPr userDrawn="1"/>
        </p:nvSpPr>
        <p:spPr>
          <a:xfrm>
            <a:off x="0" y="2590800"/>
            <a:ext cx="9144000" cy="0"/>
          </a:xfrm>
          <a:prstGeom prst="line">
            <a:avLst/>
          </a:prstGeom>
          <a:ln w="38100" cap="flat" cmpd="sng">
            <a:solidFill>
              <a:srgbClr val="FFFFFF"/>
            </a:solidFill>
            <a:prstDash val="solid"/>
            <a:headEnd type="none" w="med" len="med"/>
            <a:tailEnd type="none" w="med" len="med"/>
          </a:ln>
        </p:spPr>
      </p:sp>
      <p:sp>
        <p:nvSpPr>
          <p:cNvPr id="2061" name="Rectangle 29"/>
          <p:cNvSpPr>
            <a:spLocks noChangeArrowheads="1"/>
          </p:cNvSpPr>
          <p:nvPr/>
        </p:nvSpPr>
        <p:spPr bwMode="auto">
          <a:xfrm>
            <a:off x="0"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2" name="Rectangle 33"/>
          <p:cNvSpPr>
            <a:spLocks noChangeArrowheads="1"/>
          </p:cNvSpPr>
          <p:nvPr/>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087" name="Picture 31"/>
          <p:cNvPicPr>
            <a:picLocks noChangeAspect="1"/>
          </p:cNvPicPr>
          <p:nvPr userDrawn="1"/>
        </p:nvPicPr>
        <p:blipFill>
          <a:blip r:embed="rId19"/>
          <a:stretch>
            <a:fillRect/>
          </a:stretch>
        </p:blipFill>
        <p:spPr>
          <a:xfrm>
            <a:off x="1905000" y="1219200"/>
            <a:ext cx="5562600" cy="992188"/>
          </a:xfrm>
          <a:prstGeom prst="rect">
            <a:avLst/>
          </a:prstGeom>
          <a:noFill/>
          <a:ln w="9525">
            <a:noFill/>
          </a:ln>
        </p:spPr>
      </p:pic>
      <p:sp>
        <p:nvSpPr>
          <p:cNvPr id="3088" name="Line 34"/>
          <p:cNvSpPr/>
          <p:nvPr userDrawn="1"/>
        </p:nvSpPr>
        <p:spPr>
          <a:xfrm>
            <a:off x="0" y="2590800"/>
            <a:ext cx="9144000" cy="0"/>
          </a:xfrm>
          <a:prstGeom prst="line">
            <a:avLst/>
          </a:prstGeom>
          <a:ln w="38100" cap="flat" cmpd="sng">
            <a:solidFill>
              <a:srgbClr val="FFFFFF"/>
            </a:solidFill>
            <a:prstDash val="solid"/>
            <a:headEnd type="none" w="med" len="med"/>
            <a:tailEnd type="none" w="med" len="med"/>
          </a:ln>
        </p:spPr>
      </p:sp>
      <p:sp>
        <p:nvSpPr>
          <p:cNvPr id="3089" name="Rectangle 3"/>
          <p:cNvSpPr>
            <a:spLocks noGrp="1"/>
          </p:cNvSpPr>
          <p:nvPr>
            <p:ph type="body" idx="1"/>
          </p:nvPr>
        </p:nvSpPr>
        <p:spPr>
          <a:xfrm>
            <a:off x="990600" y="838200"/>
            <a:ext cx="8001000" cy="5181600"/>
          </a:xfrm>
          <a:prstGeom prst="rect">
            <a:avLst/>
          </a:prstGeom>
          <a:noFill/>
          <a:ln w="9525">
            <a:noFill/>
          </a:ln>
        </p:spPr>
        <p:txBody>
          <a:bodyPr/>
          <a:lstStyle/>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3090" name="Rectangle 2"/>
          <p:cNvSpPr>
            <a:spLocks noGrp="1"/>
          </p:cNvSpPr>
          <p:nvPr>
            <p:ph type="title"/>
          </p:nvPr>
        </p:nvSpPr>
        <p:spPr>
          <a:xfrm>
            <a:off x="1066800" y="152400"/>
            <a:ext cx="6096000" cy="381000"/>
          </a:xfrm>
          <a:prstGeom prst="rect">
            <a:avLst/>
          </a:prstGeom>
          <a:noFill/>
          <a:ln w="9525">
            <a:noFill/>
          </a:ln>
        </p:spPr>
        <p:txBody>
          <a:bodyPr anchor="ctr"/>
          <a:lstStyle/>
          <a:p>
            <a:pPr lvl="0"/>
            <a:r>
              <a:rPr lang="zh-CN" altLang="zh-CN" dirty="0"/>
              <a:t>单击此处编辑母版标题样式</a:t>
            </a:r>
            <a:endParaRPr lang="zh-CN" altLang="zh-CN" dirty="0"/>
          </a:p>
        </p:txBody>
      </p:sp>
      <p:sp>
        <p:nvSpPr>
          <p:cNvPr id="2067" name="Rectangle 4"/>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8" name="Rectangle 5"/>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9" name="Rectangle 6"/>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lgn="r" eaLnBrk="1" hangingPunct="1">
              <a:buChar char="•"/>
            </a:pPr>
            <a:fld id="{9A0DB2DC-4C9A-4742-B13C-FB6460FD3503}" type="slidenum">
              <a:rPr lang="en-US" altLang="zh-CN" sz="1400" dirty="0"/>
            </a:fld>
            <a:endParaRPr lang="en-US" altLang="zh-CN" sz="1400"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wipe(up)">
                                      <p:cBhvr>
                                        <p:cTn id="7"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2pPr>
      <a:lvl3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3pPr>
      <a:lvl4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4pPr>
      <a:lvl5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5pPr>
      <a:lvl6pPr marL="4572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6pPr>
      <a:lvl7pPr marL="9144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7pPr>
      <a:lvl8pPr marL="13716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8pPr>
      <a:lvl9pPr marL="18288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4"/>
          <p:cNvSpPr>
            <a:spLocks noGrp="1"/>
          </p:cNvSpPr>
          <p:nvPr>
            <p:ph type="title"/>
          </p:nvPr>
        </p:nvSpPr>
        <p:spPr>
          <a:xfrm>
            <a:off x="6577013" y="104775"/>
            <a:ext cx="2300287" cy="685800"/>
          </a:xfrm>
          <a:prstGeom prst="rect">
            <a:avLst/>
          </a:prstGeom>
          <a:noFill/>
          <a:ln w="9525">
            <a:noFill/>
          </a:ln>
        </p:spPr>
        <p:txBody>
          <a:bodyPr anchor="ctr"/>
          <a:lstStyle/>
          <a:p>
            <a:pPr lvl="0"/>
            <a:r>
              <a:rPr lang="zh-CN" altLang="en-US" dirty="0"/>
              <a:t>母版标题</a:t>
            </a:r>
            <a:endParaRPr lang="zh-CN" altLang="en-US" dirty="0"/>
          </a:p>
        </p:txBody>
      </p:sp>
      <p:sp>
        <p:nvSpPr>
          <p:cNvPr id="4099" name="Rectangle 5"/>
          <p:cNvSpPr>
            <a:spLocks noGrp="1"/>
          </p:cNvSpPr>
          <p:nvPr>
            <p:ph type="body" idx="1"/>
          </p:nvPr>
        </p:nvSpPr>
        <p:spPr>
          <a:xfrm>
            <a:off x="450850" y="931545"/>
            <a:ext cx="8112125" cy="516445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101" name="Rectangle 2"/>
          <p:cNvSpPr/>
          <p:nvPr userDrawn="1"/>
        </p:nvSpPr>
        <p:spPr>
          <a:xfrm>
            <a:off x="8408988" y="6453188"/>
            <a:ext cx="735012" cy="241300"/>
          </a:xfrm>
          <a:prstGeom prst="rect">
            <a:avLst/>
          </a:prstGeom>
          <a:noFill/>
          <a:ln w="9525">
            <a:noFill/>
          </a:ln>
        </p:spPr>
        <p:txBody>
          <a:bodyPr wrap="none" lIns="90488" tIns="44450" rIns="90488" bIns="44450">
            <a:spAutoFit/>
          </a:bodyPr>
          <a:lstStyle/>
          <a:p>
            <a:pPr lvl="0" algn="r"/>
            <a:r>
              <a:rPr lang="zh-CN" altLang="en-US" sz="1000" dirty="0">
                <a:solidFill>
                  <a:srgbClr val="000000"/>
                </a:solidFill>
                <a:latin typeface="FuturaA Md BT" charset="0"/>
                <a:ea typeface="宋体" panose="02010600030101010101" pitchFamily="2" charset="-122"/>
              </a:rPr>
              <a:t>  </a:t>
            </a:r>
            <a:r>
              <a:rPr lang="en-US" altLang="zh-CN" sz="1000" dirty="0">
                <a:solidFill>
                  <a:srgbClr val="000000"/>
                </a:solidFill>
                <a:latin typeface="FuturaA Md BT" charset="0"/>
                <a:ea typeface="宋体" panose="02010600030101010101" pitchFamily="2" charset="-122"/>
              </a:rPr>
              <a:t>Page </a:t>
            </a:r>
            <a:fld id="{9A0DB2DC-4C9A-4742-B13C-FB6460FD3503}" type="slidenum">
              <a:rPr lang="en-US" altLang="zh-CN" sz="1000" dirty="0">
                <a:solidFill>
                  <a:srgbClr val="000000"/>
                </a:solidFill>
                <a:latin typeface="FuturaA Md BT" charset="0"/>
                <a:ea typeface="宋体" panose="02010600030101010101" pitchFamily="2" charset="-122"/>
              </a:rPr>
            </a:fld>
            <a:endParaRPr lang="en-US" altLang="zh-CN" sz="1000" dirty="0">
              <a:solidFill>
                <a:srgbClr val="000000"/>
              </a:solidFill>
              <a:latin typeface="FuturaA Md BT" charset="0"/>
              <a:ea typeface="宋体" panose="02010600030101010101" pitchFamily="2" charset="-122"/>
            </a:endParaRPr>
          </a:p>
        </p:txBody>
      </p:sp>
      <p:sp>
        <p:nvSpPr>
          <p:cNvPr id="4102" name="Line 4"/>
          <p:cNvSpPr/>
          <p:nvPr userDrawn="1"/>
        </p:nvSpPr>
        <p:spPr>
          <a:xfrm>
            <a:off x="179388" y="765175"/>
            <a:ext cx="8713787" cy="0"/>
          </a:xfrm>
          <a:prstGeom prst="line">
            <a:avLst/>
          </a:prstGeom>
          <a:ln w="25400" cap="flat" cmpd="sng">
            <a:solidFill>
              <a:schemeClr val="tx2"/>
            </a:solidFill>
            <a:prstDash val="solid"/>
            <a:headEnd type="none" w="sm" len="sm"/>
            <a:tailEnd type="none" w="sm" len="sm"/>
          </a:ln>
        </p:spPr>
      </p:sp>
      <p:sp>
        <p:nvSpPr>
          <p:cNvPr id="1031" name="Rectangle 5"/>
          <p:cNvSpPr>
            <a:spLocks noChangeArrowheads="1"/>
          </p:cNvSpPr>
          <p:nvPr/>
        </p:nvSpPr>
        <p:spPr bwMode="auto">
          <a:xfrm>
            <a:off x="0" y="6237288"/>
            <a:ext cx="91440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1pPr>
            <a:lvl2pPr marL="742950" indent="-28575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2pPr>
            <a:lvl3pPr marL="1143000" indent="-22860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3pPr>
            <a:lvl4pPr marL="1600200" indent="-22860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4pPr>
            <a:lvl5pPr marL="2057400" indent="-22860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436ACB"/>
                </a:solidFill>
                <a:effectLst/>
                <a:uLnTx/>
                <a:uFillTx/>
                <a:latin typeface="Arial" panose="020B0604020202020204" pitchFamily="34" charset="0"/>
                <a:ea typeface="隶书" panose="02010509060101010101" pitchFamily="49" charset="-122"/>
                <a:cs typeface="+mn-cs"/>
              </a:rPr>
              <a:t>      </a:t>
            </a:r>
            <a:endParaRPr kumimoji="0" lang="zh-CN" altLang="en-US" sz="2400" b="1" i="0" u="none" strike="noStrike" kern="1200" cap="none" spc="0" normalizeH="0" baseline="0" noProof="0">
              <a:ln>
                <a:noFill/>
              </a:ln>
              <a:solidFill>
                <a:srgbClr val="000000"/>
              </a:solidFill>
              <a:effectLst/>
              <a:uLnTx/>
              <a:uFillTx/>
              <a:latin typeface="FuturaA Md BT" charset="0"/>
              <a:ea typeface="隶书" panose="02010509060101010101" pitchFamily="49" charset="-122"/>
              <a:cs typeface="+mn-cs"/>
            </a:endParaRPr>
          </a:p>
        </p:txBody>
      </p:sp>
      <p:pic>
        <p:nvPicPr>
          <p:cNvPr id="4104" name="Picture 10" descr="logo"/>
          <p:cNvPicPr>
            <a:picLocks noChangeAspect="1"/>
          </p:cNvPicPr>
          <p:nvPr userDrawn="1"/>
        </p:nvPicPr>
        <p:blipFill>
          <a:blip r:embed="rId12"/>
          <a:stretch>
            <a:fillRect/>
          </a:stretch>
        </p:blipFill>
        <p:spPr>
          <a:xfrm>
            <a:off x="144463" y="115888"/>
            <a:ext cx="2698750" cy="5048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r" rtl="0" eaLnBrk="0" fontAlgn="base" hangingPunct="0">
        <a:spcBef>
          <a:spcPct val="0"/>
        </a:spcBef>
        <a:spcAft>
          <a:spcPct val="0"/>
        </a:spcAft>
        <a:defRPr kumimoji="1" sz="3600" kern="1200">
          <a:solidFill>
            <a:schemeClr val="tx1"/>
          </a:solidFill>
          <a:latin typeface="+mj-lt"/>
          <a:ea typeface="+mj-ea"/>
          <a:cs typeface="+mj-cs"/>
        </a:defRPr>
      </a:lvl1pPr>
      <a:lvl2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2pPr>
      <a:lvl3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3pPr>
      <a:lvl4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4pPr>
      <a:lvl5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5pPr>
      <a:lvl6pPr marL="4572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6pPr>
      <a:lvl7pPr marL="9144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7pPr>
      <a:lvl8pPr marL="13716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8pPr>
      <a:lvl9pPr marL="18288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9pPr>
    </p:titleStyle>
    <p:body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rgbClr val="000066"/>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rgbClr val="336699"/>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rgbClr val="000066"/>
          </a:solidFill>
          <a:latin typeface="+mn-lt"/>
          <a:ea typeface="+mn-ea"/>
          <a:cs typeface="+mn-cs"/>
        </a:defRPr>
      </a:lvl4pPr>
      <a:lvl5pPr marL="2057400" indent="-228600" algn="l" rtl="0" eaLnBrk="0" fontAlgn="base" hangingPunct="0">
        <a:spcBef>
          <a:spcPct val="20000"/>
        </a:spcBef>
        <a:spcAft>
          <a:spcPct val="0"/>
        </a:spcAft>
        <a:defRPr kumimoji="1" sz="1400" kern="1200">
          <a:solidFill>
            <a:srgbClr val="0000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slideLayout" Target="../slideLayouts/slideLayout35.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22.png"/><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5.xml"/><Relationship Id="rId1"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30.png"/><Relationship Id="rId1"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32.png"/><Relationship Id="rId1" Type="http://schemas.openxmlformats.org/officeDocument/2006/relationships/image" Target="../media/image31.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6.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7.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8.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5.xml"/><Relationship Id="rId1"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5.xml"/><Relationship Id="rId1" Type="http://schemas.openxmlformats.org/officeDocument/2006/relationships/image" Target="../media/image40.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5.xml"/><Relationship Id="rId1" Type="http://schemas.openxmlformats.org/officeDocument/2006/relationships/image" Target="../media/image41.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5.xml"/><Relationship Id="rId1" Type="http://schemas.openxmlformats.org/officeDocument/2006/relationships/image" Target="../media/image4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44.png"/><Relationship Id="rId1" Type="http://schemas.openxmlformats.org/officeDocument/2006/relationships/image" Target="../media/image43.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45.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46.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47.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48.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4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50.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52.png"/><Relationship Id="rId1" Type="http://schemas.openxmlformats.org/officeDocument/2006/relationships/image" Target="../media/image5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54.png"/><Relationship Id="rId1" Type="http://schemas.openxmlformats.org/officeDocument/2006/relationships/image" Target="../media/image53.png"/></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image" Target="../media/image56.png"/><Relationship Id="rId2" Type="http://schemas.openxmlformats.org/officeDocument/2006/relationships/image" Target="../media/image54.png"/><Relationship Id="rId1" Type="http://schemas.openxmlformats.org/officeDocument/2006/relationships/image" Target="../media/image55.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5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58.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58.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5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0.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0.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0.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0.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5.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5.xml"/><Relationship Id="rId1" Type="http://schemas.openxmlformats.org/officeDocument/2006/relationships/image" Target="../media/image61.jpe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2.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5.xml"/><Relationship Id="rId1" Type="http://schemas.openxmlformats.org/officeDocument/2006/relationships/image" Target="../media/image63.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5.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5.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5.xml"/><Relationship Id="rId1" Type="http://schemas.openxmlformats.org/officeDocument/2006/relationships/image" Target="../media/image64.pn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5.xml"/><Relationship Id="rId1" Type="http://schemas.openxmlformats.org/officeDocument/2006/relationships/image" Target="../media/image64.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5.xml"/><Relationship Id="rId1" Type="http://schemas.openxmlformats.org/officeDocument/2006/relationships/image" Target="../media/image64.pn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5.jpe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5.jpe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177165" y="2819400"/>
            <a:ext cx="8738235" cy="685800"/>
          </a:xfrm>
        </p:spPr>
        <p:txBody>
          <a:bodyPr vert="horz" wrap="square" lIns="91440" tIns="45720" rIns="91440" bIns="45720" anchor="ctr"/>
          <a:lstStyle>
            <a:lvl1pPr lvl="0">
              <a:defRPr kern="1200"/>
            </a:lvl1pPr>
          </a:lstStyle>
          <a:p>
            <a:pPr lvl="0" algn="ctr" eaLnBrk="1" hangingPunct="1"/>
            <a:r>
              <a:rPr lang="zh-CN" altLang="en-US" sz="3600" dirty="0">
                <a:solidFill>
                  <a:schemeClr val="bg1"/>
                </a:solidFill>
                <a:latin typeface="黑体" panose="02010609060101010101" pitchFamily="49" charset="-122"/>
                <a:ea typeface="黑体" panose="02010609060101010101" pitchFamily="49" charset="-122"/>
                <a:sym typeface="+mn-ea"/>
              </a:rPr>
              <a:t>第</a:t>
            </a:r>
            <a:r>
              <a:rPr lang="zh-CN" altLang="en-US" sz="3600" dirty="0">
                <a:solidFill>
                  <a:schemeClr val="bg1"/>
                </a:solidFill>
                <a:latin typeface="黑体" panose="02010609060101010101" pitchFamily="49" charset="-122"/>
                <a:ea typeface="黑体" panose="02010609060101010101" pitchFamily="49" charset="-122"/>
                <a:sym typeface="+mn-ea"/>
              </a:rPr>
              <a:t>九章 纠删码</a:t>
            </a:r>
            <a:endParaRPr lang="zh-CN" altLang="en-US" sz="3600" dirty="0">
              <a:solidFill>
                <a:schemeClr val="bg1"/>
              </a:solidFill>
              <a:latin typeface="黑体" panose="02010609060101010101" pitchFamily="49" charset="-122"/>
              <a:ea typeface="黑体" panose="02010609060101010101" pitchFamily="49" charset="-122"/>
              <a:sym typeface="+mn-ea"/>
            </a:endParaRPr>
          </a:p>
        </p:txBody>
      </p:sp>
      <p:sp>
        <p:nvSpPr>
          <p:cNvPr id="2" name="文本框 1"/>
          <p:cNvSpPr txBox="1"/>
          <p:nvPr/>
        </p:nvSpPr>
        <p:spPr>
          <a:xfrm>
            <a:off x="2305685" y="3879850"/>
            <a:ext cx="4815205" cy="1822450"/>
          </a:xfrm>
          <a:prstGeom prst="rect">
            <a:avLst/>
          </a:prstGeom>
          <a:noFill/>
        </p:spPr>
        <p:txBody>
          <a:bodyPr wrap="square" rtlCol="0">
            <a:spAutoFit/>
          </a:bodyPr>
          <a:lstStyle/>
          <a:p>
            <a:pPr algn="l">
              <a:lnSpc>
                <a:spcPts val="4500"/>
              </a:lnSpc>
            </a:pPr>
            <a:r>
              <a:rPr lang="zh-CN" altLang="en-US" sz="2800" b="1">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rPr>
              <a:t>李丽香，彭海朋</a:t>
            </a:r>
            <a:endParaRPr lang="zh-CN" altLang="en-US" sz="2400" b="1">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endParaRPr>
          </a:p>
          <a:p>
            <a:pPr algn="l">
              <a:lnSpc>
                <a:spcPts val="4500"/>
              </a:lnSpc>
            </a:pPr>
            <a:r>
              <a:rPr lang="zh-CN" altLang="en-US" sz="2400" b="1">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rPr>
              <a:t>北京邮电大学网络空间安全学院</a:t>
            </a:r>
            <a:endParaRPr lang="zh-CN" altLang="en-US" sz="2400" b="1">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endParaRPr>
          </a:p>
          <a:p>
            <a:pPr algn="l">
              <a:lnSpc>
                <a:spcPts val="4500"/>
              </a:lnSpc>
            </a:pPr>
            <a:r>
              <a:rPr lang="zh-CN" altLang="en-US" sz="2400" b="1">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rPr>
              <a:t>网络与交换技术国家重点实验室</a:t>
            </a:r>
            <a:endParaRPr lang="zh-CN" altLang="en-US" sz="2400" b="1">
              <a:solidFill>
                <a:schemeClr val="tx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652578" y="104775"/>
            <a:ext cx="2300287" cy="685800"/>
          </a:xfrm>
        </p:spPr>
        <p:txBody>
          <a:bodyPr vert="horz" wrap="square" lIns="91440" tIns="45720" rIns="91440" bIns="45720" anchor="ctr"/>
          <a:lstStyle/>
          <a:p>
            <a:r>
              <a:rPr lang="zh-CN" altLang="en-US" sz="2400" dirty="0"/>
              <a:t>内容提要</a:t>
            </a:r>
            <a:endParaRPr lang="zh-CN" altLang="en-US" sz="24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48" name="AutoShape 49"/>
          <p:cNvSpPr/>
          <p:nvPr/>
        </p:nvSpPr>
        <p:spPr>
          <a:xfrm>
            <a:off x="2193994" y="5085823"/>
            <a:ext cx="5864112" cy="647065"/>
          </a:xfrm>
          <a:prstGeom prst="roundRect">
            <a:avLst>
              <a:gd name="adj" fmla="val 50000"/>
            </a:avLst>
          </a:prstGeom>
          <a:noFill/>
          <a:ln w="28575" cap="flat" cmpd="sng">
            <a:solidFill>
              <a:srgbClr val="C0C0C0"/>
            </a:solidFill>
            <a:prstDash val="solid"/>
            <a:headEnd type="none" w="med" len="med"/>
            <a:tailEnd type="none" w="med" len="med"/>
          </a:ln>
        </p:spPr>
        <p:txBody>
          <a:bodyPr wrap="none" anchor="ctr"/>
          <a:lstStyle/>
          <a:p>
            <a:pPr rtl="0">
              <a:defRPr/>
            </a:pPr>
            <a:r>
              <a:rPr lang="zh-CN" altLang="en-US" sz="2800" b="1" kern="0" dirty="0">
                <a:solidFill>
                  <a:srgbClr val="000000"/>
                </a:solidFill>
                <a:cs typeface="+mn-cs"/>
                <a:sym typeface="+mn-ea"/>
              </a:rPr>
              <a:t>纠删码的拓展</a:t>
            </a:r>
            <a:endParaRPr lang="zh-CN" altLang="en-US" sz="2800" b="1" kern="0" dirty="0">
              <a:solidFill>
                <a:srgbClr val="000000"/>
              </a:solidFill>
              <a:cs typeface="+mn-cs"/>
              <a:sym typeface="+mn-ea"/>
            </a:endParaRPr>
          </a:p>
        </p:txBody>
      </p:sp>
      <p:sp>
        <p:nvSpPr>
          <p:cNvPr id="49" name="AutoShape 50"/>
          <p:cNvSpPr>
            <a:spLocks noChangeArrowheads="1"/>
          </p:cNvSpPr>
          <p:nvPr/>
        </p:nvSpPr>
        <p:spPr bwMode="gray">
          <a:xfrm>
            <a:off x="2571706" y="4070659"/>
            <a:ext cx="5486400" cy="647065"/>
          </a:xfrm>
          <a:prstGeom prst="roundRect">
            <a:avLst>
              <a:gd name="adj" fmla="val 50000"/>
            </a:avLst>
          </a:prstGeom>
          <a:noFill/>
          <a:ln w="28575" algn="ctr">
            <a:solidFill>
              <a:srgbClr val="C0C0C0"/>
            </a:solidFill>
            <a:round/>
          </a:ln>
          <a:effectLst/>
        </p:spPr>
        <p:txBody>
          <a:bodyPr wrap="none" anchor="ctr"/>
          <a:lstStyle/>
          <a:p>
            <a:pPr marR="0" lvl="0" rtl="0">
              <a:buClrTx/>
              <a:buSzTx/>
              <a:defRPr/>
            </a:pPr>
            <a:r>
              <a:rPr lang="zh-CN" altLang="en-US" sz="2800" b="1" kern="0" dirty="0">
                <a:solidFill>
                  <a:srgbClr val="000000"/>
                </a:solidFill>
                <a:cs typeface="+mn-cs"/>
                <a:sym typeface="+mn-ea"/>
              </a:rPr>
              <a:t>纠删码的分类及其编解码原理</a:t>
            </a:r>
            <a:endParaRPr lang="zh-CN" altLang="en-US" sz="2800" b="1" kern="0" dirty="0">
              <a:solidFill>
                <a:srgbClr val="000000"/>
              </a:solidFill>
              <a:cs typeface="+mn-cs"/>
              <a:sym typeface="+mn-ea"/>
            </a:endParaRPr>
          </a:p>
        </p:txBody>
      </p:sp>
      <p:sp>
        <p:nvSpPr>
          <p:cNvPr id="50" name="AutoShape 51"/>
          <p:cNvSpPr>
            <a:spLocks noChangeArrowheads="1"/>
          </p:cNvSpPr>
          <p:nvPr/>
        </p:nvSpPr>
        <p:spPr bwMode="gray">
          <a:xfrm>
            <a:off x="2574072" y="2959374"/>
            <a:ext cx="5486400" cy="698500"/>
          </a:xfrm>
          <a:prstGeom prst="roundRect">
            <a:avLst>
              <a:gd name="adj" fmla="val 50000"/>
            </a:avLst>
          </a:prstGeom>
          <a:noFill/>
          <a:ln w="28575" algn="ctr">
            <a:solidFill>
              <a:srgbClr val="C0C0C0"/>
            </a:solidFill>
            <a:round/>
          </a:ln>
          <a:effectLst/>
        </p:spPr>
        <p:txBody>
          <a:bodyPr wrap="none" anchor="ctr"/>
          <a:lstStyle/>
          <a:p>
            <a:pPr rtl="0">
              <a:defRPr/>
            </a:pPr>
            <a:r>
              <a:rPr lang="zh-CN" altLang="en-US" sz="2800" b="1" kern="0" dirty="0">
                <a:solidFill>
                  <a:srgbClr val="000000"/>
                </a:solidFill>
                <a:cs typeface="+mn-cs"/>
              </a:rPr>
              <a:t>纠删码的基础知识介绍</a:t>
            </a:r>
            <a:endParaRPr lang="zh-CN" altLang="en-US" sz="2800" b="1" kern="0" dirty="0">
              <a:solidFill>
                <a:srgbClr val="000000"/>
              </a:solidFill>
              <a:cs typeface="+mn-cs"/>
            </a:endParaRPr>
          </a:p>
        </p:txBody>
      </p:sp>
      <p:sp>
        <p:nvSpPr>
          <p:cNvPr id="51" name="AutoShape 52"/>
          <p:cNvSpPr>
            <a:spLocks noChangeArrowheads="1"/>
          </p:cNvSpPr>
          <p:nvPr/>
        </p:nvSpPr>
        <p:spPr bwMode="gray">
          <a:xfrm>
            <a:off x="2193994" y="1947269"/>
            <a:ext cx="5866478" cy="67500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lang="zh-CN" altLang="en-US" sz="2800" b="1" kern="0" dirty="0">
                <a:solidFill>
                  <a:srgbClr val="000000"/>
                </a:solidFill>
                <a:cs typeface="+mn-cs"/>
              </a:rPr>
              <a:t>纠删码技术的概述</a:t>
            </a:r>
            <a:endParaRPr lang="zh-CN" altLang="en-US" sz="2800" b="1" kern="0" dirty="0">
              <a:solidFill>
                <a:srgbClr val="000000"/>
              </a:solidFill>
              <a:cs typeface="+mn-cs"/>
            </a:endParaRPr>
          </a:p>
        </p:txBody>
      </p:sp>
      <p:grpSp>
        <p:nvGrpSpPr>
          <p:cNvPr id="52" name="Group 53"/>
          <p:cNvGrpSpPr/>
          <p:nvPr/>
        </p:nvGrpSpPr>
        <p:grpSpPr>
          <a:xfrm>
            <a:off x="1597819" y="2133624"/>
            <a:ext cx="381000" cy="381000"/>
            <a:chOff x="2078" y="1680"/>
            <a:chExt cx="1615" cy="1615"/>
          </a:xfrm>
        </p:grpSpPr>
        <p:sp>
          <p:nvSpPr>
            <p:cNvPr id="5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5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5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5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5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5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59" name="Group 60"/>
          <p:cNvGrpSpPr/>
          <p:nvPr/>
        </p:nvGrpSpPr>
        <p:grpSpPr>
          <a:xfrm>
            <a:off x="2078405" y="3106678"/>
            <a:ext cx="381000" cy="381000"/>
            <a:chOff x="2078" y="1680"/>
            <a:chExt cx="1615" cy="1615"/>
          </a:xfrm>
        </p:grpSpPr>
        <p:sp>
          <p:nvSpPr>
            <p:cNvPr id="60" name="Oval 61"/>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1" name="Oval 62"/>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2" name="Oval 63"/>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3" name="Oval 64"/>
            <p:cNvSpPr>
              <a:spLocks noChangeArrowheads="1"/>
            </p:cNvSpPr>
            <p:nvPr/>
          </p:nvSpPr>
          <p:spPr bwMode="gray">
            <a:xfrm>
              <a:off x="2253" y="1855"/>
              <a:ext cx="1265" cy="1265"/>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4" name="Oval 65"/>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5" name="Oval 66"/>
            <p:cNvSpPr>
              <a:spLocks noChangeArrowheads="1"/>
            </p:cNvSpPr>
            <p:nvPr/>
          </p:nvSpPr>
          <p:spPr bwMode="gray">
            <a:xfrm>
              <a:off x="2334" y="1936"/>
              <a:ext cx="1097" cy="1104"/>
            </a:xfrm>
            <a:prstGeom prst="ellipse">
              <a:avLst/>
            </a:prstGeom>
            <a:gradFill rotWithShape="1">
              <a:gsLst>
                <a:gs pos="0">
                  <a:srgbClr val="48BE67"/>
                </a:gs>
                <a:gs pos="100000">
                  <a:srgbClr val="48BE67">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66" name="Group 67"/>
          <p:cNvGrpSpPr/>
          <p:nvPr/>
        </p:nvGrpSpPr>
        <p:grpSpPr>
          <a:xfrm>
            <a:off x="2089257" y="4189911"/>
            <a:ext cx="381000" cy="381000"/>
            <a:chOff x="2078" y="1680"/>
            <a:chExt cx="1615" cy="1615"/>
          </a:xfrm>
        </p:grpSpPr>
        <p:sp>
          <p:nvSpPr>
            <p:cNvPr id="6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7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7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7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73" name="Group 74"/>
          <p:cNvGrpSpPr/>
          <p:nvPr/>
        </p:nvGrpSpPr>
        <p:grpSpPr>
          <a:xfrm>
            <a:off x="1597819" y="5218855"/>
            <a:ext cx="381000" cy="381000"/>
            <a:chOff x="2078" y="1680"/>
            <a:chExt cx="1615" cy="1615"/>
          </a:xfrm>
        </p:grpSpPr>
        <p:sp>
          <p:nvSpPr>
            <p:cNvPr id="74" name="Oval 75"/>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75" name="Oval 76"/>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76" name="Oval 77"/>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77" name="Oval 78"/>
            <p:cNvSpPr>
              <a:spLocks noChangeArrowheads="1"/>
            </p:cNvSpPr>
            <p:nvPr/>
          </p:nvSpPr>
          <p:spPr bwMode="gray">
            <a:xfrm>
              <a:off x="2253" y="1855"/>
              <a:ext cx="1265" cy="1265"/>
            </a:xfrm>
            <a:prstGeom prst="ellipse">
              <a:avLst/>
            </a:prstGeom>
            <a:gradFill rotWithShape="1">
              <a:gsLst>
                <a:gs pos="0">
                  <a:srgbClr val="8D67E1">
                    <a:gamma/>
                    <a:shade val="0"/>
                    <a:invGamma/>
                  </a:srgbClr>
                </a:gs>
                <a:gs pos="100000">
                  <a:srgbClr val="8D67E1"/>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78" name="Oval 79"/>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79" name="Oval 80"/>
            <p:cNvSpPr>
              <a:spLocks noChangeArrowheads="1"/>
            </p:cNvSpPr>
            <p:nvPr/>
          </p:nvSpPr>
          <p:spPr bwMode="gray">
            <a:xfrm>
              <a:off x="2334" y="1936"/>
              <a:ext cx="1097" cy="1104"/>
            </a:xfrm>
            <a:prstGeom prst="ellipse">
              <a:avLst/>
            </a:prstGeom>
            <a:gradFill rotWithShape="1">
              <a:gsLst>
                <a:gs pos="0">
                  <a:srgbClr val="8D67E1"/>
                </a:gs>
                <a:gs pos="100000">
                  <a:srgbClr val="8D67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652578" y="104775"/>
            <a:ext cx="2300287" cy="685800"/>
          </a:xfrm>
        </p:spPr>
        <p:txBody>
          <a:bodyPr vert="horz" wrap="square" lIns="91440" tIns="45720" rIns="91440" bIns="45720" anchor="ctr"/>
          <a:lstStyle/>
          <a:p>
            <a:r>
              <a:rPr lang="zh-CN" altLang="en-US" sz="2400" dirty="0"/>
              <a:t>内容提要</a:t>
            </a:r>
            <a:endParaRPr lang="zh-CN" altLang="en-US" sz="24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8198" name="AutoShape 49"/>
          <p:cNvSpPr/>
          <p:nvPr/>
        </p:nvSpPr>
        <p:spPr>
          <a:xfrm>
            <a:off x="2193994" y="5085823"/>
            <a:ext cx="5864112" cy="647065"/>
          </a:xfrm>
          <a:prstGeom prst="roundRect">
            <a:avLst>
              <a:gd name="adj" fmla="val 50000"/>
            </a:avLst>
          </a:prstGeom>
          <a:noFill/>
          <a:ln w="28575" cap="flat" cmpd="sng">
            <a:solidFill>
              <a:srgbClr val="C0C0C0"/>
            </a:solidFill>
            <a:prstDash val="solid"/>
            <a:headEnd type="none" w="med" len="med"/>
            <a:tailEnd type="none" w="med" len="med"/>
          </a:ln>
        </p:spPr>
        <p:txBody>
          <a:bodyPr wrap="none" anchor="ctr"/>
          <a:lstStyle/>
          <a:p>
            <a:pPr rtl="0">
              <a:defRPr/>
            </a:pPr>
            <a:r>
              <a:rPr lang="zh-CN" altLang="en-US" sz="2800" b="1" kern="0" dirty="0">
                <a:solidFill>
                  <a:schemeClr val="bg1">
                    <a:lumMod val="75000"/>
                  </a:schemeClr>
                </a:solidFill>
                <a:cs typeface="+mn-cs"/>
                <a:sym typeface="+mn-ea"/>
              </a:rPr>
              <a:t>纠删码的拓展</a:t>
            </a:r>
            <a:endParaRPr lang="zh-CN" altLang="en-US" sz="2800" b="1" kern="0" dirty="0">
              <a:solidFill>
                <a:schemeClr val="bg1">
                  <a:lumMod val="75000"/>
                </a:schemeClr>
              </a:solidFill>
              <a:cs typeface="+mn-cs"/>
              <a:sym typeface="+mn-ea"/>
            </a:endParaRPr>
          </a:p>
        </p:txBody>
      </p:sp>
      <p:sp>
        <p:nvSpPr>
          <p:cNvPr id="9" name="AutoShape 50"/>
          <p:cNvSpPr>
            <a:spLocks noChangeArrowheads="1"/>
          </p:cNvSpPr>
          <p:nvPr/>
        </p:nvSpPr>
        <p:spPr bwMode="gray">
          <a:xfrm>
            <a:off x="2571706" y="4070659"/>
            <a:ext cx="5486400" cy="647065"/>
          </a:xfrm>
          <a:prstGeom prst="roundRect">
            <a:avLst>
              <a:gd name="adj" fmla="val 50000"/>
            </a:avLst>
          </a:prstGeom>
          <a:noFill/>
          <a:ln w="28575" algn="ctr">
            <a:solidFill>
              <a:srgbClr val="C0C0C0"/>
            </a:solidFill>
            <a:round/>
          </a:ln>
          <a:effectLst/>
        </p:spPr>
        <p:txBody>
          <a:bodyPr wrap="none" anchor="ctr"/>
          <a:lstStyle/>
          <a:p>
            <a:pPr marR="0" lvl="0" rtl="0">
              <a:buClrTx/>
              <a:buSzTx/>
              <a:defRPr/>
            </a:pPr>
            <a:r>
              <a:rPr lang="zh-CN" altLang="en-US" sz="2800" b="1" kern="0" dirty="0">
                <a:solidFill>
                  <a:schemeClr val="bg1">
                    <a:lumMod val="75000"/>
                  </a:schemeClr>
                </a:solidFill>
                <a:cs typeface="+mn-cs"/>
                <a:sym typeface="+mn-ea"/>
              </a:rPr>
              <a:t>纠删码的分类及其编解码原理</a:t>
            </a:r>
            <a:endParaRPr lang="zh-CN" altLang="en-US" sz="2800" b="1" kern="0" dirty="0">
              <a:solidFill>
                <a:schemeClr val="bg1">
                  <a:lumMod val="75000"/>
                </a:schemeClr>
              </a:solidFill>
              <a:cs typeface="+mn-cs"/>
              <a:sym typeface="+mn-ea"/>
            </a:endParaRPr>
          </a:p>
        </p:txBody>
      </p:sp>
      <p:sp>
        <p:nvSpPr>
          <p:cNvPr id="10" name="AutoShape 51"/>
          <p:cNvSpPr>
            <a:spLocks noChangeArrowheads="1"/>
          </p:cNvSpPr>
          <p:nvPr/>
        </p:nvSpPr>
        <p:spPr bwMode="gray">
          <a:xfrm>
            <a:off x="2574072" y="2959374"/>
            <a:ext cx="5486400" cy="698500"/>
          </a:xfrm>
          <a:prstGeom prst="roundRect">
            <a:avLst>
              <a:gd name="adj" fmla="val 50000"/>
            </a:avLst>
          </a:prstGeom>
          <a:noFill/>
          <a:ln w="28575" algn="ctr">
            <a:solidFill>
              <a:srgbClr val="C0C0C0"/>
            </a:solidFill>
            <a:round/>
          </a:ln>
          <a:effectLst/>
        </p:spPr>
        <p:txBody>
          <a:bodyPr wrap="none" anchor="ctr"/>
          <a:lstStyle/>
          <a:p>
            <a:pPr rtl="0">
              <a:defRPr/>
            </a:pPr>
            <a:r>
              <a:rPr lang="zh-CN" altLang="en-US" sz="2800" b="1" kern="0" dirty="0">
                <a:solidFill>
                  <a:schemeClr val="bg1">
                    <a:lumMod val="75000"/>
                  </a:schemeClr>
                </a:solidFill>
                <a:cs typeface="+mn-cs"/>
              </a:rPr>
              <a:t>纠删码的基础知识介绍</a:t>
            </a:r>
            <a:endParaRPr lang="zh-CN" altLang="en-US" sz="2800" b="1" kern="0" dirty="0">
              <a:solidFill>
                <a:schemeClr val="bg1">
                  <a:lumMod val="75000"/>
                </a:schemeClr>
              </a:solidFill>
              <a:cs typeface="+mn-cs"/>
            </a:endParaRPr>
          </a:p>
        </p:txBody>
      </p:sp>
      <p:sp>
        <p:nvSpPr>
          <p:cNvPr id="11" name="AutoShape 52"/>
          <p:cNvSpPr>
            <a:spLocks noChangeArrowheads="1"/>
          </p:cNvSpPr>
          <p:nvPr/>
        </p:nvSpPr>
        <p:spPr bwMode="gray">
          <a:xfrm>
            <a:off x="2193994" y="1947269"/>
            <a:ext cx="5866478" cy="67500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lang="zh-CN" altLang="en-US" sz="2800" b="1" kern="0" dirty="0">
                <a:solidFill>
                  <a:srgbClr val="000000"/>
                </a:solidFill>
                <a:cs typeface="+mn-cs"/>
              </a:rPr>
              <a:t>纠删码技术的概述</a:t>
            </a:r>
            <a:endParaRPr lang="zh-CN" altLang="en-US" sz="2800" b="1" kern="0" dirty="0">
              <a:solidFill>
                <a:srgbClr val="000000"/>
              </a:solidFill>
              <a:cs typeface="+mn-cs"/>
            </a:endParaRPr>
          </a:p>
        </p:txBody>
      </p:sp>
      <p:grpSp>
        <p:nvGrpSpPr>
          <p:cNvPr id="8202" name="Group 53"/>
          <p:cNvGrpSpPr/>
          <p:nvPr/>
        </p:nvGrpSpPr>
        <p:grpSpPr>
          <a:xfrm>
            <a:off x="1597819" y="2133624"/>
            <a:ext cx="381000" cy="381000"/>
            <a:chOff x="2078" y="1680"/>
            <a:chExt cx="1615" cy="1615"/>
          </a:xfrm>
        </p:grpSpPr>
        <p:sp>
          <p:nvSpPr>
            <p:cNvPr id="1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3" name="Group 60"/>
          <p:cNvGrpSpPr/>
          <p:nvPr/>
        </p:nvGrpSpPr>
        <p:grpSpPr>
          <a:xfrm>
            <a:off x="2078405" y="3106678"/>
            <a:ext cx="381000" cy="381000"/>
            <a:chOff x="2078" y="1680"/>
            <a:chExt cx="1615" cy="1615"/>
          </a:xfrm>
        </p:grpSpPr>
        <p:sp>
          <p:nvSpPr>
            <p:cNvPr id="20" name="Oval 61"/>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1" name="Oval 62"/>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2" name="Oval 63"/>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3" name="Oval 64"/>
            <p:cNvSpPr>
              <a:spLocks noChangeArrowheads="1"/>
            </p:cNvSpPr>
            <p:nvPr/>
          </p:nvSpPr>
          <p:spPr bwMode="gray">
            <a:xfrm>
              <a:off x="2253" y="1855"/>
              <a:ext cx="1265" cy="1265"/>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4" name="Oval 65"/>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5" name="Oval 66"/>
            <p:cNvSpPr>
              <a:spLocks noChangeArrowheads="1"/>
            </p:cNvSpPr>
            <p:nvPr/>
          </p:nvSpPr>
          <p:spPr bwMode="gray">
            <a:xfrm>
              <a:off x="2334" y="1936"/>
              <a:ext cx="1097" cy="1104"/>
            </a:xfrm>
            <a:prstGeom prst="ellipse">
              <a:avLst/>
            </a:prstGeom>
            <a:gradFill rotWithShape="1">
              <a:gsLst>
                <a:gs pos="0">
                  <a:srgbClr val="48BE67"/>
                </a:gs>
                <a:gs pos="100000">
                  <a:srgbClr val="48BE67">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4" name="Group 67"/>
          <p:cNvGrpSpPr/>
          <p:nvPr/>
        </p:nvGrpSpPr>
        <p:grpSpPr>
          <a:xfrm>
            <a:off x="2089257" y="4189911"/>
            <a:ext cx="381000" cy="381000"/>
            <a:chOff x="2078" y="1680"/>
            <a:chExt cx="1615" cy="1615"/>
          </a:xfrm>
        </p:grpSpPr>
        <p:sp>
          <p:nvSpPr>
            <p:cNvPr id="2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5" name="Group 74"/>
          <p:cNvGrpSpPr/>
          <p:nvPr/>
        </p:nvGrpSpPr>
        <p:grpSpPr>
          <a:xfrm>
            <a:off x="1597819" y="5218855"/>
            <a:ext cx="381000" cy="381000"/>
            <a:chOff x="2078" y="1680"/>
            <a:chExt cx="1615" cy="1615"/>
          </a:xfrm>
        </p:grpSpPr>
        <p:sp>
          <p:nvSpPr>
            <p:cNvPr id="34" name="Oval 75"/>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5" name="Oval 76"/>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6" name="Oval 77"/>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7" name="Oval 78"/>
            <p:cNvSpPr>
              <a:spLocks noChangeArrowheads="1"/>
            </p:cNvSpPr>
            <p:nvPr/>
          </p:nvSpPr>
          <p:spPr bwMode="gray">
            <a:xfrm>
              <a:off x="2253" y="1855"/>
              <a:ext cx="1265" cy="1265"/>
            </a:xfrm>
            <a:prstGeom prst="ellipse">
              <a:avLst/>
            </a:prstGeom>
            <a:gradFill rotWithShape="1">
              <a:gsLst>
                <a:gs pos="0">
                  <a:srgbClr val="8D67E1">
                    <a:gamma/>
                    <a:shade val="0"/>
                    <a:invGamma/>
                  </a:srgbClr>
                </a:gs>
                <a:gs pos="100000">
                  <a:srgbClr val="8D67E1"/>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8" name="Oval 79"/>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9" name="Oval 80"/>
            <p:cNvSpPr>
              <a:spLocks noChangeArrowheads="1"/>
            </p:cNvSpPr>
            <p:nvPr/>
          </p:nvSpPr>
          <p:spPr bwMode="gray">
            <a:xfrm>
              <a:off x="2334" y="1936"/>
              <a:ext cx="1097" cy="1104"/>
            </a:xfrm>
            <a:prstGeom prst="ellipse">
              <a:avLst/>
            </a:prstGeom>
            <a:gradFill rotWithShape="1">
              <a:gsLst>
                <a:gs pos="0">
                  <a:srgbClr val="8D67E1"/>
                </a:gs>
                <a:gs pos="100000">
                  <a:srgbClr val="8D67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纠删码技术的概述</a:t>
            </a:r>
            <a:endParaRPr lang="zh-CN" altLang="en-US" sz="2400" dirty="0">
              <a:sym typeface="+mn-ea"/>
            </a:endParaRPr>
          </a:p>
        </p:txBody>
      </p:sp>
      <p:sp>
        <p:nvSpPr>
          <p:cNvPr id="10" name="文本框 9"/>
          <p:cNvSpPr txBox="1"/>
          <p:nvPr/>
        </p:nvSpPr>
        <p:spPr>
          <a:xfrm>
            <a:off x="457308" y="1219258"/>
            <a:ext cx="8229384" cy="2101666"/>
          </a:xfrm>
          <a:prstGeom prst="rect">
            <a:avLst/>
          </a:prstGeom>
          <a:noFill/>
        </p:spPr>
        <p:txBody>
          <a:bodyPr wrap="square" rtlCol="0" anchor="t">
            <a:spAutoFit/>
          </a:bodyPr>
          <a:lstStyle/>
          <a:p>
            <a:pPr algn="just">
              <a:lnSpc>
                <a:spcPts val="3200"/>
              </a:lnSpc>
            </a:pPr>
            <a:r>
              <a:rPr lang="zh-CN" altLang="en-US" sz="2000" dirty="0">
                <a:uFillTx/>
                <a:latin typeface="Times New Roman" panose="02020603050405020304" pitchFamily="18" charset="0"/>
                <a:ea typeface="黑体" panose="02010609060101010101" pitchFamily="49" charset="-122"/>
                <a:sym typeface="+mn-ea"/>
              </a:rPr>
              <a:t>        </a:t>
            </a:r>
            <a:r>
              <a:rPr lang="en-US" altLang="zh-CN" sz="2000" dirty="0">
                <a:uFillTx/>
                <a:latin typeface="Times New Roman" panose="02020603050405020304" pitchFamily="18" charset="0"/>
                <a:ea typeface="黑体" panose="02010609060101010101" pitchFamily="49" charset="-122"/>
                <a:sym typeface="+mn-ea"/>
              </a:rPr>
              <a:t>Wikipedia</a:t>
            </a:r>
            <a:r>
              <a:rPr lang="zh-CN" altLang="en-US" sz="2000" dirty="0">
                <a:uFillTx/>
                <a:latin typeface="Times New Roman" panose="02020603050405020304" pitchFamily="18" charset="0"/>
                <a:ea typeface="黑体" panose="02010609060101010101" pitchFamily="49" charset="-122"/>
                <a:sym typeface="+mn-ea"/>
              </a:rPr>
              <a:t>：</a:t>
            </a:r>
            <a:r>
              <a:rPr lang="en-US" altLang="zh-CN" sz="2000" dirty="0">
                <a:uFillTx/>
                <a:latin typeface="Times New Roman" panose="02020603050405020304" pitchFamily="18" charset="0"/>
                <a:ea typeface="黑体" panose="02010609060101010101" pitchFamily="49" charset="-122"/>
                <a:sym typeface="+mn-ea"/>
              </a:rPr>
              <a:t>In coding theory, an erasure code is </a:t>
            </a:r>
            <a:r>
              <a:rPr lang="en-US" altLang="zh-CN" sz="2000" dirty="0">
                <a:solidFill>
                  <a:srgbClr val="FF0000"/>
                </a:solidFill>
                <a:uFillTx/>
                <a:latin typeface="Times New Roman" panose="02020603050405020304" pitchFamily="18" charset="0"/>
                <a:ea typeface="黑体" panose="02010609060101010101" pitchFamily="49" charset="-122"/>
                <a:sym typeface="+mn-ea"/>
              </a:rPr>
              <a:t>forward error correction </a:t>
            </a:r>
            <a:r>
              <a:rPr lang="en-US" altLang="zh-CN" sz="2000" dirty="0">
                <a:uFillTx/>
                <a:latin typeface="Times New Roman" panose="02020603050405020304" pitchFamily="18" charset="0"/>
                <a:ea typeface="黑体" panose="02010609060101010101" pitchFamily="49" charset="-122"/>
                <a:sym typeface="+mn-ea"/>
              </a:rPr>
              <a:t>(FEC) code under the assumption of bit erasures (rather than bit errors),which transforms a message of k symbols into a longer message (code word) with n symbols such that the original message can be recovered from a subset of the n symbols.</a:t>
            </a:r>
            <a:endParaRPr lang="zh-CN" altLang="en-US" sz="2000" dirty="0">
              <a:uFillTx/>
              <a:latin typeface="Times New Roman" panose="02020603050405020304" pitchFamily="18" charset="0"/>
              <a:ea typeface="黑体" panose="02010609060101010101" pitchFamily="49" charset="-122"/>
              <a:sym typeface="+mn-ea"/>
            </a:endParaRPr>
          </a:p>
        </p:txBody>
      </p:sp>
      <p:sp>
        <p:nvSpPr>
          <p:cNvPr id="5" name="文本框 4"/>
          <p:cNvSpPr txBox="1"/>
          <p:nvPr/>
        </p:nvSpPr>
        <p:spPr>
          <a:xfrm>
            <a:off x="551969" y="4571970"/>
            <a:ext cx="7775896" cy="1277850"/>
          </a:xfrm>
          <a:prstGeom prst="rect">
            <a:avLst/>
          </a:prstGeom>
          <a:noFill/>
        </p:spPr>
        <p:txBody>
          <a:bodyPr wrap="square" rtlCol="0" anchor="t">
            <a:spAutoFit/>
          </a:bodyPr>
          <a:lstStyle/>
          <a:p>
            <a:pPr algn="just">
              <a:lnSpc>
                <a:spcPts val="3200"/>
              </a:lnSpc>
            </a:pPr>
            <a:r>
              <a:rPr lang="zh-CN" altLang="en-US" sz="2000" dirty="0">
                <a:uFillTx/>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在编码理论中，有一种前向纠错技术</a:t>
            </a:r>
            <a:r>
              <a:rPr lang="en-US" altLang="zh-CN" sz="2000" dirty="0">
                <a:latin typeface="Times New Roman" panose="02020603050405020304" pitchFamily="18" charset="0"/>
                <a:ea typeface="黑体" panose="02010609060101010101" pitchFamily="49" charset="-122"/>
                <a:sym typeface="+mn-ea"/>
              </a:rPr>
              <a:t>(FEC)</a:t>
            </a:r>
            <a:r>
              <a:rPr lang="zh-CN" altLang="en-US" sz="2000" dirty="0">
                <a:latin typeface="Times New Roman" panose="02020603050405020304" pitchFamily="18" charset="0"/>
                <a:ea typeface="黑体" panose="02010609060101010101" pitchFamily="49" charset="-122"/>
                <a:sym typeface="+mn-ea"/>
              </a:rPr>
              <a:t>也称为纠删码。</a:t>
            </a:r>
            <a:endParaRPr lang="en-US" altLang="zh-CN" sz="2000" dirty="0">
              <a:latin typeface="Times New Roman" panose="02020603050405020304" pitchFamily="18" charset="0"/>
              <a:ea typeface="黑体" panose="02010609060101010101" pitchFamily="49" charset="-122"/>
              <a:sym typeface="+mn-ea"/>
            </a:endParaRPr>
          </a:p>
          <a:p>
            <a:pPr algn="just">
              <a:lnSpc>
                <a:spcPts val="3200"/>
              </a:lnSpc>
            </a:pPr>
            <a:r>
              <a:rPr lang="en-US" altLang="zh-CN" sz="2000" dirty="0">
                <a:latin typeface="Times New Roman" panose="02020603050405020304" pitchFamily="18" charset="0"/>
                <a:ea typeface="黑体" panose="02010609060101010101" pitchFamily="49" charset="-122"/>
                <a:sym typeface="+mn-ea"/>
              </a:rPr>
              <a:t>        </a:t>
            </a:r>
            <a:r>
              <a:rPr lang="zh-CN" altLang="en-US" sz="2000" dirty="0">
                <a:solidFill>
                  <a:schemeClr val="accent2"/>
                </a:solidFill>
                <a:latin typeface="Times New Roman" panose="02020603050405020304" pitchFamily="18" charset="0"/>
                <a:ea typeface="黑体" panose="02010609060101010101" pitchFamily="49" charset="-122"/>
                <a:sym typeface="+mn-ea"/>
              </a:rPr>
              <a:t>这种技术可以将原始数据中丢失的</a:t>
            </a:r>
            <a:r>
              <a:rPr lang="en-US" altLang="zh-CN" sz="2000" dirty="0">
                <a:solidFill>
                  <a:schemeClr val="accent2"/>
                </a:solidFill>
                <a:latin typeface="Times New Roman" panose="02020603050405020304" pitchFamily="18" charset="0"/>
                <a:ea typeface="黑体" panose="02010609060101010101" pitchFamily="49" charset="-122"/>
                <a:sym typeface="+mn-ea"/>
              </a:rPr>
              <a:t>k</a:t>
            </a:r>
            <a:r>
              <a:rPr lang="zh-CN" altLang="en-US" sz="2000" dirty="0">
                <a:solidFill>
                  <a:schemeClr val="accent2"/>
                </a:solidFill>
                <a:latin typeface="Times New Roman" panose="02020603050405020304" pitchFamily="18" charset="0"/>
                <a:ea typeface="黑体" panose="02010609060101010101" pitchFamily="49" charset="-122"/>
                <a:sym typeface="+mn-ea"/>
              </a:rPr>
              <a:t>字节数据从</a:t>
            </a:r>
            <a:r>
              <a:rPr lang="en-US" altLang="zh-CN" sz="2000" dirty="0">
                <a:solidFill>
                  <a:schemeClr val="accent2"/>
                </a:solidFill>
                <a:latin typeface="Times New Roman" panose="02020603050405020304" pitchFamily="18" charset="0"/>
                <a:ea typeface="黑体" panose="02010609060101010101" pitchFamily="49" charset="-122"/>
                <a:sym typeface="+mn-ea"/>
              </a:rPr>
              <a:t>n</a:t>
            </a:r>
            <a:r>
              <a:rPr lang="zh-CN" altLang="en-US" sz="2000" dirty="0">
                <a:solidFill>
                  <a:schemeClr val="accent2"/>
                </a:solidFill>
                <a:latin typeface="Times New Roman" panose="02020603050405020304" pitchFamily="18" charset="0"/>
                <a:ea typeface="黑体" panose="02010609060101010101" pitchFamily="49" charset="-122"/>
                <a:sym typeface="+mn-ea"/>
              </a:rPr>
              <a:t>个含编码字节的信息中恢复。</a:t>
            </a:r>
            <a:endParaRPr lang="en-US" altLang="zh-CN" sz="2000" dirty="0">
              <a:solidFill>
                <a:schemeClr val="accent2"/>
              </a:solidFill>
              <a:latin typeface="Times New Roman" panose="02020603050405020304" pitchFamily="18" charset="0"/>
              <a:ea typeface="黑体" panose="02010609060101010101" pitchFamily="49" charset="-122"/>
              <a:sym typeface="+mn-ea"/>
            </a:endParaRPr>
          </a:p>
        </p:txBody>
      </p:sp>
      <p:sp>
        <p:nvSpPr>
          <p:cNvPr id="6" name="箭头: 下 5"/>
          <p:cNvSpPr/>
          <p:nvPr/>
        </p:nvSpPr>
        <p:spPr>
          <a:xfrm>
            <a:off x="4195504" y="3314701"/>
            <a:ext cx="488827" cy="1088827"/>
          </a:xfrm>
          <a:prstGeom prst="down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纠删码技术的由来</a:t>
            </a:r>
            <a:endParaRPr lang="zh-CN" altLang="en-US" sz="2400" dirty="0">
              <a:sym typeface="+mn-ea"/>
            </a:endParaRPr>
          </a:p>
        </p:txBody>
      </p:sp>
      <p:grpSp>
        <p:nvGrpSpPr>
          <p:cNvPr id="4" name="组合 3"/>
          <p:cNvGrpSpPr/>
          <p:nvPr/>
        </p:nvGrpSpPr>
        <p:grpSpPr>
          <a:xfrm>
            <a:off x="3570659" y="3448433"/>
            <a:ext cx="5573341" cy="3404102"/>
            <a:chOff x="883826" y="560423"/>
            <a:chExt cx="10345479" cy="6318843"/>
          </a:xfrm>
        </p:grpSpPr>
        <p:sp>
          <p:nvSpPr>
            <p:cNvPr id="18" name="Oval Callout 26"/>
            <p:cNvSpPr/>
            <p:nvPr/>
          </p:nvSpPr>
          <p:spPr>
            <a:xfrm>
              <a:off x="7457819" y="3213374"/>
              <a:ext cx="1736840" cy="1703618"/>
            </a:xfrm>
            <a:prstGeom prst="wedgeEllipseCallout">
              <a:avLst>
                <a:gd name="adj1" fmla="val -5527"/>
                <a:gd name="adj2" fmla="val 67378"/>
              </a:avLst>
            </a:prstGeom>
            <a:solidFill>
              <a:srgbClr val="01010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19" name="Oval Callout 27"/>
            <p:cNvSpPr/>
            <p:nvPr/>
          </p:nvSpPr>
          <p:spPr>
            <a:xfrm>
              <a:off x="4863405" y="2162212"/>
              <a:ext cx="1736840" cy="1703618"/>
            </a:xfrm>
            <a:prstGeom prst="wedgeEllipseCallout">
              <a:avLst>
                <a:gd name="adj1" fmla="val -5527"/>
                <a:gd name="adj2" fmla="val 67378"/>
              </a:avLst>
            </a:prstGeom>
            <a:solidFill>
              <a:srgbClr val="01010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20" name="Oval Callout 28"/>
            <p:cNvSpPr/>
            <p:nvPr/>
          </p:nvSpPr>
          <p:spPr>
            <a:xfrm>
              <a:off x="6985062" y="745077"/>
              <a:ext cx="1510276" cy="1481388"/>
            </a:xfrm>
            <a:prstGeom prst="wedgeEllipseCallout">
              <a:avLst>
                <a:gd name="adj1" fmla="val -5527"/>
                <a:gd name="adj2" fmla="val 67378"/>
              </a:avLst>
            </a:prstGeom>
            <a:solidFill>
              <a:srgbClr val="01010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21" name="Oval Callout 29"/>
            <p:cNvSpPr/>
            <p:nvPr/>
          </p:nvSpPr>
          <p:spPr>
            <a:xfrm>
              <a:off x="9194659" y="612696"/>
              <a:ext cx="1181244" cy="1158650"/>
            </a:xfrm>
            <a:prstGeom prst="wedgeEllipseCallout">
              <a:avLst>
                <a:gd name="adj1" fmla="val -5527"/>
                <a:gd name="adj2" fmla="val 67378"/>
              </a:avLst>
            </a:prstGeom>
            <a:solidFill>
              <a:srgbClr val="01010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grpSp>
          <p:nvGrpSpPr>
            <p:cNvPr id="22" name="Group 25"/>
            <p:cNvGrpSpPr/>
            <p:nvPr/>
          </p:nvGrpSpPr>
          <p:grpSpPr>
            <a:xfrm>
              <a:off x="883826" y="1785577"/>
              <a:ext cx="10345479" cy="5093689"/>
              <a:chOff x="1881961" y="978195"/>
              <a:chExt cx="10345479" cy="5901071"/>
            </a:xfrm>
          </p:grpSpPr>
          <p:sp>
            <p:nvSpPr>
              <p:cNvPr id="23" name="Shape 6"/>
              <p:cNvSpPr/>
              <p:nvPr/>
            </p:nvSpPr>
            <p:spPr>
              <a:xfrm>
                <a:off x="1881961" y="978195"/>
                <a:ext cx="10342564" cy="589690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527"/>
                    </a:lnTo>
                    <a:cubicBezTo>
                      <a:pt x="17455" y="721"/>
                      <a:pt x="14337" y="2052"/>
                      <a:pt x="14423" y="2967"/>
                    </a:cubicBezTo>
                    <a:cubicBezTo>
                      <a:pt x="14508" y="3882"/>
                      <a:pt x="16650" y="5157"/>
                      <a:pt x="16547" y="6932"/>
                    </a:cubicBezTo>
                    <a:cubicBezTo>
                      <a:pt x="16444" y="8707"/>
                      <a:pt x="14800" y="9002"/>
                      <a:pt x="13172" y="8868"/>
                    </a:cubicBezTo>
                    <a:cubicBezTo>
                      <a:pt x="11545" y="8734"/>
                      <a:pt x="10877" y="9039"/>
                      <a:pt x="10877" y="9511"/>
                    </a:cubicBezTo>
                    <a:cubicBezTo>
                      <a:pt x="10877" y="9982"/>
                      <a:pt x="13001" y="10620"/>
                      <a:pt x="15245" y="11008"/>
                    </a:cubicBezTo>
                    <a:cubicBezTo>
                      <a:pt x="17489" y="11396"/>
                      <a:pt x="17455" y="14280"/>
                      <a:pt x="15433" y="15444"/>
                    </a:cubicBezTo>
                    <a:cubicBezTo>
                      <a:pt x="13412" y="16609"/>
                      <a:pt x="6869" y="18318"/>
                      <a:pt x="4282" y="21600"/>
                    </a:cubicBezTo>
                    <a:lnTo>
                      <a:pt x="0" y="21600"/>
                    </a:lnTo>
                    <a:cubicBezTo>
                      <a:pt x="1867" y="17208"/>
                      <a:pt x="6184" y="15722"/>
                      <a:pt x="9644" y="15056"/>
                    </a:cubicBezTo>
                    <a:cubicBezTo>
                      <a:pt x="13104" y="14391"/>
                      <a:pt x="14971" y="13753"/>
                      <a:pt x="14680" y="13143"/>
                    </a:cubicBezTo>
                    <a:cubicBezTo>
                      <a:pt x="14389" y="12533"/>
                      <a:pt x="9457" y="12470"/>
                      <a:pt x="9115" y="10196"/>
                    </a:cubicBezTo>
                    <a:cubicBezTo>
                      <a:pt x="8752" y="7787"/>
                      <a:pt x="10861" y="6973"/>
                      <a:pt x="12659" y="7232"/>
                    </a:cubicBezTo>
                    <a:cubicBezTo>
                      <a:pt x="14356" y="7476"/>
                      <a:pt x="15742" y="7292"/>
                      <a:pt x="15314" y="6377"/>
                    </a:cubicBezTo>
                    <a:cubicBezTo>
                      <a:pt x="14885" y="5462"/>
                      <a:pt x="13118" y="3639"/>
                      <a:pt x="13668" y="2443"/>
                    </a:cubicBezTo>
                    <a:cubicBezTo>
                      <a:pt x="14217" y="1248"/>
                      <a:pt x="16633" y="0"/>
                      <a:pt x="21600" y="0"/>
                    </a:cubicBezTo>
                    <a:close/>
                  </a:path>
                </a:pathLst>
              </a:custGeom>
              <a:gradFill>
                <a:gsLst>
                  <a:gs pos="87000">
                    <a:schemeClr val="tx1">
                      <a:alpha val="40000"/>
                    </a:schemeClr>
                  </a:gs>
                  <a:gs pos="36000">
                    <a:schemeClr val="bg2">
                      <a:alpha val="15000"/>
                    </a:schemeClr>
                  </a:gs>
                </a:gsLst>
                <a:lin ang="0" scaled="0"/>
              </a:gra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cs typeface="+mn-ea"/>
                  <a:sym typeface="+mn-lt"/>
                </a:endParaRPr>
              </a:p>
            </p:txBody>
          </p:sp>
          <p:sp>
            <p:nvSpPr>
              <p:cNvPr id="24" name="Shape 7"/>
              <p:cNvSpPr/>
              <p:nvPr/>
            </p:nvSpPr>
            <p:spPr>
              <a:xfrm>
                <a:off x="2847500" y="1026110"/>
                <a:ext cx="9379940" cy="5853156"/>
              </a:xfrm>
              <a:custGeom>
                <a:avLst/>
                <a:gdLst/>
                <a:ahLst/>
                <a:cxnLst>
                  <a:cxn ang="0">
                    <a:pos x="wd2" y="hd2"/>
                  </a:cxn>
                  <a:cxn ang="5400000">
                    <a:pos x="wd2" y="hd2"/>
                  </a:cxn>
                  <a:cxn ang="10800000">
                    <a:pos x="wd2" y="hd2"/>
                  </a:cxn>
                  <a:cxn ang="16200000">
                    <a:pos x="wd2" y="hd2"/>
                  </a:cxn>
                </a:cxnLst>
                <a:rect l="0" t="0" r="r" b="b"/>
                <a:pathLst>
                  <a:path w="21600" h="21599" extrusionOk="0">
                    <a:moveTo>
                      <a:pt x="21101" y="1"/>
                    </a:moveTo>
                    <a:cubicBezTo>
                      <a:pt x="20976" y="-1"/>
                      <a:pt x="20843" y="0"/>
                      <a:pt x="20704" y="3"/>
                    </a:cubicBezTo>
                    <a:lnTo>
                      <a:pt x="20706" y="129"/>
                    </a:lnTo>
                    <a:cubicBezTo>
                      <a:pt x="20844" y="126"/>
                      <a:pt x="20976" y="125"/>
                      <a:pt x="21100" y="127"/>
                    </a:cubicBezTo>
                    <a:lnTo>
                      <a:pt x="21101" y="1"/>
                    </a:lnTo>
                    <a:close/>
                    <a:moveTo>
                      <a:pt x="20431" y="35"/>
                    </a:moveTo>
                    <a:cubicBezTo>
                      <a:pt x="20303" y="41"/>
                      <a:pt x="20171" y="49"/>
                      <a:pt x="20035" y="59"/>
                    </a:cubicBezTo>
                    <a:lnTo>
                      <a:pt x="20039" y="184"/>
                    </a:lnTo>
                    <a:cubicBezTo>
                      <a:pt x="20175" y="175"/>
                      <a:pt x="20306" y="167"/>
                      <a:pt x="20434" y="161"/>
                    </a:cubicBezTo>
                    <a:lnTo>
                      <a:pt x="20431" y="35"/>
                    </a:lnTo>
                    <a:close/>
                    <a:moveTo>
                      <a:pt x="21401" y="35"/>
                    </a:moveTo>
                    <a:lnTo>
                      <a:pt x="21398" y="161"/>
                    </a:lnTo>
                    <a:cubicBezTo>
                      <a:pt x="21466" y="165"/>
                      <a:pt x="21532" y="170"/>
                      <a:pt x="21594" y="176"/>
                    </a:cubicBezTo>
                    <a:lnTo>
                      <a:pt x="21600" y="50"/>
                    </a:lnTo>
                    <a:cubicBezTo>
                      <a:pt x="21537" y="44"/>
                      <a:pt x="21470" y="39"/>
                      <a:pt x="21401" y="35"/>
                    </a:cubicBezTo>
                    <a:close/>
                    <a:moveTo>
                      <a:pt x="19761" y="71"/>
                    </a:moveTo>
                    <a:cubicBezTo>
                      <a:pt x="19631" y="82"/>
                      <a:pt x="19499" y="95"/>
                      <a:pt x="19365" y="109"/>
                    </a:cubicBezTo>
                    <a:lnTo>
                      <a:pt x="19371" y="235"/>
                    </a:lnTo>
                    <a:cubicBezTo>
                      <a:pt x="19505" y="221"/>
                      <a:pt x="19637" y="208"/>
                      <a:pt x="19766" y="197"/>
                    </a:cubicBezTo>
                    <a:lnTo>
                      <a:pt x="19761" y="71"/>
                    </a:lnTo>
                    <a:close/>
                    <a:moveTo>
                      <a:pt x="19067" y="141"/>
                    </a:moveTo>
                    <a:cubicBezTo>
                      <a:pt x="18936" y="157"/>
                      <a:pt x="18805" y="174"/>
                      <a:pt x="18672" y="193"/>
                    </a:cubicBezTo>
                    <a:lnTo>
                      <a:pt x="18680" y="318"/>
                    </a:lnTo>
                    <a:cubicBezTo>
                      <a:pt x="18813" y="299"/>
                      <a:pt x="18943" y="282"/>
                      <a:pt x="19073" y="266"/>
                    </a:cubicBezTo>
                    <a:lnTo>
                      <a:pt x="19067" y="141"/>
                    </a:lnTo>
                    <a:close/>
                    <a:moveTo>
                      <a:pt x="18396" y="247"/>
                    </a:moveTo>
                    <a:cubicBezTo>
                      <a:pt x="18266" y="268"/>
                      <a:pt x="18134" y="289"/>
                      <a:pt x="18003" y="312"/>
                    </a:cubicBezTo>
                    <a:lnTo>
                      <a:pt x="18012" y="436"/>
                    </a:lnTo>
                    <a:cubicBezTo>
                      <a:pt x="18144" y="414"/>
                      <a:pt x="18275" y="392"/>
                      <a:pt x="18405" y="372"/>
                    </a:cubicBezTo>
                    <a:lnTo>
                      <a:pt x="18396" y="247"/>
                    </a:lnTo>
                    <a:close/>
                    <a:moveTo>
                      <a:pt x="17726" y="354"/>
                    </a:moveTo>
                    <a:cubicBezTo>
                      <a:pt x="17595" y="378"/>
                      <a:pt x="17464" y="404"/>
                      <a:pt x="17333" y="431"/>
                    </a:cubicBezTo>
                    <a:lnTo>
                      <a:pt x="17345" y="556"/>
                    </a:lnTo>
                    <a:cubicBezTo>
                      <a:pt x="17476" y="529"/>
                      <a:pt x="17607" y="503"/>
                      <a:pt x="17737" y="478"/>
                    </a:cubicBezTo>
                    <a:lnTo>
                      <a:pt x="17726" y="354"/>
                    </a:lnTo>
                    <a:close/>
                    <a:moveTo>
                      <a:pt x="17055" y="495"/>
                    </a:moveTo>
                    <a:cubicBezTo>
                      <a:pt x="16924" y="524"/>
                      <a:pt x="16793" y="554"/>
                      <a:pt x="16664" y="586"/>
                    </a:cubicBezTo>
                    <a:lnTo>
                      <a:pt x="16678" y="710"/>
                    </a:lnTo>
                    <a:cubicBezTo>
                      <a:pt x="16807" y="679"/>
                      <a:pt x="16937" y="649"/>
                      <a:pt x="17068" y="620"/>
                    </a:cubicBezTo>
                    <a:lnTo>
                      <a:pt x="17055" y="495"/>
                    </a:lnTo>
                    <a:close/>
                    <a:moveTo>
                      <a:pt x="16384" y="672"/>
                    </a:moveTo>
                    <a:cubicBezTo>
                      <a:pt x="16252" y="706"/>
                      <a:pt x="16122" y="742"/>
                      <a:pt x="15994" y="779"/>
                    </a:cubicBezTo>
                    <a:lnTo>
                      <a:pt x="16011" y="903"/>
                    </a:lnTo>
                    <a:cubicBezTo>
                      <a:pt x="16138" y="866"/>
                      <a:pt x="16267" y="830"/>
                      <a:pt x="16399" y="796"/>
                    </a:cubicBezTo>
                    <a:lnTo>
                      <a:pt x="16384" y="672"/>
                    </a:lnTo>
                    <a:close/>
                    <a:moveTo>
                      <a:pt x="15712" y="849"/>
                    </a:moveTo>
                    <a:cubicBezTo>
                      <a:pt x="15580" y="890"/>
                      <a:pt x="15451" y="933"/>
                      <a:pt x="15325" y="977"/>
                    </a:cubicBezTo>
                    <a:lnTo>
                      <a:pt x="15344" y="1099"/>
                    </a:lnTo>
                    <a:cubicBezTo>
                      <a:pt x="15469" y="1056"/>
                      <a:pt x="15598" y="1012"/>
                      <a:pt x="15730" y="971"/>
                    </a:cubicBezTo>
                    <a:lnTo>
                      <a:pt x="15712" y="849"/>
                    </a:lnTo>
                    <a:close/>
                    <a:moveTo>
                      <a:pt x="15062" y="1061"/>
                    </a:moveTo>
                    <a:cubicBezTo>
                      <a:pt x="14928" y="1112"/>
                      <a:pt x="14800" y="1165"/>
                      <a:pt x="14679" y="1219"/>
                    </a:cubicBezTo>
                    <a:lnTo>
                      <a:pt x="14704" y="1339"/>
                    </a:lnTo>
                    <a:cubicBezTo>
                      <a:pt x="14823" y="1286"/>
                      <a:pt x="14951" y="1233"/>
                      <a:pt x="15084" y="1182"/>
                    </a:cubicBezTo>
                    <a:lnTo>
                      <a:pt x="15062" y="1061"/>
                    </a:lnTo>
                    <a:close/>
                    <a:moveTo>
                      <a:pt x="14407" y="1344"/>
                    </a:moveTo>
                    <a:cubicBezTo>
                      <a:pt x="14272" y="1411"/>
                      <a:pt x="14147" y="1480"/>
                      <a:pt x="14034" y="1550"/>
                    </a:cubicBezTo>
                    <a:lnTo>
                      <a:pt x="14067" y="1666"/>
                    </a:lnTo>
                    <a:cubicBezTo>
                      <a:pt x="14178" y="1598"/>
                      <a:pt x="14301" y="1530"/>
                      <a:pt x="14434" y="1463"/>
                    </a:cubicBezTo>
                    <a:lnTo>
                      <a:pt x="14407" y="1344"/>
                    </a:lnTo>
                    <a:close/>
                    <a:moveTo>
                      <a:pt x="13775" y="1733"/>
                    </a:moveTo>
                    <a:cubicBezTo>
                      <a:pt x="13638" y="1838"/>
                      <a:pt x="13524" y="1947"/>
                      <a:pt x="13436" y="2056"/>
                    </a:cubicBezTo>
                    <a:lnTo>
                      <a:pt x="13491" y="2152"/>
                    </a:lnTo>
                    <a:cubicBezTo>
                      <a:pt x="13573" y="2049"/>
                      <a:pt x="13682" y="1945"/>
                      <a:pt x="13814" y="1844"/>
                    </a:cubicBezTo>
                    <a:lnTo>
                      <a:pt x="13775" y="1733"/>
                    </a:lnTo>
                    <a:close/>
                    <a:moveTo>
                      <a:pt x="13240" y="2404"/>
                    </a:moveTo>
                    <a:cubicBezTo>
                      <a:pt x="13212" y="2490"/>
                      <a:pt x="13197" y="2577"/>
                      <a:pt x="13197" y="2664"/>
                    </a:cubicBezTo>
                    <a:cubicBezTo>
                      <a:pt x="13197" y="2694"/>
                      <a:pt x="13199" y="2723"/>
                      <a:pt x="13202" y="2754"/>
                    </a:cubicBezTo>
                    <a:cubicBezTo>
                      <a:pt x="13212" y="2842"/>
                      <a:pt x="13226" y="2930"/>
                      <a:pt x="13246" y="3014"/>
                    </a:cubicBezTo>
                    <a:lnTo>
                      <a:pt x="13326" y="2973"/>
                    </a:lnTo>
                    <a:cubicBezTo>
                      <a:pt x="13309" y="2895"/>
                      <a:pt x="13295" y="2815"/>
                      <a:pt x="13286" y="2734"/>
                    </a:cubicBezTo>
                    <a:cubicBezTo>
                      <a:pt x="13283" y="2710"/>
                      <a:pt x="13282" y="2687"/>
                      <a:pt x="13282" y="2664"/>
                    </a:cubicBezTo>
                    <a:cubicBezTo>
                      <a:pt x="13282" y="2596"/>
                      <a:pt x="13294" y="2528"/>
                      <a:pt x="13316" y="2460"/>
                    </a:cubicBezTo>
                    <a:lnTo>
                      <a:pt x="13240" y="2404"/>
                    </a:lnTo>
                    <a:close/>
                    <a:moveTo>
                      <a:pt x="13436" y="3324"/>
                    </a:moveTo>
                    <a:lnTo>
                      <a:pt x="13364" y="3392"/>
                    </a:lnTo>
                    <a:cubicBezTo>
                      <a:pt x="13432" y="3547"/>
                      <a:pt x="13518" y="3696"/>
                      <a:pt x="13626" y="3847"/>
                    </a:cubicBezTo>
                    <a:lnTo>
                      <a:pt x="13684" y="3756"/>
                    </a:lnTo>
                    <a:cubicBezTo>
                      <a:pt x="13581" y="3611"/>
                      <a:pt x="13500" y="3470"/>
                      <a:pt x="13436" y="3324"/>
                    </a:cubicBezTo>
                    <a:close/>
                    <a:moveTo>
                      <a:pt x="13895" y="4031"/>
                    </a:moveTo>
                    <a:lnTo>
                      <a:pt x="13843" y="4130"/>
                    </a:lnTo>
                    <a:cubicBezTo>
                      <a:pt x="13952" y="4255"/>
                      <a:pt x="14067" y="4374"/>
                      <a:pt x="14166" y="4473"/>
                    </a:cubicBezTo>
                    <a:cubicBezTo>
                      <a:pt x="14166" y="4473"/>
                      <a:pt x="14214" y="4369"/>
                      <a:pt x="14214" y="4369"/>
                    </a:cubicBezTo>
                    <a:cubicBezTo>
                      <a:pt x="14116" y="4271"/>
                      <a:pt x="14002" y="4154"/>
                      <a:pt x="13895" y="4031"/>
                    </a:cubicBezTo>
                    <a:close/>
                    <a:moveTo>
                      <a:pt x="14464" y="4597"/>
                    </a:moveTo>
                    <a:lnTo>
                      <a:pt x="14416" y="4701"/>
                    </a:lnTo>
                    <a:cubicBezTo>
                      <a:pt x="14514" y="4799"/>
                      <a:pt x="14627" y="4917"/>
                      <a:pt x="14733" y="5042"/>
                    </a:cubicBezTo>
                    <a:lnTo>
                      <a:pt x="14786" y="4944"/>
                    </a:lnTo>
                    <a:cubicBezTo>
                      <a:pt x="14678" y="4816"/>
                      <a:pt x="14563" y="4696"/>
                      <a:pt x="14464" y="4597"/>
                    </a:cubicBezTo>
                    <a:close/>
                    <a:moveTo>
                      <a:pt x="15004" y="5233"/>
                    </a:moveTo>
                    <a:cubicBezTo>
                      <a:pt x="15004" y="5233"/>
                      <a:pt x="14942" y="5320"/>
                      <a:pt x="14942" y="5320"/>
                    </a:cubicBezTo>
                    <a:cubicBezTo>
                      <a:pt x="15041" y="5473"/>
                      <a:pt x="15112" y="5622"/>
                      <a:pt x="15158" y="5778"/>
                    </a:cubicBezTo>
                    <a:lnTo>
                      <a:pt x="15236" y="5727"/>
                    </a:lnTo>
                    <a:cubicBezTo>
                      <a:pt x="15186" y="5557"/>
                      <a:pt x="15109" y="5396"/>
                      <a:pt x="15004" y="5233"/>
                    </a:cubicBezTo>
                    <a:close/>
                    <a:moveTo>
                      <a:pt x="15294" y="6152"/>
                    </a:moveTo>
                    <a:lnTo>
                      <a:pt x="15210" y="6161"/>
                    </a:lnTo>
                    <a:cubicBezTo>
                      <a:pt x="15211" y="6190"/>
                      <a:pt x="15211" y="6219"/>
                      <a:pt x="15211" y="6249"/>
                    </a:cubicBezTo>
                    <a:cubicBezTo>
                      <a:pt x="15211" y="6356"/>
                      <a:pt x="15202" y="6470"/>
                      <a:pt x="15183" y="6586"/>
                    </a:cubicBezTo>
                    <a:cubicBezTo>
                      <a:pt x="15176" y="6628"/>
                      <a:pt x="15167" y="6669"/>
                      <a:pt x="15158" y="6709"/>
                    </a:cubicBezTo>
                    <a:lnTo>
                      <a:pt x="15238" y="6752"/>
                    </a:lnTo>
                    <a:cubicBezTo>
                      <a:pt x="15248" y="6708"/>
                      <a:pt x="15257" y="6663"/>
                      <a:pt x="15265" y="6615"/>
                    </a:cubicBezTo>
                    <a:cubicBezTo>
                      <a:pt x="15286" y="6490"/>
                      <a:pt x="15297" y="6366"/>
                      <a:pt x="15297" y="6249"/>
                    </a:cubicBezTo>
                    <a:cubicBezTo>
                      <a:pt x="15297" y="6216"/>
                      <a:pt x="15296" y="6184"/>
                      <a:pt x="15294" y="6152"/>
                    </a:cubicBezTo>
                    <a:close/>
                    <a:moveTo>
                      <a:pt x="15037" y="7036"/>
                    </a:moveTo>
                    <a:cubicBezTo>
                      <a:pt x="14965" y="7172"/>
                      <a:pt x="14868" y="7295"/>
                      <a:pt x="14751" y="7400"/>
                    </a:cubicBezTo>
                    <a:lnTo>
                      <a:pt x="14795" y="7507"/>
                    </a:lnTo>
                    <a:cubicBezTo>
                      <a:pt x="14921" y="7394"/>
                      <a:pt x="15025" y="7262"/>
                      <a:pt x="15104" y="7115"/>
                    </a:cubicBezTo>
                    <a:lnTo>
                      <a:pt x="15037" y="7036"/>
                    </a:lnTo>
                    <a:close/>
                    <a:moveTo>
                      <a:pt x="14500" y="7602"/>
                    </a:moveTo>
                    <a:cubicBezTo>
                      <a:pt x="14390" y="7668"/>
                      <a:pt x="14265" y="7726"/>
                      <a:pt x="14130" y="7775"/>
                    </a:cubicBezTo>
                    <a:lnTo>
                      <a:pt x="14150" y="7897"/>
                    </a:lnTo>
                    <a:cubicBezTo>
                      <a:pt x="14290" y="7847"/>
                      <a:pt x="14418" y="7786"/>
                      <a:pt x="14531" y="7718"/>
                    </a:cubicBezTo>
                    <a:cubicBezTo>
                      <a:pt x="14531" y="7718"/>
                      <a:pt x="14500" y="7602"/>
                      <a:pt x="14500" y="7602"/>
                    </a:cubicBezTo>
                    <a:close/>
                    <a:moveTo>
                      <a:pt x="10089" y="7821"/>
                    </a:moveTo>
                    <a:lnTo>
                      <a:pt x="10094" y="7946"/>
                    </a:lnTo>
                    <a:cubicBezTo>
                      <a:pt x="10204" y="7937"/>
                      <a:pt x="10320" y="7938"/>
                      <a:pt x="10440" y="7949"/>
                    </a:cubicBezTo>
                    <a:lnTo>
                      <a:pt x="10484" y="7954"/>
                    </a:lnTo>
                    <a:lnTo>
                      <a:pt x="10489" y="7828"/>
                    </a:lnTo>
                    <a:lnTo>
                      <a:pt x="10445" y="7824"/>
                    </a:lnTo>
                    <a:cubicBezTo>
                      <a:pt x="10322" y="7813"/>
                      <a:pt x="10203" y="7812"/>
                      <a:pt x="10089" y="7821"/>
                    </a:cubicBezTo>
                    <a:close/>
                    <a:moveTo>
                      <a:pt x="10765" y="7850"/>
                    </a:moveTo>
                    <a:lnTo>
                      <a:pt x="10759" y="7975"/>
                    </a:lnTo>
                    <a:lnTo>
                      <a:pt x="10784" y="7978"/>
                    </a:lnTo>
                    <a:cubicBezTo>
                      <a:pt x="10904" y="7990"/>
                      <a:pt x="11028" y="8002"/>
                      <a:pt x="11153" y="8013"/>
                    </a:cubicBezTo>
                    <a:lnTo>
                      <a:pt x="11158" y="7887"/>
                    </a:lnTo>
                    <a:cubicBezTo>
                      <a:pt x="11033" y="7876"/>
                      <a:pt x="10910" y="7864"/>
                      <a:pt x="10790" y="7852"/>
                    </a:cubicBezTo>
                    <a:lnTo>
                      <a:pt x="10765" y="7850"/>
                    </a:lnTo>
                    <a:close/>
                    <a:moveTo>
                      <a:pt x="13849" y="7850"/>
                    </a:moveTo>
                    <a:cubicBezTo>
                      <a:pt x="13728" y="7880"/>
                      <a:pt x="13597" y="7905"/>
                      <a:pt x="13460" y="7925"/>
                    </a:cubicBezTo>
                    <a:cubicBezTo>
                      <a:pt x="13460" y="7925"/>
                      <a:pt x="13468" y="8050"/>
                      <a:pt x="13468" y="8050"/>
                    </a:cubicBezTo>
                    <a:cubicBezTo>
                      <a:pt x="13608" y="8030"/>
                      <a:pt x="13740" y="8004"/>
                      <a:pt x="13863" y="7973"/>
                    </a:cubicBezTo>
                    <a:lnTo>
                      <a:pt x="13849" y="7850"/>
                    </a:lnTo>
                    <a:close/>
                    <a:moveTo>
                      <a:pt x="9810" y="7885"/>
                    </a:moveTo>
                    <a:cubicBezTo>
                      <a:pt x="9673" y="7918"/>
                      <a:pt x="9542" y="7967"/>
                      <a:pt x="9420" y="8030"/>
                    </a:cubicBezTo>
                    <a:lnTo>
                      <a:pt x="9448" y="8149"/>
                    </a:lnTo>
                    <a:cubicBezTo>
                      <a:pt x="9565" y="8088"/>
                      <a:pt x="9691" y="8041"/>
                      <a:pt x="9823" y="8009"/>
                    </a:cubicBezTo>
                    <a:lnTo>
                      <a:pt x="9810" y="7885"/>
                    </a:lnTo>
                    <a:close/>
                    <a:moveTo>
                      <a:pt x="11432" y="7920"/>
                    </a:moveTo>
                    <a:lnTo>
                      <a:pt x="11428" y="8046"/>
                    </a:lnTo>
                    <a:cubicBezTo>
                      <a:pt x="11558" y="8057"/>
                      <a:pt x="11691" y="8067"/>
                      <a:pt x="11823" y="8075"/>
                    </a:cubicBezTo>
                    <a:cubicBezTo>
                      <a:pt x="11823" y="8075"/>
                      <a:pt x="11827" y="7949"/>
                      <a:pt x="11827" y="7949"/>
                    </a:cubicBezTo>
                    <a:cubicBezTo>
                      <a:pt x="11695" y="7941"/>
                      <a:pt x="11563" y="7931"/>
                      <a:pt x="11432" y="7920"/>
                    </a:cubicBezTo>
                    <a:close/>
                    <a:moveTo>
                      <a:pt x="12124" y="7956"/>
                    </a:moveTo>
                    <a:lnTo>
                      <a:pt x="12121" y="8082"/>
                    </a:lnTo>
                    <a:cubicBezTo>
                      <a:pt x="12254" y="8087"/>
                      <a:pt x="12386" y="8091"/>
                      <a:pt x="12517" y="8092"/>
                    </a:cubicBezTo>
                    <a:cubicBezTo>
                      <a:pt x="12517" y="8092"/>
                      <a:pt x="12517" y="7966"/>
                      <a:pt x="12517" y="7966"/>
                    </a:cubicBezTo>
                    <a:cubicBezTo>
                      <a:pt x="12387" y="7965"/>
                      <a:pt x="12255" y="7961"/>
                      <a:pt x="12124" y="7956"/>
                    </a:cubicBezTo>
                    <a:close/>
                    <a:moveTo>
                      <a:pt x="13184" y="7956"/>
                    </a:moveTo>
                    <a:cubicBezTo>
                      <a:pt x="13059" y="7967"/>
                      <a:pt x="12927" y="7974"/>
                      <a:pt x="12791" y="7978"/>
                    </a:cubicBezTo>
                    <a:lnTo>
                      <a:pt x="12792" y="8103"/>
                    </a:lnTo>
                    <a:cubicBezTo>
                      <a:pt x="12930" y="8099"/>
                      <a:pt x="13064" y="8093"/>
                      <a:pt x="13189" y="8082"/>
                    </a:cubicBezTo>
                    <a:lnTo>
                      <a:pt x="13184" y="7956"/>
                    </a:lnTo>
                    <a:close/>
                    <a:moveTo>
                      <a:pt x="9148" y="8203"/>
                    </a:moveTo>
                    <a:cubicBezTo>
                      <a:pt x="9019" y="8306"/>
                      <a:pt x="8910" y="8427"/>
                      <a:pt x="8822" y="8562"/>
                    </a:cubicBezTo>
                    <a:lnTo>
                      <a:pt x="8883" y="8649"/>
                    </a:lnTo>
                    <a:cubicBezTo>
                      <a:pt x="8965" y="8523"/>
                      <a:pt x="9068" y="8411"/>
                      <a:pt x="9189" y="8314"/>
                    </a:cubicBezTo>
                    <a:lnTo>
                      <a:pt x="9148" y="8203"/>
                    </a:lnTo>
                    <a:close/>
                    <a:moveTo>
                      <a:pt x="8643" y="8911"/>
                    </a:moveTo>
                    <a:cubicBezTo>
                      <a:pt x="8604" y="9040"/>
                      <a:pt x="8583" y="9173"/>
                      <a:pt x="8583" y="9306"/>
                    </a:cubicBezTo>
                    <a:cubicBezTo>
                      <a:pt x="8583" y="9378"/>
                      <a:pt x="8589" y="9451"/>
                      <a:pt x="8601" y="9522"/>
                    </a:cubicBezTo>
                    <a:cubicBezTo>
                      <a:pt x="8601" y="9522"/>
                      <a:pt x="8683" y="9491"/>
                      <a:pt x="8683" y="9491"/>
                    </a:cubicBezTo>
                    <a:cubicBezTo>
                      <a:pt x="8673" y="9430"/>
                      <a:pt x="8668" y="9368"/>
                      <a:pt x="8668" y="9306"/>
                    </a:cubicBezTo>
                    <a:cubicBezTo>
                      <a:pt x="8668" y="9191"/>
                      <a:pt x="8686" y="9075"/>
                      <a:pt x="8720" y="8962"/>
                    </a:cubicBezTo>
                    <a:lnTo>
                      <a:pt x="8643" y="8911"/>
                    </a:lnTo>
                    <a:close/>
                    <a:moveTo>
                      <a:pt x="8818" y="9830"/>
                    </a:moveTo>
                    <a:lnTo>
                      <a:pt x="8750" y="9907"/>
                    </a:lnTo>
                    <a:cubicBezTo>
                      <a:pt x="8826" y="10051"/>
                      <a:pt x="8930" y="10183"/>
                      <a:pt x="9058" y="10302"/>
                    </a:cubicBezTo>
                    <a:lnTo>
                      <a:pt x="9103" y="10196"/>
                    </a:lnTo>
                    <a:cubicBezTo>
                      <a:pt x="8983" y="10085"/>
                      <a:pt x="8887" y="9962"/>
                      <a:pt x="8818" y="9830"/>
                    </a:cubicBezTo>
                    <a:close/>
                    <a:moveTo>
                      <a:pt x="9334" y="10396"/>
                    </a:moveTo>
                    <a:lnTo>
                      <a:pt x="9300" y="10511"/>
                    </a:lnTo>
                    <a:cubicBezTo>
                      <a:pt x="9409" y="10581"/>
                      <a:pt x="9531" y="10644"/>
                      <a:pt x="9662" y="10699"/>
                    </a:cubicBezTo>
                    <a:lnTo>
                      <a:pt x="9678" y="10706"/>
                    </a:lnTo>
                    <a:lnTo>
                      <a:pt x="9701" y="10586"/>
                    </a:lnTo>
                    <a:lnTo>
                      <a:pt x="9686" y="10579"/>
                    </a:lnTo>
                    <a:cubicBezTo>
                      <a:pt x="9558" y="10525"/>
                      <a:pt x="9439" y="10463"/>
                      <a:pt x="9334" y="10396"/>
                    </a:cubicBezTo>
                    <a:close/>
                    <a:moveTo>
                      <a:pt x="9989" y="10678"/>
                    </a:moveTo>
                    <a:cubicBezTo>
                      <a:pt x="9989" y="10678"/>
                      <a:pt x="9970" y="10801"/>
                      <a:pt x="9970" y="10801"/>
                    </a:cubicBezTo>
                    <a:cubicBezTo>
                      <a:pt x="10088" y="10842"/>
                      <a:pt x="10219" y="10882"/>
                      <a:pt x="10359" y="10922"/>
                    </a:cubicBezTo>
                    <a:lnTo>
                      <a:pt x="10375" y="10798"/>
                    </a:lnTo>
                    <a:cubicBezTo>
                      <a:pt x="10236" y="10759"/>
                      <a:pt x="10106" y="10719"/>
                      <a:pt x="9989" y="10678"/>
                    </a:cubicBezTo>
                    <a:close/>
                    <a:moveTo>
                      <a:pt x="10653" y="10891"/>
                    </a:moveTo>
                    <a:cubicBezTo>
                      <a:pt x="10653" y="10891"/>
                      <a:pt x="10639" y="11014"/>
                      <a:pt x="10639" y="11014"/>
                    </a:cubicBezTo>
                    <a:cubicBezTo>
                      <a:pt x="10766" y="11046"/>
                      <a:pt x="10897" y="11076"/>
                      <a:pt x="11030" y="11106"/>
                    </a:cubicBezTo>
                    <a:lnTo>
                      <a:pt x="11043" y="10982"/>
                    </a:lnTo>
                    <a:cubicBezTo>
                      <a:pt x="10910" y="10953"/>
                      <a:pt x="10780" y="10922"/>
                      <a:pt x="10653" y="10891"/>
                    </a:cubicBezTo>
                    <a:close/>
                    <a:moveTo>
                      <a:pt x="11320" y="11032"/>
                    </a:moveTo>
                    <a:cubicBezTo>
                      <a:pt x="11320" y="11032"/>
                      <a:pt x="11308" y="11157"/>
                      <a:pt x="11308" y="11157"/>
                    </a:cubicBezTo>
                    <a:cubicBezTo>
                      <a:pt x="11438" y="11184"/>
                      <a:pt x="11569" y="11209"/>
                      <a:pt x="11701" y="11235"/>
                    </a:cubicBezTo>
                    <a:lnTo>
                      <a:pt x="11712" y="11112"/>
                    </a:lnTo>
                    <a:cubicBezTo>
                      <a:pt x="11580" y="11086"/>
                      <a:pt x="11450" y="11059"/>
                      <a:pt x="11320" y="11032"/>
                    </a:cubicBezTo>
                    <a:close/>
                    <a:moveTo>
                      <a:pt x="11989" y="11174"/>
                    </a:moveTo>
                    <a:cubicBezTo>
                      <a:pt x="11989" y="11174"/>
                      <a:pt x="11978" y="11298"/>
                      <a:pt x="11978" y="11298"/>
                    </a:cubicBezTo>
                    <a:lnTo>
                      <a:pt x="12370" y="11375"/>
                    </a:lnTo>
                    <a:lnTo>
                      <a:pt x="12381" y="11251"/>
                    </a:lnTo>
                    <a:lnTo>
                      <a:pt x="11989" y="11174"/>
                    </a:lnTo>
                    <a:close/>
                    <a:moveTo>
                      <a:pt x="12659" y="11280"/>
                    </a:moveTo>
                    <a:lnTo>
                      <a:pt x="12647" y="11404"/>
                    </a:lnTo>
                    <a:cubicBezTo>
                      <a:pt x="12779" y="11431"/>
                      <a:pt x="12910" y="11459"/>
                      <a:pt x="13039" y="11487"/>
                    </a:cubicBezTo>
                    <a:lnTo>
                      <a:pt x="13051" y="11362"/>
                    </a:lnTo>
                    <a:cubicBezTo>
                      <a:pt x="12922" y="11334"/>
                      <a:pt x="12792" y="11307"/>
                      <a:pt x="12659" y="11280"/>
                    </a:cubicBezTo>
                    <a:close/>
                    <a:moveTo>
                      <a:pt x="13330" y="11456"/>
                    </a:moveTo>
                    <a:lnTo>
                      <a:pt x="13317" y="11580"/>
                    </a:lnTo>
                    <a:cubicBezTo>
                      <a:pt x="13450" y="11612"/>
                      <a:pt x="13580" y="11645"/>
                      <a:pt x="13705" y="11680"/>
                    </a:cubicBezTo>
                    <a:lnTo>
                      <a:pt x="13721" y="11556"/>
                    </a:lnTo>
                    <a:cubicBezTo>
                      <a:pt x="13595" y="11521"/>
                      <a:pt x="13464" y="11488"/>
                      <a:pt x="13330" y="11456"/>
                    </a:cubicBezTo>
                    <a:close/>
                    <a:moveTo>
                      <a:pt x="14004" y="11633"/>
                    </a:moveTo>
                    <a:cubicBezTo>
                      <a:pt x="14004" y="11633"/>
                      <a:pt x="13986" y="11756"/>
                      <a:pt x="13986" y="11756"/>
                    </a:cubicBezTo>
                    <a:cubicBezTo>
                      <a:pt x="14125" y="11800"/>
                      <a:pt x="14253" y="11846"/>
                      <a:pt x="14368" y="11893"/>
                    </a:cubicBezTo>
                    <a:lnTo>
                      <a:pt x="14391" y="11771"/>
                    </a:lnTo>
                    <a:cubicBezTo>
                      <a:pt x="14275" y="11724"/>
                      <a:pt x="14145" y="11678"/>
                      <a:pt x="14004" y="11633"/>
                    </a:cubicBezTo>
                    <a:close/>
                    <a:moveTo>
                      <a:pt x="14659" y="11881"/>
                    </a:moveTo>
                    <a:cubicBezTo>
                      <a:pt x="14659" y="11881"/>
                      <a:pt x="14632" y="11999"/>
                      <a:pt x="14632" y="11999"/>
                    </a:cubicBezTo>
                    <a:cubicBezTo>
                      <a:pt x="14772" y="12071"/>
                      <a:pt x="14890" y="12149"/>
                      <a:pt x="14985" y="12230"/>
                    </a:cubicBezTo>
                    <a:lnTo>
                      <a:pt x="15028" y="12122"/>
                    </a:lnTo>
                    <a:cubicBezTo>
                      <a:pt x="14928" y="12037"/>
                      <a:pt x="14804" y="11956"/>
                      <a:pt x="14659" y="11881"/>
                    </a:cubicBezTo>
                    <a:close/>
                    <a:moveTo>
                      <a:pt x="15246" y="12411"/>
                    </a:moveTo>
                    <a:cubicBezTo>
                      <a:pt x="15246" y="12411"/>
                      <a:pt x="15181" y="12494"/>
                      <a:pt x="15181" y="12494"/>
                    </a:cubicBezTo>
                    <a:cubicBezTo>
                      <a:pt x="15243" y="12600"/>
                      <a:pt x="15273" y="12709"/>
                      <a:pt x="15273" y="12830"/>
                    </a:cubicBezTo>
                    <a:cubicBezTo>
                      <a:pt x="15273" y="12874"/>
                      <a:pt x="15270" y="12921"/>
                      <a:pt x="15260" y="12976"/>
                    </a:cubicBezTo>
                    <a:lnTo>
                      <a:pt x="15343" y="13001"/>
                    </a:lnTo>
                    <a:cubicBezTo>
                      <a:pt x="15353" y="12943"/>
                      <a:pt x="15359" y="12885"/>
                      <a:pt x="15359" y="12830"/>
                    </a:cubicBezTo>
                    <a:cubicBezTo>
                      <a:pt x="15359" y="12680"/>
                      <a:pt x="15321" y="12539"/>
                      <a:pt x="15246" y="12411"/>
                    </a:cubicBezTo>
                    <a:close/>
                    <a:moveTo>
                      <a:pt x="15159" y="13295"/>
                    </a:moveTo>
                    <a:cubicBezTo>
                      <a:pt x="15095" y="13434"/>
                      <a:pt x="15006" y="13569"/>
                      <a:pt x="14895" y="13696"/>
                    </a:cubicBezTo>
                    <a:lnTo>
                      <a:pt x="14947" y="13796"/>
                    </a:lnTo>
                    <a:cubicBezTo>
                      <a:pt x="15065" y="13660"/>
                      <a:pt x="15160" y="13515"/>
                      <a:pt x="15229" y="13366"/>
                    </a:cubicBezTo>
                    <a:lnTo>
                      <a:pt x="15159" y="13295"/>
                    </a:lnTo>
                    <a:close/>
                    <a:moveTo>
                      <a:pt x="14668" y="13932"/>
                    </a:moveTo>
                    <a:cubicBezTo>
                      <a:pt x="14566" y="14020"/>
                      <a:pt x="14449" y="14109"/>
                      <a:pt x="14321" y="14193"/>
                    </a:cubicBezTo>
                    <a:lnTo>
                      <a:pt x="14355" y="14308"/>
                    </a:lnTo>
                    <a:cubicBezTo>
                      <a:pt x="14486" y="14222"/>
                      <a:pt x="14607" y="14131"/>
                      <a:pt x="14712" y="14040"/>
                    </a:cubicBezTo>
                    <a:lnTo>
                      <a:pt x="14668" y="13932"/>
                    </a:lnTo>
                    <a:close/>
                    <a:moveTo>
                      <a:pt x="14070" y="14356"/>
                    </a:moveTo>
                    <a:cubicBezTo>
                      <a:pt x="13956" y="14420"/>
                      <a:pt x="13831" y="14485"/>
                      <a:pt x="13699" y="14548"/>
                    </a:cubicBezTo>
                    <a:lnTo>
                      <a:pt x="13725" y="14669"/>
                    </a:lnTo>
                    <a:cubicBezTo>
                      <a:pt x="13859" y="14605"/>
                      <a:pt x="13985" y="14538"/>
                      <a:pt x="14100" y="14473"/>
                    </a:cubicBezTo>
                    <a:lnTo>
                      <a:pt x="14070" y="14356"/>
                    </a:lnTo>
                    <a:close/>
                    <a:moveTo>
                      <a:pt x="13409" y="14674"/>
                    </a:moveTo>
                    <a:cubicBezTo>
                      <a:pt x="13288" y="14727"/>
                      <a:pt x="13161" y="14779"/>
                      <a:pt x="13030" y="14830"/>
                    </a:cubicBezTo>
                    <a:lnTo>
                      <a:pt x="13051" y="14951"/>
                    </a:lnTo>
                    <a:cubicBezTo>
                      <a:pt x="13184" y="14900"/>
                      <a:pt x="13311" y="14848"/>
                      <a:pt x="13433" y="14795"/>
                    </a:cubicBezTo>
                    <a:lnTo>
                      <a:pt x="13409" y="14674"/>
                    </a:lnTo>
                    <a:close/>
                    <a:moveTo>
                      <a:pt x="12768" y="14922"/>
                    </a:moveTo>
                    <a:cubicBezTo>
                      <a:pt x="12644" y="14967"/>
                      <a:pt x="12516" y="15011"/>
                      <a:pt x="12384" y="15055"/>
                    </a:cubicBezTo>
                    <a:lnTo>
                      <a:pt x="12403" y="15178"/>
                    </a:lnTo>
                    <a:cubicBezTo>
                      <a:pt x="12535" y="15133"/>
                      <a:pt x="12664" y="15090"/>
                      <a:pt x="12788" y="15044"/>
                    </a:cubicBezTo>
                    <a:lnTo>
                      <a:pt x="12768" y="14922"/>
                    </a:lnTo>
                    <a:close/>
                    <a:moveTo>
                      <a:pt x="12101" y="15169"/>
                    </a:moveTo>
                    <a:cubicBezTo>
                      <a:pt x="11976" y="15209"/>
                      <a:pt x="11846" y="15249"/>
                      <a:pt x="11715" y="15290"/>
                    </a:cubicBezTo>
                    <a:lnTo>
                      <a:pt x="11732" y="15413"/>
                    </a:lnTo>
                    <a:cubicBezTo>
                      <a:pt x="11864" y="15373"/>
                      <a:pt x="11993" y="15332"/>
                      <a:pt x="12119" y="15292"/>
                    </a:cubicBezTo>
                    <a:lnTo>
                      <a:pt x="12101" y="15169"/>
                    </a:lnTo>
                    <a:close/>
                    <a:moveTo>
                      <a:pt x="11456" y="15346"/>
                    </a:moveTo>
                    <a:cubicBezTo>
                      <a:pt x="11330" y="15383"/>
                      <a:pt x="11201" y="15421"/>
                      <a:pt x="11069" y="15459"/>
                    </a:cubicBezTo>
                    <a:lnTo>
                      <a:pt x="11085" y="15581"/>
                    </a:lnTo>
                    <a:cubicBezTo>
                      <a:pt x="11217" y="15544"/>
                      <a:pt x="11347" y="15507"/>
                      <a:pt x="11474" y="15470"/>
                    </a:cubicBezTo>
                    <a:lnTo>
                      <a:pt x="11456" y="15346"/>
                    </a:lnTo>
                    <a:close/>
                    <a:moveTo>
                      <a:pt x="10788" y="15558"/>
                    </a:moveTo>
                    <a:cubicBezTo>
                      <a:pt x="10661" y="15594"/>
                      <a:pt x="10531" y="15629"/>
                      <a:pt x="10400" y="15665"/>
                    </a:cubicBezTo>
                    <a:lnTo>
                      <a:pt x="10416" y="15789"/>
                    </a:lnTo>
                    <a:cubicBezTo>
                      <a:pt x="10547" y="15753"/>
                      <a:pt x="10677" y="15717"/>
                      <a:pt x="10804" y="15682"/>
                    </a:cubicBezTo>
                    <a:lnTo>
                      <a:pt x="10788" y="15558"/>
                    </a:lnTo>
                    <a:close/>
                    <a:moveTo>
                      <a:pt x="10119" y="15735"/>
                    </a:moveTo>
                    <a:cubicBezTo>
                      <a:pt x="10119" y="15735"/>
                      <a:pt x="9730" y="15840"/>
                      <a:pt x="9730" y="15840"/>
                    </a:cubicBezTo>
                    <a:lnTo>
                      <a:pt x="9745" y="15964"/>
                    </a:lnTo>
                    <a:lnTo>
                      <a:pt x="10135" y="15859"/>
                    </a:lnTo>
                    <a:lnTo>
                      <a:pt x="10119" y="15735"/>
                    </a:lnTo>
                    <a:close/>
                    <a:moveTo>
                      <a:pt x="9450" y="15912"/>
                    </a:moveTo>
                    <a:cubicBezTo>
                      <a:pt x="9450" y="15912"/>
                      <a:pt x="9061" y="16016"/>
                      <a:pt x="9061" y="16016"/>
                    </a:cubicBezTo>
                    <a:lnTo>
                      <a:pt x="9076" y="16139"/>
                    </a:lnTo>
                    <a:lnTo>
                      <a:pt x="9465" y="16035"/>
                    </a:lnTo>
                    <a:lnTo>
                      <a:pt x="9450" y="15912"/>
                    </a:lnTo>
                    <a:close/>
                    <a:moveTo>
                      <a:pt x="8780" y="16088"/>
                    </a:moveTo>
                    <a:cubicBezTo>
                      <a:pt x="8780" y="16088"/>
                      <a:pt x="8626" y="16130"/>
                      <a:pt x="8626" y="16130"/>
                    </a:cubicBezTo>
                    <a:cubicBezTo>
                      <a:pt x="8548" y="16151"/>
                      <a:pt x="8470" y="16172"/>
                      <a:pt x="8392" y="16193"/>
                    </a:cubicBezTo>
                    <a:lnTo>
                      <a:pt x="8407" y="16317"/>
                    </a:lnTo>
                    <a:cubicBezTo>
                      <a:pt x="8485" y="16296"/>
                      <a:pt x="8563" y="16275"/>
                      <a:pt x="8640" y="16254"/>
                    </a:cubicBezTo>
                    <a:lnTo>
                      <a:pt x="8795" y="16212"/>
                    </a:lnTo>
                    <a:lnTo>
                      <a:pt x="8780" y="16088"/>
                    </a:lnTo>
                    <a:close/>
                    <a:moveTo>
                      <a:pt x="8110" y="16265"/>
                    </a:moveTo>
                    <a:cubicBezTo>
                      <a:pt x="7981" y="16303"/>
                      <a:pt x="7851" y="16341"/>
                      <a:pt x="7722" y="16380"/>
                    </a:cubicBezTo>
                    <a:lnTo>
                      <a:pt x="7739" y="16503"/>
                    </a:lnTo>
                    <a:cubicBezTo>
                      <a:pt x="7868" y="16464"/>
                      <a:pt x="7997" y="16426"/>
                      <a:pt x="8126" y="16389"/>
                    </a:cubicBezTo>
                    <a:lnTo>
                      <a:pt x="8110" y="16265"/>
                    </a:lnTo>
                    <a:close/>
                    <a:moveTo>
                      <a:pt x="7464" y="16477"/>
                    </a:moveTo>
                    <a:cubicBezTo>
                      <a:pt x="7334" y="16518"/>
                      <a:pt x="7205" y="16561"/>
                      <a:pt x="7077" y="16603"/>
                    </a:cubicBezTo>
                    <a:lnTo>
                      <a:pt x="7095" y="16725"/>
                    </a:lnTo>
                    <a:cubicBezTo>
                      <a:pt x="7224" y="16682"/>
                      <a:pt x="7353" y="16641"/>
                      <a:pt x="7482" y="16600"/>
                    </a:cubicBezTo>
                    <a:lnTo>
                      <a:pt x="7464" y="16477"/>
                    </a:lnTo>
                    <a:close/>
                    <a:moveTo>
                      <a:pt x="6792" y="16690"/>
                    </a:moveTo>
                    <a:cubicBezTo>
                      <a:pt x="6663" y="16734"/>
                      <a:pt x="6535" y="16780"/>
                      <a:pt x="6407" y="16827"/>
                    </a:cubicBezTo>
                    <a:lnTo>
                      <a:pt x="6427" y="16948"/>
                    </a:lnTo>
                    <a:cubicBezTo>
                      <a:pt x="6555" y="16902"/>
                      <a:pt x="6683" y="16857"/>
                      <a:pt x="6811" y="16812"/>
                    </a:cubicBezTo>
                    <a:lnTo>
                      <a:pt x="6792" y="16690"/>
                    </a:lnTo>
                    <a:close/>
                    <a:moveTo>
                      <a:pt x="6120" y="16937"/>
                    </a:moveTo>
                    <a:cubicBezTo>
                      <a:pt x="5992" y="16986"/>
                      <a:pt x="5865" y="17035"/>
                      <a:pt x="5738" y="17085"/>
                    </a:cubicBezTo>
                    <a:lnTo>
                      <a:pt x="5760" y="17207"/>
                    </a:lnTo>
                    <a:cubicBezTo>
                      <a:pt x="5887" y="17156"/>
                      <a:pt x="6013" y="17107"/>
                      <a:pt x="6141" y="17059"/>
                    </a:cubicBezTo>
                    <a:lnTo>
                      <a:pt x="6120" y="16937"/>
                    </a:lnTo>
                    <a:close/>
                    <a:moveTo>
                      <a:pt x="5473" y="17185"/>
                    </a:moveTo>
                    <a:cubicBezTo>
                      <a:pt x="5345" y="17237"/>
                      <a:pt x="5218" y="17291"/>
                      <a:pt x="5092" y="17346"/>
                    </a:cubicBezTo>
                    <a:lnTo>
                      <a:pt x="5116" y="17467"/>
                    </a:lnTo>
                    <a:cubicBezTo>
                      <a:pt x="5242" y="17413"/>
                      <a:pt x="5368" y="17359"/>
                      <a:pt x="5496" y="17306"/>
                    </a:cubicBezTo>
                    <a:lnTo>
                      <a:pt x="5473" y="17185"/>
                    </a:lnTo>
                    <a:close/>
                    <a:moveTo>
                      <a:pt x="4824" y="17467"/>
                    </a:moveTo>
                    <a:cubicBezTo>
                      <a:pt x="4697" y="17525"/>
                      <a:pt x="4571" y="17584"/>
                      <a:pt x="4447" y="17644"/>
                    </a:cubicBezTo>
                    <a:lnTo>
                      <a:pt x="4473" y="17764"/>
                    </a:lnTo>
                    <a:cubicBezTo>
                      <a:pt x="4597" y="17704"/>
                      <a:pt x="4722" y="17646"/>
                      <a:pt x="4849" y="17588"/>
                    </a:cubicBezTo>
                    <a:lnTo>
                      <a:pt x="4824" y="17467"/>
                    </a:lnTo>
                    <a:close/>
                    <a:moveTo>
                      <a:pt x="4175" y="17786"/>
                    </a:moveTo>
                    <a:cubicBezTo>
                      <a:pt x="4049" y="17849"/>
                      <a:pt x="3924" y="17913"/>
                      <a:pt x="3801" y="17979"/>
                    </a:cubicBezTo>
                    <a:lnTo>
                      <a:pt x="3830" y="18097"/>
                    </a:lnTo>
                    <a:cubicBezTo>
                      <a:pt x="3953" y="18032"/>
                      <a:pt x="4077" y="17968"/>
                      <a:pt x="4203" y="17905"/>
                    </a:cubicBezTo>
                    <a:lnTo>
                      <a:pt x="4175" y="17786"/>
                    </a:lnTo>
                    <a:close/>
                    <a:moveTo>
                      <a:pt x="3549" y="18139"/>
                    </a:moveTo>
                    <a:cubicBezTo>
                      <a:pt x="3424" y="18209"/>
                      <a:pt x="3301" y="18280"/>
                      <a:pt x="3180" y="18353"/>
                    </a:cubicBezTo>
                    <a:lnTo>
                      <a:pt x="3212" y="18470"/>
                    </a:lnTo>
                    <a:cubicBezTo>
                      <a:pt x="3332" y="18398"/>
                      <a:pt x="3454" y="18326"/>
                      <a:pt x="3579" y="18256"/>
                    </a:cubicBezTo>
                    <a:lnTo>
                      <a:pt x="3549" y="18139"/>
                    </a:lnTo>
                    <a:close/>
                    <a:moveTo>
                      <a:pt x="2920" y="18493"/>
                    </a:moveTo>
                    <a:cubicBezTo>
                      <a:pt x="2797" y="18571"/>
                      <a:pt x="2676" y="18650"/>
                      <a:pt x="2558" y="18730"/>
                    </a:cubicBezTo>
                    <a:lnTo>
                      <a:pt x="2594" y="18844"/>
                    </a:lnTo>
                    <a:cubicBezTo>
                      <a:pt x="2711" y="18764"/>
                      <a:pt x="2831" y="18686"/>
                      <a:pt x="2954" y="18609"/>
                    </a:cubicBezTo>
                    <a:lnTo>
                      <a:pt x="2920" y="18493"/>
                    </a:lnTo>
                    <a:close/>
                    <a:moveTo>
                      <a:pt x="2290" y="18917"/>
                    </a:moveTo>
                    <a:cubicBezTo>
                      <a:pt x="2169" y="19005"/>
                      <a:pt x="2050" y="19094"/>
                      <a:pt x="1937" y="19184"/>
                    </a:cubicBezTo>
                    <a:lnTo>
                      <a:pt x="1976" y="19294"/>
                    </a:lnTo>
                    <a:cubicBezTo>
                      <a:pt x="2089" y="19205"/>
                      <a:pt x="2207" y="19117"/>
                      <a:pt x="2327" y="19030"/>
                    </a:cubicBezTo>
                    <a:lnTo>
                      <a:pt x="2290" y="18917"/>
                    </a:lnTo>
                    <a:close/>
                    <a:moveTo>
                      <a:pt x="1703" y="19377"/>
                    </a:moveTo>
                    <a:cubicBezTo>
                      <a:pt x="1585" y="19477"/>
                      <a:pt x="1470" y="19579"/>
                      <a:pt x="1363" y="19681"/>
                    </a:cubicBezTo>
                    <a:lnTo>
                      <a:pt x="1408" y="19787"/>
                    </a:lnTo>
                    <a:cubicBezTo>
                      <a:pt x="1515" y="19686"/>
                      <a:pt x="1628" y="19585"/>
                      <a:pt x="1745" y="19486"/>
                    </a:cubicBezTo>
                    <a:lnTo>
                      <a:pt x="1703" y="19377"/>
                    </a:lnTo>
                    <a:close/>
                    <a:moveTo>
                      <a:pt x="1107" y="19907"/>
                    </a:moveTo>
                    <a:cubicBezTo>
                      <a:pt x="995" y="20023"/>
                      <a:pt x="888" y="20142"/>
                      <a:pt x="789" y="20260"/>
                    </a:cubicBezTo>
                    <a:lnTo>
                      <a:pt x="842" y="20358"/>
                    </a:lnTo>
                    <a:cubicBezTo>
                      <a:pt x="939" y="20242"/>
                      <a:pt x="1045" y="20124"/>
                      <a:pt x="1156" y="20010"/>
                    </a:cubicBezTo>
                    <a:lnTo>
                      <a:pt x="1107" y="19907"/>
                    </a:lnTo>
                    <a:close/>
                    <a:moveTo>
                      <a:pt x="592" y="20544"/>
                    </a:moveTo>
                    <a:cubicBezTo>
                      <a:pt x="490" y="20681"/>
                      <a:pt x="395" y="20823"/>
                      <a:pt x="311" y="20964"/>
                    </a:cubicBezTo>
                    <a:lnTo>
                      <a:pt x="374" y="21047"/>
                    </a:lnTo>
                    <a:cubicBezTo>
                      <a:pt x="457" y="20909"/>
                      <a:pt x="549" y="20771"/>
                      <a:pt x="649" y="20637"/>
                    </a:cubicBezTo>
                    <a:lnTo>
                      <a:pt x="592" y="20544"/>
                    </a:lnTo>
                    <a:close/>
                    <a:moveTo>
                      <a:pt x="112" y="21286"/>
                    </a:moveTo>
                    <a:cubicBezTo>
                      <a:pt x="72" y="21368"/>
                      <a:pt x="34" y="21452"/>
                      <a:pt x="0" y="21534"/>
                    </a:cubicBezTo>
                    <a:lnTo>
                      <a:pt x="72" y="21599"/>
                    </a:lnTo>
                    <a:cubicBezTo>
                      <a:pt x="105" y="21520"/>
                      <a:pt x="142" y="21440"/>
                      <a:pt x="181" y="21360"/>
                    </a:cubicBezTo>
                    <a:lnTo>
                      <a:pt x="112" y="21286"/>
                    </a:lnTo>
                    <a:close/>
                  </a:path>
                </a:pathLst>
              </a:custGeom>
              <a:solidFill>
                <a:schemeClr val="accent4"/>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cs typeface="+mn-ea"/>
                  <a:sym typeface="+mn-lt"/>
                </a:endParaRPr>
              </a:p>
            </p:txBody>
          </p:sp>
        </p:grpSp>
        <p:sp>
          <p:nvSpPr>
            <p:cNvPr id="25" name="Oval Callout 6"/>
            <p:cNvSpPr/>
            <p:nvPr/>
          </p:nvSpPr>
          <p:spPr>
            <a:xfrm>
              <a:off x="2932325" y="3873040"/>
              <a:ext cx="1727212" cy="1694173"/>
            </a:xfrm>
            <a:prstGeom prst="wedgeEllipseCallout">
              <a:avLst>
                <a:gd name="adj1" fmla="val -5527"/>
                <a:gd name="adj2" fmla="val 67378"/>
              </a:avLst>
            </a:prstGeom>
            <a:solidFill>
              <a:schemeClr val="bg1"/>
            </a:solidFill>
            <a:ln w="1270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26" name="Oval 7"/>
            <p:cNvSpPr/>
            <p:nvPr/>
          </p:nvSpPr>
          <p:spPr>
            <a:xfrm>
              <a:off x="3068755" y="4025804"/>
              <a:ext cx="1449019" cy="14490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cs typeface="+mn-ea"/>
                  <a:sym typeface="+mn-lt"/>
                </a:rPr>
                <a:t>1</a:t>
              </a:r>
              <a:endParaRPr lang="en-US" dirty="0">
                <a:ln w="0"/>
                <a:solidFill>
                  <a:schemeClr val="tx1"/>
                </a:solidFill>
                <a:effectLst>
                  <a:outerShdw blurRad="38100" dist="19050" dir="2700000" algn="tl" rotWithShape="0">
                    <a:schemeClr val="dk1">
                      <a:alpha val="40000"/>
                    </a:schemeClr>
                  </a:outerShdw>
                </a:effectLst>
                <a:cs typeface="+mn-ea"/>
                <a:sym typeface="+mn-lt"/>
              </a:endParaRPr>
            </a:p>
          </p:txBody>
        </p:sp>
        <p:sp>
          <p:nvSpPr>
            <p:cNvPr id="27" name="Oval Callout 10"/>
            <p:cNvSpPr/>
            <p:nvPr/>
          </p:nvSpPr>
          <p:spPr>
            <a:xfrm>
              <a:off x="7406058" y="3161101"/>
              <a:ext cx="1736840" cy="1703618"/>
            </a:xfrm>
            <a:prstGeom prst="wedgeEllipseCallout">
              <a:avLst>
                <a:gd name="adj1" fmla="val -5527"/>
                <a:gd name="adj2" fmla="val 67378"/>
              </a:avLst>
            </a:prstGeom>
            <a:gradFill>
              <a:gsLst>
                <a:gs pos="100000">
                  <a:schemeClr val="accent2">
                    <a:lumMod val="75000"/>
                  </a:schemeClr>
                </a:gs>
                <a:gs pos="0">
                  <a:schemeClr val="accent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28" name="Oval 11"/>
            <p:cNvSpPr/>
            <p:nvPr/>
          </p:nvSpPr>
          <p:spPr>
            <a:xfrm>
              <a:off x="7609924" y="3347102"/>
              <a:ext cx="1329107" cy="132910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cs typeface="+mn-ea"/>
                  <a:sym typeface="+mn-lt"/>
                </a:rPr>
                <a:t>2</a:t>
              </a:r>
              <a:endParaRPr lang="en-US" dirty="0">
                <a:ln w="0"/>
                <a:solidFill>
                  <a:schemeClr val="tx1"/>
                </a:solidFill>
                <a:effectLst>
                  <a:outerShdw blurRad="38100" dist="19050" dir="2700000" algn="tl" rotWithShape="0">
                    <a:schemeClr val="dk1">
                      <a:alpha val="40000"/>
                    </a:schemeClr>
                  </a:outerShdw>
                </a:effectLst>
                <a:cs typeface="+mn-ea"/>
                <a:sym typeface="+mn-lt"/>
              </a:endParaRPr>
            </a:p>
          </p:txBody>
        </p:sp>
        <p:sp>
          <p:nvSpPr>
            <p:cNvPr id="29" name="Oval Callout 14"/>
            <p:cNvSpPr/>
            <p:nvPr/>
          </p:nvSpPr>
          <p:spPr>
            <a:xfrm>
              <a:off x="4811644" y="2109939"/>
              <a:ext cx="1736840" cy="1703618"/>
            </a:xfrm>
            <a:prstGeom prst="wedgeEllipseCallout">
              <a:avLst>
                <a:gd name="adj1" fmla="val -5527"/>
                <a:gd name="adj2" fmla="val 67378"/>
              </a:avLst>
            </a:prstGeom>
            <a:solidFill>
              <a:srgbClr val="F3A5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30" name="Oval 15"/>
            <p:cNvSpPr/>
            <p:nvPr/>
          </p:nvSpPr>
          <p:spPr>
            <a:xfrm>
              <a:off x="5015510" y="2295940"/>
              <a:ext cx="1329107" cy="132910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cs typeface="+mn-ea"/>
                  <a:sym typeface="+mn-lt"/>
                </a:rPr>
                <a:t>3</a:t>
              </a:r>
              <a:endParaRPr lang="en-US" dirty="0">
                <a:cs typeface="+mn-ea"/>
                <a:sym typeface="+mn-lt"/>
              </a:endParaRPr>
            </a:p>
          </p:txBody>
        </p:sp>
        <p:sp>
          <p:nvSpPr>
            <p:cNvPr id="31" name="Oval Callout 18"/>
            <p:cNvSpPr/>
            <p:nvPr/>
          </p:nvSpPr>
          <p:spPr>
            <a:xfrm>
              <a:off x="6933301" y="692804"/>
              <a:ext cx="1510276" cy="1481388"/>
            </a:xfrm>
            <a:prstGeom prst="wedgeEllipseCallout">
              <a:avLst>
                <a:gd name="adj1" fmla="val -5527"/>
                <a:gd name="adj2" fmla="val 67378"/>
              </a:avLst>
            </a:prstGeom>
            <a:gradFill>
              <a:gsLst>
                <a:gs pos="100000">
                  <a:schemeClr val="accent4">
                    <a:lumMod val="75000"/>
                  </a:schemeClr>
                </a:gs>
                <a:gs pos="0">
                  <a:schemeClr val="accent4"/>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32" name="Oval 19"/>
            <p:cNvSpPr/>
            <p:nvPr/>
          </p:nvSpPr>
          <p:spPr>
            <a:xfrm>
              <a:off x="7167219" y="912575"/>
              <a:ext cx="1042442" cy="10424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cs typeface="+mn-ea"/>
                  <a:sym typeface="+mn-lt"/>
                </a:rPr>
                <a:t>4</a:t>
              </a:r>
              <a:endParaRPr lang="en-US" dirty="0">
                <a:cs typeface="+mn-ea"/>
                <a:sym typeface="+mn-lt"/>
              </a:endParaRPr>
            </a:p>
          </p:txBody>
        </p:sp>
        <p:sp>
          <p:nvSpPr>
            <p:cNvPr id="33" name="Oval Callout 22"/>
            <p:cNvSpPr/>
            <p:nvPr/>
          </p:nvSpPr>
          <p:spPr>
            <a:xfrm>
              <a:off x="9142898" y="560423"/>
              <a:ext cx="1181244" cy="1158650"/>
            </a:xfrm>
            <a:prstGeom prst="wedgeEllipseCallout">
              <a:avLst>
                <a:gd name="adj1" fmla="val -5527"/>
                <a:gd name="adj2" fmla="val 67378"/>
              </a:avLst>
            </a:prstGeom>
            <a:gradFill>
              <a:gsLst>
                <a:gs pos="100000">
                  <a:schemeClr val="accent5">
                    <a:lumMod val="75000"/>
                  </a:schemeClr>
                </a:gs>
                <a:gs pos="0">
                  <a:schemeClr val="accent5"/>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35" name="Rectangle 32"/>
            <p:cNvSpPr/>
            <p:nvPr/>
          </p:nvSpPr>
          <p:spPr>
            <a:xfrm>
              <a:off x="3789713" y="3898697"/>
              <a:ext cx="272192" cy="861642"/>
            </a:xfrm>
            <a:prstGeom prst="rect">
              <a:avLst/>
            </a:prstGeom>
          </p:spPr>
          <p:txBody>
            <a:bodyPr wrap="none" anchor="ctr">
              <a:spAutoFit/>
            </a:bodyPr>
            <a:lstStyle/>
            <a:p>
              <a:pPr algn="ctr"/>
              <a:endParaRPr lang="en-US" sz="3200" dirty="0">
                <a:solidFill>
                  <a:srgbClr val="FEFEFE"/>
                </a:solidFill>
                <a:cs typeface="+mn-ea"/>
                <a:sym typeface="+mn-lt"/>
              </a:endParaRPr>
            </a:p>
          </p:txBody>
        </p:sp>
      </p:grpSp>
      <p:sp>
        <p:nvSpPr>
          <p:cNvPr id="45" name="Oval 46"/>
          <p:cNvSpPr/>
          <p:nvPr/>
        </p:nvSpPr>
        <p:spPr>
          <a:xfrm>
            <a:off x="286686" y="879553"/>
            <a:ext cx="636505" cy="636505"/>
          </a:xfrm>
          <a:prstGeom prst="ellipse">
            <a:avLst/>
          </a:prstGeom>
          <a:solidFill>
            <a:schemeClr val="tx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cs typeface="+mn-ea"/>
                <a:sym typeface="+mn-lt"/>
              </a:rPr>
              <a:t>01</a:t>
            </a:r>
            <a:endParaRPr lang="en-US" sz="2000" dirty="0">
              <a:cs typeface="+mn-ea"/>
              <a:sym typeface="+mn-lt"/>
            </a:endParaRPr>
          </a:p>
        </p:txBody>
      </p:sp>
      <p:sp>
        <p:nvSpPr>
          <p:cNvPr id="46" name="Oval 47"/>
          <p:cNvSpPr/>
          <p:nvPr/>
        </p:nvSpPr>
        <p:spPr>
          <a:xfrm>
            <a:off x="286688" y="1702871"/>
            <a:ext cx="636505" cy="636505"/>
          </a:xfrm>
          <a:prstGeom prst="ellipse">
            <a:avLst/>
          </a:prstGeom>
          <a:solidFill>
            <a:schemeClr val="accent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cs typeface="+mn-ea"/>
                <a:sym typeface="+mn-lt"/>
              </a:rPr>
              <a:t>02</a:t>
            </a:r>
            <a:endParaRPr lang="en-US" sz="2000" dirty="0">
              <a:cs typeface="+mn-ea"/>
              <a:sym typeface="+mn-lt"/>
            </a:endParaRPr>
          </a:p>
        </p:txBody>
      </p:sp>
      <p:sp>
        <p:nvSpPr>
          <p:cNvPr id="47" name="Oval 48"/>
          <p:cNvSpPr/>
          <p:nvPr/>
        </p:nvSpPr>
        <p:spPr>
          <a:xfrm>
            <a:off x="286687" y="2526189"/>
            <a:ext cx="636505" cy="636505"/>
          </a:xfrm>
          <a:prstGeom prst="ellipse">
            <a:avLst/>
          </a:prstGeom>
          <a:solidFill>
            <a:srgbClr val="F3A5FA"/>
          </a:solidFill>
          <a:ln w="25400">
            <a:solidFill>
              <a:srgbClr val="F3A5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cs typeface="+mn-ea"/>
                <a:sym typeface="+mn-lt"/>
              </a:rPr>
              <a:t>03</a:t>
            </a:r>
            <a:endParaRPr lang="en-US" sz="2000" dirty="0">
              <a:cs typeface="+mn-ea"/>
              <a:sym typeface="+mn-lt"/>
            </a:endParaRPr>
          </a:p>
        </p:txBody>
      </p:sp>
      <p:sp>
        <p:nvSpPr>
          <p:cNvPr id="48" name="Oval 49"/>
          <p:cNvSpPr/>
          <p:nvPr/>
        </p:nvSpPr>
        <p:spPr>
          <a:xfrm>
            <a:off x="286687" y="3415540"/>
            <a:ext cx="636505" cy="636505"/>
          </a:xfrm>
          <a:prstGeom prst="ellipse">
            <a:avLst/>
          </a:prstGeom>
          <a:solidFill>
            <a:schemeClr val="accent4"/>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cs typeface="+mn-ea"/>
                <a:sym typeface="+mn-lt"/>
              </a:rPr>
              <a:t>04</a:t>
            </a:r>
            <a:endParaRPr lang="en-US" sz="2000" dirty="0">
              <a:cs typeface="+mn-ea"/>
              <a:sym typeface="+mn-lt"/>
            </a:endParaRPr>
          </a:p>
        </p:txBody>
      </p:sp>
      <p:sp>
        <p:nvSpPr>
          <p:cNvPr id="49" name="Oval 50"/>
          <p:cNvSpPr/>
          <p:nvPr/>
        </p:nvSpPr>
        <p:spPr>
          <a:xfrm>
            <a:off x="286686" y="4495772"/>
            <a:ext cx="636505" cy="636505"/>
          </a:xfrm>
          <a:prstGeom prst="ellipse">
            <a:avLst/>
          </a:prstGeom>
          <a:solidFill>
            <a:schemeClr val="accent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cs typeface="+mn-ea"/>
                <a:sym typeface="+mn-lt"/>
              </a:rPr>
              <a:t>05</a:t>
            </a:r>
            <a:endParaRPr lang="en-US" sz="2000" dirty="0">
              <a:cs typeface="+mn-ea"/>
              <a:sym typeface="+mn-lt"/>
            </a:endParaRPr>
          </a:p>
        </p:txBody>
      </p:sp>
      <p:sp>
        <p:nvSpPr>
          <p:cNvPr id="50" name="TextBox 51"/>
          <p:cNvSpPr txBox="1"/>
          <p:nvPr/>
        </p:nvSpPr>
        <p:spPr>
          <a:xfrm>
            <a:off x="1117797" y="987606"/>
            <a:ext cx="7411891" cy="457113"/>
          </a:xfrm>
          <a:prstGeom prst="rect">
            <a:avLst/>
          </a:prstGeom>
          <a:noFill/>
        </p:spPr>
        <p:txBody>
          <a:bodyPr wrap="square" numCol="1" spcCol="457200" rtlCol="0">
            <a:spAutoFit/>
          </a:bodyPr>
          <a:lstStyle/>
          <a:p>
            <a:pPr>
              <a:lnSpc>
                <a:spcPts val="3200"/>
              </a:lnSpc>
            </a:pPr>
            <a:r>
              <a:rPr lang="zh-CN" altLang="en-US" sz="2000" dirty="0">
                <a:latin typeface="+mn-lt"/>
                <a:ea typeface="+mn-ea"/>
                <a:sym typeface="+mn-ea"/>
              </a:rPr>
              <a:t>     在香农定理的指导下，信道编码理论和技术逐步发展成熟。</a:t>
            </a:r>
            <a:endParaRPr lang="zh-CN" altLang="en-US" sz="2000" dirty="0">
              <a:solidFill>
                <a:schemeClr val="bg2"/>
              </a:solidFill>
              <a:latin typeface="+mn-lt"/>
              <a:ea typeface="+mn-ea"/>
              <a:cs typeface="+mn-ea"/>
              <a:sym typeface="+mn-lt"/>
            </a:endParaRPr>
          </a:p>
        </p:txBody>
      </p:sp>
      <p:sp>
        <p:nvSpPr>
          <p:cNvPr id="73" name="TextBox 51"/>
          <p:cNvSpPr txBox="1"/>
          <p:nvPr/>
        </p:nvSpPr>
        <p:spPr>
          <a:xfrm>
            <a:off x="1114942" y="1736291"/>
            <a:ext cx="7897240" cy="457113"/>
          </a:xfrm>
          <a:prstGeom prst="rect">
            <a:avLst/>
          </a:prstGeom>
          <a:noFill/>
        </p:spPr>
        <p:txBody>
          <a:bodyPr wrap="square" numCol="1" spcCol="457200" rtlCol="0">
            <a:spAutoFit/>
          </a:bodyPr>
          <a:lstStyle/>
          <a:p>
            <a:pPr>
              <a:lnSpc>
                <a:spcPts val="3200"/>
              </a:lnSpc>
            </a:pPr>
            <a:r>
              <a:rPr lang="zh-CN" altLang="en-US" sz="2000" dirty="0">
                <a:latin typeface="+mn-lt"/>
                <a:ea typeface="+mn-ea"/>
                <a:sym typeface="+mn-ea"/>
              </a:rPr>
              <a:t>     纠删码</a:t>
            </a:r>
            <a:r>
              <a:rPr lang="en-US" altLang="zh-CN" sz="2000" dirty="0">
                <a:latin typeface="+mn-lt"/>
                <a:ea typeface="+mn-ea"/>
                <a:sym typeface="+mn-ea"/>
              </a:rPr>
              <a:t>(Erasure Code)</a:t>
            </a:r>
            <a:r>
              <a:rPr lang="zh-CN" altLang="en-US" sz="2000" dirty="0">
                <a:latin typeface="+mn-lt"/>
                <a:ea typeface="+mn-ea"/>
                <a:sym typeface="+mn-ea"/>
              </a:rPr>
              <a:t>原来是</a:t>
            </a:r>
            <a:r>
              <a:rPr lang="zh-CN" altLang="en-US" sz="2000" dirty="0">
                <a:solidFill>
                  <a:schemeClr val="accent2"/>
                </a:solidFill>
                <a:latin typeface="+mn-lt"/>
                <a:ea typeface="+mn-ea"/>
                <a:sym typeface="+mn-ea"/>
              </a:rPr>
              <a:t>无线通信中有噪信道编码的一种。</a:t>
            </a:r>
            <a:endParaRPr lang="zh-CN" altLang="en-US" sz="2000" dirty="0">
              <a:solidFill>
                <a:schemeClr val="bg2"/>
              </a:solidFill>
              <a:latin typeface="+mn-lt"/>
              <a:ea typeface="+mn-ea"/>
              <a:cs typeface="+mn-ea"/>
              <a:sym typeface="+mn-lt"/>
            </a:endParaRPr>
          </a:p>
        </p:txBody>
      </p:sp>
      <p:sp>
        <p:nvSpPr>
          <p:cNvPr id="74" name="TextBox 51"/>
          <p:cNvSpPr txBox="1"/>
          <p:nvPr/>
        </p:nvSpPr>
        <p:spPr>
          <a:xfrm>
            <a:off x="1114943" y="2332940"/>
            <a:ext cx="7569312" cy="867482"/>
          </a:xfrm>
          <a:prstGeom prst="rect">
            <a:avLst/>
          </a:prstGeom>
          <a:noFill/>
        </p:spPr>
        <p:txBody>
          <a:bodyPr wrap="square" numCol="1" spcCol="457200" rtlCol="0">
            <a:spAutoFit/>
          </a:bodyPr>
          <a:lstStyle/>
          <a:p>
            <a:pPr>
              <a:lnSpc>
                <a:spcPts val="3200"/>
              </a:lnSpc>
            </a:pPr>
            <a:r>
              <a:rPr lang="en-US" altLang="zh-CN" sz="2000" dirty="0">
                <a:latin typeface="+mn-lt"/>
                <a:ea typeface="+mn-ea"/>
                <a:sym typeface="+mn-ea"/>
              </a:rPr>
              <a:t>     </a:t>
            </a:r>
            <a:r>
              <a:rPr lang="en-US" altLang="zh-CN" sz="2000" dirty="0" err="1">
                <a:latin typeface="+mn-lt"/>
                <a:ea typeface="+mn-ea"/>
                <a:sym typeface="+mn-ea"/>
              </a:rPr>
              <a:t>Karnin</a:t>
            </a:r>
            <a:r>
              <a:rPr lang="zh-CN" altLang="en-US" sz="2000" dirty="0">
                <a:latin typeface="+mn-lt"/>
                <a:ea typeface="+mn-ea"/>
                <a:sym typeface="+mn-ea"/>
              </a:rPr>
              <a:t>提出的密钥共享</a:t>
            </a:r>
            <a:r>
              <a:rPr lang="en-US" altLang="zh-CN" sz="2000" dirty="0">
                <a:latin typeface="+mn-lt"/>
                <a:ea typeface="+mn-ea"/>
                <a:sym typeface="+mn-ea"/>
              </a:rPr>
              <a:t>(Secret Sharing)</a:t>
            </a:r>
            <a:r>
              <a:rPr lang="zh-CN" altLang="en-US" sz="2000" dirty="0">
                <a:latin typeface="+mn-lt"/>
                <a:ea typeface="+mn-ea"/>
                <a:sym typeface="+mn-ea"/>
              </a:rPr>
              <a:t>以及</a:t>
            </a:r>
            <a:r>
              <a:rPr lang="en-US" altLang="zh-CN" sz="2000" dirty="0" err="1">
                <a:latin typeface="+mn-lt"/>
                <a:ea typeface="+mn-ea"/>
                <a:sym typeface="+mn-ea"/>
              </a:rPr>
              <a:t>M.O.Rabin</a:t>
            </a:r>
            <a:r>
              <a:rPr lang="zh-CN" altLang="en-US" sz="2000" dirty="0">
                <a:latin typeface="+mn-lt"/>
                <a:ea typeface="+mn-ea"/>
                <a:sym typeface="+mn-ea"/>
              </a:rPr>
              <a:t>提出的</a:t>
            </a:r>
            <a:r>
              <a:rPr lang="en-US" altLang="zh-CN" sz="2000" dirty="0">
                <a:latin typeface="+mn-lt"/>
                <a:ea typeface="+mn-ea"/>
                <a:sym typeface="+mn-ea"/>
              </a:rPr>
              <a:t>IDA</a:t>
            </a:r>
            <a:endParaRPr lang="en-US" altLang="zh-CN" sz="2000" dirty="0">
              <a:latin typeface="+mn-lt"/>
              <a:ea typeface="+mn-ea"/>
              <a:sym typeface="+mn-ea"/>
            </a:endParaRPr>
          </a:p>
          <a:p>
            <a:pPr>
              <a:lnSpc>
                <a:spcPts val="3200"/>
              </a:lnSpc>
            </a:pPr>
            <a:r>
              <a:rPr lang="en-US" altLang="zh-CN" sz="2000" dirty="0">
                <a:latin typeface="+mn-lt"/>
                <a:ea typeface="+mn-ea"/>
                <a:sym typeface="+mn-ea"/>
              </a:rPr>
              <a:t>(Information Dispersal Algorithm)</a:t>
            </a:r>
            <a:r>
              <a:rPr lang="zh-CN" altLang="en-US" sz="2000" dirty="0">
                <a:latin typeface="+mn-lt"/>
                <a:ea typeface="+mn-ea"/>
                <a:sym typeface="+mn-ea"/>
              </a:rPr>
              <a:t>算法，将其引入到计算机应用中。</a:t>
            </a:r>
            <a:endParaRPr lang="zh-CN" altLang="en-US" sz="2000" dirty="0">
              <a:solidFill>
                <a:schemeClr val="bg2"/>
              </a:solidFill>
              <a:latin typeface="+mn-lt"/>
              <a:ea typeface="+mn-ea"/>
              <a:cs typeface="+mn-ea"/>
              <a:sym typeface="+mn-lt"/>
            </a:endParaRPr>
          </a:p>
        </p:txBody>
      </p:sp>
      <p:sp>
        <p:nvSpPr>
          <p:cNvPr id="75" name="TextBox 51"/>
          <p:cNvSpPr txBox="1"/>
          <p:nvPr/>
        </p:nvSpPr>
        <p:spPr>
          <a:xfrm>
            <a:off x="1150069" y="3325400"/>
            <a:ext cx="5651693" cy="867482"/>
          </a:xfrm>
          <a:prstGeom prst="rect">
            <a:avLst/>
          </a:prstGeom>
          <a:noFill/>
        </p:spPr>
        <p:txBody>
          <a:bodyPr wrap="square" numCol="1" spcCol="457200" rtlCol="0">
            <a:spAutoFit/>
          </a:bodyPr>
          <a:lstStyle/>
          <a:p>
            <a:pPr>
              <a:lnSpc>
                <a:spcPts val="3200"/>
              </a:lnSpc>
            </a:pPr>
            <a:r>
              <a:rPr lang="zh-CN" altLang="en-US" sz="2000" dirty="0">
                <a:uFillTx/>
                <a:latin typeface="Times New Roman" panose="02020603050405020304" pitchFamily="18" charset="0"/>
                <a:ea typeface="黑体" panose="02010609060101010101" pitchFamily="49" charset="-122"/>
                <a:sym typeface="+mn-ea"/>
              </a:rPr>
              <a:t>        近年来</a:t>
            </a:r>
            <a:r>
              <a:rPr lang="zh-CN" altLang="en-US" sz="2000" dirty="0">
                <a:latin typeface="Times New Roman" panose="02020603050405020304" pitchFamily="18" charset="0"/>
                <a:ea typeface="黑体" panose="02010609060101010101" pitchFamily="49" charset="-122"/>
                <a:sym typeface="+mn-ea"/>
              </a:rPr>
              <a:t>，</a:t>
            </a:r>
            <a:r>
              <a:rPr lang="zh-CN" altLang="en-US" sz="2000" dirty="0">
                <a:uFillTx/>
                <a:latin typeface="Times New Roman" panose="02020603050405020304" pitchFamily="18" charset="0"/>
                <a:ea typeface="黑体" panose="02010609060101010101" pitchFamily="49" charset="-122"/>
                <a:sym typeface="+mn-ea"/>
              </a:rPr>
              <a:t>前向纠错</a:t>
            </a:r>
            <a:r>
              <a:rPr lang="zh-CN" altLang="en-US" sz="2000" dirty="0">
                <a:latin typeface="Times New Roman" panose="02020603050405020304" pitchFamily="18" charset="0"/>
                <a:ea typeface="黑体" panose="02010609060101010101" pitchFamily="49" charset="-122"/>
                <a:sym typeface="+mn-ea"/>
              </a:rPr>
              <a:t>技术</a:t>
            </a:r>
            <a:r>
              <a:rPr lang="zh-CN" altLang="en-US" sz="2000" dirty="0">
                <a:uFillTx/>
                <a:latin typeface="Times New Roman" panose="02020603050405020304" pitchFamily="18" charset="0"/>
                <a:ea typeface="黑体" panose="02010609060101010101" pitchFamily="49" charset="-122"/>
                <a:sym typeface="+mn-ea"/>
              </a:rPr>
              <a:t>广泛</a:t>
            </a:r>
            <a:r>
              <a:rPr lang="zh-CN" altLang="en-US" sz="2000" dirty="0">
                <a:solidFill>
                  <a:schemeClr val="accent2"/>
                </a:solidFill>
                <a:uFillTx/>
                <a:latin typeface="Times New Roman" panose="02020603050405020304" pitchFamily="18" charset="0"/>
                <a:ea typeface="黑体" panose="02010609060101010101" pitchFamily="49" charset="-122"/>
                <a:sym typeface="+mn-ea"/>
              </a:rPr>
              <a:t>应用于信息处理的各个领域</a:t>
            </a:r>
            <a:r>
              <a:rPr lang="zh-CN" altLang="en-US" sz="2000" dirty="0">
                <a:latin typeface="Times New Roman" panose="02020603050405020304" pitchFamily="18" charset="0"/>
                <a:ea typeface="黑体" panose="02010609060101010101" pitchFamily="49" charset="-122"/>
                <a:sym typeface="+mn-ea"/>
              </a:rPr>
              <a:t>。</a:t>
            </a:r>
            <a:endParaRPr lang="zh-CN" altLang="en-US" sz="2000" dirty="0">
              <a:solidFill>
                <a:schemeClr val="bg2"/>
              </a:solidFill>
              <a:latin typeface="+mn-lt"/>
              <a:ea typeface="+mn-ea"/>
              <a:cs typeface="+mn-ea"/>
              <a:sym typeface="+mn-lt"/>
            </a:endParaRPr>
          </a:p>
        </p:txBody>
      </p:sp>
      <p:sp>
        <p:nvSpPr>
          <p:cNvPr id="77" name="TextBox 51"/>
          <p:cNvSpPr txBox="1"/>
          <p:nvPr/>
        </p:nvSpPr>
        <p:spPr>
          <a:xfrm>
            <a:off x="1044699" y="4208496"/>
            <a:ext cx="4560020" cy="1277850"/>
          </a:xfrm>
          <a:prstGeom prst="rect">
            <a:avLst/>
          </a:prstGeom>
          <a:noFill/>
        </p:spPr>
        <p:txBody>
          <a:bodyPr wrap="square" numCol="1" spcCol="457200" rtlCol="0">
            <a:spAutoFit/>
          </a:bodyPr>
          <a:lstStyle/>
          <a:p>
            <a:pPr>
              <a:lnSpc>
                <a:spcPts val="3200"/>
              </a:lnSpc>
            </a:pPr>
            <a:r>
              <a:rPr lang="zh-CN" altLang="en-US" sz="2000" dirty="0">
                <a:uFillTx/>
                <a:latin typeface="Times New Roman" panose="02020603050405020304" pitchFamily="18" charset="0"/>
                <a:ea typeface="黑体" panose="02010609060101010101" pitchFamily="49" charset="-122"/>
                <a:sym typeface="+mn-ea"/>
              </a:rPr>
              <a:t>        各种纠错码所讨论的以比特串为单位的</a:t>
            </a:r>
            <a:r>
              <a:rPr lang="zh-CN" altLang="en-US" sz="2000" dirty="0">
                <a:solidFill>
                  <a:schemeClr val="accent2"/>
                </a:solidFill>
                <a:uFillTx/>
                <a:latin typeface="Times New Roman" panose="02020603050405020304" pitchFamily="18" charset="0"/>
                <a:ea typeface="黑体" panose="02010609060101010101" pitchFamily="49" charset="-122"/>
                <a:sym typeface="+mn-ea"/>
              </a:rPr>
              <a:t>错误检测和纠错也多用于低层协议</a:t>
            </a:r>
            <a:r>
              <a:rPr lang="en-US" altLang="zh-CN" sz="2000" dirty="0">
                <a:uFillTx/>
                <a:latin typeface="Times New Roman" panose="02020603050405020304" pitchFamily="18" charset="0"/>
                <a:ea typeface="黑体" panose="02010609060101010101" pitchFamily="49" charset="-122"/>
                <a:sym typeface="+mn-ea"/>
              </a:rPr>
              <a:t>(</a:t>
            </a:r>
            <a:r>
              <a:rPr lang="zh-CN" altLang="en-US" sz="2000" dirty="0">
                <a:uFillTx/>
                <a:latin typeface="Times New Roman" panose="02020603050405020304" pitchFamily="18" charset="0"/>
                <a:ea typeface="黑体" panose="02010609060101010101" pitchFamily="49" charset="-122"/>
                <a:sym typeface="+mn-ea"/>
              </a:rPr>
              <a:t>如链路层</a:t>
            </a:r>
            <a:r>
              <a:rPr lang="en-US" altLang="zh-CN" sz="2000" dirty="0">
                <a:uFillTx/>
                <a:latin typeface="Times New Roman" panose="02020603050405020304" pitchFamily="18" charset="0"/>
                <a:ea typeface="黑体" panose="02010609060101010101" pitchFamily="49" charset="-122"/>
                <a:sym typeface="+mn-ea"/>
              </a:rPr>
              <a:t>)</a:t>
            </a:r>
            <a:r>
              <a:rPr lang="zh-CN" altLang="en-US" sz="2000" dirty="0">
                <a:uFillTx/>
                <a:latin typeface="Times New Roman" panose="02020603050405020304" pitchFamily="18" charset="0"/>
                <a:ea typeface="黑体" panose="02010609060101010101" pitchFamily="49" charset="-122"/>
                <a:sym typeface="+mn-ea"/>
              </a:rPr>
              <a:t> </a:t>
            </a:r>
            <a:r>
              <a:rPr lang="zh-CN" altLang="en-US" sz="2000" dirty="0">
                <a:latin typeface="Times New Roman" panose="02020603050405020304" pitchFamily="18" charset="0"/>
                <a:ea typeface="黑体" panose="02010609060101010101" pitchFamily="49" charset="-122"/>
                <a:sym typeface="+mn-ea"/>
              </a:rPr>
              <a:t>。</a:t>
            </a:r>
            <a:endParaRPr lang="zh-CN" altLang="en-US" sz="2000" dirty="0">
              <a:solidFill>
                <a:schemeClr val="bg2"/>
              </a:solidFill>
              <a:latin typeface="+mn-lt"/>
              <a:ea typeface="+mn-ea"/>
              <a:cs typeface="+mn-ea"/>
              <a:sym typeface="+mn-lt"/>
            </a:endParaRPr>
          </a:p>
        </p:txBody>
      </p:sp>
      <p:sp>
        <p:nvSpPr>
          <p:cNvPr id="11" name="椭圆 10"/>
          <p:cNvSpPr/>
          <p:nvPr/>
        </p:nvSpPr>
        <p:spPr>
          <a:xfrm>
            <a:off x="8120947" y="3559341"/>
            <a:ext cx="434479" cy="434479"/>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5</a:t>
            </a:r>
            <a:endParaRPr lang="zh-CN" altLang="en-US"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纠删码技术产生的背景 </a:t>
            </a:r>
            <a:endParaRPr lang="zh-CN" altLang="en-US" sz="2400" dirty="0">
              <a:sym typeface="+mn-ea"/>
            </a:endParaRPr>
          </a:p>
        </p:txBody>
      </p:sp>
      <p:sp>
        <p:nvSpPr>
          <p:cNvPr id="59" name="文本框 58"/>
          <p:cNvSpPr txBox="1"/>
          <p:nvPr>
            <p:custDataLst>
              <p:tags r:id="rId1"/>
            </p:custDataLst>
          </p:nvPr>
        </p:nvSpPr>
        <p:spPr>
          <a:xfrm>
            <a:off x="2095598" y="1184796"/>
            <a:ext cx="6553028" cy="1172052"/>
          </a:xfrm>
          <a:prstGeom prst="rect">
            <a:avLst/>
          </a:prstGeom>
          <a:noFill/>
        </p:spPr>
        <p:txBody>
          <a:bodyPr wrap="square" rtlCol="0" anchor="t">
            <a:spAutoFit/>
          </a:bodyPr>
          <a:lstStyle/>
          <a:p>
            <a:pPr algn="just">
              <a:lnSpc>
                <a:spcPts val="2900"/>
              </a:lnSpc>
            </a:pPr>
            <a:r>
              <a:rPr lang="zh-CN" altLang="en-US" sz="2000" dirty="0">
                <a:uFillTx/>
                <a:latin typeface="Times New Roman" panose="02020603050405020304" pitchFamily="18" charset="0"/>
                <a:ea typeface="黑体" panose="02010609060101010101" pitchFamily="49" charset="-122"/>
                <a:sym typeface="+mn-ea"/>
              </a:rPr>
              <a:t>        数据的存储呈现出集中化</a:t>
            </a:r>
            <a:r>
              <a:rPr lang="en-US" altLang="zh-CN" sz="2000" dirty="0">
                <a:uFillTx/>
                <a:latin typeface="Times New Roman" panose="02020603050405020304" pitchFamily="18" charset="0"/>
                <a:ea typeface="黑体" panose="02010609060101010101" pitchFamily="49" charset="-122"/>
                <a:sym typeface="+mn-ea"/>
              </a:rPr>
              <a:t>(</a:t>
            </a:r>
            <a:r>
              <a:rPr lang="zh-CN" altLang="en-US" sz="2000" dirty="0">
                <a:uFillTx/>
                <a:latin typeface="Times New Roman" panose="02020603050405020304" pitchFamily="18" charset="0"/>
                <a:ea typeface="黑体" panose="02010609060101010101" pitchFamily="49" charset="-122"/>
                <a:sym typeface="+mn-ea"/>
              </a:rPr>
              <a:t>以分布式存储系统为基础的云存储系统</a:t>
            </a:r>
            <a:r>
              <a:rPr lang="en-US" altLang="zh-CN" sz="2000" dirty="0">
                <a:uFillTx/>
                <a:latin typeface="Times New Roman" panose="02020603050405020304" pitchFamily="18" charset="0"/>
                <a:ea typeface="黑体" panose="02010609060101010101" pitchFamily="49" charset="-122"/>
                <a:sym typeface="+mn-ea"/>
              </a:rPr>
              <a:t>)</a:t>
            </a:r>
            <a:r>
              <a:rPr lang="zh-CN" altLang="en-US" sz="2000" dirty="0">
                <a:uFillTx/>
                <a:latin typeface="Times New Roman" panose="02020603050405020304" pitchFamily="18" charset="0"/>
                <a:ea typeface="黑体" panose="02010609060101010101" pitchFamily="49" charset="-122"/>
                <a:sym typeface="+mn-ea"/>
              </a:rPr>
              <a:t>和移动化</a:t>
            </a:r>
            <a:r>
              <a:rPr lang="en-US" altLang="zh-CN" sz="2000" dirty="0">
                <a:uFillTx/>
                <a:latin typeface="Times New Roman" panose="02020603050405020304" pitchFamily="18" charset="0"/>
                <a:ea typeface="黑体" panose="02010609060101010101" pitchFamily="49" charset="-122"/>
                <a:sym typeface="+mn-ea"/>
              </a:rPr>
              <a:t>(</a:t>
            </a:r>
            <a:r>
              <a:rPr lang="zh-CN" altLang="en-US" sz="2000" dirty="0">
                <a:uFillTx/>
                <a:latin typeface="Times New Roman" panose="02020603050405020304" pitchFamily="18" charset="0"/>
                <a:ea typeface="黑体" panose="02010609060101010101" pitchFamily="49" charset="-122"/>
                <a:sym typeface="+mn-ea"/>
              </a:rPr>
              <a:t>互联网移动终端</a:t>
            </a:r>
            <a:r>
              <a:rPr lang="en-US" altLang="zh-CN" sz="2000" dirty="0">
                <a:uFillTx/>
                <a:latin typeface="Times New Roman" panose="02020603050405020304" pitchFamily="18" charset="0"/>
                <a:ea typeface="黑体" panose="02010609060101010101" pitchFamily="49" charset="-122"/>
                <a:sym typeface="+mn-ea"/>
              </a:rPr>
              <a:t>)</a:t>
            </a:r>
            <a:r>
              <a:rPr lang="zh-CN" altLang="en-US" sz="2000" dirty="0">
                <a:uFillTx/>
                <a:latin typeface="Times New Roman" panose="02020603050405020304" pitchFamily="18" charset="0"/>
                <a:ea typeface="黑体" panose="02010609060101010101" pitchFamily="49" charset="-122"/>
                <a:sym typeface="+mn-ea"/>
              </a:rPr>
              <a:t>的趋势，</a:t>
            </a:r>
            <a:r>
              <a:rPr lang="zh-CN" altLang="en-US" sz="2000" dirty="0">
                <a:solidFill>
                  <a:srgbClr val="FF0000"/>
                </a:solidFill>
                <a:uFillTx/>
                <a:latin typeface="Times New Roman" panose="02020603050405020304" pitchFamily="18" charset="0"/>
                <a:ea typeface="黑体" panose="02010609060101010101" pitchFamily="49" charset="-122"/>
                <a:sym typeface="+mn-ea"/>
              </a:rPr>
              <a:t>数据可靠性</a:t>
            </a:r>
            <a:r>
              <a:rPr lang="zh-CN" altLang="en-US" sz="2000" dirty="0">
                <a:uFillTx/>
                <a:latin typeface="Times New Roman" panose="02020603050405020304" pitchFamily="18" charset="0"/>
                <a:ea typeface="黑体" panose="02010609060101010101" pitchFamily="49" charset="-122"/>
                <a:sym typeface="+mn-ea"/>
              </a:rPr>
              <a:t>愈发引起重视。</a:t>
            </a:r>
            <a:endParaRPr lang="en-US" altLang="zh-CN" sz="2000" dirty="0">
              <a:latin typeface="Times New Roman" panose="02020603050405020304" pitchFamily="18" charset="0"/>
              <a:ea typeface="黑体" panose="02010609060101010101" pitchFamily="49" charset="-122"/>
              <a:sym typeface="+mn-ea"/>
            </a:endParaRPr>
          </a:p>
        </p:txBody>
      </p:sp>
      <p:grpSp>
        <p:nvGrpSpPr>
          <p:cNvPr id="69" name="组合 68"/>
          <p:cNvGrpSpPr/>
          <p:nvPr>
            <p:custDataLst>
              <p:tags r:id="rId2"/>
            </p:custDataLst>
          </p:nvPr>
        </p:nvGrpSpPr>
        <p:grpSpPr>
          <a:xfrm>
            <a:off x="577283" y="1067071"/>
            <a:ext cx="1258024" cy="1599949"/>
            <a:chOff x="574009" y="1036033"/>
            <a:chExt cx="1258024" cy="1599949"/>
          </a:xfrm>
        </p:grpSpPr>
        <p:sp>
          <p:nvSpPr>
            <p:cNvPr id="43" name="Freeform 67"/>
            <p:cNvSpPr/>
            <p:nvPr>
              <p:custDataLst>
                <p:tags r:id="rId3"/>
              </p:custDataLst>
            </p:nvPr>
          </p:nvSpPr>
          <p:spPr>
            <a:xfrm rot="10800000">
              <a:off x="574009" y="1036033"/>
              <a:ext cx="1258024" cy="1599949"/>
            </a:xfrm>
            <a:custGeom>
              <a:avLst/>
              <a:gdLst>
                <a:gd name="connsiteX0" fmla="*/ 1051560 w 2103120"/>
                <a:gd name="connsiteY0" fmla="*/ 0 h 3138026"/>
                <a:gd name="connsiteX1" fmla="*/ 2103120 w 2103120"/>
                <a:gd name="connsiteY1" fmla="*/ 1051559 h 3138026"/>
                <a:gd name="connsiteX2" fmla="*/ 2103120 w 2103120"/>
                <a:gd name="connsiteY2" fmla="*/ 1922701 h 3138026"/>
                <a:gd name="connsiteX3" fmla="*/ 2103120 w 2103120"/>
                <a:gd name="connsiteY3" fmla="*/ 3138026 h 3138026"/>
                <a:gd name="connsiteX4" fmla="*/ 1495458 w 2103120"/>
                <a:gd name="connsiteY4" fmla="*/ 2530363 h 3138026"/>
                <a:gd name="connsiteX5" fmla="*/ 1051560 w 2103120"/>
                <a:gd name="connsiteY5" fmla="*/ 2086466 h 3138026"/>
                <a:gd name="connsiteX6" fmla="*/ 607663 w 2103120"/>
                <a:gd name="connsiteY6" fmla="*/ 2530363 h 3138026"/>
                <a:gd name="connsiteX7" fmla="*/ 607664 w 2103120"/>
                <a:gd name="connsiteY7" fmla="*/ 2530363 h 3138026"/>
                <a:gd name="connsiteX8" fmla="*/ 1 w 2103120"/>
                <a:gd name="connsiteY8" fmla="*/ 3138026 h 3138026"/>
                <a:gd name="connsiteX9" fmla="*/ 1 w 2103120"/>
                <a:gd name="connsiteY9" fmla="*/ 1922701 h 3138026"/>
                <a:gd name="connsiteX10" fmla="*/ 0 w 2103120"/>
                <a:gd name="connsiteY10" fmla="*/ 1922700 h 3138026"/>
                <a:gd name="connsiteX11" fmla="*/ 0 w 2103120"/>
                <a:gd name="connsiteY11" fmla="*/ 1051560 h 3138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3120" h="3138026">
                  <a:moveTo>
                    <a:pt x="1051560" y="0"/>
                  </a:moveTo>
                  <a:lnTo>
                    <a:pt x="2103120" y="1051559"/>
                  </a:lnTo>
                  <a:lnTo>
                    <a:pt x="2103120" y="1922701"/>
                  </a:lnTo>
                  <a:lnTo>
                    <a:pt x="2103120" y="3138026"/>
                  </a:lnTo>
                  <a:lnTo>
                    <a:pt x="1495458" y="2530363"/>
                  </a:lnTo>
                  <a:lnTo>
                    <a:pt x="1051560" y="2086466"/>
                  </a:lnTo>
                  <a:lnTo>
                    <a:pt x="607663" y="2530363"/>
                  </a:lnTo>
                  <a:lnTo>
                    <a:pt x="607664" y="2530363"/>
                  </a:lnTo>
                  <a:lnTo>
                    <a:pt x="1" y="3138026"/>
                  </a:lnTo>
                  <a:lnTo>
                    <a:pt x="1" y="1922701"/>
                  </a:lnTo>
                  <a:lnTo>
                    <a:pt x="0" y="1922700"/>
                  </a:lnTo>
                  <a:lnTo>
                    <a:pt x="0" y="1051560"/>
                  </a:lnTo>
                  <a:close/>
                </a:path>
              </a:pathLst>
            </a:custGeom>
            <a:solidFill>
              <a:srgbClr val="F3A5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cs typeface="+mn-ea"/>
                <a:sym typeface="+mn-lt"/>
              </a:endParaRPr>
            </a:p>
          </p:txBody>
        </p:sp>
        <p:sp>
          <p:nvSpPr>
            <p:cNvPr id="60" name="文本框 59"/>
            <p:cNvSpPr txBox="1"/>
            <p:nvPr>
              <p:custDataLst>
                <p:tags r:id="rId4"/>
              </p:custDataLst>
            </p:nvPr>
          </p:nvSpPr>
          <p:spPr>
            <a:xfrm>
              <a:off x="1020068" y="1736535"/>
              <a:ext cx="354529" cy="476950"/>
            </a:xfrm>
            <a:prstGeom prst="rect">
              <a:avLst/>
            </a:prstGeom>
            <a:noFill/>
          </p:spPr>
          <p:txBody>
            <a:bodyPr wrap="square" rtlCol="0" anchor="t">
              <a:spAutoFit/>
            </a:bodyPr>
            <a:lstStyle/>
            <a:p>
              <a:r>
                <a:rPr lang="en-US" altLang="zh-CN" sz="2400" b="1" dirty="0">
                  <a:solidFill>
                    <a:schemeClr val="bg1"/>
                  </a:solidFill>
                  <a:latin typeface="+mn-lt"/>
                  <a:ea typeface="黑体" panose="02010609060101010101" pitchFamily="49" charset="-122"/>
                  <a:sym typeface="+mn-ea"/>
                </a:rPr>
                <a:t>1</a:t>
              </a:r>
              <a:endParaRPr lang="zh-CN" altLang="en-US" sz="2400" b="1" dirty="0">
                <a:solidFill>
                  <a:schemeClr val="bg1"/>
                </a:solidFill>
                <a:latin typeface="+mn-lt"/>
                <a:ea typeface="黑体" panose="02010609060101010101" pitchFamily="49" charset="-122"/>
                <a:sym typeface="+mn-ea"/>
              </a:endParaRPr>
            </a:p>
          </p:txBody>
        </p:sp>
      </p:grpSp>
      <p:sp>
        <p:nvSpPr>
          <p:cNvPr id="61" name="文本框 60"/>
          <p:cNvSpPr txBox="1"/>
          <p:nvPr>
            <p:custDataLst>
              <p:tags r:id="rId5"/>
            </p:custDataLst>
          </p:nvPr>
        </p:nvSpPr>
        <p:spPr>
          <a:xfrm>
            <a:off x="2095598" y="2872302"/>
            <a:ext cx="6553028" cy="1172052"/>
          </a:xfrm>
          <a:prstGeom prst="rect">
            <a:avLst/>
          </a:prstGeom>
          <a:noFill/>
        </p:spPr>
        <p:txBody>
          <a:bodyPr wrap="square" rtlCol="0" anchor="t">
            <a:spAutoFit/>
          </a:bodyPr>
          <a:lstStyle/>
          <a:p>
            <a:pPr algn="just">
              <a:lnSpc>
                <a:spcPts val="2900"/>
              </a:lnSpc>
            </a:pPr>
            <a:r>
              <a:rPr lang="zh-CN" altLang="en-US" sz="2000" dirty="0">
                <a:solidFill>
                  <a:srgbClr val="FF0000"/>
                </a:solidFill>
                <a:uFillTx/>
                <a:latin typeface="Times New Roman" panose="02020603050405020304" pitchFamily="18" charset="0"/>
                <a:ea typeface="黑体" panose="02010609060101010101" pitchFamily="49" charset="-122"/>
                <a:sym typeface="+mn-ea"/>
              </a:rPr>
              <a:t>        </a:t>
            </a:r>
            <a:r>
              <a:rPr lang="zh-CN" altLang="en-US" sz="2000" dirty="0">
                <a:uFillTx/>
                <a:latin typeface="Times New Roman" panose="02020603050405020304" pitchFamily="18" charset="0"/>
                <a:ea typeface="黑体" panose="02010609060101010101" pitchFamily="49" charset="-122"/>
                <a:sym typeface="+mn-ea"/>
              </a:rPr>
              <a:t>集群所承载的数据量大大上升，但存储介质本身的可靠性进步却很小，这要求必须以</a:t>
            </a:r>
            <a:r>
              <a:rPr lang="zh-CN" altLang="en-US" sz="2000" dirty="0">
                <a:solidFill>
                  <a:srgbClr val="FF0000"/>
                </a:solidFill>
                <a:uFillTx/>
                <a:latin typeface="Times New Roman" panose="02020603050405020304" pitchFamily="18" charset="0"/>
                <a:ea typeface="黑体" panose="02010609060101010101" pitchFamily="49" charset="-122"/>
                <a:sym typeface="+mn-ea"/>
              </a:rPr>
              <a:t>更加经济有效的方式来保障数据安全</a:t>
            </a:r>
            <a:r>
              <a:rPr lang="zh-CN" altLang="en-US" sz="2000" dirty="0">
                <a:latin typeface="Times New Roman" panose="02020603050405020304" pitchFamily="18" charset="0"/>
                <a:ea typeface="黑体" panose="02010609060101010101" pitchFamily="49" charset="-122"/>
                <a:sym typeface="+mn-ea"/>
              </a:rPr>
              <a:t>。</a:t>
            </a:r>
            <a:endParaRPr lang="en-US" altLang="zh-CN" sz="2000" dirty="0">
              <a:latin typeface="Times New Roman" panose="02020603050405020304" pitchFamily="18" charset="0"/>
              <a:ea typeface="黑体" panose="02010609060101010101" pitchFamily="49" charset="-122"/>
              <a:sym typeface="+mn-ea"/>
            </a:endParaRPr>
          </a:p>
        </p:txBody>
      </p:sp>
      <p:grpSp>
        <p:nvGrpSpPr>
          <p:cNvPr id="70" name="组合 69"/>
          <p:cNvGrpSpPr/>
          <p:nvPr>
            <p:custDataLst>
              <p:tags r:id="rId6"/>
            </p:custDataLst>
          </p:nvPr>
        </p:nvGrpSpPr>
        <p:grpSpPr>
          <a:xfrm>
            <a:off x="577282" y="2779901"/>
            <a:ext cx="1258024" cy="1599948"/>
            <a:chOff x="577282" y="2779901"/>
            <a:chExt cx="1258024" cy="1599948"/>
          </a:xfrm>
        </p:grpSpPr>
        <p:sp>
          <p:nvSpPr>
            <p:cNvPr id="42" name="Freeform 71"/>
            <p:cNvSpPr/>
            <p:nvPr>
              <p:custDataLst>
                <p:tags r:id="rId7"/>
              </p:custDataLst>
            </p:nvPr>
          </p:nvSpPr>
          <p:spPr>
            <a:xfrm rot="10800000">
              <a:off x="577282" y="2779901"/>
              <a:ext cx="1258024" cy="1599948"/>
            </a:xfrm>
            <a:custGeom>
              <a:avLst/>
              <a:gdLst>
                <a:gd name="connsiteX0" fmla="*/ 1051560 w 2103120"/>
                <a:gd name="connsiteY0" fmla="*/ 0 h 3138026"/>
                <a:gd name="connsiteX1" fmla="*/ 2103120 w 2103120"/>
                <a:gd name="connsiteY1" fmla="*/ 1051559 h 3138026"/>
                <a:gd name="connsiteX2" fmla="*/ 2103120 w 2103120"/>
                <a:gd name="connsiteY2" fmla="*/ 1922701 h 3138026"/>
                <a:gd name="connsiteX3" fmla="*/ 2103120 w 2103120"/>
                <a:gd name="connsiteY3" fmla="*/ 3138026 h 3138026"/>
                <a:gd name="connsiteX4" fmla="*/ 1495458 w 2103120"/>
                <a:gd name="connsiteY4" fmla="*/ 2530363 h 3138026"/>
                <a:gd name="connsiteX5" fmla="*/ 1051560 w 2103120"/>
                <a:gd name="connsiteY5" fmla="*/ 2086466 h 3138026"/>
                <a:gd name="connsiteX6" fmla="*/ 607663 w 2103120"/>
                <a:gd name="connsiteY6" fmla="*/ 2530363 h 3138026"/>
                <a:gd name="connsiteX7" fmla="*/ 607664 w 2103120"/>
                <a:gd name="connsiteY7" fmla="*/ 2530363 h 3138026"/>
                <a:gd name="connsiteX8" fmla="*/ 1 w 2103120"/>
                <a:gd name="connsiteY8" fmla="*/ 3138026 h 3138026"/>
                <a:gd name="connsiteX9" fmla="*/ 1 w 2103120"/>
                <a:gd name="connsiteY9" fmla="*/ 1922701 h 3138026"/>
                <a:gd name="connsiteX10" fmla="*/ 0 w 2103120"/>
                <a:gd name="connsiteY10" fmla="*/ 1922700 h 3138026"/>
                <a:gd name="connsiteX11" fmla="*/ 0 w 2103120"/>
                <a:gd name="connsiteY11" fmla="*/ 1051560 h 3138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3120" h="3138026">
                  <a:moveTo>
                    <a:pt x="1051560" y="0"/>
                  </a:moveTo>
                  <a:lnTo>
                    <a:pt x="2103120" y="1051559"/>
                  </a:lnTo>
                  <a:lnTo>
                    <a:pt x="2103120" y="1922701"/>
                  </a:lnTo>
                  <a:lnTo>
                    <a:pt x="2103120" y="3138026"/>
                  </a:lnTo>
                  <a:lnTo>
                    <a:pt x="1495458" y="2530363"/>
                  </a:lnTo>
                  <a:lnTo>
                    <a:pt x="1051560" y="2086466"/>
                  </a:lnTo>
                  <a:lnTo>
                    <a:pt x="607663" y="2530363"/>
                  </a:lnTo>
                  <a:lnTo>
                    <a:pt x="607664" y="2530363"/>
                  </a:lnTo>
                  <a:lnTo>
                    <a:pt x="1" y="3138026"/>
                  </a:lnTo>
                  <a:lnTo>
                    <a:pt x="1" y="1922701"/>
                  </a:lnTo>
                  <a:lnTo>
                    <a:pt x="0" y="1922700"/>
                  </a:lnTo>
                  <a:lnTo>
                    <a:pt x="0" y="105156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62" name="文本框 61"/>
            <p:cNvSpPr txBox="1"/>
            <p:nvPr>
              <p:custDataLst>
                <p:tags r:id="rId8"/>
              </p:custDataLst>
            </p:nvPr>
          </p:nvSpPr>
          <p:spPr>
            <a:xfrm>
              <a:off x="1023342" y="3470071"/>
              <a:ext cx="354529" cy="476950"/>
            </a:xfrm>
            <a:prstGeom prst="rect">
              <a:avLst/>
            </a:prstGeom>
            <a:noFill/>
          </p:spPr>
          <p:txBody>
            <a:bodyPr wrap="square" rtlCol="0" anchor="t">
              <a:spAutoFit/>
            </a:bodyPr>
            <a:lstStyle/>
            <a:p>
              <a:r>
                <a:rPr lang="en-US" altLang="zh-CN" sz="2400" b="1" dirty="0">
                  <a:solidFill>
                    <a:schemeClr val="bg1"/>
                  </a:solidFill>
                  <a:latin typeface="+mn-lt"/>
                  <a:ea typeface="黑体" panose="02010609060101010101" pitchFamily="49" charset="-122"/>
                  <a:sym typeface="+mn-ea"/>
                </a:rPr>
                <a:t>2</a:t>
              </a:r>
              <a:endParaRPr lang="zh-CN" altLang="en-US" sz="2400" b="1" dirty="0">
                <a:solidFill>
                  <a:schemeClr val="bg1"/>
                </a:solidFill>
                <a:latin typeface="+mn-lt"/>
                <a:ea typeface="黑体" panose="02010609060101010101" pitchFamily="49" charset="-122"/>
                <a:sym typeface="+mn-ea"/>
              </a:endParaRPr>
            </a:p>
          </p:txBody>
        </p:sp>
      </p:grpSp>
      <p:grpSp>
        <p:nvGrpSpPr>
          <p:cNvPr id="67" name="组合 66"/>
          <p:cNvGrpSpPr/>
          <p:nvPr>
            <p:custDataLst>
              <p:tags r:id="rId9"/>
            </p:custDataLst>
          </p:nvPr>
        </p:nvGrpSpPr>
        <p:grpSpPr>
          <a:xfrm>
            <a:off x="571166" y="4492730"/>
            <a:ext cx="1258024" cy="1599948"/>
            <a:chOff x="571166" y="3476061"/>
            <a:chExt cx="1258024" cy="1599948"/>
          </a:xfrm>
        </p:grpSpPr>
        <p:sp>
          <p:nvSpPr>
            <p:cNvPr id="41" name="Freeform 72"/>
            <p:cNvSpPr/>
            <p:nvPr>
              <p:custDataLst>
                <p:tags r:id="rId10"/>
              </p:custDataLst>
            </p:nvPr>
          </p:nvSpPr>
          <p:spPr>
            <a:xfrm rot="10800000">
              <a:off x="571166" y="3476061"/>
              <a:ext cx="1258024" cy="1599948"/>
            </a:xfrm>
            <a:custGeom>
              <a:avLst/>
              <a:gdLst>
                <a:gd name="connsiteX0" fmla="*/ 1051560 w 2103120"/>
                <a:gd name="connsiteY0" fmla="*/ 0 h 3138026"/>
                <a:gd name="connsiteX1" fmla="*/ 2103120 w 2103120"/>
                <a:gd name="connsiteY1" fmla="*/ 1051559 h 3138026"/>
                <a:gd name="connsiteX2" fmla="*/ 2103120 w 2103120"/>
                <a:gd name="connsiteY2" fmla="*/ 1922701 h 3138026"/>
                <a:gd name="connsiteX3" fmla="*/ 2103120 w 2103120"/>
                <a:gd name="connsiteY3" fmla="*/ 3138026 h 3138026"/>
                <a:gd name="connsiteX4" fmla="*/ 1495458 w 2103120"/>
                <a:gd name="connsiteY4" fmla="*/ 2530363 h 3138026"/>
                <a:gd name="connsiteX5" fmla="*/ 1051560 w 2103120"/>
                <a:gd name="connsiteY5" fmla="*/ 2086466 h 3138026"/>
                <a:gd name="connsiteX6" fmla="*/ 607663 w 2103120"/>
                <a:gd name="connsiteY6" fmla="*/ 2530363 h 3138026"/>
                <a:gd name="connsiteX7" fmla="*/ 607664 w 2103120"/>
                <a:gd name="connsiteY7" fmla="*/ 2530363 h 3138026"/>
                <a:gd name="connsiteX8" fmla="*/ 1 w 2103120"/>
                <a:gd name="connsiteY8" fmla="*/ 3138026 h 3138026"/>
                <a:gd name="connsiteX9" fmla="*/ 1 w 2103120"/>
                <a:gd name="connsiteY9" fmla="*/ 1922701 h 3138026"/>
                <a:gd name="connsiteX10" fmla="*/ 0 w 2103120"/>
                <a:gd name="connsiteY10" fmla="*/ 1922700 h 3138026"/>
                <a:gd name="connsiteX11" fmla="*/ 0 w 2103120"/>
                <a:gd name="connsiteY11" fmla="*/ 1051560 h 3138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3120" h="3138026">
                  <a:moveTo>
                    <a:pt x="1051560" y="0"/>
                  </a:moveTo>
                  <a:lnTo>
                    <a:pt x="2103120" y="1051559"/>
                  </a:lnTo>
                  <a:lnTo>
                    <a:pt x="2103120" y="1922701"/>
                  </a:lnTo>
                  <a:lnTo>
                    <a:pt x="2103120" y="3138026"/>
                  </a:lnTo>
                  <a:lnTo>
                    <a:pt x="1495458" y="2530363"/>
                  </a:lnTo>
                  <a:lnTo>
                    <a:pt x="1051560" y="2086466"/>
                  </a:lnTo>
                  <a:lnTo>
                    <a:pt x="607663" y="2530363"/>
                  </a:lnTo>
                  <a:lnTo>
                    <a:pt x="607664" y="2530363"/>
                  </a:lnTo>
                  <a:lnTo>
                    <a:pt x="1" y="3138026"/>
                  </a:lnTo>
                  <a:lnTo>
                    <a:pt x="1" y="1922701"/>
                  </a:lnTo>
                  <a:lnTo>
                    <a:pt x="0" y="1922700"/>
                  </a:lnTo>
                  <a:lnTo>
                    <a:pt x="0" y="105156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63" name="文本框 62"/>
            <p:cNvSpPr txBox="1"/>
            <p:nvPr>
              <p:custDataLst>
                <p:tags r:id="rId11"/>
              </p:custDataLst>
            </p:nvPr>
          </p:nvSpPr>
          <p:spPr>
            <a:xfrm>
              <a:off x="1035151" y="4167271"/>
              <a:ext cx="354529" cy="476950"/>
            </a:xfrm>
            <a:prstGeom prst="rect">
              <a:avLst/>
            </a:prstGeom>
            <a:noFill/>
          </p:spPr>
          <p:txBody>
            <a:bodyPr wrap="square" rtlCol="0" anchor="t">
              <a:spAutoFit/>
            </a:bodyPr>
            <a:lstStyle/>
            <a:p>
              <a:r>
                <a:rPr lang="en-US" altLang="zh-CN" sz="2400" b="1" dirty="0">
                  <a:solidFill>
                    <a:schemeClr val="bg1"/>
                  </a:solidFill>
                  <a:latin typeface="+mn-lt"/>
                  <a:ea typeface="黑体" panose="02010609060101010101" pitchFamily="49" charset="-122"/>
                  <a:sym typeface="+mn-ea"/>
                </a:rPr>
                <a:t>3</a:t>
              </a:r>
              <a:endParaRPr lang="zh-CN" altLang="en-US" sz="2400" b="1" dirty="0">
                <a:solidFill>
                  <a:schemeClr val="bg1"/>
                </a:solidFill>
                <a:latin typeface="+mn-lt"/>
                <a:ea typeface="黑体" panose="02010609060101010101" pitchFamily="49" charset="-122"/>
                <a:sym typeface="+mn-ea"/>
              </a:endParaRPr>
            </a:p>
          </p:txBody>
        </p:sp>
      </p:grpSp>
      <p:sp>
        <p:nvSpPr>
          <p:cNvPr id="65" name="文本框 64"/>
          <p:cNvSpPr txBox="1"/>
          <p:nvPr>
            <p:custDataLst>
              <p:tags r:id="rId12"/>
            </p:custDataLst>
          </p:nvPr>
        </p:nvSpPr>
        <p:spPr>
          <a:xfrm>
            <a:off x="2042649" y="4545425"/>
            <a:ext cx="6553028" cy="1172052"/>
          </a:xfrm>
          <a:prstGeom prst="rect">
            <a:avLst/>
          </a:prstGeom>
          <a:noFill/>
        </p:spPr>
        <p:txBody>
          <a:bodyPr wrap="square" rtlCol="0" anchor="t">
            <a:spAutoFit/>
          </a:bodyPr>
          <a:lstStyle/>
          <a:p>
            <a:pPr algn="just">
              <a:lnSpc>
                <a:spcPts val="2900"/>
              </a:lnSpc>
            </a:pPr>
            <a:r>
              <a:rPr lang="zh-CN" altLang="en-US" sz="2000" dirty="0">
                <a:uFillTx/>
                <a:latin typeface="Times New Roman" panose="02020603050405020304" pitchFamily="18" charset="0"/>
                <a:ea typeface="黑体" panose="02010609060101010101" pitchFamily="49" charset="-122"/>
                <a:sym typeface="+mn-ea"/>
              </a:rPr>
              <a:t>        副本技术通过</a:t>
            </a:r>
            <a:r>
              <a:rPr lang="zh-CN" altLang="en-US" sz="2000" dirty="0">
                <a:solidFill>
                  <a:srgbClr val="FF0000"/>
                </a:solidFill>
                <a:uFillTx/>
                <a:latin typeface="Times New Roman" panose="02020603050405020304" pitchFamily="18" charset="0"/>
                <a:ea typeface="黑体" panose="02010609060101010101" pitchFamily="49" charset="-122"/>
                <a:sym typeface="+mn-ea"/>
              </a:rPr>
              <a:t>增加冗余数据的方式</a:t>
            </a:r>
            <a:r>
              <a:rPr lang="zh-CN" altLang="en-US" sz="2000" dirty="0">
                <a:uFillTx/>
                <a:latin typeface="Times New Roman" panose="02020603050405020304" pitchFamily="18" charset="0"/>
                <a:ea typeface="黑体" panose="02010609060101010101" pitchFamily="49" charset="-122"/>
                <a:sym typeface="+mn-ea"/>
              </a:rPr>
              <a:t>来保证数据在发生部分丢失时，原始数据不发生丢失。但相较于副本，纠删码能</a:t>
            </a:r>
            <a:r>
              <a:rPr lang="zh-CN" altLang="en-US" sz="2000" dirty="0">
                <a:solidFill>
                  <a:srgbClr val="FF0000"/>
                </a:solidFill>
                <a:uFillTx/>
                <a:latin typeface="Times New Roman" panose="02020603050405020304" pitchFamily="18" charset="0"/>
                <a:ea typeface="黑体" panose="02010609060101010101" pitchFamily="49" charset="-122"/>
                <a:sym typeface="+mn-ea"/>
              </a:rPr>
              <a:t>以低得多的存储空间代价获得相似的可靠性</a:t>
            </a:r>
            <a:r>
              <a:rPr lang="zh-CN" altLang="en-US" sz="2000" dirty="0">
                <a:uFillTx/>
                <a:latin typeface="Times New Roman" panose="02020603050405020304" pitchFamily="18" charset="0"/>
                <a:ea typeface="黑体" panose="02010609060101010101" pitchFamily="49" charset="-122"/>
                <a:sym typeface="+mn-ea"/>
              </a:rPr>
              <a:t>。</a:t>
            </a:r>
            <a:endParaRPr lang="en-US" altLang="zh-CN" sz="2000" dirty="0">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纠删码技术的引入 </a:t>
            </a:r>
            <a:endParaRPr lang="zh-CN" altLang="en-US" sz="2400" dirty="0">
              <a:sym typeface="+mn-ea"/>
            </a:endParaRPr>
          </a:p>
        </p:txBody>
      </p:sp>
      <p:sp>
        <p:nvSpPr>
          <p:cNvPr id="4" name="文本框 3"/>
          <p:cNvSpPr txBox="1"/>
          <p:nvPr/>
        </p:nvSpPr>
        <p:spPr>
          <a:xfrm>
            <a:off x="727126" y="4724366"/>
            <a:ext cx="7689744" cy="867482"/>
          </a:xfrm>
          <a:prstGeom prst="rect">
            <a:avLst/>
          </a:prstGeom>
          <a:noFill/>
        </p:spPr>
        <p:txBody>
          <a:bodyPr wrap="square" rtlCol="0" anchor="t">
            <a:spAutoFit/>
          </a:bodyPr>
          <a:lstStyle/>
          <a:p>
            <a:pPr algn="just">
              <a:lnSpc>
                <a:spcPts val="3200"/>
              </a:lnSpc>
            </a:pPr>
            <a:r>
              <a:rPr lang="zh-CN" altLang="en-US" sz="2000" dirty="0">
                <a:solidFill>
                  <a:srgbClr val="FF0000"/>
                </a:solidFill>
                <a:uFillTx/>
                <a:latin typeface="Times New Roman" panose="02020603050405020304" pitchFamily="18" charset="0"/>
                <a:ea typeface="黑体" panose="02010609060101010101" pitchFamily="49" charset="-122"/>
                <a:sym typeface="+mn-ea"/>
              </a:rPr>
              <a:t>        副本策略</a:t>
            </a:r>
            <a:r>
              <a:rPr lang="zh-CN" altLang="en-US" sz="2000" dirty="0">
                <a:uFillTx/>
                <a:latin typeface="Times New Roman" panose="02020603050405020304" pitchFamily="18" charset="0"/>
                <a:ea typeface="黑体" panose="02010609060101010101" pitchFamily="49" charset="-122"/>
                <a:sym typeface="+mn-ea"/>
              </a:rPr>
              <a:t>：若方程</a:t>
            </a:r>
            <a:r>
              <a:rPr lang="en-US" altLang="zh-CN" sz="2000" dirty="0">
                <a:uFillTx/>
                <a:latin typeface="Times New Roman" panose="02020603050405020304" pitchFamily="18" charset="0"/>
                <a:ea typeface="黑体" panose="02010609060101010101" pitchFamily="49" charset="-122"/>
                <a:sym typeface="+mn-ea"/>
              </a:rPr>
              <a:t>(1)(2)(3)</a:t>
            </a:r>
            <a:r>
              <a:rPr lang="zh-CN" altLang="en-US" sz="2000" dirty="0">
                <a:uFillTx/>
                <a:latin typeface="Times New Roman" panose="02020603050405020304" pitchFamily="18" charset="0"/>
                <a:ea typeface="黑体" panose="02010609060101010101" pitchFamily="49" charset="-122"/>
                <a:sym typeface="+mn-ea"/>
              </a:rPr>
              <a:t>丢失任何一个方程数据都能恢复，则需要把</a:t>
            </a:r>
            <a:r>
              <a:rPr lang="en-US" altLang="zh-CN" sz="2000" dirty="0">
                <a:uFillTx/>
                <a:latin typeface="Times New Roman" panose="02020603050405020304" pitchFamily="18" charset="0"/>
                <a:ea typeface="黑体" panose="02010609060101010101" pitchFamily="49" charset="-122"/>
                <a:sym typeface="+mn-ea"/>
              </a:rPr>
              <a:t>(1)(2)(3)</a:t>
            </a:r>
            <a:r>
              <a:rPr lang="zh-CN" altLang="en-US" sz="2000" dirty="0">
                <a:solidFill>
                  <a:schemeClr val="accent2"/>
                </a:solidFill>
                <a:uFillTx/>
                <a:latin typeface="Times New Roman" panose="02020603050405020304" pitchFamily="18" charset="0"/>
                <a:ea typeface="黑体" panose="02010609060101010101" pitchFamily="49" charset="-122"/>
                <a:sym typeface="+mn-ea"/>
              </a:rPr>
              <a:t>三个方程都存储两份</a:t>
            </a:r>
            <a:r>
              <a:rPr lang="zh-CN" altLang="en-US" sz="2000" dirty="0">
                <a:uFillTx/>
                <a:latin typeface="Times New Roman" panose="02020603050405020304" pitchFamily="18" charset="0"/>
                <a:ea typeface="黑体" panose="02010609060101010101" pitchFamily="49" charset="-122"/>
                <a:sym typeface="+mn-ea"/>
              </a:rPr>
              <a:t>，也就是</a:t>
            </a:r>
            <a:r>
              <a:rPr lang="zh-CN" altLang="en-US" sz="2000" dirty="0">
                <a:solidFill>
                  <a:schemeClr val="accent2"/>
                </a:solidFill>
                <a:uFillTx/>
                <a:latin typeface="Times New Roman" panose="02020603050405020304" pitchFamily="18" charset="0"/>
                <a:ea typeface="黑体" panose="02010609060101010101" pitchFamily="49" charset="-122"/>
                <a:sym typeface="+mn-ea"/>
              </a:rPr>
              <a:t>存储</a:t>
            </a:r>
            <a:r>
              <a:rPr lang="en-US" altLang="zh-CN" sz="2000" dirty="0">
                <a:solidFill>
                  <a:schemeClr val="accent2"/>
                </a:solidFill>
                <a:uFillTx/>
                <a:latin typeface="Times New Roman" panose="02020603050405020304" pitchFamily="18" charset="0"/>
                <a:ea typeface="黑体" panose="02010609060101010101" pitchFamily="49" charset="-122"/>
                <a:sym typeface="+mn-ea"/>
              </a:rPr>
              <a:t>6</a:t>
            </a:r>
            <a:r>
              <a:rPr lang="zh-CN" altLang="en-US" sz="2000" dirty="0">
                <a:solidFill>
                  <a:schemeClr val="accent2"/>
                </a:solidFill>
                <a:uFillTx/>
                <a:latin typeface="Times New Roman" panose="02020603050405020304" pitchFamily="18" charset="0"/>
                <a:ea typeface="黑体" panose="02010609060101010101" pitchFamily="49" charset="-122"/>
                <a:sym typeface="+mn-ea"/>
              </a:rPr>
              <a:t>个方程</a:t>
            </a:r>
            <a:r>
              <a:rPr lang="zh-CN" altLang="en-US" sz="2000" dirty="0">
                <a:uFillTx/>
                <a:latin typeface="Times New Roman" panose="02020603050405020304" pitchFamily="18" charset="0"/>
                <a:ea typeface="黑体" panose="02010609060101010101" pitchFamily="49" charset="-122"/>
                <a:sym typeface="+mn-ea"/>
              </a:rPr>
              <a:t>。</a:t>
            </a:r>
            <a:endParaRPr lang="zh-CN" altLang="en-US" sz="2000" dirty="0">
              <a:uFillTx/>
              <a:latin typeface="Times New Roman" panose="02020603050405020304" pitchFamily="18" charset="0"/>
              <a:ea typeface="黑体" panose="02010609060101010101" pitchFamily="49" charset="-122"/>
              <a:sym typeface="+mn-ea"/>
            </a:endParaRPr>
          </a:p>
        </p:txBody>
      </p:sp>
      <p:sp>
        <p:nvSpPr>
          <p:cNvPr id="5" name="文本框 4"/>
          <p:cNvSpPr txBox="1"/>
          <p:nvPr/>
        </p:nvSpPr>
        <p:spPr>
          <a:xfrm>
            <a:off x="1028790" y="1102069"/>
            <a:ext cx="7086414" cy="428259"/>
          </a:xfrm>
          <a:prstGeom prst="rect">
            <a:avLst/>
          </a:prstGeom>
          <a:noFill/>
        </p:spPr>
        <p:txBody>
          <a:bodyPr wrap="square" rtlCol="0" anchor="t">
            <a:spAutoFit/>
          </a:bodyPr>
          <a:lstStyle/>
          <a:p>
            <a:pPr algn="just">
              <a:lnSpc>
                <a:spcPts val="2900"/>
              </a:lnSpc>
            </a:pPr>
            <a:r>
              <a:rPr lang="zh-CN" altLang="en-US" sz="2000" dirty="0">
                <a:uFillTx/>
                <a:latin typeface="Times New Roman" panose="02020603050405020304" pitchFamily="18" charset="0"/>
                <a:ea typeface="黑体" panose="02010609060101010101" pitchFamily="49" charset="-122"/>
                <a:sym typeface="+mn-ea"/>
              </a:rPr>
              <a:t>       要想知道</a:t>
            </a:r>
            <a:r>
              <a:rPr lang="en-US" altLang="zh-CN" sz="2000" i="1" dirty="0">
                <a:uFillTx/>
                <a:latin typeface="+mn-lt"/>
                <a:ea typeface="黑体" panose="02010609060101010101" pitchFamily="49" charset="-122"/>
                <a:sym typeface="+mn-ea"/>
              </a:rPr>
              <a:t>x</a:t>
            </a:r>
            <a:r>
              <a:rPr lang="en-US" altLang="zh-CN" sz="2000" baseline="-25000" dirty="0">
                <a:uFillTx/>
                <a:latin typeface="+mn-lt"/>
                <a:ea typeface="黑体" panose="02010609060101010101" pitchFamily="49" charset="-122"/>
                <a:sym typeface="+mn-ea"/>
              </a:rPr>
              <a:t>1</a:t>
            </a:r>
            <a:r>
              <a:rPr lang="zh-CN" altLang="en-US" sz="2000" baseline="-25000" dirty="0">
                <a:uFillTx/>
                <a:latin typeface="+mn-lt"/>
                <a:ea typeface="黑体" panose="02010609060101010101" pitchFamily="49" charset="-122"/>
                <a:sym typeface="+mn-ea"/>
              </a:rPr>
              <a:t>、</a:t>
            </a:r>
            <a:r>
              <a:rPr lang="en-US" altLang="zh-CN" sz="2000" i="1" dirty="0">
                <a:latin typeface="+mn-lt"/>
                <a:ea typeface="黑体" panose="02010609060101010101" pitchFamily="49" charset="-122"/>
                <a:sym typeface="+mn-ea"/>
              </a:rPr>
              <a:t>x</a:t>
            </a:r>
            <a:r>
              <a:rPr lang="en-US" altLang="zh-CN" sz="2000" baseline="-25000" dirty="0">
                <a:latin typeface="+mn-lt"/>
                <a:ea typeface="黑体" panose="02010609060101010101" pitchFamily="49" charset="-122"/>
                <a:sym typeface="+mn-ea"/>
              </a:rPr>
              <a:t>2</a:t>
            </a:r>
            <a:r>
              <a:rPr lang="zh-CN" altLang="en-US" sz="2000" baseline="-25000" dirty="0">
                <a:latin typeface="+mn-lt"/>
                <a:ea typeface="黑体" panose="02010609060101010101" pitchFamily="49" charset="-122"/>
                <a:sym typeface="+mn-ea"/>
              </a:rPr>
              <a:t>、</a:t>
            </a:r>
            <a:r>
              <a:rPr lang="en-US" altLang="zh-CN" sz="2000" i="1" dirty="0">
                <a:latin typeface="+mn-lt"/>
                <a:ea typeface="黑体" panose="02010609060101010101" pitchFamily="49" charset="-122"/>
                <a:sym typeface="+mn-ea"/>
              </a:rPr>
              <a:t>x</a:t>
            </a:r>
            <a:r>
              <a:rPr lang="en-US" altLang="zh-CN" sz="2000" baseline="-25000" dirty="0">
                <a:latin typeface="+mn-lt"/>
                <a:ea typeface="黑体" panose="02010609060101010101" pitchFamily="49" charset="-122"/>
                <a:sym typeface="+mn-ea"/>
              </a:rPr>
              <a:t>3</a:t>
            </a:r>
            <a:r>
              <a:rPr lang="zh-CN" altLang="en-US" sz="2000" dirty="0">
                <a:latin typeface="Times New Roman" panose="02020603050405020304" pitchFamily="18" charset="0"/>
                <a:ea typeface="黑体" panose="02010609060101010101" pitchFamily="49" charset="-122"/>
                <a:sym typeface="+mn-ea"/>
              </a:rPr>
              <a:t>的值，只需要任意</a:t>
            </a:r>
            <a:r>
              <a:rPr lang="en-US" altLang="zh-CN" sz="2000" dirty="0">
                <a:latin typeface="Times New Roman" panose="02020603050405020304" pitchFamily="18" charset="0"/>
                <a:ea typeface="黑体" panose="02010609060101010101" pitchFamily="49" charset="-122"/>
                <a:sym typeface="+mn-ea"/>
              </a:rPr>
              <a:t>3</a:t>
            </a:r>
            <a:r>
              <a:rPr lang="zh-CN" altLang="en-US" sz="2000" dirty="0">
                <a:latin typeface="Times New Roman" panose="02020603050405020304" pitchFamily="18" charset="0"/>
                <a:ea typeface="黑体" panose="02010609060101010101" pitchFamily="49" charset="-122"/>
                <a:sym typeface="+mn-ea"/>
              </a:rPr>
              <a:t>个方程式即可解出。</a:t>
            </a:r>
            <a:endParaRPr lang="en-US" altLang="zh-CN" sz="2000" dirty="0">
              <a:latin typeface="Times New Roman" panose="02020603050405020304" pitchFamily="18" charset="0"/>
              <a:ea typeface="黑体" panose="02010609060101010101" pitchFamily="49" charset="-122"/>
              <a:sym typeface="+mn-ea"/>
            </a:endParaRPr>
          </a:p>
        </p:txBody>
      </p:sp>
      <p:sp>
        <p:nvSpPr>
          <p:cNvPr id="6" name="文本框 5"/>
          <p:cNvSpPr txBox="1"/>
          <p:nvPr/>
        </p:nvSpPr>
        <p:spPr>
          <a:xfrm>
            <a:off x="2667051" y="1841822"/>
            <a:ext cx="3569582" cy="2290820"/>
          </a:xfrm>
          <a:prstGeom prst="rect">
            <a:avLst/>
          </a:prstGeom>
          <a:noFill/>
        </p:spPr>
        <p:txBody>
          <a:bodyPr wrap="square" rtlCol="0" anchor="t">
            <a:spAutoFit/>
          </a:bodyPr>
          <a:lstStyle/>
          <a:p>
            <a:pPr algn="just">
              <a:lnSpc>
                <a:spcPts val="2900"/>
              </a:lnSpc>
            </a:pP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1</a:t>
            </a:r>
            <a:r>
              <a:rPr lang="en-US" altLang="zh-CN" sz="2000" dirty="0">
                <a:uFillTx/>
                <a:latin typeface="Times New Roman" panose="02020603050405020304" pitchFamily="18" charset="0"/>
                <a:ea typeface="黑体" panose="02010609060101010101" pitchFamily="49" charset="-122"/>
                <a:sym typeface="+mn-ea"/>
              </a:rPr>
              <a:t> = 1                                   </a:t>
            </a:r>
            <a:r>
              <a:rPr lang="en-US" altLang="zh-CN" sz="2000" dirty="0">
                <a:latin typeface="Times New Roman" panose="02020603050405020304" pitchFamily="18" charset="0"/>
                <a:ea typeface="黑体" panose="02010609060101010101" pitchFamily="49" charset="-122"/>
                <a:sym typeface="+mn-ea"/>
              </a:rPr>
              <a:t>(1)</a:t>
            </a:r>
            <a:endParaRPr lang="en-US" altLang="zh-CN" sz="2000" dirty="0">
              <a:uFillTx/>
              <a:latin typeface="Times New Roman" panose="02020603050405020304" pitchFamily="18" charset="0"/>
              <a:ea typeface="黑体" panose="02010609060101010101" pitchFamily="49" charset="-122"/>
              <a:sym typeface="+mn-ea"/>
            </a:endParaRPr>
          </a:p>
          <a:p>
            <a:pPr algn="just">
              <a:lnSpc>
                <a:spcPts val="2900"/>
              </a:lnSpc>
            </a:pP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2</a:t>
            </a:r>
            <a:r>
              <a:rPr lang="en-US" altLang="zh-CN" sz="2000" dirty="0">
                <a:uFillTx/>
                <a:latin typeface="Times New Roman" panose="02020603050405020304" pitchFamily="18" charset="0"/>
                <a:ea typeface="黑体" panose="02010609060101010101" pitchFamily="49" charset="-122"/>
                <a:sym typeface="+mn-ea"/>
              </a:rPr>
              <a:t> = 2                                   (2)</a:t>
            </a:r>
            <a:endParaRPr lang="en-US" altLang="zh-CN" sz="2000" dirty="0">
              <a:uFillTx/>
              <a:latin typeface="Times New Roman" panose="02020603050405020304" pitchFamily="18" charset="0"/>
              <a:ea typeface="黑体" panose="02010609060101010101" pitchFamily="49" charset="-122"/>
              <a:sym typeface="+mn-ea"/>
            </a:endParaRPr>
          </a:p>
          <a:p>
            <a:pPr algn="just">
              <a:lnSpc>
                <a:spcPts val="2900"/>
              </a:lnSpc>
            </a:pP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3</a:t>
            </a:r>
            <a:r>
              <a:rPr lang="en-US" altLang="zh-CN" sz="2000" dirty="0">
                <a:uFillTx/>
                <a:latin typeface="Times New Roman" panose="02020603050405020304" pitchFamily="18" charset="0"/>
                <a:ea typeface="黑体" panose="02010609060101010101" pitchFamily="49" charset="-122"/>
                <a:sym typeface="+mn-ea"/>
              </a:rPr>
              <a:t> = 3                                   (3)</a:t>
            </a:r>
            <a:endParaRPr lang="en-US" altLang="zh-CN" sz="2000" dirty="0">
              <a:uFillTx/>
              <a:latin typeface="Times New Roman" panose="02020603050405020304" pitchFamily="18" charset="0"/>
              <a:ea typeface="黑体" panose="02010609060101010101" pitchFamily="49" charset="-122"/>
              <a:sym typeface="+mn-ea"/>
            </a:endParaRPr>
          </a:p>
          <a:p>
            <a:pPr algn="just">
              <a:lnSpc>
                <a:spcPts val="2900"/>
              </a:lnSpc>
            </a:pP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1</a:t>
            </a:r>
            <a:r>
              <a:rPr lang="en-US" altLang="zh-CN" sz="2000" dirty="0">
                <a:uFillTx/>
                <a:latin typeface="Times New Roman" panose="02020603050405020304" pitchFamily="18" charset="0"/>
                <a:ea typeface="黑体" panose="02010609060101010101" pitchFamily="49" charset="-122"/>
                <a:sym typeface="+mn-ea"/>
              </a:rPr>
              <a:t> + </a:t>
            </a: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2</a:t>
            </a:r>
            <a:r>
              <a:rPr lang="en-US" altLang="zh-CN" sz="2000" dirty="0">
                <a:uFillTx/>
                <a:latin typeface="Times New Roman" panose="02020603050405020304" pitchFamily="18" charset="0"/>
                <a:ea typeface="黑体" panose="02010609060101010101" pitchFamily="49" charset="-122"/>
                <a:sym typeface="+mn-ea"/>
              </a:rPr>
              <a:t> + </a:t>
            </a: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3</a:t>
            </a:r>
            <a:r>
              <a:rPr lang="en-US" altLang="zh-CN" sz="2000" dirty="0">
                <a:uFillTx/>
                <a:latin typeface="Times New Roman" panose="02020603050405020304" pitchFamily="18" charset="0"/>
                <a:ea typeface="黑体" panose="02010609060101010101" pitchFamily="49" charset="-122"/>
                <a:sym typeface="+mn-ea"/>
              </a:rPr>
              <a:t>= 6                     (4)</a:t>
            </a:r>
            <a:endParaRPr lang="en-US" altLang="zh-CN" sz="2000" dirty="0">
              <a:uFillTx/>
              <a:latin typeface="Times New Roman" panose="02020603050405020304" pitchFamily="18" charset="0"/>
              <a:ea typeface="黑体" panose="02010609060101010101" pitchFamily="49" charset="-122"/>
              <a:sym typeface="+mn-ea"/>
            </a:endParaRPr>
          </a:p>
          <a:p>
            <a:pPr algn="just">
              <a:lnSpc>
                <a:spcPts val="2900"/>
              </a:lnSpc>
            </a:pP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1</a:t>
            </a:r>
            <a:r>
              <a:rPr lang="en-US" altLang="zh-CN" sz="2000" dirty="0">
                <a:uFillTx/>
                <a:latin typeface="Times New Roman" panose="02020603050405020304" pitchFamily="18" charset="0"/>
                <a:ea typeface="黑体" panose="02010609060101010101" pitchFamily="49" charset="-122"/>
                <a:sym typeface="+mn-ea"/>
              </a:rPr>
              <a:t> + 2</a:t>
            </a: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2</a:t>
            </a:r>
            <a:r>
              <a:rPr lang="en-US" altLang="zh-CN" sz="2000" dirty="0">
                <a:uFillTx/>
                <a:latin typeface="Times New Roman" panose="02020603050405020304" pitchFamily="18" charset="0"/>
                <a:ea typeface="黑体" panose="02010609060101010101" pitchFamily="49" charset="-122"/>
                <a:sym typeface="+mn-ea"/>
              </a:rPr>
              <a:t> +4</a:t>
            </a: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3</a:t>
            </a:r>
            <a:r>
              <a:rPr lang="en-US" altLang="zh-CN" sz="2000" dirty="0">
                <a:uFillTx/>
                <a:latin typeface="Times New Roman" panose="02020603050405020304" pitchFamily="18" charset="0"/>
                <a:ea typeface="黑体" panose="02010609060101010101" pitchFamily="49" charset="-122"/>
                <a:sym typeface="+mn-ea"/>
              </a:rPr>
              <a:t> = 17          </a:t>
            </a:r>
            <a:r>
              <a:rPr lang="en-US" altLang="zh-CN" sz="2000" dirty="0">
                <a:latin typeface="Times New Roman" panose="02020603050405020304" pitchFamily="18" charset="0"/>
                <a:ea typeface="黑体" panose="02010609060101010101" pitchFamily="49" charset="-122"/>
                <a:sym typeface="+mn-ea"/>
              </a:rPr>
              <a:t>     </a:t>
            </a:r>
            <a:r>
              <a:rPr lang="en-US" altLang="zh-CN" sz="2000" dirty="0">
                <a:uFillTx/>
                <a:latin typeface="Times New Roman" panose="02020603050405020304" pitchFamily="18" charset="0"/>
                <a:ea typeface="黑体" panose="02010609060101010101" pitchFamily="49" charset="-122"/>
                <a:sym typeface="+mn-ea"/>
              </a:rPr>
              <a:t>(5)</a:t>
            </a:r>
            <a:endParaRPr lang="en-US" altLang="zh-CN" sz="2000" dirty="0">
              <a:uFillTx/>
              <a:latin typeface="Times New Roman" panose="02020603050405020304" pitchFamily="18" charset="0"/>
              <a:ea typeface="黑体" panose="02010609060101010101" pitchFamily="49" charset="-122"/>
              <a:sym typeface="+mn-ea"/>
            </a:endParaRPr>
          </a:p>
          <a:p>
            <a:pPr algn="just">
              <a:lnSpc>
                <a:spcPts val="2900"/>
              </a:lnSpc>
            </a:pP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1</a:t>
            </a:r>
            <a:r>
              <a:rPr lang="en-US" altLang="zh-CN" sz="2000" dirty="0">
                <a:uFillTx/>
                <a:latin typeface="Times New Roman" panose="02020603050405020304" pitchFamily="18" charset="0"/>
                <a:ea typeface="黑体" panose="02010609060101010101" pitchFamily="49" charset="-122"/>
                <a:sym typeface="+mn-ea"/>
              </a:rPr>
              <a:t> + 3</a:t>
            </a: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2</a:t>
            </a:r>
            <a:r>
              <a:rPr lang="en-US" altLang="zh-CN" sz="2000" dirty="0">
                <a:uFillTx/>
                <a:latin typeface="Times New Roman" panose="02020603050405020304" pitchFamily="18" charset="0"/>
                <a:ea typeface="黑体" panose="02010609060101010101" pitchFamily="49" charset="-122"/>
                <a:sym typeface="+mn-ea"/>
              </a:rPr>
              <a:t> +9</a:t>
            </a: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3</a:t>
            </a:r>
            <a:r>
              <a:rPr lang="en-US" altLang="zh-CN" sz="2000" dirty="0">
                <a:uFillTx/>
                <a:latin typeface="Times New Roman" panose="02020603050405020304" pitchFamily="18" charset="0"/>
                <a:ea typeface="黑体" panose="02010609060101010101" pitchFamily="49" charset="-122"/>
                <a:sym typeface="+mn-ea"/>
              </a:rPr>
              <a:t> = 34               (6)</a:t>
            </a:r>
            <a:endParaRPr lang="en-US" altLang="zh-CN" sz="20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纠删码技术的引入 </a:t>
            </a:r>
            <a:endParaRPr lang="zh-CN" altLang="en-US" sz="2400" dirty="0">
              <a:sym typeface="+mn-ea"/>
            </a:endParaRPr>
          </a:p>
        </p:txBody>
      </p:sp>
      <p:sp>
        <p:nvSpPr>
          <p:cNvPr id="4" name="文本框 3"/>
          <p:cNvSpPr txBox="1"/>
          <p:nvPr/>
        </p:nvSpPr>
        <p:spPr>
          <a:xfrm>
            <a:off x="727126" y="4702610"/>
            <a:ext cx="7689744" cy="1277850"/>
          </a:xfrm>
          <a:prstGeom prst="rect">
            <a:avLst/>
          </a:prstGeom>
          <a:noFill/>
        </p:spPr>
        <p:txBody>
          <a:bodyPr wrap="square" rtlCol="0" anchor="t">
            <a:spAutoFit/>
          </a:bodyPr>
          <a:lstStyle/>
          <a:p>
            <a:pPr algn="just">
              <a:lnSpc>
                <a:spcPts val="3200"/>
              </a:lnSpc>
            </a:pPr>
            <a:r>
              <a:rPr lang="zh-CN" altLang="en-US" sz="2000" dirty="0">
                <a:latin typeface="Times New Roman" panose="02020603050405020304" pitchFamily="18" charset="0"/>
                <a:ea typeface="黑体" panose="02010609060101010101" pitchFamily="49" charset="-122"/>
                <a:sym typeface="+mn-ea"/>
              </a:rPr>
              <a:t>         </a:t>
            </a:r>
            <a:r>
              <a:rPr lang="zh-CN" altLang="en-US" sz="2000" dirty="0">
                <a:solidFill>
                  <a:srgbClr val="FF0000"/>
                </a:solidFill>
                <a:latin typeface="Times New Roman" panose="02020603050405020304" pitchFamily="18" charset="0"/>
                <a:ea typeface="黑体" panose="02010609060101010101" pitchFamily="49" charset="-122"/>
                <a:sym typeface="+mn-ea"/>
              </a:rPr>
              <a:t>纠删码策略</a:t>
            </a:r>
            <a:r>
              <a:rPr lang="zh-CN" altLang="en-US" sz="2000" dirty="0">
                <a:latin typeface="Times New Roman" panose="02020603050405020304" pitchFamily="18" charset="0"/>
                <a:ea typeface="黑体" panose="02010609060101010101" pitchFamily="49" charset="-122"/>
                <a:sym typeface="+mn-ea"/>
              </a:rPr>
              <a:t>：</a:t>
            </a:r>
            <a:r>
              <a:rPr lang="zh-CN" altLang="en-US" sz="2000" dirty="0">
                <a:uFillTx/>
                <a:latin typeface="Times New Roman" panose="02020603050405020304" pitchFamily="18" charset="0"/>
                <a:ea typeface="黑体" panose="02010609060101010101" pitchFamily="49" charset="-122"/>
                <a:sym typeface="+mn-ea"/>
              </a:rPr>
              <a:t>把方程</a:t>
            </a:r>
            <a:r>
              <a:rPr lang="en-US" altLang="zh-CN" sz="2000" dirty="0">
                <a:uFillTx/>
                <a:latin typeface="Times New Roman" panose="02020603050405020304" pitchFamily="18" charset="0"/>
                <a:ea typeface="黑体" panose="02010609060101010101" pitchFamily="49" charset="-122"/>
                <a:sym typeface="+mn-ea"/>
              </a:rPr>
              <a:t>(1)(2)(3)</a:t>
            </a:r>
            <a:r>
              <a:rPr lang="zh-CN" altLang="en-US" sz="2000" dirty="0">
                <a:uFillTx/>
                <a:latin typeface="Times New Roman" panose="02020603050405020304" pitchFamily="18" charset="0"/>
                <a:ea typeface="黑体" panose="02010609060101010101" pitchFamily="49" charset="-122"/>
                <a:sym typeface="+mn-ea"/>
              </a:rPr>
              <a:t>看做是分布式系统的数据</a:t>
            </a:r>
            <a:r>
              <a:rPr lang="zh-CN" altLang="en-US" sz="2000" dirty="0">
                <a:latin typeface="Times New Roman" panose="02020603050405020304" pitchFamily="18" charset="0"/>
                <a:ea typeface="黑体" panose="02010609060101010101" pitchFamily="49" charset="-122"/>
                <a:sym typeface="+mn-ea"/>
              </a:rPr>
              <a:t>，</a:t>
            </a:r>
            <a:r>
              <a:rPr lang="en-US" altLang="zh-CN" sz="2000" dirty="0">
                <a:uFillTx/>
                <a:latin typeface="Times New Roman" panose="02020603050405020304" pitchFamily="18" charset="0"/>
                <a:ea typeface="黑体" panose="02010609060101010101" pitchFamily="49" charset="-122"/>
                <a:sym typeface="+mn-ea"/>
              </a:rPr>
              <a:t>(4)(5)(6)</a:t>
            </a:r>
            <a:r>
              <a:rPr lang="zh-CN" altLang="en-US" sz="2000" dirty="0">
                <a:uFillTx/>
                <a:latin typeface="Times New Roman" panose="02020603050405020304" pitchFamily="18" charset="0"/>
                <a:ea typeface="黑体" panose="02010609060101010101" pitchFamily="49" charset="-122"/>
                <a:sym typeface="+mn-ea"/>
              </a:rPr>
              <a:t>看做是</a:t>
            </a:r>
            <a:r>
              <a:rPr lang="en-US" altLang="zh-CN" sz="2000" dirty="0">
                <a:uFillTx/>
                <a:latin typeface="Times New Roman" panose="02020603050405020304" pitchFamily="18" charset="0"/>
                <a:ea typeface="黑体" panose="02010609060101010101" pitchFamily="49" charset="-122"/>
                <a:sym typeface="+mn-ea"/>
              </a:rPr>
              <a:t>code</a:t>
            </a:r>
            <a:r>
              <a:rPr lang="zh-CN" altLang="en-US" sz="2000" dirty="0">
                <a:uFillTx/>
                <a:latin typeface="Times New Roman" panose="02020603050405020304" pitchFamily="18" charset="0"/>
                <a:ea typeface="黑体" panose="02010609060101010101" pitchFamily="49" charset="-122"/>
                <a:sym typeface="+mn-ea"/>
              </a:rPr>
              <a:t>，只要一个</a:t>
            </a:r>
            <a:r>
              <a:rPr lang="en-US" altLang="zh-CN" sz="2000" dirty="0">
                <a:uFillTx/>
                <a:latin typeface="Times New Roman" panose="02020603050405020304" pitchFamily="18" charset="0"/>
                <a:ea typeface="黑体" panose="02010609060101010101" pitchFamily="49" charset="-122"/>
                <a:sym typeface="+mn-ea"/>
              </a:rPr>
              <a:t>code</a:t>
            </a:r>
            <a:r>
              <a:rPr lang="zh-CN" altLang="en-US" sz="2000" dirty="0">
                <a:uFillTx/>
                <a:latin typeface="Times New Roman" panose="02020603050405020304" pitchFamily="18" charset="0"/>
                <a:ea typeface="黑体" panose="02010609060101010101" pitchFamily="49" charset="-122"/>
                <a:sym typeface="+mn-ea"/>
              </a:rPr>
              <a:t>，即使丢了</a:t>
            </a:r>
            <a:r>
              <a:rPr lang="en-US" altLang="zh-CN" sz="2000" dirty="0">
                <a:uFillTx/>
                <a:latin typeface="Times New Roman" panose="02020603050405020304" pitchFamily="18" charset="0"/>
                <a:ea typeface="黑体" panose="02010609060101010101" pitchFamily="49" charset="-122"/>
                <a:sym typeface="+mn-ea"/>
              </a:rPr>
              <a:t>(1)(2)(3)</a:t>
            </a:r>
            <a:r>
              <a:rPr lang="zh-CN" altLang="en-US" sz="2000" dirty="0">
                <a:uFillTx/>
                <a:latin typeface="Times New Roman" panose="02020603050405020304" pitchFamily="18" charset="0"/>
                <a:ea typeface="黑体" panose="02010609060101010101" pitchFamily="49" charset="-122"/>
                <a:sym typeface="+mn-ea"/>
              </a:rPr>
              <a:t>中的任何一个方程，数据都可以恢复</a:t>
            </a:r>
            <a:r>
              <a:rPr lang="zh-CN" altLang="en-US" sz="2000" dirty="0">
                <a:latin typeface="Times New Roman" panose="02020603050405020304" pitchFamily="18" charset="0"/>
                <a:ea typeface="黑体" panose="02010609060101010101" pitchFamily="49" charset="-122"/>
                <a:sym typeface="+mn-ea"/>
              </a:rPr>
              <a:t>，</a:t>
            </a:r>
            <a:r>
              <a:rPr lang="zh-CN" altLang="en-US" sz="2000" dirty="0">
                <a:uFillTx/>
                <a:latin typeface="Times New Roman" panose="02020603050405020304" pitchFamily="18" charset="0"/>
                <a:ea typeface="黑体" panose="02010609060101010101" pitchFamily="49" charset="-122"/>
                <a:sym typeface="+mn-ea"/>
              </a:rPr>
              <a:t>故只需要</a:t>
            </a:r>
            <a:r>
              <a:rPr lang="zh-CN" altLang="en-US" sz="2000" dirty="0">
                <a:solidFill>
                  <a:schemeClr val="accent2"/>
                </a:solidFill>
                <a:uFillTx/>
                <a:latin typeface="Times New Roman" panose="02020603050405020304" pitchFamily="18" charset="0"/>
                <a:ea typeface="黑体" panose="02010609060101010101" pitchFamily="49" charset="-122"/>
                <a:sym typeface="+mn-ea"/>
              </a:rPr>
              <a:t>存储</a:t>
            </a:r>
            <a:r>
              <a:rPr lang="en-US" altLang="zh-CN" sz="2000" dirty="0">
                <a:solidFill>
                  <a:schemeClr val="accent2"/>
                </a:solidFill>
                <a:uFillTx/>
                <a:latin typeface="Times New Roman" panose="02020603050405020304" pitchFamily="18" charset="0"/>
                <a:ea typeface="黑体" panose="02010609060101010101" pitchFamily="49" charset="-122"/>
                <a:sym typeface="+mn-ea"/>
              </a:rPr>
              <a:t>4</a:t>
            </a:r>
            <a:r>
              <a:rPr lang="zh-CN" altLang="en-US" sz="2000" dirty="0">
                <a:solidFill>
                  <a:schemeClr val="accent2"/>
                </a:solidFill>
                <a:uFillTx/>
                <a:latin typeface="Times New Roman" panose="02020603050405020304" pitchFamily="18" charset="0"/>
                <a:ea typeface="黑体" panose="02010609060101010101" pitchFamily="49" charset="-122"/>
                <a:sym typeface="+mn-ea"/>
              </a:rPr>
              <a:t>个方程</a:t>
            </a:r>
            <a:r>
              <a:rPr lang="zh-CN" altLang="en-US" sz="2000" dirty="0">
                <a:uFillTx/>
                <a:latin typeface="Times New Roman" panose="02020603050405020304" pitchFamily="18" charset="0"/>
                <a:ea typeface="黑体" panose="02010609060101010101" pitchFamily="49" charset="-122"/>
                <a:sym typeface="+mn-ea"/>
              </a:rPr>
              <a:t>。</a:t>
            </a:r>
            <a:endParaRPr lang="en-US" altLang="zh-CN" sz="2000" dirty="0">
              <a:uFillTx/>
              <a:latin typeface="Times New Roman" panose="02020603050405020304" pitchFamily="18" charset="0"/>
              <a:ea typeface="黑体" panose="02010609060101010101" pitchFamily="49" charset="-122"/>
              <a:sym typeface="+mn-ea"/>
            </a:endParaRPr>
          </a:p>
        </p:txBody>
      </p:sp>
      <p:sp>
        <p:nvSpPr>
          <p:cNvPr id="5" name="文本框 4"/>
          <p:cNvSpPr txBox="1"/>
          <p:nvPr/>
        </p:nvSpPr>
        <p:spPr>
          <a:xfrm>
            <a:off x="1028789" y="1122004"/>
            <a:ext cx="7086414" cy="428259"/>
          </a:xfrm>
          <a:prstGeom prst="rect">
            <a:avLst/>
          </a:prstGeom>
          <a:noFill/>
        </p:spPr>
        <p:txBody>
          <a:bodyPr wrap="square" rtlCol="0" anchor="t">
            <a:spAutoFit/>
          </a:bodyPr>
          <a:lstStyle/>
          <a:p>
            <a:pPr algn="just">
              <a:lnSpc>
                <a:spcPts val="2900"/>
              </a:lnSpc>
            </a:pPr>
            <a:r>
              <a:rPr lang="zh-CN" altLang="en-US" sz="2000" dirty="0">
                <a:uFillTx/>
                <a:latin typeface="Times New Roman" panose="02020603050405020304" pitchFamily="18" charset="0"/>
                <a:ea typeface="黑体" panose="02010609060101010101" pitchFamily="49" charset="-122"/>
                <a:sym typeface="+mn-ea"/>
              </a:rPr>
              <a:t>       要想知道</a:t>
            </a:r>
            <a:r>
              <a:rPr lang="en-US" altLang="zh-CN" sz="2000" i="1" dirty="0">
                <a:uFillTx/>
                <a:latin typeface="+mn-lt"/>
                <a:ea typeface="黑体" panose="02010609060101010101" pitchFamily="49" charset="-122"/>
                <a:sym typeface="+mn-ea"/>
              </a:rPr>
              <a:t>x</a:t>
            </a:r>
            <a:r>
              <a:rPr lang="en-US" altLang="zh-CN" sz="2000" baseline="-25000" dirty="0">
                <a:uFillTx/>
                <a:latin typeface="+mn-lt"/>
                <a:ea typeface="黑体" panose="02010609060101010101" pitchFamily="49" charset="-122"/>
                <a:sym typeface="+mn-ea"/>
              </a:rPr>
              <a:t>1</a:t>
            </a:r>
            <a:r>
              <a:rPr lang="zh-CN" altLang="en-US" sz="2000" baseline="-25000" dirty="0">
                <a:uFillTx/>
                <a:latin typeface="+mn-lt"/>
                <a:ea typeface="黑体" panose="02010609060101010101" pitchFamily="49" charset="-122"/>
                <a:sym typeface="+mn-ea"/>
              </a:rPr>
              <a:t>、</a:t>
            </a:r>
            <a:r>
              <a:rPr lang="en-US" altLang="zh-CN" sz="2000" i="1" dirty="0">
                <a:latin typeface="+mn-lt"/>
                <a:ea typeface="黑体" panose="02010609060101010101" pitchFamily="49" charset="-122"/>
                <a:sym typeface="+mn-ea"/>
              </a:rPr>
              <a:t>x</a:t>
            </a:r>
            <a:r>
              <a:rPr lang="en-US" altLang="zh-CN" sz="2000" baseline="-25000" dirty="0">
                <a:latin typeface="+mn-lt"/>
                <a:ea typeface="黑体" panose="02010609060101010101" pitchFamily="49" charset="-122"/>
                <a:sym typeface="+mn-ea"/>
              </a:rPr>
              <a:t>2</a:t>
            </a:r>
            <a:r>
              <a:rPr lang="zh-CN" altLang="en-US" sz="2000" baseline="-25000" dirty="0">
                <a:latin typeface="+mn-lt"/>
                <a:ea typeface="黑体" panose="02010609060101010101" pitchFamily="49" charset="-122"/>
                <a:sym typeface="+mn-ea"/>
              </a:rPr>
              <a:t>、</a:t>
            </a:r>
            <a:r>
              <a:rPr lang="en-US" altLang="zh-CN" sz="2000" i="1" dirty="0">
                <a:latin typeface="+mn-lt"/>
                <a:ea typeface="黑体" panose="02010609060101010101" pitchFamily="49" charset="-122"/>
                <a:sym typeface="+mn-ea"/>
              </a:rPr>
              <a:t>x</a:t>
            </a:r>
            <a:r>
              <a:rPr lang="en-US" altLang="zh-CN" sz="2000" baseline="-25000" dirty="0">
                <a:latin typeface="+mn-lt"/>
                <a:ea typeface="黑体" panose="02010609060101010101" pitchFamily="49" charset="-122"/>
                <a:sym typeface="+mn-ea"/>
              </a:rPr>
              <a:t>3</a:t>
            </a:r>
            <a:r>
              <a:rPr lang="zh-CN" altLang="en-US" sz="2000" dirty="0">
                <a:latin typeface="Times New Roman" panose="02020603050405020304" pitchFamily="18" charset="0"/>
                <a:ea typeface="黑体" panose="02010609060101010101" pitchFamily="49" charset="-122"/>
                <a:sym typeface="+mn-ea"/>
              </a:rPr>
              <a:t>的值，只需要任意</a:t>
            </a:r>
            <a:r>
              <a:rPr lang="en-US" altLang="zh-CN" sz="2000" dirty="0">
                <a:latin typeface="Times New Roman" panose="02020603050405020304" pitchFamily="18" charset="0"/>
                <a:ea typeface="黑体" panose="02010609060101010101" pitchFamily="49" charset="-122"/>
                <a:sym typeface="+mn-ea"/>
              </a:rPr>
              <a:t>3</a:t>
            </a:r>
            <a:r>
              <a:rPr lang="zh-CN" altLang="en-US" sz="2000" dirty="0">
                <a:latin typeface="Times New Roman" panose="02020603050405020304" pitchFamily="18" charset="0"/>
                <a:ea typeface="黑体" panose="02010609060101010101" pitchFamily="49" charset="-122"/>
                <a:sym typeface="+mn-ea"/>
              </a:rPr>
              <a:t>个方程式即可解出。</a:t>
            </a:r>
            <a:endParaRPr lang="en-US" altLang="zh-CN" sz="2000" dirty="0">
              <a:latin typeface="Times New Roman" panose="02020603050405020304" pitchFamily="18" charset="0"/>
              <a:ea typeface="黑体" panose="02010609060101010101" pitchFamily="49" charset="-122"/>
              <a:sym typeface="+mn-ea"/>
            </a:endParaRPr>
          </a:p>
        </p:txBody>
      </p:sp>
      <p:sp>
        <p:nvSpPr>
          <p:cNvPr id="7" name="文本框 6"/>
          <p:cNvSpPr txBox="1"/>
          <p:nvPr/>
        </p:nvSpPr>
        <p:spPr>
          <a:xfrm>
            <a:off x="2667051" y="1841822"/>
            <a:ext cx="3569582" cy="2290820"/>
          </a:xfrm>
          <a:prstGeom prst="rect">
            <a:avLst/>
          </a:prstGeom>
          <a:noFill/>
        </p:spPr>
        <p:txBody>
          <a:bodyPr wrap="square" rtlCol="0" anchor="t">
            <a:spAutoFit/>
          </a:bodyPr>
          <a:lstStyle/>
          <a:p>
            <a:pPr algn="just">
              <a:lnSpc>
                <a:spcPts val="2900"/>
              </a:lnSpc>
            </a:pP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1</a:t>
            </a:r>
            <a:r>
              <a:rPr lang="en-US" altLang="zh-CN" sz="2000" dirty="0">
                <a:uFillTx/>
                <a:latin typeface="Times New Roman" panose="02020603050405020304" pitchFamily="18" charset="0"/>
                <a:ea typeface="黑体" panose="02010609060101010101" pitchFamily="49" charset="-122"/>
                <a:sym typeface="+mn-ea"/>
              </a:rPr>
              <a:t> = 1                                   </a:t>
            </a:r>
            <a:r>
              <a:rPr lang="en-US" altLang="zh-CN" sz="2000" dirty="0">
                <a:latin typeface="Times New Roman" panose="02020603050405020304" pitchFamily="18" charset="0"/>
                <a:ea typeface="黑体" panose="02010609060101010101" pitchFamily="49" charset="-122"/>
                <a:sym typeface="+mn-ea"/>
              </a:rPr>
              <a:t>(1)</a:t>
            </a:r>
            <a:endParaRPr lang="en-US" altLang="zh-CN" sz="2000" dirty="0">
              <a:uFillTx/>
              <a:latin typeface="Times New Roman" panose="02020603050405020304" pitchFamily="18" charset="0"/>
              <a:ea typeface="黑体" panose="02010609060101010101" pitchFamily="49" charset="-122"/>
              <a:sym typeface="+mn-ea"/>
            </a:endParaRPr>
          </a:p>
          <a:p>
            <a:pPr algn="just">
              <a:lnSpc>
                <a:spcPts val="2900"/>
              </a:lnSpc>
            </a:pP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2</a:t>
            </a:r>
            <a:r>
              <a:rPr lang="en-US" altLang="zh-CN" sz="2000" dirty="0">
                <a:uFillTx/>
                <a:latin typeface="Times New Roman" panose="02020603050405020304" pitchFamily="18" charset="0"/>
                <a:ea typeface="黑体" panose="02010609060101010101" pitchFamily="49" charset="-122"/>
                <a:sym typeface="+mn-ea"/>
              </a:rPr>
              <a:t> = 2                                   (2)</a:t>
            </a:r>
            <a:endParaRPr lang="en-US" altLang="zh-CN" sz="2000" dirty="0">
              <a:uFillTx/>
              <a:latin typeface="Times New Roman" panose="02020603050405020304" pitchFamily="18" charset="0"/>
              <a:ea typeface="黑体" panose="02010609060101010101" pitchFamily="49" charset="-122"/>
              <a:sym typeface="+mn-ea"/>
            </a:endParaRPr>
          </a:p>
          <a:p>
            <a:pPr algn="just">
              <a:lnSpc>
                <a:spcPts val="2900"/>
              </a:lnSpc>
            </a:pP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3</a:t>
            </a:r>
            <a:r>
              <a:rPr lang="en-US" altLang="zh-CN" sz="2000" dirty="0">
                <a:uFillTx/>
                <a:latin typeface="Times New Roman" panose="02020603050405020304" pitchFamily="18" charset="0"/>
                <a:ea typeface="黑体" panose="02010609060101010101" pitchFamily="49" charset="-122"/>
                <a:sym typeface="+mn-ea"/>
              </a:rPr>
              <a:t> = 3                                   (3)</a:t>
            </a:r>
            <a:endParaRPr lang="en-US" altLang="zh-CN" sz="2000" dirty="0">
              <a:uFillTx/>
              <a:latin typeface="Times New Roman" panose="02020603050405020304" pitchFamily="18" charset="0"/>
              <a:ea typeface="黑体" panose="02010609060101010101" pitchFamily="49" charset="-122"/>
              <a:sym typeface="+mn-ea"/>
            </a:endParaRPr>
          </a:p>
          <a:p>
            <a:pPr algn="just">
              <a:lnSpc>
                <a:spcPts val="2900"/>
              </a:lnSpc>
            </a:pP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1</a:t>
            </a:r>
            <a:r>
              <a:rPr lang="en-US" altLang="zh-CN" sz="2000" dirty="0">
                <a:uFillTx/>
                <a:latin typeface="Times New Roman" panose="02020603050405020304" pitchFamily="18" charset="0"/>
                <a:ea typeface="黑体" panose="02010609060101010101" pitchFamily="49" charset="-122"/>
                <a:sym typeface="+mn-ea"/>
              </a:rPr>
              <a:t> + </a:t>
            </a: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2</a:t>
            </a:r>
            <a:r>
              <a:rPr lang="en-US" altLang="zh-CN" sz="2000" dirty="0">
                <a:uFillTx/>
                <a:latin typeface="Times New Roman" panose="02020603050405020304" pitchFamily="18" charset="0"/>
                <a:ea typeface="黑体" panose="02010609060101010101" pitchFamily="49" charset="-122"/>
                <a:sym typeface="+mn-ea"/>
              </a:rPr>
              <a:t> + </a:t>
            </a: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3</a:t>
            </a:r>
            <a:r>
              <a:rPr lang="en-US" altLang="zh-CN" sz="2000" dirty="0">
                <a:uFillTx/>
                <a:latin typeface="Times New Roman" panose="02020603050405020304" pitchFamily="18" charset="0"/>
                <a:ea typeface="黑体" panose="02010609060101010101" pitchFamily="49" charset="-122"/>
                <a:sym typeface="+mn-ea"/>
              </a:rPr>
              <a:t>= 6                     (4)</a:t>
            </a:r>
            <a:endParaRPr lang="en-US" altLang="zh-CN" sz="2000" dirty="0">
              <a:uFillTx/>
              <a:latin typeface="Times New Roman" panose="02020603050405020304" pitchFamily="18" charset="0"/>
              <a:ea typeface="黑体" panose="02010609060101010101" pitchFamily="49" charset="-122"/>
              <a:sym typeface="+mn-ea"/>
            </a:endParaRPr>
          </a:p>
          <a:p>
            <a:pPr algn="just">
              <a:lnSpc>
                <a:spcPts val="2900"/>
              </a:lnSpc>
            </a:pP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1</a:t>
            </a:r>
            <a:r>
              <a:rPr lang="en-US" altLang="zh-CN" sz="2000" dirty="0">
                <a:uFillTx/>
                <a:latin typeface="Times New Roman" panose="02020603050405020304" pitchFamily="18" charset="0"/>
                <a:ea typeface="黑体" panose="02010609060101010101" pitchFamily="49" charset="-122"/>
                <a:sym typeface="+mn-ea"/>
              </a:rPr>
              <a:t> + 2</a:t>
            </a: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2</a:t>
            </a:r>
            <a:r>
              <a:rPr lang="en-US" altLang="zh-CN" sz="2000" dirty="0">
                <a:uFillTx/>
                <a:latin typeface="Times New Roman" panose="02020603050405020304" pitchFamily="18" charset="0"/>
                <a:ea typeface="黑体" panose="02010609060101010101" pitchFamily="49" charset="-122"/>
                <a:sym typeface="+mn-ea"/>
              </a:rPr>
              <a:t> +4</a:t>
            </a: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3</a:t>
            </a:r>
            <a:r>
              <a:rPr lang="en-US" altLang="zh-CN" sz="2000" dirty="0">
                <a:uFillTx/>
                <a:latin typeface="Times New Roman" panose="02020603050405020304" pitchFamily="18" charset="0"/>
                <a:ea typeface="黑体" panose="02010609060101010101" pitchFamily="49" charset="-122"/>
                <a:sym typeface="+mn-ea"/>
              </a:rPr>
              <a:t> = 17          </a:t>
            </a:r>
            <a:r>
              <a:rPr lang="en-US" altLang="zh-CN" sz="2000" dirty="0">
                <a:latin typeface="Times New Roman" panose="02020603050405020304" pitchFamily="18" charset="0"/>
                <a:ea typeface="黑体" panose="02010609060101010101" pitchFamily="49" charset="-122"/>
                <a:sym typeface="+mn-ea"/>
              </a:rPr>
              <a:t>     </a:t>
            </a:r>
            <a:r>
              <a:rPr lang="en-US" altLang="zh-CN" sz="2000" dirty="0">
                <a:uFillTx/>
                <a:latin typeface="Times New Roman" panose="02020603050405020304" pitchFamily="18" charset="0"/>
                <a:ea typeface="黑体" panose="02010609060101010101" pitchFamily="49" charset="-122"/>
                <a:sym typeface="+mn-ea"/>
              </a:rPr>
              <a:t>(5)</a:t>
            </a:r>
            <a:endParaRPr lang="en-US" altLang="zh-CN" sz="2000" dirty="0">
              <a:uFillTx/>
              <a:latin typeface="Times New Roman" panose="02020603050405020304" pitchFamily="18" charset="0"/>
              <a:ea typeface="黑体" panose="02010609060101010101" pitchFamily="49" charset="-122"/>
              <a:sym typeface="+mn-ea"/>
            </a:endParaRPr>
          </a:p>
          <a:p>
            <a:pPr algn="just">
              <a:lnSpc>
                <a:spcPts val="2900"/>
              </a:lnSpc>
            </a:pP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1</a:t>
            </a:r>
            <a:r>
              <a:rPr lang="en-US" altLang="zh-CN" sz="2000" dirty="0">
                <a:uFillTx/>
                <a:latin typeface="Times New Roman" panose="02020603050405020304" pitchFamily="18" charset="0"/>
                <a:ea typeface="黑体" panose="02010609060101010101" pitchFamily="49" charset="-122"/>
                <a:sym typeface="+mn-ea"/>
              </a:rPr>
              <a:t> + 3</a:t>
            </a: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2</a:t>
            </a:r>
            <a:r>
              <a:rPr lang="en-US" altLang="zh-CN" sz="2000" dirty="0">
                <a:uFillTx/>
                <a:latin typeface="Times New Roman" panose="02020603050405020304" pitchFamily="18" charset="0"/>
                <a:ea typeface="黑体" panose="02010609060101010101" pitchFamily="49" charset="-122"/>
                <a:sym typeface="+mn-ea"/>
              </a:rPr>
              <a:t> +9</a:t>
            </a: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3</a:t>
            </a:r>
            <a:r>
              <a:rPr lang="en-US" altLang="zh-CN" sz="2000" dirty="0">
                <a:uFillTx/>
                <a:latin typeface="Times New Roman" panose="02020603050405020304" pitchFamily="18" charset="0"/>
                <a:ea typeface="黑体" panose="02010609060101010101" pitchFamily="49" charset="-122"/>
                <a:sym typeface="+mn-ea"/>
              </a:rPr>
              <a:t> = 34               (6)</a:t>
            </a:r>
            <a:endParaRPr lang="en-US" altLang="zh-CN" sz="20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纠删码技术的引入 </a:t>
            </a:r>
            <a:endParaRPr lang="zh-CN" altLang="en-US" sz="2400" dirty="0">
              <a:sym typeface="+mn-ea"/>
            </a:endParaRPr>
          </a:p>
        </p:txBody>
      </p:sp>
      <p:sp>
        <p:nvSpPr>
          <p:cNvPr id="4" name="文本框 3"/>
          <p:cNvSpPr txBox="1"/>
          <p:nvPr/>
        </p:nvSpPr>
        <p:spPr>
          <a:xfrm>
            <a:off x="727126" y="4687940"/>
            <a:ext cx="7883368" cy="1277850"/>
          </a:xfrm>
          <a:prstGeom prst="rect">
            <a:avLst/>
          </a:prstGeom>
          <a:noFill/>
        </p:spPr>
        <p:txBody>
          <a:bodyPr wrap="square" rtlCol="0" anchor="t">
            <a:spAutoFit/>
          </a:bodyPr>
          <a:lstStyle/>
          <a:p>
            <a:pPr algn="just">
              <a:lnSpc>
                <a:spcPts val="3200"/>
              </a:lnSpc>
            </a:pPr>
            <a:r>
              <a:rPr lang="zh-CN" altLang="en-US" sz="2000" dirty="0">
                <a:solidFill>
                  <a:srgbClr val="FF0000"/>
                </a:solidFill>
                <a:uFillTx/>
                <a:latin typeface="Times New Roman" panose="02020603050405020304" pitchFamily="18" charset="0"/>
                <a:ea typeface="黑体" panose="02010609060101010101" pitchFamily="49" charset="-122"/>
                <a:sym typeface="+mn-ea"/>
              </a:rPr>
              <a:t>         策略存储效率对比</a:t>
            </a:r>
            <a:r>
              <a:rPr lang="zh-CN" altLang="en-US" sz="2000" dirty="0">
                <a:uFillTx/>
                <a:latin typeface="Times New Roman" panose="02020603050405020304" pitchFamily="18" charset="0"/>
                <a:ea typeface="黑体" panose="02010609060101010101" pitchFamily="49" charset="-122"/>
                <a:sym typeface="+mn-ea"/>
              </a:rPr>
              <a:t>：纠删码策略存储</a:t>
            </a:r>
            <a:r>
              <a:rPr lang="en-US" altLang="zh-CN" sz="2000" dirty="0">
                <a:uFillTx/>
                <a:latin typeface="Times New Roman" panose="02020603050405020304" pitchFamily="18" charset="0"/>
                <a:ea typeface="黑体" panose="02010609060101010101" pitchFamily="49" charset="-122"/>
                <a:sym typeface="+mn-ea"/>
              </a:rPr>
              <a:t>4</a:t>
            </a:r>
            <a:r>
              <a:rPr lang="zh-CN" altLang="en-US" sz="2000" dirty="0">
                <a:uFillTx/>
                <a:latin typeface="Times New Roman" panose="02020603050405020304" pitchFamily="18" charset="0"/>
                <a:ea typeface="黑体" panose="02010609060101010101" pitchFamily="49" charset="-122"/>
                <a:sym typeface="+mn-ea"/>
              </a:rPr>
              <a:t>个方程，副本策略存储</a:t>
            </a:r>
            <a:r>
              <a:rPr lang="en-US" altLang="zh-CN" sz="2000" dirty="0">
                <a:uFillTx/>
                <a:latin typeface="Times New Roman" panose="02020603050405020304" pitchFamily="18" charset="0"/>
                <a:ea typeface="黑体" panose="02010609060101010101" pitchFamily="49" charset="-122"/>
                <a:sym typeface="+mn-ea"/>
              </a:rPr>
              <a:t>6</a:t>
            </a:r>
            <a:r>
              <a:rPr lang="zh-CN" altLang="en-US" sz="2000" dirty="0">
                <a:uFillTx/>
                <a:latin typeface="Times New Roman" panose="02020603050405020304" pitchFamily="18" charset="0"/>
                <a:ea typeface="黑体" panose="02010609060101010101" pitchFamily="49" charset="-122"/>
                <a:sym typeface="+mn-ea"/>
              </a:rPr>
              <a:t>个方程，</a:t>
            </a:r>
            <a:r>
              <a:rPr lang="zh-CN" altLang="en-US" sz="2000" dirty="0">
                <a:solidFill>
                  <a:schemeClr val="accent2"/>
                </a:solidFill>
                <a:uFillTx/>
                <a:latin typeface="Times New Roman" panose="02020603050405020304" pitchFamily="18" charset="0"/>
                <a:ea typeface="黑体" panose="02010609060101010101" pitchFamily="49" charset="-122"/>
                <a:sym typeface="+mn-ea"/>
              </a:rPr>
              <a:t>存储效率是</a:t>
            </a:r>
            <a:r>
              <a:rPr lang="en-US" altLang="zh-CN" sz="2000" dirty="0">
                <a:solidFill>
                  <a:schemeClr val="accent2"/>
                </a:solidFill>
                <a:uFillTx/>
                <a:latin typeface="Times New Roman" panose="02020603050405020304" pitchFamily="18" charset="0"/>
                <a:ea typeface="黑体" panose="02010609060101010101" pitchFamily="49" charset="-122"/>
                <a:sym typeface="+mn-ea"/>
              </a:rPr>
              <a:t>4/6</a:t>
            </a:r>
            <a:r>
              <a:rPr lang="zh-CN" altLang="en-US" sz="2000" dirty="0">
                <a:uFillTx/>
                <a:latin typeface="Times New Roman" panose="02020603050405020304" pitchFamily="18" charset="0"/>
                <a:ea typeface="黑体" panose="02010609060101010101" pitchFamily="49" charset="-122"/>
                <a:sym typeface="+mn-ea"/>
              </a:rPr>
              <a:t>，可以节省</a:t>
            </a:r>
            <a:r>
              <a:rPr lang="en-US" altLang="zh-CN" sz="2000" dirty="0">
                <a:uFillTx/>
                <a:latin typeface="Times New Roman" panose="02020603050405020304" pitchFamily="18" charset="0"/>
                <a:ea typeface="黑体" panose="02010609060101010101" pitchFamily="49" charset="-122"/>
                <a:sym typeface="+mn-ea"/>
              </a:rPr>
              <a:t>1/3</a:t>
            </a:r>
            <a:r>
              <a:rPr lang="zh-CN" altLang="en-US" sz="2000" dirty="0">
                <a:uFillTx/>
                <a:latin typeface="Times New Roman" panose="02020603050405020304" pitchFamily="18" charset="0"/>
                <a:ea typeface="黑体" panose="02010609060101010101" pitchFamily="49" charset="-122"/>
                <a:sym typeface="+mn-ea"/>
              </a:rPr>
              <a:t>的空间。实际根据</a:t>
            </a:r>
            <a:r>
              <a:rPr lang="en-US" altLang="zh-CN" sz="2000" dirty="0">
                <a:uFillTx/>
                <a:latin typeface="Times New Roman" panose="02020603050405020304" pitchFamily="18" charset="0"/>
                <a:ea typeface="黑体" panose="02010609060101010101" pitchFamily="49" charset="-122"/>
                <a:sym typeface="+mn-ea"/>
              </a:rPr>
              <a:t>code</a:t>
            </a:r>
            <a:r>
              <a:rPr lang="zh-CN" altLang="en-US" sz="2000" dirty="0">
                <a:uFillTx/>
                <a:latin typeface="Times New Roman" panose="02020603050405020304" pitchFamily="18" charset="0"/>
                <a:ea typeface="黑体" panose="02010609060101010101" pitchFamily="49" charset="-122"/>
                <a:sym typeface="+mn-ea"/>
              </a:rPr>
              <a:t>的多少，存储效率会不一样。</a:t>
            </a:r>
            <a:endParaRPr lang="en-US" altLang="zh-CN" sz="2000" dirty="0">
              <a:uFillTx/>
              <a:latin typeface="Times New Roman" panose="02020603050405020304" pitchFamily="18" charset="0"/>
              <a:ea typeface="黑体" panose="02010609060101010101" pitchFamily="49" charset="-122"/>
              <a:sym typeface="+mn-ea"/>
            </a:endParaRPr>
          </a:p>
        </p:txBody>
      </p:sp>
      <p:sp>
        <p:nvSpPr>
          <p:cNvPr id="5" name="文本框 4"/>
          <p:cNvSpPr txBox="1"/>
          <p:nvPr/>
        </p:nvSpPr>
        <p:spPr>
          <a:xfrm>
            <a:off x="1028789" y="1095579"/>
            <a:ext cx="7086414" cy="428259"/>
          </a:xfrm>
          <a:prstGeom prst="rect">
            <a:avLst/>
          </a:prstGeom>
          <a:noFill/>
        </p:spPr>
        <p:txBody>
          <a:bodyPr wrap="square" rtlCol="0" anchor="t">
            <a:spAutoFit/>
          </a:bodyPr>
          <a:lstStyle/>
          <a:p>
            <a:pPr algn="just">
              <a:lnSpc>
                <a:spcPts val="2900"/>
              </a:lnSpc>
            </a:pPr>
            <a:r>
              <a:rPr lang="zh-CN" altLang="en-US" sz="2000" dirty="0">
                <a:uFillTx/>
                <a:latin typeface="Times New Roman" panose="02020603050405020304" pitchFamily="18" charset="0"/>
                <a:ea typeface="黑体" panose="02010609060101010101" pitchFamily="49" charset="-122"/>
                <a:sym typeface="+mn-ea"/>
              </a:rPr>
              <a:t>       要想知道</a:t>
            </a:r>
            <a:r>
              <a:rPr lang="en-US" altLang="zh-CN" sz="2000" i="1" dirty="0">
                <a:uFillTx/>
                <a:latin typeface="+mn-lt"/>
                <a:ea typeface="黑体" panose="02010609060101010101" pitchFamily="49" charset="-122"/>
                <a:sym typeface="+mn-ea"/>
              </a:rPr>
              <a:t>x</a:t>
            </a:r>
            <a:r>
              <a:rPr lang="en-US" altLang="zh-CN" sz="2000" baseline="-25000" dirty="0">
                <a:uFillTx/>
                <a:latin typeface="+mn-lt"/>
                <a:ea typeface="黑体" panose="02010609060101010101" pitchFamily="49" charset="-122"/>
                <a:sym typeface="+mn-ea"/>
              </a:rPr>
              <a:t>1</a:t>
            </a:r>
            <a:r>
              <a:rPr lang="zh-CN" altLang="en-US" sz="2000" baseline="-25000" dirty="0">
                <a:uFillTx/>
                <a:latin typeface="+mn-lt"/>
                <a:ea typeface="黑体" panose="02010609060101010101" pitchFamily="49" charset="-122"/>
                <a:sym typeface="+mn-ea"/>
              </a:rPr>
              <a:t>、</a:t>
            </a:r>
            <a:r>
              <a:rPr lang="en-US" altLang="zh-CN" sz="2000" i="1" dirty="0">
                <a:latin typeface="+mn-lt"/>
                <a:ea typeface="黑体" panose="02010609060101010101" pitchFamily="49" charset="-122"/>
                <a:sym typeface="+mn-ea"/>
              </a:rPr>
              <a:t>x</a:t>
            </a:r>
            <a:r>
              <a:rPr lang="en-US" altLang="zh-CN" sz="2000" baseline="-25000" dirty="0">
                <a:latin typeface="+mn-lt"/>
                <a:ea typeface="黑体" panose="02010609060101010101" pitchFamily="49" charset="-122"/>
                <a:sym typeface="+mn-ea"/>
              </a:rPr>
              <a:t>2</a:t>
            </a:r>
            <a:r>
              <a:rPr lang="zh-CN" altLang="en-US" sz="2000" baseline="-25000" dirty="0">
                <a:latin typeface="+mn-lt"/>
                <a:ea typeface="黑体" panose="02010609060101010101" pitchFamily="49" charset="-122"/>
                <a:sym typeface="+mn-ea"/>
              </a:rPr>
              <a:t>、</a:t>
            </a:r>
            <a:r>
              <a:rPr lang="en-US" altLang="zh-CN" sz="2000" i="1" dirty="0">
                <a:latin typeface="+mn-lt"/>
                <a:ea typeface="黑体" panose="02010609060101010101" pitchFamily="49" charset="-122"/>
                <a:sym typeface="+mn-ea"/>
              </a:rPr>
              <a:t>x</a:t>
            </a:r>
            <a:r>
              <a:rPr lang="en-US" altLang="zh-CN" sz="2000" baseline="-25000" dirty="0">
                <a:latin typeface="+mn-lt"/>
                <a:ea typeface="黑体" panose="02010609060101010101" pitchFamily="49" charset="-122"/>
                <a:sym typeface="+mn-ea"/>
              </a:rPr>
              <a:t>3</a:t>
            </a:r>
            <a:r>
              <a:rPr lang="zh-CN" altLang="en-US" sz="2000" dirty="0">
                <a:latin typeface="Times New Roman" panose="02020603050405020304" pitchFamily="18" charset="0"/>
                <a:ea typeface="黑体" panose="02010609060101010101" pitchFamily="49" charset="-122"/>
                <a:sym typeface="+mn-ea"/>
              </a:rPr>
              <a:t>的值，只需要任意</a:t>
            </a:r>
            <a:r>
              <a:rPr lang="en-US" altLang="zh-CN" sz="2000" dirty="0">
                <a:latin typeface="Times New Roman" panose="02020603050405020304" pitchFamily="18" charset="0"/>
                <a:ea typeface="黑体" panose="02010609060101010101" pitchFamily="49" charset="-122"/>
                <a:sym typeface="+mn-ea"/>
              </a:rPr>
              <a:t>3</a:t>
            </a:r>
            <a:r>
              <a:rPr lang="zh-CN" altLang="en-US" sz="2000" dirty="0">
                <a:latin typeface="Times New Roman" panose="02020603050405020304" pitchFamily="18" charset="0"/>
                <a:ea typeface="黑体" panose="02010609060101010101" pitchFamily="49" charset="-122"/>
                <a:sym typeface="+mn-ea"/>
              </a:rPr>
              <a:t>个方程式即可解出。</a:t>
            </a:r>
            <a:endParaRPr lang="en-US" altLang="zh-CN" sz="2000" dirty="0">
              <a:latin typeface="Times New Roman" panose="02020603050405020304" pitchFamily="18" charset="0"/>
              <a:ea typeface="黑体" panose="02010609060101010101" pitchFamily="49" charset="-122"/>
              <a:sym typeface="+mn-ea"/>
            </a:endParaRPr>
          </a:p>
        </p:txBody>
      </p:sp>
      <p:sp>
        <p:nvSpPr>
          <p:cNvPr id="6" name="文本框 5"/>
          <p:cNvSpPr txBox="1"/>
          <p:nvPr/>
        </p:nvSpPr>
        <p:spPr>
          <a:xfrm>
            <a:off x="2667051" y="1841822"/>
            <a:ext cx="3569582" cy="2290820"/>
          </a:xfrm>
          <a:prstGeom prst="rect">
            <a:avLst/>
          </a:prstGeom>
          <a:noFill/>
        </p:spPr>
        <p:txBody>
          <a:bodyPr wrap="square" rtlCol="0" anchor="t">
            <a:spAutoFit/>
          </a:bodyPr>
          <a:lstStyle/>
          <a:p>
            <a:pPr algn="just">
              <a:lnSpc>
                <a:spcPts val="2900"/>
              </a:lnSpc>
            </a:pP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1</a:t>
            </a:r>
            <a:r>
              <a:rPr lang="en-US" altLang="zh-CN" sz="2000" dirty="0">
                <a:uFillTx/>
                <a:latin typeface="Times New Roman" panose="02020603050405020304" pitchFamily="18" charset="0"/>
                <a:ea typeface="黑体" panose="02010609060101010101" pitchFamily="49" charset="-122"/>
                <a:sym typeface="+mn-ea"/>
              </a:rPr>
              <a:t> = 1                                   </a:t>
            </a:r>
            <a:r>
              <a:rPr lang="en-US" altLang="zh-CN" sz="2000" dirty="0">
                <a:latin typeface="Times New Roman" panose="02020603050405020304" pitchFamily="18" charset="0"/>
                <a:ea typeface="黑体" panose="02010609060101010101" pitchFamily="49" charset="-122"/>
                <a:sym typeface="+mn-ea"/>
              </a:rPr>
              <a:t>(1)</a:t>
            </a:r>
            <a:endParaRPr lang="en-US" altLang="zh-CN" sz="2000" dirty="0">
              <a:uFillTx/>
              <a:latin typeface="Times New Roman" panose="02020603050405020304" pitchFamily="18" charset="0"/>
              <a:ea typeface="黑体" panose="02010609060101010101" pitchFamily="49" charset="-122"/>
              <a:sym typeface="+mn-ea"/>
            </a:endParaRPr>
          </a:p>
          <a:p>
            <a:pPr algn="just">
              <a:lnSpc>
                <a:spcPts val="2900"/>
              </a:lnSpc>
            </a:pP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2</a:t>
            </a:r>
            <a:r>
              <a:rPr lang="en-US" altLang="zh-CN" sz="2000" dirty="0">
                <a:uFillTx/>
                <a:latin typeface="Times New Roman" panose="02020603050405020304" pitchFamily="18" charset="0"/>
                <a:ea typeface="黑体" panose="02010609060101010101" pitchFamily="49" charset="-122"/>
                <a:sym typeface="+mn-ea"/>
              </a:rPr>
              <a:t> = 2                                   (2)</a:t>
            </a:r>
            <a:endParaRPr lang="en-US" altLang="zh-CN" sz="2000" dirty="0">
              <a:uFillTx/>
              <a:latin typeface="Times New Roman" panose="02020603050405020304" pitchFamily="18" charset="0"/>
              <a:ea typeface="黑体" panose="02010609060101010101" pitchFamily="49" charset="-122"/>
              <a:sym typeface="+mn-ea"/>
            </a:endParaRPr>
          </a:p>
          <a:p>
            <a:pPr algn="just">
              <a:lnSpc>
                <a:spcPts val="2900"/>
              </a:lnSpc>
            </a:pP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3</a:t>
            </a:r>
            <a:r>
              <a:rPr lang="en-US" altLang="zh-CN" sz="2000" dirty="0">
                <a:uFillTx/>
                <a:latin typeface="Times New Roman" panose="02020603050405020304" pitchFamily="18" charset="0"/>
                <a:ea typeface="黑体" panose="02010609060101010101" pitchFamily="49" charset="-122"/>
                <a:sym typeface="+mn-ea"/>
              </a:rPr>
              <a:t> = 3                                   (3)</a:t>
            </a:r>
            <a:endParaRPr lang="en-US" altLang="zh-CN" sz="2000" dirty="0">
              <a:uFillTx/>
              <a:latin typeface="Times New Roman" panose="02020603050405020304" pitchFamily="18" charset="0"/>
              <a:ea typeface="黑体" panose="02010609060101010101" pitchFamily="49" charset="-122"/>
              <a:sym typeface="+mn-ea"/>
            </a:endParaRPr>
          </a:p>
          <a:p>
            <a:pPr algn="just">
              <a:lnSpc>
                <a:spcPts val="2900"/>
              </a:lnSpc>
            </a:pP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1</a:t>
            </a:r>
            <a:r>
              <a:rPr lang="en-US" altLang="zh-CN" sz="2000" dirty="0">
                <a:uFillTx/>
                <a:latin typeface="Times New Roman" panose="02020603050405020304" pitchFamily="18" charset="0"/>
                <a:ea typeface="黑体" panose="02010609060101010101" pitchFamily="49" charset="-122"/>
                <a:sym typeface="+mn-ea"/>
              </a:rPr>
              <a:t> + </a:t>
            </a: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2</a:t>
            </a:r>
            <a:r>
              <a:rPr lang="en-US" altLang="zh-CN" sz="2000" dirty="0">
                <a:uFillTx/>
                <a:latin typeface="Times New Roman" panose="02020603050405020304" pitchFamily="18" charset="0"/>
                <a:ea typeface="黑体" panose="02010609060101010101" pitchFamily="49" charset="-122"/>
                <a:sym typeface="+mn-ea"/>
              </a:rPr>
              <a:t> + </a:t>
            </a: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3</a:t>
            </a:r>
            <a:r>
              <a:rPr lang="en-US" altLang="zh-CN" sz="2000" dirty="0">
                <a:uFillTx/>
                <a:latin typeface="Times New Roman" panose="02020603050405020304" pitchFamily="18" charset="0"/>
                <a:ea typeface="黑体" panose="02010609060101010101" pitchFamily="49" charset="-122"/>
                <a:sym typeface="+mn-ea"/>
              </a:rPr>
              <a:t>= 6                     (4)</a:t>
            </a:r>
            <a:endParaRPr lang="en-US" altLang="zh-CN" sz="2000" dirty="0">
              <a:uFillTx/>
              <a:latin typeface="Times New Roman" panose="02020603050405020304" pitchFamily="18" charset="0"/>
              <a:ea typeface="黑体" panose="02010609060101010101" pitchFamily="49" charset="-122"/>
              <a:sym typeface="+mn-ea"/>
            </a:endParaRPr>
          </a:p>
          <a:p>
            <a:pPr algn="just">
              <a:lnSpc>
                <a:spcPts val="2900"/>
              </a:lnSpc>
            </a:pP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1</a:t>
            </a:r>
            <a:r>
              <a:rPr lang="en-US" altLang="zh-CN" sz="2000" dirty="0">
                <a:uFillTx/>
                <a:latin typeface="Times New Roman" panose="02020603050405020304" pitchFamily="18" charset="0"/>
                <a:ea typeface="黑体" panose="02010609060101010101" pitchFamily="49" charset="-122"/>
                <a:sym typeface="+mn-ea"/>
              </a:rPr>
              <a:t> + 2</a:t>
            </a: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2</a:t>
            </a:r>
            <a:r>
              <a:rPr lang="en-US" altLang="zh-CN" sz="2000" dirty="0">
                <a:uFillTx/>
                <a:latin typeface="Times New Roman" panose="02020603050405020304" pitchFamily="18" charset="0"/>
                <a:ea typeface="黑体" panose="02010609060101010101" pitchFamily="49" charset="-122"/>
                <a:sym typeface="+mn-ea"/>
              </a:rPr>
              <a:t> +4</a:t>
            </a: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3</a:t>
            </a:r>
            <a:r>
              <a:rPr lang="en-US" altLang="zh-CN" sz="2000" dirty="0">
                <a:uFillTx/>
                <a:latin typeface="Times New Roman" panose="02020603050405020304" pitchFamily="18" charset="0"/>
                <a:ea typeface="黑体" panose="02010609060101010101" pitchFamily="49" charset="-122"/>
                <a:sym typeface="+mn-ea"/>
              </a:rPr>
              <a:t> = 17          </a:t>
            </a:r>
            <a:r>
              <a:rPr lang="en-US" altLang="zh-CN" sz="2000" dirty="0">
                <a:latin typeface="Times New Roman" panose="02020603050405020304" pitchFamily="18" charset="0"/>
                <a:ea typeface="黑体" panose="02010609060101010101" pitchFamily="49" charset="-122"/>
                <a:sym typeface="+mn-ea"/>
              </a:rPr>
              <a:t>     </a:t>
            </a:r>
            <a:r>
              <a:rPr lang="en-US" altLang="zh-CN" sz="2000" dirty="0">
                <a:uFillTx/>
                <a:latin typeface="Times New Roman" panose="02020603050405020304" pitchFamily="18" charset="0"/>
                <a:ea typeface="黑体" panose="02010609060101010101" pitchFamily="49" charset="-122"/>
                <a:sym typeface="+mn-ea"/>
              </a:rPr>
              <a:t>(5)</a:t>
            </a:r>
            <a:endParaRPr lang="en-US" altLang="zh-CN" sz="2000" dirty="0">
              <a:uFillTx/>
              <a:latin typeface="Times New Roman" panose="02020603050405020304" pitchFamily="18" charset="0"/>
              <a:ea typeface="黑体" panose="02010609060101010101" pitchFamily="49" charset="-122"/>
              <a:sym typeface="+mn-ea"/>
            </a:endParaRPr>
          </a:p>
          <a:p>
            <a:pPr algn="just">
              <a:lnSpc>
                <a:spcPts val="2900"/>
              </a:lnSpc>
            </a:pP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1</a:t>
            </a:r>
            <a:r>
              <a:rPr lang="en-US" altLang="zh-CN" sz="2000" dirty="0">
                <a:uFillTx/>
                <a:latin typeface="Times New Roman" panose="02020603050405020304" pitchFamily="18" charset="0"/>
                <a:ea typeface="黑体" panose="02010609060101010101" pitchFamily="49" charset="-122"/>
                <a:sym typeface="+mn-ea"/>
              </a:rPr>
              <a:t> + 3</a:t>
            </a: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2</a:t>
            </a:r>
            <a:r>
              <a:rPr lang="en-US" altLang="zh-CN" sz="2000" dirty="0">
                <a:uFillTx/>
                <a:latin typeface="Times New Roman" panose="02020603050405020304" pitchFamily="18" charset="0"/>
                <a:ea typeface="黑体" panose="02010609060101010101" pitchFamily="49" charset="-122"/>
                <a:sym typeface="+mn-ea"/>
              </a:rPr>
              <a:t> +9</a:t>
            </a:r>
            <a:r>
              <a:rPr lang="en-US" altLang="zh-CN" sz="2000" i="1" dirty="0">
                <a:uFillTx/>
                <a:latin typeface="Times New Roman" panose="02020603050405020304" pitchFamily="18" charset="0"/>
                <a:ea typeface="黑体" panose="02010609060101010101" pitchFamily="49" charset="-122"/>
                <a:sym typeface="+mn-ea"/>
              </a:rPr>
              <a:t>x</a:t>
            </a:r>
            <a:r>
              <a:rPr lang="en-US" altLang="zh-CN" sz="2000" baseline="-25000" dirty="0">
                <a:uFillTx/>
                <a:latin typeface="Times New Roman" panose="02020603050405020304" pitchFamily="18" charset="0"/>
                <a:ea typeface="黑体" panose="02010609060101010101" pitchFamily="49" charset="-122"/>
                <a:sym typeface="+mn-ea"/>
              </a:rPr>
              <a:t>3</a:t>
            </a:r>
            <a:r>
              <a:rPr lang="en-US" altLang="zh-CN" sz="2000" dirty="0">
                <a:uFillTx/>
                <a:latin typeface="Times New Roman" panose="02020603050405020304" pitchFamily="18" charset="0"/>
                <a:ea typeface="黑体" panose="02010609060101010101" pitchFamily="49" charset="-122"/>
                <a:sym typeface="+mn-ea"/>
              </a:rPr>
              <a:t> = 34               (6)</a:t>
            </a:r>
            <a:endParaRPr lang="en-US" altLang="zh-CN" sz="2000" dirty="0">
              <a:uFillTx/>
              <a:latin typeface="Times New Roman" panose="02020603050405020304" pitchFamily="18" charset="0"/>
              <a:ea typeface="黑体" panose="02010609060101010101" pitchFamily="49"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纠删码的定义</a:t>
            </a:r>
            <a:endParaRPr lang="zh-CN" altLang="en-US" sz="2400" dirty="0">
              <a:sym typeface="+mn-ea"/>
            </a:endParaRPr>
          </a:p>
        </p:txBody>
      </p:sp>
      <p:sp>
        <p:nvSpPr>
          <p:cNvPr id="10" name="文本框 9"/>
          <p:cNvSpPr txBox="1"/>
          <p:nvPr/>
        </p:nvSpPr>
        <p:spPr>
          <a:xfrm>
            <a:off x="351557" y="1037915"/>
            <a:ext cx="8176726"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zh-CN" altLang="en-US" dirty="0"/>
              <a:t>        纠删码是一组数据冗余和恢复算法的统称，是一种数据保护方法。</a:t>
            </a:r>
            <a:endParaRPr lang="en-US" altLang="zh-CN" dirty="0"/>
          </a:p>
        </p:txBody>
      </p:sp>
      <p:sp>
        <p:nvSpPr>
          <p:cNvPr id="13" name="文本框 12"/>
          <p:cNvSpPr txBox="1"/>
          <p:nvPr/>
        </p:nvSpPr>
        <p:spPr>
          <a:xfrm>
            <a:off x="5213835" y="1984951"/>
            <a:ext cx="3962416" cy="191584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zh-CN" altLang="en-US" dirty="0"/>
              <a:t>        纠删码技术将数据</a:t>
            </a:r>
            <a:r>
              <a:rPr lang="zh-CN" altLang="en-US" dirty="0">
                <a:solidFill>
                  <a:srgbClr val="FF0000"/>
                </a:solidFill>
              </a:rPr>
              <a:t>分割成片段</a:t>
            </a:r>
            <a:r>
              <a:rPr lang="zh-CN" altLang="en-US" dirty="0"/>
              <a:t>，把冗余数据块扩展、编码，并将其</a:t>
            </a:r>
            <a:r>
              <a:rPr lang="zh-CN" altLang="en-US" dirty="0">
                <a:solidFill>
                  <a:srgbClr val="FF0000"/>
                </a:solidFill>
              </a:rPr>
              <a:t>存储在不同的位置</a:t>
            </a:r>
            <a:r>
              <a:rPr lang="zh-CN" altLang="en-US" dirty="0"/>
              <a:t>，比如磁盘、存储节点或者其它地理位置。</a:t>
            </a:r>
            <a:endParaRPr lang="zh-CN" altLang="en-US" dirty="0">
              <a:sym typeface="+mn-ea"/>
            </a:endParaRPr>
          </a:p>
        </p:txBody>
      </p:sp>
      <p:sp>
        <p:nvSpPr>
          <p:cNvPr id="14" name="文本框 13"/>
          <p:cNvSpPr txBox="1"/>
          <p:nvPr/>
        </p:nvSpPr>
        <p:spPr>
          <a:xfrm>
            <a:off x="5257902" y="4419574"/>
            <a:ext cx="3886098" cy="117205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zh-CN" altLang="en-US" dirty="0"/>
              <a:t>        纠删码技术</a:t>
            </a:r>
            <a:r>
              <a:rPr lang="zh-CN" altLang="en-US" dirty="0">
                <a:solidFill>
                  <a:schemeClr val="accent2"/>
                </a:solidFill>
              </a:rPr>
              <a:t>具有良好的容错性和安全性</a:t>
            </a:r>
            <a:r>
              <a:rPr lang="zh-CN" altLang="en-US" dirty="0"/>
              <a:t>，主要应用于网络传输中丢包错误的解决。</a:t>
            </a:r>
            <a:endParaRPr lang="zh-CN" altLang="en-US" dirty="0">
              <a:sym typeface="+mn-ea"/>
            </a:endParaRPr>
          </a:p>
        </p:txBody>
      </p:sp>
      <p:grpSp>
        <p:nvGrpSpPr>
          <p:cNvPr id="11" name="组合 10"/>
          <p:cNvGrpSpPr/>
          <p:nvPr/>
        </p:nvGrpSpPr>
        <p:grpSpPr>
          <a:xfrm>
            <a:off x="152516" y="1606329"/>
            <a:ext cx="4876672" cy="4989462"/>
            <a:chOff x="152516" y="1565457"/>
            <a:chExt cx="4876672" cy="4989462"/>
          </a:xfrm>
        </p:grpSpPr>
        <p:sp>
          <p:nvSpPr>
            <p:cNvPr id="7" name="文本框 6"/>
            <p:cNvSpPr txBox="1"/>
            <p:nvPr/>
          </p:nvSpPr>
          <p:spPr>
            <a:xfrm>
              <a:off x="1447882" y="6123582"/>
              <a:ext cx="2285940" cy="431337"/>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zh-CN" altLang="en-US" sz="1800" dirty="0">
                  <a:sym typeface="+mn-ea"/>
                </a:rPr>
                <a:t>纠删码的存储思想</a:t>
              </a:r>
              <a:endParaRPr lang="zh-CN" altLang="en-US" sz="1800" dirty="0">
                <a:sym typeface="+mn-ea"/>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2516" y="1565457"/>
              <a:ext cx="4876672" cy="4558125"/>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纠删码的基本思想</a:t>
            </a:r>
            <a:endParaRPr lang="zh-CN" altLang="en-US" sz="2400" dirty="0">
              <a:sym typeface="+mn-ea"/>
            </a:endParaRPr>
          </a:p>
        </p:txBody>
      </p:sp>
      <p:sp>
        <p:nvSpPr>
          <p:cNvPr id="10" name="文本框 9"/>
          <p:cNvSpPr txBox="1"/>
          <p:nvPr/>
        </p:nvSpPr>
        <p:spPr>
          <a:xfrm>
            <a:off x="590472" y="1116121"/>
            <a:ext cx="7963052" cy="179010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sz="2200" dirty="0">
                <a:latin typeface="+mn-lt"/>
                <a:ea typeface="+mn-ea"/>
              </a:rPr>
              <a:t>        </a:t>
            </a:r>
            <a:r>
              <a:rPr lang="zh-CN" altLang="en-US" sz="2200" dirty="0">
                <a:solidFill>
                  <a:srgbClr val="FF0000"/>
                </a:solidFill>
                <a:latin typeface="+mn-lt"/>
                <a:ea typeface="+mn-ea"/>
              </a:rPr>
              <a:t>网络传输方面</a:t>
            </a:r>
            <a:r>
              <a:rPr lang="zh-CN" altLang="en-US" sz="2200" dirty="0">
                <a:latin typeface="+mn-lt"/>
                <a:ea typeface="+mn-ea"/>
              </a:rPr>
              <a:t>：纠删码的基本思想是“发送方将</a:t>
            </a:r>
            <a:r>
              <a:rPr lang="en-US" altLang="zh-CN" sz="2200" dirty="0">
                <a:solidFill>
                  <a:schemeClr val="accent2"/>
                </a:solidFill>
                <a:latin typeface="+mn-lt"/>
                <a:ea typeface="+mn-ea"/>
              </a:rPr>
              <a:t>n</a:t>
            </a:r>
            <a:r>
              <a:rPr lang="zh-CN" altLang="en-US" sz="2200" dirty="0">
                <a:solidFill>
                  <a:schemeClr val="accent2"/>
                </a:solidFill>
                <a:latin typeface="+mn-lt"/>
                <a:ea typeface="+mn-ea"/>
              </a:rPr>
              <a:t>个源数据包编码</a:t>
            </a:r>
            <a:r>
              <a:rPr lang="zh-CN" altLang="en-US" sz="2200" dirty="0">
                <a:latin typeface="+mn-lt"/>
                <a:ea typeface="+mn-ea"/>
              </a:rPr>
              <a:t>，得到</a:t>
            </a:r>
            <a:r>
              <a:rPr lang="en-US" altLang="zh-CN" sz="2200" dirty="0">
                <a:solidFill>
                  <a:schemeClr val="accent2"/>
                </a:solidFill>
                <a:latin typeface="+mn-lt"/>
                <a:ea typeface="+mn-ea"/>
              </a:rPr>
              <a:t>m</a:t>
            </a:r>
            <a:r>
              <a:rPr lang="zh-CN" altLang="en-US" sz="2200" dirty="0">
                <a:solidFill>
                  <a:schemeClr val="accent2"/>
                </a:solidFill>
                <a:latin typeface="+mn-lt"/>
                <a:ea typeface="+mn-ea"/>
              </a:rPr>
              <a:t>个校验数据包</a:t>
            </a:r>
            <a:r>
              <a:rPr lang="zh-CN" altLang="en-US" sz="2200" dirty="0">
                <a:latin typeface="+mn-lt"/>
                <a:ea typeface="+mn-ea"/>
              </a:rPr>
              <a:t>，将这</a:t>
            </a:r>
            <a:r>
              <a:rPr lang="en-US" altLang="zh-CN" sz="2200" dirty="0" err="1">
                <a:solidFill>
                  <a:schemeClr val="accent2"/>
                </a:solidFill>
                <a:latin typeface="+mn-lt"/>
                <a:ea typeface="+mn-ea"/>
              </a:rPr>
              <a:t>n+m</a:t>
            </a:r>
            <a:r>
              <a:rPr lang="zh-CN" altLang="en-US" sz="2200" dirty="0">
                <a:solidFill>
                  <a:schemeClr val="accent2"/>
                </a:solidFill>
                <a:latin typeface="+mn-lt"/>
                <a:ea typeface="+mn-ea"/>
              </a:rPr>
              <a:t>个数据包在网络上进行传输</a:t>
            </a:r>
            <a:r>
              <a:rPr lang="zh-CN" altLang="en-US" sz="2200" dirty="0">
                <a:latin typeface="+mn-lt"/>
                <a:ea typeface="+mn-ea"/>
              </a:rPr>
              <a:t>。接受方只要</a:t>
            </a:r>
            <a:r>
              <a:rPr lang="zh-CN" altLang="en-US" sz="2200" dirty="0">
                <a:solidFill>
                  <a:srgbClr val="FF0000"/>
                </a:solidFill>
                <a:latin typeface="+mn-lt"/>
                <a:ea typeface="+mn-ea"/>
              </a:rPr>
              <a:t>接收到不少于</a:t>
            </a:r>
            <a:r>
              <a:rPr lang="en-US" altLang="zh-CN" sz="2200" dirty="0">
                <a:solidFill>
                  <a:srgbClr val="FF0000"/>
                </a:solidFill>
                <a:latin typeface="+mn-lt"/>
                <a:ea typeface="+mn-ea"/>
              </a:rPr>
              <a:t>n</a:t>
            </a:r>
            <a:r>
              <a:rPr lang="zh-CN" altLang="en-US" sz="2200" dirty="0">
                <a:solidFill>
                  <a:srgbClr val="FF0000"/>
                </a:solidFill>
                <a:latin typeface="+mn-lt"/>
                <a:ea typeface="+mn-ea"/>
              </a:rPr>
              <a:t>个编码包</a:t>
            </a:r>
            <a:r>
              <a:rPr lang="zh-CN" altLang="en-US" sz="2200" dirty="0">
                <a:latin typeface="+mn-lt"/>
                <a:ea typeface="+mn-ea"/>
              </a:rPr>
              <a:t>，就可以将源数据恢复。一般来说，这个传输过程允许最多</a:t>
            </a:r>
            <a:r>
              <a:rPr lang="en-US" altLang="zh-CN" sz="2200" dirty="0">
                <a:latin typeface="+mn-lt"/>
                <a:ea typeface="+mn-ea"/>
              </a:rPr>
              <a:t>m</a:t>
            </a:r>
            <a:r>
              <a:rPr lang="zh-CN" altLang="en-US" sz="2200" dirty="0">
                <a:latin typeface="+mn-lt"/>
                <a:ea typeface="+mn-ea"/>
              </a:rPr>
              <a:t>个数据包的丢失。”</a:t>
            </a:r>
            <a:endParaRPr lang="zh-CN" altLang="en-US" sz="2200" dirty="0">
              <a:latin typeface="+mn-lt"/>
              <a:ea typeface="+mn-ea"/>
              <a:sym typeface="+mn-ea"/>
            </a:endParaRPr>
          </a:p>
        </p:txBody>
      </p:sp>
      <p:grpSp>
        <p:nvGrpSpPr>
          <p:cNvPr id="5" name="组合 4"/>
          <p:cNvGrpSpPr/>
          <p:nvPr/>
        </p:nvGrpSpPr>
        <p:grpSpPr>
          <a:xfrm>
            <a:off x="1385886" y="3434866"/>
            <a:ext cx="6372225" cy="2571750"/>
            <a:chOff x="1385886" y="3434866"/>
            <a:chExt cx="6372225" cy="257175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85886" y="3434866"/>
              <a:ext cx="6372225" cy="2571750"/>
            </a:xfrm>
            <a:prstGeom prst="rect">
              <a:avLst/>
            </a:prstGeom>
          </p:spPr>
        </p:pic>
        <p:sp>
          <p:nvSpPr>
            <p:cNvPr id="3" name="矩形 2"/>
            <p:cNvSpPr/>
            <p:nvPr/>
          </p:nvSpPr>
          <p:spPr>
            <a:xfrm>
              <a:off x="1676476" y="3886188"/>
              <a:ext cx="914376" cy="457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原文件</a:t>
              </a:r>
              <a:endParaRPr lang="zh-CN" altLang="en-US" sz="1400" dirty="0">
                <a:solidFill>
                  <a:schemeClr val="tx1"/>
                </a:solidFill>
              </a:endParaRPr>
            </a:p>
          </p:txBody>
        </p:sp>
        <p:sp>
          <p:nvSpPr>
            <p:cNvPr id="6" name="矩形 5"/>
            <p:cNvSpPr/>
            <p:nvPr/>
          </p:nvSpPr>
          <p:spPr>
            <a:xfrm>
              <a:off x="1600278" y="5181554"/>
              <a:ext cx="914376" cy="457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校验块</a:t>
              </a:r>
              <a:endParaRPr lang="zh-CN" altLang="en-US" sz="1400" dirty="0">
                <a:solidFill>
                  <a:schemeClr val="tx1"/>
                </a:solidFill>
              </a:endParaRPr>
            </a:p>
          </p:txBody>
        </p:sp>
        <p:sp>
          <p:nvSpPr>
            <p:cNvPr id="7" name="矩形 6"/>
            <p:cNvSpPr/>
            <p:nvPr/>
          </p:nvSpPr>
          <p:spPr>
            <a:xfrm>
              <a:off x="3982732" y="4492146"/>
              <a:ext cx="457188" cy="6132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生成</a:t>
              </a:r>
              <a:endParaRPr lang="zh-CN" altLang="en-US" sz="1400" dirty="0">
                <a:solidFill>
                  <a:schemeClr val="tx1"/>
                </a:solidFill>
              </a:endParaRPr>
            </a:p>
          </p:txBody>
        </p:sp>
        <p:sp>
          <p:nvSpPr>
            <p:cNvPr id="8" name="矩形 7"/>
            <p:cNvSpPr/>
            <p:nvPr/>
          </p:nvSpPr>
          <p:spPr>
            <a:xfrm>
              <a:off x="6579578" y="4281235"/>
              <a:ext cx="914376" cy="457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原文件</a:t>
              </a:r>
              <a:endParaRPr lang="zh-CN" altLang="en-US" sz="1400" dirty="0">
                <a:solidFill>
                  <a:schemeClr val="tx1"/>
                </a:solidFil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纠删码的基本思想</a:t>
            </a:r>
            <a:endParaRPr lang="zh-CN" altLang="en-US" sz="2400" dirty="0">
              <a:sym typeface="+mn-ea"/>
            </a:endParaRPr>
          </a:p>
        </p:txBody>
      </p:sp>
      <p:sp>
        <p:nvSpPr>
          <p:cNvPr id="14" name="文本框 13"/>
          <p:cNvSpPr txBox="1"/>
          <p:nvPr/>
        </p:nvSpPr>
        <p:spPr>
          <a:xfrm>
            <a:off x="405910" y="1100438"/>
            <a:ext cx="8332179" cy="179010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sz="2200" dirty="0"/>
              <a:t>        </a:t>
            </a:r>
            <a:r>
              <a:rPr lang="zh-CN" altLang="en-US" sz="2200" dirty="0">
                <a:solidFill>
                  <a:srgbClr val="FF0000"/>
                </a:solidFill>
              </a:rPr>
              <a:t>数据存储方面</a:t>
            </a:r>
            <a:r>
              <a:rPr lang="zh-CN" altLang="en-US" sz="2200" dirty="0"/>
              <a:t>：纠删码的基本思想是“当冗余级别为</a:t>
            </a:r>
            <a:r>
              <a:rPr lang="en-US" altLang="zh-CN" sz="2200" dirty="0" err="1"/>
              <a:t>n+m</a:t>
            </a:r>
            <a:r>
              <a:rPr lang="zh-CN" altLang="en-US" sz="2200" dirty="0"/>
              <a:t>时，将这些</a:t>
            </a:r>
            <a:r>
              <a:rPr lang="zh-CN" altLang="en-US" sz="2200" dirty="0">
                <a:solidFill>
                  <a:schemeClr val="accent2"/>
                </a:solidFill>
              </a:rPr>
              <a:t>数据块分别存放在</a:t>
            </a:r>
            <a:r>
              <a:rPr lang="en-US" altLang="zh-CN" sz="2200" dirty="0" err="1">
                <a:solidFill>
                  <a:schemeClr val="accent2"/>
                </a:solidFill>
              </a:rPr>
              <a:t>n+m</a:t>
            </a:r>
            <a:r>
              <a:rPr lang="zh-CN" altLang="en-US" sz="2200" dirty="0">
                <a:solidFill>
                  <a:schemeClr val="accent2"/>
                </a:solidFill>
              </a:rPr>
              <a:t>个硬盘</a:t>
            </a:r>
            <a:r>
              <a:rPr lang="zh-CN" altLang="en-US" sz="2200" dirty="0"/>
              <a:t>上，这样就</a:t>
            </a:r>
            <a:r>
              <a:rPr lang="zh-CN" altLang="en-US" sz="2200" dirty="0">
                <a:solidFill>
                  <a:schemeClr val="accent2"/>
                </a:solidFill>
              </a:rPr>
              <a:t>能容忍</a:t>
            </a:r>
            <a:r>
              <a:rPr lang="en-US" altLang="zh-CN" sz="2200" dirty="0">
                <a:solidFill>
                  <a:schemeClr val="accent2"/>
                </a:solidFill>
              </a:rPr>
              <a:t>m</a:t>
            </a:r>
            <a:r>
              <a:rPr lang="zh-CN" altLang="en-US" sz="2200" dirty="0">
                <a:solidFill>
                  <a:schemeClr val="accent2"/>
                </a:solidFill>
              </a:rPr>
              <a:t>个</a:t>
            </a:r>
            <a:r>
              <a:rPr lang="en-US" altLang="zh-CN" sz="2200" dirty="0">
                <a:solidFill>
                  <a:schemeClr val="accent2"/>
                </a:solidFill>
              </a:rPr>
              <a:t>(</a:t>
            </a:r>
            <a:r>
              <a:rPr lang="zh-CN" altLang="en-US" sz="2200" dirty="0">
                <a:solidFill>
                  <a:schemeClr val="accent2"/>
                </a:solidFill>
              </a:rPr>
              <a:t>假设初始数据有</a:t>
            </a:r>
            <a:r>
              <a:rPr lang="en-US" altLang="zh-CN" sz="2200" dirty="0">
                <a:solidFill>
                  <a:schemeClr val="accent2"/>
                </a:solidFill>
              </a:rPr>
              <a:t>n</a:t>
            </a:r>
            <a:r>
              <a:rPr lang="zh-CN" altLang="en-US" sz="2200" dirty="0">
                <a:solidFill>
                  <a:schemeClr val="accent2"/>
                </a:solidFill>
              </a:rPr>
              <a:t>个</a:t>
            </a:r>
            <a:r>
              <a:rPr lang="en-US" altLang="zh-CN" sz="2200" dirty="0">
                <a:solidFill>
                  <a:schemeClr val="accent2"/>
                </a:solidFill>
              </a:rPr>
              <a:t>)</a:t>
            </a:r>
            <a:r>
              <a:rPr lang="zh-CN" altLang="en-US" sz="2200" dirty="0">
                <a:solidFill>
                  <a:schemeClr val="accent2"/>
                </a:solidFill>
              </a:rPr>
              <a:t>硬盘发生故障</a:t>
            </a:r>
            <a:r>
              <a:rPr lang="zh-CN" altLang="en-US" sz="2200" dirty="0"/>
              <a:t>。当不超过</a:t>
            </a:r>
            <a:r>
              <a:rPr lang="en-US" altLang="zh-CN" sz="2200" dirty="0"/>
              <a:t>m</a:t>
            </a:r>
            <a:r>
              <a:rPr lang="zh-CN" altLang="en-US" sz="2200" dirty="0"/>
              <a:t>个硬盘发生故障时，只需任意选取</a:t>
            </a:r>
            <a:r>
              <a:rPr lang="en-US" altLang="zh-CN" sz="2200" dirty="0"/>
              <a:t>n</a:t>
            </a:r>
            <a:r>
              <a:rPr lang="zh-CN" altLang="en-US" sz="2200" dirty="0"/>
              <a:t>个正常的数据块就能计算得到所有的原始数据。”</a:t>
            </a:r>
            <a:endParaRPr lang="zh-CN" altLang="en-US" sz="2200" dirty="0">
              <a:sym typeface="+mn-ea"/>
            </a:endParaRPr>
          </a:p>
        </p:txBody>
      </p:sp>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03177" y="3200406"/>
            <a:ext cx="6073485" cy="33057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652578" y="104775"/>
            <a:ext cx="2300287" cy="685800"/>
          </a:xfrm>
        </p:spPr>
        <p:txBody>
          <a:bodyPr vert="horz" wrap="square" lIns="91440" tIns="45720" rIns="91440" bIns="45720" anchor="ctr"/>
          <a:lstStyle/>
          <a:p>
            <a:r>
              <a:rPr lang="zh-CN" altLang="en-US" sz="2400" dirty="0"/>
              <a:t>内容提要</a:t>
            </a:r>
            <a:endParaRPr lang="zh-CN" altLang="en-US" sz="24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8198" name="AutoShape 49"/>
          <p:cNvSpPr/>
          <p:nvPr/>
        </p:nvSpPr>
        <p:spPr>
          <a:xfrm>
            <a:off x="2193994" y="5085823"/>
            <a:ext cx="5864112" cy="647065"/>
          </a:xfrm>
          <a:prstGeom prst="roundRect">
            <a:avLst>
              <a:gd name="adj" fmla="val 50000"/>
            </a:avLst>
          </a:prstGeom>
          <a:noFill/>
          <a:ln w="28575" cap="flat" cmpd="sng">
            <a:solidFill>
              <a:srgbClr val="C0C0C0"/>
            </a:solidFill>
            <a:prstDash val="solid"/>
            <a:headEnd type="none" w="med" len="med"/>
            <a:tailEnd type="none" w="med" len="med"/>
          </a:ln>
        </p:spPr>
        <p:txBody>
          <a:bodyPr wrap="none" anchor="ctr"/>
          <a:lstStyle/>
          <a:p>
            <a:pPr rtl="0">
              <a:defRPr/>
            </a:pPr>
            <a:r>
              <a:rPr lang="zh-CN" altLang="en-US" sz="2800" b="1" kern="0" dirty="0">
                <a:solidFill>
                  <a:schemeClr val="bg1">
                    <a:lumMod val="75000"/>
                  </a:schemeClr>
                </a:solidFill>
                <a:cs typeface="+mn-cs"/>
                <a:sym typeface="+mn-ea"/>
              </a:rPr>
              <a:t>纠删码的拓展</a:t>
            </a:r>
            <a:endParaRPr lang="zh-CN" altLang="en-US" sz="2800" b="1" kern="0" dirty="0">
              <a:solidFill>
                <a:schemeClr val="bg1">
                  <a:lumMod val="75000"/>
                </a:schemeClr>
              </a:solidFill>
              <a:cs typeface="+mn-cs"/>
              <a:sym typeface="+mn-ea"/>
            </a:endParaRPr>
          </a:p>
        </p:txBody>
      </p:sp>
      <p:sp>
        <p:nvSpPr>
          <p:cNvPr id="9" name="AutoShape 50"/>
          <p:cNvSpPr>
            <a:spLocks noChangeArrowheads="1"/>
          </p:cNvSpPr>
          <p:nvPr/>
        </p:nvSpPr>
        <p:spPr bwMode="gray">
          <a:xfrm>
            <a:off x="2571706" y="4070659"/>
            <a:ext cx="5486400" cy="647065"/>
          </a:xfrm>
          <a:prstGeom prst="roundRect">
            <a:avLst>
              <a:gd name="adj" fmla="val 50000"/>
            </a:avLst>
          </a:prstGeom>
          <a:noFill/>
          <a:ln w="28575" algn="ctr">
            <a:solidFill>
              <a:srgbClr val="C0C0C0"/>
            </a:solidFill>
            <a:round/>
          </a:ln>
          <a:effectLst/>
        </p:spPr>
        <p:txBody>
          <a:bodyPr wrap="none" anchor="ctr"/>
          <a:lstStyle/>
          <a:p>
            <a:pPr marR="0" lvl="0" rtl="0">
              <a:buClrTx/>
              <a:buSzTx/>
              <a:defRPr/>
            </a:pPr>
            <a:r>
              <a:rPr lang="zh-CN" altLang="en-US" sz="2800" b="1" kern="0" dirty="0">
                <a:solidFill>
                  <a:schemeClr val="bg1">
                    <a:lumMod val="75000"/>
                  </a:schemeClr>
                </a:solidFill>
                <a:cs typeface="+mn-cs"/>
                <a:sym typeface="+mn-ea"/>
              </a:rPr>
              <a:t>纠删码的分类及其编解码原理</a:t>
            </a:r>
            <a:endParaRPr lang="zh-CN" altLang="en-US" sz="2800" b="1" kern="0" dirty="0">
              <a:solidFill>
                <a:schemeClr val="bg1">
                  <a:lumMod val="75000"/>
                </a:schemeClr>
              </a:solidFill>
              <a:cs typeface="+mn-cs"/>
              <a:sym typeface="+mn-ea"/>
            </a:endParaRPr>
          </a:p>
        </p:txBody>
      </p:sp>
      <p:sp>
        <p:nvSpPr>
          <p:cNvPr id="10" name="AutoShape 51"/>
          <p:cNvSpPr>
            <a:spLocks noChangeArrowheads="1"/>
          </p:cNvSpPr>
          <p:nvPr/>
        </p:nvSpPr>
        <p:spPr bwMode="gray">
          <a:xfrm>
            <a:off x="2574072" y="2959374"/>
            <a:ext cx="5486400" cy="698500"/>
          </a:xfrm>
          <a:prstGeom prst="roundRect">
            <a:avLst>
              <a:gd name="adj" fmla="val 50000"/>
            </a:avLst>
          </a:prstGeom>
          <a:noFill/>
          <a:ln w="28575" algn="ctr">
            <a:solidFill>
              <a:srgbClr val="C0C0C0"/>
            </a:solidFill>
            <a:round/>
          </a:ln>
          <a:effectLst/>
        </p:spPr>
        <p:txBody>
          <a:bodyPr wrap="none" anchor="ctr"/>
          <a:lstStyle/>
          <a:p>
            <a:pPr rtl="0">
              <a:defRPr/>
            </a:pPr>
            <a:r>
              <a:rPr lang="zh-CN" altLang="en-US" sz="2800" b="1" kern="0" dirty="0">
                <a:solidFill>
                  <a:srgbClr val="000000"/>
                </a:solidFill>
                <a:cs typeface="+mn-cs"/>
              </a:rPr>
              <a:t>纠删码的基础知识介绍</a:t>
            </a:r>
            <a:endParaRPr lang="zh-CN" altLang="en-US" sz="2800" b="1" kern="0" dirty="0">
              <a:solidFill>
                <a:srgbClr val="000000"/>
              </a:solidFill>
              <a:cs typeface="+mn-cs"/>
            </a:endParaRPr>
          </a:p>
        </p:txBody>
      </p:sp>
      <p:sp>
        <p:nvSpPr>
          <p:cNvPr id="11" name="AutoShape 52"/>
          <p:cNvSpPr>
            <a:spLocks noChangeArrowheads="1"/>
          </p:cNvSpPr>
          <p:nvPr/>
        </p:nvSpPr>
        <p:spPr bwMode="gray">
          <a:xfrm>
            <a:off x="2193994" y="1947269"/>
            <a:ext cx="5866478" cy="67500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lang="zh-CN" altLang="en-US" sz="2800" b="1" kern="0" dirty="0">
                <a:solidFill>
                  <a:schemeClr val="bg1">
                    <a:lumMod val="75000"/>
                  </a:schemeClr>
                </a:solidFill>
                <a:cs typeface="+mn-cs"/>
              </a:rPr>
              <a:t>纠删码技术的概述</a:t>
            </a:r>
            <a:endParaRPr lang="zh-CN" altLang="en-US" sz="2800" b="1" kern="0" dirty="0">
              <a:solidFill>
                <a:schemeClr val="bg1">
                  <a:lumMod val="75000"/>
                </a:schemeClr>
              </a:solidFill>
              <a:cs typeface="+mn-cs"/>
            </a:endParaRPr>
          </a:p>
        </p:txBody>
      </p:sp>
      <p:grpSp>
        <p:nvGrpSpPr>
          <p:cNvPr id="8202" name="Group 53"/>
          <p:cNvGrpSpPr/>
          <p:nvPr/>
        </p:nvGrpSpPr>
        <p:grpSpPr>
          <a:xfrm>
            <a:off x="1597819" y="2133624"/>
            <a:ext cx="381000" cy="381000"/>
            <a:chOff x="2078" y="1680"/>
            <a:chExt cx="1615" cy="1615"/>
          </a:xfrm>
        </p:grpSpPr>
        <p:sp>
          <p:nvSpPr>
            <p:cNvPr id="1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3" name="Group 60"/>
          <p:cNvGrpSpPr/>
          <p:nvPr/>
        </p:nvGrpSpPr>
        <p:grpSpPr>
          <a:xfrm>
            <a:off x="2078405" y="3106678"/>
            <a:ext cx="381000" cy="381000"/>
            <a:chOff x="2078" y="1680"/>
            <a:chExt cx="1615" cy="1615"/>
          </a:xfrm>
        </p:grpSpPr>
        <p:sp>
          <p:nvSpPr>
            <p:cNvPr id="20" name="Oval 61"/>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1" name="Oval 62"/>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2" name="Oval 63"/>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3" name="Oval 64"/>
            <p:cNvSpPr>
              <a:spLocks noChangeArrowheads="1"/>
            </p:cNvSpPr>
            <p:nvPr/>
          </p:nvSpPr>
          <p:spPr bwMode="gray">
            <a:xfrm>
              <a:off x="2253" y="1855"/>
              <a:ext cx="1265" cy="1265"/>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4" name="Oval 65"/>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5" name="Oval 66"/>
            <p:cNvSpPr>
              <a:spLocks noChangeArrowheads="1"/>
            </p:cNvSpPr>
            <p:nvPr/>
          </p:nvSpPr>
          <p:spPr bwMode="gray">
            <a:xfrm>
              <a:off x="2334" y="1936"/>
              <a:ext cx="1097" cy="1104"/>
            </a:xfrm>
            <a:prstGeom prst="ellipse">
              <a:avLst/>
            </a:prstGeom>
            <a:gradFill rotWithShape="1">
              <a:gsLst>
                <a:gs pos="0">
                  <a:srgbClr val="48BE67"/>
                </a:gs>
                <a:gs pos="100000">
                  <a:srgbClr val="48BE67">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4" name="Group 67"/>
          <p:cNvGrpSpPr/>
          <p:nvPr/>
        </p:nvGrpSpPr>
        <p:grpSpPr>
          <a:xfrm>
            <a:off x="2089257" y="4189911"/>
            <a:ext cx="381000" cy="381000"/>
            <a:chOff x="2078" y="1680"/>
            <a:chExt cx="1615" cy="1615"/>
          </a:xfrm>
        </p:grpSpPr>
        <p:sp>
          <p:nvSpPr>
            <p:cNvPr id="2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5" name="Group 74"/>
          <p:cNvGrpSpPr/>
          <p:nvPr/>
        </p:nvGrpSpPr>
        <p:grpSpPr>
          <a:xfrm>
            <a:off x="1597819" y="5218855"/>
            <a:ext cx="381000" cy="381000"/>
            <a:chOff x="2078" y="1680"/>
            <a:chExt cx="1615" cy="1615"/>
          </a:xfrm>
        </p:grpSpPr>
        <p:sp>
          <p:nvSpPr>
            <p:cNvPr id="34" name="Oval 75"/>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5" name="Oval 76"/>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6" name="Oval 77"/>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7" name="Oval 78"/>
            <p:cNvSpPr>
              <a:spLocks noChangeArrowheads="1"/>
            </p:cNvSpPr>
            <p:nvPr/>
          </p:nvSpPr>
          <p:spPr bwMode="gray">
            <a:xfrm>
              <a:off x="2253" y="1855"/>
              <a:ext cx="1265" cy="1265"/>
            </a:xfrm>
            <a:prstGeom prst="ellipse">
              <a:avLst/>
            </a:prstGeom>
            <a:gradFill rotWithShape="1">
              <a:gsLst>
                <a:gs pos="0">
                  <a:srgbClr val="8D67E1">
                    <a:gamma/>
                    <a:shade val="0"/>
                    <a:invGamma/>
                  </a:srgbClr>
                </a:gs>
                <a:gs pos="100000">
                  <a:srgbClr val="8D67E1"/>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8" name="Oval 79"/>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9" name="Oval 80"/>
            <p:cNvSpPr>
              <a:spLocks noChangeArrowheads="1"/>
            </p:cNvSpPr>
            <p:nvPr/>
          </p:nvSpPr>
          <p:spPr bwMode="gray">
            <a:xfrm>
              <a:off x="2334" y="1936"/>
              <a:ext cx="1097" cy="1104"/>
            </a:xfrm>
            <a:prstGeom prst="ellipse">
              <a:avLst/>
            </a:prstGeom>
            <a:gradFill rotWithShape="1">
              <a:gsLst>
                <a:gs pos="0">
                  <a:srgbClr val="8D67E1"/>
                </a:gs>
                <a:gs pos="100000">
                  <a:srgbClr val="8D67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基本名词术语</a:t>
            </a:r>
            <a:r>
              <a:rPr lang="en-US" altLang="zh-CN" sz="2400" dirty="0">
                <a:sym typeface="+mn-ea"/>
              </a:rPr>
              <a:t>1——</a:t>
            </a:r>
            <a:r>
              <a:rPr lang="zh-CN" altLang="en-US" sz="2400" dirty="0">
                <a:sym typeface="+mn-ea"/>
              </a:rPr>
              <a:t>单元</a:t>
            </a:r>
            <a:endParaRPr lang="zh-CN" altLang="en-US" sz="2400" dirty="0">
              <a:sym typeface="+mn-ea"/>
            </a:endParaRPr>
          </a:p>
        </p:txBody>
      </p:sp>
      <p:sp>
        <p:nvSpPr>
          <p:cNvPr id="14" name="文本框 13"/>
          <p:cNvSpPr txBox="1"/>
          <p:nvPr/>
        </p:nvSpPr>
        <p:spPr>
          <a:xfrm>
            <a:off x="358243" y="1143060"/>
            <a:ext cx="8427509" cy="189199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2200" dirty="0">
                <a:solidFill>
                  <a:srgbClr val="FF0000"/>
                </a:solidFill>
              </a:rPr>
              <a:t>        单元</a:t>
            </a:r>
            <a:r>
              <a:rPr lang="en-US" altLang="zh-CN" sz="2200" dirty="0"/>
              <a:t>(Element)</a:t>
            </a:r>
            <a:r>
              <a:rPr lang="zh-CN" altLang="en-US" sz="2200" dirty="0"/>
              <a:t>是用户数据或校验的一个基本单位，可以是一个比特</a:t>
            </a:r>
            <a:r>
              <a:rPr lang="en-US" altLang="zh-CN" sz="2200" dirty="0"/>
              <a:t>(Bit)</a:t>
            </a:r>
            <a:r>
              <a:rPr lang="zh-CN" altLang="en-US" sz="2200" dirty="0"/>
              <a:t>、一个字节</a:t>
            </a:r>
            <a:r>
              <a:rPr lang="en-US" altLang="zh-CN" sz="2200" dirty="0"/>
              <a:t>(Byte)</a:t>
            </a:r>
            <a:r>
              <a:rPr lang="zh-CN" altLang="en-US" sz="2200" dirty="0"/>
              <a:t>、一个扇区</a:t>
            </a:r>
            <a:r>
              <a:rPr lang="en-US" altLang="zh-CN" sz="2200" dirty="0"/>
              <a:t>(Sector)</a:t>
            </a:r>
            <a:r>
              <a:rPr lang="zh-CN" altLang="en-US" sz="2200" dirty="0"/>
              <a:t>或一个更大的磁盘数据块。它是纠删码的构造块</a:t>
            </a:r>
            <a:r>
              <a:rPr lang="en-US" altLang="zh-CN" sz="2200" dirty="0"/>
              <a:t>(Building Block)</a:t>
            </a:r>
            <a:r>
              <a:rPr lang="zh-CN" altLang="en-US" sz="2200" dirty="0"/>
              <a:t>。在编码理论中，它对应于码符号</a:t>
            </a:r>
            <a:r>
              <a:rPr lang="en-US" altLang="zh-CN" sz="2200" dirty="0"/>
              <a:t>(Code Symbol)</a:t>
            </a:r>
            <a:r>
              <a:rPr lang="zh-CN" altLang="en-US" sz="2200" dirty="0"/>
              <a:t>中的一个比特。</a:t>
            </a:r>
            <a:endParaRPr lang="zh-CN" altLang="en-US" sz="2200" dirty="0">
              <a:sym typeface="+mn-ea"/>
            </a:endParaRPr>
          </a:p>
        </p:txBody>
      </p:sp>
      <p:grpSp>
        <p:nvGrpSpPr>
          <p:cNvPr id="3" name="组合 2"/>
          <p:cNvGrpSpPr/>
          <p:nvPr/>
        </p:nvGrpSpPr>
        <p:grpSpPr>
          <a:xfrm>
            <a:off x="2315527" y="3124208"/>
            <a:ext cx="4512945" cy="3379164"/>
            <a:chOff x="381110" y="1937359"/>
            <a:chExt cx="4512945" cy="3379164"/>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6908" r="6220"/>
            <a:stretch>
              <a:fillRect/>
            </a:stretch>
          </p:blipFill>
          <p:spPr>
            <a:xfrm>
              <a:off x="381110" y="1937359"/>
              <a:ext cx="4512945" cy="2983282"/>
            </a:xfrm>
            <a:prstGeom prst="rect">
              <a:avLst/>
            </a:prstGeom>
          </p:spPr>
        </p:pic>
        <p:sp>
          <p:nvSpPr>
            <p:cNvPr id="5" name="文本框 4"/>
            <p:cNvSpPr txBox="1"/>
            <p:nvPr/>
          </p:nvSpPr>
          <p:spPr>
            <a:xfrm>
              <a:off x="1620841" y="4888264"/>
              <a:ext cx="2033481"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zh-CN" altLang="en-US" dirty="0"/>
                <a:t>用户数据分布图</a:t>
              </a:r>
              <a:endParaRPr lang="zh-CN" altLang="en-US" dirty="0">
                <a:sym typeface="+mn-ea"/>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基本名词术语</a:t>
            </a:r>
            <a:r>
              <a:rPr lang="en-US" altLang="zh-CN" sz="2400" dirty="0">
                <a:sym typeface="+mn-ea"/>
              </a:rPr>
              <a:t>2——</a:t>
            </a:r>
            <a:r>
              <a:rPr lang="zh-CN" altLang="en-US" sz="2400" dirty="0">
                <a:sym typeface="+mn-ea"/>
              </a:rPr>
              <a:t>条带</a:t>
            </a:r>
            <a:endParaRPr lang="zh-CN" altLang="en-US" sz="2400" dirty="0">
              <a:sym typeface="+mn-ea"/>
            </a:endParaRPr>
          </a:p>
        </p:txBody>
      </p:sp>
      <p:sp>
        <p:nvSpPr>
          <p:cNvPr id="14" name="文本框 13"/>
          <p:cNvSpPr txBox="1"/>
          <p:nvPr/>
        </p:nvSpPr>
        <p:spPr>
          <a:xfrm>
            <a:off x="457305" y="1143060"/>
            <a:ext cx="8229386" cy="189199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2200" dirty="0">
                <a:solidFill>
                  <a:srgbClr val="FF0000"/>
                </a:solidFill>
              </a:rPr>
              <a:t>        条带</a:t>
            </a:r>
            <a:r>
              <a:rPr lang="en-US" altLang="zh-CN" sz="2200" dirty="0"/>
              <a:t>(Stripe)</a:t>
            </a:r>
            <a:r>
              <a:rPr lang="zh-CN" altLang="en-US" sz="2200" dirty="0"/>
              <a:t>是一个由用户数据单元和校验单元组成的具有独立编码关系的集合。在编码理论中，它对应于一个码字</a:t>
            </a:r>
            <a:r>
              <a:rPr lang="en-US" altLang="zh-CN" sz="2200" dirty="0"/>
              <a:t>(Code Word)</a:t>
            </a:r>
            <a:r>
              <a:rPr lang="zh-CN" altLang="en-US" sz="2200" dirty="0"/>
              <a:t>。这里，条带长度</a:t>
            </a:r>
            <a:r>
              <a:rPr lang="en-US" altLang="zh-CN" sz="2200" dirty="0"/>
              <a:t>(Stripe Length)</a:t>
            </a:r>
            <a:r>
              <a:rPr lang="zh-CN" altLang="en-US" sz="2200" dirty="0"/>
              <a:t>定义为一个条带所跨越的磁盘个数，记为</a:t>
            </a:r>
            <a:r>
              <a:rPr lang="en-US" altLang="zh-CN" sz="2200" dirty="0"/>
              <a:t>n</a:t>
            </a:r>
            <a:r>
              <a:rPr lang="zh-CN" altLang="en-US" sz="2200" dirty="0"/>
              <a:t>。</a:t>
            </a:r>
            <a:endParaRPr lang="zh-CN" altLang="en-US" sz="2200" dirty="0">
              <a:sym typeface="+mn-ea"/>
            </a:endParaRPr>
          </a:p>
        </p:txBody>
      </p:sp>
      <p:grpSp>
        <p:nvGrpSpPr>
          <p:cNvPr id="8" name="组合 7"/>
          <p:cNvGrpSpPr/>
          <p:nvPr/>
        </p:nvGrpSpPr>
        <p:grpSpPr>
          <a:xfrm>
            <a:off x="2315527" y="3124208"/>
            <a:ext cx="4512945" cy="3379164"/>
            <a:chOff x="381110" y="1937359"/>
            <a:chExt cx="4512945" cy="3379164"/>
          </a:xfrm>
        </p:grpSpPr>
        <p:pic>
          <p:nvPicPr>
            <p:cNvPr id="9" name="图片 8"/>
            <p:cNvPicPr>
              <a:picLocks noChangeAspect="1"/>
            </p:cNvPicPr>
            <p:nvPr/>
          </p:nvPicPr>
          <p:blipFill rotWithShape="1">
            <a:blip r:embed="rId1">
              <a:extLst>
                <a:ext uri="{28A0092B-C50C-407E-A947-70E740481C1C}">
                  <a14:useLocalDpi xmlns:a14="http://schemas.microsoft.com/office/drawing/2010/main" val="0"/>
                </a:ext>
              </a:extLst>
            </a:blip>
            <a:srcRect l="6908" r="6220"/>
            <a:stretch>
              <a:fillRect/>
            </a:stretch>
          </p:blipFill>
          <p:spPr>
            <a:xfrm>
              <a:off x="381110" y="1937359"/>
              <a:ext cx="4512945" cy="2983282"/>
            </a:xfrm>
            <a:prstGeom prst="rect">
              <a:avLst/>
            </a:prstGeom>
          </p:spPr>
        </p:pic>
        <p:sp>
          <p:nvSpPr>
            <p:cNvPr id="10" name="文本框 9"/>
            <p:cNvSpPr txBox="1"/>
            <p:nvPr/>
          </p:nvSpPr>
          <p:spPr>
            <a:xfrm>
              <a:off x="1620841" y="4888264"/>
              <a:ext cx="2033481"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zh-CN" altLang="en-US" dirty="0"/>
                <a:t>用户数据分布图</a:t>
              </a:r>
              <a:endParaRPr lang="zh-CN" altLang="en-US" dirty="0">
                <a:sym typeface="+mn-ea"/>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基本名词术语</a:t>
            </a:r>
            <a:r>
              <a:rPr lang="en-US" altLang="zh-CN" sz="2400" dirty="0">
                <a:sym typeface="+mn-ea"/>
              </a:rPr>
              <a:t>3——</a:t>
            </a:r>
            <a:r>
              <a:rPr lang="zh-CN" altLang="en-US" sz="2400" dirty="0">
                <a:sym typeface="+mn-ea"/>
              </a:rPr>
              <a:t>条块</a:t>
            </a:r>
            <a:endParaRPr lang="zh-CN" altLang="en-US" sz="2400" dirty="0">
              <a:sym typeface="+mn-ea"/>
            </a:endParaRPr>
          </a:p>
        </p:txBody>
      </p:sp>
      <p:sp>
        <p:nvSpPr>
          <p:cNvPr id="14" name="文本框 13"/>
          <p:cNvSpPr txBox="1"/>
          <p:nvPr/>
        </p:nvSpPr>
        <p:spPr>
          <a:xfrm>
            <a:off x="571545" y="1232215"/>
            <a:ext cx="8000910" cy="189199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2200" dirty="0">
                <a:solidFill>
                  <a:srgbClr val="FF0000"/>
                </a:solidFill>
              </a:rPr>
              <a:t>        条块</a:t>
            </a:r>
            <a:r>
              <a:rPr lang="en-US" altLang="zh-CN" sz="2200" dirty="0"/>
              <a:t>(Strip)</a:t>
            </a:r>
            <a:r>
              <a:rPr lang="zh-CN" altLang="en-US" sz="2200" dirty="0"/>
              <a:t>是一个条带中存储在同一个磁盘上的所有单元组成的集合。在编码理论中，它对应于码字中的一个码符号。这里，条块宽度</a:t>
            </a:r>
            <a:r>
              <a:rPr lang="en-US" altLang="zh-CN" sz="2200" dirty="0"/>
              <a:t>(Strip Width)</a:t>
            </a:r>
            <a:r>
              <a:rPr lang="zh-CN" altLang="en-US" sz="2200" dirty="0"/>
              <a:t>定义为一个条块中包含的单元个数，记为</a:t>
            </a:r>
            <a:r>
              <a:rPr lang="en-US" altLang="zh-CN" sz="2200" dirty="0"/>
              <a:t>w</a:t>
            </a:r>
            <a:r>
              <a:rPr lang="zh-CN" altLang="en-US" sz="2200" dirty="0"/>
              <a:t>。</a:t>
            </a:r>
            <a:endParaRPr lang="zh-CN" altLang="en-US" sz="2200" dirty="0">
              <a:sym typeface="+mn-ea"/>
            </a:endParaRPr>
          </a:p>
        </p:txBody>
      </p:sp>
      <p:grpSp>
        <p:nvGrpSpPr>
          <p:cNvPr id="8" name="组合 7"/>
          <p:cNvGrpSpPr/>
          <p:nvPr/>
        </p:nvGrpSpPr>
        <p:grpSpPr>
          <a:xfrm>
            <a:off x="2315527" y="3124208"/>
            <a:ext cx="4512945" cy="3379164"/>
            <a:chOff x="381110" y="1937359"/>
            <a:chExt cx="4512945" cy="3379164"/>
          </a:xfrm>
        </p:grpSpPr>
        <p:pic>
          <p:nvPicPr>
            <p:cNvPr id="9" name="图片 8"/>
            <p:cNvPicPr>
              <a:picLocks noChangeAspect="1"/>
            </p:cNvPicPr>
            <p:nvPr/>
          </p:nvPicPr>
          <p:blipFill rotWithShape="1">
            <a:blip r:embed="rId1">
              <a:extLst>
                <a:ext uri="{28A0092B-C50C-407E-A947-70E740481C1C}">
                  <a14:useLocalDpi xmlns:a14="http://schemas.microsoft.com/office/drawing/2010/main" val="0"/>
                </a:ext>
              </a:extLst>
            </a:blip>
            <a:srcRect l="6908" r="6220"/>
            <a:stretch>
              <a:fillRect/>
            </a:stretch>
          </p:blipFill>
          <p:spPr>
            <a:xfrm>
              <a:off x="381110" y="1937359"/>
              <a:ext cx="4512945" cy="2983282"/>
            </a:xfrm>
            <a:prstGeom prst="rect">
              <a:avLst/>
            </a:prstGeom>
          </p:spPr>
        </p:pic>
        <p:sp>
          <p:nvSpPr>
            <p:cNvPr id="10" name="文本框 9"/>
            <p:cNvSpPr txBox="1"/>
            <p:nvPr/>
          </p:nvSpPr>
          <p:spPr>
            <a:xfrm>
              <a:off x="1620841" y="4888264"/>
              <a:ext cx="2033481"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zh-CN" altLang="en-US" dirty="0"/>
                <a:t>用户数据分布图</a:t>
              </a:r>
              <a:endParaRPr lang="zh-CN" altLang="en-US" dirty="0">
                <a:sym typeface="+mn-ea"/>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二部图</a:t>
            </a:r>
            <a:endParaRPr lang="zh-CN" altLang="en-US" sz="2400" dirty="0">
              <a:sym typeface="+mn-ea"/>
            </a:endParaRPr>
          </a:p>
        </p:txBody>
      </p:sp>
      <p:sp>
        <p:nvSpPr>
          <p:cNvPr id="14" name="文本框 13"/>
          <p:cNvSpPr txBox="1"/>
          <p:nvPr/>
        </p:nvSpPr>
        <p:spPr>
          <a:xfrm>
            <a:off x="556074" y="1075342"/>
            <a:ext cx="8031849" cy="188628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2200" dirty="0">
                <a:solidFill>
                  <a:srgbClr val="FF0000"/>
                </a:solidFill>
              </a:rPr>
              <a:t>        二部图</a:t>
            </a:r>
            <a:r>
              <a:rPr lang="zh-CN" altLang="en-US" sz="2200" dirty="0"/>
              <a:t>又称为二分图，是图论中的一种特殊模型。设</a:t>
            </a:r>
            <a:r>
              <a:rPr lang="en-US" altLang="zh-CN" sz="2200" i="1" dirty="0"/>
              <a:t>G</a:t>
            </a:r>
            <a:r>
              <a:rPr lang="en-US" altLang="zh-CN" sz="2200" dirty="0"/>
              <a:t>=(</a:t>
            </a:r>
            <a:r>
              <a:rPr lang="en-US" altLang="zh-CN" sz="2200" i="1" dirty="0"/>
              <a:t>V</a:t>
            </a:r>
            <a:r>
              <a:rPr lang="en-US" altLang="zh-CN" sz="2200" dirty="0"/>
              <a:t>,</a:t>
            </a:r>
            <a:r>
              <a:rPr lang="en-US" altLang="zh-CN" sz="2200" i="1" dirty="0"/>
              <a:t>E</a:t>
            </a:r>
            <a:r>
              <a:rPr lang="en-US" altLang="zh-CN" sz="2200" dirty="0"/>
              <a:t>)</a:t>
            </a:r>
            <a:r>
              <a:rPr lang="zh-CN" altLang="en-US" sz="2200" dirty="0"/>
              <a:t>是一个无向图，如果顶点</a:t>
            </a:r>
            <a:r>
              <a:rPr lang="en-US" altLang="zh-CN" sz="2200" i="1" dirty="0"/>
              <a:t>V</a:t>
            </a:r>
            <a:r>
              <a:rPr lang="zh-CN" altLang="en-US" sz="2200" dirty="0"/>
              <a:t>可以分割为两个互不相交的子集</a:t>
            </a:r>
            <a:r>
              <a:rPr lang="en-US" altLang="zh-CN" sz="2200" dirty="0"/>
              <a:t>(</a:t>
            </a:r>
            <a:r>
              <a:rPr lang="en-US" altLang="zh-CN" sz="2200" i="1" dirty="0"/>
              <a:t>U</a:t>
            </a:r>
            <a:r>
              <a:rPr lang="en-US" altLang="zh-CN" sz="2200" dirty="0"/>
              <a:t>,</a:t>
            </a:r>
            <a:r>
              <a:rPr lang="en-US" altLang="zh-CN" sz="2200" i="1" dirty="0"/>
              <a:t>V</a:t>
            </a:r>
            <a:r>
              <a:rPr lang="en-US" altLang="zh-CN" sz="2200" dirty="0"/>
              <a:t>)</a:t>
            </a:r>
            <a:r>
              <a:rPr lang="zh-CN" altLang="en-US" sz="2200" dirty="0"/>
              <a:t>，并且图中每条边</a:t>
            </a:r>
            <a:r>
              <a:rPr lang="en-US" altLang="zh-CN" sz="2200" dirty="0"/>
              <a:t>(</a:t>
            </a:r>
            <a:r>
              <a:rPr lang="en-US" altLang="zh-CN" sz="2200" i="1" dirty="0" err="1"/>
              <a:t>i</a:t>
            </a:r>
            <a:r>
              <a:rPr lang="en-US" altLang="zh-CN" sz="2200" dirty="0" err="1"/>
              <a:t>,</a:t>
            </a:r>
            <a:r>
              <a:rPr lang="en-US" altLang="zh-CN" sz="2200" i="1" dirty="0" err="1"/>
              <a:t>j</a:t>
            </a:r>
            <a:r>
              <a:rPr lang="en-US" altLang="zh-CN" sz="2200" dirty="0"/>
              <a:t>)</a:t>
            </a:r>
            <a:r>
              <a:rPr lang="zh-CN" altLang="en-US" sz="2200" dirty="0"/>
              <a:t>所关联的两个顶点</a:t>
            </a:r>
            <a:r>
              <a:rPr lang="en-US" altLang="zh-CN" sz="2200" dirty="0" err="1"/>
              <a:t>i</a:t>
            </a:r>
            <a:r>
              <a:rPr lang="zh-CN" altLang="en-US" sz="2200" dirty="0"/>
              <a:t>和</a:t>
            </a:r>
            <a:r>
              <a:rPr lang="en-US" altLang="zh-CN" sz="2200" dirty="0"/>
              <a:t>j</a:t>
            </a:r>
            <a:r>
              <a:rPr lang="zh-CN" altLang="en-US" sz="2200" dirty="0"/>
              <a:t>分别属于这两个不同的顶点集</a:t>
            </a:r>
            <a:r>
              <a:rPr lang="en-US" altLang="zh-CN" sz="2200" dirty="0"/>
              <a:t>(</a:t>
            </a:r>
            <a:r>
              <a:rPr lang="en-US" altLang="zh-CN" sz="2200" i="1" dirty="0" err="1"/>
              <a:t>i</a:t>
            </a:r>
            <a:r>
              <a:rPr lang="en-US" altLang="zh-CN" sz="2200" i="1" dirty="0"/>
              <a:t> in U</a:t>
            </a:r>
            <a:r>
              <a:rPr lang="zh-CN" altLang="en-US" sz="2200" i="1" dirty="0"/>
              <a:t>，</a:t>
            </a:r>
            <a:r>
              <a:rPr lang="en-US" altLang="zh-CN" sz="2200" i="1" dirty="0"/>
              <a:t>j in V</a:t>
            </a:r>
            <a:r>
              <a:rPr lang="en-US" altLang="zh-CN" sz="2200" dirty="0"/>
              <a:t>)</a:t>
            </a:r>
            <a:r>
              <a:rPr lang="zh-CN" altLang="en-US" sz="2200" dirty="0"/>
              <a:t>，则称图</a:t>
            </a:r>
            <a:r>
              <a:rPr lang="en-US" altLang="zh-CN" sz="2200" dirty="0"/>
              <a:t>G</a:t>
            </a:r>
            <a:r>
              <a:rPr lang="zh-CN" altLang="en-US" sz="2200" dirty="0"/>
              <a:t>是一个二部图。</a:t>
            </a:r>
            <a:endParaRPr lang="zh-CN" altLang="en-US" sz="2200" dirty="0">
              <a:sym typeface="+mn-ea"/>
            </a:endParaRPr>
          </a:p>
        </p:txBody>
      </p:sp>
      <p:grpSp>
        <p:nvGrpSpPr>
          <p:cNvPr id="3" name="组合 2"/>
          <p:cNvGrpSpPr/>
          <p:nvPr/>
        </p:nvGrpSpPr>
        <p:grpSpPr>
          <a:xfrm>
            <a:off x="2838457" y="3124208"/>
            <a:ext cx="3467084" cy="3612853"/>
            <a:chOff x="2838457" y="3124208"/>
            <a:chExt cx="3467084" cy="3612853"/>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38457" y="3124208"/>
              <a:ext cx="3467084" cy="3467084"/>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4038614" y="6232307"/>
              <a:ext cx="1371563" cy="50475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1800" dirty="0"/>
                <a:t>二部图示例</a:t>
              </a:r>
              <a:endParaRPr lang="zh-CN" altLang="en-US" sz="2200" dirty="0">
                <a:sym typeface="+mn-ea"/>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范德蒙矩阵</a:t>
            </a:r>
            <a:endParaRPr lang="zh-CN" altLang="en-US" sz="2400" dirty="0">
              <a:sym typeface="+mn-ea"/>
            </a:endParaRPr>
          </a:p>
        </p:txBody>
      </p:sp>
      <mc:AlternateContent xmlns:mc="http://schemas.openxmlformats.org/markup-compatibility/2006">
        <mc:Choice xmlns:a14="http://schemas.microsoft.com/office/drawing/2010/main" Requires="a14">
          <p:sp>
            <p:nvSpPr>
              <p:cNvPr id="14" name="文本框 13"/>
              <p:cNvSpPr txBox="1"/>
              <p:nvPr/>
            </p:nvSpPr>
            <p:spPr>
              <a:xfrm>
                <a:off x="467407" y="1066862"/>
                <a:ext cx="8143087" cy="1464760"/>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2200" b="0" i="0" dirty="0">
                    <a:solidFill>
                      <a:srgbClr val="FF0000"/>
                    </a:solidFill>
                    <a:effectLst/>
                    <a:latin typeface="+mn-lt"/>
                  </a:rPr>
                  <a:t>       范德蒙矩阵</a:t>
                </a:r>
                <a:r>
                  <a:rPr lang="zh-CN" altLang="en-US" sz="2200" dirty="0">
                    <a:latin typeface="+mn-lt"/>
                  </a:rPr>
                  <a:t>是法国数学家范德蒙</a:t>
                </a:r>
                <a:r>
                  <a:rPr lang="en-US" altLang="zh-CN" sz="2200" b="0" i="0" dirty="0">
                    <a:solidFill>
                      <a:srgbClr val="333333"/>
                    </a:solidFill>
                    <a:effectLst/>
                    <a:latin typeface="+mn-lt"/>
                  </a:rPr>
                  <a:t>(</a:t>
                </a:r>
                <a:r>
                  <a:rPr lang="en-US" altLang="zh-CN" sz="2200" b="0" dirty="0" err="1">
                    <a:solidFill>
                      <a:srgbClr val="333333"/>
                    </a:solidFill>
                    <a:effectLst/>
                    <a:latin typeface="+mn-lt"/>
                  </a:rPr>
                  <a:t>Vandermonde,AlexandreTheo</a:t>
                </a:r>
                <a:endParaRPr lang="en-US" altLang="zh-CN" sz="2200" b="0" dirty="0">
                  <a:solidFill>
                    <a:srgbClr val="333333"/>
                  </a:solidFill>
                  <a:effectLst/>
                  <a:latin typeface="+mn-lt"/>
                </a:endParaRPr>
              </a:p>
              <a:p>
                <a:pPr>
                  <a:lnSpc>
                    <a:spcPts val="3600"/>
                  </a:lnSpc>
                </a:pPr>
                <a:r>
                  <a:rPr lang="en-US" altLang="zh-CN" sz="2200" b="0" dirty="0">
                    <a:solidFill>
                      <a:srgbClr val="333333"/>
                    </a:solidFill>
                    <a:effectLst/>
                    <a:latin typeface="+mn-lt"/>
                  </a:rPr>
                  <a:t>-</a:t>
                </a:r>
                <a:r>
                  <a:rPr lang="en-US" altLang="zh-CN" sz="2200" b="0" dirty="0" err="1">
                    <a:solidFill>
                      <a:srgbClr val="333333"/>
                    </a:solidFill>
                    <a:effectLst/>
                    <a:latin typeface="+mn-lt"/>
                  </a:rPr>
                  <a:t>phile</a:t>
                </a:r>
                <a:r>
                  <a:rPr lang="en-US" altLang="zh-CN" sz="2200" b="0" dirty="0">
                    <a:solidFill>
                      <a:srgbClr val="333333"/>
                    </a:solidFill>
                    <a:effectLst/>
                    <a:latin typeface="+mn-lt"/>
                  </a:rPr>
                  <a:t>, 1735</a:t>
                </a:r>
                <a:r>
                  <a:rPr lang="zh-CN" altLang="en-US" sz="2200" b="0" dirty="0">
                    <a:solidFill>
                      <a:srgbClr val="333333"/>
                    </a:solidFill>
                    <a:effectLst/>
                    <a:latin typeface="+mn-lt"/>
                  </a:rPr>
                  <a:t>～</a:t>
                </a:r>
                <a:r>
                  <a:rPr lang="en-US" altLang="zh-CN" sz="2200" b="0" dirty="0">
                    <a:solidFill>
                      <a:srgbClr val="333333"/>
                    </a:solidFill>
                    <a:effectLst/>
                    <a:latin typeface="+mn-lt"/>
                  </a:rPr>
                  <a:t>1796</a:t>
                </a:r>
                <a:r>
                  <a:rPr lang="en-US" altLang="zh-CN" sz="2200" b="0" i="0" dirty="0">
                    <a:solidFill>
                      <a:srgbClr val="333333"/>
                    </a:solidFill>
                    <a:effectLst/>
                    <a:latin typeface="+mn-lt"/>
                  </a:rPr>
                  <a:t>)</a:t>
                </a:r>
                <a:r>
                  <a:rPr lang="zh-CN" altLang="en-US" sz="2200" dirty="0">
                    <a:latin typeface="+mn-lt"/>
                  </a:rPr>
                  <a:t>提出的一种各列为几何级数的矩阵。</a:t>
                </a:r>
                <a:endParaRPr lang="en-US" altLang="zh-CN" sz="2200" dirty="0">
                  <a:latin typeface="+mn-lt"/>
                </a:endParaRPr>
              </a:p>
              <a:p>
                <a:pPr>
                  <a:lnSpc>
                    <a:spcPts val="3600"/>
                  </a:lnSpc>
                </a:pPr>
                <a:r>
                  <a:rPr lang="en-US" altLang="zh-CN" sz="2200" dirty="0">
                    <a:solidFill>
                      <a:srgbClr val="333333"/>
                    </a:solidFill>
                    <a:latin typeface="+mn-lt"/>
                  </a:rPr>
                  <a:t>         </a:t>
                </a:r>
                <a:r>
                  <a:rPr lang="zh-CN" altLang="en-US" sz="2200" dirty="0">
                    <a:latin typeface="+mn-lt"/>
                  </a:rPr>
                  <a:t>该矩阵第</a:t>
                </a:r>
                <a:r>
                  <a:rPr lang="en-US" altLang="zh-CN" sz="2200" dirty="0" err="1">
                    <a:latin typeface="+mn-lt"/>
                  </a:rPr>
                  <a:t>i</a:t>
                </a:r>
                <a:r>
                  <a:rPr lang="zh-CN" altLang="en-US" sz="2200" dirty="0">
                    <a:latin typeface="+mn-lt"/>
                  </a:rPr>
                  <a:t>行、第</a:t>
                </a:r>
                <a:r>
                  <a:rPr lang="en-US" altLang="zh-CN" sz="2200" dirty="0">
                    <a:latin typeface="+mn-lt"/>
                  </a:rPr>
                  <a:t>j</a:t>
                </a:r>
                <a:r>
                  <a:rPr lang="zh-CN" altLang="en-US" sz="2200" dirty="0">
                    <a:latin typeface="+mn-lt"/>
                  </a:rPr>
                  <a:t>列可以表示为</a:t>
                </a:r>
                <a14:m>
                  <m:oMath xmlns:m="http://schemas.openxmlformats.org/officeDocument/2006/math">
                    <m:sSubSup>
                      <m:sSubSupPr>
                        <m:ctrlPr>
                          <a:rPr lang="en-US" altLang="zh-CN" sz="2200" i="1">
                            <a:latin typeface="Cambria Math" panose="02040503050406030204" pitchFamily="18" charset="0"/>
                          </a:rPr>
                        </m:ctrlPr>
                      </m:sSubSupPr>
                      <m:e>
                        <m:r>
                          <a:rPr lang="en-US" altLang="zh-CN" sz="2200" i="1">
                            <a:latin typeface="Cambria Math" panose="02040503050406030204" pitchFamily="18" charset="0"/>
                          </a:rPr>
                          <m:t>𝑔</m:t>
                        </m:r>
                      </m:e>
                      <m:sub>
                        <m:r>
                          <a:rPr lang="en-US" altLang="zh-CN" sz="2200" i="1">
                            <a:latin typeface="Cambria Math" panose="02040503050406030204" pitchFamily="18" charset="0"/>
                          </a:rPr>
                          <m:t>𝑗</m:t>
                        </m:r>
                        <m:r>
                          <a:rPr lang="en-US" altLang="zh-CN" sz="2200" i="1">
                            <a:latin typeface="Cambria Math" panose="02040503050406030204" pitchFamily="18" charset="0"/>
                          </a:rPr>
                          <m:t>−</m:t>
                        </m:r>
                        <m:r>
                          <a:rPr lang="en-US" altLang="zh-CN" sz="2200" i="1">
                            <a:latin typeface="Cambria Math" panose="02040503050406030204" pitchFamily="18" charset="0"/>
                          </a:rPr>
                          <m:t>1</m:t>
                        </m:r>
                      </m:sub>
                      <m:sup>
                        <m:r>
                          <a:rPr lang="en-US" altLang="zh-CN" sz="2200" i="1">
                            <a:latin typeface="Cambria Math" panose="02040503050406030204" pitchFamily="18" charset="0"/>
                          </a:rPr>
                          <m:t>𝑖</m:t>
                        </m:r>
                      </m:sup>
                    </m:sSubSup>
                  </m:oMath>
                </a14:m>
                <a:r>
                  <a:rPr lang="zh-CN" altLang="en-US" sz="2200" dirty="0">
                    <a:latin typeface="+mn-lt"/>
                  </a:rPr>
                  <a:t>。</a:t>
                </a:r>
                <a:endParaRPr lang="en-US" altLang="zh-CN" sz="2200" dirty="0">
                  <a:latin typeface="+mn-lt"/>
                  <a:sym typeface="+mn-ea"/>
                </a:endParaRPr>
              </a:p>
            </p:txBody>
          </p:sp>
        </mc:Choice>
        <mc:Fallback>
          <p:sp>
            <p:nvSpPr>
              <p:cNvPr id="14" name="文本框 13"/>
              <p:cNvSpPr txBox="1">
                <a:spLocks noRot="1" noChangeAspect="1" noMove="1" noResize="1" noEditPoints="1" noAdjustHandles="1" noChangeArrowheads="1" noChangeShapeType="1" noTextEdit="1"/>
              </p:cNvSpPr>
              <p:nvPr/>
            </p:nvSpPr>
            <p:spPr>
              <a:xfrm>
                <a:off x="467407" y="1066862"/>
                <a:ext cx="8143087" cy="1464760"/>
              </a:xfrm>
              <a:prstGeom prst="rect">
                <a:avLst/>
              </a:prstGeom>
              <a:blipFill rotWithShape="1">
                <a:blip r:embed="rId1"/>
                <a:stretch>
                  <a:fillRect l="-1" t="-4" r="6" b="35"/>
                </a:stretch>
              </a:blipFill>
            </p:spPr>
            <p:txBody>
              <a:bodyPr/>
              <a:lstStyle/>
              <a:p>
                <a:r>
                  <a:rPr lang="zh-CN" altLang="en-US">
                    <a:noFill/>
                  </a:rPr>
                  <a:t> </a:t>
                </a:r>
              </a:p>
            </p:txBody>
          </p:sp>
        </mc:Fallback>
      </mc:AlternateContent>
      <p:grpSp>
        <p:nvGrpSpPr>
          <p:cNvPr id="4" name="组合 3"/>
          <p:cNvGrpSpPr/>
          <p:nvPr/>
        </p:nvGrpSpPr>
        <p:grpSpPr>
          <a:xfrm>
            <a:off x="2006282" y="2820477"/>
            <a:ext cx="4867275" cy="3347686"/>
            <a:chOff x="197097" y="2157780"/>
            <a:chExt cx="4867275" cy="3347686"/>
          </a:xfrm>
        </p:grpSpPr>
        <p:sp>
          <p:nvSpPr>
            <p:cNvPr id="3" name="文本框 2"/>
            <p:cNvSpPr txBox="1"/>
            <p:nvPr/>
          </p:nvSpPr>
          <p:spPr>
            <a:xfrm>
              <a:off x="1335368" y="5105356"/>
              <a:ext cx="2590732" cy="400110"/>
            </a:xfrm>
            <a:prstGeom prst="rect">
              <a:avLst/>
            </a:prstGeom>
            <a:noFill/>
          </p:spPr>
          <p:txBody>
            <a:bodyPr wrap="square" rtlCol="0" anchor="t">
              <a:spAutoFit/>
            </a:bodyPr>
            <a:lstStyle/>
            <a:p>
              <a:r>
                <a:rPr lang="en-US" altLang="zh-CN" sz="2000" dirty="0">
                  <a:solidFill>
                    <a:srgbClr val="333333"/>
                  </a:solidFill>
                  <a:latin typeface="Arial" panose="020B0604020202020204" pitchFamily="34" charset="0"/>
                  <a:ea typeface="黑体" panose="02010609060101010101" pitchFamily="49" charset="-122"/>
                  <a:sym typeface="+mn-ea"/>
                </a:rPr>
                <a:t>m</a:t>
              </a:r>
              <a:r>
                <a:rPr lang="zh-CN" altLang="en-US" sz="2000" dirty="0">
                  <a:solidFill>
                    <a:srgbClr val="333333"/>
                  </a:solidFill>
                  <a:latin typeface="Arial" panose="020B0604020202020204" pitchFamily="34" charset="0"/>
                  <a:ea typeface="黑体" panose="02010609060101010101" pitchFamily="49" charset="-122"/>
                  <a:sym typeface="+mn-ea"/>
                </a:rPr>
                <a:t>行</a:t>
              </a:r>
              <a:r>
                <a:rPr lang="en-US" altLang="zh-CN" sz="2000" dirty="0">
                  <a:solidFill>
                    <a:srgbClr val="333333"/>
                  </a:solidFill>
                  <a:latin typeface="Arial" panose="020B0604020202020204" pitchFamily="34" charset="0"/>
                  <a:ea typeface="黑体" panose="02010609060101010101" pitchFamily="49" charset="-122"/>
                  <a:sym typeface="+mn-ea"/>
                </a:rPr>
                <a:t>n</a:t>
              </a:r>
              <a:r>
                <a:rPr lang="zh-CN" altLang="en-US" sz="2000" dirty="0">
                  <a:solidFill>
                    <a:srgbClr val="333333"/>
                  </a:solidFill>
                  <a:latin typeface="Arial" panose="020B0604020202020204" pitchFamily="34" charset="0"/>
                  <a:ea typeface="黑体" panose="02010609060101010101" pitchFamily="49" charset="-122"/>
                  <a:sym typeface="+mn-ea"/>
                </a:rPr>
                <a:t>列的范德蒙矩阵</a:t>
              </a:r>
              <a:endParaRPr lang="zh-CN" altLang="en-US" sz="2000" dirty="0">
                <a:solidFill>
                  <a:srgbClr val="333333"/>
                </a:solidFill>
                <a:latin typeface="Arial" panose="020B0604020202020204" pitchFamily="34" charset="0"/>
                <a:ea typeface="黑体" panose="02010609060101010101" pitchFamily="49" charset="-122"/>
                <a:sym typeface="+mn-ea"/>
              </a:endParaRP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097" y="2157780"/>
              <a:ext cx="4867275" cy="2857500"/>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柯西矩阵</a:t>
            </a:r>
            <a:endParaRPr lang="zh-CN" altLang="en-US" sz="2400" dirty="0">
              <a:sym typeface="+mn-ea"/>
            </a:endParaRPr>
          </a:p>
        </p:txBody>
      </p:sp>
      <p:sp>
        <p:nvSpPr>
          <p:cNvPr id="14" name="文本框 13"/>
          <p:cNvSpPr txBox="1"/>
          <p:nvPr/>
        </p:nvSpPr>
        <p:spPr>
          <a:xfrm>
            <a:off x="263408" y="1153245"/>
            <a:ext cx="8724151" cy="143032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2200" dirty="0">
                <a:solidFill>
                  <a:srgbClr val="FF0000"/>
                </a:solidFill>
                <a:latin typeface="+mn-lt"/>
              </a:rPr>
              <a:t>        柯西矩阵</a:t>
            </a:r>
            <a:r>
              <a:rPr lang="zh-CN" altLang="en-US" sz="2200" b="0" i="0" dirty="0">
                <a:effectLst/>
                <a:latin typeface="+mn-lt"/>
              </a:rPr>
              <a:t>中</a:t>
            </a:r>
            <a:r>
              <a:rPr lang="en-US" altLang="zh-CN" sz="2200" b="0" i="0" dirty="0">
                <a:effectLst/>
                <a:latin typeface="+mn-lt"/>
              </a:rPr>
              <a:t>{</a:t>
            </a:r>
            <a:r>
              <a:rPr lang="en-US" altLang="zh-CN" sz="2200" b="0" i="1" dirty="0">
                <a:effectLst/>
                <a:latin typeface="+mn-lt"/>
              </a:rPr>
              <a:t>x</a:t>
            </a:r>
            <a:r>
              <a:rPr lang="en-US" altLang="zh-CN" sz="2200" b="0" i="0" baseline="-25000" dirty="0">
                <a:effectLst/>
                <a:latin typeface="+mn-lt"/>
              </a:rPr>
              <a:t>1</a:t>
            </a:r>
            <a:r>
              <a:rPr lang="en-US" altLang="zh-CN" sz="2200" dirty="0">
                <a:latin typeface="+mn-lt"/>
              </a:rPr>
              <a:t>,</a:t>
            </a:r>
            <a:r>
              <a:rPr lang="en-US" altLang="zh-CN" sz="2200" i="1" dirty="0">
                <a:latin typeface="+mn-lt"/>
              </a:rPr>
              <a:t>x</a:t>
            </a:r>
            <a:r>
              <a:rPr lang="en-US" altLang="zh-CN" sz="2200" baseline="-25000" dirty="0">
                <a:latin typeface="+mn-lt"/>
              </a:rPr>
              <a:t>2</a:t>
            </a:r>
            <a:r>
              <a:rPr lang="en-US" altLang="zh-CN" sz="2200" b="0" i="0" dirty="0">
                <a:effectLst/>
                <a:latin typeface="+mn-lt"/>
              </a:rPr>
              <a:t>,…,</a:t>
            </a:r>
            <a:r>
              <a:rPr lang="en-US" altLang="zh-CN" sz="2200" b="0" i="1" dirty="0" err="1">
                <a:effectLst/>
                <a:latin typeface="+mn-lt"/>
              </a:rPr>
              <a:t>x</a:t>
            </a:r>
            <a:r>
              <a:rPr lang="en-US" altLang="zh-CN" sz="2200" b="0" i="0" baseline="-25000" dirty="0" err="1">
                <a:effectLst/>
                <a:latin typeface="+mn-lt"/>
              </a:rPr>
              <a:t>m</a:t>
            </a:r>
            <a:r>
              <a:rPr lang="en-US" altLang="zh-CN" sz="2200" b="0" i="0" dirty="0">
                <a:effectLst/>
                <a:latin typeface="+mn-lt"/>
              </a:rPr>
              <a:t>}</a:t>
            </a:r>
            <a:r>
              <a:rPr lang="zh-CN" altLang="en-US" sz="2200" b="0" i="0" dirty="0">
                <a:effectLst/>
                <a:latin typeface="+mn-lt"/>
              </a:rPr>
              <a:t>和</a:t>
            </a:r>
            <a:r>
              <a:rPr lang="en-US" altLang="zh-CN" sz="2200" b="0" i="0" dirty="0">
                <a:effectLst/>
                <a:latin typeface="+mn-lt"/>
              </a:rPr>
              <a:t>{</a:t>
            </a:r>
            <a:r>
              <a:rPr lang="en-US" altLang="zh-CN" sz="2200" b="0" i="1" dirty="0">
                <a:effectLst/>
                <a:latin typeface="+mn-lt"/>
              </a:rPr>
              <a:t>y</a:t>
            </a:r>
            <a:r>
              <a:rPr lang="en-US" altLang="zh-CN" sz="2200" b="0" i="0" baseline="-25000" dirty="0">
                <a:effectLst/>
                <a:latin typeface="+mn-lt"/>
              </a:rPr>
              <a:t>1</a:t>
            </a:r>
            <a:r>
              <a:rPr lang="en-US" altLang="zh-CN" sz="2200" b="0" i="0" dirty="0">
                <a:effectLst/>
                <a:latin typeface="+mn-lt"/>
              </a:rPr>
              <a:t>,</a:t>
            </a:r>
            <a:r>
              <a:rPr lang="en-US" altLang="zh-CN" sz="2200" b="0" i="1" dirty="0">
                <a:effectLst/>
                <a:latin typeface="+mn-lt"/>
              </a:rPr>
              <a:t>y</a:t>
            </a:r>
            <a:r>
              <a:rPr lang="en-US" altLang="zh-CN" sz="2200" b="0" i="0" baseline="-25000" dirty="0">
                <a:effectLst/>
                <a:latin typeface="+mn-lt"/>
              </a:rPr>
              <a:t>2</a:t>
            </a:r>
            <a:r>
              <a:rPr lang="en-US" altLang="zh-CN" sz="2200" b="0" i="0" dirty="0">
                <a:effectLst/>
                <a:latin typeface="+mn-lt"/>
              </a:rPr>
              <a:t>,…,</a:t>
            </a:r>
            <a:r>
              <a:rPr lang="en-US" altLang="zh-CN" sz="2200" b="0" i="1" dirty="0" err="1">
                <a:effectLst/>
                <a:latin typeface="+mn-lt"/>
              </a:rPr>
              <a:t>y</a:t>
            </a:r>
            <a:r>
              <a:rPr lang="en-US" altLang="zh-CN" sz="2200" b="0" i="0" baseline="-25000" dirty="0" err="1">
                <a:effectLst/>
                <a:latin typeface="+mn-lt"/>
              </a:rPr>
              <a:t>n</a:t>
            </a:r>
            <a:r>
              <a:rPr lang="en-US" altLang="zh-CN" sz="2200" b="0" i="0" dirty="0">
                <a:effectLst/>
                <a:latin typeface="+mn-lt"/>
              </a:rPr>
              <a:t>,}</a:t>
            </a:r>
            <a:r>
              <a:rPr lang="zh-CN" altLang="en-US" sz="2200" b="0" i="0" dirty="0">
                <a:effectLst/>
                <a:latin typeface="+mn-lt"/>
              </a:rPr>
              <a:t>为同一个有限域的两个不同子集</a:t>
            </a:r>
            <a:r>
              <a:rPr lang="zh-CN" altLang="en-US" sz="2200" dirty="0">
                <a:latin typeface="+mn-lt"/>
              </a:rPr>
              <a:t>。</a:t>
            </a:r>
            <a:r>
              <a:rPr lang="zh-CN" altLang="en-US" sz="2200" b="0" i="0" dirty="0">
                <a:effectLst/>
                <a:latin typeface="+mn-lt"/>
              </a:rPr>
              <a:t>它们必须满足</a:t>
            </a:r>
            <a:r>
              <a:rPr lang="en-US" altLang="zh-CN" sz="2200" b="0" i="0" dirty="0">
                <a:effectLst/>
                <a:latin typeface="+mn-lt"/>
              </a:rPr>
              <a:t>:</a:t>
            </a:r>
            <a:endParaRPr lang="en-US" altLang="zh-CN" sz="2200" b="0" i="0" dirty="0">
              <a:effectLst/>
              <a:latin typeface="+mn-lt"/>
            </a:endParaRPr>
          </a:p>
          <a:p>
            <a:pPr>
              <a:lnSpc>
                <a:spcPts val="3600"/>
              </a:lnSpc>
            </a:pPr>
            <a:r>
              <a:rPr lang="en-US" altLang="zh-CN" sz="2200" dirty="0">
                <a:latin typeface="+mn-lt"/>
              </a:rPr>
              <a:t>        </a:t>
            </a:r>
            <a:r>
              <a:rPr lang="en-US" altLang="zh-CN" sz="2200" b="0" i="0" dirty="0">
                <a:effectLst/>
                <a:latin typeface="+mn-lt"/>
              </a:rPr>
              <a:t>(1)</a:t>
            </a:r>
            <a:r>
              <a:rPr lang="zh-CN" altLang="en-US" sz="2200" b="0" i="0" dirty="0">
                <a:effectLst/>
                <a:latin typeface="+mn-lt"/>
              </a:rPr>
              <a:t>不同子集中的任意两个元素相加不能为</a:t>
            </a:r>
            <a:r>
              <a:rPr lang="en-US" altLang="zh-CN" sz="2200" b="0" i="0" dirty="0">
                <a:effectLst/>
                <a:latin typeface="+mn-lt"/>
              </a:rPr>
              <a:t>0</a:t>
            </a:r>
            <a:r>
              <a:rPr lang="zh-CN" altLang="en-US" sz="2200" b="0" i="0" dirty="0">
                <a:effectLst/>
                <a:latin typeface="+mn-lt"/>
              </a:rPr>
              <a:t>。</a:t>
            </a:r>
            <a:endParaRPr lang="en-US" altLang="zh-CN" sz="2200" b="0" i="0" dirty="0">
              <a:effectLst/>
              <a:latin typeface="+mn-lt"/>
            </a:endParaRPr>
          </a:p>
        </p:txBody>
      </p:sp>
      <p:grpSp>
        <p:nvGrpSpPr>
          <p:cNvPr id="4" name="组合 3"/>
          <p:cNvGrpSpPr/>
          <p:nvPr/>
        </p:nvGrpSpPr>
        <p:grpSpPr>
          <a:xfrm>
            <a:off x="5250933" y="2665043"/>
            <a:ext cx="3648075" cy="3652854"/>
            <a:chOff x="806696" y="1852612"/>
            <a:chExt cx="3648075" cy="3652854"/>
          </a:xfrm>
        </p:grpSpPr>
        <p:sp>
          <p:nvSpPr>
            <p:cNvPr id="3" name="文本框 2"/>
            <p:cNvSpPr txBox="1"/>
            <p:nvPr/>
          </p:nvSpPr>
          <p:spPr>
            <a:xfrm>
              <a:off x="1335368" y="5105356"/>
              <a:ext cx="2590732" cy="400110"/>
            </a:xfrm>
            <a:prstGeom prst="rect">
              <a:avLst/>
            </a:prstGeom>
            <a:noFill/>
          </p:spPr>
          <p:txBody>
            <a:bodyPr wrap="square" rtlCol="0" anchor="t">
              <a:spAutoFit/>
            </a:bodyPr>
            <a:lstStyle/>
            <a:p>
              <a:r>
                <a:rPr lang="en-US" altLang="zh-CN" sz="2000" dirty="0">
                  <a:solidFill>
                    <a:srgbClr val="333333"/>
                  </a:solidFill>
                  <a:latin typeface="Arial" panose="020B0604020202020204" pitchFamily="34" charset="0"/>
                  <a:ea typeface="黑体" panose="02010609060101010101" pitchFamily="49" charset="-122"/>
                  <a:sym typeface="+mn-ea"/>
                </a:rPr>
                <a:t>m</a:t>
              </a:r>
              <a:r>
                <a:rPr lang="zh-CN" altLang="en-US" sz="2000" dirty="0">
                  <a:solidFill>
                    <a:srgbClr val="333333"/>
                  </a:solidFill>
                  <a:latin typeface="Arial" panose="020B0604020202020204" pitchFamily="34" charset="0"/>
                  <a:ea typeface="黑体" panose="02010609060101010101" pitchFamily="49" charset="-122"/>
                  <a:sym typeface="+mn-ea"/>
                </a:rPr>
                <a:t>行</a:t>
              </a:r>
              <a:r>
                <a:rPr lang="en-US" altLang="zh-CN" sz="2000" dirty="0">
                  <a:solidFill>
                    <a:srgbClr val="333333"/>
                  </a:solidFill>
                  <a:latin typeface="Arial" panose="020B0604020202020204" pitchFamily="34" charset="0"/>
                  <a:ea typeface="黑体" panose="02010609060101010101" pitchFamily="49" charset="-122"/>
                  <a:sym typeface="+mn-ea"/>
                </a:rPr>
                <a:t>n</a:t>
              </a:r>
              <a:r>
                <a:rPr lang="zh-CN" altLang="en-US" sz="2000" dirty="0">
                  <a:solidFill>
                    <a:srgbClr val="333333"/>
                  </a:solidFill>
                  <a:latin typeface="Arial" panose="020B0604020202020204" pitchFamily="34" charset="0"/>
                  <a:ea typeface="黑体" panose="02010609060101010101" pitchFamily="49" charset="-122"/>
                  <a:sym typeface="+mn-ea"/>
                </a:rPr>
                <a:t>列的柯西矩阵</a:t>
              </a:r>
              <a:endParaRPr lang="zh-CN" altLang="en-US" sz="2000" dirty="0">
                <a:solidFill>
                  <a:srgbClr val="333333"/>
                </a:solidFill>
                <a:latin typeface="Arial" panose="020B0604020202020204" pitchFamily="34" charset="0"/>
                <a:ea typeface="黑体" panose="02010609060101010101" pitchFamily="49" charset="-122"/>
                <a:sym typeface="+mn-ea"/>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06696" y="1852612"/>
              <a:ext cx="3648075" cy="3152775"/>
            </a:xfrm>
            <a:prstGeom prst="rect">
              <a:avLst/>
            </a:prstGeom>
          </p:spPr>
        </p:pic>
      </p:grpSp>
      <p:sp>
        <p:nvSpPr>
          <p:cNvPr id="7" name="文本框 6"/>
          <p:cNvSpPr txBox="1"/>
          <p:nvPr/>
        </p:nvSpPr>
        <p:spPr>
          <a:xfrm>
            <a:off x="263409" y="2665043"/>
            <a:ext cx="4918176" cy="189199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2200" dirty="0">
                <a:solidFill>
                  <a:srgbClr val="FF0000"/>
                </a:solidFill>
                <a:latin typeface="+mn-lt"/>
              </a:rPr>
              <a:t>        </a:t>
            </a:r>
            <a:r>
              <a:rPr lang="en-US" altLang="zh-CN" sz="2200" b="0" i="0" dirty="0">
                <a:effectLst/>
                <a:latin typeface="+mn-lt"/>
              </a:rPr>
              <a:t>(2)</a:t>
            </a:r>
            <a:r>
              <a:rPr lang="zh-CN" altLang="en-US" sz="2200" b="0" i="0" dirty="0">
                <a:effectLst/>
                <a:latin typeface="+mn-lt"/>
              </a:rPr>
              <a:t>这两个子集中的每个元素都不相同。</a:t>
            </a:r>
            <a:endParaRPr lang="en-US" altLang="zh-CN" sz="2200" b="0" i="0" dirty="0">
              <a:effectLst/>
              <a:latin typeface="+mn-lt"/>
            </a:endParaRPr>
          </a:p>
          <a:p>
            <a:pPr>
              <a:lnSpc>
                <a:spcPts val="3600"/>
              </a:lnSpc>
            </a:pPr>
            <a:r>
              <a:rPr lang="en-US" altLang="zh-CN" sz="2200" dirty="0">
                <a:latin typeface="+mn-lt"/>
              </a:rPr>
              <a:t>        </a:t>
            </a:r>
            <a:r>
              <a:rPr lang="zh-CN" altLang="en-US" sz="2200" b="0" i="0" dirty="0">
                <a:effectLst/>
                <a:latin typeface="+mn-lt"/>
              </a:rPr>
              <a:t>这两个条件都满足才能构成柯西矩阵。</a:t>
            </a:r>
            <a:r>
              <a:rPr lang="zh-CN" altLang="en-US" sz="2200" b="0" i="0" dirty="0">
                <a:solidFill>
                  <a:srgbClr val="FF0000"/>
                </a:solidFill>
                <a:effectLst/>
                <a:latin typeface="+mn-lt"/>
              </a:rPr>
              <a:t> </a:t>
            </a:r>
            <a:endParaRPr lang="en-US" altLang="zh-CN" sz="2200" dirty="0">
              <a:solidFill>
                <a:srgbClr val="333333"/>
              </a:solidFill>
              <a:latin typeface="+mn-lt"/>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6851"/>
            <a:ext cx="4512945" cy="685800"/>
          </a:xfrm>
        </p:spPr>
        <p:txBody>
          <a:bodyPr/>
          <a:lstStyle/>
          <a:p>
            <a:r>
              <a:rPr lang="zh-CN" altLang="en-US" sz="2400" dirty="0">
                <a:sym typeface="+mn-ea"/>
              </a:rPr>
              <a:t>迦罗华域</a:t>
            </a:r>
            <a:endParaRPr lang="zh-CN" altLang="en-US" sz="2400" dirty="0">
              <a:sym typeface="+mn-ea"/>
            </a:endParaRPr>
          </a:p>
        </p:txBody>
      </p:sp>
      <p:sp>
        <p:nvSpPr>
          <p:cNvPr id="14" name="文本框 13"/>
          <p:cNvSpPr txBox="1"/>
          <p:nvPr/>
        </p:nvSpPr>
        <p:spPr>
          <a:xfrm>
            <a:off x="358321" y="1129038"/>
            <a:ext cx="8452063" cy="465056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solidFill>
                  <a:srgbClr val="FF0000"/>
                </a:solidFill>
                <a:latin typeface="+mn-lt"/>
              </a:rPr>
              <a:t>         迦罗华域</a:t>
            </a:r>
            <a:r>
              <a:rPr lang="zh-CN" altLang="en-US" dirty="0">
                <a:latin typeface="+mn-lt"/>
              </a:rPr>
              <a:t>，用</a:t>
            </a:r>
            <a:r>
              <a:rPr lang="en-US" altLang="zh-CN" dirty="0">
                <a:solidFill>
                  <a:srgbClr val="FF0000"/>
                </a:solidFill>
                <a:latin typeface="+mn-lt"/>
              </a:rPr>
              <a:t>GF(2</a:t>
            </a:r>
            <a:r>
              <a:rPr lang="en-US" altLang="zh-CN" baseline="30000" dirty="0">
                <a:solidFill>
                  <a:srgbClr val="FF0000"/>
                </a:solidFill>
                <a:latin typeface="+mn-lt"/>
              </a:rPr>
              <a:t>w</a:t>
            </a:r>
            <a:r>
              <a:rPr lang="en-US" altLang="zh-CN" dirty="0">
                <a:solidFill>
                  <a:srgbClr val="FF0000"/>
                </a:solidFill>
                <a:latin typeface="+mn-lt"/>
              </a:rPr>
              <a:t>)</a:t>
            </a:r>
            <a:r>
              <a:rPr lang="zh-CN" altLang="en-US" dirty="0">
                <a:latin typeface="+mn-lt"/>
              </a:rPr>
              <a:t>来表示，代表含有</a:t>
            </a:r>
            <a:r>
              <a:rPr lang="en-US" altLang="zh-CN" dirty="0">
                <a:latin typeface="+mn-lt"/>
              </a:rPr>
              <a:t>2</a:t>
            </a:r>
            <a:r>
              <a:rPr lang="en-US" altLang="zh-CN" baseline="30000" dirty="0">
                <a:latin typeface="+mn-lt"/>
              </a:rPr>
              <a:t>w</a:t>
            </a:r>
            <a:r>
              <a:rPr lang="zh-CN" altLang="en-US" dirty="0">
                <a:latin typeface="+mn-lt"/>
              </a:rPr>
              <a:t>个元素的有限域。迦罗华域中的四则运算</a:t>
            </a:r>
            <a:r>
              <a:rPr lang="en-US" altLang="zh-CN" dirty="0">
                <a:latin typeface="+mn-lt"/>
              </a:rPr>
              <a:t>(</a:t>
            </a:r>
            <a:r>
              <a:rPr lang="zh-CN" altLang="en-US" dirty="0">
                <a:latin typeface="+mn-lt"/>
              </a:rPr>
              <a:t>即基于多项式的运算</a:t>
            </a:r>
            <a:r>
              <a:rPr lang="en-US" altLang="zh-CN" dirty="0">
                <a:latin typeface="+mn-lt"/>
              </a:rPr>
              <a:t>)</a:t>
            </a:r>
            <a:r>
              <a:rPr lang="zh-CN" altLang="en-US" dirty="0">
                <a:latin typeface="+mn-lt"/>
              </a:rPr>
              <a:t>，多项式一般为：</a:t>
            </a:r>
            <a:endParaRPr lang="en-US" altLang="zh-CN" dirty="0">
              <a:latin typeface="+mn-lt"/>
            </a:endParaRPr>
          </a:p>
          <a:p>
            <a:pPr>
              <a:lnSpc>
                <a:spcPts val="3600"/>
              </a:lnSpc>
            </a:pPr>
            <a:r>
              <a:rPr lang="en-US" altLang="zh-CN" dirty="0">
                <a:latin typeface="+mn-lt"/>
              </a:rPr>
              <a:t>                                         f(x) = </a:t>
            </a:r>
            <a:r>
              <a:rPr lang="en-US" altLang="zh-CN" i="1" dirty="0">
                <a:latin typeface="+mn-lt"/>
              </a:rPr>
              <a:t>x</a:t>
            </a:r>
            <a:r>
              <a:rPr lang="en-US" altLang="zh-CN" baseline="30000" dirty="0">
                <a:latin typeface="+mn-lt"/>
              </a:rPr>
              <a:t>6</a:t>
            </a:r>
            <a:r>
              <a:rPr lang="en-US" altLang="zh-CN" dirty="0">
                <a:latin typeface="+mn-lt"/>
              </a:rPr>
              <a:t> + </a:t>
            </a:r>
            <a:r>
              <a:rPr lang="en-US" altLang="zh-CN" i="1" dirty="0">
                <a:latin typeface="+mn-lt"/>
              </a:rPr>
              <a:t>x</a:t>
            </a:r>
            <a:r>
              <a:rPr lang="en-US" altLang="zh-CN" baseline="30000" dirty="0">
                <a:latin typeface="+mn-lt"/>
              </a:rPr>
              <a:t>4 </a:t>
            </a:r>
            <a:r>
              <a:rPr lang="en-US" altLang="zh-CN" dirty="0">
                <a:latin typeface="+mn-lt"/>
              </a:rPr>
              <a:t>+ </a:t>
            </a:r>
            <a:r>
              <a:rPr lang="en-US" altLang="zh-CN" i="1" dirty="0">
                <a:latin typeface="+mn-lt"/>
              </a:rPr>
              <a:t>x</a:t>
            </a:r>
            <a:r>
              <a:rPr lang="en-US" altLang="zh-CN" baseline="30000" dirty="0">
                <a:latin typeface="+mn-lt"/>
              </a:rPr>
              <a:t>2</a:t>
            </a:r>
            <a:r>
              <a:rPr lang="en-US" altLang="zh-CN" dirty="0">
                <a:latin typeface="+mn-lt"/>
              </a:rPr>
              <a:t> + </a:t>
            </a:r>
            <a:r>
              <a:rPr lang="en-US" altLang="zh-CN" i="1" dirty="0">
                <a:latin typeface="+mn-lt"/>
              </a:rPr>
              <a:t>x</a:t>
            </a:r>
            <a:r>
              <a:rPr lang="en-US" altLang="zh-CN" dirty="0">
                <a:latin typeface="+mn-lt"/>
              </a:rPr>
              <a:t> + 1</a:t>
            </a:r>
            <a:r>
              <a:rPr lang="zh-CN" altLang="en-US" dirty="0">
                <a:latin typeface="+mn-lt"/>
              </a:rPr>
              <a:t>。</a:t>
            </a:r>
            <a:endParaRPr lang="en-US" altLang="zh-CN" dirty="0">
              <a:latin typeface="+mn-lt"/>
            </a:endParaRPr>
          </a:p>
          <a:p>
            <a:pPr>
              <a:lnSpc>
                <a:spcPts val="3600"/>
              </a:lnSpc>
            </a:pPr>
            <a:r>
              <a:rPr lang="en-US" altLang="zh-CN" dirty="0">
                <a:latin typeface="+mn-lt"/>
              </a:rPr>
              <a:t>(1)</a:t>
            </a:r>
            <a:r>
              <a:rPr lang="zh-CN" altLang="en-US" dirty="0">
                <a:latin typeface="+mn-lt"/>
              </a:rPr>
              <a:t>多项式加减法</a:t>
            </a:r>
            <a:endParaRPr lang="en-US" altLang="zh-CN" dirty="0">
              <a:latin typeface="+mn-lt"/>
            </a:endParaRPr>
          </a:p>
          <a:p>
            <a:pPr algn="l">
              <a:lnSpc>
                <a:spcPts val="3600"/>
              </a:lnSpc>
            </a:pPr>
            <a:r>
              <a:rPr lang="zh-CN" altLang="en-US" dirty="0">
                <a:latin typeface="+mn-lt"/>
              </a:rPr>
              <a:t>        将两个多项式中相同阶数的项系数相加或相减。</a:t>
            </a:r>
            <a:endParaRPr lang="zh-CN" altLang="en-US" dirty="0">
              <a:latin typeface="+mn-lt"/>
            </a:endParaRPr>
          </a:p>
          <a:p>
            <a:pPr algn="l">
              <a:lnSpc>
                <a:spcPts val="3600"/>
              </a:lnSpc>
            </a:pPr>
            <a:r>
              <a:rPr lang="zh-CN" altLang="en-US" dirty="0">
                <a:latin typeface="+mn-lt"/>
              </a:rPr>
              <a:t>        例如 </a:t>
            </a:r>
            <a:r>
              <a:rPr lang="en-US" altLang="zh-CN" dirty="0">
                <a:latin typeface="+mn-lt"/>
              </a:rPr>
              <a:t>(</a:t>
            </a:r>
            <a:r>
              <a:rPr lang="en-US" altLang="zh-CN" i="1" dirty="0">
                <a:latin typeface="+mn-lt"/>
              </a:rPr>
              <a:t>x</a:t>
            </a:r>
            <a:r>
              <a:rPr lang="en-US" altLang="zh-CN" baseline="30000" dirty="0">
                <a:latin typeface="+mn-lt"/>
              </a:rPr>
              <a:t>2</a:t>
            </a:r>
            <a:r>
              <a:rPr lang="en-US" altLang="zh-CN" dirty="0">
                <a:latin typeface="+mn-lt"/>
              </a:rPr>
              <a:t> + </a:t>
            </a:r>
            <a:r>
              <a:rPr lang="en-US" altLang="zh-CN" i="1" dirty="0">
                <a:latin typeface="+mn-lt"/>
              </a:rPr>
              <a:t>x</a:t>
            </a:r>
            <a:r>
              <a:rPr lang="en-US" altLang="zh-CN" dirty="0">
                <a:latin typeface="+mn-lt"/>
              </a:rPr>
              <a:t> ) + (</a:t>
            </a:r>
            <a:r>
              <a:rPr lang="en-US" altLang="zh-CN" i="1" dirty="0">
                <a:latin typeface="+mn-lt"/>
              </a:rPr>
              <a:t>x</a:t>
            </a:r>
            <a:r>
              <a:rPr lang="en-US" altLang="zh-CN" dirty="0">
                <a:latin typeface="+mn-lt"/>
              </a:rPr>
              <a:t> + 1) = </a:t>
            </a:r>
            <a:r>
              <a:rPr lang="en-US" altLang="zh-CN" i="1" dirty="0">
                <a:latin typeface="+mn-lt"/>
              </a:rPr>
              <a:t>x</a:t>
            </a:r>
            <a:r>
              <a:rPr lang="en-US" altLang="zh-CN" baseline="30000" dirty="0">
                <a:latin typeface="+mn-lt"/>
              </a:rPr>
              <a:t>2</a:t>
            </a:r>
            <a:r>
              <a:rPr lang="en-US" altLang="zh-CN" dirty="0">
                <a:latin typeface="+mn-lt"/>
              </a:rPr>
              <a:t> + 2</a:t>
            </a:r>
            <a:r>
              <a:rPr lang="en-US" altLang="zh-CN" i="1" dirty="0">
                <a:latin typeface="+mn-lt"/>
              </a:rPr>
              <a:t>x</a:t>
            </a:r>
            <a:r>
              <a:rPr lang="en-US" altLang="zh-CN" dirty="0">
                <a:latin typeface="+mn-lt"/>
              </a:rPr>
              <a:t> +1</a:t>
            </a:r>
            <a:endParaRPr lang="zh-CN" altLang="en-US" dirty="0">
              <a:latin typeface="+mn-lt"/>
            </a:endParaRPr>
          </a:p>
          <a:p>
            <a:pPr>
              <a:lnSpc>
                <a:spcPts val="3600"/>
              </a:lnSpc>
            </a:pPr>
            <a:r>
              <a:rPr lang="en-US" altLang="zh-CN" dirty="0">
                <a:latin typeface="+mn-lt"/>
                <a:sym typeface="+mn-ea"/>
              </a:rPr>
              <a:t>(2)</a:t>
            </a:r>
            <a:r>
              <a:rPr lang="zh-CN" altLang="en-US" dirty="0">
                <a:latin typeface="+mn-lt"/>
                <a:sym typeface="+mn-ea"/>
              </a:rPr>
              <a:t>多项式乘法</a:t>
            </a:r>
            <a:endParaRPr lang="en-US" altLang="zh-CN" dirty="0">
              <a:latin typeface="+mn-lt"/>
              <a:sym typeface="+mn-ea"/>
            </a:endParaRPr>
          </a:p>
          <a:p>
            <a:pPr algn="l">
              <a:lnSpc>
                <a:spcPts val="3600"/>
              </a:lnSpc>
            </a:pPr>
            <a:r>
              <a:rPr lang="zh-CN" altLang="en-US" dirty="0">
                <a:latin typeface="+mn-lt"/>
              </a:rPr>
              <a:t>        将其中一个多项式的各项分别与另一个多项式的各项相乘，然后把相同指数的项的系数相加。</a:t>
            </a:r>
            <a:endParaRPr lang="zh-CN" altLang="en-US" dirty="0">
              <a:latin typeface="+mn-lt"/>
            </a:endParaRPr>
          </a:p>
          <a:p>
            <a:pPr algn="l">
              <a:lnSpc>
                <a:spcPts val="3600"/>
              </a:lnSpc>
            </a:pPr>
            <a:r>
              <a:rPr lang="zh-CN" altLang="en-US" dirty="0">
                <a:latin typeface="+mn-lt"/>
              </a:rPr>
              <a:t>例如 </a:t>
            </a:r>
            <a:r>
              <a:rPr lang="en-US" altLang="zh-CN" dirty="0">
                <a:latin typeface="+mn-lt"/>
              </a:rPr>
              <a:t>(</a:t>
            </a:r>
            <a:r>
              <a:rPr lang="en-US" altLang="zh-CN" i="1" dirty="0">
                <a:latin typeface="+mn-lt"/>
              </a:rPr>
              <a:t>x</a:t>
            </a:r>
            <a:r>
              <a:rPr lang="en-US" altLang="zh-CN" baseline="30000" dirty="0">
                <a:latin typeface="+mn-lt"/>
              </a:rPr>
              <a:t>2</a:t>
            </a:r>
            <a:r>
              <a:rPr lang="en-US" altLang="zh-CN" dirty="0">
                <a:latin typeface="+mn-lt"/>
              </a:rPr>
              <a:t> + </a:t>
            </a:r>
            <a:r>
              <a:rPr lang="en-US" altLang="zh-CN" i="1" dirty="0">
                <a:latin typeface="+mn-lt"/>
              </a:rPr>
              <a:t>x</a:t>
            </a:r>
            <a:r>
              <a:rPr lang="en-US" altLang="zh-CN" dirty="0">
                <a:latin typeface="+mn-lt"/>
              </a:rPr>
              <a:t>)(</a:t>
            </a:r>
            <a:r>
              <a:rPr lang="en-US" altLang="zh-CN" i="1" dirty="0">
                <a:latin typeface="+mn-lt"/>
              </a:rPr>
              <a:t>x</a:t>
            </a:r>
            <a:r>
              <a:rPr lang="en-US" altLang="zh-CN" dirty="0">
                <a:latin typeface="+mn-lt"/>
              </a:rPr>
              <a:t> + 1) = </a:t>
            </a:r>
            <a:r>
              <a:rPr lang="en-US" altLang="zh-CN" i="1" dirty="0">
                <a:latin typeface="+mn-lt"/>
              </a:rPr>
              <a:t>x</a:t>
            </a:r>
            <a:r>
              <a:rPr lang="en-US" altLang="zh-CN" baseline="30000" dirty="0">
                <a:latin typeface="+mn-lt"/>
              </a:rPr>
              <a:t>2</a:t>
            </a:r>
            <a:r>
              <a:rPr lang="en-US" altLang="zh-CN" dirty="0">
                <a:latin typeface="+mn-lt"/>
              </a:rPr>
              <a:t>(</a:t>
            </a:r>
            <a:r>
              <a:rPr lang="en-US" altLang="zh-CN" i="1" dirty="0">
                <a:latin typeface="+mn-lt"/>
              </a:rPr>
              <a:t>x</a:t>
            </a:r>
            <a:r>
              <a:rPr lang="en-US" altLang="zh-CN" dirty="0">
                <a:latin typeface="+mn-lt"/>
              </a:rPr>
              <a:t> + 1) + </a:t>
            </a:r>
            <a:r>
              <a:rPr lang="en-US" altLang="zh-CN" i="1" dirty="0">
                <a:latin typeface="+mn-lt"/>
              </a:rPr>
              <a:t>x</a:t>
            </a:r>
            <a:r>
              <a:rPr lang="en-US" altLang="zh-CN" dirty="0">
                <a:latin typeface="+mn-lt"/>
              </a:rPr>
              <a:t>(</a:t>
            </a:r>
            <a:r>
              <a:rPr lang="en-US" altLang="zh-CN" i="1" dirty="0">
                <a:latin typeface="+mn-lt"/>
              </a:rPr>
              <a:t>x</a:t>
            </a:r>
            <a:r>
              <a:rPr lang="en-US" altLang="zh-CN" dirty="0">
                <a:latin typeface="+mn-lt"/>
              </a:rPr>
              <a:t> + 1)</a:t>
            </a:r>
            <a:r>
              <a:rPr lang="zh-CN" altLang="en-US" dirty="0">
                <a:latin typeface="+mn-lt"/>
              </a:rPr>
              <a:t> </a:t>
            </a:r>
            <a:r>
              <a:rPr lang="en-US" altLang="zh-CN" dirty="0">
                <a:latin typeface="+mn-lt"/>
              </a:rPr>
              <a:t>= </a:t>
            </a:r>
            <a:r>
              <a:rPr lang="en-US" altLang="zh-CN" i="1" dirty="0">
                <a:latin typeface="+mn-lt"/>
              </a:rPr>
              <a:t>x</a:t>
            </a:r>
            <a:r>
              <a:rPr lang="en-US" altLang="zh-CN" baseline="30000" dirty="0">
                <a:latin typeface="+mn-lt"/>
              </a:rPr>
              <a:t>3</a:t>
            </a:r>
            <a:r>
              <a:rPr lang="en-US" altLang="zh-CN" dirty="0">
                <a:latin typeface="+mn-lt"/>
              </a:rPr>
              <a:t> + </a:t>
            </a:r>
            <a:r>
              <a:rPr lang="en-US" altLang="zh-CN" i="1" dirty="0">
                <a:latin typeface="+mn-lt"/>
              </a:rPr>
              <a:t>x</a:t>
            </a:r>
            <a:r>
              <a:rPr lang="en-US" altLang="zh-CN" baseline="30000" dirty="0">
                <a:latin typeface="+mn-lt"/>
              </a:rPr>
              <a:t>2</a:t>
            </a:r>
            <a:r>
              <a:rPr lang="en-US" altLang="zh-CN" dirty="0">
                <a:latin typeface="+mn-lt"/>
              </a:rPr>
              <a:t> + </a:t>
            </a:r>
            <a:r>
              <a:rPr lang="en-US" altLang="zh-CN" i="1" dirty="0">
                <a:latin typeface="+mn-lt"/>
              </a:rPr>
              <a:t>x</a:t>
            </a:r>
            <a:r>
              <a:rPr lang="en-US" altLang="zh-CN" baseline="30000" dirty="0">
                <a:latin typeface="+mn-lt"/>
              </a:rPr>
              <a:t>2</a:t>
            </a:r>
            <a:r>
              <a:rPr lang="en-US" altLang="zh-CN" dirty="0">
                <a:latin typeface="+mn-lt"/>
              </a:rPr>
              <a:t> + </a:t>
            </a:r>
            <a:r>
              <a:rPr lang="en-US" altLang="zh-CN" i="1" dirty="0">
                <a:latin typeface="+mn-lt"/>
              </a:rPr>
              <a:t>x</a:t>
            </a:r>
            <a:endParaRPr lang="zh-CN" altLang="en-US" i="1" dirty="0">
              <a:latin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6851"/>
            <a:ext cx="4512945" cy="685800"/>
          </a:xfrm>
        </p:spPr>
        <p:txBody>
          <a:bodyPr/>
          <a:lstStyle/>
          <a:p>
            <a:r>
              <a:rPr lang="zh-CN" altLang="en-US" sz="2400" dirty="0">
                <a:sym typeface="+mn-ea"/>
              </a:rPr>
              <a:t>迦罗华域</a:t>
            </a:r>
            <a:endParaRPr lang="zh-CN" altLang="en-US" sz="2400" dirty="0">
              <a:sym typeface="+mn-ea"/>
            </a:endParaRPr>
          </a:p>
        </p:txBody>
      </p:sp>
      <p:sp>
        <p:nvSpPr>
          <p:cNvPr id="14" name="文本框 13"/>
          <p:cNvSpPr txBox="1"/>
          <p:nvPr/>
        </p:nvSpPr>
        <p:spPr>
          <a:xfrm>
            <a:off x="559551" y="1204231"/>
            <a:ext cx="8024897" cy="134838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en-US" altLang="zh-CN" dirty="0">
                <a:latin typeface="+mn-lt"/>
                <a:sym typeface="+mn-ea"/>
              </a:rPr>
              <a:t>(3)</a:t>
            </a:r>
            <a:r>
              <a:rPr lang="zh-CN" altLang="en-US" dirty="0">
                <a:latin typeface="+mn-lt"/>
                <a:sym typeface="+mn-ea"/>
              </a:rPr>
              <a:t>多项式除法</a:t>
            </a:r>
            <a:endParaRPr lang="en-US" altLang="zh-CN" dirty="0">
              <a:latin typeface="+mn-lt"/>
              <a:sym typeface="+mn-ea"/>
            </a:endParaRPr>
          </a:p>
          <a:p>
            <a:pPr>
              <a:lnSpc>
                <a:spcPts val="3400"/>
              </a:lnSpc>
            </a:pPr>
            <a:r>
              <a:rPr lang="zh-CN" altLang="en-US" dirty="0">
                <a:latin typeface="+mn-lt"/>
              </a:rPr>
              <a:t>        使用长除法。例如计算</a:t>
            </a:r>
            <a:r>
              <a:rPr lang="en-US" altLang="zh-CN" i="1" dirty="0">
                <a:latin typeface="+mn-lt"/>
              </a:rPr>
              <a:t>x</a:t>
            </a:r>
            <a:r>
              <a:rPr lang="en-US" altLang="zh-CN" baseline="30000" dirty="0">
                <a:latin typeface="+mn-lt"/>
              </a:rPr>
              <a:t>3</a:t>
            </a:r>
            <a:r>
              <a:rPr lang="en-US" altLang="zh-CN" dirty="0">
                <a:latin typeface="+mn-lt"/>
              </a:rPr>
              <a:t>-12</a:t>
            </a:r>
            <a:r>
              <a:rPr lang="en-US" altLang="zh-CN" i="1" dirty="0">
                <a:latin typeface="+mn-lt"/>
              </a:rPr>
              <a:t>x</a:t>
            </a:r>
            <a:r>
              <a:rPr lang="en-US" altLang="zh-CN" baseline="30000" dirty="0">
                <a:latin typeface="+mn-lt"/>
              </a:rPr>
              <a:t>2</a:t>
            </a:r>
            <a:r>
              <a:rPr lang="en-US" altLang="zh-CN" dirty="0">
                <a:latin typeface="+mn-lt"/>
              </a:rPr>
              <a:t>-42</a:t>
            </a:r>
            <a:r>
              <a:rPr lang="zh-CN" altLang="en-US" dirty="0">
                <a:latin typeface="+mn-lt"/>
              </a:rPr>
              <a:t>，除以</a:t>
            </a:r>
            <a:r>
              <a:rPr lang="en-US" altLang="zh-CN" i="1" dirty="0">
                <a:latin typeface="+mn-lt"/>
              </a:rPr>
              <a:t>x</a:t>
            </a:r>
            <a:r>
              <a:rPr lang="en-US" altLang="zh-CN" dirty="0">
                <a:latin typeface="+mn-lt"/>
              </a:rPr>
              <a:t>-3</a:t>
            </a:r>
            <a:r>
              <a:rPr lang="zh-CN" altLang="en-US" dirty="0">
                <a:latin typeface="+mn-lt"/>
              </a:rPr>
              <a:t>。使用长除法计算，商</a:t>
            </a:r>
            <a:endParaRPr lang="en-US" altLang="zh-CN" dirty="0">
              <a:latin typeface="+mn-lt"/>
            </a:endParaRPr>
          </a:p>
          <a:p>
            <a:pPr>
              <a:lnSpc>
                <a:spcPts val="3400"/>
              </a:lnSpc>
            </a:pPr>
            <a:r>
              <a:rPr lang="en-US" altLang="zh-CN" i="1" dirty="0">
                <a:latin typeface="+mn-lt"/>
              </a:rPr>
              <a:t>x</a:t>
            </a:r>
            <a:r>
              <a:rPr lang="en-US" altLang="zh-CN" baseline="30000" dirty="0">
                <a:latin typeface="+mn-lt"/>
              </a:rPr>
              <a:t>2</a:t>
            </a:r>
            <a:r>
              <a:rPr lang="en-US" altLang="zh-CN" dirty="0">
                <a:latin typeface="+mn-lt"/>
              </a:rPr>
              <a:t>-9</a:t>
            </a:r>
            <a:r>
              <a:rPr lang="en-US" altLang="zh-CN" i="1" dirty="0">
                <a:latin typeface="+mn-lt"/>
              </a:rPr>
              <a:t>x</a:t>
            </a:r>
            <a:r>
              <a:rPr lang="en-US" altLang="zh-CN" dirty="0">
                <a:latin typeface="+mn-lt"/>
              </a:rPr>
              <a:t>-27</a:t>
            </a:r>
            <a:r>
              <a:rPr lang="zh-CN" altLang="en-US" dirty="0">
                <a:latin typeface="+mn-lt"/>
              </a:rPr>
              <a:t>，余数</a:t>
            </a:r>
            <a:r>
              <a:rPr lang="en-US" altLang="zh-CN" dirty="0">
                <a:latin typeface="+mn-lt"/>
              </a:rPr>
              <a:t>-123</a:t>
            </a:r>
            <a:r>
              <a:rPr lang="zh-CN" altLang="en-US" dirty="0">
                <a:latin typeface="+mn-lt"/>
              </a:rPr>
              <a:t>。</a:t>
            </a:r>
            <a:endParaRPr lang="en-US" altLang="zh-CN" dirty="0">
              <a:latin typeface="+mn-lt"/>
              <a:sym typeface="+mn-ea"/>
            </a:endParaRPr>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82653" y="2819416"/>
            <a:ext cx="2514534" cy="20825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6851"/>
            <a:ext cx="4512945" cy="685800"/>
          </a:xfrm>
        </p:spPr>
        <p:txBody>
          <a:bodyPr/>
          <a:lstStyle/>
          <a:p>
            <a:r>
              <a:rPr lang="zh-CN" altLang="en-US" sz="2400" dirty="0">
                <a:sym typeface="+mn-ea"/>
              </a:rPr>
              <a:t>迦罗华域</a:t>
            </a:r>
            <a:endParaRPr lang="zh-CN" altLang="en-US" sz="2400" dirty="0">
              <a:sym typeface="+mn-ea"/>
            </a:endParaRPr>
          </a:p>
        </p:txBody>
      </p:sp>
      <p:sp>
        <p:nvSpPr>
          <p:cNvPr id="14" name="文本框 13"/>
          <p:cNvSpPr txBox="1"/>
          <p:nvPr/>
        </p:nvSpPr>
        <p:spPr>
          <a:xfrm>
            <a:off x="483353" y="1524050"/>
            <a:ext cx="8177293" cy="326557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dirty="0">
                <a:latin typeface="+mn-lt"/>
              </a:rPr>
              <a:t>(4)GF (2</a:t>
            </a:r>
            <a:r>
              <a:rPr lang="en-US" altLang="zh-CN" baseline="30000" dirty="0">
                <a:latin typeface="+mn-lt"/>
              </a:rPr>
              <a:t>w</a:t>
            </a:r>
            <a:r>
              <a:rPr lang="en-US" altLang="zh-CN" dirty="0">
                <a:latin typeface="+mn-lt"/>
              </a:rPr>
              <a:t>)</a:t>
            </a:r>
            <a:r>
              <a:rPr lang="zh-CN" altLang="en-US" dirty="0">
                <a:latin typeface="+mn-lt"/>
              </a:rPr>
              <a:t>上的多项式运算</a:t>
            </a:r>
            <a:endParaRPr lang="en-US" altLang="zh-CN" dirty="0">
              <a:latin typeface="+mn-lt"/>
              <a:sym typeface="+mn-ea"/>
            </a:endParaRPr>
          </a:p>
          <a:p>
            <a:pPr>
              <a:lnSpc>
                <a:spcPts val="3600"/>
              </a:lnSpc>
            </a:pPr>
            <a:r>
              <a:rPr lang="zh-CN" altLang="en-US" dirty="0">
                <a:latin typeface="+mn-lt"/>
              </a:rPr>
              <a:t>         对于</a:t>
            </a:r>
            <a:r>
              <a:rPr lang="en-US" altLang="zh-CN" dirty="0">
                <a:latin typeface="+mn-lt"/>
              </a:rPr>
              <a:t>GF(2</a:t>
            </a:r>
            <a:r>
              <a:rPr lang="en-US" altLang="zh-CN" baseline="30000" dirty="0">
                <a:latin typeface="+mn-lt"/>
              </a:rPr>
              <a:t>w</a:t>
            </a:r>
            <a:r>
              <a:rPr lang="en-US" altLang="zh-CN" dirty="0">
                <a:latin typeface="+mn-lt"/>
              </a:rPr>
              <a:t>)</a:t>
            </a:r>
            <a:r>
              <a:rPr lang="zh-CN" altLang="en-US" dirty="0">
                <a:latin typeface="+mn-lt"/>
              </a:rPr>
              <a:t>上的多项式计算，多项式系数只能取</a:t>
            </a:r>
            <a:r>
              <a:rPr lang="en-US" altLang="zh-CN" dirty="0">
                <a:latin typeface="+mn-lt"/>
              </a:rPr>
              <a:t>0</a:t>
            </a:r>
            <a:r>
              <a:rPr lang="zh-CN" altLang="en-US" dirty="0">
                <a:latin typeface="+mn-lt"/>
              </a:rPr>
              <a:t>或</a:t>
            </a:r>
            <a:r>
              <a:rPr lang="en-US" altLang="zh-CN" dirty="0">
                <a:latin typeface="+mn-lt"/>
              </a:rPr>
              <a:t>1</a:t>
            </a:r>
            <a:r>
              <a:rPr lang="zh-CN" altLang="en-US" dirty="0">
                <a:latin typeface="+mn-lt"/>
              </a:rPr>
              <a:t>。</a:t>
            </a:r>
            <a:r>
              <a:rPr lang="en-US" altLang="zh-CN" dirty="0">
                <a:latin typeface="+mn-lt"/>
              </a:rPr>
              <a:t>(</a:t>
            </a:r>
            <a:r>
              <a:rPr lang="zh-CN" altLang="en-US" dirty="0">
                <a:latin typeface="+mn-lt"/>
              </a:rPr>
              <a:t>如果是</a:t>
            </a:r>
            <a:r>
              <a:rPr lang="en-US" altLang="zh-CN" dirty="0">
                <a:latin typeface="+mn-lt"/>
              </a:rPr>
              <a:t>GF(3</a:t>
            </a:r>
            <a:r>
              <a:rPr lang="en-US" altLang="zh-CN" baseline="30000" dirty="0">
                <a:latin typeface="+mn-lt"/>
              </a:rPr>
              <a:t>w</a:t>
            </a:r>
            <a:r>
              <a:rPr lang="en-US" altLang="zh-CN" dirty="0">
                <a:latin typeface="+mn-lt"/>
              </a:rPr>
              <a:t>)</a:t>
            </a:r>
            <a:r>
              <a:rPr lang="zh-CN" altLang="en-US" dirty="0">
                <a:latin typeface="+mn-lt"/>
              </a:rPr>
              <a:t>，那么系数可以取</a:t>
            </a:r>
            <a:r>
              <a:rPr lang="en-US" altLang="zh-CN" dirty="0">
                <a:latin typeface="+mn-lt"/>
              </a:rPr>
              <a:t>0</a:t>
            </a:r>
            <a:r>
              <a:rPr lang="zh-CN" altLang="en-US" dirty="0">
                <a:latin typeface="+mn-lt"/>
              </a:rPr>
              <a:t>、</a:t>
            </a:r>
            <a:r>
              <a:rPr lang="en-US" altLang="zh-CN" dirty="0">
                <a:latin typeface="+mn-lt"/>
              </a:rPr>
              <a:t>1</a:t>
            </a:r>
            <a:r>
              <a:rPr lang="zh-CN" altLang="en-US" dirty="0">
                <a:latin typeface="+mn-lt"/>
              </a:rPr>
              <a:t>、</a:t>
            </a:r>
            <a:r>
              <a:rPr lang="en-US" altLang="zh-CN" dirty="0">
                <a:latin typeface="+mn-lt"/>
              </a:rPr>
              <a:t>2)</a:t>
            </a:r>
            <a:endParaRPr lang="en-US" altLang="zh-CN" dirty="0">
              <a:latin typeface="+mn-lt"/>
            </a:endParaRPr>
          </a:p>
          <a:p>
            <a:pPr>
              <a:lnSpc>
                <a:spcPts val="3600"/>
              </a:lnSpc>
            </a:pPr>
            <a:r>
              <a:rPr lang="en-US" altLang="zh-CN" dirty="0">
                <a:latin typeface="+mn-lt"/>
              </a:rPr>
              <a:t>         GF(2</a:t>
            </a:r>
            <a:r>
              <a:rPr lang="en-US" altLang="zh-CN" baseline="30000" dirty="0">
                <a:latin typeface="+mn-lt"/>
              </a:rPr>
              <a:t>w</a:t>
            </a:r>
            <a:r>
              <a:rPr lang="en-US" altLang="zh-CN" dirty="0">
                <a:latin typeface="+mn-lt"/>
              </a:rPr>
              <a:t>)</a:t>
            </a:r>
            <a:r>
              <a:rPr lang="zh-CN" altLang="en-US" dirty="0">
                <a:latin typeface="+mn-lt"/>
              </a:rPr>
              <a:t>的多项式加法中，合并阶数相同的同类项时，由于</a:t>
            </a:r>
            <a:r>
              <a:rPr lang="en-US" altLang="zh-CN" dirty="0">
                <a:latin typeface="+mn-lt"/>
              </a:rPr>
              <a:t>0+0=0, 1+1=0,</a:t>
            </a:r>
            <a:endParaRPr lang="en-US" altLang="zh-CN" dirty="0">
              <a:latin typeface="+mn-lt"/>
            </a:endParaRPr>
          </a:p>
          <a:p>
            <a:pPr>
              <a:lnSpc>
                <a:spcPts val="3600"/>
              </a:lnSpc>
            </a:pPr>
            <a:r>
              <a:rPr lang="en-US" altLang="zh-CN" dirty="0">
                <a:latin typeface="+mn-lt"/>
              </a:rPr>
              <a:t>0+1=1+0=1</a:t>
            </a:r>
            <a:r>
              <a:rPr lang="zh-CN" altLang="en-US" dirty="0">
                <a:latin typeface="+mn-lt"/>
              </a:rPr>
              <a:t>，因此系数不是进行加法操作，而是进行异或操作。</a:t>
            </a:r>
            <a:endParaRPr lang="en-US" altLang="zh-CN" dirty="0">
              <a:latin typeface="+mn-lt"/>
            </a:endParaRPr>
          </a:p>
          <a:p>
            <a:pPr>
              <a:lnSpc>
                <a:spcPts val="3600"/>
              </a:lnSpc>
            </a:pPr>
            <a:r>
              <a:rPr lang="en-US" altLang="zh-CN" dirty="0">
                <a:latin typeface="+mn-lt"/>
              </a:rPr>
              <a:t>         GF(2</a:t>
            </a:r>
            <a:r>
              <a:rPr lang="en-US" altLang="zh-CN" baseline="30000" dirty="0">
                <a:latin typeface="+mn-lt"/>
              </a:rPr>
              <a:t>w</a:t>
            </a:r>
            <a:r>
              <a:rPr lang="en-US" altLang="zh-CN" dirty="0">
                <a:latin typeface="+mn-lt"/>
              </a:rPr>
              <a:t>)</a:t>
            </a:r>
            <a:r>
              <a:rPr lang="zh-CN" altLang="en-US" dirty="0">
                <a:latin typeface="+mn-lt"/>
              </a:rPr>
              <a:t>的多项式减法等于加法，例如</a:t>
            </a:r>
            <a:r>
              <a:rPr lang="en-US" altLang="zh-CN" i="1" dirty="0">
                <a:latin typeface="+mn-lt"/>
              </a:rPr>
              <a:t>x</a:t>
            </a:r>
            <a:r>
              <a:rPr lang="en-US" altLang="zh-CN" baseline="30000" dirty="0">
                <a:latin typeface="+mn-lt"/>
              </a:rPr>
              <a:t>4</a:t>
            </a:r>
            <a:r>
              <a:rPr lang="en-US" altLang="zh-CN" dirty="0">
                <a:latin typeface="+mn-lt"/>
              </a:rPr>
              <a:t> – </a:t>
            </a:r>
            <a:r>
              <a:rPr lang="en-US" altLang="zh-CN" i="1" dirty="0">
                <a:latin typeface="+mn-lt"/>
              </a:rPr>
              <a:t>x</a:t>
            </a:r>
            <a:r>
              <a:rPr lang="en-US" altLang="zh-CN" baseline="30000" dirty="0">
                <a:latin typeface="+mn-lt"/>
              </a:rPr>
              <a:t>4</a:t>
            </a:r>
            <a:r>
              <a:rPr lang="en-US" altLang="zh-CN" dirty="0">
                <a:latin typeface="+mn-lt"/>
              </a:rPr>
              <a:t> </a:t>
            </a:r>
            <a:r>
              <a:rPr lang="zh-CN" altLang="en-US" dirty="0">
                <a:latin typeface="+mn-lt"/>
              </a:rPr>
              <a:t>就等于</a:t>
            </a:r>
            <a:r>
              <a:rPr lang="en-US" altLang="zh-CN" i="1" dirty="0">
                <a:latin typeface="+mn-lt"/>
              </a:rPr>
              <a:t>x</a:t>
            </a:r>
            <a:r>
              <a:rPr lang="en-US" altLang="zh-CN" baseline="30000" dirty="0">
                <a:latin typeface="+mn-lt"/>
              </a:rPr>
              <a:t>4</a:t>
            </a:r>
            <a:r>
              <a:rPr lang="en-US" altLang="zh-CN" dirty="0">
                <a:latin typeface="+mn-lt"/>
              </a:rPr>
              <a:t> + </a:t>
            </a:r>
            <a:r>
              <a:rPr lang="en-US" altLang="zh-CN" i="1" dirty="0">
                <a:latin typeface="+mn-lt"/>
              </a:rPr>
              <a:t>x</a:t>
            </a:r>
            <a:r>
              <a:rPr lang="en-US" altLang="zh-CN" baseline="30000" dirty="0">
                <a:latin typeface="+mn-lt"/>
              </a:rPr>
              <a:t>4</a:t>
            </a:r>
            <a:r>
              <a:rPr lang="zh-CN" altLang="en-US" dirty="0">
                <a:latin typeface="+mn-lt"/>
              </a:rPr>
              <a:t>。</a:t>
            </a:r>
            <a:endParaRPr lang="zh-CN" altLang="en-US" dirty="0">
              <a:latin typeface="+mn-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652578" y="104775"/>
            <a:ext cx="2300287" cy="685800"/>
          </a:xfrm>
        </p:spPr>
        <p:txBody>
          <a:bodyPr vert="horz" wrap="square" lIns="91440" tIns="45720" rIns="91440" bIns="45720" anchor="ctr"/>
          <a:lstStyle/>
          <a:p>
            <a:r>
              <a:rPr lang="zh-CN" altLang="en-US" sz="2400" dirty="0"/>
              <a:t>内容提要</a:t>
            </a:r>
            <a:endParaRPr lang="zh-CN" altLang="en-US" sz="24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8198" name="AutoShape 49"/>
          <p:cNvSpPr/>
          <p:nvPr/>
        </p:nvSpPr>
        <p:spPr>
          <a:xfrm>
            <a:off x="2193994" y="5085823"/>
            <a:ext cx="5864112" cy="647065"/>
          </a:xfrm>
          <a:prstGeom prst="roundRect">
            <a:avLst>
              <a:gd name="adj" fmla="val 50000"/>
            </a:avLst>
          </a:prstGeom>
          <a:noFill/>
          <a:ln w="28575" cap="flat" cmpd="sng">
            <a:solidFill>
              <a:srgbClr val="C0C0C0"/>
            </a:solidFill>
            <a:prstDash val="solid"/>
            <a:headEnd type="none" w="med" len="med"/>
            <a:tailEnd type="none" w="med" len="med"/>
          </a:ln>
        </p:spPr>
        <p:txBody>
          <a:bodyPr wrap="none" anchor="ctr"/>
          <a:lstStyle/>
          <a:p>
            <a:pPr rtl="0">
              <a:defRPr/>
            </a:pPr>
            <a:r>
              <a:rPr lang="zh-CN" altLang="en-US" sz="2800" b="1" kern="0" dirty="0">
                <a:solidFill>
                  <a:schemeClr val="bg1">
                    <a:lumMod val="75000"/>
                  </a:schemeClr>
                </a:solidFill>
                <a:cs typeface="+mn-cs"/>
                <a:sym typeface="+mn-ea"/>
              </a:rPr>
              <a:t>纠删码的拓展</a:t>
            </a:r>
            <a:endParaRPr lang="zh-CN" altLang="en-US" sz="2800" b="1" kern="0" dirty="0">
              <a:solidFill>
                <a:schemeClr val="bg1">
                  <a:lumMod val="75000"/>
                </a:schemeClr>
              </a:solidFill>
              <a:cs typeface="+mn-cs"/>
              <a:sym typeface="+mn-ea"/>
            </a:endParaRPr>
          </a:p>
        </p:txBody>
      </p:sp>
      <p:sp>
        <p:nvSpPr>
          <p:cNvPr id="9" name="AutoShape 50"/>
          <p:cNvSpPr>
            <a:spLocks noChangeArrowheads="1"/>
          </p:cNvSpPr>
          <p:nvPr/>
        </p:nvSpPr>
        <p:spPr bwMode="gray">
          <a:xfrm>
            <a:off x="2571706" y="4070659"/>
            <a:ext cx="5486400" cy="647065"/>
          </a:xfrm>
          <a:prstGeom prst="roundRect">
            <a:avLst>
              <a:gd name="adj" fmla="val 50000"/>
            </a:avLst>
          </a:prstGeom>
          <a:noFill/>
          <a:ln w="28575" algn="ctr">
            <a:solidFill>
              <a:srgbClr val="C0C0C0"/>
            </a:solidFill>
            <a:round/>
          </a:ln>
          <a:effectLst/>
        </p:spPr>
        <p:txBody>
          <a:bodyPr wrap="none" anchor="ctr"/>
          <a:lstStyle/>
          <a:p>
            <a:pPr marR="0" lvl="0" rtl="0">
              <a:buClrTx/>
              <a:buSzTx/>
              <a:defRPr/>
            </a:pPr>
            <a:r>
              <a:rPr lang="zh-CN" altLang="en-US" sz="2800" b="1" kern="0" dirty="0">
                <a:solidFill>
                  <a:srgbClr val="000000"/>
                </a:solidFill>
                <a:cs typeface="+mn-cs"/>
                <a:sym typeface="+mn-ea"/>
              </a:rPr>
              <a:t>纠删码的分类及其编解码原理</a:t>
            </a:r>
            <a:endParaRPr lang="zh-CN" altLang="en-US" sz="2800" b="1" kern="0" dirty="0">
              <a:solidFill>
                <a:srgbClr val="000000"/>
              </a:solidFill>
              <a:cs typeface="+mn-cs"/>
              <a:sym typeface="+mn-ea"/>
            </a:endParaRPr>
          </a:p>
        </p:txBody>
      </p:sp>
      <p:sp>
        <p:nvSpPr>
          <p:cNvPr id="10" name="AutoShape 51"/>
          <p:cNvSpPr>
            <a:spLocks noChangeArrowheads="1"/>
          </p:cNvSpPr>
          <p:nvPr/>
        </p:nvSpPr>
        <p:spPr bwMode="gray">
          <a:xfrm>
            <a:off x="2574072" y="2959374"/>
            <a:ext cx="5486400" cy="698500"/>
          </a:xfrm>
          <a:prstGeom prst="roundRect">
            <a:avLst>
              <a:gd name="adj" fmla="val 50000"/>
            </a:avLst>
          </a:prstGeom>
          <a:noFill/>
          <a:ln w="28575" algn="ctr">
            <a:solidFill>
              <a:srgbClr val="C0C0C0"/>
            </a:solidFill>
            <a:round/>
          </a:ln>
          <a:effectLst/>
        </p:spPr>
        <p:txBody>
          <a:bodyPr wrap="none" anchor="ctr"/>
          <a:lstStyle/>
          <a:p>
            <a:pPr rtl="0">
              <a:defRPr/>
            </a:pPr>
            <a:r>
              <a:rPr lang="zh-CN" altLang="en-US" sz="2800" b="1" kern="0" dirty="0">
                <a:solidFill>
                  <a:schemeClr val="bg1">
                    <a:lumMod val="75000"/>
                  </a:schemeClr>
                </a:solidFill>
                <a:cs typeface="+mn-cs"/>
              </a:rPr>
              <a:t>纠删码的基础知识介绍</a:t>
            </a:r>
            <a:endParaRPr lang="zh-CN" altLang="en-US" sz="2800" b="1" kern="0" dirty="0">
              <a:solidFill>
                <a:schemeClr val="bg1">
                  <a:lumMod val="75000"/>
                </a:schemeClr>
              </a:solidFill>
              <a:cs typeface="+mn-cs"/>
            </a:endParaRPr>
          </a:p>
        </p:txBody>
      </p:sp>
      <p:sp>
        <p:nvSpPr>
          <p:cNvPr id="11" name="AutoShape 52"/>
          <p:cNvSpPr>
            <a:spLocks noChangeArrowheads="1"/>
          </p:cNvSpPr>
          <p:nvPr/>
        </p:nvSpPr>
        <p:spPr bwMode="gray">
          <a:xfrm>
            <a:off x="2193994" y="1947269"/>
            <a:ext cx="5866478" cy="67500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lang="zh-CN" altLang="en-US" sz="2800" b="1" kern="0" dirty="0">
                <a:solidFill>
                  <a:schemeClr val="bg1">
                    <a:lumMod val="75000"/>
                  </a:schemeClr>
                </a:solidFill>
                <a:cs typeface="+mn-cs"/>
              </a:rPr>
              <a:t>纠删码技术的介绍</a:t>
            </a:r>
            <a:endParaRPr lang="zh-CN" altLang="en-US" sz="2800" b="1" kern="0" dirty="0">
              <a:solidFill>
                <a:schemeClr val="bg1">
                  <a:lumMod val="75000"/>
                </a:schemeClr>
              </a:solidFill>
              <a:cs typeface="+mn-cs"/>
            </a:endParaRPr>
          </a:p>
        </p:txBody>
      </p:sp>
      <p:grpSp>
        <p:nvGrpSpPr>
          <p:cNvPr id="8202" name="Group 53"/>
          <p:cNvGrpSpPr/>
          <p:nvPr/>
        </p:nvGrpSpPr>
        <p:grpSpPr>
          <a:xfrm>
            <a:off x="1597819" y="2133624"/>
            <a:ext cx="381000" cy="381000"/>
            <a:chOff x="2078" y="1680"/>
            <a:chExt cx="1615" cy="1615"/>
          </a:xfrm>
        </p:grpSpPr>
        <p:sp>
          <p:nvSpPr>
            <p:cNvPr id="1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3" name="Group 60"/>
          <p:cNvGrpSpPr/>
          <p:nvPr/>
        </p:nvGrpSpPr>
        <p:grpSpPr>
          <a:xfrm>
            <a:off x="2078405" y="3106678"/>
            <a:ext cx="381000" cy="381000"/>
            <a:chOff x="2078" y="1680"/>
            <a:chExt cx="1615" cy="1615"/>
          </a:xfrm>
        </p:grpSpPr>
        <p:sp>
          <p:nvSpPr>
            <p:cNvPr id="20" name="Oval 61"/>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1" name="Oval 62"/>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2" name="Oval 63"/>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3" name="Oval 64"/>
            <p:cNvSpPr>
              <a:spLocks noChangeArrowheads="1"/>
            </p:cNvSpPr>
            <p:nvPr/>
          </p:nvSpPr>
          <p:spPr bwMode="gray">
            <a:xfrm>
              <a:off x="2253" y="1855"/>
              <a:ext cx="1265" cy="1265"/>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4" name="Oval 65"/>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5" name="Oval 66"/>
            <p:cNvSpPr>
              <a:spLocks noChangeArrowheads="1"/>
            </p:cNvSpPr>
            <p:nvPr/>
          </p:nvSpPr>
          <p:spPr bwMode="gray">
            <a:xfrm>
              <a:off x="2334" y="1936"/>
              <a:ext cx="1097" cy="1104"/>
            </a:xfrm>
            <a:prstGeom prst="ellipse">
              <a:avLst/>
            </a:prstGeom>
            <a:gradFill rotWithShape="1">
              <a:gsLst>
                <a:gs pos="0">
                  <a:srgbClr val="48BE67"/>
                </a:gs>
                <a:gs pos="100000">
                  <a:srgbClr val="48BE67">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4" name="Group 67"/>
          <p:cNvGrpSpPr/>
          <p:nvPr/>
        </p:nvGrpSpPr>
        <p:grpSpPr>
          <a:xfrm>
            <a:off x="2089257" y="4189911"/>
            <a:ext cx="381000" cy="381000"/>
            <a:chOff x="2078" y="1680"/>
            <a:chExt cx="1615" cy="1615"/>
          </a:xfrm>
        </p:grpSpPr>
        <p:sp>
          <p:nvSpPr>
            <p:cNvPr id="2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5" name="Group 74"/>
          <p:cNvGrpSpPr/>
          <p:nvPr/>
        </p:nvGrpSpPr>
        <p:grpSpPr>
          <a:xfrm>
            <a:off x="1597819" y="5218855"/>
            <a:ext cx="381000" cy="381000"/>
            <a:chOff x="2078" y="1680"/>
            <a:chExt cx="1615" cy="1615"/>
          </a:xfrm>
        </p:grpSpPr>
        <p:sp>
          <p:nvSpPr>
            <p:cNvPr id="34" name="Oval 75"/>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5" name="Oval 76"/>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6" name="Oval 77"/>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7" name="Oval 78"/>
            <p:cNvSpPr>
              <a:spLocks noChangeArrowheads="1"/>
            </p:cNvSpPr>
            <p:nvPr/>
          </p:nvSpPr>
          <p:spPr bwMode="gray">
            <a:xfrm>
              <a:off x="2253" y="1855"/>
              <a:ext cx="1265" cy="1265"/>
            </a:xfrm>
            <a:prstGeom prst="ellipse">
              <a:avLst/>
            </a:prstGeom>
            <a:gradFill rotWithShape="1">
              <a:gsLst>
                <a:gs pos="0">
                  <a:srgbClr val="8D67E1">
                    <a:gamma/>
                    <a:shade val="0"/>
                    <a:invGamma/>
                  </a:srgbClr>
                </a:gs>
                <a:gs pos="100000">
                  <a:srgbClr val="8D67E1"/>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8" name="Oval 79"/>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9" name="Oval 80"/>
            <p:cNvSpPr>
              <a:spLocks noChangeArrowheads="1"/>
            </p:cNvSpPr>
            <p:nvPr/>
          </p:nvSpPr>
          <p:spPr bwMode="gray">
            <a:xfrm>
              <a:off x="2334" y="1936"/>
              <a:ext cx="1097" cy="1104"/>
            </a:xfrm>
            <a:prstGeom prst="ellipse">
              <a:avLst/>
            </a:prstGeom>
            <a:gradFill rotWithShape="1">
              <a:gsLst>
                <a:gs pos="0">
                  <a:srgbClr val="8D67E1"/>
                </a:gs>
                <a:gs pos="100000">
                  <a:srgbClr val="8D67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简单的纠删码</a:t>
            </a:r>
            <a:r>
              <a:rPr lang="en-US" altLang="zh-CN" sz="2400" dirty="0">
                <a:sym typeface="+mn-ea"/>
              </a:rPr>
              <a:t>——</a:t>
            </a:r>
            <a:r>
              <a:rPr lang="zh-CN" altLang="en-US" sz="2400" dirty="0">
                <a:sym typeface="+mn-ea"/>
              </a:rPr>
              <a:t>重复码</a:t>
            </a:r>
            <a:endParaRPr lang="zh-CN" altLang="en-US" sz="2400" dirty="0">
              <a:sym typeface="+mn-ea"/>
            </a:endParaRPr>
          </a:p>
        </p:txBody>
      </p:sp>
      <p:sp>
        <p:nvSpPr>
          <p:cNvPr id="9" name="文本框 8"/>
          <p:cNvSpPr txBox="1"/>
          <p:nvPr/>
        </p:nvSpPr>
        <p:spPr>
          <a:xfrm>
            <a:off x="562713" y="1431929"/>
            <a:ext cx="8162077" cy="178439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dirty="0">
                <a:latin typeface="+mn-lt"/>
                <a:sym typeface="+mn-ea"/>
              </a:rPr>
              <a:t>编码方式：</a:t>
            </a:r>
            <a:endParaRPr lang="en-US" altLang="zh-CN" dirty="0">
              <a:latin typeface="+mn-lt"/>
              <a:sym typeface="+mn-ea"/>
            </a:endParaRPr>
          </a:p>
          <a:p>
            <a:pPr>
              <a:lnSpc>
                <a:spcPts val="3400"/>
              </a:lnSpc>
            </a:pPr>
            <a:r>
              <a:rPr lang="zh-CN" altLang="en-US" dirty="0">
                <a:latin typeface="+mn-lt"/>
                <a:sym typeface="+mn-ea"/>
              </a:rPr>
              <a:t>        将原数据重复</a:t>
            </a:r>
            <a:r>
              <a:rPr lang="en-US" altLang="zh-CN" dirty="0">
                <a:latin typeface="+mn-lt"/>
                <a:sym typeface="+mn-ea"/>
              </a:rPr>
              <a:t>k</a:t>
            </a:r>
            <a:r>
              <a:rPr lang="zh-CN" altLang="en-US" dirty="0">
                <a:latin typeface="+mn-lt"/>
                <a:sym typeface="+mn-ea"/>
              </a:rPr>
              <a:t>次后，就得到</a:t>
            </a:r>
            <a:r>
              <a:rPr lang="en-US" altLang="zh-CN" dirty="0">
                <a:latin typeface="+mn-lt"/>
                <a:sym typeface="+mn-ea"/>
              </a:rPr>
              <a:t>k-</a:t>
            </a:r>
            <a:r>
              <a:rPr lang="zh-CN" altLang="en-US" dirty="0">
                <a:latin typeface="+mn-lt"/>
                <a:sym typeface="+mn-ea"/>
              </a:rPr>
              <a:t>重复码。例如，将原数据</a:t>
            </a:r>
            <a:r>
              <a:rPr lang="en-US" altLang="zh-CN" dirty="0">
                <a:latin typeface="+mn-lt"/>
                <a:sym typeface="+mn-ea"/>
              </a:rPr>
              <a:t>x</a:t>
            </a:r>
            <a:r>
              <a:rPr lang="zh-CN" altLang="en-US" dirty="0">
                <a:latin typeface="+mn-lt"/>
                <a:sym typeface="+mn-ea"/>
              </a:rPr>
              <a:t>重复</a:t>
            </a:r>
            <a:r>
              <a:rPr lang="en-US" altLang="zh-CN" dirty="0">
                <a:latin typeface="+mn-lt"/>
                <a:sym typeface="+mn-ea"/>
              </a:rPr>
              <a:t>3</a:t>
            </a:r>
            <a:r>
              <a:rPr lang="zh-CN" altLang="en-US" dirty="0">
                <a:latin typeface="+mn-lt"/>
                <a:sym typeface="+mn-ea"/>
              </a:rPr>
              <a:t>次，拼接得到数据</a:t>
            </a:r>
            <a:r>
              <a:rPr lang="en-US" altLang="zh-CN" dirty="0">
                <a:latin typeface="+mn-lt"/>
                <a:sym typeface="+mn-ea"/>
              </a:rPr>
              <a:t>{</a:t>
            </a:r>
            <a:r>
              <a:rPr lang="en-US" altLang="zh-CN" i="1" dirty="0" err="1">
                <a:latin typeface="+mn-lt"/>
                <a:sym typeface="+mn-ea"/>
              </a:rPr>
              <a:t>x</a:t>
            </a:r>
            <a:r>
              <a:rPr lang="en-US" altLang="zh-CN" dirty="0" err="1">
                <a:latin typeface="+mn-lt"/>
                <a:sym typeface="+mn-ea"/>
              </a:rPr>
              <a:t>,</a:t>
            </a:r>
            <a:r>
              <a:rPr lang="en-US" altLang="zh-CN" i="1" dirty="0" err="1">
                <a:latin typeface="+mn-lt"/>
                <a:sym typeface="+mn-ea"/>
              </a:rPr>
              <a:t>x</a:t>
            </a:r>
            <a:r>
              <a:rPr lang="en-US" altLang="zh-CN" dirty="0" err="1">
                <a:latin typeface="+mn-lt"/>
                <a:sym typeface="+mn-ea"/>
              </a:rPr>
              <a:t>,</a:t>
            </a:r>
            <a:r>
              <a:rPr lang="en-US" altLang="zh-CN" i="1" dirty="0" err="1">
                <a:latin typeface="+mn-lt"/>
                <a:sym typeface="+mn-ea"/>
              </a:rPr>
              <a:t>x</a:t>
            </a:r>
            <a:r>
              <a:rPr lang="en-US" altLang="zh-CN" dirty="0">
                <a:latin typeface="+mn-lt"/>
                <a:sym typeface="+mn-ea"/>
              </a:rPr>
              <a:t>},</a:t>
            </a:r>
            <a:r>
              <a:rPr lang="zh-CN" altLang="en-US" dirty="0">
                <a:latin typeface="+mn-lt"/>
                <a:sym typeface="+mn-ea"/>
              </a:rPr>
              <a:t>即为原数据的</a:t>
            </a:r>
            <a:r>
              <a:rPr lang="en-US" altLang="zh-CN" dirty="0">
                <a:latin typeface="+mn-lt"/>
                <a:sym typeface="+mn-ea"/>
              </a:rPr>
              <a:t>3-</a:t>
            </a:r>
            <a:r>
              <a:rPr lang="zh-CN" altLang="en-US" dirty="0">
                <a:latin typeface="+mn-lt"/>
                <a:sym typeface="+mn-ea"/>
              </a:rPr>
              <a:t>重复码。发送方传输的就是</a:t>
            </a:r>
            <a:r>
              <a:rPr lang="en-US" altLang="zh-CN" dirty="0">
                <a:latin typeface="+mn-lt"/>
                <a:sym typeface="+mn-ea"/>
              </a:rPr>
              <a:t>k-</a:t>
            </a:r>
            <a:r>
              <a:rPr lang="zh-CN" altLang="en-US" dirty="0">
                <a:latin typeface="+mn-lt"/>
                <a:sym typeface="+mn-ea"/>
              </a:rPr>
              <a:t>重复码。</a:t>
            </a:r>
            <a:endParaRPr lang="en-US" altLang="zh-CN" dirty="0">
              <a:latin typeface="+mn-lt"/>
              <a:sym typeface="+mn-ea"/>
            </a:endParaRPr>
          </a:p>
        </p:txBody>
      </p:sp>
      <p:sp>
        <p:nvSpPr>
          <p:cNvPr id="6" name="文本框 5"/>
          <p:cNvSpPr txBox="1"/>
          <p:nvPr/>
        </p:nvSpPr>
        <p:spPr>
          <a:xfrm>
            <a:off x="490961" y="3981616"/>
            <a:ext cx="8162077" cy="178439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dirty="0">
                <a:latin typeface="+mn-lt"/>
                <a:sym typeface="+mn-ea"/>
              </a:rPr>
              <a:t>解码方式：</a:t>
            </a:r>
            <a:endParaRPr lang="en-US" altLang="zh-CN" dirty="0">
              <a:latin typeface="+mn-lt"/>
              <a:sym typeface="+mn-ea"/>
            </a:endParaRPr>
          </a:p>
          <a:p>
            <a:pPr>
              <a:lnSpc>
                <a:spcPts val="3400"/>
              </a:lnSpc>
            </a:pPr>
            <a:r>
              <a:rPr lang="zh-CN" altLang="en-US" dirty="0">
                <a:latin typeface="+mn-lt"/>
                <a:sym typeface="+mn-ea"/>
              </a:rPr>
              <a:t>        将接收到的数据分为</a:t>
            </a:r>
            <a:r>
              <a:rPr lang="en-US" altLang="zh-CN" dirty="0">
                <a:latin typeface="+mn-lt"/>
                <a:sym typeface="+mn-ea"/>
              </a:rPr>
              <a:t>k</a:t>
            </a:r>
            <a:r>
              <a:rPr lang="zh-CN" altLang="en-US" dirty="0">
                <a:latin typeface="+mn-lt"/>
                <a:sym typeface="+mn-ea"/>
              </a:rPr>
              <a:t>段，</a:t>
            </a:r>
            <a:r>
              <a:rPr lang="en-US" altLang="zh-CN" dirty="0">
                <a:latin typeface="+mn-lt"/>
                <a:sym typeface="+mn-ea"/>
              </a:rPr>
              <a:t>k</a:t>
            </a:r>
            <a:r>
              <a:rPr lang="zh-CN" altLang="en-US" dirty="0">
                <a:latin typeface="+mn-lt"/>
                <a:sym typeface="+mn-ea"/>
              </a:rPr>
              <a:t>为原数据的重复次数。每一段即是一个原数据，这样就完成了数据恢复。将这</a:t>
            </a:r>
            <a:r>
              <a:rPr lang="en-US" altLang="zh-CN" dirty="0">
                <a:latin typeface="+mn-lt"/>
                <a:sym typeface="+mn-ea"/>
              </a:rPr>
              <a:t>k</a:t>
            </a:r>
            <a:r>
              <a:rPr lang="zh-CN" altLang="en-US" dirty="0">
                <a:latin typeface="+mn-lt"/>
                <a:sym typeface="+mn-ea"/>
              </a:rPr>
              <a:t>段数据比较。可保证传输数据的可靠性。</a:t>
            </a:r>
            <a:endParaRPr lang="en-US" altLang="zh-CN" dirty="0">
              <a:latin typeface="+mn-lt"/>
              <a:sym typeface="+mn-ea"/>
            </a:endParaRPr>
          </a:p>
        </p:txBody>
      </p:sp>
      <p:cxnSp>
        <p:nvCxnSpPr>
          <p:cNvPr id="4" name="直接连接符 3"/>
          <p:cNvCxnSpPr/>
          <p:nvPr/>
        </p:nvCxnSpPr>
        <p:spPr bwMode="auto">
          <a:xfrm>
            <a:off x="685902" y="3581396"/>
            <a:ext cx="7772196" cy="0"/>
          </a:xfrm>
          <a:prstGeom prst="line">
            <a:avLst/>
          </a:prstGeom>
          <a:ln w="28575"/>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简单的纠删码</a:t>
            </a:r>
            <a:r>
              <a:rPr lang="en-US" altLang="zh-CN" sz="2400" dirty="0">
                <a:sym typeface="+mn-ea"/>
              </a:rPr>
              <a:t>——</a:t>
            </a:r>
            <a:r>
              <a:rPr lang="zh-CN" altLang="en-US" sz="2400" dirty="0">
                <a:sym typeface="+mn-ea"/>
              </a:rPr>
              <a:t>奇偶校验码</a:t>
            </a:r>
            <a:endParaRPr lang="zh-CN" altLang="en-US" sz="2400" dirty="0">
              <a:sym typeface="+mn-ea"/>
            </a:endParaRPr>
          </a:p>
        </p:txBody>
      </p:sp>
      <p:sp>
        <p:nvSpPr>
          <p:cNvPr id="9" name="文本框 8"/>
          <p:cNvSpPr txBox="1"/>
          <p:nvPr/>
        </p:nvSpPr>
        <p:spPr>
          <a:xfrm>
            <a:off x="490959" y="988278"/>
            <a:ext cx="8162077" cy="2508957"/>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zh-CN" altLang="en-US" dirty="0">
                <a:latin typeface="+mn-lt"/>
                <a:sym typeface="+mn-ea"/>
              </a:rPr>
              <a:t>编码方式：</a:t>
            </a:r>
            <a:endParaRPr lang="en-US" altLang="zh-CN" dirty="0">
              <a:latin typeface="+mn-lt"/>
              <a:sym typeface="+mn-ea"/>
            </a:endParaRPr>
          </a:p>
          <a:p>
            <a:pPr>
              <a:lnSpc>
                <a:spcPts val="3200"/>
              </a:lnSpc>
            </a:pPr>
            <a:r>
              <a:rPr lang="zh-CN" altLang="en-US" dirty="0">
                <a:latin typeface="+mn-lt"/>
                <a:sym typeface="+mn-ea"/>
              </a:rPr>
              <a:t>        奇偶校验码是一种通过</a:t>
            </a:r>
            <a:r>
              <a:rPr lang="zh-CN" altLang="en-US" dirty="0">
                <a:solidFill>
                  <a:schemeClr val="accent2"/>
                </a:solidFill>
                <a:latin typeface="+mn-lt"/>
                <a:sym typeface="+mn-ea"/>
              </a:rPr>
              <a:t>增加冗余位，使得码字中“</a:t>
            </a:r>
            <a:r>
              <a:rPr lang="en-US" altLang="zh-CN" dirty="0">
                <a:solidFill>
                  <a:schemeClr val="accent2"/>
                </a:solidFill>
                <a:latin typeface="+mn-lt"/>
                <a:sym typeface="+mn-ea"/>
              </a:rPr>
              <a:t>1</a:t>
            </a:r>
            <a:r>
              <a:rPr lang="zh-CN" altLang="en-US" dirty="0">
                <a:solidFill>
                  <a:schemeClr val="accent2"/>
                </a:solidFill>
                <a:latin typeface="+mn-lt"/>
                <a:sym typeface="+mn-ea"/>
              </a:rPr>
              <a:t>”的个数恒为奇数或者偶数的编码方法</a:t>
            </a:r>
            <a:r>
              <a:rPr lang="zh-CN" altLang="en-US" dirty="0">
                <a:latin typeface="+mn-lt"/>
                <a:sym typeface="+mn-ea"/>
              </a:rPr>
              <a:t>。</a:t>
            </a:r>
            <a:endParaRPr lang="en-US" altLang="zh-CN" dirty="0">
              <a:latin typeface="+mn-lt"/>
              <a:sym typeface="+mn-ea"/>
            </a:endParaRPr>
          </a:p>
          <a:p>
            <a:pPr>
              <a:lnSpc>
                <a:spcPts val="3200"/>
              </a:lnSpc>
            </a:pPr>
            <a:r>
              <a:rPr lang="en-US" altLang="zh-CN" dirty="0">
                <a:latin typeface="+mn-lt"/>
                <a:sym typeface="+mn-ea"/>
              </a:rPr>
              <a:t>        </a:t>
            </a:r>
            <a:r>
              <a:rPr lang="zh-CN" altLang="en-US" dirty="0">
                <a:latin typeface="+mn-lt"/>
                <a:sym typeface="+mn-ea"/>
              </a:rPr>
              <a:t>将原数据分为</a:t>
            </a:r>
            <a:r>
              <a:rPr lang="en-US" altLang="zh-CN" dirty="0">
                <a:solidFill>
                  <a:srgbClr val="FF0000"/>
                </a:solidFill>
                <a:latin typeface="+mn-lt"/>
                <a:sym typeface="+mn-ea"/>
              </a:rPr>
              <a:t>k</a:t>
            </a:r>
            <a:r>
              <a:rPr lang="zh-CN" altLang="en-US" dirty="0">
                <a:solidFill>
                  <a:srgbClr val="FF0000"/>
                </a:solidFill>
                <a:latin typeface="+mn-lt"/>
                <a:sym typeface="+mn-ea"/>
              </a:rPr>
              <a:t>个等长</a:t>
            </a:r>
            <a:r>
              <a:rPr lang="zh-CN" altLang="en-US" dirty="0">
                <a:latin typeface="+mn-lt"/>
                <a:sym typeface="+mn-ea"/>
              </a:rPr>
              <a:t>的部分，将这</a:t>
            </a:r>
            <a:r>
              <a:rPr lang="en-US" altLang="zh-CN" dirty="0">
                <a:latin typeface="+mn-lt"/>
                <a:sym typeface="+mn-ea"/>
              </a:rPr>
              <a:t>k</a:t>
            </a:r>
            <a:r>
              <a:rPr lang="zh-CN" altLang="en-US" dirty="0">
                <a:latin typeface="+mn-lt"/>
                <a:sym typeface="+mn-ea"/>
              </a:rPr>
              <a:t>个部分进行异或操作，在数据最后加上异或操作的结果，作为冗余段，然后将原数据和冗余段一起传输。</a:t>
            </a:r>
            <a:endParaRPr lang="en-US" altLang="zh-CN" dirty="0">
              <a:latin typeface="+mn-lt"/>
              <a:sym typeface="+mn-ea"/>
            </a:endParaRPr>
          </a:p>
        </p:txBody>
      </p:sp>
      <p:grpSp>
        <p:nvGrpSpPr>
          <p:cNvPr id="3" name="组合 2"/>
          <p:cNvGrpSpPr/>
          <p:nvPr/>
        </p:nvGrpSpPr>
        <p:grpSpPr>
          <a:xfrm>
            <a:off x="1239761" y="3738900"/>
            <a:ext cx="6664477" cy="2757929"/>
            <a:chOff x="1239761" y="3738900"/>
            <a:chExt cx="6664477" cy="2757929"/>
          </a:xfrm>
        </p:grpSpPr>
        <p:pic>
          <p:nvPicPr>
            <p:cNvPr id="17" name="图片 1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39761" y="3738900"/>
              <a:ext cx="6664477" cy="2263887"/>
            </a:xfrm>
            <a:prstGeom prst="rect">
              <a:avLst/>
            </a:prstGeom>
          </p:spPr>
        </p:pic>
        <p:sp>
          <p:nvSpPr>
            <p:cNvPr id="5" name="文本框 4"/>
            <p:cNvSpPr txBox="1"/>
            <p:nvPr/>
          </p:nvSpPr>
          <p:spPr>
            <a:xfrm>
              <a:off x="3810020" y="5992075"/>
              <a:ext cx="2382610" cy="50475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1800" dirty="0">
                  <a:sym typeface="+mn-ea"/>
                </a:rPr>
                <a:t>奇偶校验码编码示例</a:t>
              </a:r>
              <a:endParaRPr lang="zh-CN" altLang="en-US" sz="1800" dirty="0">
                <a:sym typeface="+mn-ea"/>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简单的纠删码</a:t>
            </a:r>
            <a:r>
              <a:rPr lang="en-US" altLang="zh-CN" sz="2400" dirty="0">
                <a:sym typeface="+mn-ea"/>
              </a:rPr>
              <a:t>——</a:t>
            </a:r>
            <a:r>
              <a:rPr lang="zh-CN" altLang="en-US" sz="2400" dirty="0">
                <a:sym typeface="+mn-ea"/>
              </a:rPr>
              <a:t>奇偶校验码</a:t>
            </a:r>
            <a:endParaRPr lang="zh-CN" altLang="en-US" sz="2400" dirty="0">
              <a:sym typeface="+mn-ea"/>
            </a:endParaRPr>
          </a:p>
        </p:txBody>
      </p:sp>
      <p:sp>
        <p:nvSpPr>
          <p:cNvPr id="6" name="文本框 5"/>
          <p:cNvSpPr txBox="1"/>
          <p:nvPr/>
        </p:nvSpPr>
        <p:spPr>
          <a:xfrm>
            <a:off x="414796" y="1219258"/>
            <a:ext cx="8314407" cy="178439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dirty="0">
                <a:latin typeface="+mn-lt"/>
                <a:sym typeface="+mn-ea"/>
              </a:rPr>
              <a:t>解码方式：</a:t>
            </a:r>
            <a:endParaRPr lang="en-US" altLang="zh-CN" dirty="0">
              <a:latin typeface="+mn-lt"/>
              <a:sym typeface="+mn-ea"/>
            </a:endParaRPr>
          </a:p>
          <a:p>
            <a:pPr>
              <a:lnSpc>
                <a:spcPts val="3400"/>
              </a:lnSpc>
            </a:pPr>
            <a:r>
              <a:rPr lang="zh-CN" altLang="en-US" dirty="0">
                <a:latin typeface="+mn-lt"/>
                <a:sym typeface="+mn-ea"/>
              </a:rPr>
              <a:t>        冗余检测方式，接收方根据接收到的数据和冗余恢复出丢失的数据。也可以</a:t>
            </a:r>
            <a:r>
              <a:rPr lang="zh-CN" altLang="en-US" dirty="0">
                <a:solidFill>
                  <a:srgbClr val="FF0000"/>
                </a:solidFill>
                <a:latin typeface="+mn-lt"/>
                <a:sym typeface="+mn-ea"/>
              </a:rPr>
              <a:t>对接收到的数据进行异或操作</a:t>
            </a:r>
            <a:r>
              <a:rPr lang="zh-CN" altLang="en-US" dirty="0">
                <a:latin typeface="+mn-lt"/>
                <a:sym typeface="+mn-ea"/>
              </a:rPr>
              <a:t>，与数据段尾部的冗余比较，以保证数据传输的可靠性。</a:t>
            </a:r>
            <a:endParaRPr lang="en-US" altLang="zh-CN" dirty="0">
              <a:latin typeface="+mn-lt"/>
              <a:sym typeface="+mn-ea"/>
            </a:endParaRPr>
          </a:p>
        </p:txBody>
      </p:sp>
      <p:grpSp>
        <p:nvGrpSpPr>
          <p:cNvPr id="3" name="组合 2"/>
          <p:cNvGrpSpPr/>
          <p:nvPr/>
        </p:nvGrpSpPr>
        <p:grpSpPr>
          <a:xfrm>
            <a:off x="1363122" y="3476302"/>
            <a:ext cx="6417755" cy="3007505"/>
            <a:chOff x="1363122" y="3476302"/>
            <a:chExt cx="6417755" cy="3007505"/>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63122" y="3476302"/>
              <a:ext cx="6417755" cy="2484292"/>
            </a:xfrm>
            <a:prstGeom prst="rect">
              <a:avLst/>
            </a:prstGeom>
          </p:spPr>
        </p:pic>
        <p:sp>
          <p:nvSpPr>
            <p:cNvPr id="5" name="文本框 4"/>
            <p:cNvSpPr txBox="1"/>
            <p:nvPr/>
          </p:nvSpPr>
          <p:spPr>
            <a:xfrm>
              <a:off x="4114812" y="5979053"/>
              <a:ext cx="2382610" cy="50475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1800" dirty="0">
                  <a:sym typeface="+mn-ea"/>
                </a:rPr>
                <a:t>奇偶校验码解码示例</a:t>
              </a:r>
              <a:endParaRPr lang="zh-CN" altLang="en-US" sz="1800" dirty="0">
                <a:sym typeface="+mn-ea"/>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两种简单纠删码的性能比较</a:t>
            </a:r>
            <a:endParaRPr lang="zh-CN" altLang="en-US" sz="2400" dirty="0">
              <a:sym typeface="+mn-ea"/>
            </a:endParaRPr>
          </a:p>
        </p:txBody>
      </p:sp>
      <p:sp>
        <p:nvSpPr>
          <p:cNvPr id="9" name="文本框 8"/>
          <p:cNvSpPr txBox="1"/>
          <p:nvPr/>
        </p:nvSpPr>
        <p:spPr>
          <a:xfrm>
            <a:off x="699601" y="1184377"/>
            <a:ext cx="7480637" cy="222349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dirty="0">
                <a:solidFill>
                  <a:schemeClr val="accent2"/>
                </a:solidFill>
                <a:latin typeface="+mn-lt"/>
                <a:sym typeface="+mn-ea"/>
              </a:rPr>
              <a:t>重复码</a:t>
            </a:r>
            <a:r>
              <a:rPr lang="zh-CN" altLang="en-US" dirty="0">
                <a:latin typeface="+mn-lt"/>
                <a:sym typeface="+mn-ea"/>
              </a:rPr>
              <a:t>可容忍擦除率很高，但编码率低，效率低下，造成浪费</a:t>
            </a:r>
            <a:r>
              <a:rPr lang="zh-CN" altLang="en-US" dirty="0">
                <a:latin typeface="+mn-lt"/>
              </a:rPr>
              <a:t>。</a:t>
            </a:r>
            <a:endParaRPr lang="en-US" altLang="zh-CN" dirty="0">
              <a:latin typeface="+mn-lt"/>
            </a:endParaRPr>
          </a:p>
          <a:p>
            <a:pPr>
              <a:lnSpc>
                <a:spcPts val="3400"/>
              </a:lnSpc>
            </a:pPr>
            <a:endParaRPr lang="en-US" altLang="zh-CN" dirty="0">
              <a:latin typeface="+mn-lt"/>
              <a:sym typeface="+mn-ea"/>
            </a:endParaRPr>
          </a:p>
          <a:p>
            <a:pPr>
              <a:lnSpc>
                <a:spcPts val="3400"/>
              </a:lnSpc>
            </a:pPr>
            <a:r>
              <a:rPr lang="zh-CN" altLang="en-US" dirty="0">
                <a:solidFill>
                  <a:schemeClr val="accent2"/>
                </a:solidFill>
                <a:latin typeface="+mn-lt"/>
                <a:sym typeface="+mn-ea"/>
              </a:rPr>
              <a:t>奇偶校验码</a:t>
            </a:r>
            <a:r>
              <a:rPr lang="zh-CN" altLang="en-US" dirty="0">
                <a:latin typeface="+mn-lt"/>
                <a:sym typeface="+mn-ea"/>
              </a:rPr>
              <a:t>的编码率高，但可容忍擦除数少，容错性差。</a:t>
            </a:r>
            <a:endParaRPr lang="en-US" altLang="zh-CN" dirty="0">
              <a:latin typeface="+mn-lt"/>
              <a:sym typeface="+mn-ea"/>
            </a:endParaRPr>
          </a:p>
          <a:p>
            <a:pPr>
              <a:lnSpc>
                <a:spcPts val="3400"/>
              </a:lnSpc>
            </a:pPr>
            <a:endParaRPr lang="en-US" altLang="zh-CN" dirty="0">
              <a:latin typeface="+mn-lt"/>
              <a:sym typeface="+mn-ea"/>
            </a:endParaRPr>
          </a:p>
          <a:p>
            <a:pPr>
              <a:lnSpc>
                <a:spcPts val="3400"/>
              </a:lnSpc>
            </a:pPr>
            <a:r>
              <a:rPr lang="zh-CN" altLang="en-US" dirty="0">
                <a:latin typeface="+mn-lt"/>
                <a:sym typeface="+mn-ea"/>
              </a:rPr>
              <a:t>二者的具体区别如表所示。其中</a:t>
            </a:r>
            <a:r>
              <a:rPr lang="en-US" altLang="zh-CN" dirty="0">
                <a:latin typeface="+mn-lt"/>
                <a:sym typeface="+mn-ea"/>
              </a:rPr>
              <a:t>n</a:t>
            </a:r>
            <a:r>
              <a:rPr lang="zh-CN" altLang="en-US" dirty="0">
                <a:latin typeface="+mn-lt"/>
                <a:sym typeface="+mn-ea"/>
              </a:rPr>
              <a:t>为原数据个数，</a:t>
            </a:r>
            <a:r>
              <a:rPr lang="en-US" altLang="zh-CN" dirty="0">
                <a:latin typeface="+mn-lt"/>
                <a:sym typeface="+mn-ea"/>
              </a:rPr>
              <a:t>m</a:t>
            </a:r>
            <a:r>
              <a:rPr lang="zh-CN" altLang="en-US" dirty="0">
                <a:latin typeface="+mn-lt"/>
                <a:sym typeface="+mn-ea"/>
              </a:rPr>
              <a:t>为冗余数。</a:t>
            </a:r>
            <a:endParaRPr lang="en-US" altLang="zh-CN" dirty="0">
              <a:latin typeface="+mn-lt"/>
              <a:sym typeface="+mn-ea"/>
            </a:endParaRPr>
          </a:p>
        </p:txBody>
      </p:sp>
      <p:graphicFrame>
        <p:nvGraphicFramePr>
          <p:cNvPr id="3" name="表格 3"/>
          <p:cNvGraphicFramePr>
            <a:graphicFrameLocks noGrp="1"/>
          </p:cNvGraphicFramePr>
          <p:nvPr/>
        </p:nvGraphicFramePr>
        <p:xfrm>
          <a:off x="1037322" y="4038584"/>
          <a:ext cx="6805194" cy="1426503"/>
        </p:xfrm>
        <a:graphic>
          <a:graphicData uri="http://schemas.openxmlformats.org/drawingml/2006/table">
            <a:tbl>
              <a:tblPr firstRow="1" bandRow="1">
                <a:tableStyleId>{5C22544A-7EE6-4342-B048-85BDC9FD1C3A}</a:tableStyleId>
              </a:tblPr>
              <a:tblGrid>
                <a:gridCol w="2268398"/>
                <a:gridCol w="2581962"/>
                <a:gridCol w="1954834"/>
              </a:tblGrid>
              <a:tr h="475501">
                <a:tc>
                  <a:txBody>
                    <a:bodyPr/>
                    <a:lstStyle/>
                    <a:p>
                      <a:pPr algn="ctr"/>
                      <a:endParaRPr lang="zh-CN" altLang="en-US" sz="1600" b="0" dirty="0">
                        <a:solidFill>
                          <a:schemeClr val="tx1"/>
                        </a:solidFill>
                        <a:latin typeface="+mn-ea"/>
                        <a:ea typeface="+mn-ea"/>
                        <a:cs typeface="Adobe Arabic" panose="02040503050201020203" pitchFamily="18" charset="-78"/>
                      </a:endParaRPr>
                    </a:p>
                  </a:txBody>
                  <a:tcPr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latin typeface="+mn-ea"/>
                          <a:ea typeface="+mn-ea"/>
                          <a:cs typeface="Adobe Arabic" panose="02040503050201020203" pitchFamily="18" charset="-78"/>
                        </a:rPr>
                        <a:t>重复码</a:t>
                      </a:r>
                      <a:endParaRPr lang="zh-CN" altLang="en-US" sz="1600" b="0" dirty="0">
                        <a:solidFill>
                          <a:schemeClr val="tx1"/>
                        </a:solidFill>
                        <a:latin typeface="+mn-ea"/>
                        <a:ea typeface="+mn-ea"/>
                        <a:cs typeface="Adobe Arabic" panose="02040503050201020203" pitchFamily="18" charset="-78"/>
                      </a:endParaRPr>
                    </a:p>
                  </a:txBody>
                  <a:tcPr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latin typeface="+mn-ea"/>
                          <a:ea typeface="+mn-ea"/>
                          <a:cs typeface="Adobe Arabic" panose="02040503050201020203" pitchFamily="18" charset="-78"/>
                        </a:rPr>
                        <a:t>奇偶校验码</a:t>
                      </a:r>
                      <a:endParaRPr lang="zh-CN" altLang="en-US" sz="1600" b="0" dirty="0">
                        <a:solidFill>
                          <a:schemeClr val="tx1"/>
                        </a:solidFill>
                        <a:latin typeface="+mn-ea"/>
                        <a:ea typeface="+mn-ea"/>
                        <a:cs typeface="Adobe Arabic" panose="02040503050201020203" pitchFamily="18" charset="-78"/>
                      </a:endParaRPr>
                    </a:p>
                  </a:txBody>
                  <a:tcPr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475501">
                <a:tc>
                  <a:txBody>
                    <a:bodyPr/>
                    <a:lstStyle/>
                    <a:p>
                      <a:pPr algn="ctr"/>
                      <a:r>
                        <a:rPr lang="zh-CN" altLang="en-US" sz="1600" b="0" dirty="0">
                          <a:solidFill>
                            <a:schemeClr val="tx1"/>
                          </a:solidFill>
                          <a:latin typeface="+mn-ea"/>
                          <a:ea typeface="+mn-ea"/>
                          <a:cs typeface="Adobe Arabic" panose="02040503050201020203" pitchFamily="18" charset="-78"/>
                        </a:rPr>
                        <a:t>可容忍擦除数</a:t>
                      </a:r>
                      <a:endParaRPr lang="zh-CN" altLang="en-US" sz="1600" b="0" dirty="0">
                        <a:solidFill>
                          <a:schemeClr val="tx1"/>
                        </a:solidFill>
                        <a:latin typeface="+mn-ea"/>
                        <a:ea typeface="+mn-ea"/>
                        <a:cs typeface="Adobe Arabic" panose="02040503050201020203" pitchFamily="18" charset="-78"/>
                      </a:endParaRPr>
                    </a:p>
                  </a:txBody>
                  <a:tcPr anchor="ctr">
                    <a:lnT w="6350" cap="flat" cmpd="sng" algn="ctr">
                      <a:solidFill>
                        <a:schemeClr val="tx1"/>
                      </a:solidFill>
                      <a:prstDash val="solid"/>
                      <a:round/>
                      <a:headEnd type="none" w="med" len="med"/>
                      <a:tailEnd type="none" w="med" len="med"/>
                    </a:lnT>
                    <a:noFill/>
                  </a:tcPr>
                </a:tc>
                <a:tc>
                  <a:txBody>
                    <a:bodyPr/>
                    <a:lstStyle/>
                    <a:p>
                      <a:pPr algn="ctr"/>
                      <a:r>
                        <a:rPr lang="zh-CN" altLang="en-US" sz="1600" b="0" dirty="0">
                          <a:solidFill>
                            <a:schemeClr val="tx1"/>
                          </a:solidFill>
                          <a:latin typeface="+mn-ea"/>
                          <a:ea typeface="+mn-ea"/>
                          <a:cs typeface="Adobe Arabic" panose="02040503050201020203" pitchFamily="18" charset="-78"/>
                        </a:rPr>
                        <a:t>最多</a:t>
                      </a:r>
                      <a:r>
                        <a:rPr lang="en-US" altLang="zh-CN" sz="1600" b="0" dirty="0">
                          <a:solidFill>
                            <a:schemeClr val="tx1"/>
                          </a:solidFill>
                          <a:latin typeface="+mn-ea"/>
                          <a:ea typeface="+mn-ea"/>
                          <a:cs typeface="Adobe Arabic" panose="02040503050201020203" pitchFamily="18" charset="-78"/>
                        </a:rPr>
                        <a:t>(k-1)</a:t>
                      </a:r>
                      <a:r>
                        <a:rPr lang="zh-CN" altLang="en-US" sz="1600" b="0" dirty="0">
                          <a:solidFill>
                            <a:schemeClr val="tx1"/>
                          </a:solidFill>
                          <a:latin typeface="+mn-ea"/>
                          <a:ea typeface="+mn-ea"/>
                          <a:cs typeface="Adobe Arabic" panose="02040503050201020203" pitchFamily="18" charset="-78"/>
                        </a:rPr>
                        <a:t>倍于原数据包</a:t>
                      </a:r>
                      <a:endParaRPr lang="zh-CN" altLang="en-US" sz="1600" b="0" dirty="0">
                        <a:solidFill>
                          <a:schemeClr val="tx1"/>
                        </a:solidFill>
                        <a:latin typeface="+mn-ea"/>
                        <a:ea typeface="+mn-ea"/>
                        <a:cs typeface="Adobe Arabic" panose="02040503050201020203" pitchFamily="18" charset="-78"/>
                      </a:endParaRPr>
                    </a:p>
                  </a:txBody>
                  <a:tcPr anchor="ctr">
                    <a:lnT w="6350" cap="flat" cmpd="sng" algn="ctr">
                      <a:solidFill>
                        <a:schemeClr val="tx1"/>
                      </a:solidFill>
                      <a:prstDash val="solid"/>
                      <a:round/>
                      <a:headEnd type="none" w="med" len="med"/>
                      <a:tailEnd type="none" w="med" len="med"/>
                    </a:lnT>
                    <a:noFill/>
                  </a:tcPr>
                </a:tc>
                <a:tc>
                  <a:txBody>
                    <a:bodyPr/>
                    <a:lstStyle/>
                    <a:p>
                      <a:pPr algn="ctr"/>
                      <a:r>
                        <a:rPr lang="zh-CN" altLang="en-US" sz="1600" b="0" dirty="0">
                          <a:solidFill>
                            <a:schemeClr val="tx1"/>
                          </a:solidFill>
                          <a:latin typeface="+mn-ea"/>
                          <a:ea typeface="+mn-ea"/>
                          <a:cs typeface="Adobe Arabic" panose="02040503050201020203" pitchFamily="18" charset="-78"/>
                        </a:rPr>
                        <a:t>只能容忍</a:t>
                      </a:r>
                      <a:r>
                        <a:rPr lang="en-US" altLang="zh-CN" sz="1600" b="0" dirty="0">
                          <a:solidFill>
                            <a:schemeClr val="tx1"/>
                          </a:solidFill>
                          <a:latin typeface="+mn-ea"/>
                          <a:ea typeface="+mn-ea"/>
                          <a:cs typeface="Adobe Arabic" panose="02040503050201020203" pitchFamily="18" charset="-78"/>
                        </a:rPr>
                        <a:t>1</a:t>
                      </a:r>
                      <a:r>
                        <a:rPr lang="zh-CN" altLang="en-US" sz="1600" b="0" dirty="0">
                          <a:solidFill>
                            <a:schemeClr val="tx1"/>
                          </a:solidFill>
                          <a:latin typeface="+mn-ea"/>
                          <a:ea typeface="+mn-ea"/>
                          <a:cs typeface="Adobe Arabic" panose="02040503050201020203" pitchFamily="18" charset="-78"/>
                        </a:rPr>
                        <a:t>个数据包</a:t>
                      </a:r>
                      <a:endParaRPr lang="zh-CN" altLang="en-US" sz="1600" b="0" dirty="0">
                        <a:solidFill>
                          <a:schemeClr val="tx1"/>
                        </a:solidFill>
                        <a:latin typeface="+mn-ea"/>
                        <a:ea typeface="+mn-ea"/>
                        <a:cs typeface="Adobe Arabic" panose="02040503050201020203" pitchFamily="18" charset="-78"/>
                      </a:endParaRPr>
                    </a:p>
                  </a:txBody>
                  <a:tcPr anchor="ctr">
                    <a:lnT w="6350" cap="flat" cmpd="sng" algn="ctr">
                      <a:solidFill>
                        <a:schemeClr val="tx1"/>
                      </a:solidFill>
                      <a:prstDash val="solid"/>
                      <a:round/>
                      <a:headEnd type="none" w="med" len="med"/>
                      <a:tailEnd type="none" w="med" len="med"/>
                    </a:lnT>
                    <a:noFill/>
                  </a:tcPr>
                </a:tc>
              </a:tr>
              <a:tr h="475501">
                <a:tc>
                  <a:txBody>
                    <a:bodyPr/>
                    <a:lstStyle/>
                    <a:p>
                      <a:pPr algn="ctr"/>
                      <a:r>
                        <a:rPr lang="zh-CN" altLang="en-US" sz="1600" b="0" dirty="0">
                          <a:solidFill>
                            <a:schemeClr val="tx1"/>
                          </a:solidFill>
                          <a:latin typeface="+mn-ea"/>
                          <a:ea typeface="+mn-ea"/>
                          <a:cs typeface="Adobe Arabic" panose="02040503050201020203" pitchFamily="18" charset="-78"/>
                        </a:rPr>
                        <a:t>编码率</a:t>
                      </a:r>
                      <a:endParaRPr lang="zh-CN" altLang="en-US" sz="1600" b="0" dirty="0">
                        <a:solidFill>
                          <a:schemeClr val="tx1"/>
                        </a:solidFill>
                        <a:latin typeface="+mn-ea"/>
                        <a:ea typeface="+mn-ea"/>
                        <a:cs typeface="Adobe Arabic" panose="02040503050201020203" pitchFamily="18" charset="-78"/>
                      </a:endParaRPr>
                    </a:p>
                  </a:txBody>
                  <a:tcPr anchor="ctr">
                    <a:lnB w="1905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latin typeface="+mn-ea"/>
                          <a:ea typeface="+mn-ea"/>
                          <a:cs typeface="Adobe Arabic" panose="02040503050201020203" pitchFamily="18" charset="-78"/>
                        </a:rPr>
                        <a:t>低，只有</a:t>
                      </a:r>
                      <a:r>
                        <a:rPr lang="en-US" altLang="zh-CN" sz="1600" b="0" dirty="0">
                          <a:solidFill>
                            <a:schemeClr val="tx1"/>
                          </a:solidFill>
                          <a:latin typeface="+mn-ea"/>
                          <a:ea typeface="+mn-ea"/>
                          <a:cs typeface="Adobe Arabic" panose="02040503050201020203" pitchFamily="18" charset="-78"/>
                        </a:rPr>
                        <a:t>1/</a:t>
                      </a:r>
                      <a:r>
                        <a:rPr lang="en-US" altLang="zh-CN" sz="1600" b="0" i="1" dirty="0">
                          <a:solidFill>
                            <a:schemeClr val="tx1"/>
                          </a:solidFill>
                          <a:latin typeface="+mn-ea"/>
                          <a:ea typeface="+mn-ea"/>
                          <a:cs typeface="Adobe Arabic" panose="02040503050201020203" pitchFamily="18" charset="-78"/>
                        </a:rPr>
                        <a:t>n</a:t>
                      </a:r>
                      <a:endParaRPr lang="zh-CN" altLang="en-US" sz="1600" b="0" i="1" dirty="0">
                        <a:solidFill>
                          <a:schemeClr val="tx1"/>
                        </a:solidFill>
                        <a:latin typeface="+mn-ea"/>
                        <a:ea typeface="+mn-ea"/>
                        <a:cs typeface="Adobe Arabic" panose="02040503050201020203" pitchFamily="18" charset="-78"/>
                      </a:endParaRPr>
                    </a:p>
                  </a:txBody>
                  <a:tcPr anchor="ctr">
                    <a:lnB w="1905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latin typeface="+mn-ea"/>
                          <a:ea typeface="+mn-ea"/>
                          <a:cs typeface="Adobe Arabic" panose="02040503050201020203" pitchFamily="18" charset="-78"/>
                        </a:rPr>
                        <a:t>高达</a:t>
                      </a:r>
                      <a:r>
                        <a:rPr lang="en-US" altLang="zh-CN" sz="1600" b="0" i="1" dirty="0">
                          <a:solidFill>
                            <a:schemeClr val="tx1"/>
                          </a:solidFill>
                          <a:latin typeface="+mn-ea"/>
                          <a:ea typeface="+mn-ea"/>
                          <a:cs typeface="Adobe Arabic" panose="02040503050201020203" pitchFamily="18" charset="-78"/>
                        </a:rPr>
                        <a:t>n</a:t>
                      </a:r>
                      <a:r>
                        <a:rPr lang="en-US" altLang="zh-CN" sz="1600" b="0" dirty="0">
                          <a:solidFill>
                            <a:schemeClr val="tx1"/>
                          </a:solidFill>
                          <a:latin typeface="+mn-ea"/>
                          <a:ea typeface="+mn-ea"/>
                          <a:cs typeface="Adobe Arabic" panose="02040503050201020203" pitchFamily="18" charset="-78"/>
                        </a:rPr>
                        <a:t>/(</a:t>
                      </a:r>
                      <a:r>
                        <a:rPr lang="en-US" altLang="zh-CN" sz="1600" b="0" i="1" dirty="0" err="1">
                          <a:solidFill>
                            <a:schemeClr val="tx1"/>
                          </a:solidFill>
                          <a:latin typeface="+mn-ea"/>
                          <a:ea typeface="+mn-ea"/>
                          <a:cs typeface="Adobe Arabic" panose="02040503050201020203" pitchFamily="18" charset="-78"/>
                        </a:rPr>
                        <a:t>n</a:t>
                      </a:r>
                      <a:r>
                        <a:rPr lang="en-US" altLang="zh-CN" sz="1600" b="0" dirty="0" err="1">
                          <a:solidFill>
                            <a:schemeClr val="tx1"/>
                          </a:solidFill>
                          <a:latin typeface="+mn-ea"/>
                          <a:ea typeface="+mn-ea"/>
                          <a:cs typeface="Adobe Arabic" panose="02040503050201020203" pitchFamily="18" charset="-78"/>
                        </a:rPr>
                        <a:t>+</a:t>
                      </a:r>
                      <a:r>
                        <a:rPr lang="en-US" altLang="zh-CN" sz="1600" b="0" i="1" dirty="0" err="1">
                          <a:solidFill>
                            <a:schemeClr val="tx1"/>
                          </a:solidFill>
                          <a:latin typeface="+mn-ea"/>
                          <a:ea typeface="+mn-ea"/>
                          <a:cs typeface="Adobe Arabic" panose="02040503050201020203" pitchFamily="18" charset="-78"/>
                        </a:rPr>
                        <a:t>m</a:t>
                      </a:r>
                      <a:r>
                        <a:rPr lang="en-US" altLang="zh-CN" sz="1600" b="0" dirty="0">
                          <a:solidFill>
                            <a:schemeClr val="tx1"/>
                          </a:solidFill>
                          <a:latin typeface="+mn-ea"/>
                          <a:ea typeface="+mn-ea"/>
                          <a:cs typeface="Adobe Arabic" panose="02040503050201020203" pitchFamily="18" charset="-78"/>
                        </a:rPr>
                        <a:t>)</a:t>
                      </a:r>
                      <a:endParaRPr lang="zh-CN" altLang="en-US" sz="1600" b="0" dirty="0">
                        <a:solidFill>
                          <a:schemeClr val="tx1"/>
                        </a:solidFill>
                        <a:latin typeface="+mn-ea"/>
                        <a:ea typeface="+mn-ea"/>
                        <a:cs typeface="Adobe Arabic" panose="02040503050201020203" pitchFamily="18" charset="-78"/>
                      </a:endParaRPr>
                    </a:p>
                  </a:txBody>
                  <a:tcPr anchor="ctr">
                    <a:lnB w="19050" cap="flat" cmpd="sng" algn="ctr">
                      <a:solidFill>
                        <a:schemeClr val="tx1"/>
                      </a:solidFill>
                      <a:prstDash val="solid"/>
                      <a:round/>
                      <a:headEnd type="none" w="med" len="med"/>
                      <a:tailEnd type="none" w="med" len="med"/>
                    </a:lnB>
                    <a:noFill/>
                  </a:tcPr>
                </a:tc>
              </a:tr>
            </a:tbl>
          </a:graphicData>
        </a:graphic>
      </p:graphicFrame>
      <p:sp>
        <p:nvSpPr>
          <p:cNvPr id="6" name="内容占位符 2"/>
          <p:cNvSpPr txBox="1"/>
          <p:nvPr/>
        </p:nvSpPr>
        <p:spPr>
          <a:xfrm>
            <a:off x="528955" y="1063799"/>
            <a:ext cx="7821930" cy="2476435"/>
          </a:xfrm>
          <a:prstGeom prst="rect">
            <a:avLst/>
          </a:prstGeom>
          <a:ln>
            <a:solidFill>
              <a:srgbClr val="0070C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altLang="zh-CN" sz="2000" dirty="0">
              <a:solidFill>
                <a:srgbClr val="C00000"/>
              </a:solidFill>
              <a:latin typeface="黑体" panose="02010609060101010101" pitchFamily="49" charset="-122"/>
              <a:ea typeface="黑体" panose="02010609060101010101"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纠删码的分类</a:t>
            </a:r>
            <a:endParaRPr lang="zh-CN" altLang="en-US" sz="2400" dirty="0">
              <a:sym typeface="+mn-ea"/>
            </a:endParaRPr>
          </a:p>
        </p:txBody>
      </p:sp>
      <p:sp>
        <p:nvSpPr>
          <p:cNvPr id="10" name="文本框 9"/>
          <p:cNvSpPr txBox="1"/>
          <p:nvPr/>
        </p:nvSpPr>
        <p:spPr>
          <a:xfrm>
            <a:off x="887379" y="1209359"/>
            <a:ext cx="7369242"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zh-CN" altLang="en-US" dirty="0"/>
              <a:t>        目前，纠删码技术在</a:t>
            </a:r>
            <a:r>
              <a:rPr lang="zh-CN" altLang="en-US" dirty="0">
                <a:solidFill>
                  <a:schemeClr val="accent2"/>
                </a:solidFill>
              </a:rPr>
              <a:t>分布式存储系统</a:t>
            </a:r>
            <a:r>
              <a:rPr lang="zh-CN" altLang="en-US" dirty="0"/>
              <a:t>中的应用主要有四类。</a:t>
            </a:r>
            <a:endParaRPr lang="zh-CN" altLang="en-US" dirty="0">
              <a:sym typeface="+mn-ea"/>
            </a:endParaRPr>
          </a:p>
        </p:txBody>
      </p:sp>
      <p:grpSp>
        <p:nvGrpSpPr>
          <p:cNvPr id="5" name="组合 4"/>
          <p:cNvGrpSpPr/>
          <p:nvPr/>
        </p:nvGrpSpPr>
        <p:grpSpPr>
          <a:xfrm>
            <a:off x="304912" y="2362228"/>
            <a:ext cx="7804459" cy="2957258"/>
            <a:chOff x="571605" y="2362228"/>
            <a:chExt cx="7804459" cy="2957258"/>
          </a:xfrm>
        </p:grpSpPr>
        <p:grpSp>
          <p:nvGrpSpPr>
            <p:cNvPr id="4" name="组合 3"/>
            <p:cNvGrpSpPr/>
            <p:nvPr/>
          </p:nvGrpSpPr>
          <p:grpSpPr>
            <a:xfrm>
              <a:off x="1752674" y="2362228"/>
              <a:ext cx="6623390" cy="2957258"/>
              <a:chOff x="1905070" y="2868612"/>
              <a:chExt cx="6623390" cy="2957258"/>
            </a:xfrm>
          </p:grpSpPr>
          <p:sp>
            <p:nvSpPr>
              <p:cNvPr id="3" name="左大括号 2"/>
              <p:cNvSpPr/>
              <p:nvPr/>
            </p:nvSpPr>
            <p:spPr bwMode="auto">
              <a:xfrm>
                <a:off x="1905070" y="3082742"/>
                <a:ext cx="914376" cy="2743128"/>
              </a:xfrm>
              <a:prstGeom prst="leftBrace">
                <a:avLst/>
              </a:prstGeom>
              <a:ln w="28575"/>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v"/>
                </a:pPr>
                <a:endParaRPr kumimoji="1" lang="zh-CN" altLang="en-US" sz="2800" b="0" i="0" u="none" strike="noStrike" cap="none" normalizeH="0" baseline="0">
                  <a:ln>
                    <a:noFill/>
                  </a:ln>
                  <a:solidFill>
                    <a:srgbClr val="336699"/>
                  </a:solidFill>
                  <a:effectLst/>
                  <a:latin typeface="黑体" panose="02010609060101010101" pitchFamily="49" charset="-122"/>
                  <a:ea typeface="黑体" panose="02010609060101010101" pitchFamily="49" charset="-122"/>
                </a:endParaRPr>
              </a:p>
            </p:txBody>
          </p:sp>
          <p:sp>
            <p:nvSpPr>
              <p:cNvPr id="8" name="文本框 7"/>
              <p:cNvSpPr txBox="1"/>
              <p:nvPr/>
            </p:nvSpPr>
            <p:spPr>
              <a:xfrm>
                <a:off x="3042204" y="3767214"/>
                <a:ext cx="4876672"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zh-CN" altLang="en-US" dirty="0">
                    <a:solidFill>
                      <a:srgbClr val="FF0000"/>
                    </a:solidFill>
                  </a:rPr>
                  <a:t>阵列码</a:t>
                </a:r>
                <a:r>
                  <a:rPr lang="en-US" altLang="zh-CN" dirty="0"/>
                  <a:t>(Array Code: RAID5</a:t>
                </a:r>
                <a:r>
                  <a:rPr lang="zh-CN" altLang="en-US" dirty="0"/>
                  <a:t>、</a:t>
                </a:r>
                <a:r>
                  <a:rPr lang="en-US" altLang="zh-CN" dirty="0"/>
                  <a:t>RAID6</a:t>
                </a:r>
                <a:r>
                  <a:rPr lang="zh-CN" altLang="en-US" dirty="0"/>
                  <a:t>等</a:t>
                </a:r>
                <a:r>
                  <a:rPr lang="en-US" altLang="zh-CN" dirty="0"/>
                  <a:t>)</a:t>
                </a:r>
                <a:endParaRPr lang="zh-CN" altLang="en-US" dirty="0">
                  <a:sym typeface="+mn-ea"/>
                </a:endParaRPr>
              </a:p>
            </p:txBody>
          </p:sp>
          <p:sp>
            <p:nvSpPr>
              <p:cNvPr id="11" name="文本框 10"/>
              <p:cNvSpPr txBox="1"/>
              <p:nvPr/>
            </p:nvSpPr>
            <p:spPr>
              <a:xfrm>
                <a:off x="3042204" y="2868612"/>
                <a:ext cx="5486256"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zh-CN" altLang="en-US" dirty="0">
                    <a:solidFill>
                      <a:srgbClr val="FF0000"/>
                    </a:solidFill>
                  </a:rPr>
                  <a:t>里德</a:t>
                </a:r>
                <a:r>
                  <a:rPr lang="en-US" altLang="zh-CN" dirty="0">
                    <a:solidFill>
                      <a:srgbClr val="FF0000"/>
                    </a:solidFill>
                  </a:rPr>
                  <a:t>-</a:t>
                </a:r>
                <a:r>
                  <a:rPr lang="zh-CN" altLang="en-US" dirty="0">
                    <a:solidFill>
                      <a:srgbClr val="FF0000"/>
                    </a:solidFill>
                  </a:rPr>
                  <a:t>所罗门类纠删码</a:t>
                </a:r>
                <a:r>
                  <a:rPr lang="en-US" altLang="zh-CN" dirty="0">
                    <a:solidFill>
                      <a:srgbClr val="FF0000"/>
                    </a:solidFill>
                  </a:rPr>
                  <a:t> </a:t>
                </a:r>
                <a:r>
                  <a:rPr lang="en-US" altLang="zh-CN" dirty="0"/>
                  <a:t>(Reed-Solomon Code,</a:t>
                </a:r>
                <a:r>
                  <a:rPr lang="en-US" altLang="zh-CN" dirty="0">
                    <a:solidFill>
                      <a:srgbClr val="FF0000"/>
                    </a:solidFill>
                  </a:rPr>
                  <a:t> RS</a:t>
                </a:r>
                <a:r>
                  <a:rPr lang="en-US" altLang="zh-CN" dirty="0"/>
                  <a:t>)</a:t>
                </a:r>
                <a:endParaRPr lang="zh-CN" altLang="en-US" dirty="0">
                  <a:sym typeface="+mn-ea"/>
                </a:endParaRPr>
              </a:p>
            </p:txBody>
          </p:sp>
          <p:sp>
            <p:nvSpPr>
              <p:cNvPr id="12" name="文本框 11"/>
              <p:cNvSpPr txBox="1"/>
              <p:nvPr/>
            </p:nvSpPr>
            <p:spPr>
              <a:xfrm>
                <a:off x="3042202" y="4631903"/>
                <a:ext cx="5468689" cy="45711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zh-CN" altLang="en-US" dirty="0">
                    <a:solidFill>
                      <a:srgbClr val="FF0000"/>
                    </a:solidFill>
                  </a:rPr>
                  <a:t>奇偶校验码</a:t>
                </a:r>
                <a:r>
                  <a:rPr lang="en-US" altLang="zh-CN" dirty="0"/>
                  <a:t>(Parity-Check Code)</a:t>
                </a:r>
                <a:endParaRPr lang="zh-CN" altLang="en-US" dirty="0">
                  <a:sym typeface="+mn-ea"/>
                </a:endParaRPr>
              </a:p>
            </p:txBody>
          </p:sp>
        </p:grpSp>
        <p:sp>
          <p:nvSpPr>
            <p:cNvPr id="15" name="文本框 14"/>
            <p:cNvSpPr txBox="1"/>
            <p:nvPr/>
          </p:nvSpPr>
          <p:spPr>
            <a:xfrm>
              <a:off x="571605" y="3733792"/>
              <a:ext cx="1066772"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zh-CN" altLang="en-US" dirty="0"/>
                <a:t>纠删码</a:t>
              </a:r>
              <a:endParaRPr lang="zh-CN" altLang="en-US" dirty="0">
                <a:sym typeface="+mn-ea"/>
              </a:endParaRPr>
            </a:p>
          </p:txBody>
        </p:sp>
      </p:grpSp>
      <p:sp>
        <p:nvSpPr>
          <p:cNvPr id="16" name="文本框 15"/>
          <p:cNvSpPr txBox="1"/>
          <p:nvPr/>
        </p:nvSpPr>
        <p:spPr>
          <a:xfrm>
            <a:off x="2623112" y="4972743"/>
            <a:ext cx="5468689" cy="45711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zh-CN" altLang="en-US" dirty="0">
                <a:solidFill>
                  <a:srgbClr val="FF0000"/>
                </a:solidFill>
              </a:rPr>
              <a:t>数字喷泉码</a:t>
            </a:r>
            <a:r>
              <a:rPr lang="en-US" altLang="zh-CN" dirty="0"/>
              <a:t>(</a:t>
            </a:r>
            <a:r>
              <a:rPr lang="en-US" altLang="zh-CN" dirty="0" err="1"/>
              <a:t>Rateless</a:t>
            </a:r>
            <a:r>
              <a:rPr lang="en-US" altLang="zh-CN" dirty="0"/>
              <a:t> Erasure Code)</a:t>
            </a:r>
            <a:endParaRPr lang="zh-CN" altLang="en-US" dirty="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阵列码</a:t>
            </a:r>
            <a:endParaRPr lang="zh-CN" altLang="en-US" sz="2400" dirty="0">
              <a:sym typeface="+mn-ea"/>
            </a:endParaRPr>
          </a:p>
        </p:txBody>
      </p:sp>
      <p:sp>
        <p:nvSpPr>
          <p:cNvPr id="14" name="文本框 13"/>
          <p:cNvSpPr txBox="1"/>
          <p:nvPr/>
        </p:nvSpPr>
        <p:spPr>
          <a:xfrm>
            <a:off x="397561" y="1038618"/>
            <a:ext cx="8348877" cy="209858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zh-CN" altLang="en-US" dirty="0"/>
              <a:t>        </a:t>
            </a:r>
            <a:r>
              <a:rPr lang="zh-CN" altLang="en-US" dirty="0">
                <a:solidFill>
                  <a:srgbClr val="FF0000"/>
                </a:solidFill>
              </a:rPr>
              <a:t>阵列码</a:t>
            </a:r>
            <a:r>
              <a:rPr lang="en-US" altLang="zh-CN" dirty="0"/>
              <a:t>(Array Code)</a:t>
            </a:r>
            <a:r>
              <a:rPr lang="zh-CN" altLang="en-US" dirty="0"/>
              <a:t>，即奇偶校验阵列码</a:t>
            </a:r>
            <a:r>
              <a:rPr lang="en-US" altLang="zh-CN" dirty="0"/>
              <a:t>(Parity Array Code)</a:t>
            </a:r>
            <a:r>
              <a:rPr lang="zh-CN" altLang="en-US" dirty="0"/>
              <a:t>的简称。</a:t>
            </a:r>
            <a:r>
              <a:rPr lang="zh-CN" altLang="en-US" dirty="0">
                <a:solidFill>
                  <a:schemeClr val="accent1">
                    <a:lumMod val="75000"/>
                  </a:schemeClr>
                </a:solidFill>
              </a:rPr>
              <a:t>它将一个条带中的用户数据单元和校验单元排列成一个二维或多维阵列，并基于</a:t>
            </a:r>
            <a:r>
              <a:rPr lang="en-US" altLang="zh-CN" dirty="0">
                <a:solidFill>
                  <a:schemeClr val="accent1">
                    <a:lumMod val="75000"/>
                  </a:schemeClr>
                </a:solidFill>
              </a:rPr>
              <a:t>XOR</a:t>
            </a:r>
            <a:r>
              <a:rPr lang="zh-CN" altLang="en-US" dirty="0">
                <a:solidFill>
                  <a:schemeClr val="accent1">
                    <a:lumMod val="75000"/>
                  </a:schemeClr>
                </a:solidFill>
              </a:rPr>
              <a:t>运算对条带内的单元进行编码</a:t>
            </a:r>
            <a:r>
              <a:rPr lang="zh-CN" altLang="en-US" dirty="0"/>
              <a:t>。阵列码的提出主要是为了满足高容错磁盘阵列设计的需要。</a:t>
            </a:r>
            <a:endParaRPr lang="en-US" altLang="zh-CN" dirty="0"/>
          </a:p>
          <a:p>
            <a:pPr>
              <a:lnSpc>
                <a:spcPts val="3200"/>
              </a:lnSpc>
            </a:pPr>
            <a:r>
              <a:rPr lang="en-US" altLang="zh-CN" dirty="0">
                <a:solidFill>
                  <a:schemeClr val="accent1">
                    <a:lumMod val="75000"/>
                  </a:schemeClr>
                </a:solidFill>
              </a:rPr>
              <a:t>        </a:t>
            </a:r>
            <a:r>
              <a:rPr lang="zh-CN" altLang="en-US" dirty="0"/>
              <a:t>阵列码分为水平阵列码、垂直阵列码和水平垂直阵列码。</a:t>
            </a:r>
            <a:endParaRPr lang="en-US" altLang="zh-CN" dirty="0"/>
          </a:p>
        </p:txBody>
      </p:sp>
      <p:grpSp>
        <p:nvGrpSpPr>
          <p:cNvPr id="3" name="组合 2"/>
          <p:cNvGrpSpPr/>
          <p:nvPr/>
        </p:nvGrpSpPr>
        <p:grpSpPr>
          <a:xfrm>
            <a:off x="820455" y="3352802"/>
            <a:ext cx="7238930" cy="3420339"/>
            <a:chOff x="490210" y="3352802"/>
            <a:chExt cx="7238930" cy="3420339"/>
          </a:xfrm>
        </p:grpSpPr>
        <p:pic>
          <p:nvPicPr>
            <p:cNvPr id="15" name="图片 1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90210" y="3352802"/>
              <a:ext cx="7238930" cy="2907637"/>
            </a:xfrm>
            <a:prstGeom prst="rect">
              <a:avLst/>
            </a:prstGeom>
          </p:spPr>
        </p:pic>
        <p:sp>
          <p:nvSpPr>
            <p:cNvPr id="5" name="文本框 4"/>
            <p:cNvSpPr txBox="1"/>
            <p:nvPr/>
          </p:nvSpPr>
          <p:spPr>
            <a:xfrm>
              <a:off x="3784567" y="6268387"/>
              <a:ext cx="1371563" cy="50475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1800" dirty="0">
                  <a:sym typeface="+mn-ea"/>
                </a:rPr>
                <a:t>阵列码布局</a:t>
              </a:r>
              <a:endParaRPr lang="zh-CN" altLang="en-US" sz="1800" dirty="0">
                <a:sym typeface="+mn-ea"/>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水平阵列码</a:t>
            </a:r>
            <a:endParaRPr lang="zh-CN" altLang="en-US" sz="2400" dirty="0">
              <a:sym typeface="+mn-ea"/>
            </a:endParaRPr>
          </a:p>
        </p:txBody>
      </p:sp>
      <p:sp>
        <p:nvSpPr>
          <p:cNvPr id="14" name="文本框 13"/>
          <p:cNvSpPr txBox="1"/>
          <p:nvPr/>
        </p:nvSpPr>
        <p:spPr>
          <a:xfrm>
            <a:off x="490210" y="1371654"/>
            <a:ext cx="8348877" cy="80015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zh-CN" altLang="en-US" dirty="0"/>
              <a:t>        </a:t>
            </a:r>
            <a:r>
              <a:rPr lang="zh-CN" altLang="en-US" dirty="0">
                <a:solidFill>
                  <a:srgbClr val="FF0000"/>
                </a:solidFill>
              </a:rPr>
              <a:t>水平阵列码</a:t>
            </a:r>
            <a:r>
              <a:rPr lang="zh-CN" altLang="en-US" dirty="0"/>
              <a:t>的一个条带中的用户数据单元和校验单元分别存放在不同的条块中。</a:t>
            </a:r>
            <a:endParaRPr lang="en-US" altLang="zh-CN" dirty="0"/>
          </a:p>
        </p:txBody>
      </p:sp>
      <p:grpSp>
        <p:nvGrpSpPr>
          <p:cNvPr id="4" name="组合 3"/>
          <p:cNvGrpSpPr/>
          <p:nvPr/>
        </p:nvGrpSpPr>
        <p:grpSpPr>
          <a:xfrm>
            <a:off x="205306" y="3048010"/>
            <a:ext cx="8915286" cy="2313364"/>
            <a:chOff x="228714" y="3370994"/>
            <a:chExt cx="8915286" cy="2313364"/>
          </a:xfrm>
        </p:grpSpPr>
        <p:sp>
          <p:nvSpPr>
            <p:cNvPr id="5" name="文本框 4"/>
            <p:cNvSpPr txBox="1"/>
            <p:nvPr/>
          </p:nvSpPr>
          <p:spPr>
            <a:xfrm>
              <a:off x="228714" y="4343376"/>
              <a:ext cx="1573811"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zh-CN" altLang="en-US" dirty="0"/>
                <a:t>水平阵列码</a:t>
              </a:r>
              <a:endParaRPr lang="en-US" altLang="zh-CN" dirty="0"/>
            </a:p>
          </p:txBody>
        </p:sp>
        <p:sp>
          <p:nvSpPr>
            <p:cNvPr id="3" name="左大括号 2"/>
            <p:cNvSpPr/>
            <p:nvPr/>
          </p:nvSpPr>
          <p:spPr bwMode="auto">
            <a:xfrm>
              <a:off x="1676476" y="3585124"/>
              <a:ext cx="685782" cy="1992042"/>
            </a:xfrm>
            <a:prstGeom prst="leftBrace">
              <a:avLst/>
            </a:prstGeom>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v"/>
              </a:pPr>
              <a:endParaRPr kumimoji="1" lang="zh-CN" altLang="en-US" sz="2800" b="0" i="0" u="none" strike="noStrike" cap="none" normalizeH="0" baseline="0">
                <a:ln>
                  <a:noFill/>
                </a:ln>
                <a:solidFill>
                  <a:srgbClr val="336699"/>
                </a:solidFill>
                <a:effectLst/>
                <a:latin typeface="黑体" panose="02010609060101010101" pitchFamily="49" charset="-122"/>
                <a:ea typeface="黑体" panose="02010609060101010101" pitchFamily="49" charset="-122"/>
              </a:endParaRPr>
            </a:p>
          </p:txBody>
        </p:sp>
        <p:sp>
          <p:nvSpPr>
            <p:cNvPr id="8" name="文本框 7"/>
            <p:cNvSpPr txBox="1"/>
            <p:nvPr/>
          </p:nvSpPr>
          <p:spPr>
            <a:xfrm>
              <a:off x="2667050" y="3370994"/>
              <a:ext cx="3352712"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en-US" altLang="zh-CN" dirty="0"/>
                <a:t>1995</a:t>
              </a:r>
              <a:r>
                <a:rPr lang="zh-CN" altLang="en-US" dirty="0"/>
                <a:t>年出现了</a:t>
              </a:r>
              <a:r>
                <a:rPr lang="en-US" altLang="zh-CN" dirty="0"/>
                <a:t>EVENODD</a:t>
              </a:r>
              <a:r>
                <a:rPr lang="zh-CN" altLang="en-US" dirty="0"/>
                <a:t>码</a:t>
              </a:r>
              <a:endParaRPr lang="en-US" altLang="zh-CN" dirty="0"/>
            </a:p>
          </p:txBody>
        </p:sp>
        <p:sp>
          <p:nvSpPr>
            <p:cNvPr id="9" name="文本框 8"/>
            <p:cNvSpPr txBox="1"/>
            <p:nvPr/>
          </p:nvSpPr>
          <p:spPr>
            <a:xfrm>
              <a:off x="2667050" y="3976069"/>
              <a:ext cx="6476950"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en-US" altLang="zh-CN" dirty="0"/>
                <a:t>NetApp</a:t>
              </a:r>
              <a:r>
                <a:rPr lang="zh-CN" altLang="en-US" dirty="0"/>
                <a:t>公司在</a:t>
              </a:r>
              <a:r>
                <a:rPr lang="en-US" altLang="zh-CN" dirty="0"/>
                <a:t>EVENODD</a:t>
              </a:r>
              <a:r>
                <a:rPr lang="zh-CN" altLang="en-US" dirty="0"/>
                <a:t>码的基础上进行改进的</a:t>
              </a:r>
              <a:r>
                <a:rPr lang="en-US" altLang="zh-CN" dirty="0"/>
                <a:t>RDP</a:t>
              </a:r>
              <a:r>
                <a:rPr lang="zh-CN" altLang="en-US" dirty="0"/>
                <a:t>码</a:t>
              </a:r>
              <a:endParaRPr lang="en-US" altLang="zh-CN" dirty="0"/>
            </a:p>
          </p:txBody>
        </p:sp>
        <p:sp>
          <p:nvSpPr>
            <p:cNvPr id="10" name="文本框 9"/>
            <p:cNvSpPr txBox="1"/>
            <p:nvPr/>
          </p:nvSpPr>
          <p:spPr>
            <a:xfrm>
              <a:off x="2677516" y="4594223"/>
              <a:ext cx="3657504"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en-US" altLang="zh-CN" dirty="0"/>
                <a:t>2008</a:t>
              </a:r>
              <a:r>
                <a:rPr lang="zh-CN" altLang="en-US" dirty="0"/>
                <a:t>年</a:t>
              </a:r>
              <a:r>
                <a:rPr lang="en-US" altLang="zh-CN" dirty="0"/>
                <a:t>Plank</a:t>
              </a:r>
              <a:r>
                <a:rPr lang="zh-CN" altLang="en-US" dirty="0"/>
                <a:t>提出了</a:t>
              </a:r>
              <a:r>
                <a:rPr lang="en-US" altLang="zh-CN" dirty="0"/>
                <a:t>Liberation</a:t>
              </a:r>
              <a:r>
                <a:rPr lang="zh-CN" altLang="en-US" dirty="0"/>
                <a:t>码</a:t>
              </a:r>
              <a:endParaRPr lang="en-US" altLang="zh-CN" dirty="0"/>
            </a:p>
          </p:txBody>
        </p:sp>
        <p:sp>
          <p:nvSpPr>
            <p:cNvPr id="11" name="文本框 10"/>
            <p:cNvSpPr txBox="1"/>
            <p:nvPr/>
          </p:nvSpPr>
          <p:spPr>
            <a:xfrm>
              <a:off x="2667050" y="5256099"/>
              <a:ext cx="3352712"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en-US" altLang="zh-CN" dirty="0"/>
                <a:t>STAR</a:t>
              </a:r>
              <a:r>
                <a:rPr lang="zh-CN" altLang="en-US" dirty="0"/>
                <a:t>码</a:t>
              </a:r>
              <a:endParaRPr lang="en-US" altLang="zh-CN" dirty="0"/>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垂直阵列码</a:t>
            </a:r>
            <a:endParaRPr lang="zh-CN" altLang="en-US" sz="2400" dirty="0">
              <a:sym typeface="+mn-ea"/>
            </a:endParaRPr>
          </a:p>
        </p:txBody>
      </p:sp>
      <p:sp>
        <p:nvSpPr>
          <p:cNvPr id="14" name="文本框 13"/>
          <p:cNvSpPr txBox="1"/>
          <p:nvPr/>
        </p:nvSpPr>
        <p:spPr>
          <a:xfrm>
            <a:off x="490210" y="1371654"/>
            <a:ext cx="8348877" cy="80015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zh-CN" altLang="en-US" dirty="0"/>
              <a:t>        </a:t>
            </a:r>
            <a:r>
              <a:rPr lang="zh-CN" altLang="en-US" dirty="0">
                <a:solidFill>
                  <a:srgbClr val="FF0000"/>
                </a:solidFill>
              </a:rPr>
              <a:t>垂直阵列码</a:t>
            </a:r>
            <a:r>
              <a:rPr lang="zh-CN" altLang="en-US" dirty="0"/>
              <a:t>的一个条带中的每个条块既包括用户数据单元，又包括校验单元。垂直阵列码的出现是为了使更新复杂度达到最低。</a:t>
            </a:r>
            <a:endParaRPr lang="en-US" altLang="zh-CN" dirty="0"/>
          </a:p>
        </p:txBody>
      </p:sp>
      <p:grpSp>
        <p:nvGrpSpPr>
          <p:cNvPr id="4" name="组合 3"/>
          <p:cNvGrpSpPr/>
          <p:nvPr/>
        </p:nvGrpSpPr>
        <p:grpSpPr>
          <a:xfrm>
            <a:off x="205306" y="3048010"/>
            <a:ext cx="8915286" cy="2206172"/>
            <a:chOff x="228714" y="3370994"/>
            <a:chExt cx="8915286" cy="2206172"/>
          </a:xfrm>
        </p:grpSpPr>
        <p:sp>
          <p:nvSpPr>
            <p:cNvPr id="5" name="文本框 4"/>
            <p:cNvSpPr txBox="1"/>
            <p:nvPr/>
          </p:nvSpPr>
          <p:spPr>
            <a:xfrm>
              <a:off x="228714" y="4343376"/>
              <a:ext cx="1573811"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zh-CN" altLang="en-US" dirty="0"/>
                <a:t>垂直阵列码</a:t>
              </a:r>
              <a:endParaRPr lang="en-US" altLang="zh-CN" dirty="0"/>
            </a:p>
          </p:txBody>
        </p:sp>
        <p:sp>
          <p:nvSpPr>
            <p:cNvPr id="3" name="左大括号 2"/>
            <p:cNvSpPr/>
            <p:nvPr/>
          </p:nvSpPr>
          <p:spPr bwMode="auto">
            <a:xfrm>
              <a:off x="1676476" y="3585124"/>
              <a:ext cx="685782" cy="1992042"/>
            </a:xfrm>
            <a:prstGeom prst="leftBrace">
              <a:avLst/>
            </a:prstGeom>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v"/>
              </a:pPr>
              <a:endParaRPr kumimoji="1" lang="zh-CN" altLang="en-US" sz="2800" b="0" i="0" u="none" strike="noStrike" cap="none" normalizeH="0" baseline="0">
                <a:ln>
                  <a:noFill/>
                </a:ln>
                <a:solidFill>
                  <a:srgbClr val="336699"/>
                </a:solidFill>
                <a:effectLst/>
                <a:latin typeface="黑体" panose="02010609060101010101" pitchFamily="49" charset="-122"/>
                <a:ea typeface="黑体" panose="02010609060101010101" pitchFamily="49" charset="-122"/>
              </a:endParaRPr>
            </a:p>
          </p:txBody>
        </p:sp>
        <p:sp>
          <p:nvSpPr>
            <p:cNvPr id="8" name="文本框 7"/>
            <p:cNvSpPr txBox="1"/>
            <p:nvPr/>
          </p:nvSpPr>
          <p:spPr>
            <a:xfrm>
              <a:off x="2667049" y="3370994"/>
              <a:ext cx="6309223" cy="80015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en-US" altLang="zh-CN" dirty="0"/>
                <a:t>X</a:t>
              </a:r>
              <a:r>
                <a:rPr lang="zh-CN" altLang="en-US" dirty="0"/>
                <a:t>码，根据几何结构构造，一个条块中包含两个校验单元，条带长度必须为质数。</a:t>
              </a:r>
              <a:endParaRPr lang="en-US" altLang="zh-CN" dirty="0"/>
            </a:p>
          </p:txBody>
        </p:sp>
        <p:sp>
          <p:nvSpPr>
            <p:cNvPr id="9" name="文本框 8"/>
            <p:cNvSpPr txBox="1"/>
            <p:nvPr/>
          </p:nvSpPr>
          <p:spPr>
            <a:xfrm>
              <a:off x="2667050" y="4771635"/>
              <a:ext cx="6476950" cy="80015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en-US" altLang="zh-CN" dirty="0"/>
                <a:t>B</a:t>
              </a:r>
              <a:r>
                <a:rPr lang="zh-CN" altLang="en-US" dirty="0"/>
                <a:t>码，利用图的完全因式分解构造，一个条块中只包含一个校验单元。</a:t>
              </a:r>
              <a:endParaRPr lang="en-US" altLang="zh-CN" dirty="0"/>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水平垂直阵列码</a:t>
            </a:r>
            <a:endParaRPr lang="zh-CN" altLang="en-US" sz="2400" dirty="0">
              <a:sym typeface="+mn-ea"/>
            </a:endParaRPr>
          </a:p>
        </p:txBody>
      </p:sp>
      <p:sp>
        <p:nvSpPr>
          <p:cNvPr id="14" name="文本框 13"/>
          <p:cNvSpPr txBox="1"/>
          <p:nvPr/>
        </p:nvSpPr>
        <p:spPr>
          <a:xfrm>
            <a:off x="490210" y="1371654"/>
            <a:ext cx="8348877" cy="80015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zh-CN" altLang="en-US" dirty="0"/>
              <a:t>        </a:t>
            </a:r>
            <a:r>
              <a:rPr lang="zh-CN" altLang="en-US" dirty="0">
                <a:solidFill>
                  <a:srgbClr val="FF0000"/>
                </a:solidFill>
              </a:rPr>
              <a:t>水平垂直阵列码</a:t>
            </a:r>
            <a:r>
              <a:rPr lang="zh-CN" altLang="en-US" dirty="0"/>
              <a:t>的一个条带中一些条块只包括校验单元，另一些条块同时包括用户数据单元和校验单元。</a:t>
            </a:r>
            <a:endParaRPr lang="en-US" altLang="zh-CN" dirty="0"/>
          </a:p>
        </p:txBody>
      </p:sp>
      <p:grpSp>
        <p:nvGrpSpPr>
          <p:cNvPr id="4" name="组合 3"/>
          <p:cNvGrpSpPr/>
          <p:nvPr/>
        </p:nvGrpSpPr>
        <p:grpSpPr>
          <a:xfrm>
            <a:off x="205306" y="3028922"/>
            <a:ext cx="8747559" cy="2381226"/>
            <a:chOff x="228714" y="3351906"/>
            <a:chExt cx="8747559" cy="2381226"/>
          </a:xfrm>
        </p:grpSpPr>
        <p:sp>
          <p:nvSpPr>
            <p:cNvPr id="5" name="文本框 4"/>
            <p:cNvSpPr txBox="1"/>
            <p:nvPr/>
          </p:nvSpPr>
          <p:spPr>
            <a:xfrm>
              <a:off x="228714" y="4343376"/>
              <a:ext cx="2004556" cy="4282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zh-CN" altLang="en-US" dirty="0"/>
                <a:t>水平垂直阵列码</a:t>
              </a:r>
              <a:endParaRPr lang="en-US" altLang="zh-CN" dirty="0"/>
            </a:p>
          </p:txBody>
        </p:sp>
        <p:sp>
          <p:nvSpPr>
            <p:cNvPr id="3" name="左大括号 2"/>
            <p:cNvSpPr/>
            <p:nvPr/>
          </p:nvSpPr>
          <p:spPr bwMode="auto">
            <a:xfrm>
              <a:off x="2233270" y="3585124"/>
              <a:ext cx="685782" cy="1992042"/>
            </a:xfrm>
            <a:prstGeom prst="leftBrace">
              <a:avLst/>
            </a:prstGeom>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v"/>
              </a:pPr>
              <a:endParaRPr kumimoji="1" lang="zh-CN" altLang="en-US" sz="2800" b="0" i="0" u="none" strike="noStrike" cap="none" normalizeH="0" baseline="0">
                <a:ln>
                  <a:noFill/>
                </a:ln>
                <a:solidFill>
                  <a:srgbClr val="336699"/>
                </a:solidFill>
                <a:effectLst/>
                <a:latin typeface="黑体" panose="02010609060101010101" pitchFamily="49" charset="-122"/>
                <a:ea typeface="黑体" panose="02010609060101010101" pitchFamily="49" charset="-122"/>
              </a:endParaRPr>
            </a:p>
          </p:txBody>
        </p:sp>
        <p:sp>
          <p:nvSpPr>
            <p:cNvPr id="8" name="文本框 7"/>
            <p:cNvSpPr txBox="1"/>
            <p:nvPr/>
          </p:nvSpPr>
          <p:spPr>
            <a:xfrm>
              <a:off x="3147646" y="3351906"/>
              <a:ext cx="5714849" cy="431337"/>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en-US" altLang="zh-CN" dirty="0"/>
                <a:t>2006</a:t>
              </a:r>
              <a:r>
                <a:rPr lang="zh-CN" altLang="en-US" dirty="0"/>
                <a:t>年</a:t>
              </a:r>
              <a:r>
                <a:rPr lang="en-US" altLang="zh-CN" dirty="0"/>
                <a:t>Hafner</a:t>
              </a:r>
              <a:r>
                <a:rPr lang="zh-CN" altLang="en-US" dirty="0"/>
                <a:t>提出的的</a:t>
              </a:r>
              <a:r>
                <a:rPr lang="en-US" altLang="zh-CN" dirty="0" err="1"/>
                <a:t>HoVer</a:t>
              </a:r>
              <a:r>
                <a:rPr lang="zh-CN" altLang="en-US" dirty="0"/>
                <a:t>码</a:t>
              </a:r>
              <a:endParaRPr lang="en-US" altLang="zh-CN" dirty="0"/>
            </a:p>
          </p:txBody>
        </p:sp>
        <p:sp>
          <p:nvSpPr>
            <p:cNvPr id="9" name="文本框 8"/>
            <p:cNvSpPr txBox="1"/>
            <p:nvPr/>
          </p:nvSpPr>
          <p:spPr>
            <a:xfrm>
              <a:off x="3147646" y="5301795"/>
              <a:ext cx="5828627" cy="431337"/>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r>
                <a:rPr lang="en-US" altLang="zh-CN" dirty="0" err="1"/>
                <a:t>Jin</a:t>
              </a:r>
              <a:r>
                <a:rPr lang="zh-CN" altLang="en-US" dirty="0"/>
                <a:t>等人对</a:t>
              </a:r>
              <a:r>
                <a:rPr lang="en-US" altLang="zh-CN" dirty="0"/>
                <a:t>RDP</a:t>
              </a:r>
              <a:r>
                <a:rPr lang="zh-CN" altLang="en-US" dirty="0"/>
                <a:t>码变形得到的</a:t>
              </a:r>
              <a:r>
                <a:rPr lang="en-US" altLang="zh-CN" dirty="0"/>
                <a:t>TRDP</a:t>
              </a:r>
              <a:r>
                <a:rPr lang="zh-CN" altLang="en-US" dirty="0"/>
                <a:t>码</a:t>
              </a:r>
              <a:endParaRPr lang="en-US" altLang="zh-CN" dirty="0"/>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EVENODD</a:t>
            </a:r>
            <a:r>
              <a:rPr lang="zh-CN" altLang="en-US" sz="2400" dirty="0">
                <a:sym typeface="+mn-ea"/>
              </a:rPr>
              <a:t>码</a:t>
            </a:r>
            <a:endParaRPr lang="zh-CN" altLang="en-US" sz="2400" dirty="0">
              <a:sym typeface="+mn-ea"/>
            </a:endParaRPr>
          </a:p>
        </p:txBody>
      </p:sp>
      <p:sp>
        <p:nvSpPr>
          <p:cNvPr id="14" name="文本框 13"/>
          <p:cNvSpPr txBox="1"/>
          <p:nvPr/>
        </p:nvSpPr>
        <p:spPr>
          <a:xfrm>
            <a:off x="457308" y="1269519"/>
            <a:ext cx="8348877" cy="178439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dirty="0"/>
              <a:t>        在阵列码中，</a:t>
            </a:r>
            <a:r>
              <a:rPr lang="en-US" altLang="zh-CN" dirty="0"/>
              <a:t>EVENODD</a:t>
            </a:r>
            <a:r>
              <a:rPr lang="zh-CN" altLang="en-US" dirty="0"/>
              <a:t>码是首个可以容忍两列丢失的编码方法，被公认为阵列码的始祖。在</a:t>
            </a:r>
            <a:r>
              <a:rPr lang="en-US" altLang="zh-CN" dirty="0"/>
              <a:t>EVENODD</a:t>
            </a:r>
            <a:r>
              <a:rPr lang="zh-CN" altLang="en-US" dirty="0"/>
              <a:t>码中，一共有</a:t>
            </a:r>
            <a:r>
              <a:rPr lang="en-US" altLang="zh-CN" dirty="0"/>
              <a:t>p</a:t>
            </a:r>
            <a:r>
              <a:rPr lang="zh-CN" altLang="en-US" dirty="0"/>
              <a:t>列数据列和</a:t>
            </a:r>
            <a:r>
              <a:rPr lang="en-US" altLang="zh-CN" dirty="0"/>
              <a:t>2</a:t>
            </a:r>
            <a:r>
              <a:rPr lang="zh-CN" altLang="en-US" dirty="0"/>
              <a:t>列冗余校验列，每一列有</a:t>
            </a:r>
            <a:r>
              <a:rPr lang="en-US" altLang="zh-CN" i="1" dirty="0"/>
              <a:t>p</a:t>
            </a:r>
            <a:r>
              <a:rPr lang="en-US" altLang="zh-CN" dirty="0"/>
              <a:t>-1</a:t>
            </a:r>
            <a:r>
              <a:rPr lang="zh-CN" altLang="en-US" dirty="0"/>
              <a:t>个信息位，因此其</a:t>
            </a:r>
            <a:r>
              <a:rPr lang="zh-CN" altLang="en-US" dirty="0">
                <a:solidFill>
                  <a:srgbClr val="FF0000"/>
                </a:solidFill>
              </a:rPr>
              <a:t>码字为</a:t>
            </a:r>
            <a:r>
              <a:rPr lang="en-US" altLang="zh-CN" dirty="0">
                <a:solidFill>
                  <a:srgbClr val="FF0000"/>
                </a:solidFill>
              </a:rPr>
              <a:t>(</a:t>
            </a:r>
            <a:r>
              <a:rPr lang="en-US" altLang="zh-CN" i="1" dirty="0">
                <a:solidFill>
                  <a:srgbClr val="FF0000"/>
                </a:solidFill>
              </a:rPr>
              <a:t>p</a:t>
            </a:r>
            <a:r>
              <a:rPr lang="en-US" altLang="zh-CN" dirty="0">
                <a:solidFill>
                  <a:srgbClr val="FF0000"/>
                </a:solidFill>
              </a:rPr>
              <a:t>-1)*(</a:t>
            </a:r>
            <a:r>
              <a:rPr lang="en-US" altLang="zh-CN" i="1" dirty="0">
                <a:solidFill>
                  <a:srgbClr val="FF0000"/>
                </a:solidFill>
              </a:rPr>
              <a:t>p</a:t>
            </a:r>
            <a:r>
              <a:rPr lang="en-US" altLang="zh-CN" dirty="0">
                <a:solidFill>
                  <a:srgbClr val="FF0000"/>
                </a:solidFill>
              </a:rPr>
              <a:t>+2)</a:t>
            </a:r>
            <a:r>
              <a:rPr lang="zh-CN" altLang="en-US" dirty="0">
                <a:solidFill>
                  <a:srgbClr val="FF0000"/>
                </a:solidFill>
              </a:rPr>
              <a:t>的二维阵列</a:t>
            </a:r>
            <a:r>
              <a:rPr lang="zh-CN" altLang="en-US" dirty="0"/>
              <a:t>，其中</a:t>
            </a:r>
            <a:r>
              <a:rPr lang="en-US" altLang="zh-CN" i="1" dirty="0"/>
              <a:t>p</a:t>
            </a:r>
            <a:r>
              <a:rPr lang="zh-CN" altLang="en-US" dirty="0"/>
              <a:t>为大于</a:t>
            </a:r>
            <a:r>
              <a:rPr lang="en-US" altLang="zh-CN" dirty="0"/>
              <a:t>2</a:t>
            </a:r>
            <a:r>
              <a:rPr lang="zh-CN" altLang="en-US" dirty="0"/>
              <a:t>的素数。</a:t>
            </a:r>
            <a:endParaRPr lang="en-US" altLang="zh-CN" dirty="0"/>
          </a:p>
        </p:txBody>
      </p:sp>
      <p:grpSp>
        <p:nvGrpSpPr>
          <p:cNvPr id="3" name="组合 2"/>
          <p:cNvGrpSpPr/>
          <p:nvPr/>
        </p:nvGrpSpPr>
        <p:grpSpPr>
          <a:xfrm>
            <a:off x="1340361" y="3200406"/>
            <a:ext cx="6463277" cy="3171684"/>
            <a:chOff x="1340361" y="3200406"/>
            <a:chExt cx="6463277" cy="3171684"/>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40361" y="3200406"/>
              <a:ext cx="6463277" cy="2819326"/>
            </a:xfrm>
            <a:prstGeom prst="rect">
              <a:avLst/>
            </a:prstGeom>
          </p:spPr>
        </p:pic>
        <p:sp>
          <p:nvSpPr>
            <p:cNvPr id="5" name="文本框 4"/>
            <p:cNvSpPr txBox="1"/>
            <p:nvPr/>
          </p:nvSpPr>
          <p:spPr>
            <a:xfrm>
              <a:off x="3886218" y="5867336"/>
              <a:ext cx="2057345" cy="50475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sym typeface="+mn-ea"/>
                </a:rPr>
                <a:t>EVENODD</a:t>
              </a:r>
              <a:r>
                <a:rPr lang="zh-CN" altLang="en-US" sz="1800" dirty="0">
                  <a:sym typeface="+mn-ea"/>
                </a:rPr>
                <a:t>码布局</a:t>
              </a:r>
              <a:endParaRPr lang="zh-CN" altLang="en-US" sz="1800" dirty="0">
                <a:sym typeface="+mn-ea"/>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EVENODD</a:t>
            </a:r>
            <a:r>
              <a:rPr lang="zh-CN" altLang="en-US" sz="2400" dirty="0">
                <a:sym typeface="+mn-ea"/>
              </a:rPr>
              <a:t>码编码过程</a:t>
            </a:r>
            <a:endParaRPr lang="zh-CN" altLang="en-US" sz="2400" dirty="0">
              <a:sym typeface="+mn-ea"/>
            </a:endParaRPr>
          </a:p>
        </p:txBody>
      </p:sp>
      <p:sp>
        <p:nvSpPr>
          <p:cNvPr id="14" name="文本框 13"/>
          <p:cNvSpPr txBox="1"/>
          <p:nvPr/>
        </p:nvSpPr>
        <p:spPr>
          <a:xfrm>
            <a:off x="381110" y="1238805"/>
            <a:ext cx="8076988" cy="91236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dirty="0"/>
              <a:t>        </a:t>
            </a:r>
            <a:r>
              <a:rPr lang="en-US" altLang="zh-CN" i="1" dirty="0"/>
              <a:t>p</a:t>
            </a:r>
            <a:r>
              <a:rPr lang="en-US" altLang="zh-CN" dirty="0"/>
              <a:t>=5</a:t>
            </a:r>
            <a:r>
              <a:rPr lang="zh-CN" altLang="en-US" dirty="0"/>
              <a:t>时，</a:t>
            </a:r>
            <a:r>
              <a:rPr lang="en-US" altLang="zh-CN" dirty="0"/>
              <a:t>EVENODD</a:t>
            </a:r>
            <a:r>
              <a:rPr lang="zh-CN" altLang="en-US" dirty="0"/>
              <a:t>的码字如下图所示，</a:t>
            </a:r>
            <a:r>
              <a:rPr lang="en-US" altLang="zh-CN" dirty="0"/>
              <a:t>EVENODD</a:t>
            </a:r>
            <a:r>
              <a:rPr lang="zh-CN" altLang="en-US" dirty="0"/>
              <a:t>编码的目的是计算出</a:t>
            </a:r>
            <a:r>
              <a:rPr lang="en-US" altLang="zh-CN" i="1" dirty="0"/>
              <a:t>C</a:t>
            </a:r>
            <a:r>
              <a:rPr lang="en-US" altLang="zh-CN" baseline="-25000" dirty="0"/>
              <a:t>0,0</a:t>
            </a:r>
            <a:r>
              <a:rPr lang="zh-CN" altLang="en-US" dirty="0"/>
              <a:t>、</a:t>
            </a:r>
            <a:r>
              <a:rPr lang="en-US" altLang="zh-CN" i="1" dirty="0"/>
              <a:t>C</a:t>
            </a:r>
            <a:r>
              <a:rPr lang="en-US" altLang="zh-CN" baseline="-25000" dirty="0"/>
              <a:t>1,0</a:t>
            </a:r>
            <a:r>
              <a:rPr lang="zh-CN" altLang="en-US" dirty="0"/>
              <a:t>、</a:t>
            </a:r>
            <a:r>
              <a:rPr lang="en-US" altLang="zh-CN" i="1" dirty="0"/>
              <a:t>C</a:t>
            </a:r>
            <a:r>
              <a:rPr lang="en-US" altLang="zh-CN" baseline="-25000" dirty="0"/>
              <a:t>2,0</a:t>
            </a:r>
            <a:r>
              <a:rPr lang="zh-CN" altLang="en-US" dirty="0"/>
              <a:t>、</a:t>
            </a:r>
            <a:r>
              <a:rPr lang="en-US" altLang="zh-CN" dirty="0"/>
              <a:t>…</a:t>
            </a:r>
            <a:r>
              <a:rPr lang="zh-CN" altLang="en-US" dirty="0"/>
              <a:t>、</a:t>
            </a:r>
            <a:r>
              <a:rPr lang="en-US" altLang="zh-CN" i="1" dirty="0"/>
              <a:t>C</a:t>
            </a:r>
            <a:r>
              <a:rPr lang="en-US" altLang="zh-CN" baseline="-25000" dirty="0"/>
              <a:t>3,1</a:t>
            </a:r>
            <a:r>
              <a:rPr lang="zh-CN" altLang="en-US" dirty="0"/>
              <a:t>。</a:t>
            </a:r>
            <a:endParaRPr lang="en-US" altLang="zh-CN"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43406" y="1889941"/>
            <a:ext cx="4276240" cy="2074104"/>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308" y="3931007"/>
            <a:ext cx="4876672" cy="2591468"/>
          </a:xfrm>
          <a:prstGeom prst="rect">
            <a:avLst/>
          </a:prstGeom>
        </p:spPr>
      </p:pic>
      <p:sp>
        <p:nvSpPr>
          <p:cNvPr id="8" name="箭头: 右弧形 7"/>
          <p:cNvSpPr/>
          <p:nvPr/>
        </p:nvSpPr>
        <p:spPr>
          <a:xfrm rot="1538991">
            <a:off x="5715580" y="3895746"/>
            <a:ext cx="943810" cy="2405375"/>
          </a:xfrm>
          <a:prstGeom prst="curvedLef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文本框 9"/>
          <p:cNvSpPr txBox="1"/>
          <p:nvPr/>
        </p:nvSpPr>
        <p:spPr>
          <a:xfrm>
            <a:off x="6733601" y="5095677"/>
            <a:ext cx="2285940" cy="47634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dirty="0"/>
              <a:t>编码的整体过程</a:t>
            </a:r>
            <a:endParaRPr lang="en-US" altLang="zh-C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EVENODD</a:t>
            </a:r>
            <a:r>
              <a:rPr lang="zh-CN" altLang="en-US" sz="2400" dirty="0">
                <a:sym typeface="+mn-ea"/>
              </a:rPr>
              <a:t>码编码过程</a:t>
            </a:r>
            <a:endParaRPr lang="zh-CN" altLang="en-US" sz="2400" dirty="0">
              <a:sym typeface="+mn-ea"/>
            </a:endParaRPr>
          </a:p>
        </p:txBody>
      </p:sp>
      <p:sp>
        <p:nvSpPr>
          <p:cNvPr id="14" name="文本框 13"/>
          <p:cNvSpPr txBox="1"/>
          <p:nvPr/>
        </p:nvSpPr>
        <p:spPr>
          <a:xfrm>
            <a:off x="381110" y="1061953"/>
            <a:ext cx="6857820" cy="47634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dirty="0"/>
              <a:t>        </a:t>
            </a:r>
            <a:r>
              <a:rPr lang="en-US" altLang="zh-CN" dirty="0"/>
              <a:t>(1)</a:t>
            </a:r>
            <a:r>
              <a:rPr lang="zh-CN" altLang="en-US" dirty="0"/>
              <a:t>计算第一列校验信息即</a:t>
            </a:r>
            <a:r>
              <a:rPr lang="en-US" altLang="zh-CN" i="1" dirty="0"/>
              <a:t>C</a:t>
            </a:r>
            <a:r>
              <a:rPr lang="en-US" altLang="zh-CN" baseline="-25000" dirty="0"/>
              <a:t>0,0</a:t>
            </a:r>
            <a:r>
              <a:rPr lang="zh-CN" altLang="en-US" dirty="0"/>
              <a:t>、</a:t>
            </a:r>
            <a:r>
              <a:rPr lang="en-US" altLang="zh-CN" i="1" dirty="0"/>
              <a:t>C</a:t>
            </a:r>
            <a:r>
              <a:rPr lang="en-US" altLang="zh-CN" baseline="-25000" dirty="0"/>
              <a:t>1,0</a:t>
            </a:r>
            <a:r>
              <a:rPr lang="zh-CN" altLang="en-US" dirty="0"/>
              <a:t>、</a:t>
            </a:r>
            <a:r>
              <a:rPr lang="en-US" altLang="zh-CN" i="1" dirty="0"/>
              <a:t>C</a:t>
            </a:r>
            <a:r>
              <a:rPr lang="en-US" altLang="zh-CN" baseline="-25000" dirty="0"/>
              <a:t>2,0</a:t>
            </a:r>
            <a:r>
              <a:rPr lang="zh-CN" altLang="en-US" dirty="0"/>
              <a:t>、</a:t>
            </a:r>
            <a:r>
              <a:rPr lang="en-US" altLang="zh-CN" i="1" dirty="0"/>
              <a:t>C</a:t>
            </a:r>
            <a:r>
              <a:rPr lang="en-US" altLang="zh-CN" baseline="-25000" dirty="0"/>
              <a:t>3,0</a:t>
            </a:r>
            <a:r>
              <a:rPr lang="zh-CN" altLang="en-US" dirty="0"/>
              <a:t>的值。</a:t>
            </a:r>
            <a:endParaRPr lang="en-US" altLang="zh-CN" dirty="0"/>
          </a:p>
        </p:txBody>
      </p:sp>
      <p:sp>
        <p:nvSpPr>
          <p:cNvPr id="9" name="文本框 8"/>
          <p:cNvSpPr txBox="1"/>
          <p:nvPr/>
        </p:nvSpPr>
        <p:spPr>
          <a:xfrm>
            <a:off x="4834310" y="2617790"/>
            <a:ext cx="4174170" cy="178439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en-US" altLang="zh-CN" i="1" dirty="0">
                <a:solidFill>
                  <a:schemeClr val="tx1"/>
                </a:solidFill>
              </a:rPr>
              <a:t>C</a:t>
            </a:r>
            <a:r>
              <a:rPr lang="en-US" altLang="zh-CN" baseline="-25000" dirty="0"/>
              <a:t>0</a:t>
            </a:r>
            <a:r>
              <a:rPr lang="en-US" altLang="zh-CN" baseline="-25000" dirty="0">
                <a:solidFill>
                  <a:schemeClr val="tx1"/>
                </a:solidFill>
              </a:rPr>
              <a:t>,0</a:t>
            </a:r>
            <a:r>
              <a:rPr lang="en-US" altLang="zh-CN" dirty="0">
                <a:solidFill>
                  <a:schemeClr val="tx1"/>
                </a:solidFill>
              </a:rPr>
              <a:t> = </a:t>
            </a:r>
            <a:r>
              <a:rPr lang="en-US" altLang="zh-CN" i="1" dirty="0">
                <a:solidFill>
                  <a:schemeClr val="tx1"/>
                </a:solidFill>
              </a:rPr>
              <a:t>D</a:t>
            </a:r>
            <a:r>
              <a:rPr lang="en-US" altLang="zh-CN" baseline="-25000" dirty="0">
                <a:solidFill>
                  <a:schemeClr val="tx1"/>
                </a:solidFill>
              </a:rPr>
              <a:t>0,0</a:t>
            </a:r>
            <a:r>
              <a:rPr lang="en-US" altLang="zh-CN" dirty="0">
                <a:solidFill>
                  <a:schemeClr val="tx1"/>
                </a:solidFill>
                <a:latin typeface="+mn-lt"/>
                <a:ea typeface="宋体" panose="02010600030101010101" pitchFamily="2" charset="-122"/>
              </a:rPr>
              <a:t>⊕</a:t>
            </a:r>
            <a:r>
              <a:rPr lang="en-US" altLang="zh-CN" i="1" dirty="0">
                <a:solidFill>
                  <a:schemeClr val="tx1"/>
                </a:solidFill>
              </a:rPr>
              <a:t>D</a:t>
            </a:r>
            <a:r>
              <a:rPr lang="en-US" altLang="zh-CN" baseline="-25000" dirty="0">
                <a:solidFill>
                  <a:schemeClr val="tx1"/>
                </a:solidFill>
              </a:rPr>
              <a:t>0,1</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solidFill>
                  <a:schemeClr val="tx1"/>
                </a:solidFill>
              </a:rPr>
              <a:t>0,2</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solidFill>
                  <a:schemeClr val="tx1"/>
                </a:solidFill>
              </a:rPr>
              <a:t>0,3</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solidFill>
                  <a:schemeClr val="tx1"/>
                </a:solidFill>
              </a:rPr>
              <a:t>0,4</a:t>
            </a:r>
            <a:endParaRPr lang="en-US" altLang="zh-CN" baseline="-25000" dirty="0">
              <a:solidFill>
                <a:schemeClr val="tx1"/>
              </a:solidFill>
            </a:endParaRPr>
          </a:p>
          <a:p>
            <a:pPr>
              <a:lnSpc>
                <a:spcPts val="3400"/>
              </a:lnSpc>
            </a:pPr>
            <a:r>
              <a:rPr lang="en-US" altLang="zh-CN" i="1" dirty="0">
                <a:solidFill>
                  <a:schemeClr val="tx1"/>
                </a:solidFill>
              </a:rPr>
              <a:t>C</a:t>
            </a:r>
            <a:r>
              <a:rPr lang="en-US" altLang="zh-CN" baseline="-25000" dirty="0">
                <a:solidFill>
                  <a:schemeClr val="tx1"/>
                </a:solidFill>
              </a:rPr>
              <a:t>1,0</a:t>
            </a:r>
            <a:r>
              <a:rPr lang="en-US" altLang="zh-CN" dirty="0">
                <a:solidFill>
                  <a:schemeClr val="tx1"/>
                </a:solidFill>
              </a:rPr>
              <a:t> = </a:t>
            </a:r>
            <a:r>
              <a:rPr lang="en-US" altLang="zh-CN" i="1" dirty="0">
                <a:solidFill>
                  <a:schemeClr val="tx1"/>
                </a:solidFill>
              </a:rPr>
              <a:t>D</a:t>
            </a:r>
            <a:r>
              <a:rPr lang="en-US" altLang="zh-CN" baseline="-25000" dirty="0"/>
              <a:t>1</a:t>
            </a:r>
            <a:r>
              <a:rPr lang="en-US" altLang="zh-CN" baseline="-25000" dirty="0">
                <a:solidFill>
                  <a:schemeClr val="tx1"/>
                </a:solidFill>
              </a:rPr>
              <a:t>,0</a:t>
            </a:r>
            <a:r>
              <a:rPr lang="en-US" altLang="zh-CN" dirty="0">
                <a:solidFill>
                  <a:schemeClr val="tx1"/>
                </a:solidFill>
                <a:latin typeface="+mn-lt"/>
                <a:ea typeface="宋体" panose="02010600030101010101" pitchFamily="2" charset="-122"/>
              </a:rPr>
              <a:t>⊕</a:t>
            </a:r>
            <a:r>
              <a:rPr lang="en-US" altLang="zh-CN" i="1" dirty="0">
                <a:solidFill>
                  <a:schemeClr val="tx1"/>
                </a:solidFill>
              </a:rPr>
              <a:t>D</a:t>
            </a:r>
            <a:r>
              <a:rPr lang="en-US" altLang="zh-CN" baseline="-25000" dirty="0"/>
              <a:t>1</a:t>
            </a:r>
            <a:r>
              <a:rPr lang="en-US" altLang="zh-CN" baseline="-25000" dirty="0">
                <a:solidFill>
                  <a:schemeClr val="tx1"/>
                </a:solidFill>
              </a:rPr>
              <a:t>,1</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t>1</a:t>
            </a:r>
            <a:r>
              <a:rPr lang="en-US" altLang="zh-CN" baseline="-25000" dirty="0">
                <a:solidFill>
                  <a:schemeClr val="tx1"/>
                </a:solidFill>
              </a:rPr>
              <a:t>,2</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t>1</a:t>
            </a:r>
            <a:r>
              <a:rPr lang="en-US" altLang="zh-CN" baseline="-25000" dirty="0">
                <a:solidFill>
                  <a:schemeClr val="tx1"/>
                </a:solidFill>
              </a:rPr>
              <a:t>,3</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t>1</a:t>
            </a:r>
            <a:r>
              <a:rPr lang="en-US" altLang="zh-CN" baseline="-25000" dirty="0">
                <a:solidFill>
                  <a:schemeClr val="tx1"/>
                </a:solidFill>
              </a:rPr>
              <a:t>,4</a:t>
            </a:r>
            <a:endParaRPr lang="en-US" altLang="zh-CN" dirty="0">
              <a:solidFill>
                <a:schemeClr val="tx1"/>
              </a:solidFill>
            </a:endParaRPr>
          </a:p>
          <a:p>
            <a:pPr>
              <a:lnSpc>
                <a:spcPts val="3400"/>
              </a:lnSpc>
            </a:pPr>
            <a:r>
              <a:rPr lang="en-US" altLang="zh-CN" i="1" dirty="0">
                <a:solidFill>
                  <a:schemeClr val="tx1"/>
                </a:solidFill>
              </a:rPr>
              <a:t>C</a:t>
            </a:r>
            <a:r>
              <a:rPr lang="en-US" altLang="zh-CN" baseline="-25000" dirty="0">
                <a:solidFill>
                  <a:schemeClr val="tx1"/>
                </a:solidFill>
              </a:rPr>
              <a:t>2,0</a:t>
            </a:r>
            <a:r>
              <a:rPr lang="en-US" altLang="zh-CN" dirty="0">
                <a:solidFill>
                  <a:schemeClr val="tx1"/>
                </a:solidFill>
              </a:rPr>
              <a:t> = </a:t>
            </a:r>
            <a:r>
              <a:rPr lang="en-US" altLang="zh-CN" i="1" dirty="0">
                <a:solidFill>
                  <a:schemeClr val="tx1"/>
                </a:solidFill>
              </a:rPr>
              <a:t>D</a:t>
            </a:r>
            <a:r>
              <a:rPr lang="en-US" altLang="zh-CN" baseline="-25000" dirty="0"/>
              <a:t>2</a:t>
            </a:r>
            <a:r>
              <a:rPr lang="en-US" altLang="zh-CN" baseline="-25000" dirty="0">
                <a:solidFill>
                  <a:schemeClr val="tx1"/>
                </a:solidFill>
              </a:rPr>
              <a:t>,0</a:t>
            </a:r>
            <a:r>
              <a:rPr lang="en-US" altLang="zh-CN" dirty="0">
                <a:solidFill>
                  <a:schemeClr val="tx1"/>
                </a:solidFill>
                <a:latin typeface="+mn-lt"/>
                <a:ea typeface="宋体" panose="02010600030101010101" pitchFamily="2" charset="-122"/>
              </a:rPr>
              <a:t>⊕</a:t>
            </a:r>
            <a:r>
              <a:rPr lang="en-US" altLang="zh-CN" i="1" dirty="0">
                <a:solidFill>
                  <a:schemeClr val="tx1"/>
                </a:solidFill>
              </a:rPr>
              <a:t>D</a:t>
            </a:r>
            <a:r>
              <a:rPr lang="en-US" altLang="zh-CN" baseline="-25000" dirty="0"/>
              <a:t>2</a:t>
            </a:r>
            <a:r>
              <a:rPr lang="en-US" altLang="zh-CN" baseline="-25000" dirty="0">
                <a:solidFill>
                  <a:schemeClr val="tx1"/>
                </a:solidFill>
              </a:rPr>
              <a:t>,1</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t>2</a:t>
            </a:r>
            <a:r>
              <a:rPr lang="en-US" altLang="zh-CN" baseline="-25000" dirty="0">
                <a:solidFill>
                  <a:schemeClr val="tx1"/>
                </a:solidFill>
              </a:rPr>
              <a:t>,2</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t>2</a:t>
            </a:r>
            <a:r>
              <a:rPr lang="en-US" altLang="zh-CN" baseline="-25000" dirty="0">
                <a:solidFill>
                  <a:schemeClr val="tx1"/>
                </a:solidFill>
              </a:rPr>
              <a:t>,3</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t>2</a:t>
            </a:r>
            <a:r>
              <a:rPr lang="en-US" altLang="zh-CN" baseline="-25000" dirty="0">
                <a:solidFill>
                  <a:schemeClr val="tx1"/>
                </a:solidFill>
              </a:rPr>
              <a:t>,4</a:t>
            </a:r>
            <a:endParaRPr lang="en-US" altLang="zh-CN" dirty="0">
              <a:solidFill>
                <a:schemeClr val="tx1"/>
              </a:solidFill>
            </a:endParaRPr>
          </a:p>
          <a:p>
            <a:pPr>
              <a:lnSpc>
                <a:spcPts val="3400"/>
              </a:lnSpc>
            </a:pPr>
            <a:r>
              <a:rPr lang="en-US" altLang="zh-CN" i="1" dirty="0">
                <a:solidFill>
                  <a:schemeClr val="tx1"/>
                </a:solidFill>
              </a:rPr>
              <a:t>C</a:t>
            </a:r>
            <a:r>
              <a:rPr lang="en-US" altLang="zh-CN" baseline="-25000" dirty="0">
                <a:solidFill>
                  <a:schemeClr val="tx1"/>
                </a:solidFill>
              </a:rPr>
              <a:t>3,0</a:t>
            </a:r>
            <a:r>
              <a:rPr lang="en-US" altLang="zh-CN" dirty="0">
                <a:solidFill>
                  <a:schemeClr val="tx1"/>
                </a:solidFill>
              </a:rPr>
              <a:t> = </a:t>
            </a:r>
            <a:r>
              <a:rPr lang="en-US" altLang="zh-CN" i="1" dirty="0">
                <a:solidFill>
                  <a:schemeClr val="tx1"/>
                </a:solidFill>
              </a:rPr>
              <a:t>D</a:t>
            </a:r>
            <a:r>
              <a:rPr lang="en-US" altLang="zh-CN" baseline="-25000" dirty="0"/>
              <a:t>3</a:t>
            </a:r>
            <a:r>
              <a:rPr lang="en-US" altLang="zh-CN" baseline="-25000" dirty="0">
                <a:solidFill>
                  <a:schemeClr val="tx1"/>
                </a:solidFill>
              </a:rPr>
              <a:t>,0</a:t>
            </a:r>
            <a:r>
              <a:rPr lang="en-US" altLang="zh-CN" dirty="0">
                <a:solidFill>
                  <a:schemeClr val="tx1"/>
                </a:solidFill>
                <a:latin typeface="+mn-lt"/>
                <a:ea typeface="宋体" panose="02010600030101010101" pitchFamily="2" charset="-122"/>
              </a:rPr>
              <a:t>⊕</a:t>
            </a:r>
            <a:r>
              <a:rPr lang="en-US" altLang="zh-CN" i="1" dirty="0">
                <a:solidFill>
                  <a:schemeClr val="tx1"/>
                </a:solidFill>
              </a:rPr>
              <a:t>D</a:t>
            </a:r>
            <a:r>
              <a:rPr lang="en-US" altLang="zh-CN" baseline="-25000" dirty="0"/>
              <a:t>3</a:t>
            </a:r>
            <a:r>
              <a:rPr lang="en-US" altLang="zh-CN" baseline="-25000" dirty="0">
                <a:solidFill>
                  <a:schemeClr val="tx1"/>
                </a:solidFill>
              </a:rPr>
              <a:t>,1</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t>3</a:t>
            </a:r>
            <a:r>
              <a:rPr lang="en-US" altLang="zh-CN" baseline="-25000" dirty="0">
                <a:solidFill>
                  <a:schemeClr val="tx1"/>
                </a:solidFill>
              </a:rPr>
              <a:t>,2</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t>3</a:t>
            </a:r>
            <a:r>
              <a:rPr lang="en-US" altLang="zh-CN" baseline="-25000" dirty="0">
                <a:solidFill>
                  <a:schemeClr val="tx1"/>
                </a:solidFill>
              </a:rPr>
              <a:t>,3</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t>3</a:t>
            </a:r>
            <a:r>
              <a:rPr lang="en-US" altLang="zh-CN" baseline="-25000" dirty="0">
                <a:solidFill>
                  <a:schemeClr val="tx1"/>
                </a:solidFill>
              </a:rPr>
              <a:t>,4</a:t>
            </a:r>
            <a:endParaRPr lang="en-US" altLang="zh-CN" dirty="0">
              <a:solidFill>
                <a:schemeClr val="tx1"/>
              </a:solidFill>
            </a:endParaRPr>
          </a:p>
        </p:txBody>
      </p:sp>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t="11133"/>
          <a:stretch>
            <a:fillRect/>
          </a:stretch>
        </p:blipFill>
        <p:spPr>
          <a:xfrm>
            <a:off x="366476" y="2590822"/>
            <a:ext cx="4267200" cy="2039961"/>
          </a:xfrm>
          <a:prstGeom prst="rect">
            <a:avLst/>
          </a:prstGeom>
        </p:spPr>
      </p:pic>
      <mc:AlternateContent xmlns:mc="http://schemas.openxmlformats.org/markup-compatibility/2006">
        <mc:Choice xmlns:a14="http://schemas.microsoft.com/office/drawing/2010/main" Requires="a14">
          <p:sp>
            <p:nvSpPr>
              <p:cNvPr id="11" name="文本框 10"/>
              <p:cNvSpPr txBox="1"/>
              <p:nvPr/>
            </p:nvSpPr>
            <p:spPr>
              <a:xfrm>
                <a:off x="1066892" y="1905040"/>
                <a:ext cx="3505108" cy="528350"/>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en-US" altLang="zh-CN" i="1" dirty="0" err="1">
                    <a:solidFill>
                      <a:srgbClr val="FF0000"/>
                    </a:solidFill>
                  </a:rPr>
                  <a:t>C</a:t>
                </a:r>
                <a:r>
                  <a:rPr lang="en-US" altLang="zh-CN" i="1" baseline="-25000" dirty="0" err="1">
                    <a:solidFill>
                      <a:srgbClr val="FF0000"/>
                    </a:solidFill>
                  </a:rPr>
                  <a:t>i</a:t>
                </a:r>
                <a:r>
                  <a:rPr lang="en-US" altLang="zh-CN" baseline="-25000" dirty="0" err="1">
                    <a:solidFill>
                      <a:srgbClr val="FF0000"/>
                    </a:solidFill>
                  </a:rPr>
                  <a:t>,</a:t>
                </a:r>
                <a:r>
                  <a:rPr lang="en-US" altLang="zh-CN" i="1" baseline="-25000" dirty="0" err="1">
                    <a:solidFill>
                      <a:srgbClr val="FF0000"/>
                    </a:solidFill>
                  </a:rPr>
                  <a:t>p</a:t>
                </a:r>
                <a:r>
                  <a:rPr lang="en-US" altLang="zh-CN" dirty="0">
                    <a:solidFill>
                      <a:srgbClr val="FF0000"/>
                    </a:solidFill>
                  </a:rPr>
                  <a:t> = </a:t>
                </a:r>
                <a14:m>
                  <m:oMath xmlns:m="http://schemas.openxmlformats.org/officeDocument/2006/math">
                    <m:sSubSup>
                      <m:sSubSupPr>
                        <m:ctrlPr>
                          <a:rPr lang="en-US" altLang="zh-CN" i="1" smtClean="0">
                            <a:solidFill>
                              <a:srgbClr val="FF0000"/>
                            </a:solidFill>
                            <a:latin typeface="Cambria Math" panose="02040503050406030204" pitchFamily="18" charset="0"/>
                            <a:ea typeface="宋体" panose="02010600030101010101" pitchFamily="2" charset="-122"/>
                          </a:rPr>
                        </m:ctrlPr>
                      </m:sSubSupPr>
                      <m:e>
                        <m:r>
                          <m:rPr>
                            <m:nor/>
                          </m:rPr>
                          <a:rPr lang="en-US" altLang="zh-CN" dirty="0">
                            <a:solidFill>
                              <a:srgbClr val="FF0000"/>
                            </a:solidFill>
                            <a:latin typeface="Cambria Math" panose="02040503050406030204" pitchFamily="18" charset="0"/>
                            <a:ea typeface="宋体" panose="02010600030101010101" pitchFamily="2" charset="-122"/>
                          </a:rPr>
                          <m:t>⊕</m:t>
                        </m:r>
                      </m:e>
                      <m:sub>
                        <m:r>
                          <a:rPr lang="en-US" altLang="zh-CN" i="1">
                            <a:solidFill>
                              <a:srgbClr val="FF0000"/>
                            </a:solidFill>
                            <a:latin typeface="Cambria Math" panose="02040503050406030204" pitchFamily="18" charset="0"/>
                            <a:ea typeface="宋体" panose="02010600030101010101" pitchFamily="2" charset="-122"/>
                          </a:rPr>
                          <m:t>𝑗</m:t>
                        </m:r>
                        <m:r>
                          <a:rPr lang="en-US" altLang="zh-CN" b="0" i="0" smtClean="0">
                            <a:solidFill>
                              <a:srgbClr val="FF0000"/>
                            </a:solidFill>
                            <a:latin typeface="Cambria Math" panose="02040503050406030204" pitchFamily="18" charset="0"/>
                            <a:ea typeface="宋体" panose="02010600030101010101" pitchFamily="2" charset="-122"/>
                          </a:rPr>
                          <m:t>=</m:t>
                        </m:r>
                        <m:r>
                          <a:rPr lang="en-US" altLang="zh-CN" b="0" i="0" smtClean="0">
                            <a:solidFill>
                              <a:srgbClr val="FF0000"/>
                            </a:solidFill>
                            <a:latin typeface="Cambria Math" panose="02040503050406030204" pitchFamily="18" charset="0"/>
                            <a:ea typeface="宋体" panose="02010600030101010101" pitchFamily="2" charset="-122"/>
                          </a:rPr>
                          <m:t>0</m:t>
                        </m:r>
                      </m:sub>
                      <m:sup>
                        <m:r>
                          <a:rPr lang="en-US" altLang="zh-CN" i="1">
                            <a:solidFill>
                              <a:srgbClr val="FF0000"/>
                            </a:solidFill>
                            <a:latin typeface="Cambria Math" panose="02040503050406030204" pitchFamily="18" charset="0"/>
                            <a:ea typeface="宋体" panose="02010600030101010101" pitchFamily="2" charset="-122"/>
                          </a:rPr>
                          <m:t>𝑝</m:t>
                        </m:r>
                        <m:r>
                          <a:rPr lang="en-US" altLang="zh-CN" b="0" i="0" smtClean="0">
                            <a:solidFill>
                              <a:srgbClr val="FF0000"/>
                            </a:solidFill>
                            <a:latin typeface="Cambria Math" panose="02040503050406030204" pitchFamily="18" charset="0"/>
                            <a:ea typeface="宋体" panose="02010600030101010101" pitchFamily="2" charset="-122"/>
                          </a:rPr>
                          <m:t>−</m:t>
                        </m:r>
                        <m:r>
                          <a:rPr lang="en-US" altLang="zh-CN" b="0" i="0" smtClean="0">
                            <a:solidFill>
                              <a:srgbClr val="FF0000"/>
                            </a:solidFill>
                            <a:latin typeface="Cambria Math" panose="02040503050406030204" pitchFamily="18" charset="0"/>
                            <a:ea typeface="宋体" panose="02010600030101010101" pitchFamily="2" charset="-122"/>
                          </a:rPr>
                          <m:t>1</m:t>
                        </m:r>
                      </m:sup>
                    </m:sSubSup>
                  </m:oMath>
                </a14:m>
                <a:r>
                  <a:rPr lang="en-US" altLang="zh-CN" i="1" dirty="0" err="1">
                    <a:solidFill>
                      <a:srgbClr val="FF0000"/>
                    </a:solidFill>
                  </a:rPr>
                  <a:t>D</a:t>
                </a:r>
                <a:r>
                  <a:rPr lang="en-US" altLang="zh-CN" i="1" baseline="-25000" dirty="0" err="1">
                    <a:solidFill>
                      <a:srgbClr val="FF0000"/>
                    </a:solidFill>
                  </a:rPr>
                  <a:t>i</a:t>
                </a:r>
                <a:r>
                  <a:rPr lang="en-US" altLang="zh-CN" baseline="-25000" dirty="0" err="1">
                    <a:solidFill>
                      <a:srgbClr val="FF0000"/>
                    </a:solidFill>
                  </a:rPr>
                  <a:t>,</a:t>
                </a:r>
                <a:r>
                  <a:rPr lang="en-US" altLang="zh-CN" i="1" baseline="-25000" dirty="0" err="1">
                    <a:solidFill>
                      <a:srgbClr val="FF0000"/>
                    </a:solidFill>
                  </a:rPr>
                  <a:t>j</a:t>
                </a:r>
                <a:r>
                  <a:rPr lang="en-US" altLang="zh-CN" dirty="0">
                    <a:solidFill>
                      <a:srgbClr val="FF0000"/>
                    </a:solidFill>
                  </a:rPr>
                  <a:t>   0</a:t>
                </a:r>
                <a:r>
                  <a:rPr lang="zh-CN" altLang="en-US" dirty="0">
                    <a:solidFill>
                      <a:srgbClr val="FF0000"/>
                    </a:solidFill>
                  </a:rPr>
                  <a:t>≤</a:t>
                </a:r>
                <a:r>
                  <a:rPr lang="en-US" altLang="zh-CN" i="1" dirty="0" err="1">
                    <a:solidFill>
                      <a:srgbClr val="FF0000"/>
                    </a:solidFill>
                  </a:rPr>
                  <a:t>i</a:t>
                </a:r>
                <a:r>
                  <a:rPr lang="zh-CN" altLang="en-US" dirty="0">
                    <a:solidFill>
                      <a:srgbClr val="FF0000"/>
                    </a:solidFill>
                  </a:rPr>
                  <a:t>≤</a:t>
                </a:r>
                <a:r>
                  <a:rPr lang="en-US" altLang="zh-CN" i="1" dirty="0">
                    <a:solidFill>
                      <a:srgbClr val="FF0000"/>
                    </a:solidFill>
                  </a:rPr>
                  <a:t>p</a:t>
                </a:r>
                <a:r>
                  <a:rPr lang="en-US" altLang="zh-CN" dirty="0">
                    <a:solidFill>
                      <a:srgbClr val="FF0000"/>
                    </a:solidFill>
                  </a:rPr>
                  <a:t>-2      (1)</a:t>
                </a:r>
                <a:endParaRPr lang="en-US" altLang="zh-CN" dirty="0">
                  <a:solidFill>
                    <a:srgbClr val="FF0000"/>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1066892" y="1905040"/>
                <a:ext cx="3505108" cy="528350"/>
              </a:xfrm>
              <a:prstGeom prst="rect">
                <a:avLst/>
              </a:prstGeom>
              <a:blipFill rotWithShape="1">
                <a:blip r:embed="rId2"/>
                <a:stretch>
                  <a:fillRect l="-3" t="-8" b="13"/>
                </a:stretch>
              </a:blipFill>
            </p:spPr>
            <p:txBody>
              <a:bodyPr/>
              <a:lstStyle/>
              <a:p>
                <a:r>
                  <a:rPr lang="zh-CN"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EVENODD</a:t>
            </a:r>
            <a:r>
              <a:rPr lang="zh-CN" altLang="en-US" sz="2400" dirty="0">
                <a:sym typeface="+mn-ea"/>
              </a:rPr>
              <a:t>码编码过程</a:t>
            </a:r>
            <a:endParaRPr lang="zh-CN" altLang="en-US" sz="2400" dirty="0">
              <a:sym typeface="+mn-ea"/>
            </a:endParaRPr>
          </a:p>
        </p:txBody>
      </p:sp>
      <p:sp>
        <p:nvSpPr>
          <p:cNvPr id="14" name="文本框 13"/>
          <p:cNvSpPr txBox="1"/>
          <p:nvPr/>
        </p:nvSpPr>
        <p:spPr>
          <a:xfrm>
            <a:off x="381110" y="1061953"/>
            <a:ext cx="6857820" cy="47634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dirty="0"/>
              <a:t>        </a:t>
            </a:r>
            <a:r>
              <a:rPr lang="en-US" altLang="zh-CN" dirty="0"/>
              <a:t>(2)</a:t>
            </a:r>
            <a:r>
              <a:rPr lang="zh-CN" altLang="en-US" dirty="0"/>
              <a:t>计算第二列校验信息即</a:t>
            </a:r>
            <a:r>
              <a:rPr lang="en-US" altLang="zh-CN" i="1" dirty="0"/>
              <a:t>C</a:t>
            </a:r>
            <a:r>
              <a:rPr lang="en-US" altLang="zh-CN" baseline="-25000" dirty="0"/>
              <a:t>0,1</a:t>
            </a:r>
            <a:r>
              <a:rPr lang="zh-CN" altLang="en-US" dirty="0"/>
              <a:t>、</a:t>
            </a:r>
            <a:r>
              <a:rPr lang="en-US" altLang="zh-CN" i="1" dirty="0"/>
              <a:t>C</a:t>
            </a:r>
            <a:r>
              <a:rPr lang="en-US" altLang="zh-CN" baseline="-25000" dirty="0"/>
              <a:t>1,1</a:t>
            </a:r>
            <a:r>
              <a:rPr lang="zh-CN" altLang="en-US" dirty="0"/>
              <a:t>、</a:t>
            </a:r>
            <a:r>
              <a:rPr lang="en-US" altLang="zh-CN" i="1" dirty="0"/>
              <a:t>C</a:t>
            </a:r>
            <a:r>
              <a:rPr lang="en-US" altLang="zh-CN" baseline="-25000" dirty="0"/>
              <a:t>2,1</a:t>
            </a:r>
            <a:r>
              <a:rPr lang="zh-CN" altLang="en-US" dirty="0"/>
              <a:t>、</a:t>
            </a:r>
            <a:r>
              <a:rPr lang="en-US" altLang="zh-CN" i="1" dirty="0"/>
              <a:t>C</a:t>
            </a:r>
            <a:r>
              <a:rPr lang="en-US" altLang="zh-CN" baseline="-25000" dirty="0"/>
              <a:t>3,1</a:t>
            </a:r>
            <a:r>
              <a:rPr lang="zh-CN" altLang="en-US" dirty="0"/>
              <a:t>的值。</a:t>
            </a:r>
            <a:endParaRPr lang="en-US" altLang="zh-CN" dirty="0"/>
          </a:p>
        </p:txBody>
      </p:sp>
      <mc:AlternateContent xmlns:mc="http://schemas.openxmlformats.org/markup-compatibility/2006">
        <mc:Choice xmlns:a14="http://schemas.microsoft.com/office/drawing/2010/main" Requires="a14">
          <p:sp>
            <p:nvSpPr>
              <p:cNvPr id="11" name="文本框 10"/>
              <p:cNvSpPr txBox="1"/>
              <p:nvPr/>
            </p:nvSpPr>
            <p:spPr>
              <a:xfrm>
                <a:off x="4572000" y="1809722"/>
                <a:ext cx="4572000" cy="133696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en-US" altLang="zh-CN" i="1" dirty="0">
                    <a:solidFill>
                      <a:srgbClr val="FF0000"/>
                    </a:solidFill>
                  </a:rPr>
                  <a:t>S</a:t>
                </a:r>
                <a:r>
                  <a:rPr lang="en-US" altLang="zh-CN" dirty="0">
                    <a:solidFill>
                      <a:srgbClr val="FF0000"/>
                    </a:solidFill>
                  </a:rPr>
                  <a:t> = </a:t>
                </a:r>
                <a14:m>
                  <m:oMath xmlns:m="http://schemas.openxmlformats.org/officeDocument/2006/math">
                    <m:sSubSup>
                      <m:sSubSupPr>
                        <m:ctrlPr>
                          <a:rPr lang="en-US" altLang="zh-CN" i="1" smtClean="0">
                            <a:solidFill>
                              <a:srgbClr val="FF0000"/>
                            </a:solidFill>
                            <a:latin typeface="Cambria Math" panose="02040503050406030204" pitchFamily="18" charset="0"/>
                            <a:ea typeface="宋体" panose="02010600030101010101" pitchFamily="2" charset="-122"/>
                          </a:rPr>
                        </m:ctrlPr>
                      </m:sSubSupPr>
                      <m:e>
                        <m:r>
                          <m:rPr>
                            <m:nor/>
                          </m:rPr>
                          <a:rPr lang="en-US" altLang="zh-CN" dirty="0">
                            <a:solidFill>
                              <a:srgbClr val="FF0000"/>
                            </a:solidFill>
                            <a:latin typeface="Cambria Math" panose="02040503050406030204" pitchFamily="18" charset="0"/>
                            <a:ea typeface="宋体" panose="02010600030101010101" pitchFamily="2" charset="-122"/>
                          </a:rPr>
                          <m:t>⊕</m:t>
                        </m:r>
                      </m:e>
                      <m:sub>
                        <m:r>
                          <a:rPr lang="en-US" altLang="zh-CN" i="1">
                            <a:solidFill>
                              <a:srgbClr val="FF0000"/>
                            </a:solidFill>
                            <a:latin typeface="Cambria Math" panose="02040503050406030204" pitchFamily="18" charset="0"/>
                            <a:ea typeface="宋体" panose="02010600030101010101" pitchFamily="2" charset="-122"/>
                          </a:rPr>
                          <m:t>𝑗</m:t>
                        </m:r>
                        <m:r>
                          <a:rPr lang="en-US" altLang="zh-CN" b="0" i="0" smtClean="0">
                            <a:solidFill>
                              <a:srgbClr val="FF0000"/>
                            </a:solidFill>
                            <a:latin typeface="Cambria Math" panose="02040503050406030204" pitchFamily="18" charset="0"/>
                            <a:ea typeface="宋体" panose="02010600030101010101" pitchFamily="2" charset="-122"/>
                          </a:rPr>
                          <m:t>=</m:t>
                        </m:r>
                        <m:r>
                          <a:rPr lang="en-US" altLang="zh-CN" b="0" i="0" smtClean="0">
                            <a:solidFill>
                              <a:srgbClr val="FF0000"/>
                            </a:solidFill>
                            <a:latin typeface="Cambria Math" panose="02040503050406030204" pitchFamily="18" charset="0"/>
                            <a:ea typeface="宋体" panose="02010600030101010101" pitchFamily="2" charset="-122"/>
                          </a:rPr>
                          <m:t>1</m:t>
                        </m:r>
                      </m:sub>
                      <m:sup>
                        <m:r>
                          <a:rPr lang="en-US" altLang="zh-CN" i="1">
                            <a:solidFill>
                              <a:srgbClr val="FF0000"/>
                            </a:solidFill>
                            <a:latin typeface="Cambria Math" panose="02040503050406030204" pitchFamily="18" charset="0"/>
                            <a:ea typeface="宋体" panose="02010600030101010101" pitchFamily="2" charset="-122"/>
                          </a:rPr>
                          <m:t>𝑝</m:t>
                        </m:r>
                        <m:r>
                          <a:rPr lang="en-US" altLang="zh-CN" b="0" i="0" smtClean="0">
                            <a:solidFill>
                              <a:srgbClr val="FF0000"/>
                            </a:solidFill>
                            <a:latin typeface="Cambria Math" panose="02040503050406030204" pitchFamily="18" charset="0"/>
                            <a:ea typeface="宋体" panose="02010600030101010101" pitchFamily="2" charset="-122"/>
                          </a:rPr>
                          <m:t>−</m:t>
                        </m:r>
                        <m:r>
                          <a:rPr lang="en-US" altLang="zh-CN" b="0" i="0" smtClean="0">
                            <a:solidFill>
                              <a:srgbClr val="FF0000"/>
                            </a:solidFill>
                            <a:latin typeface="Cambria Math" panose="02040503050406030204" pitchFamily="18" charset="0"/>
                            <a:ea typeface="宋体" panose="02010600030101010101" pitchFamily="2" charset="-122"/>
                          </a:rPr>
                          <m:t>1</m:t>
                        </m:r>
                      </m:sup>
                    </m:sSubSup>
                  </m:oMath>
                </a14:m>
                <a:r>
                  <a:rPr lang="en-US" altLang="zh-CN" i="1" dirty="0">
                    <a:solidFill>
                      <a:srgbClr val="FF0000"/>
                    </a:solidFill>
                  </a:rPr>
                  <a:t>D</a:t>
                </a:r>
                <a:r>
                  <a:rPr lang="en-US" altLang="zh-CN" i="1" baseline="-25000" dirty="0">
                    <a:solidFill>
                      <a:srgbClr val="FF0000"/>
                    </a:solidFill>
                  </a:rPr>
                  <a:t>p</a:t>
                </a:r>
                <a:r>
                  <a:rPr lang="en-US" altLang="zh-CN" baseline="-25000" dirty="0">
                    <a:solidFill>
                      <a:srgbClr val="FF0000"/>
                    </a:solidFill>
                  </a:rPr>
                  <a:t>-1-</a:t>
                </a:r>
                <a:r>
                  <a:rPr lang="en-US" altLang="zh-CN" i="1" baseline="-25000" dirty="0">
                    <a:solidFill>
                      <a:srgbClr val="FF0000"/>
                    </a:solidFill>
                  </a:rPr>
                  <a:t>j</a:t>
                </a:r>
                <a:r>
                  <a:rPr lang="en-US" altLang="zh-CN" baseline="-25000" dirty="0">
                    <a:solidFill>
                      <a:srgbClr val="FF0000"/>
                    </a:solidFill>
                  </a:rPr>
                  <a:t>,</a:t>
                </a:r>
                <a:r>
                  <a:rPr lang="en-US" altLang="zh-CN" i="1" baseline="-25000" dirty="0">
                    <a:solidFill>
                      <a:srgbClr val="FF0000"/>
                    </a:solidFill>
                  </a:rPr>
                  <a:t>j                                                </a:t>
                </a:r>
                <a:r>
                  <a:rPr lang="en-US" altLang="zh-CN" dirty="0">
                    <a:solidFill>
                      <a:srgbClr val="FF0000"/>
                    </a:solidFill>
                  </a:rPr>
                  <a:t>(2)</a:t>
                </a:r>
                <a:endParaRPr lang="en-US" altLang="zh-CN" dirty="0">
                  <a:solidFill>
                    <a:srgbClr val="FF0000"/>
                  </a:solidFill>
                </a:endParaRPr>
              </a:p>
              <a:p>
                <a:pPr>
                  <a:lnSpc>
                    <a:spcPts val="3400"/>
                  </a:lnSpc>
                </a:pPr>
                <a:r>
                  <a:rPr lang="en-US" altLang="zh-CN" i="1" dirty="0">
                    <a:solidFill>
                      <a:srgbClr val="FF0000"/>
                    </a:solidFill>
                  </a:rPr>
                  <a:t>C</a:t>
                </a:r>
                <a:r>
                  <a:rPr lang="en-US" altLang="zh-CN" i="1" baseline="-25000" dirty="0">
                    <a:solidFill>
                      <a:srgbClr val="FF0000"/>
                    </a:solidFill>
                  </a:rPr>
                  <a:t>i</a:t>
                </a:r>
                <a:r>
                  <a:rPr lang="en-US" altLang="zh-CN" baseline="-25000" dirty="0">
                    <a:solidFill>
                      <a:srgbClr val="FF0000"/>
                    </a:solidFill>
                  </a:rPr>
                  <a:t>,</a:t>
                </a:r>
                <a:r>
                  <a:rPr lang="en-US" altLang="zh-CN" i="1" baseline="-25000" dirty="0">
                    <a:solidFill>
                      <a:srgbClr val="FF0000"/>
                    </a:solidFill>
                  </a:rPr>
                  <a:t>p</a:t>
                </a:r>
                <a:r>
                  <a:rPr lang="en-US" altLang="zh-CN" baseline="-25000" dirty="0">
                    <a:solidFill>
                      <a:srgbClr val="FF0000"/>
                    </a:solidFill>
                  </a:rPr>
                  <a:t>+1</a:t>
                </a:r>
                <a:r>
                  <a:rPr lang="en-US" altLang="zh-CN" dirty="0">
                    <a:solidFill>
                      <a:srgbClr val="FF0000"/>
                    </a:solidFill>
                  </a:rPr>
                  <a:t> = </a:t>
                </a:r>
                <a:r>
                  <a:rPr lang="en-US" altLang="zh-CN" i="1" dirty="0">
                    <a:solidFill>
                      <a:srgbClr val="FF0000"/>
                    </a:solidFill>
                  </a:rPr>
                  <a:t>S</a:t>
                </a:r>
                <a14:m>
                  <m:oMath xmlns:m="http://schemas.openxmlformats.org/officeDocument/2006/math">
                    <m:sSubSup>
                      <m:sSubSupPr>
                        <m:ctrlPr>
                          <a:rPr lang="en-US" altLang="zh-CN" i="1" smtClean="0">
                            <a:solidFill>
                              <a:srgbClr val="FF0000"/>
                            </a:solidFill>
                            <a:latin typeface="Cambria Math" panose="02040503050406030204" pitchFamily="18" charset="0"/>
                            <a:ea typeface="宋体" panose="02010600030101010101" pitchFamily="2" charset="-122"/>
                          </a:rPr>
                        </m:ctrlPr>
                      </m:sSubSupPr>
                      <m:e>
                        <m:r>
                          <m:rPr>
                            <m:nor/>
                          </m:rPr>
                          <a:rPr lang="en-US" altLang="zh-CN" dirty="0">
                            <a:solidFill>
                              <a:srgbClr val="FF0000"/>
                            </a:solidFill>
                            <a:latin typeface="Cambria Math" panose="02040503050406030204" pitchFamily="18" charset="0"/>
                            <a:ea typeface="宋体" panose="02010600030101010101" pitchFamily="2" charset="-122"/>
                          </a:rPr>
                          <m:t>⊕</m:t>
                        </m:r>
                      </m:e>
                      <m:sub>
                        <m:r>
                          <a:rPr lang="en-US" altLang="zh-CN" i="1">
                            <a:solidFill>
                              <a:srgbClr val="FF0000"/>
                            </a:solidFill>
                            <a:latin typeface="Cambria Math" panose="02040503050406030204" pitchFamily="18" charset="0"/>
                            <a:ea typeface="宋体" panose="02010600030101010101" pitchFamily="2" charset="-122"/>
                          </a:rPr>
                          <m:t>𝑗</m:t>
                        </m:r>
                        <m:r>
                          <a:rPr lang="en-US" altLang="zh-CN" b="0" i="0" smtClean="0">
                            <a:solidFill>
                              <a:srgbClr val="FF0000"/>
                            </a:solidFill>
                            <a:latin typeface="Cambria Math" panose="02040503050406030204" pitchFamily="18" charset="0"/>
                            <a:ea typeface="宋体" panose="02010600030101010101" pitchFamily="2" charset="-122"/>
                          </a:rPr>
                          <m:t>=</m:t>
                        </m:r>
                        <m:r>
                          <a:rPr lang="en-US" altLang="zh-CN" b="0" i="0" smtClean="0">
                            <a:solidFill>
                              <a:srgbClr val="FF0000"/>
                            </a:solidFill>
                            <a:latin typeface="Cambria Math" panose="02040503050406030204" pitchFamily="18" charset="0"/>
                            <a:ea typeface="宋体" panose="02010600030101010101" pitchFamily="2" charset="-122"/>
                          </a:rPr>
                          <m:t>0</m:t>
                        </m:r>
                      </m:sub>
                      <m:sup>
                        <m:r>
                          <a:rPr lang="en-US" altLang="zh-CN" b="0" i="1" smtClean="0">
                            <a:solidFill>
                              <a:srgbClr val="FF0000"/>
                            </a:solidFill>
                            <a:latin typeface="Cambria Math" panose="02040503050406030204" pitchFamily="18" charset="0"/>
                            <a:ea typeface="宋体" panose="02010600030101010101" pitchFamily="2" charset="-122"/>
                          </a:rPr>
                          <m:t>𝑝</m:t>
                        </m:r>
                        <m:r>
                          <a:rPr lang="en-US" altLang="zh-CN" b="0" i="0" smtClean="0">
                            <a:solidFill>
                              <a:srgbClr val="FF0000"/>
                            </a:solidFill>
                            <a:latin typeface="Cambria Math" panose="02040503050406030204" pitchFamily="18" charset="0"/>
                            <a:ea typeface="宋体" panose="02010600030101010101" pitchFamily="2" charset="-122"/>
                          </a:rPr>
                          <m:t>−</m:t>
                        </m:r>
                        <m:r>
                          <a:rPr lang="en-US" altLang="zh-CN" b="0" i="0" smtClean="0">
                            <a:solidFill>
                              <a:srgbClr val="FF0000"/>
                            </a:solidFill>
                            <a:latin typeface="Cambria Math" panose="02040503050406030204" pitchFamily="18" charset="0"/>
                            <a:ea typeface="宋体" panose="02010600030101010101" pitchFamily="2" charset="-122"/>
                          </a:rPr>
                          <m:t>1</m:t>
                        </m:r>
                      </m:sup>
                    </m:sSubSup>
                  </m:oMath>
                </a14:m>
                <a:r>
                  <a:rPr lang="en-US" altLang="zh-CN" i="1" dirty="0" err="1">
                    <a:solidFill>
                      <a:srgbClr val="FF0000"/>
                    </a:solidFill>
                  </a:rPr>
                  <a:t>D</a:t>
                </a:r>
                <a:r>
                  <a:rPr lang="en-US" altLang="zh-CN" i="1" baseline="-25000" dirty="0" err="1">
                    <a:solidFill>
                      <a:srgbClr val="FF0000"/>
                    </a:solidFill>
                  </a:rPr>
                  <a:t>j</a:t>
                </a:r>
                <a:r>
                  <a:rPr lang="en-US" altLang="zh-CN" i="1" baseline="-25000" dirty="0">
                    <a:solidFill>
                      <a:srgbClr val="FF0000"/>
                    </a:solidFill>
                  </a:rPr>
                  <a:t>,&lt;</a:t>
                </a:r>
                <a:r>
                  <a:rPr lang="en-US" altLang="zh-CN" i="1" baseline="-25000" dirty="0" err="1">
                    <a:solidFill>
                      <a:srgbClr val="FF0000"/>
                    </a:solidFill>
                  </a:rPr>
                  <a:t>i</a:t>
                </a:r>
                <a:r>
                  <a:rPr lang="en-US" altLang="zh-CN" i="1" baseline="-25000" dirty="0">
                    <a:solidFill>
                      <a:srgbClr val="FF0000"/>
                    </a:solidFill>
                  </a:rPr>
                  <a:t>-j&gt;p</a:t>
                </a:r>
                <a:r>
                  <a:rPr lang="en-US" altLang="zh-CN" i="1" dirty="0">
                    <a:solidFill>
                      <a:srgbClr val="FF0000"/>
                    </a:solidFill>
                  </a:rPr>
                  <a:t>  </a:t>
                </a:r>
                <a:r>
                  <a:rPr lang="en-US" altLang="zh-CN" dirty="0">
                    <a:solidFill>
                      <a:srgbClr val="FF0000"/>
                    </a:solidFill>
                  </a:rPr>
                  <a:t>0</a:t>
                </a:r>
                <a:r>
                  <a:rPr lang="zh-CN" altLang="en-US" dirty="0">
                    <a:solidFill>
                      <a:srgbClr val="FF0000"/>
                    </a:solidFill>
                  </a:rPr>
                  <a:t>≤</a:t>
                </a:r>
                <a:r>
                  <a:rPr lang="en-US" altLang="zh-CN" i="1" dirty="0" err="1">
                    <a:solidFill>
                      <a:srgbClr val="FF0000"/>
                    </a:solidFill>
                  </a:rPr>
                  <a:t>i</a:t>
                </a:r>
                <a:r>
                  <a:rPr lang="zh-CN" altLang="en-US" dirty="0">
                    <a:solidFill>
                      <a:srgbClr val="FF0000"/>
                    </a:solidFill>
                  </a:rPr>
                  <a:t>≤</a:t>
                </a:r>
                <a:r>
                  <a:rPr lang="en-US" altLang="zh-CN" i="1" dirty="0">
                    <a:solidFill>
                      <a:srgbClr val="FF0000"/>
                    </a:solidFill>
                  </a:rPr>
                  <a:t>p</a:t>
                </a:r>
                <a:r>
                  <a:rPr lang="en-US" altLang="zh-CN" dirty="0">
                    <a:solidFill>
                      <a:srgbClr val="FF0000"/>
                    </a:solidFill>
                  </a:rPr>
                  <a:t>-2       (3)</a:t>
                </a:r>
                <a:endParaRPr lang="en-US" altLang="zh-CN" dirty="0">
                  <a:solidFill>
                    <a:srgbClr val="FF0000"/>
                  </a:solidFill>
                </a:endParaRPr>
              </a:p>
              <a:p>
                <a:pPr>
                  <a:lnSpc>
                    <a:spcPts val="3400"/>
                  </a:lnSpc>
                </a:pPr>
                <a:r>
                  <a:rPr lang="en-US" altLang="zh-CN" sz="1600" dirty="0"/>
                  <a:t>(</a:t>
                </a:r>
                <a:r>
                  <a:rPr lang="zh-CN" altLang="en-US" sz="1600" dirty="0"/>
                  <a:t>记</a:t>
                </a:r>
                <a:r>
                  <a:rPr lang="en-US" altLang="zh-CN" sz="1600" dirty="0"/>
                  <a:t>&lt;</a:t>
                </a:r>
                <a:r>
                  <a:rPr lang="en-US" altLang="zh-CN" sz="1600" i="1" dirty="0"/>
                  <a:t>n</a:t>
                </a:r>
                <a:r>
                  <a:rPr lang="en-US" altLang="zh-CN" sz="1600" dirty="0"/>
                  <a:t>&gt;</a:t>
                </a:r>
                <a:r>
                  <a:rPr lang="en-US" altLang="zh-CN" sz="1600" i="1" dirty="0"/>
                  <a:t>p</a:t>
                </a:r>
                <a:r>
                  <a:rPr lang="en-US" altLang="zh-CN" sz="1600" dirty="0"/>
                  <a:t>=</a:t>
                </a:r>
                <a:r>
                  <a:rPr lang="en-US" altLang="zh-CN" sz="1600" i="1" dirty="0"/>
                  <a:t>j</a:t>
                </a:r>
                <a:r>
                  <a:rPr lang="zh-CN" altLang="en-US" sz="1600" dirty="0"/>
                  <a:t>为</a:t>
                </a:r>
                <a:r>
                  <a:rPr lang="en-US" altLang="zh-CN" sz="1600" i="1" dirty="0"/>
                  <a:t>j</a:t>
                </a:r>
                <a:r>
                  <a:rPr lang="en-US" altLang="zh-CN" sz="1600" dirty="0"/>
                  <a:t>=</a:t>
                </a:r>
                <a:r>
                  <a:rPr lang="en-US" altLang="zh-CN" sz="1600" i="1" dirty="0"/>
                  <a:t>n</a:t>
                </a:r>
                <a:r>
                  <a:rPr lang="en-US" altLang="zh-CN" sz="1600" dirty="0"/>
                  <a:t> mod </a:t>
                </a:r>
                <a:r>
                  <a:rPr lang="en-US" altLang="zh-CN" sz="1600" i="1" dirty="0"/>
                  <a:t>p</a:t>
                </a:r>
                <a:r>
                  <a:rPr lang="zh-CN" altLang="en-US" sz="1600" dirty="0"/>
                  <a:t>，</a:t>
                </a:r>
                <a:r>
                  <a:rPr lang="en-US" altLang="zh-CN" sz="1600" dirty="0"/>
                  <a:t>0</a:t>
                </a:r>
                <a:r>
                  <a:rPr lang="zh-CN" altLang="en-US" sz="1600" dirty="0"/>
                  <a:t> ≤ </a:t>
                </a:r>
                <a:r>
                  <a:rPr lang="en-US" altLang="zh-CN" sz="1600" i="1" dirty="0"/>
                  <a:t>j</a:t>
                </a:r>
                <a:r>
                  <a:rPr lang="zh-CN" altLang="en-US" sz="1600" dirty="0"/>
                  <a:t> ≤ </a:t>
                </a:r>
                <a:r>
                  <a:rPr lang="en-US" altLang="zh-CN" sz="1600" i="1" dirty="0"/>
                  <a:t>p</a:t>
                </a:r>
                <a:r>
                  <a:rPr lang="en-US" altLang="zh-CN" sz="1600" dirty="0"/>
                  <a:t>+1)</a:t>
                </a:r>
                <a:endParaRPr lang="en-US" altLang="zh-CN" sz="1600" dirty="0">
                  <a:solidFill>
                    <a:srgbClr val="FF0000"/>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4572000" y="1809722"/>
                <a:ext cx="4572000" cy="1336969"/>
              </a:xfrm>
              <a:prstGeom prst="rect">
                <a:avLst/>
              </a:prstGeom>
              <a:blipFill rotWithShape="1">
                <a:blip r:embed="rId1"/>
                <a:stretch>
                  <a:fillRect t="-45" b="-265"/>
                </a:stretch>
              </a:blipFill>
            </p:spPr>
            <p:txBody>
              <a:bodyPr/>
              <a:lstStyle/>
              <a:p>
                <a:r>
                  <a:rPr lang="zh-CN" altLang="en-US">
                    <a:noFill/>
                  </a:rPr>
                  <a:t> </a:t>
                </a:r>
              </a:p>
            </p:txBody>
          </p:sp>
        </mc:Fallback>
      </mc:AlternateContent>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912" y="1676446"/>
            <a:ext cx="3772254" cy="1922590"/>
          </a:xfrm>
          <a:prstGeom prst="rect">
            <a:avLst/>
          </a:prstGeom>
        </p:spPr>
      </p:pic>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516" y="3737180"/>
            <a:ext cx="4512945" cy="2481751"/>
          </a:xfrm>
          <a:prstGeom prst="rect">
            <a:avLst/>
          </a:prstGeom>
        </p:spPr>
      </p:pic>
      <p:sp>
        <p:nvSpPr>
          <p:cNvPr id="12" name="文本框 11"/>
          <p:cNvSpPr txBox="1"/>
          <p:nvPr/>
        </p:nvSpPr>
        <p:spPr>
          <a:xfrm>
            <a:off x="4820169" y="3867847"/>
            <a:ext cx="4174170" cy="222041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en-US" altLang="zh-CN" i="1" dirty="0">
                <a:solidFill>
                  <a:schemeClr val="tx1"/>
                </a:solidFill>
              </a:rPr>
              <a:t>S</a:t>
            </a:r>
            <a:r>
              <a:rPr lang="en-US" altLang="zh-CN" dirty="0">
                <a:solidFill>
                  <a:schemeClr val="tx1"/>
                </a:solidFill>
              </a:rPr>
              <a:t> = </a:t>
            </a:r>
            <a:r>
              <a:rPr lang="en-US" altLang="zh-CN" i="1" dirty="0">
                <a:solidFill>
                  <a:schemeClr val="tx1"/>
                </a:solidFill>
              </a:rPr>
              <a:t>D</a:t>
            </a:r>
            <a:r>
              <a:rPr lang="en-US" altLang="zh-CN" baseline="-25000" dirty="0"/>
              <a:t>3</a:t>
            </a:r>
            <a:r>
              <a:rPr lang="en-US" altLang="zh-CN" baseline="-25000" dirty="0">
                <a:solidFill>
                  <a:schemeClr val="tx1"/>
                </a:solidFill>
              </a:rPr>
              <a:t>,1</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solidFill>
                  <a:schemeClr val="tx1"/>
                </a:solidFill>
              </a:rPr>
              <a:t>2,2</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solidFill>
                  <a:schemeClr val="tx1"/>
                </a:solidFill>
              </a:rPr>
              <a:t>1,3</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solidFill>
                  <a:schemeClr val="tx1"/>
                </a:solidFill>
              </a:rPr>
              <a:t>0,4</a:t>
            </a:r>
            <a:endParaRPr lang="en-US" altLang="zh-CN" dirty="0">
              <a:solidFill>
                <a:schemeClr val="tx1"/>
              </a:solidFill>
            </a:endParaRPr>
          </a:p>
          <a:p>
            <a:pPr>
              <a:lnSpc>
                <a:spcPts val="3400"/>
              </a:lnSpc>
            </a:pPr>
            <a:r>
              <a:rPr lang="en-US" altLang="zh-CN" i="1" dirty="0">
                <a:solidFill>
                  <a:schemeClr val="tx1"/>
                </a:solidFill>
              </a:rPr>
              <a:t>C</a:t>
            </a:r>
            <a:r>
              <a:rPr lang="en-US" altLang="zh-CN" baseline="-25000" dirty="0"/>
              <a:t>0</a:t>
            </a:r>
            <a:r>
              <a:rPr lang="en-US" altLang="zh-CN" baseline="-25000" dirty="0">
                <a:solidFill>
                  <a:schemeClr val="tx1"/>
                </a:solidFill>
              </a:rPr>
              <a:t>,1</a:t>
            </a:r>
            <a:r>
              <a:rPr lang="en-US" altLang="zh-CN" dirty="0">
                <a:solidFill>
                  <a:schemeClr val="tx1"/>
                </a:solidFill>
              </a:rPr>
              <a:t> = </a:t>
            </a:r>
            <a:r>
              <a:rPr lang="en-US" altLang="zh-CN" i="1" dirty="0">
                <a:solidFill>
                  <a:schemeClr val="tx1"/>
                </a:solidFill>
              </a:rPr>
              <a:t>D</a:t>
            </a:r>
            <a:r>
              <a:rPr lang="en-US" altLang="zh-CN" baseline="-25000" dirty="0">
                <a:solidFill>
                  <a:schemeClr val="tx1"/>
                </a:solidFill>
              </a:rPr>
              <a:t>0,0</a:t>
            </a:r>
            <a:r>
              <a:rPr lang="en-US" altLang="zh-CN" dirty="0">
                <a:solidFill>
                  <a:schemeClr val="tx1"/>
                </a:solidFill>
                <a:latin typeface="+mn-lt"/>
                <a:ea typeface="宋体" panose="02010600030101010101" pitchFamily="2" charset="-122"/>
              </a:rPr>
              <a:t>⊕</a:t>
            </a:r>
            <a:r>
              <a:rPr lang="en-US" altLang="zh-CN" i="1" dirty="0">
                <a:solidFill>
                  <a:schemeClr val="tx1"/>
                </a:solidFill>
              </a:rPr>
              <a:t>D</a:t>
            </a:r>
            <a:r>
              <a:rPr lang="en-US" altLang="zh-CN" baseline="-25000" dirty="0"/>
              <a:t>3</a:t>
            </a:r>
            <a:r>
              <a:rPr lang="en-US" altLang="zh-CN" baseline="-25000" dirty="0">
                <a:solidFill>
                  <a:schemeClr val="tx1"/>
                </a:solidFill>
              </a:rPr>
              <a:t>,2</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t>2</a:t>
            </a:r>
            <a:r>
              <a:rPr lang="en-US" altLang="zh-CN" baseline="-25000" dirty="0">
                <a:solidFill>
                  <a:schemeClr val="tx1"/>
                </a:solidFill>
              </a:rPr>
              <a:t>,3</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t>1</a:t>
            </a:r>
            <a:r>
              <a:rPr lang="en-US" altLang="zh-CN" baseline="-25000" dirty="0">
                <a:solidFill>
                  <a:schemeClr val="tx1"/>
                </a:solidFill>
              </a:rPr>
              <a:t>,4</a:t>
            </a:r>
            <a:r>
              <a:rPr lang="en-US" altLang="zh-CN" dirty="0">
                <a:ea typeface="宋体" panose="02010600030101010101" pitchFamily="2" charset="-122"/>
              </a:rPr>
              <a:t>⊕S</a:t>
            </a:r>
            <a:endParaRPr lang="en-US" altLang="zh-CN" baseline="-25000" dirty="0">
              <a:solidFill>
                <a:schemeClr val="tx1"/>
              </a:solidFill>
            </a:endParaRPr>
          </a:p>
          <a:p>
            <a:pPr>
              <a:lnSpc>
                <a:spcPts val="3400"/>
              </a:lnSpc>
            </a:pPr>
            <a:r>
              <a:rPr lang="en-US" altLang="zh-CN" i="1" dirty="0">
                <a:solidFill>
                  <a:schemeClr val="tx1"/>
                </a:solidFill>
              </a:rPr>
              <a:t>C</a:t>
            </a:r>
            <a:r>
              <a:rPr lang="en-US" altLang="zh-CN" baseline="-25000" dirty="0">
                <a:solidFill>
                  <a:schemeClr val="tx1"/>
                </a:solidFill>
              </a:rPr>
              <a:t>1,1</a:t>
            </a:r>
            <a:r>
              <a:rPr lang="en-US" altLang="zh-CN" dirty="0">
                <a:solidFill>
                  <a:schemeClr val="tx1"/>
                </a:solidFill>
              </a:rPr>
              <a:t> = </a:t>
            </a:r>
            <a:r>
              <a:rPr lang="en-US" altLang="zh-CN" i="1" dirty="0">
                <a:solidFill>
                  <a:schemeClr val="tx1"/>
                </a:solidFill>
              </a:rPr>
              <a:t>D</a:t>
            </a:r>
            <a:r>
              <a:rPr lang="en-US" altLang="zh-CN" baseline="-25000" dirty="0"/>
              <a:t>1</a:t>
            </a:r>
            <a:r>
              <a:rPr lang="en-US" altLang="zh-CN" baseline="-25000" dirty="0">
                <a:solidFill>
                  <a:schemeClr val="tx1"/>
                </a:solidFill>
              </a:rPr>
              <a:t>,0</a:t>
            </a:r>
            <a:r>
              <a:rPr lang="en-US" altLang="zh-CN" dirty="0">
                <a:solidFill>
                  <a:schemeClr val="tx1"/>
                </a:solidFill>
                <a:latin typeface="+mn-lt"/>
                <a:ea typeface="宋体" panose="02010600030101010101" pitchFamily="2" charset="-122"/>
              </a:rPr>
              <a:t>⊕</a:t>
            </a:r>
            <a:r>
              <a:rPr lang="en-US" altLang="zh-CN" i="1" dirty="0">
                <a:solidFill>
                  <a:schemeClr val="tx1"/>
                </a:solidFill>
              </a:rPr>
              <a:t>D</a:t>
            </a:r>
            <a:r>
              <a:rPr lang="en-US" altLang="zh-CN" baseline="-25000" dirty="0">
                <a:solidFill>
                  <a:schemeClr val="tx1"/>
                </a:solidFill>
              </a:rPr>
              <a:t>0,1</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solidFill>
                  <a:schemeClr val="tx1"/>
                </a:solidFill>
              </a:rPr>
              <a:t>3,3</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solidFill>
                  <a:schemeClr val="tx1"/>
                </a:solidFill>
              </a:rPr>
              <a:t>2,4</a:t>
            </a:r>
            <a:r>
              <a:rPr lang="en-US" altLang="zh-CN" dirty="0">
                <a:ea typeface="宋体" panose="02010600030101010101" pitchFamily="2" charset="-122"/>
              </a:rPr>
              <a:t>⊕S</a:t>
            </a:r>
            <a:endParaRPr lang="en-US" altLang="zh-CN" dirty="0">
              <a:solidFill>
                <a:schemeClr val="tx1"/>
              </a:solidFill>
            </a:endParaRPr>
          </a:p>
          <a:p>
            <a:pPr>
              <a:lnSpc>
                <a:spcPts val="3400"/>
              </a:lnSpc>
            </a:pPr>
            <a:r>
              <a:rPr lang="en-US" altLang="zh-CN" i="1" dirty="0">
                <a:solidFill>
                  <a:schemeClr val="tx1"/>
                </a:solidFill>
              </a:rPr>
              <a:t>C</a:t>
            </a:r>
            <a:r>
              <a:rPr lang="en-US" altLang="zh-CN" baseline="-25000" dirty="0">
                <a:solidFill>
                  <a:schemeClr val="tx1"/>
                </a:solidFill>
              </a:rPr>
              <a:t>2,1</a:t>
            </a:r>
            <a:r>
              <a:rPr lang="en-US" altLang="zh-CN" dirty="0">
                <a:solidFill>
                  <a:schemeClr val="tx1"/>
                </a:solidFill>
              </a:rPr>
              <a:t> = </a:t>
            </a:r>
            <a:r>
              <a:rPr lang="en-US" altLang="zh-CN" i="1" dirty="0">
                <a:solidFill>
                  <a:schemeClr val="tx1"/>
                </a:solidFill>
              </a:rPr>
              <a:t>D</a:t>
            </a:r>
            <a:r>
              <a:rPr lang="en-US" altLang="zh-CN" baseline="-25000" dirty="0"/>
              <a:t>2</a:t>
            </a:r>
            <a:r>
              <a:rPr lang="en-US" altLang="zh-CN" baseline="-25000" dirty="0">
                <a:solidFill>
                  <a:schemeClr val="tx1"/>
                </a:solidFill>
              </a:rPr>
              <a:t>,0</a:t>
            </a:r>
            <a:r>
              <a:rPr lang="en-US" altLang="zh-CN" dirty="0">
                <a:solidFill>
                  <a:schemeClr val="tx1"/>
                </a:solidFill>
                <a:latin typeface="+mn-lt"/>
                <a:ea typeface="宋体" panose="02010600030101010101" pitchFamily="2" charset="-122"/>
              </a:rPr>
              <a:t>⊕</a:t>
            </a:r>
            <a:r>
              <a:rPr lang="en-US" altLang="zh-CN" i="1" dirty="0">
                <a:solidFill>
                  <a:schemeClr val="tx1"/>
                </a:solidFill>
              </a:rPr>
              <a:t>D</a:t>
            </a:r>
            <a:r>
              <a:rPr lang="en-US" altLang="zh-CN" baseline="-25000" dirty="0">
                <a:solidFill>
                  <a:schemeClr val="tx1"/>
                </a:solidFill>
              </a:rPr>
              <a:t>1,1</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solidFill>
                  <a:schemeClr val="tx1"/>
                </a:solidFill>
              </a:rPr>
              <a:t>0,2</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solidFill>
                  <a:schemeClr val="tx1"/>
                </a:solidFill>
              </a:rPr>
              <a:t>3,4</a:t>
            </a:r>
            <a:r>
              <a:rPr lang="en-US" altLang="zh-CN" dirty="0">
                <a:ea typeface="宋体" panose="02010600030101010101" pitchFamily="2" charset="-122"/>
              </a:rPr>
              <a:t>⊕S</a:t>
            </a:r>
            <a:endParaRPr lang="en-US" altLang="zh-CN" dirty="0">
              <a:solidFill>
                <a:schemeClr val="tx1"/>
              </a:solidFill>
            </a:endParaRPr>
          </a:p>
          <a:p>
            <a:pPr>
              <a:lnSpc>
                <a:spcPts val="3400"/>
              </a:lnSpc>
            </a:pPr>
            <a:r>
              <a:rPr lang="en-US" altLang="zh-CN" i="1" dirty="0">
                <a:solidFill>
                  <a:schemeClr val="tx1"/>
                </a:solidFill>
              </a:rPr>
              <a:t>C</a:t>
            </a:r>
            <a:r>
              <a:rPr lang="en-US" altLang="zh-CN" baseline="-25000" dirty="0">
                <a:solidFill>
                  <a:schemeClr val="tx1"/>
                </a:solidFill>
              </a:rPr>
              <a:t>3,1</a:t>
            </a:r>
            <a:r>
              <a:rPr lang="en-US" altLang="zh-CN" dirty="0">
                <a:solidFill>
                  <a:schemeClr val="tx1"/>
                </a:solidFill>
              </a:rPr>
              <a:t> = </a:t>
            </a:r>
            <a:r>
              <a:rPr lang="en-US" altLang="zh-CN" i="1" dirty="0">
                <a:solidFill>
                  <a:schemeClr val="tx1"/>
                </a:solidFill>
              </a:rPr>
              <a:t>D</a:t>
            </a:r>
            <a:r>
              <a:rPr lang="en-US" altLang="zh-CN" baseline="-25000" dirty="0"/>
              <a:t>3</a:t>
            </a:r>
            <a:r>
              <a:rPr lang="en-US" altLang="zh-CN" baseline="-25000" dirty="0">
                <a:solidFill>
                  <a:schemeClr val="tx1"/>
                </a:solidFill>
              </a:rPr>
              <a:t>,0</a:t>
            </a:r>
            <a:r>
              <a:rPr lang="en-US" altLang="zh-CN" dirty="0">
                <a:solidFill>
                  <a:schemeClr val="tx1"/>
                </a:solidFill>
                <a:latin typeface="+mn-lt"/>
                <a:ea typeface="宋体" panose="02010600030101010101" pitchFamily="2" charset="-122"/>
              </a:rPr>
              <a:t>⊕</a:t>
            </a:r>
            <a:r>
              <a:rPr lang="en-US" altLang="zh-CN" i="1" dirty="0">
                <a:solidFill>
                  <a:schemeClr val="tx1"/>
                </a:solidFill>
              </a:rPr>
              <a:t>D</a:t>
            </a:r>
            <a:r>
              <a:rPr lang="en-US" altLang="zh-CN" baseline="-25000" dirty="0">
                <a:solidFill>
                  <a:schemeClr val="tx1"/>
                </a:solidFill>
              </a:rPr>
              <a:t>2,1</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solidFill>
                  <a:schemeClr val="tx1"/>
                </a:solidFill>
              </a:rPr>
              <a:t>1,2</a:t>
            </a:r>
            <a:r>
              <a:rPr lang="en-US" altLang="zh-CN" dirty="0">
                <a:solidFill>
                  <a:schemeClr val="tx1"/>
                </a:solidFill>
                <a:latin typeface="+mn-lt"/>
                <a:ea typeface="宋体" panose="02010600030101010101" pitchFamily="2" charset="-122"/>
              </a:rPr>
              <a:t> ⊕</a:t>
            </a:r>
            <a:r>
              <a:rPr lang="en-US" altLang="zh-CN" i="1" dirty="0">
                <a:solidFill>
                  <a:schemeClr val="tx1"/>
                </a:solidFill>
              </a:rPr>
              <a:t>D</a:t>
            </a:r>
            <a:r>
              <a:rPr lang="en-US" altLang="zh-CN" baseline="-25000" dirty="0">
                <a:solidFill>
                  <a:schemeClr val="tx1"/>
                </a:solidFill>
              </a:rPr>
              <a:t>0,3</a:t>
            </a:r>
            <a:r>
              <a:rPr lang="en-US" altLang="zh-CN" dirty="0">
                <a:ea typeface="宋体" panose="02010600030101010101" pitchFamily="2" charset="-122"/>
              </a:rPr>
              <a:t>⊕S</a:t>
            </a:r>
            <a:endParaRPr lang="en-US" altLang="zh-CN" dirty="0">
              <a:solidFill>
                <a:schemeClr val="tx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EVENODD</a:t>
            </a:r>
            <a:r>
              <a:rPr lang="zh-CN" altLang="en-US" sz="2400" dirty="0">
                <a:sym typeface="+mn-ea"/>
              </a:rPr>
              <a:t>码解码过程</a:t>
            </a:r>
            <a:endParaRPr lang="zh-CN" altLang="en-US" sz="2400" dirty="0">
              <a:sym typeface="+mn-ea"/>
            </a:endParaRPr>
          </a:p>
        </p:txBody>
      </p:sp>
      <mc:AlternateContent xmlns:mc="http://schemas.openxmlformats.org/markup-compatibility/2006">
        <mc:Choice xmlns:a14="http://schemas.microsoft.com/office/drawing/2010/main" Requires="a14">
          <p:sp>
            <p:nvSpPr>
              <p:cNvPr id="14" name="文本框 13"/>
              <p:cNvSpPr txBox="1"/>
              <p:nvPr/>
            </p:nvSpPr>
            <p:spPr>
              <a:xfrm>
                <a:off x="287129" y="1102177"/>
                <a:ext cx="8305582" cy="469160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t>        在这里介绍的是</a:t>
                </a:r>
                <a:r>
                  <a:rPr lang="en-US" altLang="zh-CN" dirty="0">
                    <a:solidFill>
                      <a:srgbClr val="FF0000"/>
                    </a:solidFill>
                  </a:rPr>
                  <a:t>EVENODD</a:t>
                </a:r>
                <a:r>
                  <a:rPr lang="zh-CN" altLang="en-US" dirty="0">
                    <a:solidFill>
                      <a:srgbClr val="FF0000"/>
                    </a:solidFill>
                  </a:rPr>
                  <a:t>双列删错的译码算法</a:t>
                </a:r>
                <a:r>
                  <a:rPr lang="zh-CN" altLang="en-US" dirty="0"/>
                  <a:t>，在译码过程中只需要简单的异或操作。</a:t>
                </a:r>
                <a:endParaRPr lang="en-US" altLang="zh-CN" dirty="0"/>
              </a:p>
              <a:p>
                <a:pPr>
                  <a:lnSpc>
                    <a:spcPts val="3600"/>
                  </a:lnSpc>
                </a:pPr>
                <a:r>
                  <a:rPr lang="zh-CN" altLang="en-US" dirty="0"/>
                  <a:t>        假定数据块</a:t>
                </a:r>
                <a:r>
                  <a:rPr lang="en-US" altLang="zh-CN" dirty="0" err="1"/>
                  <a:t>i</a:t>
                </a:r>
                <a:r>
                  <a:rPr lang="zh-CN" altLang="en-US" dirty="0"/>
                  <a:t>和</a:t>
                </a:r>
                <a:r>
                  <a:rPr lang="en-US" altLang="zh-CN" dirty="0"/>
                  <a:t>j</a:t>
                </a:r>
                <a:r>
                  <a:rPr lang="zh-CN" altLang="en-US" dirty="0"/>
                  <a:t>损坏，</a:t>
                </a:r>
                <a:r>
                  <a:rPr lang="en-US" altLang="zh-CN" dirty="0"/>
                  <a:t>0</a:t>
                </a:r>
                <a:r>
                  <a:rPr lang="zh-CN" altLang="en-US" dirty="0"/>
                  <a:t>≤</a:t>
                </a:r>
                <a:r>
                  <a:rPr lang="en-US" altLang="zh-CN" i="1" dirty="0" err="1"/>
                  <a:t>i</a:t>
                </a:r>
                <a:r>
                  <a:rPr lang="en-US" altLang="zh-CN" dirty="0"/>
                  <a:t>&lt;</a:t>
                </a:r>
                <a:r>
                  <a:rPr lang="en-US" altLang="zh-CN" i="1" dirty="0"/>
                  <a:t>j</a:t>
                </a:r>
                <a:r>
                  <a:rPr lang="zh-CN" altLang="en-US" dirty="0"/>
                  <a:t>≤</a:t>
                </a:r>
                <a:r>
                  <a:rPr lang="en-US" altLang="zh-CN" i="1" dirty="0"/>
                  <a:t>p</a:t>
                </a:r>
                <a:r>
                  <a:rPr lang="en-US" altLang="zh-CN" dirty="0"/>
                  <a:t>+1</a:t>
                </a:r>
                <a:r>
                  <a:rPr lang="zh-CN" altLang="en-US" dirty="0"/>
                  <a:t>，假设数据块的排列从左到右是</a:t>
                </a:r>
                <a:r>
                  <a:rPr lang="en-US" altLang="zh-CN" dirty="0"/>
                  <a:t>0~</a:t>
                </a:r>
                <a:r>
                  <a:rPr lang="en-US" altLang="zh-CN" i="1" dirty="0"/>
                  <a:t>p</a:t>
                </a:r>
                <a:r>
                  <a:rPr lang="en-US" altLang="zh-CN" dirty="0"/>
                  <a:t>+1</a:t>
                </a:r>
                <a:r>
                  <a:rPr lang="zh-CN" altLang="en-US" dirty="0"/>
                  <a:t>，其中</a:t>
                </a:r>
                <a:r>
                  <a:rPr lang="en-US" altLang="zh-CN" dirty="0"/>
                  <a:t>0~</a:t>
                </a:r>
                <a:r>
                  <a:rPr lang="en-US" altLang="zh-CN" i="1" dirty="0"/>
                  <a:t>p</a:t>
                </a:r>
                <a:r>
                  <a:rPr lang="en-US" altLang="zh-CN" dirty="0"/>
                  <a:t>-1</a:t>
                </a:r>
                <a:r>
                  <a:rPr lang="zh-CN" altLang="en-US" dirty="0"/>
                  <a:t>列为用户数据块，</a:t>
                </a:r>
                <a:r>
                  <a:rPr lang="en-US" altLang="zh-CN" i="1" dirty="0"/>
                  <a:t>p</a:t>
                </a:r>
                <a:r>
                  <a:rPr lang="zh-CN" altLang="en-US" dirty="0"/>
                  <a:t>、</a:t>
                </a:r>
                <a:r>
                  <a:rPr lang="en-US" altLang="zh-CN" i="1" dirty="0"/>
                  <a:t>p</a:t>
                </a:r>
                <a:r>
                  <a:rPr lang="en-US" altLang="zh-CN" dirty="0"/>
                  <a:t>+1</a:t>
                </a:r>
                <a:r>
                  <a:rPr lang="zh-CN" altLang="en-US" dirty="0"/>
                  <a:t>列为校验块。</a:t>
                </a:r>
                <a:endParaRPr lang="en-US" altLang="zh-CN" dirty="0"/>
              </a:p>
              <a:p>
                <a:pPr>
                  <a:lnSpc>
                    <a:spcPts val="3600"/>
                  </a:lnSpc>
                </a:pPr>
                <a:r>
                  <a:rPr lang="en-US" altLang="zh-CN" dirty="0"/>
                  <a:t>        </a:t>
                </a:r>
                <a:r>
                  <a:rPr lang="en-US" altLang="zh-CN" sz="2000" dirty="0">
                    <a:latin typeface="+mn-lt"/>
                    <a:ea typeface="黑体" panose="02010609060101010101" pitchFamily="49" charset="-122"/>
                  </a:rPr>
                  <a:t>(1)</a:t>
                </a:r>
                <a:r>
                  <a:rPr lang="en-US" altLang="zh-CN" sz="2000" i="1" dirty="0" err="1">
                    <a:latin typeface="+mn-lt"/>
                    <a:ea typeface="黑体" panose="02010609060101010101" pitchFamily="49" charset="-122"/>
                  </a:rPr>
                  <a:t>i</a:t>
                </a:r>
                <a:r>
                  <a:rPr lang="en-US" altLang="zh-CN" sz="2000" i="1" dirty="0">
                    <a:latin typeface="+mn-lt"/>
                    <a:ea typeface="黑体" panose="02010609060101010101" pitchFamily="49" charset="-122"/>
                  </a:rPr>
                  <a:t>=</a:t>
                </a:r>
                <a:r>
                  <a:rPr lang="en-US" altLang="zh-CN" sz="2000" i="1" dirty="0" err="1">
                    <a:latin typeface="+mn-lt"/>
                    <a:ea typeface="黑体" panose="02010609060101010101" pitchFamily="49" charset="-122"/>
                  </a:rPr>
                  <a:t>p,j</a:t>
                </a:r>
                <a:r>
                  <a:rPr lang="en-US" altLang="zh-CN" sz="2000" i="1" dirty="0">
                    <a:latin typeface="+mn-lt"/>
                    <a:ea typeface="黑体" panose="02010609060101010101" pitchFamily="49" charset="-122"/>
                  </a:rPr>
                  <a:t>=p+</a:t>
                </a:r>
                <a:r>
                  <a:rPr lang="en-US" altLang="zh-CN" sz="2000" dirty="0">
                    <a:latin typeface="+mn-lt"/>
                    <a:ea typeface="黑体" panose="02010609060101010101" pitchFamily="49" charset="-122"/>
                  </a:rPr>
                  <a:t>1,</a:t>
                </a:r>
                <a:r>
                  <a:rPr lang="zh-CN" altLang="en-US" sz="2000" dirty="0">
                    <a:solidFill>
                      <a:schemeClr val="accent1">
                        <a:lumMod val="75000"/>
                      </a:schemeClr>
                    </a:solidFill>
                    <a:latin typeface="+mn-lt"/>
                    <a:ea typeface="黑体" panose="02010609060101010101" pitchFamily="49" charset="-122"/>
                  </a:rPr>
                  <a:t>两个检验数据块损坏</a:t>
                </a:r>
                <a:r>
                  <a:rPr lang="zh-CN" altLang="en-US" sz="2000" dirty="0">
                    <a:latin typeface="+mn-lt"/>
                    <a:ea typeface="黑体" panose="02010609060101010101" pitchFamily="49" charset="-122"/>
                  </a:rPr>
                  <a:t>，数据恢复方式是重新编码。</a:t>
                </a:r>
                <a:endParaRPr lang="en-US" altLang="zh-CN" sz="2000" dirty="0">
                  <a:latin typeface="+mn-lt"/>
                  <a:ea typeface="黑体" panose="02010609060101010101" pitchFamily="49" charset="-122"/>
                </a:endParaRPr>
              </a:p>
              <a:p>
                <a:pPr>
                  <a:lnSpc>
                    <a:spcPts val="3600"/>
                  </a:lnSpc>
                </a:pPr>
                <a:r>
                  <a:rPr lang="en-US" altLang="zh-CN" sz="2000" dirty="0">
                    <a:latin typeface="+mn-lt"/>
                    <a:ea typeface="黑体" panose="02010609060101010101" pitchFamily="49" charset="-122"/>
                  </a:rPr>
                  <a:t>        (2)</a:t>
                </a:r>
                <a:r>
                  <a:rPr lang="en-US" altLang="zh-CN" sz="2000" i="1" dirty="0" err="1">
                    <a:latin typeface="+mn-lt"/>
                    <a:ea typeface="黑体" panose="02010609060101010101" pitchFamily="49" charset="-122"/>
                  </a:rPr>
                  <a:t>i</a:t>
                </a:r>
                <a:r>
                  <a:rPr lang="en-US" altLang="zh-CN" sz="2000" dirty="0">
                    <a:latin typeface="+mn-lt"/>
                    <a:ea typeface="黑体" panose="02010609060101010101" pitchFamily="49" charset="-122"/>
                  </a:rPr>
                  <a:t>&lt;</a:t>
                </a:r>
                <a:r>
                  <a:rPr lang="en-US" altLang="zh-CN" sz="2000" i="1" dirty="0" err="1">
                    <a:latin typeface="+mn-lt"/>
                    <a:ea typeface="黑体" panose="02010609060101010101" pitchFamily="49" charset="-122"/>
                  </a:rPr>
                  <a:t>p,j</a:t>
                </a:r>
                <a:r>
                  <a:rPr lang="en-US" altLang="zh-CN" sz="2000" i="1" dirty="0">
                    <a:latin typeface="+mn-lt"/>
                    <a:ea typeface="黑体" panose="02010609060101010101" pitchFamily="49" charset="-122"/>
                  </a:rPr>
                  <a:t>=p</a:t>
                </a:r>
                <a:r>
                  <a:rPr lang="en-US" altLang="zh-CN" sz="2000" dirty="0">
                    <a:latin typeface="+mn-lt"/>
                    <a:ea typeface="黑体" panose="02010609060101010101" pitchFamily="49" charset="-122"/>
                  </a:rPr>
                  <a:t>+1,</a:t>
                </a:r>
                <a:r>
                  <a:rPr lang="zh-CN" altLang="en-US" sz="2000" dirty="0">
                    <a:solidFill>
                      <a:schemeClr val="accent1">
                        <a:lumMod val="75000"/>
                      </a:schemeClr>
                    </a:solidFill>
                    <a:latin typeface="+mn-lt"/>
                    <a:ea typeface="黑体" panose="02010609060101010101" pitchFamily="49" charset="-122"/>
                  </a:rPr>
                  <a:t>一个用户数据块和一个校验块损坏</a:t>
                </a:r>
                <a:r>
                  <a:rPr lang="zh-CN" altLang="en-US" sz="2000" dirty="0">
                    <a:latin typeface="+mn-lt"/>
                    <a:ea typeface="黑体" panose="02010609060101010101" pitchFamily="49" charset="-122"/>
                  </a:rPr>
                  <a:t>，恢复用户数据块</a:t>
                </a:r>
                <a:r>
                  <a:rPr lang="en-US" altLang="zh-CN" sz="2000" dirty="0" err="1">
                    <a:latin typeface="+mn-lt"/>
                    <a:ea typeface="黑体" panose="02010609060101010101" pitchFamily="49" charset="-122"/>
                  </a:rPr>
                  <a:t>i</a:t>
                </a:r>
                <a:r>
                  <a:rPr lang="zh-CN" altLang="en-US" sz="2000" dirty="0">
                    <a:latin typeface="+mn-lt"/>
                    <a:ea typeface="黑体" panose="02010609060101010101" pitchFamily="49" charset="-122"/>
                  </a:rPr>
                  <a:t>是通过参数</a:t>
                </a:r>
                <a:r>
                  <a:rPr lang="en-US" altLang="zh-CN" sz="2000" i="1" dirty="0">
                    <a:latin typeface="+mn-lt"/>
                    <a:ea typeface="黑体" panose="02010609060101010101" pitchFamily="49" charset="-122"/>
                  </a:rPr>
                  <a:t>S</a:t>
                </a:r>
                <a:r>
                  <a:rPr lang="zh-CN" altLang="en-US" sz="2000" dirty="0">
                    <a:latin typeface="+mn-lt"/>
                    <a:ea typeface="黑体" panose="02010609060101010101" pitchFamily="49" charset="-122"/>
                  </a:rPr>
                  <a:t>进行恢复，即</a:t>
                </a:r>
                <a:endParaRPr lang="en-US" altLang="zh-CN" sz="2000" dirty="0">
                  <a:latin typeface="+mn-lt"/>
                  <a:ea typeface="黑体" panose="02010609060101010101" pitchFamily="49" charset="-122"/>
                </a:endParaRPr>
              </a:p>
              <a:p>
                <a:pPr>
                  <a:lnSpc>
                    <a:spcPts val="3600"/>
                  </a:lnSpc>
                </a:pPr>
                <a:r>
                  <a:rPr lang="en-US" altLang="zh-CN" dirty="0">
                    <a:latin typeface="+mn-lt"/>
                  </a:rPr>
                  <a:t>                       </a:t>
                </a:r>
                <a:r>
                  <a:rPr lang="en-US" altLang="zh-CN" i="1" dirty="0">
                    <a:latin typeface="+mn-lt"/>
                  </a:rPr>
                  <a:t>S</a:t>
                </a:r>
                <a:r>
                  <a:rPr lang="en-US" altLang="zh-CN" dirty="0">
                    <a:latin typeface="+mn-lt"/>
                  </a:rPr>
                  <a:t> = </a:t>
                </a:r>
                <a:r>
                  <a:rPr lang="en-US" altLang="zh-CN" i="1" dirty="0">
                    <a:latin typeface="+mn-lt"/>
                  </a:rPr>
                  <a:t>D</a:t>
                </a:r>
                <a:r>
                  <a:rPr lang="en-US" altLang="zh-CN" i="1" baseline="-25000" dirty="0">
                    <a:latin typeface="+mn-lt"/>
                  </a:rPr>
                  <a:t>&lt;i-1&gt;p,p</a:t>
                </a:r>
                <a:r>
                  <a:rPr lang="en-US" altLang="zh-CN" baseline="-25000" dirty="0">
                    <a:latin typeface="+mn-lt"/>
                  </a:rPr>
                  <a:t>+1</a:t>
                </a:r>
                <a:r>
                  <a:rPr lang="en-US" altLang="zh-CN" dirty="0">
                    <a:solidFill>
                      <a:schemeClr val="tx1"/>
                    </a:solidFill>
                    <a:latin typeface="+mn-lt"/>
                    <a:ea typeface="宋体" panose="02010600030101010101" pitchFamily="2" charset="-122"/>
                  </a:rPr>
                  <a:t>⊕(</a:t>
                </a:r>
                <a14:m>
                  <m:oMath xmlns:m="http://schemas.openxmlformats.org/officeDocument/2006/math">
                    <m:sSubSup>
                      <m:sSubSupPr>
                        <m:ctrlPr>
                          <a:rPr lang="en-US" altLang="zh-CN" i="1" smtClean="0">
                            <a:solidFill>
                              <a:schemeClr val="tx1"/>
                            </a:solidFill>
                            <a:latin typeface="Cambria Math" panose="02040503050406030204" pitchFamily="18" charset="0"/>
                            <a:ea typeface="宋体" panose="02010600030101010101" pitchFamily="2" charset="-122"/>
                          </a:rPr>
                        </m:ctrlPr>
                      </m:sSubSupPr>
                      <m:e>
                        <m:r>
                          <m:rPr>
                            <m:nor/>
                          </m:rPr>
                          <a:rPr lang="en-US" altLang="zh-CN" dirty="0">
                            <a:solidFill>
                              <a:schemeClr val="tx1"/>
                            </a:solidFill>
                            <a:latin typeface="Cambria Math" panose="02040503050406030204" pitchFamily="18" charset="0"/>
                            <a:ea typeface="宋体" panose="02010600030101010101" pitchFamily="2" charset="-122"/>
                          </a:rPr>
                          <m:t>⊕</m:t>
                        </m:r>
                      </m:e>
                      <m:sub>
                        <m:r>
                          <a:rPr lang="en-US" altLang="zh-CN" b="0" i="1" dirty="0" smtClean="0">
                            <a:solidFill>
                              <a:schemeClr val="tx1"/>
                            </a:solidFill>
                            <a:latin typeface="Cambria Math" panose="02040503050406030204" pitchFamily="18" charset="0"/>
                            <a:ea typeface="宋体" panose="02010600030101010101" pitchFamily="2" charset="-122"/>
                          </a:rPr>
                          <m:t>𝑙</m:t>
                        </m:r>
                        <m:r>
                          <a:rPr lang="en-US" altLang="zh-CN" b="0" i="0" smtClean="0">
                            <a:solidFill>
                              <a:schemeClr val="tx1"/>
                            </a:solidFill>
                            <a:latin typeface="Cambria Math" panose="02040503050406030204" pitchFamily="18" charset="0"/>
                            <a:ea typeface="宋体" panose="02010600030101010101" pitchFamily="2" charset="-122"/>
                          </a:rPr>
                          <m:t>=</m:t>
                        </m:r>
                        <m:r>
                          <a:rPr lang="en-US" altLang="zh-CN" b="0" i="0" smtClean="0">
                            <a:solidFill>
                              <a:schemeClr val="tx1"/>
                            </a:solidFill>
                            <a:latin typeface="Cambria Math" panose="02040503050406030204" pitchFamily="18" charset="0"/>
                            <a:ea typeface="宋体" panose="02010600030101010101" pitchFamily="2" charset="-122"/>
                          </a:rPr>
                          <m:t>0</m:t>
                        </m:r>
                      </m:sub>
                      <m:sup>
                        <m:r>
                          <a:rPr lang="en-US" altLang="zh-CN" i="1">
                            <a:solidFill>
                              <a:schemeClr val="tx1"/>
                            </a:solidFill>
                            <a:latin typeface="Cambria Math" panose="02040503050406030204" pitchFamily="18" charset="0"/>
                            <a:ea typeface="宋体" panose="02010600030101010101" pitchFamily="2" charset="-122"/>
                          </a:rPr>
                          <m:t>𝑝</m:t>
                        </m:r>
                        <m:r>
                          <a:rPr lang="en-US" altLang="zh-CN" b="0" i="0" smtClean="0">
                            <a:solidFill>
                              <a:schemeClr val="tx1"/>
                            </a:solidFill>
                            <a:latin typeface="Cambria Math" panose="02040503050406030204" pitchFamily="18" charset="0"/>
                            <a:ea typeface="宋体" panose="02010600030101010101" pitchFamily="2" charset="-122"/>
                          </a:rPr>
                          <m:t>−</m:t>
                        </m:r>
                        <m:r>
                          <a:rPr lang="en-US" altLang="zh-CN" b="0" i="0" smtClean="0">
                            <a:solidFill>
                              <a:schemeClr val="tx1"/>
                            </a:solidFill>
                            <a:latin typeface="Cambria Math" panose="02040503050406030204" pitchFamily="18" charset="0"/>
                            <a:ea typeface="宋体" panose="02010600030101010101" pitchFamily="2" charset="-122"/>
                          </a:rPr>
                          <m:t>1</m:t>
                        </m:r>
                      </m:sup>
                    </m:sSubSup>
                  </m:oMath>
                </a14:m>
                <a:r>
                  <a:rPr lang="en-US" altLang="zh-CN" i="1" dirty="0"/>
                  <a:t>D</a:t>
                </a:r>
                <a:r>
                  <a:rPr lang="en-US" altLang="zh-CN" i="1" baseline="-25000" dirty="0"/>
                  <a:t>&lt;i-l-</a:t>
                </a:r>
                <a:r>
                  <a:rPr lang="en-US" altLang="zh-CN" baseline="-25000" dirty="0"/>
                  <a:t>1</a:t>
                </a:r>
                <a:r>
                  <a:rPr lang="en-US" altLang="zh-CN" i="1" baseline="-25000" dirty="0"/>
                  <a:t>&gt;</a:t>
                </a:r>
                <a:r>
                  <a:rPr lang="en-US" altLang="zh-CN" i="1" baseline="-25000" dirty="0" err="1"/>
                  <a:t>p,l</a:t>
                </a:r>
                <a:r>
                  <a:rPr lang="en-US" altLang="zh-CN" dirty="0"/>
                  <a:t>)                                              (4)</a:t>
                </a:r>
                <a:endParaRPr lang="en-US" altLang="zh-CN" dirty="0"/>
              </a:p>
              <a:p>
                <a:pPr>
                  <a:lnSpc>
                    <a:spcPts val="3600"/>
                  </a:lnSpc>
                </a:pPr>
                <a:r>
                  <a:rPr lang="zh-CN" altLang="en-US" dirty="0">
                    <a:latin typeface="+mn-lt"/>
                  </a:rPr>
                  <a:t>        假定</a:t>
                </a:r>
                <a:r>
                  <a:rPr lang="en-US" altLang="zh-CN" i="1" dirty="0">
                    <a:latin typeface="+mn-lt"/>
                  </a:rPr>
                  <a:t>D</a:t>
                </a:r>
                <a:r>
                  <a:rPr lang="en-US" altLang="zh-CN" i="1" baseline="-25000" dirty="0">
                    <a:latin typeface="+mn-lt"/>
                  </a:rPr>
                  <a:t>p</a:t>
                </a:r>
                <a:r>
                  <a:rPr lang="en-US" altLang="zh-CN" baseline="-25000" dirty="0">
                    <a:latin typeface="+mn-lt"/>
                  </a:rPr>
                  <a:t>-1,</a:t>
                </a:r>
                <a:r>
                  <a:rPr lang="en-US" altLang="zh-CN" i="1" baseline="-25000" dirty="0">
                    <a:latin typeface="+mn-lt"/>
                  </a:rPr>
                  <a:t>l</a:t>
                </a:r>
                <a:r>
                  <a:rPr lang="en-US" altLang="zh-CN" baseline="-25000" dirty="0">
                    <a:latin typeface="+mn-lt"/>
                  </a:rPr>
                  <a:t> </a:t>
                </a:r>
                <a:r>
                  <a:rPr lang="en-US" altLang="zh-CN" dirty="0">
                    <a:latin typeface="+mn-lt"/>
                  </a:rPr>
                  <a:t>=0,0</a:t>
                </a:r>
                <a:r>
                  <a:rPr lang="zh-CN" altLang="en-US" dirty="0"/>
                  <a:t> ≤</a:t>
                </a:r>
                <a:r>
                  <a:rPr lang="en-US" altLang="zh-CN" i="1" dirty="0"/>
                  <a:t>l</a:t>
                </a:r>
                <a:r>
                  <a:rPr lang="zh-CN" altLang="en-US" dirty="0"/>
                  <a:t> ≤</a:t>
                </a:r>
                <a:r>
                  <a:rPr lang="en-US" altLang="zh-CN" i="1" dirty="0"/>
                  <a:t>p</a:t>
                </a:r>
                <a:r>
                  <a:rPr lang="en-US" altLang="zh-CN" dirty="0"/>
                  <a:t>,</a:t>
                </a:r>
                <a:r>
                  <a:rPr lang="zh-CN" altLang="en-US" dirty="0"/>
                  <a:t>然后利用下式计算</a:t>
                </a:r>
                <a:r>
                  <a:rPr lang="en-US" altLang="zh-CN" dirty="0" err="1"/>
                  <a:t>i</a:t>
                </a:r>
                <a:r>
                  <a:rPr lang="zh-CN" altLang="en-US" dirty="0"/>
                  <a:t>数据块的信息：</a:t>
                </a:r>
                <a:endParaRPr lang="en-US" altLang="zh-CN" dirty="0"/>
              </a:p>
              <a:p>
                <a:pPr>
                  <a:lnSpc>
                    <a:spcPts val="3600"/>
                  </a:lnSpc>
                </a:pPr>
                <a:r>
                  <a:rPr lang="en-US" altLang="zh-CN" dirty="0">
                    <a:latin typeface="+mn-lt"/>
                  </a:rPr>
                  <a:t>                       </a:t>
                </a:r>
                <a:r>
                  <a:rPr lang="en-US" altLang="zh-CN" i="1" dirty="0" err="1">
                    <a:latin typeface="+mn-lt"/>
                  </a:rPr>
                  <a:t>D</a:t>
                </a:r>
                <a:r>
                  <a:rPr lang="en-US" altLang="zh-CN" i="1" baseline="-25000" dirty="0" err="1">
                    <a:latin typeface="+mn-lt"/>
                  </a:rPr>
                  <a:t>k,i</a:t>
                </a:r>
                <a:r>
                  <a:rPr lang="en-US" altLang="zh-CN" dirty="0">
                    <a:latin typeface="+mn-lt"/>
                  </a:rPr>
                  <a:t>=</a:t>
                </a:r>
                <a:r>
                  <a:rPr lang="en-US" altLang="zh-CN" i="1" dirty="0">
                    <a:latin typeface="+mn-lt"/>
                  </a:rPr>
                  <a:t>S</a:t>
                </a:r>
                <a:r>
                  <a:rPr lang="en-US" altLang="zh-CN" dirty="0">
                    <a:solidFill>
                      <a:schemeClr val="tx1"/>
                    </a:solidFill>
                    <a:latin typeface="+mn-lt"/>
                    <a:ea typeface="宋体" panose="02010600030101010101" pitchFamily="2" charset="-122"/>
                  </a:rPr>
                  <a:t>⊕</a:t>
                </a:r>
                <a:r>
                  <a:rPr lang="en-US" altLang="zh-CN" i="1" dirty="0">
                    <a:latin typeface="+mn-lt"/>
                  </a:rPr>
                  <a:t>D</a:t>
                </a:r>
                <a:r>
                  <a:rPr lang="en-US" altLang="zh-CN" i="1" baseline="-25000" dirty="0">
                    <a:latin typeface="+mn-lt"/>
                  </a:rPr>
                  <a:t>&lt;i-</a:t>
                </a:r>
                <a:r>
                  <a:rPr lang="en-US" altLang="zh-CN" baseline="-25000" dirty="0">
                    <a:latin typeface="+mn-lt"/>
                  </a:rPr>
                  <a:t>1</a:t>
                </a:r>
                <a:r>
                  <a:rPr lang="en-US" altLang="zh-CN" i="1" baseline="-25000" dirty="0">
                    <a:latin typeface="+mn-lt"/>
                  </a:rPr>
                  <a:t>&gt;p,p+</a:t>
                </a:r>
                <a:r>
                  <a:rPr lang="en-US" altLang="zh-CN" baseline="-25000" dirty="0">
                    <a:latin typeface="+mn-lt"/>
                  </a:rPr>
                  <a:t>1</a:t>
                </a:r>
                <a:r>
                  <a:rPr lang="en-US" altLang="zh-CN" dirty="0">
                    <a:solidFill>
                      <a:schemeClr val="tx1"/>
                    </a:solidFill>
                    <a:latin typeface="+mn-lt"/>
                    <a:ea typeface="宋体" panose="02010600030101010101" pitchFamily="2" charset="-122"/>
                  </a:rPr>
                  <a:t>⊕(</a:t>
                </a:r>
                <a14:m>
                  <m:oMath xmlns:m="http://schemas.openxmlformats.org/officeDocument/2006/math">
                    <m:sSubSup>
                      <m:sSubSupPr>
                        <m:ctrlPr>
                          <a:rPr lang="en-US" altLang="zh-CN" i="1" smtClean="0">
                            <a:solidFill>
                              <a:schemeClr val="tx1"/>
                            </a:solidFill>
                            <a:latin typeface="Cambria Math" panose="02040503050406030204" pitchFamily="18" charset="0"/>
                            <a:ea typeface="宋体" panose="02010600030101010101" pitchFamily="2" charset="-122"/>
                          </a:rPr>
                        </m:ctrlPr>
                      </m:sSubSupPr>
                      <m:e>
                        <m:r>
                          <m:rPr>
                            <m:nor/>
                          </m:rPr>
                          <a:rPr lang="en-US" altLang="zh-CN" dirty="0">
                            <a:solidFill>
                              <a:schemeClr val="tx1"/>
                            </a:solidFill>
                            <a:latin typeface="Cambria Math" panose="02040503050406030204" pitchFamily="18" charset="0"/>
                            <a:ea typeface="宋体" panose="02010600030101010101" pitchFamily="2" charset="-122"/>
                          </a:rPr>
                          <m:t>⊕</m:t>
                        </m:r>
                      </m:e>
                      <m:sub>
                        <m:r>
                          <a:rPr lang="en-US" altLang="zh-CN" b="0" i="1" dirty="0" smtClean="0">
                            <a:solidFill>
                              <a:schemeClr val="tx1"/>
                            </a:solidFill>
                            <a:latin typeface="Cambria Math" panose="02040503050406030204" pitchFamily="18" charset="0"/>
                            <a:ea typeface="宋体" panose="02010600030101010101" pitchFamily="2" charset="-122"/>
                          </a:rPr>
                          <m:t>𝑙</m:t>
                        </m:r>
                        <m:r>
                          <a:rPr lang="en-US" altLang="zh-CN" b="0" i="1" smtClean="0">
                            <a:solidFill>
                              <a:schemeClr val="tx1"/>
                            </a:solidFill>
                            <a:latin typeface="Cambria Math" panose="02040503050406030204" pitchFamily="18" charset="0"/>
                            <a:ea typeface="宋体" panose="02010600030101010101" pitchFamily="2" charset="-122"/>
                          </a:rPr>
                          <m:t>=</m:t>
                        </m:r>
                        <m:r>
                          <a:rPr lang="en-US" altLang="zh-CN" b="0" i="1" smtClean="0">
                            <a:solidFill>
                              <a:schemeClr val="tx1"/>
                            </a:solidFill>
                            <a:latin typeface="Cambria Math" panose="02040503050406030204" pitchFamily="18" charset="0"/>
                            <a:ea typeface="宋体" panose="02010600030101010101" pitchFamily="2" charset="-122"/>
                          </a:rPr>
                          <m:t>0</m:t>
                        </m:r>
                        <m:r>
                          <a:rPr lang="en-US" altLang="zh-CN" b="0" i="1" smtClean="0">
                            <a:solidFill>
                              <a:schemeClr val="tx1"/>
                            </a:solidFill>
                            <a:latin typeface="Cambria Math" panose="02040503050406030204" pitchFamily="18" charset="0"/>
                            <a:ea typeface="宋体" panose="02010600030101010101" pitchFamily="2" charset="-122"/>
                          </a:rPr>
                          <m:t>,</m:t>
                        </m:r>
                        <m:r>
                          <a:rPr lang="en-US" altLang="zh-CN" b="0" i="1" smtClean="0">
                            <a:solidFill>
                              <a:schemeClr val="tx1"/>
                            </a:solidFill>
                            <a:latin typeface="Cambria Math" panose="02040503050406030204" pitchFamily="18" charset="0"/>
                            <a:ea typeface="宋体" panose="02010600030101010101" pitchFamily="2" charset="-122"/>
                          </a:rPr>
                          <m:t>𝑙</m:t>
                        </m:r>
                        <m:r>
                          <a:rPr lang="zh-CN" altLang="en-US" i="1">
                            <a:latin typeface="Cambria Math" panose="02040503050406030204" pitchFamily="18" charset="0"/>
                            <a:ea typeface="宋体" panose="02010600030101010101" pitchFamily="2" charset="-122"/>
                          </a:rPr>
                          <m:t>≠</m:t>
                        </m:r>
                        <m:r>
                          <a:rPr lang="en-US" altLang="zh-CN" i="1" smtClean="0">
                            <a:latin typeface="Cambria Math" panose="02040503050406030204" pitchFamily="18" charset="0"/>
                            <a:ea typeface="宋体" panose="02010600030101010101" pitchFamily="2" charset="-122"/>
                          </a:rPr>
                          <m:t>𝑖</m:t>
                        </m:r>
                      </m:sub>
                      <m:sup>
                        <m:r>
                          <a:rPr lang="en-US" altLang="zh-CN" i="1">
                            <a:solidFill>
                              <a:schemeClr val="tx1"/>
                            </a:solidFill>
                            <a:latin typeface="Cambria Math" panose="02040503050406030204" pitchFamily="18" charset="0"/>
                            <a:ea typeface="宋体" panose="02010600030101010101" pitchFamily="2" charset="-122"/>
                          </a:rPr>
                          <m:t>𝑝</m:t>
                        </m:r>
                        <m:r>
                          <a:rPr lang="en-US" altLang="zh-CN" b="0" i="0" smtClean="0">
                            <a:solidFill>
                              <a:schemeClr val="tx1"/>
                            </a:solidFill>
                            <a:latin typeface="Cambria Math" panose="02040503050406030204" pitchFamily="18" charset="0"/>
                            <a:ea typeface="宋体" panose="02010600030101010101" pitchFamily="2" charset="-122"/>
                          </a:rPr>
                          <m:t>−</m:t>
                        </m:r>
                        <m:r>
                          <a:rPr lang="en-US" altLang="zh-CN" b="0" i="1" smtClean="0">
                            <a:solidFill>
                              <a:schemeClr val="tx1"/>
                            </a:solidFill>
                            <a:latin typeface="Cambria Math" panose="02040503050406030204" pitchFamily="18" charset="0"/>
                            <a:ea typeface="宋体" panose="02010600030101010101" pitchFamily="2" charset="-122"/>
                          </a:rPr>
                          <m:t>1</m:t>
                        </m:r>
                      </m:sup>
                    </m:sSubSup>
                  </m:oMath>
                </a14:m>
                <a:r>
                  <a:rPr lang="en-US" altLang="zh-CN" dirty="0"/>
                  <a:t> </a:t>
                </a:r>
                <a:r>
                  <a:rPr lang="en-US" altLang="zh-CN" i="1" dirty="0"/>
                  <a:t>D</a:t>
                </a:r>
                <a:r>
                  <a:rPr lang="en-US" altLang="zh-CN" i="1" baseline="-25000" dirty="0"/>
                  <a:t>&lt;</a:t>
                </a:r>
                <a:r>
                  <a:rPr lang="en-US" altLang="zh-CN" i="1" baseline="-25000" dirty="0" err="1"/>
                  <a:t>k+i-l</a:t>
                </a:r>
                <a:r>
                  <a:rPr lang="en-US" altLang="zh-CN" i="1" baseline="-25000" dirty="0"/>
                  <a:t>&gt;</a:t>
                </a:r>
                <a:r>
                  <a:rPr lang="en-US" altLang="zh-CN" i="1" baseline="-25000" dirty="0" err="1"/>
                  <a:t>p,l</a:t>
                </a:r>
                <a:r>
                  <a:rPr lang="en-US" altLang="zh-CN" dirty="0"/>
                  <a:t>), 0</a:t>
                </a:r>
                <a:r>
                  <a:rPr lang="zh-CN" altLang="en-US" dirty="0"/>
                  <a:t> ≤</a:t>
                </a:r>
                <a:r>
                  <a:rPr lang="en-US" altLang="zh-CN" i="1" dirty="0"/>
                  <a:t>k</a:t>
                </a:r>
                <a:r>
                  <a:rPr lang="zh-CN" altLang="en-US" dirty="0"/>
                  <a:t> ≤</a:t>
                </a:r>
                <a:r>
                  <a:rPr lang="en-US" altLang="zh-CN" i="1" dirty="0"/>
                  <a:t>p</a:t>
                </a:r>
                <a:r>
                  <a:rPr lang="en-US" altLang="zh-CN" dirty="0"/>
                  <a:t>-2               (5)</a:t>
                </a:r>
                <a:endParaRPr lang="en-US" altLang="zh-CN" dirty="0">
                  <a:latin typeface="+mn-lt"/>
                </a:endParaRPr>
              </a:p>
            </p:txBody>
          </p:sp>
        </mc:Choice>
        <mc:Fallback>
          <p:sp>
            <p:nvSpPr>
              <p:cNvPr id="14" name="文本框 13"/>
              <p:cNvSpPr txBox="1">
                <a:spLocks noRot="1" noChangeAspect="1" noMove="1" noResize="1" noEditPoints="1" noAdjustHandles="1" noChangeArrowheads="1" noChangeShapeType="1" noTextEdit="1"/>
              </p:cNvSpPr>
              <p:nvPr/>
            </p:nvSpPr>
            <p:spPr>
              <a:xfrm>
                <a:off x="287129" y="1102177"/>
                <a:ext cx="8305582" cy="4691605"/>
              </a:xfrm>
              <a:prstGeom prst="rect">
                <a:avLst/>
              </a:prstGeom>
              <a:blipFill rotWithShape="1">
                <a:blip r:embed="rId1"/>
                <a:stretch>
                  <a:fillRect l="-1" t="-10" r="6" b="1"/>
                </a:stretch>
              </a:blipFill>
            </p:spPr>
            <p:txBody>
              <a:bodyPr/>
              <a:lstStyle/>
              <a:p>
                <a:r>
                  <a:rPr lang="zh-CN" altLang="en-US">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EVENODD</a:t>
            </a:r>
            <a:r>
              <a:rPr lang="zh-CN" altLang="en-US" sz="2400" dirty="0">
                <a:sym typeface="+mn-ea"/>
              </a:rPr>
              <a:t>码解码过程</a:t>
            </a:r>
            <a:endParaRPr lang="zh-CN" altLang="en-US" sz="2400" dirty="0">
              <a:sym typeface="+mn-ea"/>
            </a:endParaRPr>
          </a:p>
        </p:txBody>
      </p:sp>
      <mc:AlternateContent xmlns:mc="http://schemas.openxmlformats.org/markup-compatibility/2006">
        <mc:Choice xmlns:a14="http://schemas.microsoft.com/office/drawing/2010/main" Requires="a14">
          <p:sp>
            <p:nvSpPr>
              <p:cNvPr id="14" name="文本框 13"/>
              <p:cNvSpPr txBox="1"/>
              <p:nvPr/>
            </p:nvSpPr>
            <p:spPr>
              <a:xfrm>
                <a:off x="287129" y="1102177"/>
                <a:ext cx="8305582" cy="465056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t>        </a:t>
                </a:r>
                <a:r>
                  <a:rPr lang="en-US" altLang="zh-CN" sz="2000" dirty="0">
                    <a:latin typeface="+mn-lt"/>
                    <a:ea typeface="黑体" panose="02010609060101010101" pitchFamily="49" charset="-122"/>
                  </a:rPr>
                  <a:t>(3)</a:t>
                </a:r>
                <a:r>
                  <a:rPr lang="en-US" altLang="zh-CN" sz="2000" i="1" dirty="0" err="1">
                    <a:latin typeface="+mn-lt"/>
                    <a:ea typeface="黑体" panose="02010609060101010101" pitchFamily="49" charset="-122"/>
                  </a:rPr>
                  <a:t>i</a:t>
                </a:r>
                <a:r>
                  <a:rPr lang="en-US" altLang="zh-CN" sz="2000" i="1" dirty="0">
                    <a:latin typeface="+mn-lt"/>
                    <a:ea typeface="黑体" panose="02010609060101010101" pitchFamily="49" charset="-122"/>
                  </a:rPr>
                  <a:t>&lt;</a:t>
                </a:r>
                <a:r>
                  <a:rPr lang="en-US" altLang="zh-CN" sz="2000" i="1" dirty="0" err="1">
                    <a:latin typeface="+mn-lt"/>
                    <a:ea typeface="黑体" panose="02010609060101010101" pitchFamily="49" charset="-122"/>
                  </a:rPr>
                  <a:t>p,j</a:t>
                </a:r>
                <a:r>
                  <a:rPr lang="en-US" altLang="zh-CN" sz="2000" i="1" dirty="0">
                    <a:latin typeface="+mn-lt"/>
                    <a:ea typeface="黑体" panose="02010609060101010101" pitchFamily="49" charset="-122"/>
                  </a:rPr>
                  <a:t>=p</a:t>
                </a:r>
                <a:r>
                  <a:rPr lang="en-US" altLang="zh-CN" sz="2000" dirty="0">
                    <a:latin typeface="+mn-lt"/>
                    <a:ea typeface="黑体" panose="02010609060101010101" pitchFamily="49" charset="-122"/>
                  </a:rPr>
                  <a:t>,</a:t>
                </a:r>
                <a:r>
                  <a:rPr lang="zh-CN" altLang="en-US" sz="2000" dirty="0">
                    <a:solidFill>
                      <a:schemeClr val="accent1">
                        <a:lumMod val="75000"/>
                      </a:schemeClr>
                    </a:solidFill>
                    <a:latin typeface="+mn-lt"/>
                    <a:ea typeface="黑体" panose="02010609060101010101" pitchFamily="49" charset="-122"/>
                  </a:rPr>
                  <a:t>一个用户数据块和一个校验块损坏</a:t>
                </a:r>
                <a:r>
                  <a:rPr lang="zh-CN" altLang="en-US" sz="2000" dirty="0">
                    <a:latin typeface="+mn-lt"/>
                    <a:ea typeface="黑体" panose="02010609060101010101" pitchFamily="49" charset="-122"/>
                  </a:rPr>
                  <a:t>，用户数据块</a:t>
                </a:r>
                <a:r>
                  <a:rPr lang="en-US" altLang="zh-CN" sz="2000" dirty="0" err="1">
                    <a:latin typeface="+mn-lt"/>
                    <a:ea typeface="黑体" panose="02010609060101010101" pitchFamily="49" charset="-122"/>
                  </a:rPr>
                  <a:t>i</a:t>
                </a:r>
                <a:r>
                  <a:rPr lang="zh-CN" altLang="en-US" dirty="0">
                    <a:latin typeface="+mn-lt"/>
                  </a:rPr>
                  <a:t>可以根据平行校验数据块进行异或得到恢复</a:t>
                </a:r>
                <a:r>
                  <a:rPr lang="zh-CN" altLang="en-US" sz="2000" dirty="0">
                    <a:latin typeface="+mn-lt"/>
                    <a:ea typeface="黑体" panose="02010609060101010101" pitchFamily="49" charset="-122"/>
                  </a:rPr>
                  <a:t>，即</a:t>
                </a:r>
                <a:endParaRPr lang="en-US" altLang="zh-CN" sz="2000" dirty="0">
                  <a:latin typeface="+mn-lt"/>
                  <a:ea typeface="黑体" panose="02010609060101010101" pitchFamily="49" charset="-122"/>
                </a:endParaRPr>
              </a:p>
              <a:p>
                <a:pPr>
                  <a:lnSpc>
                    <a:spcPts val="3600"/>
                  </a:lnSpc>
                </a:pPr>
                <a:r>
                  <a:rPr lang="en-US" altLang="zh-CN" dirty="0">
                    <a:latin typeface="+mn-lt"/>
                  </a:rPr>
                  <a:t>                            </a:t>
                </a:r>
                <a:r>
                  <a:rPr lang="en-US" altLang="zh-CN" i="1" dirty="0" err="1">
                    <a:latin typeface="+mn-lt"/>
                  </a:rPr>
                  <a:t>D</a:t>
                </a:r>
                <a:r>
                  <a:rPr lang="en-US" altLang="zh-CN" i="1" baseline="-25000" dirty="0" err="1">
                    <a:latin typeface="+mn-lt"/>
                  </a:rPr>
                  <a:t>k,i</a:t>
                </a:r>
                <a:r>
                  <a:rPr lang="en-US" altLang="zh-CN" dirty="0">
                    <a:latin typeface="+mn-lt"/>
                  </a:rPr>
                  <a:t>=</a:t>
                </a:r>
                <a14:m>
                  <m:oMath xmlns:m="http://schemas.openxmlformats.org/officeDocument/2006/math">
                    <m:sSubSup>
                      <m:sSubSupPr>
                        <m:ctrlPr>
                          <a:rPr lang="en-US" altLang="zh-CN" i="1" smtClean="0">
                            <a:solidFill>
                              <a:schemeClr val="tx1"/>
                            </a:solidFill>
                            <a:latin typeface="Cambria Math" panose="02040503050406030204" pitchFamily="18" charset="0"/>
                            <a:ea typeface="宋体" panose="02010600030101010101" pitchFamily="2" charset="-122"/>
                          </a:rPr>
                        </m:ctrlPr>
                      </m:sSubSupPr>
                      <m:e>
                        <m:r>
                          <m:rPr>
                            <m:nor/>
                          </m:rPr>
                          <a:rPr lang="en-US" altLang="zh-CN" dirty="0">
                            <a:solidFill>
                              <a:schemeClr val="tx1"/>
                            </a:solidFill>
                            <a:latin typeface="Cambria Math" panose="02040503050406030204" pitchFamily="18" charset="0"/>
                            <a:ea typeface="宋体" panose="02010600030101010101" pitchFamily="2" charset="-122"/>
                          </a:rPr>
                          <m:t>⊕</m:t>
                        </m:r>
                      </m:e>
                      <m:sub>
                        <m:r>
                          <a:rPr lang="en-US" altLang="zh-CN" b="0" i="1" dirty="0" smtClean="0">
                            <a:solidFill>
                              <a:schemeClr val="tx1"/>
                            </a:solidFill>
                            <a:latin typeface="Cambria Math" panose="02040503050406030204" pitchFamily="18" charset="0"/>
                            <a:ea typeface="宋体" panose="02010600030101010101" pitchFamily="2" charset="-122"/>
                          </a:rPr>
                          <m:t>𝑙</m:t>
                        </m:r>
                        <m:r>
                          <a:rPr lang="en-US" altLang="zh-CN" b="0" i="1" smtClean="0">
                            <a:solidFill>
                              <a:schemeClr val="tx1"/>
                            </a:solidFill>
                            <a:latin typeface="Cambria Math" panose="02040503050406030204" pitchFamily="18" charset="0"/>
                            <a:ea typeface="宋体" panose="02010600030101010101" pitchFamily="2" charset="-122"/>
                          </a:rPr>
                          <m:t>=</m:t>
                        </m:r>
                        <m:r>
                          <a:rPr lang="en-US" altLang="zh-CN" b="0" i="1" smtClean="0">
                            <a:solidFill>
                              <a:schemeClr val="tx1"/>
                            </a:solidFill>
                            <a:latin typeface="Cambria Math" panose="02040503050406030204" pitchFamily="18" charset="0"/>
                            <a:ea typeface="宋体" panose="02010600030101010101" pitchFamily="2" charset="-122"/>
                          </a:rPr>
                          <m:t>0</m:t>
                        </m:r>
                        <m:r>
                          <a:rPr lang="en-US" altLang="zh-CN" b="0" i="1" smtClean="0">
                            <a:solidFill>
                              <a:schemeClr val="tx1"/>
                            </a:solidFill>
                            <a:latin typeface="Cambria Math" panose="02040503050406030204" pitchFamily="18" charset="0"/>
                            <a:ea typeface="宋体" panose="02010600030101010101" pitchFamily="2" charset="-122"/>
                          </a:rPr>
                          <m:t>,</m:t>
                        </m:r>
                        <m:r>
                          <a:rPr lang="en-US" altLang="zh-CN" b="0" i="1" smtClean="0">
                            <a:solidFill>
                              <a:schemeClr val="tx1"/>
                            </a:solidFill>
                            <a:latin typeface="Cambria Math" panose="02040503050406030204" pitchFamily="18" charset="0"/>
                            <a:ea typeface="宋体" panose="02010600030101010101" pitchFamily="2" charset="-122"/>
                          </a:rPr>
                          <m:t>𝑙</m:t>
                        </m:r>
                        <m:r>
                          <a:rPr lang="zh-CN" altLang="en-US" i="1">
                            <a:latin typeface="Cambria Math" panose="02040503050406030204" pitchFamily="18" charset="0"/>
                            <a:ea typeface="宋体" panose="02010600030101010101" pitchFamily="2" charset="-122"/>
                          </a:rPr>
                          <m:t>≠</m:t>
                        </m:r>
                        <m:r>
                          <a:rPr lang="en-US" altLang="zh-CN" b="0" i="1" smtClean="0">
                            <a:latin typeface="Cambria Math" panose="02040503050406030204" pitchFamily="18" charset="0"/>
                            <a:ea typeface="宋体" panose="02010600030101010101" pitchFamily="2" charset="-122"/>
                          </a:rPr>
                          <m:t>𝑘</m:t>
                        </m:r>
                      </m:sub>
                      <m:sup>
                        <m:r>
                          <a:rPr lang="en-US" altLang="zh-CN" i="1">
                            <a:solidFill>
                              <a:schemeClr val="tx1"/>
                            </a:solidFill>
                            <a:latin typeface="Cambria Math" panose="02040503050406030204" pitchFamily="18" charset="0"/>
                            <a:ea typeface="宋体" panose="02010600030101010101" pitchFamily="2" charset="-122"/>
                          </a:rPr>
                          <m:t>𝑝</m:t>
                        </m:r>
                      </m:sup>
                    </m:sSubSup>
                  </m:oMath>
                </a14:m>
                <a:r>
                  <a:rPr lang="en-US" altLang="zh-CN" dirty="0"/>
                  <a:t> </a:t>
                </a:r>
                <a:r>
                  <a:rPr lang="en-US" altLang="zh-CN" i="1" dirty="0" err="1"/>
                  <a:t>D</a:t>
                </a:r>
                <a:r>
                  <a:rPr lang="en-US" altLang="zh-CN" i="1" baseline="-25000" dirty="0" err="1"/>
                  <a:t>k,l</a:t>
                </a:r>
                <a:r>
                  <a:rPr lang="en-US" altLang="zh-CN" dirty="0"/>
                  <a:t>, 0</a:t>
                </a:r>
                <a:r>
                  <a:rPr lang="zh-CN" altLang="en-US" dirty="0"/>
                  <a:t> ≤</a:t>
                </a:r>
                <a:r>
                  <a:rPr lang="en-US" altLang="zh-CN" i="1" dirty="0"/>
                  <a:t>k</a:t>
                </a:r>
                <a:r>
                  <a:rPr lang="zh-CN" altLang="en-US" dirty="0"/>
                  <a:t> ≤</a:t>
                </a:r>
                <a:r>
                  <a:rPr lang="en-US" altLang="zh-CN" i="1" dirty="0"/>
                  <a:t>p</a:t>
                </a:r>
                <a:r>
                  <a:rPr lang="en-US" altLang="zh-CN" dirty="0"/>
                  <a:t>-2                                           (6)</a:t>
                </a:r>
                <a:endParaRPr lang="en-US" altLang="zh-CN" dirty="0"/>
              </a:p>
              <a:p>
                <a:pPr>
                  <a:lnSpc>
                    <a:spcPts val="3600"/>
                  </a:lnSpc>
                </a:pPr>
                <a:r>
                  <a:rPr lang="en-US" altLang="zh-CN" dirty="0">
                    <a:latin typeface="+mn-lt"/>
                    <a:ea typeface="黑体" panose="02010609060101010101" pitchFamily="49" charset="-122"/>
                  </a:rPr>
                  <a:t>        (4)</a:t>
                </a:r>
                <a:r>
                  <a:rPr lang="en-US" altLang="zh-CN" i="1" dirty="0" err="1">
                    <a:latin typeface="+mn-lt"/>
                    <a:ea typeface="黑体" panose="02010609060101010101" pitchFamily="49" charset="-122"/>
                  </a:rPr>
                  <a:t>i</a:t>
                </a:r>
                <a:r>
                  <a:rPr lang="en-US" altLang="zh-CN" i="1" dirty="0">
                    <a:latin typeface="+mn-lt"/>
                    <a:ea typeface="黑体" panose="02010609060101010101" pitchFamily="49" charset="-122"/>
                  </a:rPr>
                  <a:t>&lt;</a:t>
                </a:r>
                <a:r>
                  <a:rPr lang="en-US" altLang="zh-CN" i="1" dirty="0" err="1">
                    <a:latin typeface="+mn-lt"/>
                    <a:ea typeface="黑体" panose="02010609060101010101" pitchFamily="49" charset="-122"/>
                  </a:rPr>
                  <a:t>p,j</a:t>
                </a:r>
                <a:r>
                  <a:rPr lang="en-US" altLang="zh-CN" i="1" dirty="0">
                    <a:latin typeface="+mn-lt"/>
                    <a:ea typeface="黑体" panose="02010609060101010101" pitchFamily="49" charset="-122"/>
                  </a:rPr>
                  <a:t>&lt;p</a:t>
                </a:r>
                <a:r>
                  <a:rPr lang="en-US" altLang="zh-CN" dirty="0">
                    <a:latin typeface="+mn-lt"/>
                    <a:ea typeface="黑体" panose="02010609060101010101" pitchFamily="49" charset="-122"/>
                  </a:rPr>
                  <a:t>,</a:t>
                </a:r>
                <a:r>
                  <a:rPr lang="zh-CN" altLang="en-US" dirty="0">
                    <a:solidFill>
                      <a:schemeClr val="accent1">
                        <a:lumMod val="75000"/>
                      </a:schemeClr>
                    </a:solidFill>
                    <a:latin typeface="+mn-lt"/>
                    <a:ea typeface="黑体" panose="02010609060101010101" pitchFamily="49" charset="-122"/>
                  </a:rPr>
                  <a:t>两个用户数据块损坏</a:t>
                </a:r>
                <a:r>
                  <a:rPr lang="zh-CN" altLang="en-US" dirty="0">
                    <a:latin typeface="+mn-lt"/>
                    <a:ea typeface="黑体" panose="02010609060101010101" pitchFamily="49" charset="-122"/>
                  </a:rPr>
                  <a:t>，数据恢复方法如下：</a:t>
                </a:r>
                <a:endParaRPr lang="en-US" altLang="zh-CN" dirty="0">
                  <a:latin typeface="+mn-lt"/>
                </a:endParaRPr>
              </a:p>
              <a:p>
                <a:pPr lvl="1">
                  <a:lnSpc>
                    <a:spcPts val="3600"/>
                  </a:lnSpc>
                </a:pPr>
                <a:r>
                  <a:rPr lang="zh-CN" altLang="en-US" sz="2000" dirty="0">
                    <a:latin typeface="黑体" panose="02010609060101010101" pitchFamily="49" charset="-122"/>
                    <a:ea typeface="黑体" panose="02010609060101010101" pitchFamily="49" charset="-122"/>
                  </a:rPr>
                  <a:t>①</a:t>
                </a:r>
                <a:r>
                  <a:rPr lang="zh-CN" altLang="en-US" sz="2000" dirty="0">
                    <a:latin typeface="+mn-lt"/>
                    <a:ea typeface="黑体" panose="02010609060101010101" pitchFamily="49" charset="-122"/>
                  </a:rPr>
                  <a:t>首先将最后两列校验数据块的信息异或，恢复参数</a:t>
                </a:r>
                <a:r>
                  <a:rPr lang="en-US" altLang="zh-CN" sz="2000" i="1" dirty="0">
                    <a:latin typeface="+mn-lt"/>
                    <a:ea typeface="黑体" panose="02010609060101010101" pitchFamily="49" charset="-122"/>
                  </a:rPr>
                  <a:t>S</a:t>
                </a:r>
                <a:endParaRPr lang="en-US" altLang="zh-CN" sz="2000" i="1" dirty="0">
                  <a:latin typeface="+mn-lt"/>
                  <a:ea typeface="黑体" panose="02010609060101010101" pitchFamily="49" charset="-122"/>
                </a:endParaRPr>
              </a:p>
              <a:p>
                <a:pPr>
                  <a:lnSpc>
                    <a:spcPts val="3600"/>
                  </a:lnSpc>
                </a:pPr>
                <a:r>
                  <a:rPr lang="en-US" altLang="zh-CN" dirty="0">
                    <a:latin typeface="+mn-lt"/>
                  </a:rPr>
                  <a:t>                            </a:t>
                </a:r>
                <a:r>
                  <a:rPr lang="en-US" altLang="zh-CN" i="1" dirty="0">
                    <a:latin typeface="+mn-lt"/>
                  </a:rPr>
                  <a:t>S</a:t>
                </a:r>
                <a:r>
                  <a:rPr lang="en-US" altLang="zh-CN" dirty="0">
                    <a:latin typeface="+mn-lt"/>
                  </a:rPr>
                  <a:t> = </a:t>
                </a:r>
                <a:r>
                  <a:rPr lang="en-US" altLang="zh-CN" dirty="0">
                    <a:solidFill>
                      <a:schemeClr val="tx1"/>
                    </a:solidFill>
                    <a:latin typeface="+mn-lt"/>
                    <a:ea typeface="宋体" panose="02010600030101010101" pitchFamily="2" charset="-122"/>
                  </a:rPr>
                  <a:t>(</a:t>
                </a:r>
                <a14:m>
                  <m:oMath xmlns:m="http://schemas.openxmlformats.org/officeDocument/2006/math">
                    <m:sSubSup>
                      <m:sSubSupPr>
                        <m:ctrlPr>
                          <a:rPr lang="en-US" altLang="zh-CN" i="1" smtClean="0">
                            <a:solidFill>
                              <a:schemeClr val="tx1"/>
                            </a:solidFill>
                            <a:latin typeface="Cambria Math" panose="02040503050406030204" pitchFamily="18" charset="0"/>
                            <a:ea typeface="宋体" panose="02010600030101010101" pitchFamily="2" charset="-122"/>
                          </a:rPr>
                        </m:ctrlPr>
                      </m:sSubSupPr>
                      <m:e>
                        <m:r>
                          <m:rPr>
                            <m:nor/>
                          </m:rPr>
                          <a:rPr lang="en-US" altLang="zh-CN" dirty="0">
                            <a:solidFill>
                              <a:schemeClr val="tx1"/>
                            </a:solidFill>
                            <a:latin typeface="Cambria Math" panose="02040503050406030204" pitchFamily="18" charset="0"/>
                            <a:ea typeface="宋体" panose="02010600030101010101" pitchFamily="2" charset="-122"/>
                          </a:rPr>
                          <m:t>⊕</m:t>
                        </m:r>
                      </m:e>
                      <m:sub>
                        <m:r>
                          <a:rPr lang="en-US" altLang="zh-CN" b="0" i="1" dirty="0" smtClean="0">
                            <a:solidFill>
                              <a:schemeClr val="tx1"/>
                            </a:solidFill>
                            <a:latin typeface="Cambria Math" panose="02040503050406030204" pitchFamily="18" charset="0"/>
                            <a:ea typeface="宋体" panose="02010600030101010101" pitchFamily="2" charset="-122"/>
                          </a:rPr>
                          <m:t>𝑙</m:t>
                        </m:r>
                        <m:r>
                          <a:rPr lang="en-US" altLang="zh-CN" b="0" i="0" smtClean="0">
                            <a:solidFill>
                              <a:schemeClr val="tx1"/>
                            </a:solidFill>
                            <a:latin typeface="Cambria Math" panose="02040503050406030204" pitchFamily="18" charset="0"/>
                            <a:ea typeface="宋体" panose="02010600030101010101" pitchFamily="2" charset="-122"/>
                          </a:rPr>
                          <m:t>=</m:t>
                        </m:r>
                        <m:r>
                          <a:rPr lang="en-US" altLang="zh-CN" b="0" i="0" smtClean="0">
                            <a:solidFill>
                              <a:schemeClr val="tx1"/>
                            </a:solidFill>
                            <a:latin typeface="Cambria Math" panose="02040503050406030204" pitchFamily="18" charset="0"/>
                            <a:ea typeface="宋体" panose="02010600030101010101" pitchFamily="2" charset="-122"/>
                          </a:rPr>
                          <m:t>0</m:t>
                        </m:r>
                      </m:sub>
                      <m:sup>
                        <m:r>
                          <a:rPr lang="en-US" altLang="zh-CN" i="1">
                            <a:solidFill>
                              <a:schemeClr val="tx1"/>
                            </a:solidFill>
                            <a:latin typeface="Cambria Math" panose="02040503050406030204" pitchFamily="18" charset="0"/>
                            <a:ea typeface="宋体" panose="02010600030101010101" pitchFamily="2" charset="-122"/>
                          </a:rPr>
                          <m:t>𝑝</m:t>
                        </m:r>
                        <m:r>
                          <a:rPr lang="en-US" altLang="zh-CN" b="0" i="1" smtClean="0">
                            <a:solidFill>
                              <a:schemeClr val="tx1"/>
                            </a:solidFill>
                            <a:latin typeface="Cambria Math" panose="02040503050406030204" pitchFamily="18" charset="0"/>
                            <a:ea typeface="宋体" panose="02010600030101010101" pitchFamily="2" charset="-122"/>
                          </a:rPr>
                          <m:t>−</m:t>
                        </m:r>
                        <m:r>
                          <a:rPr lang="en-US" altLang="zh-CN" b="0" i="0" smtClean="0">
                            <a:solidFill>
                              <a:schemeClr val="tx1"/>
                            </a:solidFill>
                            <a:latin typeface="Cambria Math" panose="02040503050406030204" pitchFamily="18" charset="0"/>
                            <a:ea typeface="宋体" panose="02010600030101010101" pitchFamily="2" charset="-122"/>
                          </a:rPr>
                          <m:t>2</m:t>
                        </m:r>
                      </m:sup>
                    </m:sSubSup>
                  </m:oMath>
                </a14:m>
                <a:r>
                  <a:rPr lang="en-US" altLang="zh-CN" i="1" dirty="0" err="1"/>
                  <a:t>D</a:t>
                </a:r>
                <a:r>
                  <a:rPr lang="en-US" altLang="zh-CN" i="1" baseline="-25000" dirty="0" err="1"/>
                  <a:t>l,p</a:t>
                </a:r>
                <a:r>
                  <a:rPr lang="en-US" altLang="zh-CN" dirty="0"/>
                  <a:t>)</a:t>
                </a:r>
                <a:r>
                  <a:rPr lang="en-US" altLang="zh-CN" dirty="0">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Cambria Math" panose="02040503050406030204" pitchFamily="18" charset="0"/>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𝑙</m:t>
                        </m:r>
                        <m:r>
                          <a:rPr lang="en-US" altLang="zh-CN">
                            <a:latin typeface="Cambria Math" panose="02040503050406030204" pitchFamily="18" charset="0"/>
                            <a:ea typeface="宋体" panose="02010600030101010101" pitchFamily="2" charset="-122"/>
                          </a:rPr>
                          <m:t>=</m:t>
                        </m:r>
                        <m:r>
                          <a:rPr lang="en-US" altLang="zh-CN">
                            <a:latin typeface="Cambria Math" panose="02040503050406030204" pitchFamily="18" charset="0"/>
                            <a:ea typeface="宋体" panose="02010600030101010101" pitchFamily="2" charset="-122"/>
                          </a:rPr>
                          <m:t>0</m:t>
                        </m:r>
                      </m:sub>
                      <m:sup>
                        <m:r>
                          <a:rPr lang="en-US" altLang="zh-CN" i="1">
                            <a:latin typeface="Cambria Math" panose="02040503050406030204" pitchFamily="18" charset="0"/>
                            <a:ea typeface="宋体" panose="02010600030101010101" pitchFamily="2" charset="-122"/>
                          </a:rPr>
                          <m:t>𝑝</m:t>
                        </m:r>
                        <m:r>
                          <a:rPr lang="en-US" altLang="zh-CN">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2</m:t>
                        </m:r>
                      </m:sup>
                    </m:sSubSup>
                  </m:oMath>
                </a14:m>
                <a:r>
                  <a:rPr lang="en-US" altLang="zh-CN" i="1" dirty="0"/>
                  <a:t>D</a:t>
                </a:r>
                <a:r>
                  <a:rPr lang="en-US" altLang="zh-CN" i="1" baseline="-25000" dirty="0"/>
                  <a:t>l,p+</a:t>
                </a:r>
                <a:r>
                  <a:rPr lang="en-US" altLang="zh-CN" baseline="-25000" dirty="0"/>
                  <a:t>1</a:t>
                </a:r>
                <a:r>
                  <a:rPr lang="en-US" altLang="zh-CN" dirty="0"/>
                  <a:t>)                                        (7)</a:t>
                </a:r>
                <a:endParaRPr lang="en-US" altLang="zh-CN" dirty="0"/>
              </a:p>
              <a:p>
                <a:pPr lvl="1">
                  <a:lnSpc>
                    <a:spcPts val="3600"/>
                  </a:lnSpc>
                </a:pPr>
                <a:r>
                  <a:rPr lang="zh-CN" altLang="en-US" sz="2000" dirty="0">
                    <a:latin typeface="黑体" panose="02010609060101010101" pitchFamily="49" charset="-122"/>
                    <a:ea typeface="黑体" panose="02010609060101010101" pitchFamily="49" charset="-122"/>
                  </a:rPr>
                  <a:t>②然后计算</a:t>
                </a:r>
                <a:r>
                  <a:rPr lang="en-US" altLang="zh-CN" sz="2000" i="1" dirty="0">
                    <a:latin typeface="黑体" panose="02010609060101010101" pitchFamily="49" charset="-122"/>
                    <a:ea typeface="黑体" panose="02010609060101010101" pitchFamily="49" charset="-122"/>
                  </a:rPr>
                  <a:t>S</a:t>
                </a:r>
                <a:r>
                  <a:rPr lang="en-US" altLang="zh-CN" sz="2000" baseline="30000" dirty="0">
                    <a:latin typeface="黑体" panose="02010609060101010101" pitchFamily="49" charset="-122"/>
                    <a:ea typeface="黑体" panose="02010609060101010101" pitchFamily="49" charset="-122"/>
                  </a:rPr>
                  <a:t>(0)</a:t>
                </a:r>
                <a:r>
                  <a:rPr lang="en-US" altLang="zh-CN" sz="2000" dirty="0">
                    <a:latin typeface="黑体" panose="02010609060101010101" pitchFamily="49" charset="-122"/>
                    <a:ea typeface="黑体" panose="02010609060101010101" pitchFamily="49" charset="-122"/>
                  </a:rPr>
                  <a:t>=</a:t>
                </a:r>
                <a:r>
                  <a:rPr lang="en-US" altLang="zh-CN" sz="2000" i="1" dirty="0">
                    <a:latin typeface="黑体" panose="02010609060101010101" pitchFamily="49" charset="-122"/>
                    <a:ea typeface="黑体" panose="02010609060101010101" pitchFamily="49" charset="-122"/>
                  </a:rPr>
                  <a:t>S</a:t>
                </a:r>
                <a:r>
                  <a:rPr lang="en-US" altLang="zh-CN" sz="2000" baseline="-25000" dirty="0">
                    <a:latin typeface="黑体" panose="02010609060101010101" pitchFamily="49" charset="-122"/>
                    <a:ea typeface="黑体" panose="02010609060101010101" pitchFamily="49" charset="-122"/>
                  </a:rPr>
                  <a:t>0</a:t>
                </a:r>
                <a:r>
                  <a:rPr lang="en-US" altLang="zh-CN" sz="2000" baseline="30000" dirty="0">
                    <a:latin typeface="黑体" panose="02010609060101010101" pitchFamily="49" charset="-122"/>
                    <a:ea typeface="黑体" panose="02010609060101010101" pitchFamily="49" charset="-122"/>
                  </a:rPr>
                  <a:t>(0)</a:t>
                </a:r>
                <a:r>
                  <a:rPr lang="en-US" altLang="zh-CN" sz="2000" dirty="0">
                    <a:latin typeface="黑体" panose="02010609060101010101" pitchFamily="49" charset="-122"/>
                    <a:ea typeface="黑体" panose="02010609060101010101" pitchFamily="49" charset="-122"/>
                  </a:rPr>
                  <a:t>,</a:t>
                </a:r>
                <a:r>
                  <a:rPr lang="en-US" altLang="zh-CN" sz="2000" i="1" dirty="0">
                    <a:latin typeface="黑体" panose="02010609060101010101" pitchFamily="49" charset="-122"/>
                    <a:ea typeface="黑体" panose="02010609060101010101" pitchFamily="49" charset="-122"/>
                  </a:rPr>
                  <a:t>S</a:t>
                </a:r>
                <a:r>
                  <a:rPr lang="en-US" altLang="zh-CN" sz="2000" baseline="-25000" dirty="0">
                    <a:latin typeface="黑体" panose="02010609060101010101" pitchFamily="49" charset="-122"/>
                    <a:ea typeface="黑体" panose="02010609060101010101" pitchFamily="49" charset="-122"/>
                  </a:rPr>
                  <a:t>1</a:t>
                </a:r>
                <a:r>
                  <a:rPr lang="en-US" altLang="zh-CN" sz="2000" baseline="30000" dirty="0">
                    <a:latin typeface="黑体" panose="02010609060101010101" pitchFamily="49" charset="-122"/>
                    <a:ea typeface="黑体" panose="02010609060101010101" pitchFamily="49" charset="-122"/>
                  </a:rPr>
                  <a:t>(0)</a:t>
                </a:r>
                <a:r>
                  <a:rPr lang="en-US" altLang="zh-CN" sz="2000" dirty="0">
                    <a:latin typeface="黑体" panose="02010609060101010101" pitchFamily="49" charset="-122"/>
                    <a:ea typeface="黑体" panose="02010609060101010101" pitchFamily="49" charset="-122"/>
                  </a:rPr>
                  <a:t>,…, </a:t>
                </a:r>
                <a:r>
                  <a:rPr lang="en-US" altLang="zh-CN" sz="2000" i="1" dirty="0">
                    <a:latin typeface="黑体" panose="02010609060101010101" pitchFamily="49" charset="-122"/>
                    <a:ea typeface="黑体" panose="02010609060101010101" pitchFamily="49" charset="-122"/>
                  </a:rPr>
                  <a:t>S</a:t>
                </a:r>
                <a:r>
                  <a:rPr lang="en-US" altLang="zh-CN" sz="2000" i="1" baseline="-25000" dirty="0">
                    <a:latin typeface="黑体" panose="02010609060101010101" pitchFamily="49" charset="-122"/>
                    <a:ea typeface="黑体" panose="02010609060101010101" pitchFamily="49" charset="-122"/>
                  </a:rPr>
                  <a:t>P</a:t>
                </a:r>
                <a:r>
                  <a:rPr lang="en-US" altLang="zh-CN" sz="2000" baseline="-25000" dirty="0">
                    <a:latin typeface="黑体" panose="02010609060101010101" pitchFamily="49" charset="-122"/>
                    <a:ea typeface="黑体" panose="02010609060101010101" pitchFamily="49" charset="-122"/>
                  </a:rPr>
                  <a:t>-1</a:t>
                </a:r>
                <a:r>
                  <a:rPr lang="en-US" altLang="zh-CN" sz="2000" baseline="30000" dirty="0">
                    <a:latin typeface="黑体" panose="02010609060101010101" pitchFamily="49" charset="-122"/>
                    <a:ea typeface="黑体" panose="02010609060101010101" pitchFamily="49" charset="-122"/>
                  </a:rPr>
                  <a:t>(0)</a:t>
                </a:r>
                <a:r>
                  <a:rPr lang="en-US" altLang="zh-CN" sz="2000" dirty="0">
                    <a:latin typeface="黑体" panose="02010609060101010101" pitchFamily="49" charset="-122"/>
                    <a:ea typeface="黑体" panose="02010609060101010101" pitchFamily="49" charset="-122"/>
                  </a:rPr>
                  <a:t>,</a:t>
                </a:r>
                <a:r>
                  <a:rPr lang="en-US" altLang="zh-CN" sz="2000" i="1" dirty="0">
                    <a:latin typeface="黑体" panose="02010609060101010101" pitchFamily="49" charset="-122"/>
                    <a:ea typeface="黑体" panose="02010609060101010101" pitchFamily="49" charset="-122"/>
                  </a:rPr>
                  <a:t>S</a:t>
                </a:r>
                <a:r>
                  <a:rPr lang="en-US" altLang="zh-CN" sz="2000" baseline="30000" dirty="0">
                    <a:latin typeface="黑体" panose="02010609060101010101" pitchFamily="49" charset="-122"/>
                    <a:ea typeface="黑体" panose="02010609060101010101" pitchFamily="49" charset="-122"/>
                  </a:rPr>
                  <a:t>(1)</a:t>
                </a:r>
                <a:r>
                  <a:rPr lang="en-US" altLang="zh-CN" sz="2000" dirty="0">
                    <a:latin typeface="黑体" panose="02010609060101010101" pitchFamily="49" charset="-122"/>
                    <a:ea typeface="黑体" panose="02010609060101010101" pitchFamily="49" charset="-122"/>
                  </a:rPr>
                  <a:t>=</a:t>
                </a:r>
                <a:r>
                  <a:rPr lang="en-US" altLang="zh-CN" sz="2000" i="1" dirty="0">
                    <a:latin typeface="黑体" panose="02010609060101010101" pitchFamily="49" charset="-122"/>
                    <a:ea typeface="黑体" panose="02010609060101010101" pitchFamily="49" charset="-122"/>
                  </a:rPr>
                  <a:t>S</a:t>
                </a:r>
                <a:r>
                  <a:rPr lang="en-US" altLang="zh-CN" sz="2000" baseline="-25000" dirty="0">
                    <a:latin typeface="黑体" panose="02010609060101010101" pitchFamily="49" charset="-122"/>
                    <a:ea typeface="黑体" panose="02010609060101010101" pitchFamily="49" charset="-122"/>
                  </a:rPr>
                  <a:t>0</a:t>
                </a:r>
                <a:r>
                  <a:rPr lang="en-US" altLang="zh-CN" sz="2000" baseline="30000" dirty="0">
                    <a:latin typeface="黑体" panose="02010609060101010101" pitchFamily="49" charset="-122"/>
                    <a:ea typeface="黑体" panose="02010609060101010101" pitchFamily="49" charset="-122"/>
                  </a:rPr>
                  <a:t>(1)</a:t>
                </a:r>
                <a:r>
                  <a:rPr lang="en-US" altLang="zh-CN" sz="2000" dirty="0">
                    <a:latin typeface="黑体" panose="02010609060101010101" pitchFamily="49" charset="-122"/>
                    <a:ea typeface="黑体" panose="02010609060101010101" pitchFamily="49" charset="-122"/>
                  </a:rPr>
                  <a:t>,</a:t>
                </a:r>
                <a:r>
                  <a:rPr lang="en-US" altLang="zh-CN" sz="2000" i="1" dirty="0">
                    <a:latin typeface="黑体" panose="02010609060101010101" pitchFamily="49" charset="-122"/>
                    <a:ea typeface="黑体" panose="02010609060101010101" pitchFamily="49" charset="-122"/>
                  </a:rPr>
                  <a:t>S</a:t>
                </a:r>
                <a:r>
                  <a:rPr lang="en-US" altLang="zh-CN" sz="2000" baseline="-25000" dirty="0">
                    <a:latin typeface="黑体" panose="02010609060101010101" pitchFamily="49" charset="-122"/>
                    <a:ea typeface="黑体" panose="02010609060101010101" pitchFamily="49" charset="-122"/>
                  </a:rPr>
                  <a:t>1</a:t>
                </a:r>
                <a:r>
                  <a:rPr lang="en-US" altLang="zh-CN" sz="2000" baseline="30000" dirty="0">
                    <a:latin typeface="黑体" panose="02010609060101010101" pitchFamily="49" charset="-122"/>
                    <a:ea typeface="黑体" panose="02010609060101010101" pitchFamily="49" charset="-122"/>
                  </a:rPr>
                  <a:t>(1)</a:t>
                </a:r>
                <a:r>
                  <a:rPr lang="en-US" altLang="zh-CN" sz="2000" dirty="0">
                    <a:latin typeface="黑体" panose="02010609060101010101" pitchFamily="49" charset="-122"/>
                    <a:ea typeface="黑体" panose="02010609060101010101" pitchFamily="49" charset="-122"/>
                  </a:rPr>
                  <a:t>,…,</a:t>
                </a:r>
                <a:r>
                  <a:rPr lang="en-US" altLang="zh-CN" sz="2000" i="1" dirty="0">
                    <a:latin typeface="黑体" panose="02010609060101010101" pitchFamily="49" charset="-122"/>
                    <a:ea typeface="黑体" panose="02010609060101010101" pitchFamily="49" charset="-122"/>
                  </a:rPr>
                  <a:t>S</a:t>
                </a:r>
                <a:r>
                  <a:rPr lang="en-US" altLang="zh-CN" sz="2000" i="1" baseline="-25000" dirty="0">
                    <a:latin typeface="黑体" panose="02010609060101010101" pitchFamily="49" charset="-122"/>
                    <a:ea typeface="黑体" panose="02010609060101010101" pitchFamily="49" charset="-122"/>
                  </a:rPr>
                  <a:t>P</a:t>
                </a:r>
                <a:r>
                  <a:rPr lang="en-US" altLang="zh-CN" sz="2000" baseline="-25000" dirty="0">
                    <a:latin typeface="黑体" panose="02010609060101010101" pitchFamily="49" charset="-122"/>
                    <a:ea typeface="黑体" panose="02010609060101010101" pitchFamily="49" charset="-122"/>
                  </a:rPr>
                  <a:t>-1</a:t>
                </a:r>
                <a:r>
                  <a:rPr lang="en-US" altLang="zh-CN" sz="2000" baseline="30000" dirty="0">
                    <a:latin typeface="黑体" panose="02010609060101010101" pitchFamily="49" charset="-122"/>
                    <a:ea typeface="黑体" panose="02010609060101010101" pitchFamily="49" charset="-122"/>
                  </a:rPr>
                  <a:t>(1)</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其中</a:t>
                </a:r>
                <a:endParaRPr lang="en-US" altLang="zh-CN" sz="2000" dirty="0">
                  <a:latin typeface="黑体" panose="02010609060101010101" pitchFamily="49" charset="-122"/>
                  <a:ea typeface="黑体" panose="02010609060101010101" pitchFamily="49" charset="-122"/>
                </a:endParaRPr>
              </a:p>
              <a:p>
                <a:pPr lvl="1">
                  <a:lnSpc>
                    <a:spcPts val="3600"/>
                  </a:lnSpc>
                </a:pPr>
                <a:r>
                  <a:rPr lang="en-US" altLang="zh-CN" sz="2000" dirty="0">
                    <a:latin typeface="黑体" panose="02010609060101010101" pitchFamily="49" charset="-122"/>
                    <a:ea typeface="黑体" panose="02010609060101010101" pitchFamily="49" charset="-122"/>
                  </a:rPr>
                  <a:t>          </a:t>
                </a:r>
                <a:r>
                  <a:rPr lang="en-US" altLang="zh-CN" sz="2000" i="1" dirty="0" err="1">
                    <a:latin typeface="黑体" panose="02010609060101010101" pitchFamily="49" charset="-122"/>
                    <a:ea typeface="黑体" panose="02010609060101010101" pitchFamily="49" charset="-122"/>
                  </a:rPr>
                  <a:t>S</a:t>
                </a:r>
                <a:r>
                  <a:rPr lang="en-US" altLang="zh-CN" sz="2000" i="1" baseline="-25000" dirty="0" err="1">
                    <a:latin typeface="黑体" panose="02010609060101010101" pitchFamily="49" charset="-122"/>
                    <a:ea typeface="黑体" panose="02010609060101010101" pitchFamily="49" charset="-122"/>
                  </a:rPr>
                  <a:t>u</a:t>
                </a:r>
                <a:r>
                  <a:rPr lang="en-US" altLang="zh-CN" sz="2000" baseline="30000" dirty="0">
                    <a:latin typeface="黑体" panose="02010609060101010101" pitchFamily="49" charset="-122"/>
                    <a:ea typeface="黑体" panose="02010609060101010101" pitchFamily="49" charset="-122"/>
                  </a:rPr>
                  <a:t>(0)</a:t>
                </a:r>
                <a:r>
                  <a:rPr lang="en-US" altLang="zh-CN" sz="2000" dirty="0">
                    <a:latin typeface="黑体" panose="02010609060101010101" pitchFamily="49" charset="-122"/>
                    <a:ea typeface="黑体" panose="02010609060101010101" pitchFamily="49" charset="-122"/>
                  </a:rPr>
                  <a:t>=</a:t>
                </a:r>
                <a:r>
                  <a:rPr lang="en-US" altLang="zh-CN" sz="2000" dirty="0">
                    <a:solidFill>
                      <a:schemeClr val="tx1"/>
                    </a:solidFill>
                    <a:ea typeface="宋体" panose="02010600030101010101" pitchFamily="2" charset="-122"/>
                  </a:rPr>
                  <a:t> </a:t>
                </a:r>
                <a14:m>
                  <m:oMath xmlns:m="http://schemas.openxmlformats.org/officeDocument/2006/math">
                    <m:sSubSup>
                      <m:sSubSupPr>
                        <m:ctrlPr>
                          <a:rPr lang="en-US" altLang="zh-CN" sz="2000" i="1" smtClean="0">
                            <a:solidFill>
                              <a:schemeClr val="tx1"/>
                            </a:solidFill>
                            <a:latin typeface="Cambria Math" panose="02040503050406030204" pitchFamily="18" charset="0"/>
                          </a:rPr>
                        </m:ctrlPr>
                      </m:sSubSupPr>
                      <m:e>
                        <m:r>
                          <m:rPr>
                            <m:nor/>
                          </m:rPr>
                          <a:rPr lang="en-US" altLang="zh-CN" sz="2000" dirty="0">
                            <a:solidFill>
                              <a:schemeClr val="tx1"/>
                            </a:solidFill>
                            <a:latin typeface="Cambria Math" panose="02040503050406030204" pitchFamily="18" charset="0"/>
                          </a:rPr>
                          <m:t>⊕</m:t>
                        </m:r>
                      </m:e>
                      <m:sub>
                        <m:r>
                          <a:rPr lang="en-US" altLang="zh-CN" sz="2000" b="0" i="1" dirty="0" smtClean="0">
                            <a:solidFill>
                              <a:schemeClr val="tx1"/>
                            </a:solidFill>
                            <a:latin typeface="Cambria Math" panose="02040503050406030204" pitchFamily="18" charset="0"/>
                          </a:rPr>
                          <m:t>𝑙</m:t>
                        </m:r>
                        <m:r>
                          <a:rPr lang="en-US" altLang="zh-CN" sz="2000" b="0" i="1" smtClean="0">
                            <a:solidFill>
                              <a:schemeClr val="tx1"/>
                            </a:solidFill>
                            <a:latin typeface="Cambria Math" panose="02040503050406030204" pitchFamily="18" charset="0"/>
                          </a:rPr>
                          <m:t>=</m:t>
                        </m:r>
                        <m:r>
                          <a:rPr lang="en-US" altLang="zh-CN" sz="2000" b="0" i="0" smtClean="0">
                            <a:solidFill>
                              <a:schemeClr val="tx1"/>
                            </a:solidFill>
                            <a:latin typeface="Cambria Math" panose="02040503050406030204" pitchFamily="18" charset="0"/>
                          </a:rPr>
                          <m:t>0</m:t>
                        </m:r>
                        <m:r>
                          <a:rPr lang="en-US" altLang="zh-CN" sz="2000" b="0" i="0"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𝑙</m:t>
                        </m:r>
                        <m:r>
                          <a:rPr lang="zh-CN" altLang="en-US" sz="2000" i="1">
                            <a:latin typeface="Cambria Math" panose="02040503050406030204" pitchFamily="18" charset="0"/>
                          </a:rPr>
                          <m:t>≠</m:t>
                        </m:r>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𝑗</m:t>
                        </m:r>
                      </m:sub>
                      <m:sup>
                        <m:r>
                          <a:rPr lang="en-US" altLang="zh-CN" sz="2000" i="1">
                            <a:solidFill>
                              <a:schemeClr val="tx1"/>
                            </a:solidFill>
                            <a:latin typeface="Cambria Math" panose="02040503050406030204" pitchFamily="18" charset="0"/>
                          </a:rPr>
                          <m:t>𝑝</m:t>
                        </m:r>
                      </m:sup>
                    </m:sSubSup>
                  </m:oMath>
                </a14:m>
                <a:r>
                  <a:rPr lang="en-US" altLang="zh-CN" sz="2000" dirty="0"/>
                  <a:t> </a:t>
                </a:r>
                <a:r>
                  <a:rPr lang="en-US" altLang="zh-CN" sz="2000" i="1" dirty="0" err="1"/>
                  <a:t>D</a:t>
                </a:r>
                <a:r>
                  <a:rPr lang="en-US" altLang="zh-CN" sz="2000" i="1" baseline="-25000" dirty="0" err="1"/>
                  <a:t>u,l</a:t>
                </a:r>
                <a:r>
                  <a:rPr lang="en-US" altLang="zh-CN" sz="2000" baseline="-25000" dirty="0"/>
                  <a:t> </a:t>
                </a:r>
                <a:r>
                  <a:rPr lang="en-US" altLang="zh-CN" sz="2000" dirty="0">
                    <a:latin typeface="黑体" panose="02010609060101010101" pitchFamily="49" charset="-122"/>
                    <a:ea typeface="黑体" panose="02010609060101010101" pitchFamily="49" charset="-122"/>
                  </a:rPr>
                  <a:t>                            </a:t>
                </a:r>
                <a:r>
                  <a:rPr lang="en-US" altLang="zh-CN" sz="2000" dirty="0">
                    <a:latin typeface="+mn-lt"/>
                    <a:ea typeface="黑体" panose="02010609060101010101" pitchFamily="49" charset="-122"/>
                  </a:rPr>
                  <a:t>(8)</a:t>
                </a:r>
                <a:endParaRPr lang="en-US" altLang="zh-CN" sz="2000" dirty="0">
                  <a:latin typeface="+mn-lt"/>
                  <a:ea typeface="黑体" panose="02010609060101010101" pitchFamily="49" charset="-122"/>
                </a:endParaRPr>
              </a:p>
              <a:p>
                <a:pPr>
                  <a:lnSpc>
                    <a:spcPts val="3600"/>
                  </a:lnSpc>
                </a:pPr>
                <a:r>
                  <a:rPr lang="en-US" altLang="zh-CN" dirty="0">
                    <a:latin typeface="+mn-lt"/>
                  </a:rPr>
                  <a:t>                           </a:t>
                </a:r>
                <a:r>
                  <a:rPr lang="en-US" altLang="zh-CN" sz="2000" i="1" dirty="0" err="1">
                    <a:latin typeface="黑体" panose="02010609060101010101" pitchFamily="49" charset="-122"/>
                    <a:ea typeface="黑体" panose="02010609060101010101" pitchFamily="49" charset="-122"/>
                  </a:rPr>
                  <a:t>S</a:t>
                </a:r>
                <a:r>
                  <a:rPr lang="en-US" altLang="zh-CN" sz="2000" i="1" baseline="-25000" dirty="0" err="1">
                    <a:latin typeface="黑体" panose="02010609060101010101" pitchFamily="49" charset="-122"/>
                    <a:ea typeface="黑体" panose="02010609060101010101" pitchFamily="49" charset="-122"/>
                  </a:rPr>
                  <a:t>u</a:t>
                </a:r>
                <a:r>
                  <a:rPr lang="en-US" altLang="zh-CN" sz="2000" baseline="30000" dirty="0">
                    <a:latin typeface="黑体" panose="02010609060101010101" pitchFamily="49" charset="-122"/>
                    <a:ea typeface="黑体" panose="02010609060101010101" pitchFamily="49" charset="-122"/>
                  </a:rPr>
                  <a:t>(1)</a:t>
                </a:r>
                <a:r>
                  <a:rPr lang="en-US" altLang="zh-CN" sz="2000" dirty="0">
                    <a:latin typeface="黑体" panose="02010609060101010101" pitchFamily="49" charset="-122"/>
                    <a:ea typeface="黑体" panose="02010609060101010101" pitchFamily="49" charset="-122"/>
                  </a:rPr>
                  <a:t>= </a:t>
                </a:r>
                <a:r>
                  <a:rPr lang="en-US" altLang="zh-CN" sz="2000" i="1" dirty="0">
                    <a:latin typeface="黑体" panose="02010609060101010101" pitchFamily="49" charset="-122"/>
                    <a:ea typeface="黑体" panose="02010609060101010101" pitchFamily="49" charset="-122"/>
                  </a:rPr>
                  <a:t>S</a:t>
                </a:r>
                <a:r>
                  <a:rPr lang="en-US" altLang="zh-CN" dirty="0">
                    <a:ea typeface="宋体" panose="02010600030101010101" pitchFamily="2" charset="-122"/>
                  </a:rPr>
                  <a:t>⊕</a:t>
                </a:r>
                <a:r>
                  <a:rPr lang="en-US" altLang="zh-CN" i="1" dirty="0"/>
                  <a:t>D</a:t>
                </a:r>
                <a:r>
                  <a:rPr lang="en-US" altLang="zh-CN" i="1" baseline="-25000" dirty="0"/>
                  <a:t>u,p</a:t>
                </a:r>
                <a:r>
                  <a:rPr lang="en-US" altLang="zh-CN" baseline="-25000" dirty="0"/>
                  <a:t>+1</a:t>
                </a:r>
                <a:r>
                  <a:rPr lang="en-US" altLang="zh-CN" dirty="0"/>
                  <a:t>(</a:t>
                </a:r>
                <a14:m>
                  <m:oMath xmlns:m="http://schemas.openxmlformats.org/officeDocument/2006/math">
                    <m:sSubSup>
                      <m:sSubSupPr>
                        <m:ctrlPr>
                          <a:rPr lang="en-US" altLang="zh-CN" sz="2000" i="1" smtClean="0">
                            <a:solidFill>
                              <a:schemeClr val="tx1"/>
                            </a:solidFill>
                            <a:latin typeface="Cambria Math" panose="02040503050406030204" pitchFamily="18" charset="0"/>
                          </a:rPr>
                        </m:ctrlPr>
                      </m:sSubSupPr>
                      <m:e>
                        <m:r>
                          <m:rPr>
                            <m:nor/>
                          </m:rPr>
                          <a:rPr lang="en-US" altLang="zh-CN" sz="2000" dirty="0">
                            <a:solidFill>
                              <a:schemeClr val="tx1"/>
                            </a:solidFill>
                            <a:latin typeface="Cambria Math" panose="02040503050406030204" pitchFamily="18" charset="0"/>
                          </a:rPr>
                          <m:t>⊕</m:t>
                        </m:r>
                      </m:e>
                      <m:sub>
                        <m:r>
                          <a:rPr lang="en-US" altLang="zh-CN" sz="2000" b="0" i="1" dirty="0" smtClean="0">
                            <a:solidFill>
                              <a:schemeClr val="tx1"/>
                            </a:solidFill>
                            <a:latin typeface="Cambria Math" panose="02040503050406030204" pitchFamily="18" charset="0"/>
                          </a:rPr>
                          <m:t>𝑙</m:t>
                        </m:r>
                        <m:r>
                          <a:rPr lang="en-US" altLang="zh-CN" sz="2000" b="0" i="0" smtClean="0">
                            <a:solidFill>
                              <a:schemeClr val="tx1"/>
                            </a:solidFill>
                            <a:latin typeface="Cambria Math" panose="02040503050406030204" pitchFamily="18" charset="0"/>
                          </a:rPr>
                          <m:t>=</m:t>
                        </m:r>
                        <m:r>
                          <a:rPr lang="en-US" altLang="zh-CN" sz="2000" b="0" i="0" smtClean="0">
                            <a:solidFill>
                              <a:schemeClr val="tx1"/>
                            </a:solidFill>
                            <a:latin typeface="Cambria Math" panose="02040503050406030204" pitchFamily="18" charset="0"/>
                          </a:rPr>
                          <m:t>0</m:t>
                        </m:r>
                        <m:r>
                          <a:rPr lang="en-US" altLang="zh-CN" sz="2000" b="0" i="0"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𝑙</m:t>
                        </m:r>
                        <m:r>
                          <a:rPr lang="zh-CN" altLang="en-US" sz="2000" i="1">
                            <a:latin typeface="Cambria Math" panose="02040503050406030204" pitchFamily="18" charset="0"/>
                          </a:rPr>
                          <m:t>≠</m:t>
                        </m:r>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𝑗</m:t>
                        </m:r>
                      </m:sub>
                      <m:sup>
                        <m:r>
                          <a:rPr lang="en-US" altLang="zh-CN" sz="2000" i="1">
                            <a:solidFill>
                              <a:schemeClr val="tx1"/>
                            </a:solidFill>
                            <a:latin typeface="Cambria Math" panose="02040503050406030204" pitchFamily="18" charset="0"/>
                          </a:rPr>
                          <m:t>𝑝</m:t>
                        </m:r>
                        <m:r>
                          <a:rPr lang="en-US" altLang="zh-CN" sz="2000" b="0" i="0" smtClean="0">
                            <a:solidFill>
                              <a:schemeClr val="tx1"/>
                            </a:solidFill>
                            <a:latin typeface="Cambria Math" panose="02040503050406030204" pitchFamily="18" charset="0"/>
                          </a:rPr>
                          <m:t>−</m:t>
                        </m:r>
                        <m:r>
                          <a:rPr lang="en-US" altLang="zh-CN" sz="2000" b="0" i="0" smtClean="0">
                            <a:solidFill>
                              <a:schemeClr val="tx1"/>
                            </a:solidFill>
                            <a:latin typeface="Cambria Math" panose="02040503050406030204" pitchFamily="18" charset="0"/>
                          </a:rPr>
                          <m:t>1</m:t>
                        </m:r>
                      </m:sup>
                    </m:sSubSup>
                  </m:oMath>
                </a14:m>
                <a:r>
                  <a:rPr lang="en-US" altLang="zh-CN" sz="2000" dirty="0"/>
                  <a:t> </a:t>
                </a:r>
                <a:r>
                  <a:rPr lang="en-US" altLang="zh-CN" sz="2000" i="1" dirty="0"/>
                  <a:t>D</a:t>
                </a:r>
                <a:r>
                  <a:rPr lang="en-US" altLang="zh-CN" sz="2000" i="1" baseline="-25000" dirty="0"/>
                  <a:t>&lt;u-l&gt;</a:t>
                </a:r>
                <a:r>
                  <a:rPr lang="en-US" altLang="zh-CN" sz="2000" i="1" baseline="-25000" dirty="0" err="1"/>
                  <a:t>p,l</a:t>
                </a:r>
                <a:r>
                  <a:rPr lang="en-US" altLang="zh-CN" sz="2000" baseline="-25000" dirty="0"/>
                  <a:t> </a:t>
                </a:r>
                <a:r>
                  <a:rPr lang="en-US" altLang="zh-CN" sz="2000" dirty="0">
                    <a:latin typeface="黑体" panose="02010609060101010101" pitchFamily="49" charset="-122"/>
                    <a:ea typeface="黑体" panose="02010609060101010101" pitchFamily="49" charset="-122"/>
                  </a:rPr>
                  <a:t>)               </a:t>
                </a:r>
                <a:r>
                  <a:rPr lang="en-US" altLang="zh-CN" sz="2000" dirty="0">
                    <a:latin typeface="+mn-lt"/>
                    <a:ea typeface="黑体" panose="02010609060101010101" pitchFamily="49" charset="-122"/>
                  </a:rPr>
                  <a:t>(9)</a:t>
                </a:r>
                <a:endParaRPr lang="en-US" altLang="zh-CN" sz="2000" dirty="0">
                  <a:latin typeface="+mn-lt"/>
                  <a:ea typeface="黑体" panose="02010609060101010101" pitchFamily="49" charset="-122"/>
                </a:endParaRPr>
              </a:p>
              <a:p>
                <a:pPr lvl="1">
                  <a:lnSpc>
                    <a:spcPts val="3600"/>
                  </a:lnSpc>
                </a:pPr>
                <a:r>
                  <a:rPr lang="zh-CN" altLang="en-US" sz="2000" dirty="0">
                    <a:latin typeface="+mn-lt"/>
                    <a:ea typeface="黑体" panose="02010609060101010101" pitchFamily="49" charset="-122"/>
                  </a:rPr>
                  <a:t>③然后按照下面的顺序恢复</a:t>
                </a:r>
                <a:r>
                  <a:rPr lang="en-US" altLang="zh-CN" sz="2000" i="1" dirty="0" err="1">
                    <a:latin typeface="+mn-lt"/>
                    <a:ea typeface="黑体" panose="02010609060101010101" pitchFamily="49" charset="-122"/>
                  </a:rPr>
                  <a:t>i</a:t>
                </a:r>
                <a:r>
                  <a:rPr lang="zh-CN" altLang="en-US" sz="2000" dirty="0">
                    <a:latin typeface="+mn-lt"/>
                    <a:ea typeface="黑体" panose="02010609060101010101" pitchFamily="49" charset="-122"/>
                  </a:rPr>
                  <a:t>，</a:t>
                </a:r>
                <a:r>
                  <a:rPr lang="en-US" altLang="zh-CN" sz="2000" i="1" dirty="0">
                    <a:latin typeface="+mn-lt"/>
                    <a:ea typeface="黑体" panose="02010609060101010101" pitchFamily="49" charset="-122"/>
                  </a:rPr>
                  <a:t>j</a:t>
                </a:r>
                <a:r>
                  <a:rPr lang="zh-CN" altLang="en-US" sz="2000" dirty="0">
                    <a:latin typeface="+mn-lt"/>
                    <a:ea typeface="黑体" panose="02010609060101010101" pitchFamily="49" charset="-122"/>
                  </a:rPr>
                  <a:t>数据块的各个信息：</a:t>
                </a:r>
                <a:endParaRPr lang="en-US" altLang="zh-CN" sz="2000" dirty="0">
                  <a:latin typeface="+mn-lt"/>
                  <a:ea typeface="黑体" panose="02010609060101010101" pitchFamily="49" charset="-122"/>
                </a:endParaRPr>
              </a:p>
            </p:txBody>
          </p:sp>
        </mc:Choice>
        <mc:Fallback>
          <p:sp>
            <p:nvSpPr>
              <p:cNvPr id="14" name="文本框 13"/>
              <p:cNvSpPr txBox="1">
                <a:spLocks noRot="1" noChangeAspect="1" noMove="1" noResize="1" noEditPoints="1" noAdjustHandles="1" noChangeArrowheads="1" noChangeShapeType="1" noTextEdit="1"/>
              </p:cNvSpPr>
              <p:nvPr/>
            </p:nvSpPr>
            <p:spPr>
              <a:xfrm>
                <a:off x="287129" y="1102177"/>
                <a:ext cx="8305582" cy="4650568"/>
              </a:xfrm>
              <a:prstGeom prst="rect">
                <a:avLst/>
              </a:prstGeom>
              <a:blipFill rotWithShape="1">
                <a:blip r:embed="rId1"/>
                <a:stretch>
                  <a:fillRect l="-1" t="-10" r="6" b="6"/>
                </a:stretch>
              </a:blipFill>
            </p:spPr>
            <p:txBody>
              <a:bodyPr/>
              <a:lstStyle/>
              <a:p>
                <a:r>
                  <a:rPr lang="zh-CN" alt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EVENODD</a:t>
            </a:r>
            <a:r>
              <a:rPr lang="zh-CN" altLang="en-US" sz="2400" dirty="0">
                <a:sym typeface="+mn-ea"/>
              </a:rPr>
              <a:t>码解码过程</a:t>
            </a:r>
            <a:endParaRPr lang="zh-CN" altLang="en-US" sz="2400" dirty="0">
              <a:sym typeface="+mn-ea"/>
            </a:endParaRPr>
          </a:p>
        </p:txBody>
      </p:sp>
      <p:sp>
        <p:nvSpPr>
          <p:cNvPr id="14" name="文本框 13"/>
          <p:cNvSpPr txBox="1"/>
          <p:nvPr/>
        </p:nvSpPr>
        <p:spPr>
          <a:xfrm>
            <a:off x="287129" y="1102177"/>
            <a:ext cx="8305582" cy="142199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latin typeface="+mn-lt"/>
              </a:rPr>
              <a:t>        </a:t>
            </a:r>
            <a:r>
              <a:rPr lang="en-US" altLang="zh-CN" dirty="0">
                <a:latin typeface="+mn-lt"/>
              </a:rPr>
              <a:t>1  Set </a:t>
            </a:r>
            <a:r>
              <a:rPr lang="en-US" altLang="zh-CN" i="1" dirty="0">
                <a:latin typeface="+mn-lt"/>
              </a:rPr>
              <a:t>s</a:t>
            </a:r>
            <a:r>
              <a:rPr lang="en-US" altLang="zh-CN" dirty="0">
                <a:latin typeface="+mn-lt"/>
              </a:rPr>
              <a:t> </a:t>
            </a:r>
            <a:r>
              <a:rPr lang="en-US" altLang="zh-CN" dirty="0">
                <a:latin typeface="+mn-lt"/>
                <a:sym typeface="Wingdings" panose="05000000000000000000" pitchFamily="2" charset="2"/>
              </a:rPr>
              <a:t> &lt;-(</a:t>
            </a:r>
            <a:r>
              <a:rPr lang="en-US" altLang="zh-CN" i="1" dirty="0">
                <a:latin typeface="+mn-lt"/>
                <a:sym typeface="Wingdings" panose="05000000000000000000" pitchFamily="2" charset="2"/>
              </a:rPr>
              <a:t>j-</a:t>
            </a:r>
            <a:r>
              <a:rPr lang="en-US" altLang="zh-CN" i="1" dirty="0" err="1">
                <a:latin typeface="+mn-lt"/>
                <a:sym typeface="Wingdings" panose="05000000000000000000" pitchFamily="2" charset="2"/>
              </a:rPr>
              <a:t>i</a:t>
            </a:r>
            <a:r>
              <a:rPr lang="en-US" altLang="zh-CN" dirty="0">
                <a:latin typeface="+mn-lt"/>
                <a:sym typeface="Wingdings" panose="05000000000000000000" pitchFamily="2" charset="2"/>
              </a:rPr>
              <a:t>)-1&gt;</a:t>
            </a:r>
            <a:r>
              <a:rPr lang="en-US" altLang="zh-CN" i="1" dirty="0">
                <a:latin typeface="+mn-lt"/>
                <a:sym typeface="Wingdings" panose="05000000000000000000" pitchFamily="2" charset="2"/>
              </a:rPr>
              <a:t>p</a:t>
            </a:r>
            <a:r>
              <a:rPr lang="en-US" altLang="zh-CN" dirty="0">
                <a:latin typeface="+mn-lt"/>
                <a:sym typeface="Wingdings" panose="05000000000000000000" pitchFamily="2" charset="2"/>
              </a:rPr>
              <a:t> and </a:t>
            </a:r>
            <a:r>
              <a:rPr lang="en-US" altLang="zh-CN" i="1" dirty="0">
                <a:latin typeface="+mn-lt"/>
                <a:sym typeface="Wingdings" panose="05000000000000000000" pitchFamily="2" charset="2"/>
              </a:rPr>
              <a:t>a</a:t>
            </a:r>
            <a:r>
              <a:rPr lang="en-US" altLang="zh-CN" i="1" baseline="-25000" dirty="0">
                <a:latin typeface="+mn-lt"/>
                <a:sym typeface="Wingdings" panose="05000000000000000000" pitchFamily="2" charset="2"/>
              </a:rPr>
              <a:t>m-</a:t>
            </a:r>
            <a:r>
              <a:rPr lang="en-US" altLang="zh-CN" baseline="-25000" dirty="0">
                <a:latin typeface="+mn-lt"/>
                <a:sym typeface="Wingdings" panose="05000000000000000000" pitchFamily="2" charset="2"/>
              </a:rPr>
              <a:t>1</a:t>
            </a:r>
            <a:r>
              <a:rPr lang="en-US" altLang="zh-CN" i="1" baseline="-25000" dirty="0">
                <a:latin typeface="+mn-lt"/>
                <a:sym typeface="Wingdings" panose="05000000000000000000" pitchFamily="2" charset="2"/>
              </a:rPr>
              <a:t>,l</a:t>
            </a:r>
            <a:r>
              <a:rPr lang="en-US" altLang="zh-CN" dirty="0">
                <a:latin typeface="+mn-lt"/>
                <a:sym typeface="Wingdings" panose="05000000000000000000" pitchFamily="2" charset="2"/>
              </a:rPr>
              <a:t>  0 for 0 </a:t>
            </a:r>
            <a:r>
              <a:rPr lang="zh-CN" altLang="en-US" dirty="0">
                <a:latin typeface="+mn-lt"/>
                <a:sym typeface="Wingdings" panose="05000000000000000000" pitchFamily="2" charset="2"/>
              </a:rPr>
              <a:t>≤ </a:t>
            </a:r>
            <a:r>
              <a:rPr lang="en-US" altLang="zh-CN" i="1" dirty="0">
                <a:latin typeface="+mn-lt"/>
                <a:sym typeface="Wingdings" panose="05000000000000000000" pitchFamily="2" charset="2"/>
              </a:rPr>
              <a:t>l</a:t>
            </a:r>
            <a:r>
              <a:rPr lang="en-US" altLang="zh-CN" dirty="0">
                <a:latin typeface="+mn-lt"/>
                <a:sym typeface="Wingdings" panose="05000000000000000000" pitchFamily="2" charset="2"/>
              </a:rPr>
              <a:t> </a:t>
            </a:r>
            <a:r>
              <a:rPr lang="zh-CN" altLang="en-US" dirty="0">
                <a:latin typeface="+mn-lt"/>
                <a:sym typeface="Wingdings" panose="05000000000000000000" pitchFamily="2" charset="2"/>
              </a:rPr>
              <a:t>≤</a:t>
            </a:r>
            <a:r>
              <a:rPr lang="en-US" altLang="zh-CN" i="1" dirty="0">
                <a:latin typeface="+mn-lt"/>
                <a:sym typeface="Wingdings" panose="05000000000000000000" pitchFamily="2" charset="2"/>
              </a:rPr>
              <a:t>p</a:t>
            </a:r>
            <a:r>
              <a:rPr lang="en-US" altLang="zh-CN" dirty="0">
                <a:latin typeface="+mn-lt"/>
                <a:sym typeface="Wingdings" panose="05000000000000000000" pitchFamily="2" charset="2"/>
              </a:rPr>
              <a:t>-1</a:t>
            </a:r>
            <a:endParaRPr lang="en-US" altLang="zh-CN" dirty="0">
              <a:latin typeface="+mn-lt"/>
              <a:sym typeface="Wingdings" panose="05000000000000000000" pitchFamily="2" charset="2"/>
            </a:endParaRPr>
          </a:p>
          <a:p>
            <a:pPr>
              <a:lnSpc>
                <a:spcPts val="3600"/>
              </a:lnSpc>
            </a:pPr>
            <a:r>
              <a:rPr lang="en-US" altLang="zh-CN" dirty="0">
                <a:latin typeface="+mn-lt"/>
                <a:sym typeface="Wingdings" panose="05000000000000000000" pitchFamily="2" charset="2"/>
              </a:rPr>
              <a:t>        2  Let </a:t>
            </a:r>
            <a:r>
              <a:rPr lang="en-US" altLang="zh-CN" i="1" dirty="0" err="1">
                <a:latin typeface="+mn-lt"/>
                <a:sym typeface="Wingdings" panose="05000000000000000000" pitchFamily="2" charset="2"/>
              </a:rPr>
              <a:t>a</a:t>
            </a:r>
            <a:r>
              <a:rPr lang="en-US" altLang="zh-CN" i="1" baseline="-25000" dirty="0" err="1">
                <a:latin typeface="+mn-lt"/>
                <a:sym typeface="Wingdings" panose="05000000000000000000" pitchFamily="2" charset="2"/>
              </a:rPr>
              <a:t>s,j</a:t>
            </a:r>
            <a:r>
              <a:rPr lang="en-US" altLang="zh-CN" i="1" dirty="0">
                <a:latin typeface="+mn-lt"/>
                <a:sym typeface="Wingdings" panose="05000000000000000000" pitchFamily="2" charset="2"/>
              </a:rPr>
              <a:t> </a:t>
            </a:r>
            <a:r>
              <a:rPr lang="en-US" altLang="zh-CN" dirty="0">
                <a:latin typeface="+mn-lt"/>
                <a:sym typeface="Wingdings" panose="05000000000000000000" pitchFamily="2" charset="2"/>
              </a:rPr>
              <a:t> </a:t>
            </a:r>
            <a:r>
              <a:rPr lang="en-US" altLang="zh-CN" i="1" dirty="0">
                <a:latin typeface="+mn-lt"/>
                <a:sym typeface="Wingdings" panose="05000000000000000000" pitchFamily="2" charset="2"/>
              </a:rPr>
              <a:t>S</a:t>
            </a:r>
            <a:r>
              <a:rPr lang="en-US" altLang="zh-CN" i="1" baseline="-25000" dirty="0">
                <a:latin typeface="+mn-lt"/>
                <a:sym typeface="Wingdings" panose="05000000000000000000" pitchFamily="2" charset="2"/>
              </a:rPr>
              <a:t>&lt;</a:t>
            </a:r>
            <a:r>
              <a:rPr lang="en-US" altLang="zh-CN" i="1" baseline="-25000" dirty="0" err="1">
                <a:latin typeface="+mn-lt"/>
                <a:sym typeface="Wingdings" panose="05000000000000000000" pitchFamily="2" charset="2"/>
              </a:rPr>
              <a:t>j+s</a:t>
            </a:r>
            <a:r>
              <a:rPr lang="en-US" altLang="zh-CN" i="1" baseline="-25000" dirty="0">
                <a:latin typeface="+mn-lt"/>
                <a:sym typeface="Wingdings" panose="05000000000000000000" pitchFamily="2" charset="2"/>
              </a:rPr>
              <a:t>&gt;p</a:t>
            </a:r>
            <a:r>
              <a:rPr lang="en-US" altLang="zh-CN" baseline="30000" dirty="0">
                <a:latin typeface="+mn-lt"/>
                <a:sym typeface="Wingdings" panose="05000000000000000000" pitchFamily="2" charset="2"/>
              </a:rPr>
              <a:t>(1)</a:t>
            </a:r>
            <a:r>
              <a:rPr lang="en-US" altLang="zh-CN" dirty="0">
                <a:latin typeface="+mn-lt"/>
                <a:sym typeface="Wingdings" panose="05000000000000000000" pitchFamily="2" charset="2"/>
              </a:rPr>
              <a:t> </a:t>
            </a:r>
            <a:r>
              <a:rPr lang="en-US" altLang="zh-CN" dirty="0">
                <a:latin typeface="+mn-lt"/>
                <a:ea typeface="宋体" panose="02010600030101010101" pitchFamily="2" charset="-122"/>
              </a:rPr>
              <a:t>⊕</a:t>
            </a:r>
            <a:r>
              <a:rPr lang="en-US" altLang="zh-CN" i="1" dirty="0">
                <a:latin typeface="+mn-lt"/>
                <a:ea typeface="宋体" panose="02010600030101010101" pitchFamily="2" charset="-122"/>
              </a:rPr>
              <a:t>a</a:t>
            </a:r>
            <a:r>
              <a:rPr lang="en-US" altLang="zh-CN" i="1" baseline="-25000" dirty="0">
                <a:latin typeface="+mn-lt"/>
                <a:ea typeface="宋体" panose="02010600030101010101" pitchFamily="2" charset="-122"/>
              </a:rPr>
              <a:t>&lt;s+(j-</a:t>
            </a:r>
            <a:r>
              <a:rPr lang="en-US" altLang="zh-CN" i="1" baseline="-25000" dirty="0" err="1">
                <a:latin typeface="+mn-lt"/>
                <a:ea typeface="宋体" panose="02010600030101010101" pitchFamily="2" charset="-122"/>
              </a:rPr>
              <a:t>i</a:t>
            </a:r>
            <a:r>
              <a:rPr lang="en-US" altLang="zh-CN" i="1" baseline="-25000" dirty="0">
                <a:latin typeface="+mn-lt"/>
                <a:ea typeface="宋体" panose="02010600030101010101" pitchFamily="2" charset="-122"/>
              </a:rPr>
              <a:t>)&gt;</a:t>
            </a:r>
            <a:r>
              <a:rPr lang="en-US" altLang="zh-CN" i="1" baseline="-25000" dirty="0" err="1">
                <a:latin typeface="+mn-lt"/>
                <a:ea typeface="宋体" panose="02010600030101010101" pitchFamily="2" charset="-122"/>
              </a:rPr>
              <a:t>p,i</a:t>
            </a:r>
            <a:r>
              <a:rPr lang="en-US" altLang="zh-CN" i="1" baseline="-25000" dirty="0">
                <a:latin typeface="+mn-lt"/>
                <a:ea typeface="宋体" panose="02010600030101010101" pitchFamily="2" charset="-122"/>
              </a:rPr>
              <a:t> </a:t>
            </a:r>
            <a:r>
              <a:rPr lang="en-US" altLang="zh-CN" dirty="0">
                <a:latin typeface="+mn-lt"/>
                <a:ea typeface="宋体" panose="02010600030101010101" pitchFamily="2" charset="-122"/>
              </a:rPr>
              <a:t>and </a:t>
            </a:r>
            <a:r>
              <a:rPr lang="en-US" altLang="zh-CN" i="1" dirty="0" err="1">
                <a:latin typeface="+mn-lt"/>
                <a:ea typeface="宋体" panose="02010600030101010101" pitchFamily="2" charset="-122"/>
              </a:rPr>
              <a:t>a</a:t>
            </a:r>
            <a:r>
              <a:rPr lang="en-US" altLang="zh-CN" i="1" baseline="-25000" dirty="0" err="1">
                <a:latin typeface="+mn-lt"/>
                <a:ea typeface="宋体" panose="02010600030101010101" pitchFamily="2" charset="-122"/>
              </a:rPr>
              <a:t>s,i</a:t>
            </a:r>
            <a:r>
              <a:rPr lang="en-US" altLang="zh-CN" dirty="0">
                <a:latin typeface="+mn-lt"/>
                <a:ea typeface="宋体" panose="02010600030101010101" pitchFamily="2" charset="-122"/>
              </a:rPr>
              <a:t> </a:t>
            </a:r>
            <a:r>
              <a:rPr lang="en-US" altLang="zh-CN" dirty="0">
                <a:latin typeface="+mn-lt"/>
                <a:ea typeface="宋体" panose="02010600030101010101" pitchFamily="2" charset="-122"/>
                <a:sym typeface="Wingdings" panose="05000000000000000000" pitchFamily="2" charset="2"/>
              </a:rPr>
              <a:t> </a:t>
            </a:r>
            <a:r>
              <a:rPr lang="en-US" altLang="zh-CN" i="1" dirty="0">
                <a:latin typeface="+mn-lt"/>
                <a:ea typeface="宋体" panose="02010600030101010101" pitchFamily="2" charset="-122"/>
                <a:sym typeface="Wingdings" panose="05000000000000000000" pitchFamily="2" charset="2"/>
              </a:rPr>
              <a:t>S</a:t>
            </a:r>
            <a:r>
              <a:rPr lang="en-US" altLang="zh-CN" i="1" baseline="-25000" dirty="0">
                <a:latin typeface="+mn-lt"/>
                <a:ea typeface="宋体" panose="02010600030101010101" pitchFamily="2" charset="-122"/>
                <a:sym typeface="Wingdings" panose="05000000000000000000" pitchFamily="2" charset="2"/>
              </a:rPr>
              <a:t>s</a:t>
            </a:r>
            <a:r>
              <a:rPr lang="en-US" altLang="zh-CN" baseline="30000" dirty="0">
                <a:latin typeface="+mn-lt"/>
                <a:ea typeface="宋体" panose="02010600030101010101" pitchFamily="2" charset="-122"/>
                <a:sym typeface="Wingdings" panose="05000000000000000000" pitchFamily="2" charset="2"/>
              </a:rPr>
              <a:t>(0)</a:t>
            </a:r>
            <a:r>
              <a:rPr lang="en-US" altLang="zh-CN" baseline="30000" dirty="0">
                <a:latin typeface="+mn-lt"/>
                <a:ea typeface="宋体" panose="02010600030101010101" pitchFamily="2" charset="-122"/>
              </a:rPr>
              <a:t> </a:t>
            </a:r>
            <a:r>
              <a:rPr lang="en-US" altLang="zh-CN" dirty="0">
                <a:latin typeface="+mn-lt"/>
                <a:ea typeface="宋体" panose="02010600030101010101" pitchFamily="2" charset="-122"/>
              </a:rPr>
              <a:t>⊕</a:t>
            </a:r>
            <a:r>
              <a:rPr lang="en-US" altLang="zh-CN" i="1" dirty="0" err="1">
                <a:latin typeface="+mn-lt"/>
                <a:ea typeface="宋体" panose="02010600030101010101" pitchFamily="2" charset="-122"/>
              </a:rPr>
              <a:t>a</a:t>
            </a:r>
            <a:r>
              <a:rPr lang="en-US" altLang="zh-CN" i="1" baseline="-25000" dirty="0" err="1">
                <a:latin typeface="+mn-lt"/>
                <a:ea typeface="宋体" panose="02010600030101010101" pitchFamily="2" charset="-122"/>
              </a:rPr>
              <a:t>s,j</a:t>
            </a:r>
            <a:endParaRPr lang="en-US" altLang="zh-CN" i="1" baseline="-25000" dirty="0">
              <a:latin typeface="+mn-lt"/>
              <a:ea typeface="宋体" panose="02010600030101010101" pitchFamily="2" charset="-122"/>
            </a:endParaRPr>
          </a:p>
          <a:p>
            <a:pPr>
              <a:lnSpc>
                <a:spcPts val="3600"/>
              </a:lnSpc>
            </a:pPr>
            <a:r>
              <a:rPr lang="en-US" altLang="zh-CN" dirty="0">
                <a:latin typeface="+mn-lt"/>
              </a:rPr>
              <a:t>        3  Set </a:t>
            </a:r>
            <a:r>
              <a:rPr lang="en-US" altLang="zh-CN" i="1" dirty="0">
                <a:latin typeface="+mn-lt"/>
              </a:rPr>
              <a:t>s</a:t>
            </a:r>
            <a:r>
              <a:rPr lang="en-US" altLang="zh-CN" dirty="0">
                <a:latin typeface="+mn-lt"/>
              </a:rPr>
              <a:t> </a:t>
            </a:r>
            <a:r>
              <a:rPr lang="en-US" altLang="zh-CN" dirty="0">
                <a:latin typeface="+mn-lt"/>
                <a:sym typeface="Wingdings" panose="05000000000000000000" pitchFamily="2" charset="2"/>
              </a:rPr>
              <a:t> &lt;</a:t>
            </a:r>
            <a:r>
              <a:rPr lang="en-US" altLang="zh-CN" i="1" dirty="0">
                <a:latin typeface="+mn-lt"/>
                <a:sym typeface="Wingdings" panose="05000000000000000000" pitchFamily="2" charset="2"/>
              </a:rPr>
              <a:t>s-</a:t>
            </a:r>
            <a:r>
              <a:rPr lang="en-US" altLang="zh-CN" dirty="0">
                <a:latin typeface="+mn-lt"/>
                <a:sym typeface="Wingdings" panose="05000000000000000000" pitchFamily="2" charset="2"/>
              </a:rPr>
              <a:t>(</a:t>
            </a:r>
            <a:r>
              <a:rPr lang="en-US" altLang="zh-CN" i="1" dirty="0">
                <a:latin typeface="+mn-lt"/>
                <a:sym typeface="Wingdings" panose="05000000000000000000" pitchFamily="2" charset="2"/>
              </a:rPr>
              <a:t>j-</a:t>
            </a:r>
            <a:r>
              <a:rPr lang="en-US" altLang="zh-CN" i="1" dirty="0" err="1">
                <a:latin typeface="+mn-lt"/>
                <a:sym typeface="Wingdings" panose="05000000000000000000" pitchFamily="2" charset="2"/>
              </a:rPr>
              <a:t>i</a:t>
            </a:r>
            <a:r>
              <a:rPr lang="en-US" altLang="zh-CN" dirty="0">
                <a:latin typeface="+mn-lt"/>
                <a:sym typeface="Wingdings" panose="05000000000000000000" pitchFamily="2" charset="2"/>
              </a:rPr>
              <a:t>)</a:t>
            </a:r>
            <a:r>
              <a:rPr lang="en-US" altLang="zh-CN" i="1" dirty="0">
                <a:latin typeface="+mn-lt"/>
                <a:sym typeface="Wingdings" panose="05000000000000000000" pitchFamily="2" charset="2"/>
              </a:rPr>
              <a:t>-</a:t>
            </a:r>
            <a:r>
              <a:rPr lang="en-US" altLang="zh-CN" dirty="0">
                <a:latin typeface="+mn-lt"/>
                <a:sym typeface="Wingdings" panose="05000000000000000000" pitchFamily="2" charset="2"/>
              </a:rPr>
              <a:t>1&gt;</a:t>
            </a:r>
            <a:r>
              <a:rPr lang="en-US" altLang="zh-CN" i="1" dirty="0">
                <a:latin typeface="+mn-lt"/>
                <a:sym typeface="Wingdings" panose="05000000000000000000" pitchFamily="2" charset="2"/>
              </a:rPr>
              <a:t>p</a:t>
            </a:r>
            <a:r>
              <a:rPr lang="en-US" altLang="zh-CN" dirty="0">
                <a:latin typeface="+mn-lt"/>
                <a:sym typeface="Wingdings" panose="05000000000000000000" pitchFamily="2" charset="2"/>
              </a:rPr>
              <a:t>  if </a:t>
            </a:r>
            <a:r>
              <a:rPr lang="en-US" altLang="zh-CN" i="1" dirty="0">
                <a:latin typeface="+mn-lt"/>
                <a:sym typeface="Wingdings" panose="05000000000000000000" pitchFamily="2" charset="2"/>
              </a:rPr>
              <a:t>s</a:t>
            </a:r>
            <a:r>
              <a:rPr lang="en-US" altLang="zh-CN" dirty="0">
                <a:latin typeface="+mn-lt"/>
                <a:sym typeface="Wingdings" panose="05000000000000000000" pitchFamily="2" charset="2"/>
              </a:rPr>
              <a:t>=</a:t>
            </a:r>
            <a:r>
              <a:rPr lang="en-US" altLang="zh-CN" i="1" dirty="0">
                <a:latin typeface="+mn-lt"/>
                <a:sym typeface="Wingdings" panose="05000000000000000000" pitchFamily="2" charset="2"/>
              </a:rPr>
              <a:t>p</a:t>
            </a:r>
            <a:r>
              <a:rPr lang="en-US" altLang="zh-CN" dirty="0">
                <a:latin typeface="+mn-lt"/>
                <a:sym typeface="Wingdings" panose="05000000000000000000" pitchFamily="2" charset="2"/>
              </a:rPr>
              <a:t>-1 then stop,  else </a:t>
            </a:r>
            <a:r>
              <a:rPr lang="en-US" altLang="zh-CN" dirty="0" err="1">
                <a:latin typeface="+mn-lt"/>
                <a:sym typeface="Wingdings" panose="05000000000000000000" pitchFamily="2" charset="2"/>
              </a:rPr>
              <a:t>goto</a:t>
            </a:r>
            <a:r>
              <a:rPr lang="en-US" altLang="zh-CN" dirty="0">
                <a:latin typeface="+mn-lt"/>
                <a:sym typeface="Wingdings" panose="05000000000000000000" pitchFamily="2" charset="2"/>
              </a:rPr>
              <a:t> step 2</a:t>
            </a:r>
            <a:endParaRPr lang="en-US" altLang="zh-CN" dirty="0">
              <a:latin typeface="+mn-lt"/>
            </a:endParaRPr>
          </a:p>
        </p:txBody>
      </p:sp>
      <p:sp>
        <p:nvSpPr>
          <p:cNvPr id="5" name="文本框 4"/>
          <p:cNvSpPr txBox="1"/>
          <p:nvPr/>
        </p:nvSpPr>
        <p:spPr>
          <a:xfrm>
            <a:off x="2743248" y="2835771"/>
            <a:ext cx="5943444" cy="49866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t> 利用译码算法恢复第</a:t>
            </a:r>
            <a:r>
              <a:rPr lang="en-US" altLang="zh-CN" dirty="0"/>
              <a:t>0</a:t>
            </a:r>
            <a:r>
              <a:rPr lang="zh-CN" altLang="en-US" dirty="0"/>
              <a:t>和</a:t>
            </a:r>
            <a:r>
              <a:rPr lang="en-US" altLang="zh-CN" dirty="0"/>
              <a:t>2</a:t>
            </a:r>
            <a:r>
              <a:rPr lang="zh-CN" altLang="en-US" dirty="0"/>
              <a:t>个错误数据块的信息：</a:t>
            </a:r>
            <a:endParaRPr lang="en-US" altLang="zh-CN" dirty="0">
              <a:latin typeface="+mn-lt"/>
            </a:endParaRPr>
          </a:p>
        </p:txBody>
      </p:sp>
      <p:graphicFrame>
        <p:nvGraphicFramePr>
          <p:cNvPr id="3" name="表格 3"/>
          <p:cNvGraphicFramePr>
            <a:graphicFrameLocks noGrp="1"/>
          </p:cNvGraphicFramePr>
          <p:nvPr/>
        </p:nvGraphicFramePr>
        <p:xfrm>
          <a:off x="2856866" y="4249364"/>
          <a:ext cx="6095999" cy="1483360"/>
        </p:xfrm>
        <a:graphic>
          <a:graphicData uri="http://schemas.openxmlformats.org/drawingml/2006/table">
            <a:tbl>
              <a:tblPr firstRow="1" bandRow="1">
                <a:tableStyleId>{5C22544A-7EE6-4342-B048-85BDC9FD1C3A}</a:tableStyleId>
              </a:tblPr>
              <a:tblGrid>
                <a:gridCol w="870857"/>
                <a:gridCol w="870857"/>
                <a:gridCol w="870857"/>
                <a:gridCol w="870857"/>
                <a:gridCol w="870857"/>
                <a:gridCol w="870857"/>
                <a:gridCol w="870857"/>
              </a:tblGrid>
              <a:tr h="370840">
                <a:tc>
                  <a:txBody>
                    <a:bodyPr/>
                    <a:lstStyle/>
                    <a:p>
                      <a:pPr algn="ctr"/>
                      <a:r>
                        <a:rPr lang="zh-CN" altLang="en-US" b="0" dirty="0">
                          <a:solidFill>
                            <a:schemeClr val="tx1"/>
                          </a:solidFill>
                          <a:latin typeface="+mn-lt"/>
                        </a:rPr>
                        <a:t>？</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a:t>
                      </a:r>
                      <a:endPar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solidFill>
                            <a:schemeClr val="tx1"/>
                          </a:solidFill>
                          <a:latin typeface="+mn-lt"/>
                        </a:rPr>
                        <a:t>？</a:t>
                      </a:r>
                      <a:endParaRPr lang="zh-CN" altLang="en-US"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latin typeface="+mn-lt"/>
                        </a:rPr>
                        <a:t>1</a:t>
                      </a:r>
                      <a:endParaRPr lang="zh-CN" altLang="en-US"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a:t>
                      </a:r>
                      <a:endPar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chemeClr val="tx1"/>
                          </a:solidFill>
                          <a:effectLst/>
                          <a:uLnTx/>
                          <a:uFillTx/>
                          <a:latin typeface="+mn-lt"/>
                          <a:ea typeface="黑体" panose="02010609060101010101" pitchFamily="49" charset="-122"/>
                          <a:cs typeface="+mn-cs"/>
                        </a:rPr>
                        <a:t>？</a:t>
                      </a:r>
                      <a:endPar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latin typeface="+mn-lt"/>
                        </a:rPr>
                        <a:t>1</a:t>
                      </a:r>
                      <a:endParaRPr lang="zh-CN" altLang="en-US"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chemeClr val="tx1"/>
                          </a:solidFill>
                          <a:effectLst/>
                          <a:uLnTx/>
                          <a:uFillTx/>
                          <a:latin typeface="+mn-lt"/>
                          <a:ea typeface="黑体" panose="02010609060101010101" pitchFamily="49" charset="-122"/>
                          <a:cs typeface="+mn-cs"/>
                        </a:rPr>
                        <a:t>？</a:t>
                      </a:r>
                      <a:endPar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a:t>
                      </a:r>
                      <a:endPar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latin typeface="+mn-lt"/>
                        </a:rPr>
                        <a:t>1</a:t>
                      </a:r>
                      <a:endParaRPr lang="zh-CN" altLang="en-US"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a:t>
                      </a:r>
                      <a:endPar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7" name="文本框 6"/>
          <p:cNvSpPr txBox="1"/>
          <p:nvPr/>
        </p:nvSpPr>
        <p:spPr>
          <a:xfrm>
            <a:off x="5342724" y="3646036"/>
            <a:ext cx="1167128" cy="49866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1800" dirty="0"/>
              <a:t>初始数据</a:t>
            </a:r>
            <a:endParaRPr lang="en-US" altLang="zh-CN" sz="1800" dirty="0">
              <a:latin typeface="+mn-lt"/>
            </a:endParaRPr>
          </a:p>
        </p:txBody>
      </p:sp>
      <p:grpSp>
        <p:nvGrpSpPr>
          <p:cNvPr id="6" name="组合 5"/>
          <p:cNvGrpSpPr/>
          <p:nvPr/>
        </p:nvGrpSpPr>
        <p:grpSpPr>
          <a:xfrm>
            <a:off x="0" y="3422215"/>
            <a:ext cx="2743248" cy="2140330"/>
            <a:chOff x="0" y="3422215"/>
            <a:chExt cx="2743248" cy="214033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3422215"/>
              <a:ext cx="2642894" cy="214033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1524080" y="4724366"/>
              <a:ext cx="1219168" cy="457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i="1" dirty="0">
                  <a:solidFill>
                    <a:schemeClr val="tx1"/>
                  </a:solidFill>
                  <a:latin typeface="隶书" panose="02010509060101010101" pitchFamily="49" charset="-122"/>
                  <a:ea typeface="隶书" panose="02010509060101010101" pitchFamily="49" charset="-122"/>
                </a:rPr>
                <a:t>举个例子！</a:t>
              </a:r>
              <a:endParaRPr lang="zh-CN" altLang="en-US" sz="1600" i="1" dirty="0">
                <a:solidFill>
                  <a:schemeClr val="tx1"/>
                </a:solidFill>
                <a:latin typeface="隶书" panose="02010509060101010101" pitchFamily="49" charset="-122"/>
                <a:ea typeface="隶书" panose="02010509060101010101" pitchFamily="49" charset="-122"/>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EVENODD</a:t>
            </a:r>
            <a:r>
              <a:rPr lang="zh-CN" altLang="en-US" sz="2400" dirty="0">
                <a:sym typeface="+mn-ea"/>
              </a:rPr>
              <a:t>码解码过程</a:t>
            </a:r>
            <a:endParaRPr lang="zh-CN" altLang="en-US" sz="2400" dirty="0">
              <a:sym typeface="+mn-ea"/>
            </a:endParaRPr>
          </a:p>
        </p:txBody>
      </p:sp>
      <p:graphicFrame>
        <p:nvGraphicFramePr>
          <p:cNvPr id="3" name="表格 3"/>
          <p:cNvGraphicFramePr>
            <a:graphicFrameLocks noGrp="1"/>
          </p:cNvGraphicFramePr>
          <p:nvPr/>
        </p:nvGraphicFramePr>
        <p:xfrm>
          <a:off x="1104991" y="1447852"/>
          <a:ext cx="6934018" cy="2148548"/>
        </p:xfrm>
        <a:graphic>
          <a:graphicData uri="http://schemas.openxmlformats.org/drawingml/2006/table">
            <a:tbl>
              <a:tblPr firstRow="1" bandRow="1">
                <a:tableStyleId>{5C22544A-7EE6-4342-B048-85BDC9FD1C3A}</a:tableStyleId>
              </a:tblPr>
              <a:tblGrid>
                <a:gridCol w="990574"/>
                <a:gridCol w="990574"/>
                <a:gridCol w="990574"/>
                <a:gridCol w="990574"/>
                <a:gridCol w="990574"/>
                <a:gridCol w="990574"/>
                <a:gridCol w="990574"/>
              </a:tblGrid>
              <a:tr h="537137">
                <a:tc>
                  <a:txBody>
                    <a:bodyPr/>
                    <a:lstStyle/>
                    <a:p>
                      <a:pPr algn="ctr"/>
                      <a:r>
                        <a:rPr lang="zh-CN" altLang="en-US" b="0" dirty="0">
                          <a:solidFill>
                            <a:schemeClr val="tx1"/>
                          </a:solidFill>
                          <a:latin typeface="+mn-lt"/>
                        </a:rPr>
                        <a:t>？</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a:t>
                      </a:r>
                      <a:endPar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3713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solidFill>
                            <a:schemeClr val="tx1"/>
                          </a:solidFill>
                          <a:latin typeface="+mn-lt"/>
                        </a:rPr>
                        <a:t>？</a:t>
                      </a:r>
                      <a:endParaRPr lang="zh-CN" altLang="en-US"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latin typeface="+mn-lt"/>
                        </a:rPr>
                        <a:t>1</a:t>
                      </a:r>
                      <a:endParaRPr lang="zh-CN" altLang="en-US"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a:t>
                      </a:r>
                      <a:endPar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3713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chemeClr val="tx1"/>
                          </a:solidFill>
                          <a:effectLst/>
                          <a:uLnTx/>
                          <a:uFillTx/>
                          <a:latin typeface="+mn-lt"/>
                          <a:ea typeface="黑体" panose="02010609060101010101" pitchFamily="49" charset="-122"/>
                          <a:cs typeface="+mn-cs"/>
                        </a:rPr>
                        <a:t>？</a:t>
                      </a:r>
                      <a:endPar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latin typeface="+mn-lt"/>
                        </a:rPr>
                        <a:t>1</a:t>
                      </a:r>
                      <a:endParaRPr lang="zh-CN" altLang="en-US"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chemeClr val="tx1"/>
                          </a:solidFill>
                          <a:effectLst/>
                          <a:uLnTx/>
                          <a:uFillTx/>
                          <a:latin typeface="+mn-lt"/>
                          <a:ea typeface="黑体" panose="02010609060101010101" pitchFamily="49" charset="-122"/>
                          <a:cs typeface="+mn-cs"/>
                        </a:rPr>
                        <a:t>？</a:t>
                      </a:r>
                      <a:endPar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3713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a:t>
                      </a:r>
                      <a:endPar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latin typeface="+mn-lt"/>
                        </a:rPr>
                        <a:t>1</a:t>
                      </a:r>
                      <a:endParaRPr lang="zh-CN" altLang="en-US"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a:t>
                      </a:r>
                      <a:endParaRPr kumimoji="0" lang="zh-CN" altLang="en-US" sz="18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1</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b="0" dirty="0">
                          <a:solidFill>
                            <a:schemeClr val="tx1"/>
                          </a:solidFill>
                          <a:latin typeface="+mn-lt"/>
                        </a:rPr>
                        <a:t>0</a:t>
                      </a:r>
                      <a:endParaRPr lang="zh-CN" altLang="en-US"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7" name="文本框 6"/>
          <p:cNvSpPr txBox="1"/>
          <p:nvPr/>
        </p:nvSpPr>
        <p:spPr>
          <a:xfrm>
            <a:off x="972911" y="845019"/>
            <a:ext cx="1142970"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1800" dirty="0"/>
              <a:t>初始数据</a:t>
            </a:r>
            <a:endParaRPr lang="en-US" altLang="zh-CN" sz="1800" dirty="0">
              <a:latin typeface="+mn-lt"/>
            </a:endParaRPr>
          </a:p>
        </p:txBody>
      </p:sp>
      <p:sp>
        <p:nvSpPr>
          <p:cNvPr id="8" name="文本框 7"/>
          <p:cNvSpPr txBox="1"/>
          <p:nvPr/>
        </p:nvSpPr>
        <p:spPr>
          <a:xfrm>
            <a:off x="685902" y="3962386"/>
            <a:ext cx="7979416" cy="149252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800"/>
              </a:lnSpc>
            </a:pPr>
            <a:r>
              <a:rPr lang="zh-CN" altLang="en-US" dirty="0"/>
              <a:t>第一步：</a:t>
            </a:r>
            <a:r>
              <a:rPr lang="zh-CN" altLang="en-US" dirty="0">
                <a:solidFill>
                  <a:schemeClr val="accent1">
                    <a:lumMod val="75000"/>
                  </a:schemeClr>
                </a:solidFill>
              </a:rPr>
              <a:t>找到公共因子</a:t>
            </a:r>
            <a:r>
              <a:rPr lang="en-US" altLang="zh-CN" i="1" dirty="0">
                <a:solidFill>
                  <a:schemeClr val="accent1">
                    <a:lumMod val="75000"/>
                  </a:schemeClr>
                </a:solidFill>
              </a:rPr>
              <a:t>S</a:t>
            </a:r>
            <a:r>
              <a:rPr lang="zh-CN" altLang="en-US" dirty="0"/>
              <a:t>，将这个数组的最后两列相异或，得到</a:t>
            </a:r>
            <a:r>
              <a:rPr lang="en-US" altLang="zh-CN" i="1" dirty="0"/>
              <a:t>S</a:t>
            </a:r>
            <a:r>
              <a:rPr lang="en-US" altLang="zh-CN" dirty="0"/>
              <a:t>=1</a:t>
            </a:r>
            <a:r>
              <a:rPr lang="zh-CN" altLang="en-US" dirty="0"/>
              <a:t>。这意味着，对角校验是奇校验。根据公式</a:t>
            </a:r>
            <a:r>
              <a:rPr lang="en-US" altLang="zh-CN" dirty="0"/>
              <a:t>(6)</a:t>
            </a:r>
            <a:r>
              <a:rPr lang="zh-CN" altLang="en-US" dirty="0"/>
              <a:t>得到校验数组：</a:t>
            </a:r>
            <a:endParaRPr lang="en-US" altLang="zh-CN" dirty="0"/>
          </a:p>
          <a:p>
            <a:pPr>
              <a:lnSpc>
                <a:spcPts val="3800"/>
              </a:lnSpc>
            </a:pPr>
            <a:r>
              <a:rPr lang="en-US" altLang="zh-CN" i="1" dirty="0">
                <a:latin typeface="+mn-lt"/>
              </a:rPr>
              <a:t>S</a:t>
            </a:r>
            <a:r>
              <a:rPr lang="en-US" altLang="zh-CN" baseline="30000" dirty="0">
                <a:latin typeface="+mn-lt"/>
              </a:rPr>
              <a:t>(0) </a:t>
            </a:r>
            <a:r>
              <a:rPr lang="en-US" altLang="zh-CN" dirty="0">
                <a:latin typeface="+mn-lt"/>
              </a:rPr>
              <a:t>= 0 1 0 1 0 , </a:t>
            </a:r>
            <a:r>
              <a:rPr lang="en-US" altLang="zh-CN" i="1" dirty="0">
                <a:latin typeface="+mn-lt"/>
              </a:rPr>
              <a:t>S</a:t>
            </a:r>
            <a:r>
              <a:rPr lang="en-US" altLang="zh-CN" baseline="30000" dirty="0">
                <a:latin typeface="+mn-lt"/>
              </a:rPr>
              <a:t>(1) </a:t>
            </a:r>
            <a:r>
              <a:rPr lang="en-US" altLang="zh-CN" dirty="0">
                <a:latin typeface="+mn-lt"/>
              </a:rPr>
              <a:t>= 0 1 0 1 0</a:t>
            </a:r>
            <a:endParaRPr lang="en-US" altLang="zh-CN" dirty="0">
              <a:latin typeface="+mn-l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EVENODD</a:t>
            </a:r>
            <a:r>
              <a:rPr lang="zh-CN" altLang="en-US" sz="2400" dirty="0">
                <a:sym typeface="+mn-ea"/>
              </a:rPr>
              <a:t>码解码过程</a:t>
            </a:r>
            <a:endParaRPr lang="zh-CN" altLang="en-US" sz="2400" dirty="0">
              <a:sym typeface="+mn-ea"/>
            </a:endParaRPr>
          </a:p>
        </p:txBody>
      </p:sp>
      <p:sp>
        <p:nvSpPr>
          <p:cNvPr id="9" name="文本框 8"/>
          <p:cNvSpPr txBox="1"/>
          <p:nvPr/>
        </p:nvSpPr>
        <p:spPr>
          <a:xfrm>
            <a:off x="477624" y="1037592"/>
            <a:ext cx="7924592" cy="141891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t> 第二步：</a:t>
            </a:r>
            <a:r>
              <a:rPr lang="zh-CN" altLang="en-US" dirty="0">
                <a:solidFill>
                  <a:schemeClr val="accent1">
                    <a:lumMod val="75000"/>
                  </a:schemeClr>
                </a:solidFill>
              </a:rPr>
              <a:t>利用递归恢复丢失的数据</a:t>
            </a:r>
            <a:r>
              <a:rPr lang="en-US" altLang="zh-CN" i="1" dirty="0"/>
              <a:t>a</a:t>
            </a:r>
            <a:r>
              <a:rPr lang="en-US" altLang="zh-CN" i="1" baseline="-25000" dirty="0"/>
              <a:t>l</a:t>
            </a:r>
            <a:r>
              <a:rPr lang="en-US" altLang="zh-CN" baseline="-25000" dirty="0"/>
              <a:t>,0 </a:t>
            </a:r>
            <a:r>
              <a:rPr lang="en-US" altLang="zh-CN" dirty="0"/>
              <a:t>, </a:t>
            </a:r>
            <a:r>
              <a:rPr lang="en-US" altLang="zh-CN" i="1" dirty="0"/>
              <a:t>a</a:t>
            </a:r>
            <a:r>
              <a:rPr lang="en-US" altLang="zh-CN" i="1" baseline="-25000" dirty="0"/>
              <a:t>l</a:t>
            </a:r>
            <a:r>
              <a:rPr lang="en-US" altLang="zh-CN" baseline="-25000" dirty="0"/>
              <a:t>,2 </a:t>
            </a:r>
            <a:r>
              <a:rPr lang="en-US" altLang="zh-CN" dirty="0"/>
              <a:t>, 0</a:t>
            </a:r>
            <a:r>
              <a:rPr lang="zh-CN" altLang="en-US" dirty="0"/>
              <a:t>≤</a:t>
            </a:r>
            <a:r>
              <a:rPr lang="en-US" altLang="zh-CN" i="1" dirty="0"/>
              <a:t>l</a:t>
            </a:r>
            <a:r>
              <a:rPr lang="zh-CN" altLang="en-US" dirty="0"/>
              <a:t>≤</a:t>
            </a:r>
            <a:r>
              <a:rPr lang="en-US" altLang="zh-CN" dirty="0"/>
              <a:t>3</a:t>
            </a:r>
            <a:r>
              <a:rPr lang="zh-CN" altLang="en-US" dirty="0"/>
              <a:t>。</a:t>
            </a:r>
            <a:endParaRPr lang="en-US" altLang="zh-CN" dirty="0"/>
          </a:p>
          <a:p>
            <a:pPr>
              <a:lnSpc>
                <a:spcPts val="3600"/>
              </a:lnSpc>
            </a:pPr>
            <a:r>
              <a:rPr lang="zh-CN" altLang="en-US" dirty="0"/>
              <a:t>         由于</a:t>
            </a:r>
            <a:r>
              <a:rPr lang="en-US" altLang="zh-CN" i="1" dirty="0" err="1"/>
              <a:t>i</a:t>
            </a:r>
            <a:r>
              <a:rPr lang="en-US" altLang="zh-CN" dirty="0"/>
              <a:t> = 0,</a:t>
            </a:r>
            <a:r>
              <a:rPr lang="en-US" altLang="zh-CN" i="1" dirty="0"/>
              <a:t>j</a:t>
            </a:r>
            <a:r>
              <a:rPr lang="en-US" altLang="zh-CN" dirty="0"/>
              <a:t> = 2,</a:t>
            </a:r>
            <a:r>
              <a:rPr lang="zh-CN" altLang="en-US" dirty="0"/>
              <a:t>故 </a:t>
            </a:r>
            <a:r>
              <a:rPr lang="en-US" altLang="zh-CN" i="1" dirty="0"/>
              <a:t>s</a:t>
            </a:r>
            <a:r>
              <a:rPr lang="en-US" altLang="zh-CN" dirty="0"/>
              <a:t> =</a:t>
            </a:r>
            <a:r>
              <a:rPr lang="en-US" altLang="zh-CN" dirty="0">
                <a:latin typeface="+mn-lt"/>
                <a:sym typeface="Wingdings" panose="05000000000000000000" pitchFamily="2" charset="2"/>
              </a:rPr>
              <a:t> </a:t>
            </a:r>
            <a:r>
              <a:rPr lang="en-US" altLang="zh-CN" i="1" dirty="0">
                <a:latin typeface="+mn-lt"/>
                <a:sym typeface="Wingdings" panose="05000000000000000000" pitchFamily="2" charset="2"/>
              </a:rPr>
              <a:t>&lt;-(j-</a:t>
            </a:r>
            <a:r>
              <a:rPr lang="en-US" altLang="zh-CN" i="1" dirty="0" err="1">
                <a:latin typeface="+mn-lt"/>
                <a:sym typeface="Wingdings" panose="05000000000000000000" pitchFamily="2" charset="2"/>
              </a:rPr>
              <a:t>i</a:t>
            </a:r>
            <a:r>
              <a:rPr lang="en-US" altLang="zh-CN" i="1" dirty="0">
                <a:latin typeface="+mn-lt"/>
                <a:sym typeface="Wingdings" panose="05000000000000000000" pitchFamily="2" charset="2"/>
              </a:rPr>
              <a:t>)</a:t>
            </a:r>
            <a:r>
              <a:rPr lang="en-US" altLang="zh-CN" dirty="0">
                <a:latin typeface="+mn-lt"/>
                <a:sym typeface="Wingdings" panose="05000000000000000000" pitchFamily="2" charset="2"/>
              </a:rPr>
              <a:t>-1</a:t>
            </a:r>
            <a:r>
              <a:rPr lang="en-US" altLang="zh-CN" i="1" dirty="0">
                <a:latin typeface="+mn-lt"/>
                <a:sym typeface="Wingdings" panose="05000000000000000000" pitchFamily="2" charset="2"/>
              </a:rPr>
              <a:t>&gt;p</a:t>
            </a:r>
            <a:r>
              <a:rPr lang="en-US" altLang="zh-CN" dirty="0">
                <a:latin typeface="+mn-lt"/>
                <a:sym typeface="Wingdings" panose="05000000000000000000" pitchFamily="2" charset="2"/>
              </a:rPr>
              <a:t> = &lt;-3&gt;5 = 2</a:t>
            </a:r>
            <a:r>
              <a:rPr lang="zh-CN" altLang="en-US" dirty="0">
                <a:latin typeface="+mn-lt"/>
                <a:sym typeface="Wingdings" panose="05000000000000000000" pitchFamily="2" charset="2"/>
              </a:rPr>
              <a:t>，后续计算过程如表所示。</a:t>
            </a:r>
            <a:endParaRPr lang="en-US" altLang="zh-CN" dirty="0">
              <a:latin typeface="+mn-lt"/>
            </a:endParaRPr>
          </a:p>
        </p:txBody>
      </p:sp>
      <p:graphicFrame>
        <p:nvGraphicFramePr>
          <p:cNvPr id="4" name="表格 5"/>
          <p:cNvGraphicFramePr>
            <a:graphicFrameLocks noGrp="1"/>
          </p:cNvGraphicFramePr>
          <p:nvPr/>
        </p:nvGraphicFramePr>
        <p:xfrm>
          <a:off x="952595" y="2819416"/>
          <a:ext cx="7238810" cy="1854200"/>
        </p:xfrm>
        <a:graphic>
          <a:graphicData uri="http://schemas.openxmlformats.org/drawingml/2006/table">
            <a:tbl>
              <a:tblPr firstRow="1" bandRow="1">
                <a:tableStyleId>{5C22544A-7EE6-4342-B048-85BDC9FD1C3A}</a:tableStyleId>
              </a:tblPr>
              <a:tblGrid>
                <a:gridCol w="1524000"/>
                <a:gridCol w="2285900"/>
                <a:gridCol w="2209742"/>
                <a:gridCol w="1219168"/>
              </a:tblGrid>
              <a:tr h="370840">
                <a:tc>
                  <a:txBody>
                    <a:bodyPr/>
                    <a:lstStyle/>
                    <a:p>
                      <a:pPr algn="ctr"/>
                      <a:r>
                        <a:rPr lang="en-US" altLang="zh-CN" b="0" dirty="0">
                          <a:solidFill>
                            <a:schemeClr val="tx1"/>
                          </a:solidFill>
                          <a:latin typeface="+mn-lt"/>
                          <a:ea typeface="黑体" panose="02010609060101010101" pitchFamily="49" charset="-122"/>
                        </a:rPr>
                        <a:t>1</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mn-lt"/>
                          <a:ea typeface="黑体" panose="02010609060101010101" pitchFamily="49" charset="-122"/>
                        </a:rPr>
                        <a:t>2</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mn-lt"/>
                          <a:ea typeface="黑体" panose="02010609060101010101" pitchFamily="49" charset="-122"/>
                        </a:rPr>
                        <a:t>3</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mn-lt"/>
                          <a:ea typeface="黑体" panose="02010609060101010101" pitchFamily="49" charset="-122"/>
                        </a:rPr>
                        <a:t>4</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i="1" dirty="0">
                          <a:solidFill>
                            <a:schemeClr val="tx1"/>
                          </a:solidFill>
                          <a:latin typeface="+mn-lt"/>
                          <a:ea typeface="黑体" panose="02010609060101010101" pitchFamily="49" charset="-122"/>
                        </a:rPr>
                        <a:t>S</a:t>
                      </a:r>
                      <a:r>
                        <a:rPr lang="en-US" altLang="zh-CN" b="0" dirty="0">
                          <a:solidFill>
                            <a:schemeClr val="tx1"/>
                          </a:solidFill>
                          <a:latin typeface="+mn-lt"/>
                          <a:ea typeface="黑体" panose="02010609060101010101" pitchFamily="49" charset="-122"/>
                          <a:sym typeface="Wingdings" panose="05000000000000000000" pitchFamily="2" charset="2"/>
                        </a:rPr>
                        <a:t>2</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i="1" dirty="0">
                          <a:solidFill>
                            <a:schemeClr val="tx1"/>
                          </a:solidFill>
                          <a:latin typeface="+mn-lt"/>
                          <a:ea typeface="黑体" panose="02010609060101010101" pitchFamily="49" charset="-122"/>
                        </a:rPr>
                        <a:t>a</a:t>
                      </a:r>
                      <a:r>
                        <a:rPr lang="en-US" altLang="zh-CN" b="0" baseline="-25000" dirty="0">
                          <a:solidFill>
                            <a:schemeClr val="tx1"/>
                          </a:solidFill>
                          <a:latin typeface="+mn-lt"/>
                          <a:ea typeface="黑体" panose="02010609060101010101" pitchFamily="49" charset="-122"/>
                        </a:rPr>
                        <a:t>2,2</a:t>
                      </a:r>
                      <a:r>
                        <a:rPr lang="en-US" altLang="zh-CN" b="0" dirty="0">
                          <a:solidFill>
                            <a:schemeClr val="tx1"/>
                          </a:solidFill>
                          <a:latin typeface="+mn-lt"/>
                          <a:ea typeface="黑体" panose="02010609060101010101" pitchFamily="49" charset="-122"/>
                          <a:sym typeface="Wingdings" panose="05000000000000000000" pitchFamily="2" charset="2"/>
                        </a:rPr>
                        <a:t></a:t>
                      </a:r>
                      <a:r>
                        <a:rPr lang="en-US" altLang="zh-CN" b="0" i="1" dirty="0">
                          <a:solidFill>
                            <a:schemeClr val="tx1"/>
                          </a:solidFill>
                          <a:latin typeface="+mn-lt"/>
                          <a:ea typeface="黑体" panose="02010609060101010101" pitchFamily="49" charset="-122"/>
                          <a:sym typeface="Wingdings" panose="05000000000000000000" pitchFamily="2" charset="2"/>
                        </a:rPr>
                        <a:t>SD</a:t>
                      </a:r>
                      <a:r>
                        <a:rPr lang="en-US" altLang="zh-CN" b="0" baseline="-25000" dirty="0">
                          <a:solidFill>
                            <a:schemeClr val="tx1"/>
                          </a:solidFill>
                          <a:latin typeface="+mn-lt"/>
                          <a:ea typeface="黑体" panose="02010609060101010101" pitchFamily="49" charset="-122"/>
                          <a:sym typeface="Wingdings" panose="05000000000000000000" pitchFamily="2" charset="2"/>
                        </a:rPr>
                        <a:t>4</a:t>
                      </a:r>
                      <a:r>
                        <a:rPr lang="en-US" altLang="zh-CN" b="0" dirty="0">
                          <a:solidFill>
                            <a:schemeClr val="tx1"/>
                          </a:solidFill>
                          <a:latin typeface="+mn-lt"/>
                          <a:ea typeface="黑体" panose="02010609060101010101" pitchFamily="49" charset="-122"/>
                          <a:sym typeface="Wingdings" panose="05000000000000000000" pitchFamily="2" charset="2"/>
                        </a:rPr>
                        <a:t> = 0</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i="1" dirty="0">
                          <a:solidFill>
                            <a:schemeClr val="tx1"/>
                          </a:solidFill>
                          <a:latin typeface="+mn-lt"/>
                          <a:ea typeface="黑体" panose="02010609060101010101" pitchFamily="49" charset="-122"/>
                        </a:rPr>
                        <a:t>a</a:t>
                      </a:r>
                      <a:r>
                        <a:rPr lang="en-US" altLang="zh-CN" b="0" baseline="-25000" dirty="0">
                          <a:solidFill>
                            <a:schemeClr val="tx1"/>
                          </a:solidFill>
                          <a:latin typeface="+mn-lt"/>
                          <a:ea typeface="黑体" panose="02010609060101010101" pitchFamily="49" charset="-122"/>
                        </a:rPr>
                        <a:t>2,0</a:t>
                      </a:r>
                      <a:r>
                        <a:rPr lang="en-US" altLang="zh-CN" b="0" dirty="0">
                          <a:solidFill>
                            <a:schemeClr val="tx1"/>
                          </a:solidFill>
                          <a:latin typeface="+mn-lt"/>
                          <a:ea typeface="黑体" panose="02010609060101010101" pitchFamily="49" charset="-122"/>
                          <a:sym typeface="Wingdings" panose="05000000000000000000" pitchFamily="2" charset="2"/>
                        </a:rPr>
                        <a:t></a:t>
                      </a:r>
                      <a:r>
                        <a:rPr lang="en-US" altLang="zh-CN" b="0" i="1" dirty="0">
                          <a:solidFill>
                            <a:schemeClr val="tx1"/>
                          </a:solidFill>
                          <a:latin typeface="+mn-lt"/>
                          <a:ea typeface="黑体" panose="02010609060101010101" pitchFamily="49" charset="-122"/>
                          <a:sym typeface="Wingdings" panose="05000000000000000000" pitchFamily="2" charset="2"/>
                        </a:rPr>
                        <a:t>SH</a:t>
                      </a:r>
                      <a:r>
                        <a:rPr lang="en-US" altLang="zh-CN" b="0" baseline="-25000" dirty="0">
                          <a:solidFill>
                            <a:schemeClr val="tx1"/>
                          </a:solidFill>
                          <a:latin typeface="+mn-lt"/>
                          <a:ea typeface="黑体" panose="02010609060101010101" pitchFamily="49" charset="-122"/>
                          <a:sym typeface="Wingdings" panose="05000000000000000000" pitchFamily="2" charset="2"/>
                        </a:rPr>
                        <a:t>2</a:t>
                      </a:r>
                      <a:r>
                        <a:rPr lang="en-US" altLang="zh-CN" dirty="0">
                          <a:latin typeface="+mn-lt"/>
                          <a:ea typeface="宋体" panose="02010600030101010101" pitchFamily="2" charset="-122"/>
                        </a:rPr>
                        <a:t>⊕</a:t>
                      </a:r>
                      <a:r>
                        <a:rPr lang="en-US" altLang="zh-CN" i="1" dirty="0">
                          <a:latin typeface="+mn-lt"/>
                          <a:ea typeface="宋体" panose="02010600030101010101" pitchFamily="2" charset="-122"/>
                        </a:rPr>
                        <a:t>a</a:t>
                      </a:r>
                      <a:r>
                        <a:rPr lang="en-US" altLang="zh-CN" baseline="-25000" dirty="0">
                          <a:latin typeface="+mn-lt"/>
                          <a:ea typeface="宋体" panose="02010600030101010101" pitchFamily="2" charset="-122"/>
                        </a:rPr>
                        <a:t>2,2</a:t>
                      </a:r>
                      <a:r>
                        <a:rPr lang="en-US" altLang="zh-CN" dirty="0">
                          <a:latin typeface="+mn-lt"/>
                          <a:ea typeface="宋体" panose="02010600030101010101" pitchFamily="2" charset="-122"/>
                        </a:rPr>
                        <a:t> = 0</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1" dirty="0">
                          <a:solidFill>
                            <a:schemeClr val="tx1"/>
                          </a:solidFill>
                          <a:latin typeface="+mn-lt"/>
                          <a:ea typeface="黑体" panose="02010609060101010101" pitchFamily="49" charset="-122"/>
                        </a:rPr>
                        <a:t>S</a:t>
                      </a:r>
                      <a:r>
                        <a:rPr lang="en-US" altLang="zh-CN" b="0" dirty="0">
                          <a:solidFill>
                            <a:schemeClr val="tx1"/>
                          </a:solidFill>
                          <a:latin typeface="+mn-lt"/>
                          <a:ea typeface="黑体" panose="02010609060101010101" pitchFamily="49" charset="-122"/>
                          <a:sym typeface="Wingdings" panose="05000000000000000000" pitchFamily="2" charset="2"/>
                        </a:rPr>
                        <a:t>0</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1" dirty="0">
                          <a:solidFill>
                            <a:schemeClr val="tx1"/>
                          </a:solidFill>
                          <a:latin typeface="+mn-lt"/>
                          <a:ea typeface="黑体" panose="02010609060101010101" pitchFamily="49" charset="-122"/>
                        </a:rPr>
                        <a:t>S</a:t>
                      </a:r>
                      <a:r>
                        <a:rPr lang="en-US" altLang="zh-CN" b="0" dirty="0">
                          <a:solidFill>
                            <a:schemeClr val="tx1"/>
                          </a:solidFill>
                          <a:latin typeface="+mn-lt"/>
                          <a:ea typeface="黑体" panose="02010609060101010101" pitchFamily="49" charset="-122"/>
                          <a:sym typeface="Wingdings" panose="05000000000000000000" pitchFamily="2" charset="2"/>
                        </a:rPr>
                        <a:t>0</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1" dirty="0">
                          <a:solidFill>
                            <a:schemeClr val="tx1"/>
                          </a:solidFill>
                          <a:latin typeface="+mn-lt"/>
                          <a:ea typeface="黑体" panose="02010609060101010101" pitchFamily="49" charset="-122"/>
                        </a:rPr>
                        <a:t>a</a:t>
                      </a:r>
                      <a:r>
                        <a:rPr lang="en-US" altLang="zh-CN" b="0" baseline="-25000" dirty="0">
                          <a:solidFill>
                            <a:schemeClr val="tx1"/>
                          </a:solidFill>
                          <a:latin typeface="+mn-lt"/>
                          <a:ea typeface="黑体" panose="02010609060101010101" pitchFamily="49" charset="-122"/>
                        </a:rPr>
                        <a:t>0,2</a:t>
                      </a:r>
                      <a:r>
                        <a:rPr lang="en-US" altLang="zh-CN" b="0" dirty="0">
                          <a:solidFill>
                            <a:schemeClr val="tx1"/>
                          </a:solidFill>
                          <a:latin typeface="+mn-lt"/>
                          <a:ea typeface="黑体" panose="02010609060101010101" pitchFamily="49" charset="-122"/>
                          <a:sym typeface="Wingdings" panose="05000000000000000000" pitchFamily="2" charset="2"/>
                        </a:rPr>
                        <a:t></a:t>
                      </a:r>
                      <a:r>
                        <a:rPr lang="en-US" altLang="zh-CN" b="0" i="1" dirty="0">
                          <a:solidFill>
                            <a:schemeClr val="tx1"/>
                          </a:solidFill>
                          <a:latin typeface="+mn-lt"/>
                          <a:ea typeface="黑体" panose="02010609060101010101" pitchFamily="49" charset="-122"/>
                          <a:sym typeface="Wingdings" panose="05000000000000000000" pitchFamily="2" charset="2"/>
                        </a:rPr>
                        <a:t>SD</a:t>
                      </a:r>
                      <a:r>
                        <a:rPr lang="en-US" altLang="zh-CN" b="0" baseline="-25000" dirty="0">
                          <a:solidFill>
                            <a:schemeClr val="tx1"/>
                          </a:solidFill>
                          <a:latin typeface="+mn-lt"/>
                          <a:ea typeface="黑体" panose="02010609060101010101" pitchFamily="49" charset="-122"/>
                          <a:sym typeface="Wingdings" panose="05000000000000000000" pitchFamily="2" charset="2"/>
                        </a:rPr>
                        <a:t>2</a:t>
                      </a:r>
                      <a:r>
                        <a:rPr lang="en-US" altLang="zh-CN" dirty="0">
                          <a:latin typeface="+mn-lt"/>
                          <a:ea typeface="宋体" panose="02010600030101010101" pitchFamily="2" charset="-122"/>
                        </a:rPr>
                        <a:t>⊕</a:t>
                      </a:r>
                      <a:r>
                        <a:rPr lang="en-US" altLang="zh-CN" i="1" dirty="0">
                          <a:latin typeface="+mn-lt"/>
                          <a:ea typeface="宋体" panose="02010600030101010101" pitchFamily="2" charset="-122"/>
                        </a:rPr>
                        <a:t>a</a:t>
                      </a:r>
                      <a:r>
                        <a:rPr lang="en-US" altLang="zh-CN" baseline="-25000" dirty="0">
                          <a:latin typeface="+mn-lt"/>
                          <a:ea typeface="宋体" panose="02010600030101010101" pitchFamily="2" charset="-122"/>
                        </a:rPr>
                        <a:t>2,0</a:t>
                      </a:r>
                      <a:r>
                        <a:rPr lang="en-US" altLang="zh-CN" dirty="0">
                          <a:latin typeface="+mn-lt"/>
                          <a:ea typeface="宋体" panose="02010600030101010101" pitchFamily="2" charset="-122"/>
                        </a:rPr>
                        <a:t> </a:t>
                      </a:r>
                      <a:r>
                        <a:rPr lang="en-US" altLang="zh-CN" b="0" dirty="0">
                          <a:solidFill>
                            <a:schemeClr val="tx1"/>
                          </a:solidFill>
                          <a:latin typeface="+mn-lt"/>
                          <a:ea typeface="黑体" panose="02010609060101010101" pitchFamily="49" charset="-122"/>
                          <a:sym typeface="Wingdings" panose="05000000000000000000" pitchFamily="2" charset="2"/>
                        </a:rPr>
                        <a:t>= 0</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1" dirty="0">
                          <a:solidFill>
                            <a:schemeClr val="tx1"/>
                          </a:solidFill>
                          <a:latin typeface="+mn-lt"/>
                          <a:ea typeface="黑体" panose="02010609060101010101" pitchFamily="49" charset="-122"/>
                        </a:rPr>
                        <a:t>a</a:t>
                      </a:r>
                      <a:r>
                        <a:rPr lang="en-US" altLang="zh-CN" b="0" baseline="-25000" dirty="0">
                          <a:solidFill>
                            <a:schemeClr val="tx1"/>
                          </a:solidFill>
                          <a:latin typeface="+mn-lt"/>
                          <a:ea typeface="黑体" panose="02010609060101010101" pitchFamily="49" charset="-122"/>
                        </a:rPr>
                        <a:t>0,0</a:t>
                      </a:r>
                      <a:r>
                        <a:rPr lang="en-US" altLang="zh-CN" b="0" dirty="0">
                          <a:solidFill>
                            <a:schemeClr val="tx1"/>
                          </a:solidFill>
                          <a:latin typeface="+mn-lt"/>
                          <a:ea typeface="黑体" panose="02010609060101010101" pitchFamily="49" charset="-122"/>
                          <a:sym typeface="Wingdings" panose="05000000000000000000" pitchFamily="2" charset="2"/>
                        </a:rPr>
                        <a:t></a:t>
                      </a:r>
                      <a:r>
                        <a:rPr lang="en-US" altLang="zh-CN" b="0" i="1" dirty="0">
                          <a:solidFill>
                            <a:schemeClr val="tx1"/>
                          </a:solidFill>
                          <a:latin typeface="+mn-lt"/>
                          <a:ea typeface="黑体" panose="02010609060101010101" pitchFamily="49" charset="-122"/>
                          <a:sym typeface="Wingdings" panose="05000000000000000000" pitchFamily="2" charset="2"/>
                        </a:rPr>
                        <a:t>SH</a:t>
                      </a:r>
                      <a:r>
                        <a:rPr lang="en-US" altLang="zh-CN" b="0" baseline="-25000" dirty="0">
                          <a:solidFill>
                            <a:schemeClr val="tx1"/>
                          </a:solidFill>
                          <a:latin typeface="+mn-lt"/>
                          <a:ea typeface="黑体" panose="02010609060101010101" pitchFamily="49" charset="-122"/>
                          <a:sym typeface="Wingdings" panose="05000000000000000000" pitchFamily="2" charset="2"/>
                        </a:rPr>
                        <a:t>0</a:t>
                      </a:r>
                      <a:r>
                        <a:rPr lang="en-US" altLang="zh-CN" dirty="0">
                          <a:latin typeface="+mn-lt"/>
                          <a:ea typeface="宋体" panose="02010600030101010101" pitchFamily="2" charset="-122"/>
                        </a:rPr>
                        <a:t>⊕</a:t>
                      </a:r>
                      <a:r>
                        <a:rPr lang="en-US" altLang="zh-CN" i="1" dirty="0">
                          <a:latin typeface="+mn-lt"/>
                          <a:ea typeface="宋体" panose="02010600030101010101" pitchFamily="2" charset="-122"/>
                        </a:rPr>
                        <a:t>a</a:t>
                      </a:r>
                      <a:r>
                        <a:rPr lang="en-US" altLang="zh-CN" baseline="-25000" dirty="0">
                          <a:latin typeface="+mn-lt"/>
                          <a:ea typeface="宋体" panose="02010600030101010101" pitchFamily="2" charset="-122"/>
                        </a:rPr>
                        <a:t>0,2</a:t>
                      </a:r>
                      <a:r>
                        <a:rPr lang="en-US" altLang="zh-CN" dirty="0">
                          <a:latin typeface="+mn-lt"/>
                          <a:ea typeface="宋体" panose="02010600030101010101" pitchFamily="2" charset="-122"/>
                        </a:rPr>
                        <a:t> </a:t>
                      </a:r>
                      <a:r>
                        <a:rPr lang="en-US" altLang="zh-CN" b="0" dirty="0">
                          <a:solidFill>
                            <a:schemeClr val="tx1"/>
                          </a:solidFill>
                          <a:latin typeface="+mn-lt"/>
                          <a:ea typeface="黑体" panose="02010609060101010101" pitchFamily="49" charset="-122"/>
                          <a:sym typeface="Wingdings" panose="05000000000000000000" pitchFamily="2" charset="2"/>
                        </a:rPr>
                        <a:t>= 0</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i="1" dirty="0">
                          <a:solidFill>
                            <a:schemeClr val="tx1"/>
                          </a:solidFill>
                          <a:latin typeface="+mn-lt"/>
                          <a:ea typeface="黑体" panose="02010609060101010101" pitchFamily="49" charset="-122"/>
                        </a:rPr>
                        <a:t>S</a:t>
                      </a:r>
                      <a:r>
                        <a:rPr lang="en-US" altLang="zh-CN" b="0" dirty="0">
                          <a:solidFill>
                            <a:schemeClr val="tx1"/>
                          </a:solidFill>
                          <a:latin typeface="+mn-lt"/>
                          <a:ea typeface="黑体" panose="02010609060101010101" pitchFamily="49" charset="-122"/>
                          <a:sym typeface="Wingdings" panose="05000000000000000000" pitchFamily="2" charset="2"/>
                        </a:rPr>
                        <a:t>3</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i="1" dirty="0">
                          <a:solidFill>
                            <a:schemeClr val="tx1"/>
                          </a:solidFill>
                          <a:latin typeface="+mn-lt"/>
                          <a:ea typeface="黑体" panose="02010609060101010101" pitchFamily="49" charset="-122"/>
                        </a:rPr>
                        <a:t>S</a:t>
                      </a:r>
                      <a:r>
                        <a:rPr lang="en-US" altLang="zh-CN" b="0" dirty="0">
                          <a:solidFill>
                            <a:schemeClr val="tx1"/>
                          </a:solidFill>
                          <a:latin typeface="+mn-lt"/>
                          <a:ea typeface="黑体" panose="02010609060101010101" pitchFamily="49" charset="-122"/>
                          <a:sym typeface="Wingdings" panose="05000000000000000000" pitchFamily="2" charset="2"/>
                        </a:rPr>
                        <a:t>3</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1" dirty="0">
                          <a:solidFill>
                            <a:schemeClr val="tx1"/>
                          </a:solidFill>
                          <a:latin typeface="+mn-lt"/>
                          <a:ea typeface="黑体" panose="02010609060101010101" pitchFamily="49" charset="-122"/>
                        </a:rPr>
                        <a:t>a</a:t>
                      </a:r>
                      <a:r>
                        <a:rPr lang="en-US" altLang="zh-CN" b="0" baseline="-25000" dirty="0">
                          <a:solidFill>
                            <a:schemeClr val="tx1"/>
                          </a:solidFill>
                          <a:latin typeface="+mn-lt"/>
                          <a:ea typeface="黑体" panose="02010609060101010101" pitchFamily="49" charset="-122"/>
                        </a:rPr>
                        <a:t>3,2</a:t>
                      </a:r>
                      <a:r>
                        <a:rPr lang="en-US" altLang="zh-CN" b="0" dirty="0">
                          <a:solidFill>
                            <a:schemeClr val="tx1"/>
                          </a:solidFill>
                          <a:latin typeface="+mn-lt"/>
                          <a:ea typeface="黑体" panose="02010609060101010101" pitchFamily="49" charset="-122"/>
                          <a:sym typeface="Wingdings" panose="05000000000000000000" pitchFamily="2" charset="2"/>
                        </a:rPr>
                        <a:t></a:t>
                      </a:r>
                      <a:r>
                        <a:rPr lang="en-US" altLang="zh-CN" b="0" i="1" dirty="0">
                          <a:solidFill>
                            <a:schemeClr val="tx1"/>
                          </a:solidFill>
                          <a:latin typeface="+mn-lt"/>
                          <a:ea typeface="黑体" panose="02010609060101010101" pitchFamily="49" charset="-122"/>
                          <a:sym typeface="Wingdings" panose="05000000000000000000" pitchFamily="2" charset="2"/>
                        </a:rPr>
                        <a:t>SD</a:t>
                      </a:r>
                      <a:r>
                        <a:rPr lang="en-US" altLang="zh-CN" b="0" baseline="-25000" dirty="0">
                          <a:solidFill>
                            <a:schemeClr val="tx1"/>
                          </a:solidFill>
                          <a:latin typeface="+mn-lt"/>
                          <a:ea typeface="黑体" panose="02010609060101010101" pitchFamily="49" charset="-122"/>
                          <a:sym typeface="Wingdings" panose="05000000000000000000" pitchFamily="2" charset="2"/>
                        </a:rPr>
                        <a:t>0</a:t>
                      </a:r>
                      <a:r>
                        <a:rPr lang="en-US" altLang="zh-CN" dirty="0">
                          <a:latin typeface="+mn-lt"/>
                          <a:ea typeface="宋体" panose="02010600030101010101" pitchFamily="2" charset="-122"/>
                        </a:rPr>
                        <a:t>⊕</a:t>
                      </a:r>
                      <a:r>
                        <a:rPr lang="en-US" altLang="zh-CN" i="1" dirty="0">
                          <a:latin typeface="+mn-lt"/>
                          <a:ea typeface="宋体" panose="02010600030101010101" pitchFamily="2" charset="-122"/>
                        </a:rPr>
                        <a:t>a</a:t>
                      </a:r>
                      <a:r>
                        <a:rPr lang="en-US" altLang="zh-CN" baseline="-25000" dirty="0">
                          <a:latin typeface="+mn-lt"/>
                          <a:ea typeface="宋体" panose="02010600030101010101" pitchFamily="2" charset="-122"/>
                        </a:rPr>
                        <a:t>0,0</a:t>
                      </a:r>
                      <a:r>
                        <a:rPr lang="en-US" altLang="zh-CN" dirty="0">
                          <a:latin typeface="+mn-lt"/>
                          <a:ea typeface="宋体" panose="02010600030101010101" pitchFamily="2" charset="-122"/>
                        </a:rPr>
                        <a:t> </a:t>
                      </a:r>
                      <a:r>
                        <a:rPr lang="en-US" altLang="zh-CN" b="0" dirty="0">
                          <a:solidFill>
                            <a:schemeClr val="tx1"/>
                          </a:solidFill>
                          <a:latin typeface="+mn-lt"/>
                          <a:ea typeface="黑体" panose="02010609060101010101" pitchFamily="49" charset="-122"/>
                          <a:sym typeface="Wingdings" panose="05000000000000000000" pitchFamily="2" charset="2"/>
                        </a:rPr>
                        <a:t>= 0</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1" dirty="0">
                          <a:solidFill>
                            <a:schemeClr val="tx1"/>
                          </a:solidFill>
                          <a:latin typeface="+mn-lt"/>
                          <a:ea typeface="黑体" panose="02010609060101010101" pitchFamily="49" charset="-122"/>
                        </a:rPr>
                        <a:t>a</a:t>
                      </a:r>
                      <a:r>
                        <a:rPr lang="en-US" altLang="zh-CN" b="0" baseline="-25000" dirty="0">
                          <a:solidFill>
                            <a:schemeClr val="tx1"/>
                          </a:solidFill>
                          <a:latin typeface="+mn-lt"/>
                          <a:ea typeface="黑体" panose="02010609060101010101" pitchFamily="49" charset="-122"/>
                        </a:rPr>
                        <a:t>3,0</a:t>
                      </a:r>
                      <a:r>
                        <a:rPr lang="en-US" altLang="zh-CN" b="0" dirty="0">
                          <a:solidFill>
                            <a:schemeClr val="tx1"/>
                          </a:solidFill>
                          <a:latin typeface="+mn-lt"/>
                          <a:ea typeface="黑体" panose="02010609060101010101" pitchFamily="49" charset="-122"/>
                          <a:sym typeface="Wingdings" panose="05000000000000000000" pitchFamily="2" charset="2"/>
                        </a:rPr>
                        <a:t></a:t>
                      </a:r>
                      <a:r>
                        <a:rPr lang="en-US" altLang="zh-CN" b="0" i="1" dirty="0">
                          <a:solidFill>
                            <a:schemeClr val="tx1"/>
                          </a:solidFill>
                          <a:latin typeface="+mn-lt"/>
                          <a:ea typeface="黑体" panose="02010609060101010101" pitchFamily="49" charset="-122"/>
                          <a:sym typeface="Wingdings" panose="05000000000000000000" pitchFamily="2" charset="2"/>
                        </a:rPr>
                        <a:t>SH</a:t>
                      </a:r>
                      <a:r>
                        <a:rPr lang="en-US" altLang="zh-CN" b="0" baseline="-25000" dirty="0">
                          <a:solidFill>
                            <a:schemeClr val="tx1"/>
                          </a:solidFill>
                          <a:latin typeface="+mn-lt"/>
                          <a:ea typeface="黑体" panose="02010609060101010101" pitchFamily="49" charset="-122"/>
                          <a:sym typeface="Wingdings" panose="05000000000000000000" pitchFamily="2" charset="2"/>
                        </a:rPr>
                        <a:t>3</a:t>
                      </a:r>
                      <a:r>
                        <a:rPr lang="en-US" altLang="zh-CN" dirty="0">
                          <a:latin typeface="+mn-lt"/>
                          <a:ea typeface="宋体" panose="02010600030101010101" pitchFamily="2" charset="-122"/>
                        </a:rPr>
                        <a:t>⊕</a:t>
                      </a:r>
                      <a:r>
                        <a:rPr lang="en-US" altLang="zh-CN" i="1" dirty="0">
                          <a:latin typeface="+mn-lt"/>
                          <a:ea typeface="宋体" panose="02010600030101010101" pitchFamily="2" charset="-122"/>
                        </a:rPr>
                        <a:t>a</a:t>
                      </a:r>
                      <a:r>
                        <a:rPr lang="en-US" altLang="zh-CN" baseline="-25000" dirty="0">
                          <a:latin typeface="+mn-lt"/>
                          <a:ea typeface="宋体" panose="02010600030101010101" pitchFamily="2" charset="-122"/>
                        </a:rPr>
                        <a:t>3,2</a:t>
                      </a:r>
                      <a:r>
                        <a:rPr lang="en-US" altLang="zh-CN" dirty="0">
                          <a:latin typeface="+mn-lt"/>
                          <a:ea typeface="宋体" panose="02010600030101010101" pitchFamily="2" charset="-122"/>
                        </a:rPr>
                        <a:t> </a:t>
                      </a:r>
                      <a:r>
                        <a:rPr lang="en-US" altLang="zh-CN" b="0" dirty="0">
                          <a:solidFill>
                            <a:schemeClr val="tx1"/>
                          </a:solidFill>
                          <a:latin typeface="+mn-lt"/>
                          <a:ea typeface="黑体" panose="02010609060101010101" pitchFamily="49" charset="-122"/>
                          <a:sym typeface="Wingdings" panose="05000000000000000000" pitchFamily="2" charset="2"/>
                        </a:rPr>
                        <a:t>= 1</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i="1" dirty="0">
                          <a:solidFill>
                            <a:schemeClr val="tx1"/>
                          </a:solidFill>
                          <a:latin typeface="+mn-lt"/>
                          <a:ea typeface="黑体" panose="02010609060101010101" pitchFamily="49" charset="-122"/>
                        </a:rPr>
                        <a:t>S</a:t>
                      </a:r>
                      <a:r>
                        <a:rPr lang="en-US" altLang="zh-CN" b="0" dirty="0">
                          <a:solidFill>
                            <a:schemeClr val="tx1"/>
                          </a:solidFill>
                          <a:latin typeface="+mn-lt"/>
                          <a:ea typeface="黑体" panose="02010609060101010101" pitchFamily="49" charset="-122"/>
                          <a:sym typeface="Wingdings" panose="05000000000000000000" pitchFamily="2" charset="2"/>
                        </a:rPr>
                        <a:t>1</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i="1" dirty="0">
                          <a:solidFill>
                            <a:schemeClr val="tx1"/>
                          </a:solidFill>
                          <a:latin typeface="+mn-lt"/>
                          <a:ea typeface="黑体" panose="02010609060101010101" pitchFamily="49" charset="-122"/>
                        </a:rPr>
                        <a:t>S</a:t>
                      </a:r>
                      <a:r>
                        <a:rPr lang="en-US" altLang="zh-CN" b="0" dirty="0">
                          <a:solidFill>
                            <a:schemeClr val="tx1"/>
                          </a:solidFill>
                          <a:latin typeface="+mn-lt"/>
                          <a:ea typeface="黑体" panose="02010609060101010101" pitchFamily="49" charset="-122"/>
                          <a:sym typeface="Wingdings" panose="05000000000000000000" pitchFamily="2" charset="2"/>
                        </a:rPr>
                        <a:t>1</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1" dirty="0">
                          <a:solidFill>
                            <a:schemeClr val="tx1"/>
                          </a:solidFill>
                          <a:latin typeface="+mn-lt"/>
                          <a:ea typeface="黑体" panose="02010609060101010101" pitchFamily="49" charset="-122"/>
                        </a:rPr>
                        <a:t>a</a:t>
                      </a:r>
                      <a:r>
                        <a:rPr lang="en-US" altLang="zh-CN" b="0" baseline="-25000" dirty="0">
                          <a:solidFill>
                            <a:schemeClr val="tx1"/>
                          </a:solidFill>
                          <a:latin typeface="+mn-lt"/>
                          <a:ea typeface="黑体" panose="02010609060101010101" pitchFamily="49" charset="-122"/>
                        </a:rPr>
                        <a:t>1,2</a:t>
                      </a:r>
                      <a:r>
                        <a:rPr lang="en-US" altLang="zh-CN" b="0" dirty="0">
                          <a:solidFill>
                            <a:schemeClr val="tx1"/>
                          </a:solidFill>
                          <a:latin typeface="+mn-lt"/>
                          <a:ea typeface="黑体" panose="02010609060101010101" pitchFamily="49" charset="-122"/>
                          <a:sym typeface="Wingdings" panose="05000000000000000000" pitchFamily="2" charset="2"/>
                        </a:rPr>
                        <a:t></a:t>
                      </a:r>
                      <a:r>
                        <a:rPr lang="en-US" altLang="zh-CN" b="0" i="1" dirty="0">
                          <a:solidFill>
                            <a:schemeClr val="tx1"/>
                          </a:solidFill>
                          <a:latin typeface="+mn-lt"/>
                          <a:ea typeface="黑体" panose="02010609060101010101" pitchFamily="49" charset="-122"/>
                          <a:sym typeface="Wingdings" panose="05000000000000000000" pitchFamily="2" charset="2"/>
                        </a:rPr>
                        <a:t>SD</a:t>
                      </a:r>
                      <a:r>
                        <a:rPr lang="en-US" altLang="zh-CN" b="0" baseline="-25000" dirty="0">
                          <a:solidFill>
                            <a:schemeClr val="tx1"/>
                          </a:solidFill>
                          <a:latin typeface="+mn-lt"/>
                          <a:ea typeface="黑体" panose="02010609060101010101" pitchFamily="49" charset="-122"/>
                          <a:sym typeface="Wingdings" panose="05000000000000000000" pitchFamily="2" charset="2"/>
                        </a:rPr>
                        <a:t>3</a:t>
                      </a:r>
                      <a:r>
                        <a:rPr lang="en-US" altLang="zh-CN" dirty="0">
                          <a:latin typeface="+mn-lt"/>
                          <a:ea typeface="宋体" panose="02010600030101010101" pitchFamily="2" charset="-122"/>
                        </a:rPr>
                        <a:t>⊕</a:t>
                      </a:r>
                      <a:r>
                        <a:rPr lang="en-US" altLang="zh-CN" i="1" dirty="0">
                          <a:latin typeface="+mn-lt"/>
                          <a:ea typeface="宋体" panose="02010600030101010101" pitchFamily="2" charset="-122"/>
                        </a:rPr>
                        <a:t>a</a:t>
                      </a:r>
                      <a:r>
                        <a:rPr lang="en-US" altLang="zh-CN" baseline="-25000" dirty="0">
                          <a:latin typeface="+mn-lt"/>
                          <a:ea typeface="宋体" panose="02010600030101010101" pitchFamily="2" charset="-122"/>
                        </a:rPr>
                        <a:t>3,0</a:t>
                      </a:r>
                      <a:r>
                        <a:rPr lang="en-US" altLang="zh-CN" dirty="0">
                          <a:latin typeface="+mn-lt"/>
                          <a:ea typeface="宋体" panose="02010600030101010101" pitchFamily="2" charset="-122"/>
                        </a:rPr>
                        <a:t> </a:t>
                      </a:r>
                      <a:r>
                        <a:rPr lang="en-US" altLang="zh-CN" b="0" dirty="0">
                          <a:solidFill>
                            <a:schemeClr val="tx1"/>
                          </a:solidFill>
                          <a:latin typeface="+mn-lt"/>
                          <a:ea typeface="黑体" panose="02010609060101010101" pitchFamily="49" charset="-122"/>
                          <a:sym typeface="Wingdings" panose="05000000000000000000" pitchFamily="2" charset="2"/>
                        </a:rPr>
                        <a:t>= 0</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1" dirty="0">
                          <a:solidFill>
                            <a:schemeClr val="tx1"/>
                          </a:solidFill>
                          <a:latin typeface="+mn-lt"/>
                          <a:ea typeface="黑体" panose="02010609060101010101" pitchFamily="49" charset="-122"/>
                        </a:rPr>
                        <a:t>a</a:t>
                      </a:r>
                      <a:r>
                        <a:rPr lang="en-US" altLang="zh-CN" b="0" baseline="-25000" dirty="0">
                          <a:solidFill>
                            <a:schemeClr val="tx1"/>
                          </a:solidFill>
                          <a:latin typeface="+mn-lt"/>
                          <a:ea typeface="黑体" panose="02010609060101010101" pitchFamily="49" charset="-122"/>
                        </a:rPr>
                        <a:t>1,0</a:t>
                      </a:r>
                      <a:r>
                        <a:rPr lang="en-US" altLang="zh-CN" b="0" dirty="0">
                          <a:solidFill>
                            <a:schemeClr val="tx1"/>
                          </a:solidFill>
                          <a:latin typeface="+mn-lt"/>
                          <a:ea typeface="黑体" panose="02010609060101010101" pitchFamily="49" charset="-122"/>
                          <a:sym typeface="Wingdings" panose="05000000000000000000" pitchFamily="2" charset="2"/>
                        </a:rPr>
                        <a:t></a:t>
                      </a:r>
                      <a:r>
                        <a:rPr lang="en-US" altLang="zh-CN" b="0" i="1" dirty="0">
                          <a:solidFill>
                            <a:schemeClr val="tx1"/>
                          </a:solidFill>
                          <a:latin typeface="+mn-lt"/>
                          <a:ea typeface="黑体" panose="02010609060101010101" pitchFamily="49" charset="-122"/>
                          <a:sym typeface="Wingdings" panose="05000000000000000000" pitchFamily="2" charset="2"/>
                        </a:rPr>
                        <a:t>SH</a:t>
                      </a:r>
                      <a:r>
                        <a:rPr lang="en-US" altLang="zh-CN" b="0" baseline="-25000" dirty="0">
                          <a:solidFill>
                            <a:schemeClr val="tx1"/>
                          </a:solidFill>
                          <a:latin typeface="+mn-lt"/>
                          <a:ea typeface="黑体" panose="02010609060101010101" pitchFamily="49" charset="-122"/>
                          <a:sym typeface="Wingdings" panose="05000000000000000000" pitchFamily="2" charset="2"/>
                        </a:rPr>
                        <a:t>1</a:t>
                      </a:r>
                      <a:r>
                        <a:rPr lang="en-US" altLang="zh-CN" dirty="0">
                          <a:latin typeface="+mn-lt"/>
                          <a:ea typeface="宋体" panose="02010600030101010101" pitchFamily="2" charset="-122"/>
                        </a:rPr>
                        <a:t>⊕</a:t>
                      </a:r>
                      <a:r>
                        <a:rPr lang="en-US" altLang="zh-CN" i="1" dirty="0">
                          <a:latin typeface="+mn-lt"/>
                          <a:ea typeface="宋体" panose="02010600030101010101" pitchFamily="2" charset="-122"/>
                        </a:rPr>
                        <a:t>a</a:t>
                      </a:r>
                      <a:r>
                        <a:rPr lang="en-US" altLang="zh-CN" baseline="-25000" dirty="0">
                          <a:latin typeface="+mn-lt"/>
                          <a:ea typeface="宋体" panose="02010600030101010101" pitchFamily="2" charset="-122"/>
                        </a:rPr>
                        <a:t>1,2</a:t>
                      </a:r>
                      <a:r>
                        <a:rPr lang="en-US" altLang="zh-CN" dirty="0">
                          <a:latin typeface="+mn-lt"/>
                          <a:ea typeface="宋体" panose="02010600030101010101" pitchFamily="2" charset="-122"/>
                        </a:rPr>
                        <a:t> </a:t>
                      </a:r>
                      <a:r>
                        <a:rPr lang="en-US" altLang="zh-CN" b="0" dirty="0">
                          <a:solidFill>
                            <a:schemeClr val="tx1"/>
                          </a:solidFill>
                          <a:latin typeface="+mn-lt"/>
                          <a:ea typeface="黑体" panose="02010609060101010101" pitchFamily="49" charset="-122"/>
                          <a:sym typeface="Wingdings" panose="05000000000000000000" pitchFamily="2" charset="2"/>
                        </a:rPr>
                        <a:t>= 1</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i="1" dirty="0">
                          <a:solidFill>
                            <a:schemeClr val="tx1"/>
                          </a:solidFill>
                          <a:latin typeface="+mn-lt"/>
                          <a:ea typeface="黑体" panose="02010609060101010101" pitchFamily="49" charset="-122"/>
                        </a:rPr>
                        <a:t>S</a:t>
                      </a:r>
                      <a:r>
                        <a:rPr lang="en-US" altLang="zh-CN" b="0" dirty="0">
                          <a:solidFill>
                            <a:schemeClr val="tx1"/>
                          </a:solidFill>
                          <a:latin typeface="+mn-lt"/>
                          <a:ea typeface="黑体" panose="02010609060101010101" pitchFamily="49" charset="-122"/>
                          <a:sym typeface="Wingdings" panose="05000000000000000000" pitchFamily="2" charset="2"/>
                        </a:rPr>
                        <a:t>4</a:t>
                      </a:r>
                      <a:endParaRPr lang="zh-CN" altLang="en-US" b="0" dirty="0">
                        <a:solidFill>
                          <a:schemeClr val="tx1"/>
                        </a:solidFill>
                        <a:latin typeface="+mn-lt"/>
                        <a:ea typeface="黑体" panose="02010609060101010101" pitchFamily="49"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1" name="文本框 10"/>
          <p:cNvSpPr txBox="1"/>
          <p:nvPr/>
        </p:nvSpPr>
        <p:spPr>
          <a:xfrm>
            <a:off x="952595" y="5036525"/>
            <a:ext cx="3428790" cy="49558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t>由于</a:t>
            </a:r>
            <a:r>
              <a:rPr lang="en-US" altLang="zh-CN" i="1" dirty="0"/>
              <a:t>S</a:t>
            </a:r>
            <a:r>
              <a:rPr lang="en-US" altLang="zh-CN" dirty="0"/>
              <a:t>=4=</a:t>
            </a:r>
            <a:r>
              <a:rPr lang="en-US" altLang="zh-CN" i="1" dirty="0"/>
              <a:t>p</a:t>
            </a:r>
            <a:r>
              <a:rPr lang="en-US" altLang="zh-CN" dirty="0"/>
              <a:t>-1,</a:t>
            </a:r>
            <a:r>
              <a:rPr lang="zh-CN" altLang="en-US" dirty="0"/>
              <a:t>故算法停止</a:t>
            </a:r>
            <a:r>
              <a:rPr lang="zh-CN" altLang="en-US" dirty="0">
                <a:latin typeface="+mn-lt"/>
                <a:sym typeface="Wingdings" panose="05000000000000000000" pitchFamily="2" charset="2"/>
              </a:rPr>
              <a:t>。</a:t>
            </a:r>
            <a:endParaRPr lang="en-US" altLang="zh-CN" dirty="0">
              <a:latin typeface="+mn-l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EVENODD</a:t>
            </a:r>
            <a:r>
              <a:rPr lang="zh-CN" altLang="en-US" sz="2400" dirty="0">
                <a:sym typeface="+mn-ea"/>
              </a:rPr>
              <a:t>码解码正确性证明</a:t>
            </a:r>
            <a:endParaRPr lang="zh-CN" altLang="en-US" sz="2400" dirty="0">
              <a:sym typeface="+mn-ea"/>
            </a:endParaRPr>
          </a:p>
        </p:txBody>
      </p:sp>
      <p:sp>
        <p:nvSpPr>
          <p:cNvPr id="9" name="文本框 8"/>
          <p:cNvSpPr txBox="1"/>
          <p:nvPr/>
        </p:nvSpPr>
        <p:spPr>
          <a:xfrm>
            <a:off x="609704" y="1103716"/>
            <a:ext cx="7924592" cy="4900637"/>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800"/>
              </a:lnSpc>
            </a:pPr>
            <a:r>
              <a:rPr lang="zh-CN" altLang="en-US" dirty="0"/>
              <a:t>定理一：</a:t>
            </a:r>
            <a:r>
              <a:rPr lang="en-US" altLang="zh-CN" dirty="0"/>
              <a:t> EVENODD</a:t>
            </a:r>
            <a:r>
              <a:rPr lang="zh-CN" altLang="en-US" dirty="0"/>
              <a:t>译码算法可以恢复任意</a:t>
            </a:r>
            <a:r>
              <a:rPr lang="en-US" altLang="zh-CN" dirty="0"/>
              <a:t>2</a:t>
            </a:r>
            <a:r>
              <a:rPr lang="zh-CN" altLang="en-US" dirty="0"/>
              <a:t>个数据块出错的数据。</a:t>
            </a:r>
            <a:endParaRPr lang="en-US" altLang="zh-CN" dirty="0"/>
          </a:p>
          <a:p>
            <a:pPr>
              <a:lnSpc>
                <a:spcPts val="3800"/>
              </a:lnSpc>
            </a:pPr>
            <a:r>
              <a:rPr lang="zh-CN" altLang="en-US" dirty="0"/>
              <a:t>证明：如果只有一列出错，我们可以利用剩余的正确校验位数据相异或进行恢复。根据异或的性质可以很容易知道这是完全可行的。</a:t>
            </a:r>
            <a:endParaRPr lang="en-US" altLang="zh-CN" dirty="0"/>
          </a:p>
          <a:p>
            <a:pPr>
              <a:lnSpc>
                <a:spcPts val="3800"/>
              </a:lnSpc>
            </a:pPr>
            <a:r>
              <a:rPr lang="en-US" altLang="zh-CN" dirty="0"/>
              <a:t>            </a:t>
            </a:r>
            <a:r>
              <a:rPr lang="zh-CN" altLang="en-US" dirty="0"/>
              <a:t>如果有两列出错，假设第</a:t>
            </a:r>
            <a:r>
              <a:rPr lang="en-US" altLang="zh-CN" dirty="0" err="1"/>
              <a:t>i</a:t>
            </a:r>
            <a:r>
              <a:rPr lang="zh-CN" altLang="en-US" dirty="0"/>
              <a:t>和</a:t>
            </a:r>
            <a:r>
              <a:rPr lang="en-US" altLang="zh-CN" dirty="0"/>
              <a:t>j</a:t>
            </a:r>
            <a:r>
              <a:rPr lang="zh-CN" altLang="en-US" dirty="0"/>
              <a:t>列出错，</a:t>
            </a:r>
            <a:r>
              <a:rPr lang="en-US" altLang="zh-CN" dirty="0"/>
              <a:t>0≤</a:t>
            </a:r>
            <a:r>
              <a:rPr lang="en-US" altLang="zh-CN" i="1" dirty="0"/>
              <a:t>i</a:t>
            </a:r>
            <a:r>
              <a:rPr lang="en-US" altLang="zh-CN" dirty="0"/>
              <a:t>&lt;</a:t>
            </a:r>
            <a:r>
              <a:rPr lang="en-US" altLang="zh-CN" i="1" dirty="0"/>
              <a:t>j</a:t>
            </a:r>
            <a:r>
              <a:rPr lang="en-US" altLang="zh-CN" dirty="0"/>
              <a:t>≤</a:t>
            </a:r>
            <a:r>
              <a:rPr lang="en-US" altLang="zh-CN" i="1" dirty="0"/>
              <a:t>p</a:t>
            </a:r>
            <a:r>
              <a:rPr lang="en-US" altLang="zh-CN" dirty="0"/>
              <a:t>-1</a:t>
            </a:r>
            <a:r>
              <a:rPr lang="zh-CN" altLang="en-US" dirty="0"/>
              <a:t>。我们假设译码算法的四种情况：</a:t>
            </a:r>
            <a:endParaRPr lang="en-US" altLang="zh-CN" dirty="0"/>
          </a:p>
          <a:p>
            <a:pPr>
              <a:lnSpc>
                <a:spcPts val="3800"/>
              </a:lnSpc>
            </a:pPr>
            <a:r>
              <a:rPr lang="en-US" altLang="zh-CN" dirty="0"/>
              <a:t>        (1)</a:t>
            </a:r>
            <a:r>
              <a:rPr lang="en-US" altLang="zh-CN" i="1" dirty="0" err="1"/>
              <a:t>i</a:t>
            </a:r>
            <a:r>
              <a:rPr lang="en-US" altLang="zh-CN" i="1" dirty="0"/>
              <a:t>=p</a:t>
            </a:r>
            <a:r>
              <a:rPr lang="zh-CN" altLang="en-US" dirty="0"/>
              <a:t>，</a:t>
            </a:r>
            <a:r>
              <a:rPr lang="en-US" altLang="zh-CN" i="1" dirty="0"/>
              <a:t>j=p</a:t>
            </a:r>
            <a:r>
              <a:rPr lang="en-US" altLang="zh-CN" dirty="0"/>
              <a:t>+1</a:t>
            </a:r>
            <a:r>
              <a:rPr lang="zh-CN" altLang="en-US" dirty="0"/>
              <a:t>，这种情形和编码过程完全一样，显然此算法可行</a:t>
            </a:r>
            <a:r>
              <a:rPr lang="en-US" altLang="zh-CN" dirty="0"/>
              <a:t>;</a:t>
            </a:r>
            <a:endParaRPr lang="en-US" altLang="zh-CN" dirty="0"/>
          </a:p>
          <a:p>
            <a:pPr>
              <a:lnSpc>
                <a:spcPts val="3800"/>
              </a:lnSpc>
            </a:pPr>
            <a:r>
              <a:rPr lang="en-US" altLang="zh-CN" dirty="0"/>
              <a:t>        (2)</a:t>
            </a:r>
            <a:r>
              <a:rPr lang="en-US" altLang="zh-CN" i="1" dirty="0" err="1"/>
              <a:t>i</a:t>
            </a:r>
            <a:r>
              <a:rPr lang="en-US" altLang="zh-CN" i="1" dirty="0"/>
              <a:t>&lt;p</a:t>
            </a:r>
            <a:r>
              <a:rPr lang="zh-CN" altLang="en-US" dirty="0"/>
              <a:t>，</a:t>
            </a:r>
            <a:r>
              <a:rPr lang="en-US" altLang="zh-CN" i="1" dirty="0"/>
              <a:t>j=p</a:t>
            </a:r>
            <a:r>
              <a:rPr lang="en-US" altLang="zh-CN" dirty="0"/>
              <a:t>+1</a:t>
            </a:r>
            <a:r>
              <a:rPr lang="zh-CN" altLang="en-US" dirty="0"/>
              <a:t>，注意公共因子</a:t>
            </a:r>
            <a:r>
              <a:rPr lang="en-US" altLang="zh-CN" dirty="0"/>
              <a:t>S</a:t>
            </a:r>
            <a:r>
              <a:rPr lang="zh-CN" altLang="en-US" dirty="0"/>
              <a:t>的校验值是由公式</a:t>
            </a:r>
            <a:r>
              <a:rPr lang="en-US" altLang="zh-CN" dirty="0"/>
              <a:t>(4)</a:t>
            </a:r>
            <a:r>
              <a:rPr lang="zh-CN" altLang="en-US" dirty="0"/>
              <a:t>得到的，它由对角线位</a:t>
            </a:r>
            <a:r>
              <a:rPr lang="en-US" altLang="zh-CN" dirty="0"/>
              <a:t>(&lt;</a:t>
            </a:r>
            <a:r>
              <a:rPr lang="en-US" altLang="zh-CN" i="1" dirty="0"/>
              <a:t>i</a:t>
            </a:r>
            <a:r>
              <a:rPr lang="en-US" altLang="zh-CN" dirty="0"/>
              <a:t>-1&gt;</a:t>
            </a:r>
            <a:r>
              <a:rPr lang="en-US" altLang="zh-CN" i="1" dirty="0"/>
              <a:t>p,0</a:t>
            </a:r>
            <a:r>
              <a:rPr lang="en-US" altLang="zh-CN" dirty="0"/>
              <a:t>),(&lt;</a:t>
            </a:r>
            <a:r>
              <a:rPr lang="en-US" altLang="zh-CN" i="1" dirty="0"/>
              <a:t>i</a:t>
            </a:r>
            <a:r>
              <a:rPr lang="en-US" altLang="zh-CN" dirty="0"/>
              <a:t>-2&gt;</a:t>
            </a:r>
            <a:r>
              <a:rPr lang="en-US" altLang="zh-CN" i="1" dirty="0"/>
              <a:t>p</a:t>
            </a:r>
            <a:r>
              <a:rPr lang="en-US" altLang="zh-CN" dirty="0"/>
              <a:t>,1),…,(</a:t>
            </a:r>
            <a:r>
              <a:rPr lang="en-US" altLang="zh-CN" i="1" dirty="0"/>
              <a:t>i</a:t>
            </a:r>
            <a:r>
              <a:rPr lang="en-US" altLang="zh-CN" dirty="0"/>
              <a:t>,</a:t>
            </a:r>
            <a:r>
              <a:rPr lang="en-US" altLang="zh-CN" i="1" dirty="0"/>
              <a:t>p</a:t>
            </a:r>
            <a:r>
              <a:rPr lang="en-US" altLang="zh-CN" dirty="0"/>
              <a:t>-1)</a:t>
            </a:r>
            <a:r>
              <a:rPr lang="zh-CN" altLang="en-US" dirty="0"/>
              <a:t>上的数值相异或得到。这是一条唯一不与第</a:t>
            </a:r>
            <a:r>
              <a:rPr lang="en-US" altLang="zh-CN" i="1" dirty="0" err="1"/>
              <a:t>i</a:t>
            </a:r>
            <a:r>
              <a:rPr lang="zh-CN" altLang="en-US" dirty="0"/>
              <a:t>列相交的对角线</a:t>
            </a:r>
            <a:r>
              <a:rPr lang="en-US" altLang="zh-CN" dirty="0"/>
              <a:t>(</a:t>
            </a:r>
            <a:r>
              <a:rPr lang="zh-CN" altLang="en-US" dirty="0"/>
              <a:t>此时第</a:t>
            </a:r>
            <a:r>
              <a:rPr lang="en-US" altLang="zh-CN" dirty="0" err="1"/>
              <a:t>i</a:t>
            </a:r>
            <a:r>
              <a:rPr lang="zh-CN" altLang="en-US" dirty="0"/>
              <a:t>列无效</a:t>
            </a:r>
            <a:r>
              <a:rPr lang="en-US" altLang="zh-CN" dirty="0"/>
              <a:t>)</a:t>
            </a:r>
            <a:r>
              <a:rPr lang="zh-CN" altLang="en-US" dirty="0"/>
              <a:t>。因此所有的对角线都有相同的公共因子</a:t>
            </a:r>
            <a:r>
              <a:rPr lang="en-US" altLang="zh-CN" dirty="0"/>
              <a:t>S</a:t>
            </a:r>
            <a:r>
              <a:rPr lang="zh-CN" altLang="en-US" dirty="0"/>
              <a:t>。</a:t>
            </a:r>
            <a:endParaRPr lang="en-US" altLang="zh-CN" dirty="0">
              <a:latin typeface="+mn-l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EVENODD</a:t>
            </a:r>
            <a:r>
              <a:rPr lang="zh-CN" altLang="en-US" sz="2400" dirty="0">
                <a:sym typeface="+mn-ea"/>
              </a:rPr>
              <a:t>码解码正确性证明</a:t>
            </a:r>
            <a:endParaRPr lang="zh-CN" altLang="en-US" sz="2400" dirty="0">
              <a:sym typeface="+mn-ea"/>
            </a:endParaRPr>
          </a:p>
        </p:txBody>
      </p:sp>
      <mc:AlternateContent xmlns:mc="http://schemas.openxmlformats.org/markup-compatibility/2006">
        <mc:Choice xmlns:a14="http://schemas.microsoft.com/office/drawing/2010/main" Requires="a14">
          <p:sp>
            <p:nvSpPr>
              <p:cNvPr id="9" name="文本框 8"/>
              <p:cNvSpPr txBox="1"/>
              <p:nvPr/>
            </p:nvSpPr>
            <p:spPr>
              <a:xfrm>
                <a:off x="609704" y="1066862"/>
                <a:ext cx="7924592" cy="513525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t>经过分析公式</a:t>
                </a:r>
                <a:r>
                  <a:rPr lang="en-US" altLang="zh-CN" dirty="0"/>
                  <a:t>(3)</a:t>
                </a:r>
                <a:r>
                  <a:rPr lang="zh-CN" altLang="en-US" dirty="0"/>
                  <a:t>得到</a:t>
                </a:r>
                <a:r>
                  <a:rPr lang="en-US" altLang="zh-CN" i="1" dirty="0" err="1"/>
                  <a:t>a</a:t>
                </a:r>
                <a:r>
                  <a:rPr lang="en-US" altLang="zh-CN" i="1" baseline="-25000" dirty="0" err="1"/>
                  <a:t>k,i</a:t>
                </a:r>
                <a:r>
                  <a:rPr lang="zh-CN" altLang="en-US" dirty="0"/>
                  <a:t>的过程，我们可以推出能够找到恢复第</a:t>
                </a:r>
                <a:r>
                  <a:rPr lang="en-US" altLang="zh-CN" dirty="0" err="1"/>
                  <a:t>i</a:t>
                </a:r>
                <a:r>
                  <a:rPr lang="zh-CN" altLang="en-US" dirty="0"/>
                  <a:t>列数值的公式</a:t>
                </a:r>
                <a:r>
                  <a:rPr lang="en-US" altLang="zh-CN" dirty="0"/>
                  <a:t>(5),</a:t>
                </a:r>
                <a:r>
                  <a:rPr lang="zh-CN" altLang="en-US" dirty="0"/>
                  <a:t>一旦第</a:t>
                </a:r>
                <a:r>
                  <a:rPr lang="en-US" altLang="zh-CN" dirty="0" err="1"/>
                  <a:t>i</a:t>
                </a:r>
                <a:r>
                  <a:rPr lang="zh-CN" altLang="en-US" dirty="0"/>
                  <a:t>列的值被恢复，这个算法就可以利用公式</a:t>
                </a:r>
                <a:r>
                  <a:rPr lang="en-US" altLang="zh-CN" dirty="0"/>
                  <a:t>(1)</a:t>
                </a:r>
                <a:r>
                  <a:rPr lang="zh-CN" altLang="en-US" dirty="0"/>
                  <a:t>得到第</a:t>
                </a:r>
                <a:r>
                  <a:rPr lang="en-US" altLang="zh-CN" i="1" dirty="0"/>
                  <a:t>p</a:t>
                </a:r>
                <a:r>
                  <a:rPr lang="zh-CN" altLang="en-US" dirty="0"/>
                  <a:t>列的值。</a:t>
                </a:r>
                <a:endParaRPr lang="en-US" altLang="zh-CN" dirty="0"/>
              </a:p>
              <a:p>
                <a:pPr>
                  <a:lnSpc>
                    <a:spcPts val="3600"/>
                  </a:lnSpc>
                </a:pPr>
                <a:r>
                  <a:rPr lang="en-US" altLang="zh-CN" dirty="0"/>
                  <a:t>        (3)</a:t>
                </a:r>
                <a:r>
                  <a:rPr lang="en-US" altLang="zh-CN" i="1" dirty="0" err="1"/>
                  <a:t>i</a:t>
                </a:r>
                <a:r>
                  <a:rPr lang="en-US" altLang="zh-CN" dirty="0"/>
                  <a:t>&lt;</a:t>
                </a:r>
                <a:r>
                  <a:rPr lang="en-US" altLang="zh-CN" i="1" dirty="0"/>
                  <a:t>p</a:t>
                </a:r>
                <a:r>
                  <a:rPr lang="zh-CN" altLang="en-US" dirty="0"/>
                  <a:t>，</a:t>
                </a:r>
                <a:r>
                  <a:rPr lang="en-US" altLang="zh-CN" i="1" dirty="0"/>
                  <a:t>j</a:t>
                </a:r>
                <a:r>
                  <a:rPr lang="en-US" altLang="zh-CN" dirty="0"/>
                  <a:t>=</a:t>
                </a:r>
                <a:r>
                  <a:rPr lang="en-US" altLang="zh-CN" i="1" dirty="0"/>
                  <a:t>p</a:t>
                </a:r>
                <a:r>
                  <a:rPr lang="zh-CN" altLang="en-US" dirty="0"/>
                  <a:t>，这种情形和编码的过程相似，在这里不再赘述。</a:t>
                </a:r>
                <a:endParaRPr lang="en-US" altLang="zh-CN" dirty="0"/>
              </a:p>
              <a:p>
                <a:pPr>
                  <a:lnSpc>
                    <a:spcPts val="3600"/>
                  </a:lnSpc>
                </a:pPr>
                <a:r>
                  <a:rPr lang="en-US" altLang="zh-CN" dirty="0">
                    <a:latin typeface="+mn-lt"/>
                  </a:rPr>
                  <a:t>        (4)</a:t>
                </a:r>
                <a:r>
                  <a:rPr lang="en-US" altLang="zh-CN" i="1" dirty="0" err="1">
                    <a:latin typeface="+mn-lt"/>
                  </a:rPr>
                  <a:t>i</a:t>
                </a:r>
                <a:r>
                  <a:rPr lang="en-US" altLang="zh-CN" dirty="0">
                    <a:latin typeface="+mn-lt"/>
                  </a:rPr>
                  <a:t>&lt;</a:t>
                </a:r>
                <a:r>
                  <a:rPr lang="en-US" altLang="zh-CN" i="1" dirty="0">
                    <a:latin typeface="+mn-lt"/>
                  </a:rPr>
                  <a:t>j</a:t>
                </a:r>
                <a:r>
                  <a:rPr lang="en-US" altLang="zh-CN" dirty="0">
                    <a:latin typeface="+mn-lt"/>
                  </a:rPr>
                  <a:t>&lt;</a:t>
                </a:r>
                <a:r>
                  <a:rPr lang="en-US" altLang="zh-CN" i="1" dirty="0">
                    <a:latin typeface="+mn-lt"/>
                  </a:rPr>
                  <a:t>p</a:t>
                </a:r>
                <a:r>
                  <a:rPr lang="zh-CN" altLang="en-US" dirty="0">
                    <a:latin typeface="+mn-lt"/>
                  </a:rPr>
                  <a:t>，第一步通过公式</a:t>
                </a:r>
                <a:r>
                  <a:rPr lang="en-US" altLang="zh-CN" dirty="0">
                    <a:latin typeface="+mn-lt"/>
                  </a:rPr>
                  <a:t>(7)</a:t>
                </a:r>
                <a:r>
                  <a:rPr lang="zh-CN" altLang="en-US" dirty="0">
                    <a:latin typeface="+mn-lt"/>
                  </a:rPr>
                  <a:t>计算出共同因子</a:t>
                </a:r>
                <a:r>
                  <a:rPr lang="en-US" altLang="zh-CN" dirty="0">
                    <a:latin typeface="+mn-lt"/>
                  </a:rPr>
                  <a:t>S</a:t>
                </a:r>
                <a:r>
                  <a:rPr lang="zh-CN" altLang="en-US" dirty="0">
                    <a:latin typeface="+mn-lt"/>
                  </a:rPr>
                  <a:t>，也就是公式</a:t>
                </a:r>
                <a:r>
                  <a:rPr lang="en-US" altLang="zh-CN" dirty="0">
                    <a:latin typeface="+mn-lt"/>
                  </a:rPr>
                  <a:t>(3)</a:t>
                </a:r>
                <a:r>
                  <a:rPr lang="zh-CN" altLang="en-US" dirty="0">
                    <a:latin typeface="+mn-lt"/>
                  </a:rPr>
                  <a:t>和公式</a:t>
                </a:r>
                <a:r>
                  <a:rPr lang="en-US" altLang="zh-CN" dirty="0">
                    <a:latin typeface="+mn-lt"/>
                  </a:rPr>
                  <a:t>(7)</a:t>
                </a:r>
                <a:r>
                  <a:rPr lang="zh-CN" altLang="en-US" dirty="0">
                    <a:latin typeface="+mn-lt"/>
                  </a:rPr>
                  <a:t>是等价的，但是公式</a:t>
                </a:r>
                <a:r>
                  <a:rPr lang="en-US" altLang="zh-CN" dirty="0">
                    <a:latin typeface="+mn-lt"/>
                  </a:rPr>
                  <a:t>(3)</a:t>
                </a:r>
                <a:r>
                  <a:rPr lang="zh-CN" altLang="en-US" dirty="0">
                    <a:latin typeface="+mn-lt"/>
                  </a:rPr>
                  <a:t>中存在未知的变量</a:t>
                </a:r>
                <a:r>
                  <a:rPr lang="en-US" altLang="zh-CN" dirty="0" err="1">
                    <a:latin typeface="+mn-lt"/>
                  </a:rPr>
                  <a:t>i</a:t>
                </a:r>
                <a:r>
                  <a:rPr lang="en-US" altLang="zh-CN" dirty="0">
                    <a:latin typeface="+mn-lt"/>
                  </a:rPr>
                  <a:t>, j</a:t>
                </a:r>
                <a:r>
                  <a:rPr lang="zh-CN" altLang="en-US" dirty="0">
                    <a:latin typeface="+mn-lt"/>
                  </a:rPr>
                  <a:t>的值，因此不能使</a:t>
                </a:r>
                <a:endParaRPr lang="en-US" altLang="zh-CN" dirty="0">
                  <a:latin typeface="+mn-lt"/>
                </a:endParaRPr>
              </a:p>
              <a:p>
                <a:pPr>
                  <a:lnSpc>
                    <a:spcPts val="3600"/>
                  </a:lnSpc>
                </a:pPr>
                <a:r>
                  <a:rPr lang="zh-CN" altLang="en-US" dirty="0">
                    <a:latin typeface="+mn-lt"/>
                  </a:rPr>
                  <a:t>用公式</a:t>
                </a:r>
                <a:r>
                  <a:rPr lang="en-US" altLang="zh-CN" dirty="0">
                    <a:latin typeface="+mn-lt"/>
                  </a:rPr>
                  <a:t>(3)</a:t>
                </a:r>
                <a:r>
                  <a:rPr lang="zh-CN" altLang="en-US" dirty="0">
                    <a:latin typeface="+mn-lt"/>
                  </a:rPr>
                  <a:t>直接得到共同因子</a:t>
                </a:r>
                <a:r>
                  <a:rPr lang="en-US" altLang="zh-CN" dirty="0">
                    <a:latin typeface="+mn-lt"/>
                  </a:rPr>
                  <a:t>S</a:t>
                </a:r>
                <a:r>
                  <a:rPr lang="zh-CN" altLang="en-US" dirty="0">
                    <a:latin typeface="+mn-lt"/>
                  </a:rPr>
                  <a:t>，因此根据公式</a:t>
                </a:r>
                <a:r>
                  <a:rPr lang="en-US" altLang="zh-CN" dirty="0">
                    <a:latin typeface="+mn-lt"/>
                  </a:rPr>
                  <a:t>(1)</a:t>
                </a:r>
                <a:r>
                  <a:rPr lang="zh-CN" altLang="en-US" dirty="0">
                    <a:latin typeface="+mn-lt"/>
                  </a:rPr>
                  <a:t>和</a:t>
                </a:r>
                <a:r>
                  <a:rPr lang="en-US" altLang="zh-CN" dirty="0">
                    <a:latin typeface="+mn-lt"/>
                  </a:rPr>
                  <a:t>(2)</a:t>
                </a:r>
                <a:r>
                  <a:rPr lang="zh-CN" altLang="en-US" dirty="0">
                    <a:latin typeface="+mn-lt"/>
                  </a:rPr>
                  <a:t>可以得到下面的式子</a:t>
                </a:r>
                <a:r>
                  <a:rPr lang="en-US" altLang="zh-CN" dirty="0">
                    <a:latin typeface="+mn-lt"/>
                  </a:rPr>
                  <a:t>(</a:t>
                </a:r>
                <a:r>
                  <a:rPr lang="zh-CN" altLang="en-US" dirty="0">
                    <a:latin typeface="+mn-lt"/>
                  </a:rPr>
                  <a:t>也就是公式</a:t>
                </a:r>
                <a:r>
                  <a:rPr lang="en-US" altLang="zh-CN" dirty="0">
                    <a:latin typeface="+mn-lt"/>
                  </a:rPr>
                  <a:t>(7))</a:t>
                </a:r>
                <a:r>
                  <a:rPr lang="zh-CN" altLang="en-US" dirty="0">
                    <a:latin typeface="+mn-lt"/>
                  </a:rPr>
                  <a:t>：</a:t>
                </a:r>
                <a:endParaRPr lang="en-US" altLang="zh-CN" dirty="0">
                  <a:latin typeface="+mn-lt"/>
                </a:endParaRPr>
              </a:p>
              <a:p>
                <a:pPr>
                  <a:lnSpc>
                    <a:spcPts val="3600"/>
                  </a:lnSpc>
                </a:pPr>
                <a:r>
                  <a:rPr lang="en-US" altLang="zh-CN" dirty="0">
                    <a:latin typeface="+mn-lt"/>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mn-lt"/>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𝑙</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smtClean="0">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2</m:t>
                        </m:r>
                      </m:sup>
                    </m:sSubSup>
                  </m:oMath>
                </a14:m>
                <a:r>
                  <a:rPr lang="en-US" altLang="zh-CN" dirty="0">
                    <a:latin typeface="+mn-lt"/>
                  </a:rPr>
                  <a:t>)</a:t>
                </a:r>
                <a:r>
                  <a:rPr lang="en-US" altLang="zh-CN" dirty="0">
                    <a:latin typeface="+mn-lt"/>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mn-lt"/>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𝑙</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2</m:t>
                        </m:r>
                      </m:sup>
                    </m:sSubSup>
                  </m:oMath>
                </a14:m>
                <a:r>
                  <a:rPr lang="en-US" altLang="zh-CN" i="1" dirty="0">
                    <a:latin typeface="+mn-lt"/>
                    <a:ea typeface="宋体" panose="02010600030101010101" pitchFamily="2" charset="-122"/>
                  </a:rPr>
                  <a:t>a</a:t>
                </a:r>
                <a:r>
                  <a:rPr lang="en-US" altLang="zh-CN" i="1" baseline="-25000" dirty="0">
                    <a:latin typeface="+mn-lt"/>
                    <a:ea typeface="宋体" panose="02010600030101010101" pitchFamily="2" charset="-122"/>
                  </a:rPr>
                  <a:t>l,p</a:t>
                </a:r>
                <a:r>
                  <a:rPr lang="en-US" altLang="zh-CN" baseline="-25000" dirty="0">
                    <a:latin typeface="+mn-lt"/>
                    <a:ea typeface="宋体" panose="02010600030101010101" pitchFamily="2" charset="-122"/>
                  </a:rPr>
                  <a:t>+1</a:t>
                </a:r>
                <a:r>
                  <a:rPr lang="en-US" altLang="zh-CN" dirty="0">
                    <a:latin typeface="+mn-lt"/>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mn-lt"/>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𝑙</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2</m:t>
                        </m:r>
                      </m:sup>
                    </m:sSubSup>
                  </m:oMath>
                </a14:m>
                <a:r>
                  <a:rPr lang="en-US" altLang="zh-CN" dirty="0">
                    <a:latin typeface="+mn-lt"/>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mn-lt"/>
                            <a:ea typeface="宋体" panose="02010600030101010101" pitchFamily="2" charset="-122"/>
                          </a:rPr>
                          <m:t>⊕</m:t>
                        </m:r>
                      </m:e>
                      <m:sub>
                        <m:r>
                          <a:rPr lang="en-US" altLang="zh-CN" b="0" i="1" dirty="0" smtClean="0">
                            <a:latin typeface="Cambria Math" panose="02040503050406030204" pitchFamily="18" charset="0"/>
                            <a:ea typeface="宋体" panose="02010600030101010101" pitchFamily="2" charset="-122"/>
                          </a:rPr>
                          <m:t>𝑡</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1</m:t>
                        </m:r>
                      </m:sup>
                    </m:sSubSup>
                  </m:oMath>
                </a14:m>
                <a:r>
                  <a:rPr lang="en-US" altLang="zh-CN" i="1" dirty="0">
                    <a:latin typeface="+mn-lt"/>
                    <a:ea typeface="宋体" panose="02010600030101010101" pitchFamily="2" charset="-122"/>
                  </a:rPr>
                  <a:t> a</a:t>
                </a:r>
                <a:r>
                  <a:rPr lang="en-US" altLang="zh-CN" i="1" baseline="-25000" dirty="0">
                    <a:latin typeface="+mn-lt"/>
                    <a:ea typeface="宋体" panose="02010600030101010101" pitchFamily="2" charset="-122"/>
                  </a:rPr>
                  <a:t>l,t</a:t>
                </a:r>
                <a:r>
                  <a:rPr lang="en-US" altLang="zh-CN" dirty="0">
                    <a:latin typeface="+mn-lt"/>
                  </a:rPr>
                  <a:t>))</a:t>
                </a:r>
                <a:r>
                  <a:rPr lang="en-US" altLang="zh-CN" dirty="0">
                    <a:latin typeface="+mn-lt"/>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mn-lt"/>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𝑙</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2</m:t>
                        </m:r>
                      </m:sup>
                    </m:sSubSup>
                  </m:oMath>
                </a14:m>
                <a:r>
                  <a:rPr lang="en-US" altLang="zh-CN" dirty="0">
                    <a:latin typeface="+mn-lt"/>
                    <a:ea typeface="宋体" panose="02010600030101010101" pitchFamily="2" charset="-122"/>
                  </a:rPr>
                  <a:t>(</a:t>
                </a:r>
                <a:r>
                  <a:rPr lang="en-US" altLang="zh-CN" i="1" dirty="0">
                    <a:latin typeface="+mn-lt"/>
                    <a:ea typeface="宋体" panose="02010600030101010101" pitchFamily="2" charset="-122"/>
                  </a:rPr>
                  <a:t>S</a:t>
                </a:r>
                <a:r>
                  <a:rPr lang="en-US" altLang="zh-CN" dirty="0">
                    <a:latin typeface="+mn-lt"/>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mn-lt"/>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𝑡</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1</m:t>
                        </m:r>
                      </m:sup>
                    </m:sSubSup>
                  </m:oMath>
                </a14:m>
                <a:r>
                  <a:rPr lang="en-US" altLang="zh-CN" i="1" dirty="0">
                    <a:latin typeface="+mn-lt"/>
                    <a:ea typeface="宋体" panose="02010600030101010101" pitchFamily="2" charset="-122"/>
                  </a:rPr>
                  <a:t> a</a:t>
                </a:r>
                <a:r>
                  <a:rPr lang="en-US" altLang="zh-CN" i="1" baseline="-25000" dirty="0">
                    <a:latin typeface="+mn-lt"/>
                    <a:ea typeface="宋体" panose="02010600030101010101" pitchFamily="2" charset="-122"/>
                  </a:rPr>
                  <a:t>&lt;l-t&gt;</a:t>
                </a:r>
                <a:r>
                  <a:rPr lang="en-US" altLang="zh-CN" i="1" baseline="-25000" dirty="0" err="1">
                    <a:latin typeface="+mn-lt"/>
                    <a:ea typeface="宋体" panose="02010600030101010101" pitchFamily="2" charset="-122"/>
                  </a:rPr>
                  <a:t>p,t</a:t>
                </a:r>
                <a:r>
                  <a:rPr lang="en-US" altLang="zh-CN" dirty="0">
                    <a:latin typeface="+mn-lt"/>
                  </a:rPr>
                  <a:t>))</a:t>
                </a:r>
                <a:r>
                  <a:rPr lang="en-US" altLang="zh-CN" dirty="0">
                    <a:latin typeface="+mn-lt"/>
                    <a:ea typeface="宋体" panose="02010600030101010101" pitchFamily="2" charset="-122"/>
                  </a:rPr>
                  <a:t> </a:t>
                </a:r>
                <a:endParaRPr lang="en-US" altLang="zh-CN" dirty="0">
                  <a:latin typeface="+mn-lt"/>
                  <a:ea typeface="宋体" panose="02010600030101010101" pitchFamily="2" charset="-122"/>
                </a:endParaRPr>
              </a:p>
              <a:p>
                <a:pPr>
                  <a:lnSpc>
                    <a:spcPts val="3600"/>
                  </a:lnSpc>
                </a:pPr>
                <a:r>
                  <a:rPr lang="en-US" altLang="zh-CN" dirty="0">
                    <a:latin typeface="+mn-lt"/>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mn-lt"/>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𝑙</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2</m:t>
                        </m:r>
                      </m:sup>
                    </m:sSubSup>
                  </m:oMath>
                </a14:m>
                <a:r>
                  <a:rPr lang="en-US" altLang="zh-CN" dirty="0">
                    <a:latin typeface="+mn-lt"/>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mn-lt"/>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𝑡</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1</m:t>
                        </m:r>
                      </m:sup>
                    </m:sSubSup>
                  </m:oMath>
                </a14:m>
                <a:r>
                  <a:rPr lang="en-US" altLang="zh-CN" i="1" dirty="0">
                    <a:latin typeface="+mn-lt"/>
                    <a:ea typeface="宋体" panose="02010600030101010101" pitchFamily="2" charset="-122"/>
                  </a:rPr>
                  <a:t> </a:t>
                </a:r>
                <a:r>
                  <a:rPr lang="en-US" altLang="zh-CN" i="1" dirty="0" err="1">
                    <a:latin typeface="+mn-lt"/>
                    <a:ea typeface="宋体" panose="02010600030101010101" pitchFamily="2" charset="-122"/>
                  </a:rPr>
                  <a:t>a</a:t>
                </a:r>
                <a:r>
                  <a:rPr lang="en-US" altLang="zh-CN" i="1" baseline="-25000" dirty="0" err="1">
                    <a:latin typeface="+mn-lt"/>
                    <a:ea typeface="宋体" panose="02010600030101010101" pitchFamily="2" charset="-122"/>
                  </a:rPr>
                  <a:t>l,t</a:t>
                </a:r>
                <a:r>
                  <a:rPr lang="en-US" altLang="zh-CN" dirty="0">
                    <a:latin typeface="+mn-lt"/>
                  </a:rPr>
                  <a:t>))</a:t>
                </a:r>
                <a:r>
                  <a:rPr lang="en-US" altLang="zh-CN" dirty="0">
                    <a:latin typeface="+mn-lt"/>
                    <a:ea typeface="宋体" panose="02010600030101010101" pitchFamily="2" charset="-122"/>
                  </a:rPr>
                  <a:t>⊕(</a:t>
                </a:r>
                <a:r>
                  <a:rPr lang="en-US" altLang="zh-CN" i="1" dirty="0">
                    <a:latin typeface="+mn-lt"/>
                    <a:ea typeface="宋体" panose="02010600030101010101" pitchFamily="2" charset="-122"/>
                  </a:rPr>
                  <a:t>p</a:t>
                </a:r>
                <a:r>
                  <a:rPr lang="en-US" altLang="zh-CN" dirty="0">
                    <a:latin typeface="+mn-lt"/>
                    <a:ea typeface="宋体" panose="02010600030101010101" pitchFamily="2" charset="-122"/>
                  </a:rPr>
                  <a:t>-1)</a:t>
                </a:r>
                <a:r>
                  <a:rPr lang="en-US" altLang="zh-CN" i="1" dirty="0">
                    <a:latin typeface="+mn-lt"/>
                    <a:ea typeface="宋体" panose="02010600030101010101" pitchFamily="2" charset="-122"/>
                  </a:rPr>
                  <a:t>S</a:t>
                </a:r>
                <a:r>
                  <a:rPr lang="en-US" altLang="zh-CN" dirty="0">
                    <a:latin typeface="+mn-lt"/>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mn-lt"/>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𝑙</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2</m:t>
                        </m:r>
                      </m:sup>
                    </m:sSubSup>
                  </m:oMath>
                </a14:m>
                <a:r>
                  <a:rPr lang="en-US" altLang="zh-CN" dirty="0">
                    <a:latin typeface="+mn-lt"/>
                    <a:ea typeface="宋体" panose="02010600030101010101" pitchFamily="2" charset="-122"/>
                  </a:rPr>
                  <a:t>(</a:t>
                </a:r>
                <a:r>
                  <a:rPr lang="en-US" altLang="zh-CN" i="1" dirty="0">
                    <a:latin typeface="+mn-lt"/>
                    <a:ea typeface="宋体" panose="02010600030101010101" pitchFamily="2" charset="-122"/>
                  </a:rPr>
                  <a:t>S</a:t>
                </a:r>
                <a:r>
                  <a:rPr lang="en-US" altLang="zh-CN" dirty="0">
                    <a:latin typeface="+mn-lt"/>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mn-lt"/>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𝑡</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1</m:t>
                        </m:r>
                      </m:sup>
                    </m:sSubSup>
                  </m:oMath>
                </a14:m>
                <a:r>
                  <a:rPr lang="en-US" altLang="zh-CN" i="1" dirty="0">
                    <a:latin typeface="+mn-lt"/>
                    <a:ea typeface="宋体" panose="02010600030101010101" pitchFamily="2" charset="-122"/>
                  </a:rPr>
                  <a:t> a</a:t>
                </a:r>
                <a:r>
                  <a:rPr lang="en-US" altLang="zh-CN" i="1" baseline="-25000" dirty="0">
                    <a:latin typeface="+mn-lt"/>
                    <a:ea typeface="宋体" panose="02010600030101010101" pitchFamily="2" charset="-122"/>
                  </a:rPr>
                  <a:t>&lt;l-t&gt;</a:t>
                </a:r>
                <a:r>
                  <a:rPr lang="en-US" altLang="zh-CN" i="1" baseline="-25000" dirty="0" err="1">
                    <a:latin typeface="+mn-lt"/>
                    <a:ea typeface="宋体" panose="02010600030101010101" pitchFamily="2" charset="-122"/>
                  </a:rPr>
                  <a:t>p,t</a:t>
                </a:r>
                <a:r>
                  <a:rPr lang="en-US" altLang="zh-CN" dirty="0">
                    <a:latin typeface="+mn-lt"/>
                  </a:rPr>
                  <a:t>))</a:t>
                </a:r>
                <a:r>
                  <a:rPr lang="en-US" altLang="zh-CN" dirty="0">
                    <a:latin typeface="+mn-lt"/>
                    <a:ea typeface="宋体" panose="02010600030101010101" pitchFamily="2" charset="-122"/>
                  </a:rPr>
                  <a:t> </a:t>
                </a:r>
                <a:endParaRPr lang="en-US" altLang="zh-CN" dirty="0">
                  <a:latin typeface="+mn-lt"/>
                  <a:ea typeface="宋体" panose="02010600030101010101" pitchFamily="2" charset="-122"/>
                </a:endParaRPr>
              </a:p>
              <a:p>
                <a:pPr>
                  <a:lnSpc>
                    <a:spcPts val="3600"/>
                  </a:lnSpc>
                </a:pPr>
                <a:r>
                  <a:rPr lang="en-US" altLang="zh-CN" dirty="0">
                    <a:latin typeface="+mn-lt"/>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mn-lt"/>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𝑙</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2</m:t>
                        </m:r>
                      </m:sup>
                    </m:sSubSup>
                  </m:oMath>
                </a14:m>
                <a:r>
                  <a:rPr lang="en-US" altLang="zh-CN" dirty="0">
                    <a:latin typeface="+mn-lt"/>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mn-lt"/>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𝑡</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1</m:t>
                        </m:r>
                      </m:sup>
                    </m:sSubSup>
                  </m:oMath>
                </a14:m>
                <a:r>
                  <a:rPr lang="en-US" altLang="zh-CN" i="1" dirty="0">
                    <a:latin typeface="+mn-lt"/>
                    <a:ea typeface="宋体" panose="02010600030101010101" pitchFamily="2" charset="-122"/>
                  </a:rPr>
                  <a:t> </a:t>
                </a:r>
                <a:r>
                  <a:rPr lang="en-US" altLang="zh-CN" i="1" dirty="0" err="1">
                    <a:latin typeface="+mn-lt"/>
                    <a:ea typeface="宋体" panose="02010600030101010101" pitchFamily="2" charset="-122"/>
                  </a:rPr>
                  <a:t>a</a:t>
                </a:r>
                <a:r>
                  <a:rPr lang="en-US" altLang="zh-CN" i="1" baseline="-25000" dirty="0" err="1">
                    <a:latin typeface="+mn-lt"/>
                    <a:ea typeface="宋体" panose="02010600030101010101" pitchFamily="2" charset="-122"/>
                  </a:rPr>
                  <a:t>l,t</a:t>
                </a:r>
                <a:r>
                  <a:rPr lang="en-US" altLang="zh-CN" dirty="0">
                    <a:latin typeface="+mn-lt"/>
                  </a:rPr>
                  <a:t>))</a:t>
                </a:r>
                <a:r>
                  <a:rPr lang="en-US" altLang="zh-CN" dirty="0">
                    <a:latin typeface="+mn-lt"/>
                    <a:ea typeface="宋体" panose="02010600030101010101" pitchFamily="2" charset="-122"/>
                  </a:rPr>
                  <a:t>⊕ (</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mn-lt"/>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𝑙</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2</m:t>
                        </m:r>
                      </m:sup>
                    </m:sSubSup>
                  </m:oMath>
                </a14:m>
                <a:r>
                  <a:rPr lang="en-US" altLang="zh-CN" dirty="0">
                    <a:latin typeface="+mn-lt"/>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mn-lt"/>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𝑡</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1</m:t>
                        </m:r>
                      </m:sup>
                    </m:sSubSup>
                  </m:oMath>
                </a14:m>
                <a:r>
                  <a:rPr lang="en-US" altLang="zh-CN" i="1" dirty="0">
                    <a:latin typeface="+mn-lt"/>
                    <a:ea typeface="宋体" panose="02010600030101010101" pitchFamily="2" charset="-122"/>
                  </a:rPr>
                  <a:t> a</a:t>
                </a:r>
                <a:r>
                  <a:rPr lang="en-US" altLang="zh-CN" i="1" baseline="-25000" dirty="0">
                    <a:latin typeface="+mn-lt"/>
                    <a:ea typeface="宋体" panose="02010600030101010101" pitchFamily="2" charset="-122"/>
                  </a:rPr>
                  <a:t>&lt;l-t&gt;</a:t>
                </a:r>
                <a:r>
                  <a:rPr lang="en-US" altLang="zh-CN" i="1" baseline="-25000" dirty="0" err="1">
                    <a:latin typeface="+mn-lt"/>
                    <a:ea typeface="宋体" panose="02010600030101010101" pitchFamily="2" charset="-122"/>
                  </a:rPr>
                  <a:t>p,t</a:t>
                </a:r>
                <a:r>
                  <a:rPr lang="en-US" altLang="zh-CN">
                    <a:latin typeface="+mn-lt"/>
                  </a:rPr>
                  <a:t>))</a:t>
                </a:r>
                <a:r>
                  <a:rPr lang="en-US" altLang="zh-CN">
                    <a:latin typeface="+mn-lt"/>
                    <a:ea typeface="宋体" panose="02010600030101010101" pitchFamily="2" charset="-122"/>
                  </a:rPr>
                  <a:t>                                  (</a:t>
                </a:r>
                <a:r>
                  <a:rPr lang="en-US" altLang="zh-CN" dirty="0">
                    <a:latin typeface="+mn-lt"/>
                    <a:ea typeface="宋体" panose="02010600030101010101" pitchFamily="2" charset="-122"/>
                  </a:rPr>
                  <a:t>10)</a:t>
                </a:r>
                <a:endParaRPr lang="en-US" altLang="zh-CN" dirty="0">
                  <a:latin typeface="+mn-lt"/>
                  <a:ea typeface="宋体" panose="02010600030101010101" pitchFamily="2" charset="-122"/>
                </a:endParaRPr>
              </a:p>
            </p:txBody>
          </p:sp>
        </mc:Choice>
        <mc:Fallback>
          <p:sp>
            <p:nvSpPr>
              <p:cNvPr id="9" name="文本框 8"/>
              <p:cNvSpPr txBox="1">
                <a:spLocks noRot="1" noChangeAspect="1" noMove="1" noResize="1" noEditPoints="1" noAdjustHandles="1" noChangeArrowheads="1" noChangeShapeType="1" noTextEdit="1"/>
              </p:cNvSpPr>
              <p:nvPr/>
            </p:nvSpPr>
            <p:spPr>
              <a:xfrm>
                <a:off x="609704" y="1066862"/>
                <a:ext cx="7924592" cy="5135252"/>
              </a:xfrm>
              <a:prstGeom prst="rect">
                <a:avLst/>
              </a:prstGeom>
              <a:blipFill rotWithShape="1">
                <a:blip r:embed="rId1"/>
                <a:stretch>
                  <a:fillRect l="-1" t="-1" r="7" b="1"/>
                </a:stretch>
              </a:blipFill>
            </p:spPr>
            <p:txBody>
              <a:bodyPr/>
              <a:lstStyle/>
              <a:p>
                <a:r>
                  <a:rPr lang="zh-CN" altLang="en-US">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EVENODD</a:t>
            </a:r>
            <a:r>
              <a:rPr lang="zh-CN" altLang="en-US" sz="2400" dirty="0">
                <a:sym typeface="+mn-ea"/>
              </a:rPr>
              <a:t>码解码正确性证明</a:t>
            </a:r>
            <a:endParaRPr lang="zh-CN" altLang="en-US" sz="2400" dirty="0">
              <a:sym typeface="+mn-ea"/>
            </a:endParaRPr>
          </a:p>
        </p:txBody>
      </p:sp>
      <mc:AlternateContent xmlns:mc="http://schemas.openxmlformats.org/markup-compatibility/2006">
        <mc:Choice xmlns:a14="http://schemas.microsoft.com/office/drawing/2010/main" Requires="a14">
          <p:sp>
            <p:nvSpPr>
              <p:cNvPr id="9" name="文本框 8"/>
              <p:cNvSpPr txBox="1"/>
              <p:nvPr/>
            </p:nvSpPr>
            <p:spPr>
              <a:xfrm>
                <a:off x="477624" y="914466"/>
                <a:ext cx="7924592" cy="557389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latin typeface="+mn-lt"/>
                  </a:rPr>
                  <a:t>         因为</a:t>
                </a:r>
                <a:r>
                  <a:rPr lang="en-US" altLang="zh-CN" dirty="0">
                    <a:latin typeface="+mn-lt"/>
                  </a:rPr>
                  <a:t>p-1</a:t>
                </a:r>
                <a:r>
                  <a:rPr lang="zh-CN" altLang="en-US" dirty="0">
                    <a:latin typeface="+mn-lt"/>
                  </a:rPr>
                  <a:t>为偶数，所以</a:t>
                </a:r>
                <a:r>
                  <a:rPr lang="en-US" altLang="zh-CN" dirty="0">
                    <a:latin typeface="+mn-lt"/>
                  </a:rPr>
                  <a:t>(</a:t>
                </a:r>
                <a:r>
                  <a:rPr lang="en-US" altLang="zh-CN" i="1" dirty="0">
                    <a:latin typeface="+mn-lt"/>
                  </a:rPr>
                  <a:t>p</a:t>
                </a:r>
                <a:r>
                  <a:rPr lang="en-US" altLang="zh-CN" dirty="0">
                    <a:latin typeface="+mn-lt"/>
                  </a:rPr>
                  <a:t>-1)</a:t>
                </a:r>
                <a:r>
                  <a:rPr lang="en-US" altLang="zh-CN" i="1" dirty="0">
                    <a:latin typeface="+mn-lt"/>
                  </a:rPr>
                  <a:t>S</a:t>
                </a:r>
                <a:r>
                  <a:rPr lang="en-US" altLang="zh-CN" dirty="0">
                    <a:latin typeface="+mn-lt"/>
                  </a:rPr>
                  <a:t>=0 mod 2</a:t>
                </a:r>
                <a:r>
                  <a:rPr lang="zh-CN" altLang="en-US" dirty="0">
                    <a:latin typeface="+mn-lt"/>
                  </a:rPr>
                  <a:t>，又因为最后一个虚拟的</a:t>
                </a:r>
                <a:r>
                  <a:rPr lang="en-US" altLang="zh-CN" i="1" dirty="0">
                    <a:latin typeface="+mn-lt"/>
                  </a:rPr>
                  <a:t>p</a:t>
                </a:r>
                <a:r>
                  <a:rPr lang="en-US" altLang="zh-CN" dirty="0">
                    <a:latin typeface="+mn-lt"/>
                  </a:rPr>
                  <a:t>-1</a:t>
                </a:r>
                <a:r>
                  <a:rPr lang="zh-CN" altLang="en-US" dirty="0">
                    <a:latin typeface="+mn-lt"/>
                  </a:rPr>
                  <a:t>行所有的值都为</a:t>
                </a:r>
                <a:r>
                  <a:rPr lang="en-US" altLang="zh-CN" dirty="0">
                    <a:latin typeface="+mn-lt"/>
                  </a:rPr>
                  <a:t>0</a:t>
                </a:r>
                <a:r>
                  <a:rPr lang="zh-CN" altLang="en-US" dirty="0">
                    <a:latin typeface="+mn-lt"/>
                  </a:rPr>
                  <a:t>，即</a:t>
                </a:r>
                <a:r>
                  <a:rPr lang="en-US" altLang="zh-CN" dirty="0">
                    <a:latin typeface="+mn-lt"/>
                  </a:rPr>
                  <a:t>a</a:t>
                </a:r>
                <a:r>
                  <a:rPr lang="en-US" altLang="zh-CN" i="1" baseline="-25000" dirty="0">
                    <a:latin typeface="+mn-lt"/>
                  </a:rPr>
                  <a:t>p-</a:t>
                </a:r>
                <a:r>
                  <a:rPr lang="en-US" altLang="zh-CN" baseline="-25000" dirty="0">
                    <a:latin typeface="+mn-lt"/>
                  </a:rPr>
                  <a:t>1</a:t>
                </a:r>
                <a:r>
                  <a:rPr lang="en-US" altLang="zh-CN" i="1" baseline="-25000" dirty="0">
                    <a:latin typeface="+mn-lt"/>
                  </a:rPr>
                  <a:t>,t</a:t>
                </a:r>
                <a:r>
                  <a:rPr lang="en-US" altLang="zh-CN" dirty="0">
                    <a:latin typeface="+mn-lt"/>
                  </a:rPr>
                  <a:t>=0</a:t>
                </a:r>
                <a:r>
                  <a:rPr lang="zh-CN" altLang="en-US" dirty="0">
                    <a:latin typeface="+mn-lt"/>
                  </a:rPr>
                  <a:t>，因此可以得到</a:t>
                </a:r>
                <a:r>
                  <a:rPr lang="en-US" altLang="zh-CN" dirty="0">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Cambria Math" panose="02040503050406030204" pitchFamily="18" charset="0"/>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𝑙</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2</m:t>
                        </m:r>
                      </m:sup>
                    </m:sSubSup>
                  </m:oMath>
                </a14:m>
                <a:r>
                  <a:rPr lang="en-US" altLang="zh-CN" dirty="0">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Cambria Math" panose="02040503050406030204" pitchFamily="18" charset="0"/>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𝑡</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1</m:t>
                        </m:r>
                      </m:sup>
                    </m:sSubSup>
                  </m:oMath>
                </a14:m>
                <a:r>
                  <a:rPr lang="en-US" altLang="zh-CN" i="1" dirty="0">
                    <a:ea typeface="宋体" panose="02010600030101010101" pitchFamily="2" charset="-122"/>
                  </a:rPr>
                  <a:t> </a:t>
                </a:r>
                <a:r>
                  <a:rPr lang="en-US" altLang="zh-CN" i="1" dirty="0" err="1">
                    <a:ea typeface="宋体" panose="02010600030101010101" pitchFamily="2" charset="-122"/>
                  </a:rPr>
                  <a:t>a</a:t>
                </a:r>
                <a:r>
                  <a:rPr lang="en-US" altLang="zh-CN" i="1" baseline="-25000" dirty="0" err="1">
                    <a:ea typeface="宋体" panose="02010600030101010101" pitchFamily="2" charset="-122"/>
                  </a:rPr>
                  <a:t>l,t</a:t>
                </a:r>
                <a:r>
                  <a:rPr lang="en-US" altLang="zh-CN" dirty="0"/>
                  <a:t>))</a:t>
                </a:r>
                <a:r>
                  <a:rPr lang="zh-CN" altLang="en-US" dirty="0">
                    <a:latin typeface="+mn-lt"/>
                  </a:rPr>
                  <a:t>所有水平校验列的值异或，也就是所有的</a:t>
                </a:r>
                <a:r>
                  <a:rPr lang="en-US" altLang="zh-CN" dirty="0">
                    <a:latin typeface="+mn-lt"/>
                  </a:rPr>
                  <a:t>0</a:t>
                </a:r>
                <a:r>
                  <a:rPr lang="zh-CN" altLang="en-US" dirty="0">
                    <a:latin typeface="+mn-lt"/>
                  </a:rPr>
                  <a:t>到</a:t>
                </a:r>
                <a:r>
                  <a:rPr lang="en-US" altLang="zh-CN" i="1" dirty="0">
                    <a:latin typeface="+mn-lt"/>
                  </a:rPr>
                  <a:t>p</a:t>
                </a:r>
                <a:r>
                  <a:rPr lang="en-US" altLang="zh-CN" dirty="0">
                    <a:latin typeface="+mn-lt"/>
                  </a:rPr>
                  <a:t>-1</a:t>
                </a:r>
                <a:r>
                  <a:rPr lang="zh-CN" altLang="en-US" dirty="0">
                    <a:latin typeface="+mn-lt"/>
                  </a:rPr>
                  <a:t>列的数据</a:t>
                </a:r>
                <a:r>
                  <a:rPr lang="en-US" altLang="zh-CN" dirty="0">
                    <a:latin typeface="+mn-lt"/>
                  </a:rPr>
                  <a:t>(</a:t>
                </a:r>
                <a:r>
                  <a:rPr lang="zh-CN" altLang="en-US" dirty="0">
                    <a:latin typeface="+mn-lt"/>
                  </a:rPr>
                  <a:t>每列是</a:t>
                </a:r>
                <a:r>
                  <a:rPr lang="en-US" altLang="zh-CN" i="1" dirty="0">
                    <a:latin typeface="+mn-lt"/>
                  </a:rPr>
                  <a:t>p</a:t>
                </a:r>
                <a:r>
                  <a:rPr lang="en-US" altLang="zh-CN" dirty="0">
                    <a:latin typeface="+mn-lt"/>
                  </a:rPr>
                  <a:t>-1</a:t>
                </a:r>
                <a:r>
                  <a:rPr lang="zh-CN" altLang="en-US" dirty="0">
                    <a:latin typeface="+mn-lt"/>
                  </a:rPr>
                  <a:t>行</a:t>
                </a:r>
                <a:r>
                  <a:rPr lang="en-US" altLang="zh-CN" dirty="0">
                    <a:latin typeface="+mn-lt"/>
                  </a:rPr>
                  <a:t>)</a:t>
                </a:r>
                <a:r>
                  <a:rPr lang="zh-CN" altLang="en-US" dirty="0">
                    <a:latin typeface="+mn-lt"/>
                  </a:rPr>
                  <a:t>，所有数据位异或。</a:t>
                </a:r>
                <a:r>
                  <a:rPr lang="en-US" altLang="zh-CN" dirty="0">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Cambria Math" panose="02040503050406030204" pitchFamily="18" charset="0"/>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𝑙</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2</m:t>
                        </m:r>
                      </m:sup>
                    </m:sSubSup>
                  </m:oMath>
                </a14:m>
                <a:r>
                  <a:rPr lang="en-US" altLang="zh-CN" dirty="0">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Cambria Math" panose="02040503050406030204" pitchFamily="18" charset="0"/>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𝑡</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1</m:t>
                        </m:r>
                      </m:sup>
                    </m:sSubSup>
                  </m:oMath>
                </a14:m>
                <a:r>
                  <a:rPr lang="en-US" altLang="zh-CN" i="1" dirty="0">
                    <a:ea typeface="宋体" panose="02010600030101010101" pitchFamily="2" charset="-122"/>
                  </a:rPr>
                  <a:t> a</a:t>
                </a:r>
                <a:r>
                  <a:rPr lang="en-US" altLang="zh-CN" i="1" baseline="-25000" dirty="0">
                    <a:ea typeface="宋体" panose="02010600030101010101" pitchFamily="2" charset="-122"/>
                  </a:rPr>
                  <a:t>&lt;l-t&gt;</a:t>
                </a:r>
                <a:r>
                  <a:rPr lang="en-US" altLang="zh-CN" i="1" baseline="-25000" dirty="0" err="1">
                    <a:ea typeface="宋体" panose="02010600030101010101" pitchFamily="2" charset="-122"/>
                  </a:rPr>
                  <a:t>p,t</a:t>
                </a:r>
                <a:r>
                  <a:rPr lang="en-US" altLang="zh-CN" dirty="0"/>
                  <a:t>))</a:t>
                </a:r>
                <a:r>
                  <a:rPr lang="zh-CN" altLang="en-US" dirty="0"/>
                  <a:t>表示</a:t>
                </a:r>
                <a:r>
                  <a:rPr lang="zh-CN" altLang="en-US" dirty="0">
                    <a:latin typeface="+mn-lt"/>
                  </a:rPr>
                  <a:t>所有的垂直校验列的值异或</a:t>
                </a:r>
                <a:r>
                  <a:rPr lang="en-US" altLang="zh-CN" dirty="0">
                    <a:latin typeface="+mn-lt"/>
                  </a:rPr>
                  <a:t>(</a:t>
                </a:r>
                <a:r>
                  <a:rPr lang="zh-CN" altLang="en-US" dirty="0">
                    <a:latin typeface="+mn-lt"/>
                  </a:rPr>
                  <a:t>除掉共同因子</a:t>
                </a:r>
                <a:r>
                  <a:rPr lang="en-US" altLang="zh-CN" dirty="0">
                    <a:latin typeface="+mn-lt"/>
                  </a:rPr>
                  <a:t>S)</a:t>
                </a:r>
                <a:r>
                  <a:rPr lang="zh-CN" altLang="en-US" dirty="0">
                    <a:latin typeface="+mn-lt"/>
                  </a:rPr>
                  <a:t>，从</a:t>
                </a:r>
                <a:r>
                  <a:rPr lang="en-US" altLang="zh-CN" dirty="0">
                    <a:latin typeface="+mn-lt"/>
                  </a:rPr>
                  <a:t>0</a:t>
                </a:r>
                <a:r>
                  <a:rPr lang="zh-CN" altLang="en-US" dirty="0">
                    <a:latin typeface="+mn-lt"/>
                  </a:rPr>
                  <a:t>到</a:t>
                </a:r>
                <a:r>
                  <a:rPr lang="en-US" altLang="zh-CN" i="1" dirty="0">
                    <a:latin typeface="+mn-lt"/>
                  </a:rPr>
                  <a:t>p</a:t>
                </a:r>
                <a:r>
                  <a:rPr lang="en-US" altLang="zh-CN" dirty="0">
                    <a:latin typeface="+mn-lt"/>
                  </a:rPr>
                  <a:t>-1(</a:t>
                </a:r>
                <a:r>
                  <a:rPr lang="zh-CN" altLang="en-US" dirty="0">
                    <a:latin typeface="+mn-lt"/>
                  </a:rPr>
                  <a:t>每列</a:t>
                </a:r>
                <a:r>
                  <a:rPr lang="en-US" altLang="zh-CN" i="1" dirty="0">
                    <a:latin typeface="+mn-lt"/>
                  </a:rPr>
                  <a:t>p</a:t>
                </a:r>
                <a:r>
                  <a:rPr lang="zh-CN" altLang="en-US" dirty="0">
                    <a:latin typeface="+mn-lt"/>
                  </a:rPr>
                  <a:t>行，但最后一行的值为</a:t>
                </a:r>
                <a:r>
                  <a:rPr lang="en-US" altLang="zh-CN" dirty="0">
                    <a:latin typeface="+mn-lt"/>
                  </a:rPr>
                  <a:t>0)</a:t>
                </a:r>
                <a:r>
                  <a:rPr lang="zh-CN" altLang="en-US" dirty="0">
                    <a:latin typeface="+mn-lt"/>
                  </a:rPr>
                  <a:t>，因此也就是所有的</a:t>
                </a:r>
                <a:r>
                  <a:rPr lang="en-US" altLang="zh-CN" dirty="0">
                    <a:latin typeface="+mn-lt"/>
                  </a:rPr>
                  <a:t>0</a:t>
                </a:r>
                <a:r>
                  <a:rPr lang="zh-CN" altLang="en-US" dirty="0">
                    <a:latin typeface="+mn-lt"/>
                  </a:rPr>
                  <a:t>到</a:t>
                </a:r>
                <a:r>
                  <a:rPr lang="en-US" altLang="zh-CN" i="1" dirty="0">
                    <a:latin typeface="+mn-lt"/>
                  </a:rPr>
                  <a:t>p</a:t>
                </a:r>
                <a:r>
                  <a:rPr lang="en-US" altLang="zh-CN" dirty="0">
                    <a:latin typeface="+mn-lt"/>
                  </a:rPr>
                  <a:t>-1</a:t>
                </a:r>
                <a:r>
                  <a:rPr lang="zh-CN" altLang="en-US" dirty="0">
                    <a:latin typeface="+mn-lt"/>
                  </a:rPr>
                  <a:t>列所有数据位异或。</a:t>
                </a:r>
                <a:endParaRPr lang="en-US" altLang="zh-CN" dirty="0">
                  <a:latin typeface="+mn-lt"/>
                </a:endParaRPr>
              </a:p>
              <a:p>
                <a:pPr>
                  <a:lnSpc>
                    <a:spcPts val="3600"/>
                  </a:lnSpc>
                </a:pPr>
                <a:r>
                  <a:rPr lang="zh-CN" altLang="en-US" dirty="0">
                    <a:latin typeface="+mn-lt"/>
                  </a:rPr>
                  <a:t>        因此：</a:t>
                </a:r>
                <a:endParaRPr lang="en-US" altLang="zh-CN" dirty="0">
                  <a:latin typeface="+mn-lt"/>
                </a:endParaRPr>
              </a:p>
              <a:p>
                <a:pPr>
                  <a:lnSpc>
                    <a:spcPts val="3600"/>
                  </a:lnSpc>
                </a:pPr>
                <a:r>
                  <a:rPr lang="en-US" altLang="zh-CN" dirty="0">
                    <a:latin typeface="+mn-lt"/>
                    <a:ea typeface="宋体" panose="02010600030101010101" pitchFamily="2" charset="-122"/>
                  </a:rPr>
                  <a:t>            0=(</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mn-lt"/>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𝑙</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2</m:t>
                        </m:r>
                      </m:sup>
                    </m:sSubSup>
                  </m:oMath>
                </a14:m>
                <a:r>
                  <a:rPr lang="en-US" altLang="zh-CN" dirty="0">
                    <a:latin typeface="+mn-lt"/>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mn-lt"/>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𝑡</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1</m:t>
                        </m:r>
                      </m:sup>
                    </m:sSubSup>
                  </m:oMath>
                </a14:m>
                <a:r>
                  <a:rPr lang="en-US" altLang="zh-CN" i="1" dirty="0">
                    <a:latin typeface="+mn-lt"/>
                    <a:ea typeface="宋体" panose="02010600030101010101" pitchFamily="2" charset="-122"/>
                  </a:rPr>
                  <a:t> </a:t>
                </a:r>
                <a:r>
                  <a:rPr lang="en-US" altLang="zh-CN" i="1" dirty="0" err="1">
                    <a:latin typeface="+mn-lt"/>
                    <a:ea typeface="宋体" panose="02010600030101010101" pitchFamily="2" charset="-122"/>
                  </a:rPr>
                  <a:t>a</a:t>
                </a:r>
                <a:r>
                  <a:rPr lang="en-US" altLang="zh-CN" i="1" baseline="-25000" dirty="0" err="1">
                    <a:latin typeface="+mn-lt"/>
                    <a:ea typeface="宋体" panose="02010600030101010101" pitchFamily="2" charset="-122"/>
                  </a:rPr>
                  <a:t>l,t</a:t>
                </a:r>
                <a:r>
                  <a:rPr lang="en-US" altLang="zh-CN" dirty="0">
                    <a:latin typeface="+mn-lt"/>
                  </a:rPr>
                  <a:t>))</a:t>
                </a:r>
                <a:r>
                  <a:rPr lang="en-US" altLang="zh-CN" dirty="0">
                    <a:latin typeface="+mn-lt"/>
                    <a:ea typeface="宋体" panose="02010600030101010101" pitchFamily="2" charset="-122"/>
                  </a:rPr>
                  <a:t>⊕ (</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mn-lt"/>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𝑙</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1</m:t>
                        </m:r>
                      </m:sup>
                    </m:sSubSup>
                  </m:oMath>
                </a14:m>
                <a:r>
                  <a:rPr lang="en-US" altLang="zh-CN" dirty="0">
                    <a:latin typeface="+mn-lt"/>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mn-lt"/>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𝑡</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1</m:t>
                        </m:r>
                      </m:sup>
                    </m:sSubSup>
                  </m:oMath>
                </a14:m>
                <a:r>
                  <a:rPr lang="en-US" altLang="zh-CN" i="1" dirty="0">
                    <a:latin typeface="+mn-lt"/>
                    <a:ea typeface="宋体" panose="02010600030101010101" pitchFamily="2" charset="-122"/>
                  </a:rPr>
                  <a:t> a</a:t>
                </a:r>
                <a:r>
                  <a:rPr lang="en-US" altLang="zh-CN" i="1" baseline="-25000" dirty="0">
                    <a:latin typeface="+mn-lt"/>
                    <a:ea typeface="宋体" panose="02010600030101010101" pitchFamily="2" charset="-122"/>
                  </a:rPr>
                  <a:t>&lt;l-t&gt;</a:t>
                </a:r>
                <a:r>
                  <a:rPr lang="en-US" altLang="zh-CN" i="1" baseline="-25000" dirty="0" err="1">
                    <a:latin typeface="+mn-lt"/>
                    <a:ea typeface="宋体" panose="02010600030101010101" pitchFamily="2" charset="-122"/>
                  </a:rPr>
                  <a:t>p,t</a:t>
                </a:r>
                <a:r>
                  <a:rPr lang="en-US" altLang="zh-CN" dirty="0">
                    <a:latin typeface="+mn-lt"/>
                  </a:rPr>
                  <a:t>))</a:t>
                </a:r>
                <a:endParaRPr lang="en-US" altLang="zh-CN" dirty="0">
                  <a:latin typeface="+mn-lt"/>
                </a:endParaRPr>
              </a:p>
              <a:p>
                <a:pPr>
                  <a:lnSpc>
                    <a:spcPts val="3600"/>
                  </a:lnSpc>
                </a:pPr>
                <a:r>
                  <a:rPr lang="en-US" altLang="zh-CN" dirty="0">
                    <a:ea typeface="宋体" panose="02010600030101010101" pitchFamily="2" charset="-122"/>
                  </a:rPr>
                  <a:t>              =(</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Cambria Math" panose="02040503050406030204" pitchFamily="18" charset="0"/>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𝑙</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2</m:t>
                        </m:r>
                      </m:sup>
                    </m:sSubSup>
                  </m:oMath>
                </a14:m>
                <a:r>
                  <a:rPr lang="en-US" altLang="zh-CN" dirty="0">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Cambria Math" panose="02040503050406030204" pitchFamily="18" charset="0"/>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𝑡</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1</m:t>
                        </m:r>
                      </m:sup>
                    </m:sSubSup>
                  </m:oMath>
                </a14:m>
                <a:r>
                  <a:rPr lang="en-US" altLang="zh-CN" i="1" dirty="0">
                    <a:ea typeface="宋体" panose="02010600030101010101" pitchFamily="2" charset="-122"/>
                  </a:rPr>
                  <a:t> </a:t>
                </a:r>
                <a:r>
                  <a:rPr lang="en-US" altLang="zh-CN" i="1" dirty="0" err="1">
                    <a:ea typeface="宋体" panose="02010600030101010101" pitchFamily="2" charset="-122"/>
                  </a:rPr>
                  <a:t>a</a:t>
                </a:r>
                <a:r>
                  <a:rPr lang="en-US" altLang="zh-CN" i="1" baseline="-25000" dirty="0" err="1">
                    <a:ea typeface="宋体" panose="02010600030101010101" pitchFamily="2" charset="-122"/>
                  </a:rPr>
                  <a:t>l,t</a:t>
                </a:r>
                <a:r>
                  <a:rPr lang="en-US" altLang="zh-CN" dirty="0"/>
                  <a:t>))</a:t>
                </a:r>
                <a:r>
                  <a:rPr lang="en-US" altLang="zh-CN" dirty="0">
                    <a:ea typeface="宋体" panose="02010600030101010101" pitchFamily="2" charset="-122"/>
                  </a:rPr>
                  <a:t>⊕ (</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Cambria Math" panose="02040503050406030204" pitchFamily="18" charset="0"/>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𝑙</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2</m:t>
                        </m:r>
                      </m:sup>
                    </m:sSubSup>
                  </m:oMath>
                </a14:m>
                <a:r>
                  <a:rPr lang="en-US" altLang="zh-CN" dirty="0">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Cambria Math" panose="02040503050406030204" pitchFamily="18" charset="0"/>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𝑡</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1</m:t>
                        </m:r>
                      </m:sup>
                    </m:sSubSup>
                  </m:oMath>
                </a14:m>
                <a:r>
                  <a:rPr lang="en-US" altLang="zh-CN" i="1" dirty="0">
                    <a:ea typeface="宋体" panose="02010600030101010101" pitchFamily="2" charset="-122"/>
                  </a:rPr>
                  <a:t> a</a:t>
                </a:r>
                <a:r>
                  <a:rPr lang="en-US" altLang="zh-CN" i="1" baseline="-25000" dirty="0">
                    <a:ea typeface="宋体" panose="02010600030101010101" pitchFamily="2" charset="-122"/>
                  </a:rPr>
                  <a:t>&lt;l-t&gt;</a:t>
                </a:r>
                <a:r>
                  <a:rPr lang="en-US" altLang="zh-CN" i="1" baseline="-25000" dirty="0" err="1">
                    <a:ea typeface="宋体" panose="02010600030101010101" pitchFamily="2" charset="-122"/>
                  </a:rPr>
                  <a:t>p,t</a:t>
                </a:r>
                <a:r>
                  <a:rPr lang="en-US" altLang="zh-CN" dirty="0"/>
                  <a:t>))</a:t>
                </a:r>
                <a:r>
                  <a:rPr lang="en-US" altLang="zh-CN" dirty="0">
                    <a:ea typeface="宋体" panose="02010600030101010101" pitchFamily="2" charset="-122"/>
                  </a:rPr>
                  <a:t> ⊕(</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Cambria Math" panose="02040503050406030204" pitchFamily="18" charset="0"/>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𝑡</m:t>
                        </m:r>
                        <m:r>
                          <a:rPr lang="en-US" altLang="zh-CN" i="1">
                            <a:latin typeface="Cambria Math" panose="02040503050406030204" pitchFamily="18" charset="0"/>
                            <a:ea typeface="宋体" panose="02010600030101010101" pitchFamily="2" charset="-122"/>
                          </a:rPr>
                          <m:t>=</m:t>
                        </m:r>
                        <m:r>
                          <a:rPr lang="en-US" altLang="zh-CN" b="0" i="1" smtClean="0">
                            <a:latin typeface="Cambria Math" panose="02040503050406030204" pitchFamily="18" charset="0"/>
                            <a:ea typeface="宋体" panose="02010600030101010101" pitchFamily="2" charset="-122"/>
                          </a:rPr>
                          <m:t>1</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1</m:t>
                        </m:r>
                      </m:sup>
                    </m:sSubSup>
                  </m:oMath>
                </a14:m>
                <a:r>
                  <a:rPr lang="en-US" altLang="zh-CN" i="1" dirty="0">
                    <a:ea typeface="宋体" panose="02010600030101010101" pitchFamily="2" charset="-122"/>
                  </a:rPr>
                  <a:t> a</a:t>
                </a:r>
                <a:r>
                  <a:rPr lang="en-US" altLang="zh-CN" i="1" baseline="-25000" dirty="0">
                    <a:ea typeface="宋体" panose="02010600030101010101" pitchFamily="2" charset="-122"/>
                  </a:rPr>
                  <a:t>p</a:t>
                </a:r>
                <a:r>
                  <a:rPr lang="en-US" altLang="zh-CN" baseline="-25000" dirty="0">
                    <a:ea typeface="宋体" panose="02010600030101010101" pitchFamily="2" charset="-122"/>
                  </a:rPr>
                  <a:t>-1-</a:t>
                </a:r>
                <a:r>
                  <a:rPr lang="en-US" altLang="zh-CN" i="1" baseline="-25000" dirty="0">
                    <a:ea typeface="宋体" panose="02010600030101010101" pitchFamily="2" charset="-122"/>
                  </a:rPr>
                  <a:t>t,t</a:t>
                </a:r>
                <a:r>
                  <a:rPr lang="en-US" altLang="zh-CN" dirty="0">
                    <a:ea typeface="宋体" panose="02010600030101010101" pitchFamily="2" charset="-122"/>
                  </a:rPr>
                  <a:t>) </a:t>
                </a:r>
                <a:endParaRPr lang="en-US" altLang="zh-CN" dirty="0">
                  <a:ea typeface="宋体" panose="02010600030101010101" pitchFamily="2" charset="-122"/>
                </a:endParaRPr>
              </a:p>
              <a:p>
                <a:pPr>
                  <a:lnSpc>
                    <a:spcPts val="3600"/>
                  </a:lnSpc>
                </a:pPr>
                <a:r>
                  <a:rPr lang="zh-CN" altLang="en-US" dirty="0">
                    <a:latin typeface="+mn-lt"/>
                  </a:rPr>
                  <a:t>         所以得到如下公式：</a:t>
                </a:r>
                <a:endParaRPr lang="en-US" altLang="zh-CN" dirty="0">
                  <a:latin typeface="+mn-lt"/>
                </a:endParaRPr>
              </a:p>
              <a:p>
                <a:pPr>
                  <a:lnSpc>
                    <a:spcPts val="3600"/>
                  </a:lnSpc>
                </a:pPr>
                <a:r>
                  <a:rPr lang="en-US" altLang="zh-CN" dirty="0">
                    <a:ea typeface="宋体" panose="02010600030101010101" pitchFamily="2" charset="-122"/>
                  </a:rPr>
                  <a:t>       (</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Cambria Math" panose="02040503050406030204" pitchFamily="18" charset="0"/>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𝑙</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2</m:t>
                        </m:r>
                      </m:sup>
                    </m:sSubSup>
                  </m:oMath>
                </a14:m>
                <a:r>
                  <a:rPr lang="en-US" altLang="zh-CN" dirty="0">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Cambria Math" panose="02040503050406030204" pitchFamily="18" charset="0"/>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𝑡</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1</m:t>
                        </m:r>
                      </m:sup>
                    </m:sSubSup>
                  </m:oMath>
                </a14:m>
                <a:r>
                  <a:rPr lang="en-US" altLang="zh-CN" i="1" dirty="0">
                    <a:ea typeface="宋体" panose="02010600030101010101" pitchFamily="2" charset="-122"/>
                  </a:rPr>
                  <a:t> </a:t>
                </a:r>
                <a:r>
                  <a:rPr lang="en-US" altLang="zh-CN" i="1" dirty="0" err="1">
                    <a:ea typeface="宋体" panose="02010600030101010101" pitchFamily="2" charset="-122"/>
                  </a:rPr>
                  <a:t>a</a:t>
                </a:r>
                <a:r>
                  <a:rPr lang="en-US" altLang="zh-CN" i="1" baseline="-25000" dirty="0" err="1">
                    <a:ea typeface="宋体" panose="02010600030101010101" pitchFamily="2" charset="-122"/>
                  </a:rPr>
                  <a:t>l,t</a:t>
                </a:r>
                <a:r>
                  <a:rPr lang="en-US" altLang="zh-CN" dirty="0"/>
                  <a:t>))</a:t>
                </a:r>
                <a:r>
                  <a:rPr lang="en-US" altLang="zh-CN" dirty="0">
                    <a:ea typeface="宋体" panose="02010600030101010101" pitchFamily="2" charset="-122"/>
                  </a:rPr>
                  <a:t>⊕ (</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Cambria Math" panose="02040503050406030204" pitchFamily="18" charset="0"/>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𝑙</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2</m:t>
                        </m:r>
                      </m:sup>
                    </m:sSubSup>
                  </m:oMath>
                </a14:m>
                <a:r>
                  <a:rPr lang="en-US" altLang="zh-CN" dirty="0">
                    <a:ea typeface="宋体" panose="02010600030101010101" pitchFamily="2" charset="-122"/>
                  </a:rPr>
                  <a:t>(</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Cambria Math" panose="02040503050406030204" pitchFamily="18" charset="0"/>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𝑡</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1</m:t>
                        </m:r>
                      </m:sup>
                    </m:sSubSup>
                  </m:oMath>
                </a14:m>
                <a:r>
                  <a:rPr lang="en-US" altLang="zh-CN" i="1" dirty="0">
                    <a:ea typeface="宋体" panose="02010600030101010101" pitchFamily="2" charset="-122"/>
                  </a:rPr>
                  <a:t> a</a:t>
                </a:r>
                <a:r>
                  <a:rPr lang="en-US" altLang="zh-CN" i="1" baseline="-25000" dirty="0">
                    <a:ea typeface="宋体" panose="02010600030101010101" pitchFamily="2" charset="-122"/>
                  </a:rPr>
                  <a:t>&lt;l-t&gt;</a:t>
                </a:r>
                <a:r>
                  <a:rPr lang="en-US" altLang="zh-CN" i="1" baseline="-25000" dirty="0" err="1">
                    <a:ea typeface="宋体" panose="02010600030101010101" pitchFamily="2" charset="-122"/>
                  </a:rPr>
                  <a:t>p,t</a:t>
                </a:r>
                <a:r>
                  <a:rPr lang="en-US" altLang="zh-CN" dirty="0"/>
                  <a:t>)) = </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dirty="0">
                            <a:latin typeface="Cambria Math" panose="02040503050406030204" pitchFamily="18" charset="0"/>
                            <a:ea typeface="宋体" panose="02010600030101010101" pitchFamily="2" charset="-122"/>
                          </a:rPr>
                          <m:t>⊕</m:t>
                        </m:r>
                      </m:e>
                      <m:sub>
                        <m:r>
                          <a:rPr lang="en-US" altLang="zh-CN" i="1" dirty="0">
                            <a:latin typeface="Cambria Math" panose="02040503050406030204" pitchFamily="18" charset="0"/>
                            <a:ea typeface="宋体" panose="02010600030101010101" pitchFamily="2" charset="-122"/>
                          </a:rPr>
                          <m:t>𝑡</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1</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1</m:t>
                        </m:r>
                      </m:sup>
                    </m:sSubSup>
                  </m:oMath>
                </a14:m>
                <a:r>
                  <a:rPr lang="en-US" altLang="zh-CN" i="1" dirty="0">
                    <a:ea typeface="宋体" panose="02010600030101010101" pitchFamily="2" charset="-122"/>
                  </a:rPr>
                  <a:t> a</a:t>
                </a:r>
                <a:r>
                  <a:rPr lang="en-US" altLang="zh-CN" i="1" baseline="-25000" dirty="0">
                    <a:ea typeface="宋体" panose="02010600030101010101" pitchFamily="2" charset="-122"/>
                  </a:rPr>
                  <a:t>p</a:t>
                </a:r>
                <a:r>
                  <a:rPr lang="en-US" altLang="zh-CN" baseline="-25000" dirty="0">
                    <a:ea typeface="宋体" panose="02010600030101010101" pitchFamily="2" charset="-122"/>
                  </a:rPr>
                  <a:t>-1-</a:t>
                </a:r>
                <a:r>
                  <a:rPr lang="en-US" altLang="zh-CN" i="1" baseline="-25000" dirty="0">
                    <a:ea typeface="宋体" panose="02010600030101010101" pitchFamily="2" charset="-122"/>
                  </a:rPr>
                  <a:t>t,t                 </a:t>
                </a:r>
                <a:r>
                  <a:rPr lang="en-US" altLang="zh-CN" dirty="0">
                    <a:ea typeface="宋体" panose="02010600030101010101" pitchFamily="2" charset="-122"/>
                  </a:rPr>
                  <a:t>(11)</a:t>
                </a:r>
                <a:endParaRPr lang="en-US" altLang="zh-CN" dirty="0">
                  <a:ea typeface="宋体" panose="02010600030101010101" pitchFamily="2" charset="-122"/>
                </a:endParaRPr>
              </a:p>
              <a:p>
                <a:pPr>
                  <a:lnSpc>
                    <a:spcPts val="3600"/>
                  </a:lnSpc>
                </a:pPr>
                <a:r>
                  <a:rPr lang="zh-CN" altLang="en-US" dirty="0">
                    <a:latin typeface="+mn-lt"/>
                  </a:rPr>
                  <a:t>         公式</a:t>
                </a:r>
                <a:r>
                  <a:rPr lang="en-US" altLang="zh-CN" dirty="0">
                    <a:latin typeface="+mn-lt"/>
                  </a:rPr>
                  <a:t>(11)</a:t>
                </a:r>
                <a:r>
                  <a:rPr lang="zh-CN" altLang="en-US" dirty="0">
                    <a:latin typeface="+mn-lt"/>
                  </a:rPr>
                  <a:t>证明了公式</a:t>
                </a:r>
                <a:r>
                  <a:rPr lang="en-US" altLang="zh-CN" dirty="0">
                    <a:latin typeface="+mn-lt"/>
                  </a:rPr>
                  <a:t>(2)</a:t>
                </a:r>
                <a:r>
                  <a:rPr lang="zh-CN" altLang="en-US" dirty="0">
                    <a:latin typeface="+mn-lt"/>
                  </a:rPr>
                  <a:t>和公式</a:t>
                </a:r>
                <a:r>
                  <a:rPr lang="en-US" altLang="zh-CN" dirty="0">
                    <a:latin typeface="+mn-lt"/>
                  </a:rPr>
                  <a:t>(7)</a:t>
                </a:r>
                <a:r>
                  <a:rPr lang="zh-CN" altLang="en-US" dirty="0">
                    <a:latin typeface="+mn-lt"/>
                  </a:rPr>
                  <a:t>都能给出公共因子</a:t>
                </a:r>
                <a:r>
                  <a:rPr lang="en-US" altLang="zh-CN" dirty="0">
                    <a:latin typeface="+mn-lt"/>
                  </a:rPr>
                  <a:t>S</a:t>
                </a:r>
                <a:r>
                  <a:rPr lang="zh-CN" altLang="en-US" dirty="0">
                    <a:latin typeface="+mn-lt"/>
                  </a:rPr>
                  <a:t>的值。</a:t>
                </a:r>
                <a:endParaRPr lang="en-US" altLang="zh-CN" dirty="0">
                  <a:latin typeface="+mn-lt"/>
                </a:endParaRPr>
              </a:p>
            </p:txBody>
          </p:sp>
        </mc:Choice>
        <mc:Fallback>
          <p:sp>
            <p:nvSpPr>
              <p:cNvPr id="9" name="文本框 8"/>
              <p:cNvSpPr txBox="1">
                <a:spLocks noRot="1" noChangeAspect="1" noMove="1" noResize="1" noEditPoints="1" noAdjustHandles="1" noChangeArrowheads="1" noChangeShapeType="1" noTextEdit="1"/>
              </p:cNvSpPr>
              <p:nvPr/>
            </p:nvSpPr>
            <p:spPr>
              <a:xfrm>
                <a:off x="477624" y="914466"/>
                <a:ext cx="7924592" cy="5573898"/>
              </a:xfrm>
              <a:prstGeom prst="rect">
                <a:avLst/>
              </a:prstGeom>
              <a:blipFill rotWithShape="1">
                <a:blip r:embed="rId1"/>
                <a:stretch>
                  <a:fillRect l="-1" t="-1" r="7" b="10"/>
                </a:stretch>
              </a:blipFill>
            </p:spPr>
            <p:txBody>
              <a:bodyPr/>
              <a:lstStyle/>
              <a:p>
                <a:r>
                  <a:rPr lang="zh-CN" altLang="en-US">
                    <a:noFill/>
                  </a:rPr>
                  <a:t> </a:t>
                </a:r>
              </a:p>
            </p:txBody>
          </p:sp>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EVENODD</a:t>
            </a:r>
            <a:r>
              <a:rPr lang="zh-CN" altLang="en-US" sz="2400" dirty="0">
                <a:sym typeface="+mn-ea"/>
              </a:rPr>
              <a:t>码解码正确性证明</a:t>
            </a:r>
            <a:endParaRPr lang="zh-CN" altLang="en-US" sz="2400" dirty="0">
              <a:sym typeface="+mn-ea"/>
            </a:endParaRPr>
          </a:p>
        </p:txBody>
      </p:sp>
      <mc:AlternateContent xmlns:mc="http://schemas.openxmlformats.org/markup-compatibility/2006">
        <mc:Choice xmlns:a14="http://schemas.microsoft.com/office/drawing/2010/main" Requires="a14">
          <p:sp>
            <p:nvSpPr>
              <p:cNvPr id="9" name="文本框 8"/>
              <p:cNvSpPr txBox="1"/>
              <p:nvPr/>
            </p:nvSpPr>
            <p:spPr>
              <a:xfrm>
                <a:off x="477624" y="1037592"/>
                <a:ext cx="7924592" cy="465364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latin typeface="+mn-lt"/>
                  </a:rPr>
                  <a:t>        下面给出证明“这个算法只能唯一恢复第</a:t>
                </a:r>
                <a:r>
                  <a:rPr lang="en-US" altLang="zh-CN" dirty="0" err="1">
                    <a:latin typeface="+mn-lt"/>
                  </a:rPr>
                  <a:t>i</a:t>
                </a:r>
                <a:r>
                  <a:rPr lang="zh-CN" altLang="en-US" dirty="0">
                    <a:latin typeface="+mn-lt"/>
                  </a:rPr>
                  <a:t>列和第</a:t>
                </a:r>
                <a:r>
                  <a:rPr lang="en-US" altLang="zh-CN" dirty="0">
                    <a:latin typeface="+mn-lt"/>
                  </a:rPr>
                  <a:t>j</a:t>
                </a:r>
                <a:r>
                  <a:rPr lang="zh-CN" altLang="en-US" dirty="0">
                    <a:latin typeface="+mn-lt"/>
                  </a:rPr>
                  <a:t>列的数据”。</a:t>
                </a:r>
                <a:endParaRPr lang="en-US" altLang="zh-CN" dirty="0">
                  <a:latin typeface="+mn-lt"/>
                </a:endParaRPr>
              </a:p>
              <a:p>
                <a:pPr>
                  <a:lnSpc>
                    <a:spcPts val="3600"/>
                  </a:lnSpc>
                </a:pPr>
                <a:r>
                  <a:rPr lang="zh-CN" altLang="en-US" dirty="0">
                    <a:latin typeface="+mn-lt"/>
                  </a:rPr>
                  <a:t>假设校验组</a:t>
                </a:r>
                <a:r>
                  <a:rPr lang="en-US" altLang="zh-CN" i="1" dirty="0">
                    <a:latin typeface="+mn-lt"/>
                  </a:rPr>
                  <a:t>S</a:t>
                </a:r>
                <a:r>
                  <a:rPr lang="en-US" altLang="zh-CN" baseline="30000" dirty="0">
                    <a:latin typeface="+mn-lt"/>
                  </a:rPr>
                  <a:t>(0)</a:t>
                </a:r>
                <a:r>
                  <a:rPr lang="zh-CN" altLang="en-US" dirty="0">
                    <a:latin typeface="+mn-lt"/>
                  </a:rPr>
                  <a:t>和对角校验组</a:t>
                </a:r>
                <a:r>
                  <a:rPr lang="en-US" altLang="zh-CN" i="1" dirty="0">
                    <a:latin typeface="+mn-lt"/>
                  </a:rPr>
                  <a:t>S</a:t>
                </a:r>
                <a:r>
                  <a:rPr lang="en-US" altLang="zh-CN" baseline="30000" dirty="0">
                    <a:latin typeface="+mn-lt"/>
                  </a:rPr>
                  <a:t>(1)</a:t>
                </a:r>
                <a:r>
                  <a:rPr lang="zh-CN" altLang="en-US" dirty="0">
                    <a:latin typeface="+mn-lt"/>
                  </a:rPr>
                  <a:t>已经分别由公式</a:t>
                </a:r>
                <a:r>
                  <a:rPr lang="en-US" altLang="zh-CN" dirty="0">
                    <a:latin typeface="+mn-lt"/>
                  </a:rPr>
                  <a:t>(8)</a:t>
                </a:r>
                <a:r>
                  <a:rPr lang="zh-CN" altLang="en-US" dirty="0">
                    <a:latin typeface="+mn-lt"/>
                  </a:rPr>
                  <a:t>和公式</a:t>
                </a:r>
                <a:r>
                  <a:rPr lang="en-US" altLang="zh-CN" dirty="0">
                    <a:latin typeface="+mn-lt"/>
                  </a:rPr>
                  <a:t>(9)</a:t>
                </a:r>
                <a:r>
                  <a:rPr lang="zh-CN" altLang="en-US" dirty="0">
                    <a:latin typeface="+mn-lt"/>
                  </a:rPr>
                  <a:t>获得。</a:t>
                </a:r>
                <a:endParaRPr lang="en-US" altLang="zh-CN" dirty="0">
                  <a:latin typeface="+mn-lt"/>
                </a:endParaRPr>
              </a:p>
              <a:p>
                <a:pPr>
                  <a:lnSpc>
                    <a:spcPts val="3600"/>
                  </a:lnSpc>
                </a:pPr>
                <a:r>
                  <a:rPr lang="zh-CN" altLang="en-US" dirty="0">
                    <a:latin typeface="+mn-lt"/>
                  </a:rPr>
                  <a:t>         第一步给</a:t>
                </a:r>
                <a:r>
                  <a:rPr lang="en-US" altLang="zh-CN" i="1" dirty="0">
                    <a:latin typeface="+mn-lt"/>
                  </a:rPr>
                  <a:t>S</a:t>
                </a:r>
                <a:r>
                  <a:rPr lang="zh-CN" altLang="en-US" dirty="0">
                    <a:latin typeface="+mn-lt"/>
                  </a:rPr>
                  <a:t>赋初值</a:t>
                </a:r>
                <a:r>
                  <a:rPr lang="en-US" altLang="zh-CN" i="1" dirty="0">
                    <a:latin typeface="+mn-lt"/>
                  </a:rPr>
                  <a:t>S</a:t>
                </a:r>
                <a:r>
                  <a:rPr lang="en-US" altLang="zh-CN" dirty="0">
                    <a:latin typeface="+mn-lt"/>
                  </a:rPr>
                  <a:t> = &lt;-(</a:t>
                </a:r>
                <a:r>
                  <a:rPr lang="en-US" altLang="zh-CN" i="1" dirty="0">
                    <a:latin typeface="+mn-lt"/>
                  </a:rPr>
                  <a:t>j</a:t>
                </a:r>
                <a:r>
                  <a:rPr lang="en-US" altLang="zh-CN" dirty="0">
                    <a:latin typeface="+mn-lt"/>
                  </a:rPr>
                  <a:t>-</a:t>
                </a:r>
                <a:r>
                  <a:rPr lang="en-US" altLang="zh-CN" i="1" dirty="0" err="1">
                    <a:latin typeface="+mn-lt"/>
                  </a:rPr>
                  <a:t>i</a:t>
                </a:r>
                <a:r>
                  <a:rPr lang="en-US" altLang="zh-CN" dirty="0">
                    <a:latin typeface="+mn-lt"/>
                  </a:rPr>
                  <a:t>)-1&gt;</a:t>
                </a:r>
                <a:r>
                  <a:rPr lang="en-US" altLang="zh-CN" i="1" dirty="0">
                    <a:latin typeface="+mn-lt"/>
                  </a:rPr>
                  <a:t>p</a:t>
                </a:r>
                <a:r>
                  <a:rPr lang="zh-CN" altLang="en-US" dirty="0">
                    <a:latin typeface="+mn-lt"/>
                  </a:rPr>
                  <a:t>得到</a:t>
                </a:r>
                <a:r>
                  <a:rPr lang="en-US" altLang="zh-CN" i="1" dirty="0">
                    <a:latin typeface="+mn-lt"/>
                  </a:rPr>
                  <a:t>S</a:t>
                </a:r>
                <a:r>
                  <a:rPr lang="zh-CN" altLang="en-US" dirty="0">
                    <a:latin typeface="+mn-lt"/>
                  </a:rPr>
                  <a:t>。</a:t>
                </a:r>
                <a:endParaRPr lang="en-US" altLang="zh-CN" dirty="0">
                  <a:latin typeface="+mn-lt"/>
                </a:endParaRPr>
              </a:p>
              <a:p>
                <a:pPr>
                  <a:lnSpc>
                    <a:spcPts val="3600"/>
                  </a:lnSpc>
                </a:pPr>
                <a:r>
                  <a:rPr lang="zh-CN" altLang="en-US" dirty="0">
                    <a:latin typeface="+mn-lt"/>
                  </a:rPr>
                  <a:t>         第二步计算：</a:t>
                </a:r>
                <a:endParaRPr lang="en-US" altLang="zh-CN" dirty="0">
                  <a:latin typeface="+mn-lt"/>
                </a:endParaRPr>
              </a:p>
              <a:p>
                <a:pPr>
                  <a:lnSpc>
                    <a:spcPts val="3600"/>
                  </a:lnSpc>
                </a:pPr>
                <a:r>
                  <a:rPr lang="en-US" altLang="zh-CN" dirty="0">
                    <a:latin typeface="+mn-lt"/>
                  </a:rPr>
                  <a:t>                                </a:t>
                </a:r>
                <a:r>
                  <a:rPr lang="en-US" altLang="zh-CN" i="1" dirty="0">
                    <a:latin typeface="+mn-lt"/>
                  </a:rPr>
                  <a:t>a</a:t>
                </a:r>
                <a:r>
                  <a:rPr lang="en-US" altLang="zh-CN" baseline="-25000" dirty="0">
                    <a:latin typeface="+mn-lt"/>
                  </a:rPr>
                  <a:t>&lt;-(</a:t>
                </a:r>
                <a:r>
                  <a:rPr lang="en-US" altLang="zh-CN" i="1" baseline="-25000" dirty="0">
                    <a:latin typeface="+mn-lt"/>
                  </a:rPr>
                  <a:t>j-</a:t>
                </a:r>
                <a:r>
                  <a:rPr lang="en-US" altLang="zh-CN" i="1" baseline="-25000" dirty="0" err="1">
                    <a:latin typeface="+mn-lt"/>
                  </a:rPr>
                  <a:t>i</a:t>
                </a:r>
                <a:r>
                  <a:rPr lang="en-US" altLang="zh-CN" baseline="-25000" dirty="0">
                    <a:latin typeface="+mn-lt"/>
                  </a:rPr>
                  <a:t>)-1&gt;</a:t>
                </a:r>
                <a:r>
                  <a:rPr lang="en-US" altLang="zh-CN" i="1" baseline="-25000" dirty="0" err="1">
                    <a:latin typeface="+mn-lt"/>
                  </a:rPr>
                  <a:t>p,j</a:t>
                </a:r>
                <a:r>
                  <a:rPr lang="en-US" altLang="zh-CN" i="1" baseline="-25000" dirty="0">
                    <a:latin typeface="+mn-lt"/>
                  </a:rPr>
                  <a:t> </a:t>
                </a:r>
                <a:r>
                  <a:rPr lang="en-US" altLang="zh-CN" dirty="0">
                    <a:latin typeface="+mn-lt"/>
                    <a:sym typeface="Wingdings" panose="05000000000000000000" pitchFamily="2" charset="2"/>
                  </a:rPr>
                  <a:t> </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b="0" i="1" dirty="0" smtClean="0">
                            <a:latin typeface="Cambria Math" panose="02040503050406030204" pitchFamily="18" charset="0"/>
                            <a:ea typeface="宋体" panose="02010600030101010101" pitchFamily="2" charset="-122"/>
                          </a:rPr>
                          <m:t>S</m:t>
                        </m:r>
                      </m:e>
                      <m:sub>
                        <m:r>
                          <a:rPr lang="en-US" altLang="zh-CN" b="0" i="1" dirty="0" smtClean="0">
                            <a:latin typeface="Cambria Math" panose="02040503050406030204" pitchFamily="18" charset="0"/>
                            <a:ea typeface="宋体" panose="02010600030101010101" pitchFamily="2" charset="-122"/>
                          </a:rPr>
                          <m:t>&lt;</m:t>
                        </m:r>
                        <m:r>
                          <a:rPr lang="en-US" altLang="zh-CN" b="0" i="1" dirty="0" smtClean="0">
                            <a:latin typeface="Cambria Math" panose="02040503050406030204" pitchFamily="18" charset="0"/>
                            <a:ea typeface="宋体" panose="02010600030101010101" pitchFamily="2" charset="-122"/>
                          </a:rPr>
                          <m:t>𝑖</m:t>
                        </m:r>
                        <m:r>
                          <a:rPr lang="en-US" altLang="zh-CN" b="0" i="1" dirty="0" smtClean="0">
                            <a:latin typeface="Cambria Math" panose="02040503050406030204" pitchFamily="18" charset="0"/>
                            <a:ea typeface="宋体" panose="02010600030101010101" pitchFamily="2" charset="-122"/>
                          </a:rPr>
                          <m:t>−</m:t>
                        </m:r>
                        <m:r>
                          <a:rPr lang="en-US" altLang="zh-CN" b="0" i="1" dirty="0" smtClean="0">
                            <a:latin typeface="Cambria Math" panose="02040503050406030204" pitchFamily="18" charset="0"/>
                            <a:ea typeface="宋体" panose="02010600030101010101" pitchFamily="2" charset="-122"/>
                          </a:rPr>
                          <m:t>1</m:t>
                        </m:r>
                        <m:r>
                          <a:rPr lang="en-US" altLang="zh-CN" b="0" i="1" dirty="0" smtClean="0">
                            <a:latin typeface="Cambria Math" panose="02040503050406030204" pitchFamily="18" charset="0"/>
                            <a:ea typeface="宋体" panose="02010600030101010101" pitchFamily="2" charset="-122"/>
                          </a:rPr>
                          <m:t>&gt;</m:t>
                        </m:r>
                        <m:r>
                          <a:rPr lang="en-US" altLang="zh-CN" b="0" i="1" dirty="0" smtClean="0">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 </m:t>
                        </m:r>
                      </m:sub>
                      <m:sup>
                        <m:r>
                          <a:rPr lang="en-US" altLang="zh-CN" b="0" i="1" smtClean="0">
                            <a:latin typeface="Cambria Math" panose="02040503050406030204" pitchFamily="18" charset="0"/>
                            <a:ea typeface="宋体" panose="02010600030101010101" pitchFamily="2" charset="-122"/>
                          </a:rPr>
                          <m:t>(</m:t>
                        </m:r>
                        <m:r>
                          <a:rPr lang="en-US" altLang="zh-CN" b="0" i="1" smtClean="0">
                            <a:latin typeface="Cambria Math" panose="02040503050406030204" pitchFamily="18" charset="0"/>
                            <a:ea typeface="宋体" panose="02010600030101010101" pitchFamily="2" charset="-122"/>
                          </a:rPr>
                          <m:t>1</m:t>
                        </m:r>
                        <m:r>
                          <a:rPr lang="en-US" altLang="zh-CN" b="0" i="1" smtClean="0">
                            <a:latin typeface="Cambria Math" panose="02040503050406030204" pitchFamily="18" charset="0"/>
                            <a:ea typeface="宋体" panose="02010600030101010101" pitchFamily="2" charset="-122"/>
                          </a:rPr>
                          <m:t>)</m:t>
                        </m:r>
                      </m:sup>
                    </m:sSubSup>
                  </m:oMath>
                </a14:m>
                <a:r>
                  <a:rPr lang="en-US" altLang="zh-CN" dirty="0">
                    <a:latin typeface="+mn-lt"/>
                  </a:rPr>
                  <a:t>                                           (12)</a:t>
                </a:r>
                <a:endParaRPr lang="en-US" altLang="zh-CN" dirty="0">
                  <a:latin typeface="+mn-lt"/>
                </a:endParaRPr>
              </a:p>
              <a:p>
                <a:pPr>
                  <a:lnSpc>
                    <a:spcPts val="3600"/>
                  </a:lnSpc>
                </a:pPr>
                <a:r>
                  <a:rPr lang="zh-CN" altLang="en-US" dirty="0">
                    <a:latin typeface="+mn-lt"/>
                  </a:rPr>
                  <a:t>         该公式是正确的，通过公式</a:t>
                </a:r>
                <a:r>
                  <a:rPr lang="en-US" altLang="zh-CN" dirty="0">
                    <a:latin typeface="+mn-lt"/>
                  </a:rPr>
                  <a:t>(3)</a:t>
                </a:r>
                <a:r>
                  <a:rPr lang="zh-CN" altLang="en-US" dirty="0">
                    <a:latin typeface="+mn-lt"/>
                  </a:rPr>
                  <a:t>和公式</a:t>
                </a:r>
                <a:r>
                  <a:rPr lang="en-US" altLang="zh-CN" dirty="0">
                    <a:latin typeface="+mn-lt"/>
                  </a:rPr>
                  <a:t>(9)</a:t>
                </a:r>
                <a:r>
                  <a:rPr lang="zh-CN" altLang="en-US" dirty="0">
                    <a:latin typeface="+mn-lt"/>
                  </a:rPr>
                  <a:t>可以得出。</a:t>
                </a:r>
                <a:endParaRPr lang="en-US" altLang="zh-CN" dirty="0">
                  <a:latin typeface="+mn-lt"/>
                </a:endParaRPr>
              </a:p>
              <a:p>
                <a:pPr>
                  <a:lnSpc>
                    <a:spcPts val="3600"/>
                  </a:lnSpc>
                </a:pPr>
                <a:r>
                  <a:rPr lang="en-US" altLang="zh-CN" dirty="0">
                    <a:latin typeface="+mn-lt"/>
                  </a:rPr>
                  <a:t>         </a:t>
                </a:r>
                <a:r>
                  <a:rPr lang="zh-CN" altLang="en-US" dirty="0">
                    <a:latin typeface="+mn-lt"/>
                  </a:rPr>
                  <a:t>如果首先计算出</a:t>
                </a:r>
                <a:r>
                  <a:rPr lang="en-US" altLang="zh-CN" sz="2400" i="1" dirty="0"/>
                  <a:t>a</a:t>
                </a:r>
                <a:r>
                  <a:rPr lang="en-US" altLang="zh-CN" sz="2400" baseline="-25000" dirty="0"/>
                  <a:t>&lt;</a:t>
                </a:r>
                <a:r>
                  <a:rPr lang="en-US" altLang="zh-CN" sz="2400" i="1" baseline="-25000" dirty="0"/>
                  <a:t>i</a:t>
                </a:r>
                <a:r>
                  <a:rPr lang="en-US" altLang="zh-CN" sz="2400" baseline="-25000" dirty="0"/>
                  <a:t>-1-</a:t>
                </a:r>
                <a:r>
                  <a:rPr lang="en-US" altLang="zh-CN" sz="2400" i="1" baseline="-25000" dirty="0"/>
                  <a:t>j</a:t>
                </a:r>
                <a:r>
                  <a:rPr lang="en-US" altLang="zh-CN" sz="2400" baseline="-25000" dirty="0"/>
                  <a:t>&gt;</a:t>
                </a:r>
                <a:r>
                  <a:rPr lang="en-US" altLang="zh-CN" sz="2400" i="1" baseline="-25000" dirty="0" err="1"/>
                  <a:t>p,j</a:t>
                </a:r>
                <a:r>
                  <a:rPr lang="zh-CN" altLang="en-US" dirty="0">
                    <a:latin typeface="+mn-lt"/>
                  </a:rPr>
                  <a:t>的值，可以根据下面的公式</a:t>
                </a:r>
                <a:r>
                  <a:rPr lang="en-US" altLang="zh-CN" dirty="0">
                    <a:latin typeface="+mn-lt"/>
                  </a:rPr>
                  <a:t>(13)</a:t>
                </a:r>
                <a:r>
                  <a:rPr lang="zh-CN" altLang="en-US" dirty="0">
                    <a:latin typeface="+mn-lt"/>
                  </a:rPr>
                  <a:t>计算得到</a:t>
                </a:r>
                <a:r>
                  <a:rPr lang="en-US" altLang="zh-CN" sz="2400" i="1" dirty="0"/>
                  <a:t>a</a:t>
                </a:r>
                <a:r>
                  <a:rPr lang="en-US" altLang="zh-CN" sz="2400" baseline="-25000" dirty="0"/>
                  <a:t>&lt;-(</a:t>
                </a:r>
                <a:r>
                  <a:rPr lang="en-US" altLang="zh-CN" sz="2400" i="1" baseline="-25000" dirty="0"/>
                  <a:t>j-</a:t>
                </a:r>
                <a:r>
                  <a:rPr lang="en-US" altLang="zh-CN" sz="2400" i="1" baseline="-25000" dirty="0" err="1"/>
                  <a:t>i</a:t>
                </a:r>
                <a:r>
                  <a:rPr lang="en-US" altLang="zh-CN" sz="2400" baseline="-25000" dirty="0"/>
                  <a:t>)-1&gt;</a:t>
                </a:r>
                <a:r>
                  <a:rPr lang="en-US" altLang="zh-CN" sz="2400" i="1" baseline="-25000" dirty="0" err="1"/>
                  <a:t>p,j</a:t>
                </a:r>
                <a:r>
                  <a:rPr lang="en-US" altLang="zh-CN" sz="2400" i="1" baseline="-25000" dirty="0"/>
                  <a:t> </a:t>
                </a:r>
                <a:r>
                  <a:rPr lang="zh-CN" altLang="en-US" dirty="0">
                    <a:latin typeface="+mn-lt"/>
                  </a:rPr>
                  <a:t>：</a:t>
                </a:r>
                <a:endParaRPr lang="en-US" altLang="zh-CN" dirty="0">
                  <a:latin typeface="+mn-lt"/>
                </a:endParaRPr>
              </a:p>
              <a:p>
                <a:pPr>
                  <a:lnSpc>
                    <a:spcPts val="3600"/>
                  </a:lnSpc>
                </a:pPr>
                <a:r>
                  <a:rPr lang="en-US" altLang="zh-CN" dirty="0">
                    <a:latin typeface="+mn-lt"/>
                  </a:rPr>
                  <a:t>                                 </a:t>
                </a:r>
                <a:r>
                  <a:rPr lang="en-US" altLang="zh-CN" i="1" dirty="0"/>
                  <a:t>a</a:t>
                </a:r>
                <a:r>
                  <a:rPr lang="en-US" altLang="zh-CN" baseline="-25000" dirty="0"/>
                  <a:t>&lt;-(</a:t>
                </a:r>
                <a:r>
                  <a:rPr lang="en-US" altLang="zh-CN" i="1" baseline="-25000" dirty="0"/>
                  <a:t>j-</a:t>
                </a:r>
                <a:r>
                  <a:rPr lang="en-US" altLang="zh-CN" i="1" baseline="-25000" dirty="0" err="1"/>
                  <a:t>i</a:t>
                </a:r>
                <a:r>
                  <a:rPr lang="en-US" altLang="zh-CN" baseline="-25000" dirty="0"/>
                  <a:t>)-1&gt;</a:t>
                </a:r>
                <a:r>
                  <a:rPr lang="en-US" altLang="zh-CN" i="1" baseline="-25000" dirty="0" err="1"/>
                  <a:t>p,i</a:t>
                </a:r>
                <a:r>
                  <a:rPr lang="en-US" altLang="zh-CN" i="1" baseline="-25000" dirty="0"/>
                  <a:t> </a:t>
                </a:r>
                <a:r>
                  <a:rPr lang="en-US" altLang="zh-CN" dirty="0">
                    <a:sym typeface="Wingdings" panose="05000000000000000000" pitchFamily="2" charset="2"/>
                  </a:rPr>
                  <a:t> </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i="1" dirty="0">
                            <a:latin typeface="Cambria Math" panose="02040503050406030204" pitchFamily="18" charset="0"/>
                            <a:ea typeface="宋体" panose="02010600030101010101" pitchFamily="2" charset="-122"/>
                          </a:rPr>
                          <m:t>S</m:t>
                        </m:r>
                      </m:e>
                      <m:sub>
                        <m:r>
                          <a:rPr lang="en-US" altLang="zh-CN" i="1" dirty="0">
                            <a:latin typeface="Cambria Math" panose="02040503050406030204" pitchFamily="18" charset="0"/>
                            <a:ea typeface="宋体" panose="02010600030101010101" pitchFamily="2" charset="-122"/>
                          </a:rPr>
                          <m:t>&lt;</m:t>
                        </m:r>
                        <m:r>
                          <a:rPr lang="en-US" altLang="zh-CN" i="1" dirty="0" smtClean="0">
                            <a:latin typeface="Cambria Math" panose="02040503050406030204" pitchFamily="18" charset="0"/>
                            <a:ea typeface="宋体" panose="02010600030101010101" pitchFamily="2" charset="-122"/>
                          </a:rPr>
                          <m:t>−</m:t>
                        </m:r>
                        <m:d>
                          <m:dPr>
                            <m:ctrlPr>
                              <a:rPr lang="en-US" altLang="zh-CN" b="0" i="1" dirty="0" smtClean="0">
                                <a:latin typeface="Cambria Math" panose="02040503050406030204" pitchFamily="18" charset="0"/>
                                <a:ea typeface="宋体" panose="02010600030101010101" pitchFamily="2" charset="-122"/>
                              </a:rPr>
                            </m:ctrlPr>
                          </m:dPr>
                          <m:e>
                            <m:r>
                              <a:rPr lang="en-US" altLang="zh-CN" b="0" i="1" dirty="0" smtClean="0">
                                <a:latin typeface="Cambria Math" panose="02040503050406030204" pitchFamily="18" charset="0"/>
                                <a:ea typeface="宋体" panose="02010600030101010101" pitchFamily="2" charset="-122"/>
                              </a:rPr>
                              <m:t>𝑗</m:t>
                            </m:r>
                            <m:r>
                              <a:rPr lang="en-US" altLang="zh-CN" b="0" i="1" dirty="0" smtClean="0">
                                <a:latin typeface="Cambria Math" panose="02040503050406030204" pitchFamily="18" charset="0"/>
                                <a:ea typeface="宋体" panose="02010600030101010101" pitchFamily="2" charset="-122"/>
                              </a:rPr>
                              <m:t>−</m:t>
                            </m:r>
                            <m:r>
                              <a:rPr lang="en-US" altLang="zh-CN" b="0" i="1" dirty="0" smtClean="0">
                                <a:latin typeface="Cambria Math" panose="02040503050406030204" pitchFamily="18" charset="0"/>
                                <a:ea typeface="宋体" panose="02010600030101010101" pitchFamily="2" charset="-122"/>
                              </a:rPr>
                              <m:t>𝑖</m:t>
                            </m:r>
                          </m:e>
                        </m:d>
                        <m:r>
                          <a:rPr lang="en-US" altLang="zh-CN" b="0" i="1" dirty="0" smtClean="0">
                            <a:latin typeface="Cambria Math" panose="02040503050406030204" pitchFamily="18" charset="0"/>
                            <a:ea typeface="宋体" panose="02010600030101010101" pitchFamily="2" charset="-122"/>
                          </a:rPr>
                          <m:t>+</m:t>
                        </m:r>
                        <m:r>
                          <a:rPr lang="en-US" altLang="zh-CN" b="0" i="1" dirty="0" smtClean="0">
                            <a:latin typeface="Cambria Math" panose="02040503050406030204" pitchFamily="18" charset="0"/>
                            <a:ea typeface="宋体" panose="02010600030101010101" pitchFamily="2" charset="-122"/>
                          </a:rPr>
                          <m:t>𝑗</m:t>
                        </m:r>
                        <m:r>
                          <a:rPr lang="en-US" altLang="zh-CN" b="0" i="1" dirty="0" smtClean="0">
                            <a:latin typeface="Cambria Math" panose="02040503050406030204" pitchFamily="18" charset="0"/>
                            <a:ea typeface="宋体" panose="02010600030101010101" pitchFamily="2" charset="-122"/>
                          </a:rPr>
                          <m:t>−</m:t>
                        </m:r>
                        <m:r>
                          <a:rPr lang="en-US" altLang="zh-CN" b="0" i="1" dirty="0" smtClean="0">
                            <a:latin typeface="Cambria Math" panose="02040503050406030204" pitchFamily="18" charset="0"/>
                            <a:ea typeface="宋体" panose="02010600030101010101" pitchFamily="2" charset="-122"/>
                          </a:rPr>
                          <m:t>1</m:t>
                        </m:r>
                        <m:r>
                          <a:rPr lang="en-US" altLang="zh-CN" b="0" i="1" dirty="0" smtClean="0">
                            <a:latin typeface="Cambria Math" panose="02040503050406030204" pitchFamily="18" charset="0"/>
                            <a:ea typeface="宋体" panose="02010600030101010101" pitchFamily="2" charset="-122"/>
                          </a:rPr>
                          <m:t>&gt;</m:t>
                        </m:r>
                        <m:r>
                          <a:rPr lang="en-US" altLang="zh-CN" i="1" dirty="0">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m:t>
                        </m:r>
                        <m:r>
                          <a:rPr lang="en-US" altLang="zh-CN" b="0" i="1" smtClean="0">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m:t>
                        </m:r>
                      </m:sup>
                    </m:sSubSup>
                  </m:oMath>
                </a14:m>
                <a:r>
                  <a:rPr lang="en-US" altLang="zh-CN" sz="2400" dirty="0">
                    <a:ea typeface="宋体" panose="02010600030101010101" pitchFamily="2" charset="-122"/>
                  </a:rPr>
                  <a:t>⊕</a:t>
                </a:r>
                <a:r>
                  <a:rPr lang="en-US" altLang="zh-CN" i="1" dirty="0"/>
                  <a:t>a</a:t>
                </a:r>
                <a:r>
                  <a:rPr lang="en-US" altLang="zh-CN" baseline="-25000" dirty="0"/>
                  <a:t>&lt;-(</a:t>
                </a:r>
                <a:r>
                  <a:rPr lang="en-US" altLang="zh-CN" i="1" baseline="-25000" dirty="0"/>
                  <a:t>j-</a:t>
                </a:r>
                <a:r>
                  <a:rPr lang="en-US" altLang="zh-CN" i="1" baseline="-25000" dirty="0" err="1"/>
                  <a:t>i</a:t>
                </a:r>
                <a:r>
                  <a:rPr lang="en-US" altLang="zh-CN" baseline="-25000" dirty="0"/>
                  <a:t>)&gt;</a:t>
                </a:r>
                <a:r>
                  <a:rPr lang="en-US" altLang="zh-CN" i="1" baseline="-25000" dirty="0" err="1"/>
                  <a:t>p,j</a:t>
                </a:r>
                <a:r>
                  <a:rPr lang="en-US" altLang="zh-CN" dirty="0"/>
                  <a:t>              (13)</a:t>
                </a:r>
                <a:endParaRPr lang="en-US" altLang="zh-CN" dirty="0"/>
              </a:p>
              <a:p>
                <a:pPr>
                  <a:lnSpc>
                    <a:spcPts val="3600"/>
                  </a:lnSpc>
                </a:pPr>
                <a:r>
                  <a:rPr lang="zh-CN" altLang="en-US" dirty="0">
                    <a:latin typeface="+mn-lt"/>
                  </a:rPr>
                  <a:t>         公式</a:t>
                </a:r>
                <a:r>
                  <a:rPr lang="en-US" altLang="zh-CN" dirty="0">
                    <a:latin typeface="+mn-lt"/>
                  </a:rPr>
                  <a:t>(13)</a:t>
                </a:r>
                <a:r>
                  <a:rPr lang="zh-CN" altLang="en-US" dirty="0">
                    <a:latin typeface="+mn-lt"/>
                  </a:rPr>
                  <a:t>的正确性，根据公式</a:t>
                </a:r>
                <a:r>
                  <a:rPr lang="en-US" altLang="zh-CN" dirty="0">
                    <a:latin typeface="+mn-lt"/>
                  </a:rPr>
                  <a:t>(1)</a:t>
                </a:r>
                <a:r>
                  <a:rPr lang="zh-CN" altLang="en-US" dirty="0">
                    <a:latin typeface="+mn-lt"/>
                  </a:rPr>
                  <a:t>和公式</a:t>
                </a:r>
                <a:r>
                  <a:rPr lang="en-US" altLang="zh-CN" dirty="0">
                    <a:latin typeface="+mn-lt"/>
                  </a:rPr>
                  <a:t>(8)</a:t>
                </a:r>
                <a:r>
                  <a:rPr lang="zh-CN" altLang="en-US" dirty="0">
                    <a:latin typeface="+mn-lt"/>
                  </a:rPr>
                  <a:t>可以得到。</a:t>
                </a:r>
                <a:endParaRPr lang="en-US" altLang="zh-CN" dirty="0">
                  <a:latin typeface="+mn-lt"/>
                </a:endParaRPr>
              </a:p>
            </p:txBody>
          </p:sp>
        </mc:Choice>
        <mc:Fallback>
          <p:sp>
            <p:nvSpPr>
              <p:cNvPr id="9" name="文本框 8"/>
              <p:cNvSpPr txBox="1">
                <a:spLocks noRot="1" noChangeAspect="1" noMove="1" noResize="1" noEditPoints="1" noAdjustHandles="1" noChangeArrowheads="1" noChangeShapeType="1" noTextEdit="1"/>
              </p:cNvSpPr>
              <p:nvPr/>
            </p:nvSpPr>
            <p:spPr>
              <a:xfrm>
                <a:off x="477624" y="1037592"/>
                <a:ext cx="7924592" cy="4653646"/>
              </a:xfrm>
              <a:prstGeom prst="rect">
                <a:avLst/>
              </a:prstGeom>
              <a:blipFill rotWithShape="1">
                <a:blip r:embed="rId1"/>
                <a:stretch>
                  <a:fillRect l="-1" r="7" b="8"/>
                </a:stretch>
              </a:blipFill>
            </p:spPr>
            <p:txBody>
              <a:bodyPr/>
              <a:lstStyle/>
              <a:p>
                <a:r>
                  <a:rPr lang="zh-CN" altLang="en-US">
                    <a:noFill/>
                  </a:rPr>
                  <a:t> </a:t>
                </a:r>
              </a:p>
            </p:txBody>
          </p:sp>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en-US" altLang="zh-CN" sz="2400" dirty="0">
                <a:sym typeface="+mn-ea"/>
              </a:rPr>
              <a:t>EVENODD</a:t>
            </a:r>
            <a:r>
              <a:rPr lang="zh-CN" altLang="en-US" sz="2400" dirty="0">
                <a:sym typeface="+mn-ea"/>
              </a:rPr>
              <a:t>码解码正确性证明</a:t>
            </a:r>
            <a:endParaRPr lang="zh-CN" altLang="en-US" sz="2400" dirty="0">
              <a:sym typeface="+mn-ea"/>
            </a:endParaRPr>
          </a:p>
        </p:txBody>
      </p:sp>
      <mc:AlternateContent xmlns:mc="http://schemas.openxmlformats.org/markup-compatibility/2006">
        <mc:Choice xmlns:a14="http://schemas.microsoft.com/office/drawing/2010/main" Requires="a14">
          <p:sp>
            <p:nvSpPr>
              <p:cNvPr id="9" name="文本框 8"/>
              <p:cNvSpPr txBox="1"/>
              <p:nvPr/>
            </p:nvSpPr>
            <p:spPr>
              <a:xfrm>
                <a:off x="477624" y="1037592"/>
                <a:ext cx="7924592" cy="193161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latin typeface="+mn-lt"/>
                  </a:rPr>
                  <a:t>        第三步，参数</a:t>
                </a:r>
                <a:r>
                  <a:rPr lang="en-US" altLang="zh-CN" dirty="0">
                    <a:latin typeface="+mn-lt"/>
                  </a:rPr>
                  <a:t>S</a:t>
                </a:r>
                <a:r>
                  <a:rPr lang="zh-CN" altLang="en-US" dirty="0">
                    <a:latin typeface="+mn-lt"/>
                  </a:rPr>
                  <a:t>的值设置为</a:t>
                </a:r>
                <a:r>
                  <a:rPr lang="en-US" altLang="zh-CN" dirty="0">
                    <a:latin typeface="+mn-lt"/>
                  </a:rPr>
                  <a:t>&lt;-2(</a:t>
                </a:r>
                <a:r>
                  <a:rPr lang="en-US" altLang="zh-CN" i="1" dirty="0">
                    <a:latin typeface="+mn-lt"/>
                  </a:rPr>
                  <a:t>j</a:t>
                </a:r>
                <a:r>
                  <a:rPr lang="en-US" altLang="zh-CN" dirty="0">
                    <a:latin typeface="+mn-lt"/>
                  </a:rPr>
                  <a:t>-</a:t>
                </a:r>
                <a:r>
                  <a:rPr lang="en-US" altLang="zh-CN" i="1" dirty="0" err="1">
                    <a:latin typeface="+mn-lt"/>
                  </a:rPr>
                  <a:t>i</a:t>
                </a:r>
                <a:r>
                  <a:rPr lang="en-US" altLang="zh-CN" dirty="0">
                    <a:latin typeface="+mn-lt"/>
                  </a:rPr>
                  <a:t>)-1&gt;</a:t>
                </a:r>
                <a:r>
                  <a:rPr lang="en-US" altLang="zh-CN" i="1" dirty="0">
                    <a:latin typeface="+mn-lt"/>
                  </a:rPr>
                  <a:t>p</a:t>
                </a:r>
                <a:r>
                  <a:rPr lang="zh-CN" altLang="en-US" dirty="0">
                    <a:latin typeface="+mn-lt"/>
                  </a:rPr>
                  <a:t>，返回第二步，根据算法可以得到：</a:t>
                </a:r>
                <a:endParaRPr lang="en-US" altLang="zh-CN" dirty="0">
                  <a:latin typeface="+mn-lt"/>
                </a:endParaRPr>
              </a:p>
              <a:p>
                <a:pPr>
                  <a:lnSpc>
                    <a:spcPts val="3600"/>
                  </a:lnSpc>
                </a:pPr>
                <a:r>
                  <a:rPr lang="en-US" altLang="zh-CN" i="1" dirty="0"/>
                  <a:t>                       a</a:t>
                </a:r>
                <a:r>
                  <a:rPr lang="en-US" altLang="zh-CN" baseline="-25000" dirty="0"/>
                  <a:t>&lt;-2(</a:t>
                </a:r>
                <a:r>
                  <a:rPr lang="en-US" altLang="zh-CN" i="1" baseline="-25000" dirty="0"/>
                  <a:t>j-</a:t>
                </a:r>
                <a:r>
                  <a:rPr lang="en-US" altLang="zh-CN" i="1" baseline="-25000" dirty="0" err="1"/>
                  <a:t>i</a:t>
                </a:r>
                <a:r>
                  <a:rPr lang="en-US" altLang="zh-CN" baseline="-25000" dirty="0"/>
                  <a:t>)-1&gt;</a:t>
                </a:r>
                <a:r>
                  <a:rPr lang="en-US" altLang="zh-CN" i="1" baseline="-25000" dirty="0" err="1"/>
                  <a:t>p,j</a:t>
                </a:r>
                <a:r>
                  <a:rPr lang="en-US" altLang="zh-CN" i="1" baseline="-25000" dirty="0"/>
                  <a:t> </a:t>
                </a:r>
                <a:r>
                  <a:rPr lang="en-US" altLang="zh-CN" dirty="0">
                    <a:sym typeface="Wingdings" panose="05000000000000000000" pitchFamily="2" charset="2"/>
                  </a:rPr>
                  <a:t> </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i="1" dirty="0">
                            <a:latin typeface="Cambria Math" panose="02040503050406030204" pitchFamily="18" charset="0"/>
                            <a:ea typeface="宋体" panose="02010600030101010101" pitchFamily="2" charset="-122"/>
                          </a:rPr>
                          <m:t>S</m:t>
                        </m:r>
                      </m:e>
                      <m:sub>
                        <m:r>
                          <a:rPr lang="en-US" altLang="zh-CN" i="1" dirty="0">
                            <a:latin typeface="Cambria Math" panose="02040503050406030204" pitchFamily="18" charset="0"/>
                            <a:ea typeface="宋体" panose="02010600030101010101" pitchFamily="2" charset="-122"/>
                          </a:rPr>
                          <m:t>&lt;−</m:t>
                        </m:r>
                        <m:r>
                          <a:rPr lang="en-US" altLang="zh-CN" b="0" i="1" dirty="0" smtClean="0">
                            <a:latin typeface="Cambria Math" panose="02040503050406030204" pitchFamily="18" charset="0"/>
                            <a:ea typeface="宋体" panose="02010600030101010101" pitchFamily="2" charset="-122"/>
                          </a:rPr>
                          <m:t>2</m:t>
                        </m:r>
                        <m:d>
                          <m:dPr>
                            <m:ctrlPr>
                              <a:rPr lang="en-US" altLang="zh-CN" i="1" dirty="0">
                                <a:latin typeface="Cambria Math" panose="02040503050406030204" pitchFamily="18" charset="0"/>
                                <a:ea typeface="宋体" panose="02010600030101010101" pitchFamily="2" charset="-122"/>
                              </a:rPr>
                            </m:ctrlPr>
                          </m:dPr>
                          <m:e>
                            <m:r>
                              <a:rPr lang="en-US" altLang="zh-CN" i="1" dirty="0">
                                <a:latin typeface="Cambria Math" panose="02040503050406030204" pitchFamily="18" charset="0"/>
                                <a:ea typeface="宋体" panose="02010600030101010101" pitchFamily="2" charset="-122"/>
                              </a:rPr>
                              <m:t>𝑗</m:t>
                            </m:r>
                            <m:r>
                              <a:rPr lang="en-US" altLang="zh-CN" i="1" dirty="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𝑖</m:t>
                            </m:r>
                          </m:e>
                        </m:d>
                        <m:r>
                          <a:rPr lang="en-US" altLang="zh-CN" i="1" dirty="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𝑗</m:t>
                        </m:r>
                        <m:r>
                          <a:rPr lang="en-US" altLang="zh-CN" i="1" dirty="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1</m:t>
                        </m:r>
                        <m:r>
                          <a:rPr lang="en-US" altLang="zh-CN" i="1" dirty="0">
                            <a:latin typeface="Cambria Math" panose="02040503050406030204" pitchFamily="18" charset="0"/>
                            <a:ea typeface="宋体" panose="02010600030101010101" pitchFamily="2" charset="-122"/>
                          </a:rPr>
                          <m:t>&gt;</m:t>
                        </m:r>
                        <m:r>
                          <a:rPr lang="en-US" altLang="zh-CN" i="1" dirty="0">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m:t>
                        </m:r>
                        <m:r>
                          <a:rPr lang="en-US" altLang="zh-CN" b="0" i="1" smtClean="0">
                            <a:latin typeface="Cambria Math" panose="02040503050406030204" pitchFamily="18" charset="0"/>
                            <a:ea typeface="宋体" panose="02010600030101010101" pitchFamily="2" charset="-122"/>
                          </a:rPr>
                          <m:t>1</m:t>
                        </m:r>
                        <m:r>
                          <a:rPr lang="en-US" altLang="zh-CN" i="1">
                            <a:latin typeface="Cambria Math" panose="02040503050406030204" pitchFamily="18" charset="0"/>
                            <a:ea typeface="宋体" panose="02010600030101010101" pitchFamily="2" charset="-122"/>
                          </a:rPr>
                          <m:t>)</m:t>
                        </m:r>
                      </m:sup>
                    </m:sSubSup>
                  </m:oMath>
                </a14:m>
                <a:r>
                  <a:rPr lang="en-US" altLang="zh-CN" dirty="0">
                    <a:ea typeface="宋体" panose="02010600030101010101" pitchFamily="2" charset="-122"/>
                  </a:rPr>
                  <a:t>⊕</a:t>
                </a:r>
                <a:r>
                  <a:rPr lang="en-US" altLang="zh-CN" i="1" dirty="0"/>
                  <a:t>a</a:t>
                </a:r>
                <a:r>
                  <a:rPr lang="en-US" altLang="zh-CN" baseline="-25000" dirty="0"/>
                  <a:t>&lt;-(</a:t>
                </a:r>
                <a:r>
                  <a:rPr lang="en-US" altLang="zh-CN" i="1" baseline="-25000" dirty="0"/>
                  <a:t>j-</a:t>
                </a:r>
                <a:r>
                  <a:rPr lang="en-US" altLang="zh-CN" i="1" baseline="-25000" dirty="0" err="1"/>
                  <a:t>i</a:t>
                </a:r>
                <a:r>
                  <a:rPr lang="en-US" altLang="zh-CN" baseline="-25000" dirty="0"/>
                  <a:t>)&gt;</a:t>
                </a:r>
                <a:r>
                  <a:rPr lang="en-US" altLang="zh-CN" i="1" baseline="-25000" dirty="0" err="1"/>
                  <a:t>p,i</a:t>
                </a:r>
                <a:r>
                  <a:rPr lang="en-US" altLang="zh-CN" dirty="0"/>
                  <a:t>                    (14)</a:t>
                </a:r>
                <a:endParaRPr lang="en-US" altLang="zh-CN" dirty="0"/>
              </a:p>
              <a:p>
                <a:pPr>
                  <a:lnSpc>
                    <a:spcPts val="3600"/>
                  </a:lnSpc>
                </a:pPr>
                <a:r>
                  <a:rPr lang="en-US" altLang="zh-CN" i="1" dirty="0"/>
                  <a:t>                       a</a:t>
                </a:r>
                <a:r>
                  <a:rPr lang="en-US" altLang="zh-CN" baseline="-25000" dirty="0"/>
                  <a:t>&lt;-2(</a:t>
                </a:r>
                <a:r>
                  <a:rPr lang="en-US" altLang="zh-CN" i="1" baseline="-25000" dirty="0"/>
                  <a:t>j-</a:t>
                </a:r>
                <a:r>
                  <a:rPr lang="en-US" altLang="zh-CN" i="1" baseline="-25000" dirty="0" err="1"/>
                  <a:t>i</a:t>
                </a:r>
                <a:r>
                  <a:rPr lang="en-US" altLang="zh-CN" baseline="-25000" dirty="0"/>
                  <a:t>)-1&gt;</a:t>
                </a:r>
                <a:r>
                  <a:rPr lang="en-US" altLang="zh-CN" i="1" baseline="-25000" dirty="0" err="1"/>
                  <a:t>p,j</a:t>
                </a:r>
                <a:r>
                  <a:rPr lang="en-US" altLang="zh-CN" i="1" baseline="-25000" dirty="0"/>
                  <a:t> </a:t>
                </a:r>
                <a:r>
                  <a:rPr lang="en-US" altLang="zh-CN" dirty="0">
                    <a:sym typeface="Wingdings" panose="05000000000000000000" pitchFamily="2" charset="2"/>
                  </a:rPr>
                  <a:t> </a:t>
                </a:r>
                <a14:m>
                  <m:oMath xmlns:m="http://schemas.openxmlformats.org/officeDocument/2006/math">
                    <m:sSubSup>
                      <m:sSubSupPr>
                        <m:ctrlPr>
                          <a:rPr lang="en-US" altLang="zh-CN" i="1">
                            <a:latin typeface="Cambria Math" panose="02040503050406030204" pitchFamily="18" charset="0"/>
                            <a:ea typeface="宋体" panose="02010600030101010101" pitchFamily="2" charset="-122"/>
                          </a:rPr>
                        </m:ctrlPr>
                      </m:sSubSupPr>
                      <m:e>
                        <m:r>
                          <m:rPr>
                            <m:nor/>
                          </m:rPr>
                          <a:rPr lang="en-US" altLang="zh-CN" i="1" dirty="0">
                            <a:latin typeface="Cambria Math" panose="02040503050406030204" pitchFamily="18" charset="0"/>
                            <a:ea typeface="宋体" panose="02010600030101010101" pitchFamily="2" charset="-122"/>
                          </a:rPr>
                          <m:t>S</m:t>
                        </m:r>
                      </m:e>
                      <m:sub>
                        <m:r>
                          <a:rPr lang="en-US" altLang="zh-CN" i="1" dirty="0">
                            <a:latin typeface="Cambria Math" panose="02040503050406030204" pitchFamily="18" charset="0"/>
                            <a:ea typeface="宋体" panose="02010600030101010101" pitchFamily="2" charset="-122"/>
                          </a:rPr>
                          <m:t>&lt;−</m:t>
                        </m:r>
                        <m:r>
                          <a:rPr lang="en-US" altLang="zh-CN" i="1" dirty="0">
                            <a:latin typeface="Cambria Math" panose="02040503050406030204" pitchFamily="18" charset="0"/>
                            <a:ea typeface="宋体" panose="02010600030101010101" pitchFamily="2" charset="-122"/>
                          </a:rPr>
                          <m:t>2</m:t>
                        </m:r>
                        <m:d>
                          <m:dPr>
                            <m:ctrlPr>
                              <a:rPr lang="en-US" altLang="zh-CN" i="1" dirty="0">
                                <a:latin typeface="Cambria Math" panose="02040503050406030204" pitchFamily="18" charset="0"/>
                                <a:ea typeface="宋体" panose="02010600030101010101" pitchFamily="2" charset="-122"/>
                              </a:rPr>
                            </m:ctrlPr>
                          </m:dPr>
                          <m:e>
                            <m:r>
                              <a:rPr lang="en-US" altLang="zh-CN" i="1" dirty="0">
                                <a:latin typeface="Cambria Math" panose="02040503050406030204" pitchFamily="18" charset="0"/>
                                <a:ea typeface="宋体" panose="02010600030101010101" pitchFamily="2" charset="-122"/>
                              </a:rPr>
                              <m:t>𝑗</m:t>
                            </m:r>
                            <m:r>
                              <a:rPr lang="en-US" altLang="zh-CN" i="1" dirty="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𝑖</m:t>
                            </m:r>
                          </m:e>
                        </m:d>
                        <m:r>
                          <a:rPr lang="en-US" altLang="zh-CN" i="1" dirty="0">
                            <a:latin typeface="Cambria Math" panose="02040503050406030204" pitchFamily="18" charset="0"/>
                            <a:ea typeface="宋体" panose="02010600030101010101" pitchFamily="2" charset="-122"/>
                          </a:rPr>
                          <m:t>−</m:t>
                        </m:r>
                        <m:r>
                          <a:rPr lang="en-US" altLang="zh-CN" i="1" dirty="0">
                            <a:latin typeface="Cambria Math" panose="02040503050406030204" pitchFamily="18" charset="0"/>
                            <a:ea typeface="宋体" panose="02010600030101010101" pitchFamily="2" charset="-122"/>
                          </a:rPr>
                          <m:t>1</m:t>
                        </m:r>
                        <m:r>
                          <a:rPr lang="en-US" altLang="zh-CN" i="1" dirty="0">
                            <a:latin typeface="Cambria Math" panose="02040503050406030204" pitchFamily="18" charset="0"/>
                            <a:ea typeface="宋体" panose="02010600030101010101" pitchFamily="2" charset="-122"/>
                          </a:rPr>
                          <m:t>&gt;</m:t>
                        </m:r>
                        <m:r>
                          <a:rPr lang="en-US" altLang="zh-CN" i="1" dirty="0">
                            <a:latin typeface="Cambria Math" panose="02040503050406030204" pitchFamily="18" charset="0"/>
                            <a:ea typeface="宋体" panose="02010600030101010101" pitchFamily="2" charset="-122"/>
                          </a:rPr>
                          <m:t>𝑝</m:t>
                        </m:r>
                        <m:r>
                          <a:rPr lang="en-US" altLang="zh-CN" i="1">
                            <a:latin typeface="Cambria Math" panose="02040503050406030204" pitchFamily="18" charset="0"/>
                            <a:ea typeface="宋体" panose="02010600030101010101" pitchFamily="2" charset="-122"/>
                          </a:rPr>
                          <m:t> </m:t>
                        </m:r>
                      </m:sub>
                      <m:sup>
                        <m:r>
                          <a:rPr lang="en-US" altLang="zh-CN" i="1">
                            <a:latin typeface="Cambria Math" panose="02040503050406030204" pitchFamily="18" charset="0"/>
                            <a:ea typeface="宋体" panose="02010600030101010101" pitchFamily="2" charset="-122"/>
                          </a:rPr>
                          <m:t>(</m:t>
                        </m:r>
                        <m:r>
                          <a:rPr lang="en-US" altLang="zh-CN" b="0" i="1" smtClean="0">
                            <a:latin typeface="Cambria Math" panose="02040503050406030204" pitchFamily="18" charset="0"/>
                            <a:ea typeface="宋体" panose="02010600030101010101" pitchFamily="2" charset="-122"/>
                          </a:rPr>
                          <m:t>0</m:t>
                        </m:r>
                        <m:r>
                          <a:rPr lang="en-US" altLang="zh-CN" i="1">
                            <a:latin typeface="Cambria Math" panose="02040503050406030204" pitchFamily="18" charset="0"/>
                            <a:ea typeface="宋体" panose="02010600030101010101" pitchFamily="2" charset="-122"/>
                          </a:rPr>
                          <m:t>)</m:t>
                        </m:r>
                      </m:sup>
                    </m:sSubSup>
                  </m:oMath>
                </a14:m>
                <a:r>
                  <a:rPr lang="en-US" altLang="zh-CN" dirty="0">
                    <a:ea typeface="宋体" panose="02010600030101010101" pitchFamily="2" charset="-122"/>
                  </a:rPr>
                  <a:t>⊕</a:t>
                </a:r>
                <a:r>
                  <a:rPr lang="en-US" altLang="zh-CN" i="1" dirty="0"/>
                  <a:t>a</a:t>
                </a:r>
                <a:r>
                  <a:rPr lang="en-US" altLang="zh-CN" baseline="-25000" dirty="0"/>
                  <a:t>&lt;-2(</a:t>
                </a:r>
                <a:r>
                  <a:rPr lang="en-US" altLang="zh-CN" i="1" baseline="-25000" dirty="0"/>
                  <a:t>j-</a:t>
                </a:r>
                <a:r>
                  <a:rPr lang="en-US" altLang="zh-CN" i="1" baseline="-25000" dirty="0" err="1"/>
                  <a:t>i</a:t>
                </a:r>
                <a:r>
                  <a:rPr lang="en-US" altLang="zh-CN" baseline="-25000" dirty="0"/>
                  <a:t>)-1&gt;</a:t>
                </a:r>
                <a:r>
                  <a:rPr lang="en-US" altLang="zh-CN" i="1" baseline="-25000" dirty="0" err="1"/>
                  <a:t>p,j</a:t>
                </a:r>
                <a:r>
                  <a:rPr lang="en-US" altLang="zh-CN" dirty="0"/>
                  <a:t>                    (15)</a:t>
                </a:r>
                <a:endParaRPr lang="en-US" altLang="zh-CN" dirty="0">
                  <a:latin typeface="+mn-lt"/>
                </a:endParaRPr>
              </a:p>
            </p:txBody>
          </p:sp>
        </mc:Choice>
        <mc:Fallback>
          <p:sp>
            <p:nvSpPr>
              <p:cNvPr id="9" name="文本框 8"/>
              <p:cNvSpPr txBox="1">
                <a:spLocks noRot="1" noChangeAspect="1" noMove="1" noResize="1" noEditPoints="1" noAdjustHandles="1" noChangeArrowheads="1" noChangeShapeType="1" noTextEdit="1"/>
              </p:cNvSpPr>
              <p:nvPr/>
            </p:nvSpPr>
            <p:spPr>
              <a:xfrm>
                <a:off x="477624" y="1037592"/>
                <a:ext cx="7924592" cy="1931619"/>
              </a:xfrm>
              <a:prstGeom prst="rect">
                <a:avLst/>
              </a:prstGeom>
              <a:blipFill rotWithShape="1">
                <a:blip r:embed="rId1"/>
                <a:stretch>
                  <a:fillRect l="-1" r="7" b="30"/>
                </a:stretch>
              </a:blipFill>
            </p:spPr>
            <p:txBody>
              <a:bodyPr/>
              <a:lstStyle/>
              <a:p>
                <a:r>
                  <a:rPr lang="zh-CN" altLang="en-US">
                    <a:noFill/>
                  </a:rPr>
                  <a:t> </a:t>
                </a:r>
              </a:p>
            </p:txBody>
          </p:sp>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奇偶校验码</a:t>
            </a:r>
            <a:endParaRPr lang="zh-CN" altLang="en-US" sz="2400" dirty="0">
              <a:sym typeface="+mn-ea"/>
            </a:endParaRPr>
          </a:p>
        </p:txBody>
      </p:sp>
      <p:sp>
        <p:nvSpPr>
          <p:cNvPr id="14" name="文本框 13"/>
          <p:cNvSpPr txBox="1"/>
          <p:nvPr/>
        </p:nvSpPr>
        <p:spPr>
          <a:xfrm>
            <a:off x="655194" y="1066862"/>
            <a:ext cx="7833612" cy="441332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800"/>
              </a:lnSpc>
            </a:pPr>
            <a:r>
              <a:rPr lang="zh-CN" altLang="en-US" dirty="0">
                <a:solidFill>
                  <a:srgbClr val="FF0000"/>
                </a:solidFill>
                <a:latin typeface="Marlett" charset="0"/>
                <a:sym typeface="+mn-ea"/>
              </a:rPr>
              <a:t>         </a:t>
            </a:r>
            <a:r>
              <a:rPr lang="zh-CN" altLang="en-US" dirty="0">
                <a:solidFill>
                  <a:srgbClr val="FF0000"/>
                </a:solidFill>
                <a:latin typeface="+mn-lt"/>
                <a:sym typeface="+mn-ea"/>
              </a:rPr>
              <a:t>奇偶校验码</a:t>
            </a:r>
            <a:r>
              <a:rPr lang="zh-CN" altLang="en-US" dirty="0">
                <a:solidFill>
                  <a:srgbClr val="121212"/>
                </a:solidFill>
                <a:latin typeface="+mn-lt"/>
                <a:sym typeface="+mn-ea"/>
              </a:rPr>
              <a:t>，是一种完全基于</a:t>
            </a:r>
            <a:r>
              <a:rPr lang="en-US" altLang="zh-CN" dirty="0">
                <a:solidFill>
                  <a:srgbClr val="121212"/>
                </a:solidFill>
                <a:latin typeface="+mn-lt"/>
                <a:sym typeface="+mn-ea"/>
              </a:rPr>
              <a:t>XOR</a:t>
            </a:r>
            <a:r>
              <a:rPr lang="zh-CN" altLang="en-US" dirty="0">
                <a:solidFill>
                  <a:srgbClr val="121212"/>
                </a:solidFill>
                <a:latin typeface="+mn-lt"/>
                <a:sym typeface="+mn-ea"/>
              </a:rPr>
              <a:t>运算的纠删码，他是一种条块宽度为</a:t>
            </a:r>
            <a:r>
              <a:rPr lang="en-US" altLang="zh-CN" dirty="0">
                <a:solidFill>
                  <a:srgbClr val="121212"/>
                </a:solidFill>
                <a:latin typeface="+mn-lt"/>
                <a:sym typeface="+mn-ea"/>
              </a:rPr>
              <a:t>w=1</a:t>
            </a:r>
            <a:r>
              <a:rPr lang="zh-CN" altLang="en-US" dirty="0">
                <a:solidFill>
                  <a:srgbClr val="121212"/>
                </a:solidFill>
                <a:latin typeface="+mn-lt"/>
                <a:sym typeface="+mn-ea"/>
              </a:rPr>
              <a:t>的特殊水平码。</a:t>
            </a:r>
            <a:r>
              <a:rPr lang="zh-CN" altLang="en-US" dirty="0">
                <a:solidFill>
                  <a:schemeClr val="accent1">
                    <a:lumMod val="75000"/>
                  </a:schemeClr>
                </a:solidFill>
                <a:latin typeface="+mn-lt"/>
                <a:sym typeface="+mn-ea"/>
              </a:rPr>
              <a:t>最简单的奇偶校验码是单奇偶校验码</a:t>
            </a:r>
            <a:r>
              <a:rPr lang="zh-CN" altLang="en-US" dirty="0">
                <a:solidFill>
                  <a:srgbClr val="121212"/>
                </a:solidFill>
                <a:latin typeface="+mn-lt"/>
                <a:sym typeface="+mn-ea"/>
              </a:rPr>
              <a:t>：在一个条带中，只有唯一的一个校验条块，这个校验条块由所有用户数据条块的</a:t>
            </a:r>
            <a:r>
              <a:rPr lang="en-US" altLang="zh-CN" dirty="0">
                <a:solidFill>
                  <a:srgbClr val="121212"/>
                </a:solidFill>
                <a:latin typeface="+mn-lt"/>
                <a:sym typeface="+mn-ea"/>
              </a:rPr>
              <a:t>XOR</a:t>
            </a:r>
            <a:r>
              <a:rPr lang="zh-CN" altLang="en-US" dirty="0">
                <a:solidFill>
                  <a:srgbClr val="121212"/>
                </a:solidFill>
                <a:latin typeface="+mn-lt"/>
                <a:sym typeface="+mn-ea"/>
              </a:rPr>
              <a:t>运算之和得到。于是单奇偶校验的容错能力为</a:t>
            </a:r>
            <a:r>
              <a:rPr lang="en-US" altLang="zh-CN" dirty="0">
                <a:solidFill>
                  <a:srgbClr val="121212"/>
                </a:solidFill>
                <a:latin typeface="+mn-lt"/>
                <a:sym typeface="+mn-ea"/>
              </a:rPr>
              <a:t>1</a:t>
            </a:r>
            <a:r>
              <a:rPr lang="zh-CN" altLang="en-US" dirty="0">
                <a:solidFill>
                  <a:srgbClr val="121212"/>
                </a:solidFill>
                <a:latin typeface="+mn-lt"/>
                <a:sym typeface="+mn-ea"/>
              </a:rPr>
              <a:t>，其最典型的应用是</a:t>
            </a:r>
            <a:r>
              <a:rPr lang="en-US" altLang="zh-CN" dirty="0">
                <a:solidFill>
                  <a:srgbClr val="121212"/>
                </a:solidFill>
                <a:latin typeface="+mn-lt"/>
                <a:sym typeface="+mn-ea"/>
              </a:rPr>
              <a:t>RAID 5</a:t>
            </a:r>
            <a:r>
              <a:rPr lang="zh-CN" altLang="en-US" dirty="0">
                <a:solidFill>
                  <a:srgbClr val="121212"/>
                </a:solidFill>
                <a:latin typeface="+mn-lt"/>
                <a:sym typeface="+mn-ea"/>
              </a:rPr>
              <a:t>。</a:t>
            </a:r>
            <a:endParaRPr lang="en-US" altLang="zh-CN" dirty="0">
              <a:solidFill>
                <a:srgbClr val="121212"/>
              </a:solidFill>
              <a:latin typeface="+mn-lt"/>
              <a:sym typeface="+mn-ea"/>
            </a:endParaRPr>
          </a:p>
          <a:p>
            <a:pPr>
              <a:lnSpc>
                <a:spcPts val="3800"/>
              </a:lnSpc>
            </a:pPr>
            <a:r>
              <a:rPr lang="zh-CN" altLang="en-US" dirty="0">
                <a:solidFill>
                  <a:srgbClr val="121212"/>
                </a:solidFill>
                <a:latin typeface="+mn-lt"/>
                <a:sym typeface="+mn-ea"/>
              </a:rPr>
              <a:t>          基于单奇偶校验码可以构造出容错能力更高的奇偶校验码，大致可分为两类：</a:t>
            </a:r>
            <a:endParaRPr lang="en-US" altLang="zh-CN" dirty="0">
              <a:solidFill>
                <a:srgbClr val="121212"/>
              </a:solidFill>
              <a:latin typeface="+mn-lt"/>
              <a:sym typeface="+mn-ea"/>
            </a:endParaRPr>
          </a:p>
          <a:p>
            <a:pPr lvl="1">
              <a:lnSpc>
                <a:spcPts val="3800"/>
              </a:lnSpc>
            </a:pPr>
            <a:r>
              <a:rPr lang="en-US" altLang="zh-CN" sz="2000" dirty="0">
                <a:latin typeface="+mn-lt"/>
                <a:ea typeface="黑体" panose="02010609060101010101" pitchFamily="49" charset="-122"/>
                <a:sym typeface="+mn-ea"/>
              </a:rPr>
              <a:t>(1)</a:t>
            </a:r>
            <a:r>
              <a:rPr lang="zh-CN" altLang="en-US" sz="2000" dirty="0">
                <a:solidFill>
                  <a:schemeClr val="accent2"/>
                </a:solidFill>
                <a:latin typeface="+mn-lt"/>
                <a:ea typeface="黑体" panose="02010609060101010101" pitchFamily="49" charset="-122"/>
                <a:sym typeface="+mn-ea"/>
              </a:rPr>
              <a:t>根据几何结构构造的奇偶校验码</a:t>
            </a:r>
            <a:r>
              <a:rPr lang="zh-CN" altLang="en-US" sz="2000" dirty="0">
                <a:solidFill>
                  <a:srgbClr val="121212"/>
                </a:solidFill>
                <a:latin typeface="+mn-lt"/>
                <a:ea typeface="黑体" panose="02010609060101010101" pitchFamily="49" charset="-122"/>
                <a:sym typeface="+mn-ea"/>
              </a:rPr>
              <a:t>，例如水平垂直奇偶校验码</a:t>
            </a:r>
            <a:endParaRPr lang="en-US" altLang="zh-CN" sz="2000" dirty="0">
              <a:solidFill>
                <a:srgbClr val="121212"/>
              </a:solidFill>
              <a:latin typeface="+mn-lt"/>
              <a:ea typeface="黑体" panose="02010609060101010101" pitchFamily="49" charset="-122"/>
              <a:sym typeface="+mn-ea"/>
            </a:endParaRPr>
          </a:p>
          <a:p>
            <a:pPr lvl="1">
              <a:lnSpc>
                <a:spcPts val="3800"/>
              </a:lnSpc>
            </a:pPr>
            <a:r>
              <a:rPr lang="en-US" altLang="zh-CN" sz="2000" dirty="0">
                <a:latin typeface="+mn-lt"/>
                <a:ea typeface="黑体" panose="02010609060101010101" pitchFamily="49" charset="-122"/>
                <a:sym typeface="+mn-ea"/>
              </a:rPr>
              <a:t>(2)</a:t>
            </a:r>
            <a:r>
              <a:rPr lang="zh-CN" altLang="en-US" sz="2000" dirty="0">
                <a:solidFill>
                  <a:schemeClr val="accent2"/>
                </a:solidFill>
                <a:latin typeface="+mn-lt"/>
                <a:ea typeface="黑体" panose="02010609060101010101" pitchFamily="49" charset="-122"/>
                <a:sym typeface="+mn-ea"/>
              </a:rPr>
              <a:t>根据图结构构造的奇偶校验码</a:t>
            </a:r>
            <a:r>
              <a:rPr lang="zh-CN" altLang="en-US" sz="2000" dirty="0">
                <a:solidFill>
                  <a:srgbClr val="121212"/>
                </a:solidFill>
                <a:latin typeface="+mn-lt"/>
                <a:ea typeface="黑体" panose="02010609060101010101" pitchFamily="49" charset="-122"/>
                <a:sym typeface="+mn-ea"/>
              </a:rPr>
              <a:t>，例如基于</a:t>
            </a:r>
            <a:r>
              <a:rPr lang="en-US" altLang="zh-CN" sz="2000" dirty="0">
                <a:solidFill>
                  <a:srgbClr val="121212"/>
                </a:solidFill>
                <a:latin typeface="+mn-lt"/>
                <a:ea typeface="黑体" panose="02010609060101010101" pitchFamily="49" charset="-122"/>
                <a:sym typeface="+mn-ea"/>
              </a:rPr>
              <a:t>Tanner</a:t>
            </a:r>
            <a:r>
              <a:rPr lang="zh-CN" altLang="en-US" sz="2000" dirty="0">
                <a:solidFill>
                  <a:srgbClr val="121212"/>
                </a:solidFill>
                <a:latin typeface="+mn-lt"/>
                <a:ea typeface="黑体" panose="02010609060101010101" pitchFamily="49" charset="-122"/>
                <a:sym typeface="+mn-ea"/>
              </a:rPr>
              <a:t>图的</a:t>
            </a:r>
            <a:r>
              <a:rPr lang="en-US" altLang="zh-CN" sz="2000" dirty="0">
                <a:solidFill>
                  <a:srgbClr val="121212"/>
                </a:solidFill>
                <a:latin typeface="+mn-lt"/>
                <a:ea typeface="黑体" panose="02010609060101010101" pitchFamily="49" charset="-122"/>
                <a:sym typeface="+mn-ea"/>
              </a:rPr>
              <a:t>LDPC</a:t>
            </a:r>
            <a:r>
              <a:rPr lang="zh-CN" altLang="en-US" sz="2000" dirty="0">
                <a:solidFill>
                  <a:srgbClr val="121212"/>
                </a:solidFill>
                <a:latin typeface="+mn-lt"/>
                <a:ea typeface="黑体" panose="02010609060101010101" pitchFamily="49" charset="-122"/>
                <a:sym typeface="+mn-ea"/>
              </a:rPr>
              <a:t>码</a:t>
            </a:r>
            <a:endParaRPr lang="en-US" altLang="zh-CN" sz="2000" dirty="0">
              <a:solidFill>
                <a:srgbClr val="121212"/>
              </a:solidFill>
              <a:latin typeface="+mn-lt"/>
              <a:ea typeface="黑体" panose="02010609060101010101" pitchFamily="49" charset="-122"/>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水平垂直奇偶校验码</a:t>
            </a:r>
            <a:endParaRPr lang="zh-CN" altLang="en-US" sz="2400" dirty="0">
              <a:sym typeface="+mn-ea"/>
            </a:endParaRPr>
          </a:p>
        </p:txBody>
      </p:sp>
      <p:sp>
        <p:nvSpPr>
          <p:cNvPr id="14" name="文本框 13"/>
          <p:cNvSpPr txBox="1"/>
          <p:nvPr/>
        </p:nvSpPr>
        <p:spPr>
          <a:xfrm>
            <a:off x="518152" y="990664"/>
            <a:ext cx="8107696" cy="3092450"/>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sz="2000" dirty="0">
                <a:solidFill>
                  <a:srgbClr val="121212"/>
                </a:solidFill>
                <a:latin typeface="+mn-lt"/>
                <a:ea typeface="黑体" panose="02010609060101010101" pitchFamily="49" charset="-122"/>
                <a:sym typeface="+mn-ea"/>
              </a:rPr>
              <a:t>       根据几何结构构造的奇偶校验码。</a:t>
            </a:r>
            <a:r>
              <a:rPr lang="zh-CN" altLang="en-US" sz="2000" dirty="0">
                <a:solidFill>
                  <a:schemeClr val="accent1">
                    <a:lumMod val="75000"/>
                  </a:schemeClr>
                </a:solidFill>
                <a:latin typeface="+mn-lt"/>
                <a:ea typeface="黑体" panose="02010609060101010101" pitchFamily="49" charset="-122"/>
                <a:sym typeface="+mn-ea"/>
              </a:rPr>
              <a:t>这类奇偶校验码将一个条带中的条块在逻辑上组织成多维几何结构，然后在每个方向上采用单奇偶校验码进行编码</a:t>
            </a:r>
            <a:r>
              <a:rPr lang="zh-CN" altLang="en-US" dirty="0">
                <a:solidFill>
                  <a:srgbClr val="121212"/>
                </a:solidFill>
                <a:latin typeface="+mn-lt"/>
                <a:sym typeface="+mn-ea"/>
              </a:rPr>
              <a:t>，因此具有十分规整的结构，十分易于实现。但是，他们的存储效率通常较低。</a:t>
            </a:r>
            <a:endParaRPr lang="en-US" altLang="zh-CN" dirty="0">
              <a:solidFill>
                <a:srgbClr val="121212"/>
              </a:solidFill>
              <a:latin typeface="+mn-lt"/>
              <a:sym typeface="+mn-ea"/>
            </a:endParaRPr>
          </a:p>
          <a:p>
            <a:pPr lvl="1" algn="just">
              <a:lnSpc>
                <a:spcPts val="3400"/>
              </a:lnSpc>
            </a:pPr>
            <a:r>
              <a:rPr lang="en-US" altLang="zh-CN" sz="2000" dirty="0" err="1">
                <a:solidFill>
                  <a:srgbClr val="121212"/>
                </a:solidFill>
                <a:latin typeface="+mn-lt"/>
                <a:ea typeface="黑体" panose="02010609060101010101" pitchFamily="49" charset="-122"/>
                <a:sym typeface="+mn-ea"/>
              </a:rPr>
              <a:t>eg</a:t>
            </a:r>
            <a:r>
              <a:rPr lang="zh-CN" altLang="en-US" sz="2000" dirty="0">
                <a:solidFill>
                  <a:srgbClr val="121212"/>
                </a:solidFill>
                <a:latin typeface="+mn-lt"/>
                <a:ea typeface="黑体" panose="02010609060101010101" pitchFamily="49" charset="-122"/>
                <a:sym typeface="+mn-ea"/>
              </a:rPr>
              <a:t>：</a:t>
            </a:r>
            <a:r>
              <a:rPr lang="zh-CN" altLang="en-US" sz="2000" dirty="0">
                <a:solidFill>
                  <a:srgbClr val="FF0000"/>
                </a:solidFill>
                <a:latin typeface="+mn-lt"/>
                <a:ea typeface="黑体" panose="02010609060101010101" pitchFamily="49" charset="-122"/>
                <a:sym typeface="+mn-ea"/>
              </a:rPr>
              <a:t>水平垂直奇偶校验码</a:t>
            </a:r>
            <a:endParaRPr lang="en-US" altLang="zh-CN" sz="2000" dirty="0">
              <a:solidFill>
                <a:srgbClr val="FF0000"/>
              </a:solidFill>
              <a:latin typeface="+mn-lt"/>
              <a:ea typeface="黑体" panose="02010609060101010101" pitchFamily="49" charset="-122"/>
              <a:sym typeface="+mn-ea"/>
            </a:endParaRPr>
          </a:p>
          <a:p>
            <a:pPr>
              <a:lnSpc>
                <a:spcPts val="3400"/>
              </a:lnSpc>
            </a:pPr>
            <a:r>
              <a:rPr lang="zh-CN" altLang="en-US" dirty="0">
                <a:solidFill>
                  <a:srgbClr val="121212"/>
                </a:solidFill>
                <a:latin typeface="+mn-lt"/>
                <a:sym typeface="+mn-ea"/>
              </a:rPr>
              <a:t>        编码方式：他将一个条带中的条块在逻辑上组织成二维阵列结构，然后在水平和垂直方向上分别采取单奇偶校验码进行编码。</a:t>
            </a:r>
            <a:endParaRPr lang="en-US" altLang="zh-CN" dirty="0">
              <a:solidFill>
                <a:srgbClr val="121212"/>
              </a:solidFill>
              <a:latin typeface="+mn-lt"/>
              <a:sym typeface="+mn-ea"/>
            </a:endParaRPr>
          </a:p>
        </p:txBody>
      </p:sp>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2153" t="5437" r="2153" b="2652"/>
          <a:stretch>
            <a:fillRect/>
          </a:stretch>
        </p:blipFill>
        <p:spPr>
          <a:xfrm>
            <a:off x="228714" y="4273040"/>
            <a:ext cx="5029068" cy="2127682"/>
          </a:xfrm>
          <a:prstGeom prst="rect">
            <a:avLst/>
          </a:prstGeom>
        </p:spPr>
      </p:pic>
      <mc:AlternateContent xmlns:mc="http://schemas.openxmlformats.org/markup-compatibility/2006">
        <mc:Choice xmlns:a14="http://schemas.microsoft.com/office/drawing/2010/main" Requires="a14">
          <p:sp>
            <p:nvSpPr>
              <p:cNvPr id="6" name="文本框 5"/>
              <p:cNvSpPr txBox="1"/>
              <p:nvPr/>
            </p:nvSpPr>
            <p:spPr>
              <a:xfrm>
                <a:off x="5638772" y="4094866"/>
                <a:ext cx="3405645" cy="263546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en-US" altLang="zh-CN" sz="1800" i="1" dirty="0">
                    <a:solidFill>
                      <a:srgbClr val="121212"/>
                    </a:solidFill>
                    <a:latin typeface="+mn-lt"/>
                    <a:ea typeface="黑体" panose="02010609060101010101" pitchFamily="49" charset="-122"/>
                    <a:sym typeface="+mn-ea"/>
                  </a:rPr>
                  <a:t>D</a:t>
                </a:r>
                <a:r>
                  <a:rPr lang="en-US" altLang="zh-CN" sz="1800" baseline="-25000" dirty="0">
                    <a:solidFill>
                      <a:srgbClr val="121212"/>
                    </a:solidFill>
                    <a:latin typeface="+mn-lt"/>
                    <a:ea typeface="黑体" panose="02010609060101010101" pitchFamily="49" charset="-122"/>
                    <a:sym typeface="+mn-ea"/>
                  </a:rPr>
                  <a:t>-</a:t>
                </a:r>
                <a:r>
                  <a:rPr lang="en-US" altLang="zh-CN" sz="1800" baseline="-25000" dirty="0">
                    <a:solidFill>
                      <a:srgbClr val="121212"/>
                    </a:solidFill>
                    <a:latin typeface="+mn-lt"/>
                    <a:sym typeface="+mn-ea"/>
                  </a:rPr>
                  <a:t>,</a:t>
                </a:r>
                <a:r>
                  <a:rPr lang="en-US" altLang="zh-CN" sz="1800" baseline="-25000" dirty="0">
                    <a:solidFill>
                      <a:srgbClr val="121212"/>
                    </a:solidFill>
                    <a:latin typeface="+mn-lt"/>
                    <a:ea typeface="黑体" panose="02010609060101010101" pitchFamily="49" charset="-122"/>
                    <a:sym typeface="+mn-ea"/>
                  </a:rPr>
                  <a:t>-</a:t>
                </a:r>
                <a:r>
                  <a:rPr lang="zh-CN" altLang="en-US" sz="1800" dirty="0">
                    <a:solidFill>
                      <a:srgbClr val="121212"/>
                    </a:solidFill>
                    <a:latin typeface="+mn-lt"/>
                    <a:ea typeface="黑体" panose="02010609060101010101" pitchFamily="49" charset="-122"/>
                    <a:sym typeface="+mn-ea"/>
                  </a:rPr>
                  <a:t>表示用户数据条块</a:t>
                </a:r>
                <a:endParaRPr lang="en-US" altLang="zh-CN" sz="1800" dirty="0">
                  <a:solidFill>
                    <a:srgbClr val="121212"/>
                  </a:solidFill>
                  <a:latin typeface="+mn-lt"/>
                  <a:ea typeface="黑体" panose="02010609060101010101" pitchFamily="49" charset="-122"/>
                  <a:sym typeface="+mn-ea"/>
                </a:endParaRPr>
              </a:p>
              <a:p>
                <a:pPr>
                  <a:lnSpc>
                    <a:spcPts val="3400"/>
                  </a:lnSpc>
                </a:pPr>
                <a:r>
                  <a:rPr lang="en-US" altLang="zh-CN" sz="1800" i="1" dirty="0">
                    <a:solidFill>
                      <a:srgbClr val="121212"/>
                    </a:solidFill>
                    <a:latin typeface="+mn-lt"/>
                    <a:sym typeface="+mn-ea"/>
                  </a:rPr>
                  <a:t>P</a:t>
                </a:r>
                <a:r>
                  <a:rPr lang="en-US" altLang="zh-CN" sz="1800" baseline="-25000" dirty="0">
                    <a:solidFill>
                      <a:srgbClr val="121212"/>
                    </a:solidFill>
                    <a:latin typeface="+mn-lt"/>
                    <a:sym typeface="+mn-ea"/>
                  </a:rPr>
                  <a:t>-,-</a:t>
                </a:r>
                <a:r>
                  <a:rPr lang="zh-CN" altLang="en-US" sz="1800" dirty="0">
                    <a:solidFill>
                      <a:srgbClr val="121212"/>
                    </a:solidFill>
                    <a:latin typeface="+mn-lt"/>
                    <a:sym typeface="+mn-ea"/>
                  </a:rPr>
                  <a:t>表示校验条块</a:t>
                </a:r>
                <a:endParaRPr lang="en-US" altLang="zh-CN" sz="1800" dirty="0">
                  <a:solidFill>
                    <a:srgbClr val="121212"/>
                  </a:solidFill>
                  <a:latin typeface="+mn-lt"/>
                  <a:sym typeface="+mn-ea"/>
                </a:endParaRPr>
              </a:p>
              <a:p>
                <a:pPr>
                  <a:lnSpc>
                    <a:spcPts val="3400"/>
                  </a:lnSpc>
                </a:pPr>
                <a:r>
                  <a:rPr lang="en-US" altLang="zh-CN" sz="1800" i="1" dirty="0">
                    <a:solidFill>
                      <a:srgbClr val="121212"/>
                    </a:solidFill>
                    <a:latin typeface="+mn-lt"/>
                    <a:sym typeface="+mn-ea"/>
                  </a:rPr>
                  <a:t>P</a:t>
                </a:r>
                <a:r>
                  <a:rPr lang="en-US" altLang="zh-CN" sz="1800" i="1" baseline="-25000" dirty="0">
                    <a:solidFill>
                      <a:srgbClr val="121212"/>
                    </a:solidFill>
                    <a:latin typeface="+mn-lt"/>
                    <a:sym typeface="+mn-ea"/>
                  </a:rPr>
                  <a:t>i</a:t>
                </a:r>
                <a:r>
                  <a:rPr lang="en-US" altLang="zh-CN" sz="1800" baseline="-25000" dirty="0">
                    <a:solidFill>
                      <a:srgbClr val="121212"/>
                    </a:solidFill>
                    <a:latin typeface="+mn-lt"/>
                    <a:sym typeface="+mn-ea"/>
                  </a:rPr>
                  <a:t>,*</a:t>
                </a:r>
                <a:r>
                  <a:rPr lang="en-US" altLang="zh-CN" sz="1800" dirty="0">
                    <a:solidFill>
                      <a:srgbClr val="121212"/>
                    </a:solidFill>
                    <a:latin typeface="+mn-lt"/>
                    <a:sym typeface="+mn-ea"/>
                  </a:rPr>
                  <a:t>=</a:t>
                </a:r>
                <a14:m>
                  <m:oMath xmlns:m="http://schemas.openxmlformats.org/officeDocument/2006/math">
                    <m:sSubSup>
                      <m:sSubSupPr>
                        <m:ctrlPr>
                          <a:rPr lang="en-US" altLang="zh-CN" sz="1800" i="1" smtClean="0">
                            <a:solidFill>
                              <a:srgbClr val="121212"/>
                            </a:solidFill>
                            <a:latin typeface="Cambria Math" panose="02040503050406030204" pitchFamily="18" charset="0"/>
                            <a:ea typeface="Cambria Math" panose="02040503050406030204" pitchFamily="18" charset="0"/>
                            <a:sym typeface="+mn-ea"/>
                          </a:rPr>
                        </m:ctrlPr>
                      </m:sSubSupPr>
                      <m:e>
                        <m:r>
                          <a:rPr lang="en-US" altLang="zh-CN" sz="1800" i="0">
                            <a:solidFill>
                              <a:srgbClr val="121212"/>
                            </a:solidFill>
                            <a:latin typeface="Cambria Math" panose="02040503050406030204" pitchFamily="18" charset="0"/>
                            <a:ea typeface="Cambria Math" panose="02040503050406030204" pitchFamily="18" charset="0"/>
                            <a:sym typeface="+mn-ea"/>
                          </a:rPr>
                          <m:t>∑</m:t>
                        </m:r>
                      </m:e>
                      <m:sub>
                        <m:r>
                          <a:rPr lang="en-US" altLang="zh-CN" sz="1800" b="0" i="1" smtClean="0">
                            <a:solidFill>
                              <a:srgbClr val="121212"/>
                            </a:solidFill>
                            <a:latin typeface="Cambria Math" panose="02040503050406030204" pitchFamily="18" charset="0"/>
                            <a:ea typeface="Cambria Math" panose="02040503050406030204" pitchFamily="18" charset="0"/>
                            <a:sym typeface="+mn-ea"/>
                          </a:rPr>
                          <m:t>𝑗</m:t>
                        </m:r>
                        <m:r>
                          <a:rPr lang="en-US" altLang="zh-CN" sz="1800" b="0" i="0" smtClean="0">
                            <a:solidFill>
                              <a:srgbClr val="121212"/>
                            </a:solidFill>
                            <a:latin typeface="Cambria Math" panose="02040503050406030204" pitchFamily="18" charset="0"/>
                            <a:ea typeface="Cambria Math" panose="02040503050406030204" pitchFamily="18" charset="0"/>
                            <a:sym typeface="+mn-ea"/>
                          </a:rPr>
                          <m:t>=</m:t>
                        </m:r>
                        <m:r>
                          <a:rPr lang="en-US" altLang="zh-CN" sz="1800" b="0" i="0" smtClean="0">
                            <a:solidFill>
                              <a:srgbClr val="121212"/>
                            </a:solidFill>
                            <a:latin typeface="Cambria Math" panose="02040503050406030204" pitchFamily="18" charset="0"/>
                            <a:ea typeface="Cambria Math" panose="02040503050406030204" pitchFamily="18" charset="0"/>
                            <a:sym typeface="+mn-ea"/>
                          </a:rPr>
                          <m:t>0</m:t>
                        </m:r>
                      </m:sub>
                      <m:sup>
                        <m:sSub>
                          <m:sSubPr>
                            <m:ctrlPr>
                              <a:rPr lang="en-US" altLang="zh-CN" sz="1800" i="1" smtClean="0">
                                <a:solidFill>
                                  <a:srgbClr val="121212"/>
                                </a:solidFill>
                                <a:latin typeface="Cambria Math" panose="02040503050406030204" pitchFamily="18" charset="0"/>
                                <a:ea typeface="Cambria Math" panose="02040503050406030204" pitchFamily="18" charset="0"/>
                                <a:sym typeface="+mn-ea"/>
                              </a:rPr>
                            </m:ctrlPr>
                          </m:sSubPr>
                          <m:e>
                            <m:r>
                              <a:rPr lang="en-US" altLang="zh-CN" sz="1800" b="0" i="1" smtClean="0">
                                <a:solidFill>
                                  <a:srgbClr val="121212"/>
                                </a:solidFill>
                                <a:latin typeface="Cambria Math" panose="02040503050406030204" pitchFamily="18" charset="0"/>
                                <a:ea typeface="Cambria Math" panose="02040503050406030204" pitchFamily="18" charset="0"/>
                                <a:sym typeface="+mn-ea"/>
                              </a:rPr>
                              <m:t>𝐾</m:t>
                            </m:r>
                          </m:e>
                          <m:sub>
                            <m:r>
                              <a:rPr lang="en-US" altLang="zh-CN" sz="1800" b="0" i="0" smtClean="0">
                                <a:solidFill>
                                  <a:srgbClr val="121212"/>
                                </a:solidFill>
                                <a:latin typeface="Cambria Math" panose="02040503050406030204" pitchFamily="18" charset="0"/>
                                <a:ea typeface="Cambria Math" panose="02040503050406030204" pitchFamily="18" charset="0"/>
                                <a:sym typeface="+mn-ea"/>
                              </a:rPr>
                              <m:t>2</m:t>
                            </m:r>
                          </m:sub>
                        </m:sSub>
                        <m:r>
                          <a:rPr lang="en-US" altLang="zh-CN" sz="1800" b="0" i="0" smtClean="0">
                            <a:solidFill>
                              <a:srgbClr val="121212"/>
                            </a:solidFill>
                            <a:latin typeface="Cambria Math" panose="02040503050406030204" pitchFamily="18" charset="0"/>
                            <a:ea typeface="Cambria Math" panose="02040503050406030204" pitchFamily="18" charset="0"/>
                            <a:sym typeface="+mn-ea"/>
                          </a:rPr>
                          <m:t>−</m:t>
                        </m:r>
                        <m:r>
                          <a:rPr lang="en-US" altLang="zh-CN" sz="1800" b="0" i="0" smtClean="0">
                            <a:solidFill>
                              <a:srgbClr val="121212"/>
                            </a:solidFill>
                            <a:latin typeface="Cambria Math" panose="02040503050406030204" pitchFamily="18" charset="0"/>
                            <a:ea typeface="Cambria Math" panose="02040503050406030204" pitchFamily="18" charset="0"/>
                            <a:sym typeface="+mn-ea"/>
                          </a:rPr>
                          <m:t>1</m:t>
                        </m:r>
                      </m:sup>
                    </m:sSubSup>
                  </m:oMath>
                </a14:m>
                <a:r>
                  <a:rPr lang="en-US" altLang="zh-CN" sz="1800" i="1" dirty="0" err="1">
                    <a:solidFill>
                      <a:srgbClr val="121212"/>
                    </a:solidFill>
                    <a:latin typeface="+mn-lt"/>
                    <a:sym typeface="+mn-ea"/>
                  </a:rPr>
                  <a:t>D</a:t>
                </a:r>
                <a:r>
                  <a:rPr lang="en-US" altLang="zh-CN" sz="1800" i="1" baseline="-25000" dirty="0" err="1">
                    <a:solidFill>
                      <a:srgbClr val="121212"/>
                    </a:solidFill>
                    <a:latin typeface="+mn-lt"/>
                    <a:sym typeface="+mn-ea"/>
                  </a:rPr>
                  <a:t>i,j</a:t>
                </a:r>
                <a:endParaRPr lang="en-US" altLang="zh-CN" sz="1800" i="1" baseline="-25000" dirty="0">
                  <a:solidFill>
                    <a:srgbClr val="121212"/>
                  </a:solidFill>
                  <a:latin typeface="+mn-lt"/>
                  <a:sym typeface="+mn-ea"/>
                </a:endParaRPr>
              </a:p>
              <a:p>
                <a:pPr>
                  <a:lnSpc>
                    <a:spcPts val="3400"/>
                  </a:lnSpc>
                </a:pPr>
                <a:r>
                  <a:rPr lang="en-US" altLang="zh-CN" sz="1800" i="1" dirty="0">
                    <a:solidFill>
                      <a:srgbClr val="121212"/>
                    </a:solidFill>
                    <a:latin typeface="+mn-lt"/>
                    <a:sym typeface="+mn-ea"/>
                  </a:rPr>
                  <a:t>P</a:t>
                </a:r>
                <a:r>
                  <a:rPr lang="en-US" altLang="zh-CN" sz="1800" i="1" baseline="-25000" dirty="0">
                    <a:solidFill>
                      <a:srgbClr val="121212"/>
                    </a:solidFill>
                    <a:latin typeface="+mn-lt"/>
                    <a:sym typeface="+mn-ea"/>
                  </a:rPr>
                  <a:t>*,j</a:t>
                </a:r>
                <a:r>
                  <a:rPr lang="en-US" altLang="zh-CN" sz="1800" dirty="0">
                    <a:solidFill>
                      <a:srgbClr val="121212"/>
                    </a:solidFill>
                    <a:latin typeface="+mn-lt"/>
                    <a:sym typeface="+mn-ea"/>
                  </a:rPr>
                  <a:t>=</a:t>
                </a:r>
                <a14:m>
                  <m:oMath xmlns:m="http://schemas.openxmlformats.org/officeDocument/2006/math">
                    <m:sSubSup>
                      <m:sSubSupPr>
                        <m:ctrlPr>
                          <a:rPr lang="en-US" altLang="zh-CN" sz="1800" i="1" smtClean="0">
                            <a:solidFill>
                              <a:srgbClr val="121212"/>
                            </a:solidFill>
                            <a:latin typeface="Cambria Math" panose="02040503050406030204" pitchFamily="18" charset="0"/>
                            <a:ea typeface="Cambria Math" panose="02040503050406030204" pitchFamily="18" charset="0"/>
                            <a:sym typeface="+mn-ea"/>
                          </a:rPr>
                        </m:ctrlPr>
                      </m:sSubSupPr>
                      <m:e>
                        <m:r>
                          <a:rPr lang="en-US" altLang="zh-CN" sz="1800" i="0">
                            <a:solidFill>
                              <a:srgbClr val="121212"/>
                            </a:solidFill>
                            <a:latin typeface="Cambria Math" panose="02040503050406030204" pitchFamily="18" charset="0"/>
                            <a:ea typeface="Cambria Math" panose="02040503050406030204" pitchFamily="18" charset="0"/>
                            <a:sym typeface="+mn-ea"/>
                          </a:rPr>
                          <m:t>∑</m:t>
                        </m:r>
                      </m:e>
                      <m:sub>
                        <m:r>
                          <a:rPr lang="en-US" altLang="zh-CN" sz="1800" b="0" i="1" smtClean="0">
                            <a:solidFill>
                              <a:srgbClr val="121212"/>
                            </a:solidFill>
                            <a:latin typeface="Cambria Math" panose="02040503050406030204" pitchFamily="18" charset="0"/>
                            <a:ea typeface="Cambria Math" panose="02040503050406030204" pitchFamily="18" charset="0"/>
                            <a:sym typeface="+mn-ea"/>
                          </a:rPr>
                          <m:t>𝑖</m:t>
                        </m:r>
                        <m:r>
                          <a:rPr lang="en-US" altLang="zh-CN" sz="1800" b="0" i="0" smtClean="0">
                            <a:solidFill>
                              <a:srgbClr val="121212"/>
                            </a:solidFill>
                            <a:latin typeface="Cambria Math" panose="02040503050406030204" pitchFamily="18" charset="0"/>
                            <a:ea typeface="Cambria Math" panose="02040503050406030204" pitchFamily="18" charset="0"/>
                            <a:sym typeface="+mn-ea"/>
                          </a:rPr>
                          <m:t>=</m:t>
                        </m:r>
                        <m:r>
                          <a:rPr lang="en-US" altLang="zh-CN" sz="1800" b="0" i="0" smtClean="0">
                            <a:solidFill>
                              <a:srgbClr val="121212"/>
                            </a:solidFill>
                            <a:latin typeface="Cambria Math" panose="02040503050406030204" pitchFamily="18" charset="0"/>
                            <a:ea typeface="Cambria Math" panose="02040503050406030204" pitchFamily="18" charset="0"/>
                            <a:sym typeface="+mn-ea"/>
                          </a:rPr>
                          <m:t>0</m:t>
                        </m:r>
                      </m:sub>
                      <m:sup>
                        <m:sSub>
                          <m:sSubPr>
                            <m:ctrlPr>
                              <a:rPr lang="en-US" altLang="zh-CN" sz="1800" i="1" smtClean="0">
                                <a:solidFill>
                                  <a:srgbClr val="121212"/>
                                </a:solidFill>
                                <a:latin typeface="Cambria Math" panose="02040503050406030204" pitchFamily="18" charset="0"/>
                                <a:ea typeface="Cambria Math" panose="02040503050406030204" pitchFamily="18" charset="0"/>
                                <a:sym typeface="+mn-ea"/>
                              </a:rPr>
                            </m:ctrlPr>
                          </m:sSubPr>
                          <m:e>
                            <m:r>
                              <a:rPr lang="en-US" altLang="zh-CN" sz="1800" b="0" i="1" smtClean="0">
                                <a:solidFill>
                                  <a:srgbClr val="121212"/>
                                </a:solidFill>
                                <a:latin typeface="Cambria Math" panose="02040503050406030204" pitchFamily="18" charset="0"/>
                                <a:ea typeface="Cambria Math" panose="02040503050406030204" pitchFamily="18" charset="0"/>
                                <a:sym typeface="+mn-ea"/>
                              </a:rPr>
                              <m:t>𝐾</m:t>
                            </m:r>
                          </m:e>
                          <m:sub>
                            <m:r>
                              <a:rPr lang="en-US" altLang="zh-CN" sz="1800" b="0" i="0" smtClean="0">
                                <a:solidFill>
                                  <a:srgbClr val="121212"/>
                                </a:solidFill>
                                <a:latin typeface="Cambria Math" panose="02040503050406030204" pitchFamily="18" charset="0"/>
                                <a:ea typeface="Cambria Math" panose="02040503050406030204" pitchFamily="18" charset="0"/>
                                <a:sym typeface="+mn-ea"/>
                              </a:rPr>
                              <m:t>1</m:t>
                            </m:r>
                          </m:sub>
                        </m:sSub>
                        <m:r>
                          <a:rPr lang="en-US" altLang="zh-CN" sz="1800" b="0" i="0" smtClean="0">
                            <a:solidFill>
                              <a:srgbClr val="121212"/>
                            </a:solidFill>
                            <a:latin typeface="Cambria Math" panose="02040503050406030204" pitchFamily="18" charset="0"/>
                            <a:ea typeface="Cambria Math" panose="02040503050406030204" pitchFamily="18" charset="0"/>
                            <a:sym typeface="+mn-ea"/>
                          </a:rPr>
                          <m:t>−</m:t>
                        </m:r>
                        <m:r>
                          <a:rPr lang="en-US" altLang="zh-CN" sz="1800" b="0" i="0" smtClean="0">
                            <a:solidFill>
                              <a:srgbClr val="121212"/>
                            </a:solidFill>
                            <a:latin typeface="Cambria Math" panose="02040503050406030204" pitchFamily="18" charset="0"/>
                            <a:ea typeface="Cambria Math" panose="02040503050406030204" pitchFamily="18" charset="0"/>
                            <a:sym typeface="+mn-ea"/>
                          </a:rPr>
                          <m:t>1</m:t>
                        </m:r>
                      </m:sup>
                    </m:sSubSup>
                  </m:oMath>
                </a14:m>
                <a:r>
                  <a:rPr lang="en-US" altLang="zh-CN" sz="1800" i="1" dirty="0" err="1">
                    <a:solidFill>
                      <a:srgbClr val="121212"/>
                    </a:solidFill>
                    <a:latin typeface="+mn-lt"/>
                    <a:sym typeface="+mn-ea"/>
                  </a:rPr>
                  <a:t>D</a:t>
                </a:r>
                <a:r>
                  <a:rPr lang="en-US" altLang="zh-CN" sz="1800" i="1" baseline="-25000" dirty="0" err="1">
                    <a:solidFill>
                      <a:srgbClr val="121212"/>
                    </a:solidFill>
                    <a:latin typeface="+mn-lt"/>
                    <a:sym typeface="+mn-ea"/>
                  </a:rPr>
                  <a:t>i,j</a:t>
                </a:r>
                <a:endParaRPr lang="en-US" altLang="zh-CN" sz="1800" i="1" baseline="-25000" dirty="0">
                  <a:solidFill>
                    <a:srgbClr val="121212"/>
                  </a:solidFill>
                  <a:latin typeface="+mn-lt"/>
                  <a:sym typeface="+mn-ea"/>
                </a:endParaRPr>
              </a:p>
              <a:p>
                <a:pPr>
                  <a:lnSpc>
                    <a:spcPts val="3400"/>
                  </a:lnSpc>
                </a:pPr>
                <a:r>
                  <a:rPr lang="en-US" altLang="zh-CN" sz="1800" i="1" dirty="0">
                    <a:solidFill>
                      <a:srgbClr val="121212"/>
                    </a:solidFill>
                    <a:latin typeface="+mn-lt"/>
                    <a:sym typeface="+mn-ea"/>
                  </a:rPr>
                  <a:t>P</a:t>
                </a:r>
                <a:r>
                  <a:rPr lang="en-US" altLang="zh-CN" sz="1800" i="1" baseline="-25000" dirty="0">
                    <a:solidFill>
                      <a:srgbClr val="121212"/>
                    </a:solidFill>
                    <a:latin typeface="+mn-lt"/>
                    <a:sym typeface="+mn-ea"/>
                  </a:rPr>
                  <a:t>*,j</a:t>
                </a:r>
                <a:r>
                  <a:rPr lang="en-US" altLang="zh-CN" sz="1800" dirty="0">
                    <a:solidFill>
                      <a:srgbClr val="121212"/>
                    </a:solidFill>
                    <a:latin typeface="+mn-lt"/>
                    <a:sym typeface="+mn-ea"/>
                  </a:rPr>
                  <a:t>=</a:t>
                </a:r>
                <a14:m>
                  <m:oMath xmlns:m="http://schemas.openxmlformats.org/officeDocument/2006/math">
                    <m:sSubSup>
                      <m:sSubSupPr>
                        <m:ctrlPr>
                          <a:rPr lang="en-US" altLang="zh-CN" sz="1800" i="1" smtClean="0">
                            <a:solidFill>
                              <a:srgbClr val="121212"/>
                            </a:solidFill>
                            <a:latin typeface="Cambria Math" panose="02040503050406030204" pitchFamily="18" charset="0"/>
                            <a:ea typeface="Cambria Math" panose="02040503050406030204" pitchFamily="18" charset="0"/>
                            <a:sym typeface="+mn-ea"/>
                          </a:rPr>
                        </m:ctrlPr>
                      </m:sSubSupPr>
                      <m:e>
                        <m:r>
                          <a:rPr lang="en-US" altLang="zh-CN" sz="1800" i="0">
                            <a:solidFill>
                              <a:srgbClr val="121212"/>
                            </a:solidFill>
                            <a:latin typeface="Cambria Math" panose="02040503050406030204" pitchFamily="18" charset="0"/>
                            <a:ea typeface="Cambria Math" panose="02040503050406030204" pitchFamily="18" charset="0"/>
                            <a:sym typeface="+mn-ea"/>
                          </a:rPr>
                          <m:t>∑</m:t>
                        </m:r>
                      </m:e>
                      <m:sub>
                        <m:r>
                          <a:rPr lang="en-US" altLang="zh-CN" sz="1800" b="0" i="1" smtClean="0">
                            <a:solidFill>
                              <a:srgbClr val="121212"/>
                            </a:solidFill>
                            <a:latin typeface="Cambria Math" panose="02040503050406030204" pitchFamily="18" charset="0"/>
                            <a:ea typeface="Cambria Math" panose="02040503050406030204" pitchFamily="18" charset="0"/>
                            <a:sym typeface="+mn-ea"/>
                          </a:rPr>
                          <m:t>𝑖</m:t>
                        </m:r>
                        <m:r>
                          <a:rPr lang="en-US" altLang="zh-CN" sz="1800" b="0" i="0" smtClean="0">
                            <a:solidFill>
                              <a:srgbClr val="121212"/>
                            </a:solidFill>
                            <a:latin typeface="Cambria Math" panose="02040503050406030204" pitchFamily="18" charset="0"/>
                            <a:ea typeface="Cambria Math" panose="02040503050406030204" pitchFamily="18" charset="0"/>
                            <a:sym typeface="+mn-ea"/>
                          </a:rPr>
                          <m:t>=</m:t>
                        </m:r>
                        <m:r>
                          <a:rPr lang="en-US" altLang="zh-CN" sz="1800" b="0" i="0" smtClean="0">
                            <a:solidFill>
                              <a:srgbClr val="121212"/>
                            </a:solidFill>
                            <a:latin typeface="Cambria Math" panose="02040503050406030204" pitchFamily="18" charset="0"/>
                            <a:ea typeface="Cambria Math" panose="02040503050406030204" pitchFamily="18" charset="0"/>
                            <a:sym typeface="+mn-ea"/>
                          </a:rPr>
                          <m:t>0</m:t>
                        </m:r>
                      </m:sub>
                      <m:sup>
                        <m:sSub>
                          <m:sSubPr>
                            <m:ctrlPr>
                              <a:rPr lang="en-US" altLang="zh-CN" sz="1800" i="1" smtClean="0">
                                <a:solidFill>
                                  <a:srgbClr val="121212"/>
                                </a:solidFill>
                                <a:latin typeface="Cambria Math" panose="02040503050406030204" pitchFamily="18" charset="0"/>
                                <a:ea typeface="Cambria Math" panose="02040503050406030204" pitchFamily="18" charset="0"/>
                                <a:sym typeface="+mn-ea"/>
                              </a:rPr>
                            </m:ctrlPr>
                          </m:sSubPr>
                          <m:e>
                            <m:r>
                              <a:rPr lang="en-US" altLang="zh-CN" sz="1800" b="0" i="1" smtClean="0">
                                <a:solidFill>
                                  <a:srgbClr val="121212"/>
                                </a:solidFill>
                                <a:latin typeface="Cambria Math" panose="02040503050406030204" pitchFamily="18" charset="0"/>
                                <a:ea typeface="Cambria Math" panose="02040503050406030204" pitchFamily="18" charset="0"/>
                                <a:sym typeface="+mn-ea"/>
                              </a:rPr>
                              <m:t>𝐾</m:t>
                            </m:r>
                          </m:e>
                          <m:sub>
                            <m:r>
                              <a:rPr lang="en-US" altLang="zh-CN" sz="1800" b="0" i="0" smtClean="0">
                                <a:solidFill>
                                  <a:srgbClr val="121212"/>
                                </a:solidFill>
                                <a:latin typeface="Cambria Math" panose="02040503050406030204" pitchFamily="18" charset="0"/>
                                <a:ea typeface="Cambria Math" panose="02040503050406030204" pitchFamily="18" charset="0"/>
                                <a:sym typeface="+mn-ea"/>
                              </a:rPr>
                              <m:t>1</m:t>
                            </m:r>
                          </m:sub>
                        </m:sSub>
                        <m:r>
                          <a:rPr lang="en-US" altLang="zh-CN" sz="1800" b="0" i="0" smtClean="0">
                            <a:solidFill>
                              <a:srgbClr val="121212"/>
                            </a:solidFill>
                            <a:latin typeface="Cambria Math" panose="02040503050406030204" pitchFamily="18" charset="0"/>
                            <a:ea typeface="Cambria Math" panose="02040503050406030204" pitchFamily="18" charset="0"/>
                            <a:sym typeface="+mn-ea"/>
                          </a:rPr>
                          <m:t>−</m:t>
                        </m:r>
                        <m:r>
                          <a:rPr lang="en-US" altLang="zh-CN" sz="1800" b="0" i="0" smtClean="0">
                            <a:solidFill>
                              <a:srgbClr val="121212"/>
                            </a:solidFill>
                            <a:latin typeface="Cambria Math" panose="02040503050406030204" pitchFamily="18" charset="0"/>
                            <a:ea typeface="Cambria Math" panose="02040503050406030204" pitchFamily="18" charset="0"/>
                            <a:sym typeface="+mn-ea"/>
                          </a:rPr>
                          <m:t>1</m:t>
                        </m:r>
                      </m:sup>
                    </m:sSubSup>
                  </m:oMath>
                </a14:m>
                <a:r>
                  <a:rPr lang="en-US" altLang="zh-CN" sz="1800" dirty="0">
                    <a:solidFill>
                      <a:srgbClr val="121212"/>
                    </a:solidFill>
                    <a:latin typeface="+mn-lt"/>
                    <a:ea typeface="Cambria Math" panose="02040503050406030204" pitchFamily="18" charset="0"/>
                    <a:sym typeface="+mn-ea"/>
                  </a:rPr>
                  <a:t> </a:t>
                </a:r>
                <a14:m>
                  <m:oMath xmlns:m="http://schemas.openxmlformats.org/officeDocument/2006/math">
                    <m:sSubSup>
                      <m:sSubSupPr>
                        <m:ctrlPr>
                          <a:rPr lang="en-US" altLang="zh-CN" sz="1800" i="1">
                            <a:solidFill>
                              <a:srgbClr val="121212"/>
                            </a:solidFill>
                            <a:latin typeface="Cambria Math" panose="02040503050406030204" pitchFamily="18" charset="0"/>
                            <a:ea typeface="Cambria Math" panose="02040503050406030204" pitchFamily="18" charset="0"/>
                            <a:sym typeface="+mn-ea"/>
                          </a:rPr>
                        </m:ctrlPr>
                      </m:sSubSupPr>
                      <m:e>
                        <m:r>
                          <a:rPr lang="en-US" altLang="zh-CN" sz="1800" i="0">
                            <a:solidFill>
                              <a:srgbClr val="121212"/>
                            </a:solidFill>
                            <a:latin typeface="Cambria Math" panose="02040503050406030204" pitchFamily="18" charset="0"/>
                            <a:ea typeface="Cambria Math" panose="02040503050406030204" pitchFamily="18" charset="0"/>
                            <a:sym typeface="+mn-ea"/>
                          </a:rPr>
                          <m:t>∑</m:t>
                        </m:r>
                      </m:e>
                      <m:sub>
                        <m:r>
                          <a:rPr lang="en-US" altLang="zh-CN" sz="1800" i="1">
                            <a:solidFill>
                              <a:srgbClr val="121212"/>
                            </a:solidFill>
                            <a:latin typeface="Cambria Math" panose="02040503050406030204" pitchFamily="18" charset="0"/>
                            <a:ea typeface="Cambria Math" panose="02040503050406030204" pitchFamily="18" charset="0"/>
                            <a:sym typeface="+mn-ea"/>
                          </a:rPr>
                          <m:t>𝑗</m:t>
                        </m:r>
                        <m:r>
                          <a:rPr lang="en-US" altLang="zh-CN" sz="1800" i="0">
                            <a:solidFill>
                              <a:srgbClr val="121212"/>
                            </a:solidFill>
                            <a:latin typeface="Cambria Math" panose="02040503050406030204" pitchFamily="18" charset="0"/>
                            <a:ea typeface="Cambria Math" panose="02040503050406030204" pitchFamily="18" charset="0"/>
                            <a:sym typeface="+mn-ea"/>
                          </a:rPr>
                          <m:t>=</m:t>
                        </m:r>
                        <m:r>
                          <a:rPr lang="en-US" altLang="zh-CN" sz="1800" i="0">
                            <a:solidFill>
                              <a:srgbClr val="121212"/>
                            </a:solidFill>
                            <a:latin typeface="Cambria Math" panose="02040503050406030204" pitchFamily="18" charset="0"/>
                            <a:ea typeface="Cambria Math" panose="02040503050406030204" pitchFamily="18" charset="0"/>
                            <a:sym typeface="+mn-ea"/>
                          </a:rPr>
                          <m:t>0</m:t>
                        </m:r>
                      </m:sub>
                      <m:sup>
                        <m:sSub>
                          <m:sSubPr>
                            <m:ctrlPr>
                              <a:rPr lang="en-US" altLang="zh-CN" sz="1800" i="1">
                                <a:solidFill>
                                  <a:srgbClr val="121212"/>
                                </a:solidFill>
                                <a:latin typeface="Cambria Math" panose="02040503050406030204" pitchFamily="18" charset="0"/>
                                <a:ea typeface="Cambria Math" panose="02040503050406030204" pitchFamily="18" charset="0"/>
                                <a:sym typeface="+mn-ea"/>
                              </a:rPr>
                            </m:ctrlPr>
                          </m:sSubPr>
                          <m:e>
                            <m:r>
                              <a:rPr lang="en-US" altLang="zh-CN" sz="1800" i="1">
                                <a:solidFill>
                                  <a:srgbClr val="121212"/>
                                </a:solidFill>
                                <a:latin typeface="Cambria Math" panose="02040503050406030204" pitchFamily="18" charset="0"/>
                                <a:ea typeface="Cambria Math" panose="02040503050406030204" pitchFamily="18" charset="0"/>
                                <a:sym typeface="+mn-ea"/>
                              </a:rPr>
                              <m:t>𝐾</m:t>
                            </m:r>
                          </m:e>
                          <m:sub>
                            <m:r>
                              <a:rPr lang="en-US" altLang="zh-CN" sz="1800" i="0">
                                <a:solidFill>
                                  <a:srgbClr val="121212"/>
                                </a:solidFill>
                                <a:latin typeface="Cambria Math" panose="02040503050406030204" pitchFamily="18" charset="0"/>
                                <a:ea typeface="Cambria Math" panose="02040503050406030204" pitchFamily="18" charset="0"/>
                                <a:sym typeface="+mn-ea"/>
                              </a:rPr>
                              <m:t>2</m:t>
                            </m:r>
                          </m:sub>
                        </m:sSub>
                        <m:r>
                          <a:rPr lang="en-US" altLang="zh-CN" sz="1800" i="0">
                            <a:solidFill>
                              <a:srgbClr val="121212"/>
                            </a:solidFill>
                            <a:latin typeface="Cambria Math" panose="02040503050406030204" pitchFamily="18" charset="0"/>
                            <a:ea typeface="Cambria Math" panose="02040503050406030204" pitchFamily="18" charset="0"/>
                            <a:sym typeface="+mn-ea"/>
                          </a:rPr>
                          <m:t>−</m:t>
                        </m:r>
                        <m:r>
                          <a:rPr lang="en-US" altLang="zh-CN" sz="1800" i="0">
                            <a:solidFill>
                              <a:srgbClr val="121212"/>
                            </a:solidFill>
                            <a:latin typeface="Cambria Math" panose="02040503050406030204" pitchFamily="18" charset="0"/>
                            <a:ea typeface="Cambria Math" panose="02040503050406030204" pitchFamily="18" charset="0"/>
                            <a:sym typeface="+mn-ea"/>
                          </a:rPr>
                          <m:t>1</m:t>
                        </m:r>
                      </m:sup>
                    </m:sSubSup>
                    <m:r>
                      <a:rPr lang="en-US" altLang="zh-CN" sz="1800" i="0">
                        <a:solidFill>
                          <a:srgbClr val="121212"/>
                        </a:solidFill>
                        <a:latin typeface="Cambria Math" panose="02040503050406030204" pitchFamily="18" charset="0"/>
                        <a:ea typeface="Cambria Math" panose="02040503050406030204" pitchFamily="18" charset="0"/>
                        <a:sym typeface="+mn-ea"/>
                      </a:rPr>
                      <m:t> </m:t>
                    </m:r>
                  </m:oMath>
                </a14:m>
                <a:r>
                  <a:rPr lang="en-US" altLang="zh-CN" sz="1800" i="1" dirty="0" err="1">
                    <a:solidFill>
                      <a:srgbClr val="121212"/>
                    </a:solidFill>
                    <a:latin typeface="+mn-lt"/>
                    <a:sym typeface="+mn-ea"/>
                  </a:rPr>
                  <a:t>D</a:t>
                </a:r>
                <a:r>
                  <a:rPr lang="en-US" altLang="zh-CN" sz="1800" i="1" baseline="-25000" dirty="0" err="1">
                    <a:solidFill>
                      <a:srgbClr val="121212"/>
                    </a:solidFill>
                    <a:latin typeface="+mn-lt"/>
                    <a:sym typeface="+mn-ea"/>
                  </a:rPr>
                  <a:t>i,j</a:t>
                </a:r>
                <a:endParaRPr lang="en-US" altLang="zh-CN" sz="1800" i="1" baseline="-25000" dirty="0">
                  <a:solidFill>
                    <a:srgbClr val="121212"/>
                  </a:solidFill>
                  <a:latin typeface="+mn-lt"/>
                  <a:sym typeface="+mn-ea"/>
                </a:endParaRPr>
              </a:p>
              <a:p>
                <a:pPr>
                  <a:lnSpc>
                    <a:spcPts val="3400"/>
                  </a:lnSpc>
                </a:pPr>
                <a:r>
                  <a:rPr lang="en-US" altLang="zh-CN" sz="1800" dirty="0">
                    <a:solidFill>
                      <a:srgbClr val="121212"/>
                    </a:solidFill>
                    <a:latin typeface="+mn-lt"/>
                    <a:sym typeface="+mn-ea"/>
                  </a:rPr>
                  <a:t>(</a:t>
                </a:r>
                <a:r>
                  <a:rPr lang="zh-CN" altLang="en-US" sz="1800" dirty="0">
                    <a:solidFill>
                      <a:srgbClr val="121212"/>
                    </a:solidFill>
                    <a:latin typeface="+mn-lt"/>
                    <a:sym typeface="+mn-ea"/>
                  </a:rPr>
                  <a:t> </a:t>
                </a:r>
                <a:r>
                  <a:rPr lang="en-US" altLang="zh-CN" sz="1800" dirty="0">
                    <a:solidFill>
                      <a:srgbClr val="121212"/>
                    </a:solidFill>
                    <a:latin typeface="+mn-lt"/>
                    <a:sym typeface="+mn-ea"/>
                  </a:rPr>
                  <a:t>0</a:t>
                </a:r>
                <a:r>
                  <a:rPr lang="zh-CN" altLang="en-US" sz="1800" dirty="0">
                    <a:solidFill>
                      <a:srgbClr val="121212"/>
                    </a:solidFill>
                    <a:latin typeface="+mn-lt"/>
                    <a:sym typeface="+mn-ea"/>
                  </a:rPr>
                  <a:t>≤</a:t>
                </a:r>
                <a:r>
                  <a:rPr lang="en-US" altLang="zh-CN" sz="1800" i="1" dirty="0" err="1">
                    <a:solidFill>
                      <a:srgbClr val="121212"/>
                    </a:solidFill>
                    <a:latin typeface="+mn-lt"/>
                    <a:sym typeface="+mn-ea"/>
                  </a:rPr>
                  <a:t>i</a:t>
                </a:r>
                <a:r>
                  <a:rPr lang="zh-CN" altLang="en-US" sz="1800" dirty="0">
                    <a:solidFill>
                      <a:srgbClr val="121212"/>
                    </a:solidFill>
                    <a:latin typeface="+mn-lt"/>
                    <a:sym typeface="+mn-ea"/>
                  </a:rPr>
                  <a:t>≤</a:t>
                </a:r>
                <a:r>
                  <a:rPr lang="en-US" altLang="zh-CN" sz="1800" i="1" dirty="0">
                    <a:solidFill>
                      <a:srgbClr val="121212"/>
                    </a:solidFill>
                    <a:latin typeface="+mn-lt"/>
                    <a:sym typeface="+mn-ea"/>
                  </a:rPr>
                  <a:t>K</a:t>
                </a:r>
                <a:r>
                  <a:rPr lang="en-US" altLang="zh-CN" sz="1800" baseline="-25000" dirty="0">
                    <a:solidFill>
                      <a:srgbClr val="121212"/>
                    </a:solidFill>
                    <a:latin typeface="+mn-lt"/>
                    <a:sym typeface="+mn-ea"/>
                  </a:rPr>
                  <a:t>1</a:t>
                </a:r>
                <a:r>
                  <a:rPr lang="en-US" altLang="zh-CN" sz="1800" dirty="0">
                    <a:solidFill>
                      <a:srgbClr val="121212"/>
                    </a:solidFill>
                    <a:latin typeface="+mn-lt"/>
                    <a:sym typeface="+mn-ea"/>
                  </a:rPr>
                  <a:t>-1 ,  0</a:t>
                </a:r>
                <a:r>
                  <a:rPr lang="zh-CN" altLang="en-US" sz="1800" dirty="0">
                    <a:solidFill>
                      <a:srgbClr val="121212"/>
                    </a:solidFill>
                    <a:latin typeface="+mn-lt"/>
                    <a:sym typeface="+mn-ea"/>
                  </a:rPr>
                  <a:t>≤</a:t>
                </a:r>
                <a:r>
                  <a:rPr lang="en-US" altLang="zh-CN" sz="1800" i="1" dirty="0">
                    <a:solidFill>
                      <a:srgbClr val="121212"/>
                    </a:solidFill>
                    <a:latin typeface="+mn-lt"/>
                    <a:sym typeface="+mn-ea"/>
                  </a:rPr>
                  <a:t>j</a:t>
                </a:r>
                <a:r>
                  <a:rPr lang="zh-CN" altLang="en-US" sz="1800" dirty="0">
                    <a:solidFill>
                      <a:srgbClr val="121212"/>
                    </a:solidFill>
                    <a:latin typeface="+mn-lt"/>
                    <a:sym typeface="+mn-ea"/>
                  </a:rPr>
                  <a:t>≤</a:t>
                </a:r>
                <a:r>
                  <a:rPr lang="en-US" altLang="zh-CN" sz="1800" i="1" dirty="0">
                    <a:solidFill>
                      <a:srgbClr val="121212"/>
                    </a:solidFill>
                    <a:latin typeface="+mn-lt"/>
                    <a:sym typeface="+mn-ea"/>
                  </a:rPr>
                  <a:t>K</a:t>
                </a:r>
                <a:r>
                  <a:rPr lang="en-US" altLang="zh-CN" sz="1800" baseline="-25000" dirty="0">
                    <a:solidFill>
                      <a:srgbClr val="121212"/>
                    </a:solidFill>
                    <a:latin typeface="+mn-lt"/>
                    <a:sym typeface="+mn-ea"/>
                  </a:rPr>
                  <a:t>2</a:t>
                </a:r>
                <a:r>
                  <a:rPr lang="en-US" altLang="zh-CN" sz="1800" dirty="0">
                    <a:solidFill>
                      <a:srgbClr val="121212"/>
                    </a:solidFill>
                    <a:latin typeface="+mn-lt"/>
                    <a:sym typeface="+mn-ea"/>
                  </a:rPr>
                  <a:t>-1) </a:t>
                </a:r>
                <a:endParaRPr lang="en-US" altLang="zh-CN" sz="1800" dirty="0">
                  <a:solidFill>
                    <a:srgbClr val="121212"/>
                  </a:solidFill>
                  <a:latin typeface="+mn-lt"/>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5638772" y="4094866"/>
                <a:ext cx="3405645" cy="2635465"/>
              </a:xfrm>
              <a:prstGeom prst="rect">
                <a:avLst/>
              </a:prstGeom>
              <a:blipFill rotWithShape="1">
                <a:blip r:embed="rId2"/>
                <a:stretch>
                  <a:fillRect l="-18" t="-15" r="3" b="-1760"/>
                </a:stretch>
              </a:blipFill>
            </p:spPr>
            <p:txBody>
              <a:bodyPr/>
              <a:lstStyle/>
              <a:p>
                <a:r>
                  <a:rPr lang="zh-CN" altLang="en-US">
                    <a:noFill/>
                  </a:rPr>
                  <a:t> </a:t>
                </a:r>
              </a:p>
            </p:txBody>
          </p:sp>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104775"/>
            <a:ext cx="4512945" cy="685800"/>
          </a:xfrm>
        </p:spPr>
        <p:txBody>
          <a:bodyPr/>
          <a:lstStyle/>
          <a:p>
            <a:r>
              <a:rPr lang="zh-CN" altLang="en-US" sz="2400" dirty="0">
                <a:sym typeface="+mn-ea"/>
              </a:rPr>
              <a:t>低密度奇偶校验码</a:t>
            </a:r>
            <a:endParaRPr lang="zh-CN" altLang="en-US" sz="2400" dirty="0">
              <a:sym typeface="+mn-ea"/>
            </a:endParaRPr>
          </a:p>
        </p:txBody>
      </p:sp>
      <p:sp>
        <p:nvSpPr>
          <p:cNvPr id="14" name="文本框 13"/>
          <p:cNvSpPr txBox="1"/>
          <p:nvPr/>
        </p:nvSpPr>
        <p:spPr>
          <a:xfrm>
            <a:off x="610445" y="984295"/>
            <a:ext cx="8031498" cy="168821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zh-CN" altLang="en-US" dirty="0">
                <a:solidFill>
                  <a:srgbClr val="121212"/>
                </a:solidFill>
                <a:latin typeface="+mn-lt"/>
                <a:sym typeface="+mn-ea"/>
              </a:rPr>
              <a:t>        </a:t>
            </a:r>
            <a:r>
              <a:rPr lang="zh-CN" altLang="en-US" dirty="0">
                <a:solidFill>
                  <a:srgbClr val="FF0000"/>
                </a:solidFill>
                <a:latin typeface="+mn-lt"/>
                <a:sym typeface="+mn-ea"/>
              </a:rPr>
              <a:t>低密度奇偶校验码</a:t>
            </a:r>
            <a:r>
              <a:rPr lang="en-US" altLang="zh-CN" dirty="0">
                <a:solidFill>
                  <a:srgbClr val="121212"/>
                </a:solidFill>
                <a:latin typeface="+mn-lt"/>
                <a:sym typeface="+mn-ea"/>
              </a:rPr>
              <a:t>(Low-Density Parity-Check </a:t>
            </a:r>
            <a:r>
              <a:rPr lang="en-US" altLang="zh-CN" dirty="0" err="1">
                <a:solidFill>
                  <a:srgbClr val="121212"/>
                </a:solidFill>
                <a:latin typeface="+mn-lt"/>
                <a:sym typeface="+mn-ea"/>
              </a:rPr>
              <a:t>Code,LDPC</a:t>
            </a:r>
            <a:r>
              <a:rPr lang="en-US" altLang="zh-CN" dirty="0">
                <a:solidFill>
                  <a:srgbClr val="121212"/>
                </a:solidFill>
                <a:latin typeface="+mn-lt"/>
                <a:sym typeface="+mn-ea"/>
              </a:rPr>
              <a:t>)</a:t>
            </a:r>
            <a:r>
              <a:rPr lang="zh-CN" altLang="en-US" dirty="0">
                <a:solidFill>
                  <a:srgbClr val="121212"/>
                </a:solidFill>
                <a:latin typeface="+mn-lt"/>
                <a:sym typeface="+mn-ea"/>
              </a:rPr>
              <a:t>最初是为通信链路的容错而设计的，近年来开始在基于广域网的存储应用中被研究。</a:t>
            </a:r>
            <a:r>
              <a:rPr lang="en-US" altLang="zh-CN" dirty="0">
                <a:solidFill>
                  <a:srgbClr val="121212"/>
                </a:solidFill>
                <a:latin typeface="+mn-lt"/>
                <a:sym typeface="+mn-ea"/>
              </a:rPr>
              <a:t>LDPC</a:t>
            </a:r>
            <a:r>
              <a:rPr lang="zh-CN" altLang="en-US" dirty="0">
                <a:solidFill>
                  <a:srgbClr val="121212"/>
                </a:solidFill>
                <a:latin typeface="+mn-lt"/>
                <a:sym typeface="+mn-ea"/>
              </a:rPr>
              <a:t>码的主要优点在于，构造出的高容错</a:t>
            </a:r>
            <a:r>
              <a:rPr lang="en-US" altLang="zh-CN" dirty="0">
                <a:solidFill>
                  <a:srgbClr val="121212"/>
                </a:solidFill>
                <a:latin typeface="+mn-lt"/>
                <a:sym typeface="+mn-ea"/>
              </a:rPr>
              <a:t>LDPC</a:t>
            </a:r>
            <a:r>
              <a:rPr lang="zh-CN" altLang="en-US" dirty="0">
                <a:solidFill>
                  <a:srgbClr val="121212"/>
                </a:solidFill>
                <a:latin typeface="+mn-lt"/>
                <a:sym typeface="+mn-ea"/>
              </a:rPr>
              <a:t>码可以具有接近最高的存储效率并且解码复杂度很低。</a:t>
            </a:r>
            <a:endParaRPr lang="zh-CN" altLang="en-US" dirty="0">
              <a:latin typeface="+mn-lt"/>
              <a:sym typeface="+mn-ea"/>
            </a:endParaRPr>
          </a:p>
        </p:txBody>
      </p:sp>
      <p:sp>
        <p:nvSpPr>
          <p:cNvPr id="4" name="文本框 3"/>
          <p:cNvSpPr txBox="1"/>
          <p:nvPr/>
        </p:nvSpPr>
        <p:spPr>
          <a:xfrm>
            <a:off x="610445" y="2672514"/>
            <a:ext cx="8162077" cy="822597"/>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000"/>
              </a:lnSpc>
            </a:pPr>
            <a:r>
              <a:rPr lang="zh-CN" altLang="en-US" dirty="0">
                <a:latin typeface="+mn-lt"/>
                <a:sym typeface="+mn-ea"/>
              </a:rPr>
              <a:t>        </a:t>
            </a:r>
            <a:r>
              <a:rPr lang="en-US" altLang="zh-CN" dirty="0">
                <a:solidFill>
                  <a:srgbClr val="FF0000"/>
                </a:solidFill>
                <a:latin typeface="+mn-lt"/>
                <a:sym typeface="+mn-ea"/>
              </a:rPr>
              <a:t>LDPC</a:t>
            </a:r>
            <a:r>
              <a:rPr lang="zh-CN" altLang="en-US" dirty="0">
                <a:solidFill>
                  <a:srgbClr val="FF0000"/>
                </a:solidFill>
                <a:latin typeface="+mn-lt"/>
                <a:sym typeface="+mn-ea"/>
              </a:rPr>
              <a:t>码</a:t>
            </a:r>
            <a:r>
              <a:rPr lang="zh-CN" altLang="en-US" dirty="0">
                <a:latin typeface="+mn-lt"/>
                <a:sym typeface="+mn-ea"/>
              </a:rPr>
              <a:t>是一种由级联的随机稀疏二部图和一个传统的纠删码构成的特殊的纠删，级联二部图的意思就是多级二部图。</a:t>
            </a:r>
            <a:endParaRPr lang="en-US" altLang="zh-CN" dirty="0">
              <a:latin typeface="+mn-lt"/>
              <a:sym typeface="+mn-ea"/>
            </a:endParaRPr>
          </a:p>
        </p:txBody>
      </p:sp>
      <p:grpSp>
        <p:nvGrpSpPr>
          <p:cNvPr id="3" name="组合 2"/>
          <p:cNvGrpSpPr/>
          <p:nvPr/>
        </p:nvGrpSpPr>
        <p:grpSpPr>
          <a:xfrm>
            <a:off x="1396257" y="3733792"/>
            <a:ext cx="6351485" cy="3019433"/>
            <a:chOff x="1396257" y="3733792"/>
            <a:chExt cx="6351485" cy="3019433"/>
          </a:xfrm>
        </p:grpSpPr>
        <p:grpSp>
          <p:nvGrpSpPr>
            <p:cNvPr id="11" name="组合 10"/>
            <p:cNvGrpSpPr/>
            <p:nvPr/>
          </p:nvGrpSpPr>
          <p:grpSpPr>
            <a:xfrm>
              <a:off x="1396257" y="3733792"/>
              <a:ext cx="6351485" cy="2663757"/>
              <a:chOff x="377308" y="3930482"/>
              <a:chExt cx="6351485" cy="2663757"/>
            </a:xfrm>
          </p:grpSpPr>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7308" y="3930482"/>
                <a:ext cx="6351485" cy="2663757"/>
              </a:xfrm>
              <a:prstGeom prst="rect">
                <a:avLst/>
              </a:prstGeom>
            </p:spPr>
          </p:pic>
          <p:grpSp>
            <p:nvGrpSpPr>
              <p:cNvPr id="10" name="组合 9"/>
              <p:cNvGrpSpPr/>
              <p:nvPr/>
            </p:nvGrpSpPr>
            <p:grpSpPr>
              <a:xfrm>
                <a:off x="5867366" y="5943534"/>
                <a:ext cx="761980" cy="304792"/>
                <a:chOff x="5867366" y="5943534"/>
                <a:chExt cx="761980" cy="304792"/>
              </a:xfrm>
            </p:grpSpPr>
            <p:sp>
              <p:nvSpPr>
                <p:cNvPr id="6" name="矩形 5"/>
                <p:cNvSpPr/>
                <p:nvPr/>
              </p:nvSpPr>
              <p:spPr>
                <a:xfrm>
                  <a:off x="5943564" y="6095930"/>
                  <a:ext cx="685782" cy="1523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248356" y="5943534"/>
                  <a:ext cx="304792" cy="1523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867366" y="5943534"/>
                  <a:ext cx="152396" cy="1523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6095960" y="5968859"/>
                  <a:ext cx="76198" cy="10174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2" name="文本框 11"/>
            <p:cNvSpPr txBox="1"/>
            <p:nvPr/>
          </p:nvSpPr>
          <p:spPr>
            <a:xfrm>
              <a:off x="3500178" y="6248471"/>
              <a:ext cx="2382610" cy="50475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sym typeface="+mn-ea"/>
                </a:rPr>
                <a:t>LDPC</a:t>
              </a:r>
              <a:r>
                <a:rPr lang="zh-CN" altLang="en-US" sz="1800" dirty="0">
                  <a:sym typeface="+mn-ea"/>
                </a:rPr>
                <a:t>码示例</a:t>
              </a:r>
              <a:endParaRPr lang="zh-CN" altLang="en-US" sz="1800" dirty="0">
                <a:sym typeface="+mn-ea"/>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龙卷风码的编码</a:t>
            </a:r>
            <a:endParaRPr lang="zh-CN" altLang="en-US" sz="2400" dirty="0">
              <a:sym typeface="+mn-ea"/>
            </a:endParaRPr>
          </a:p>
        </p:txBody>
      </p:sp>
      <p:sp>
        <p:nvSpPr>
          <p:cNvPr id="6" name="文本框 5"/>
          <p:cNvSpPr txBox="1"/>
          <p:nvPr/>
        </p:nvSpPr>
        <p:spPr>
          <a:xfrm>
            <a:off x="304912" y="1966616"/>
            <a:ext cx="5257662" cy="396448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dirty="0">
                <a:latin typeface="+mn-lt"/>
                <a:sym typeface="+mn-ea"/>
              </a:rPr>
              <a:t>编码方式：</a:t>
            </a:r>
            <a:endParaRPr lang="en-US" altLang="zh-CN" dirty="0">
              <a:latin typeface="+mn-lt"/>
              <a:sym typeface="+mn-ea"/>
            </a:endParaRPr>
          </a:p>
          <a:p>
            <a:pPr>
              <a:lnSpc>
                <a:spcPts val="3400"/>
              </a:lnSpc>
            </a:pPr>
            <a:r>
              <a:rPr lang="zh-CN" altLang="en-US" dirty="0">
                <a:latin typeface="+mn-lt"/>
                <a:sym typeface="+mn-ea"/>
              </a:rPr>
              <a:t>      龙卷风码通过</a:t>
            </a:r>
            <a:r>
              <a:rPr lang="zh-CN" altLang="en-US" dirty="0">
                <a:solidFill>
                  <a:srgbClr val="FF0000"/>
                </a:solidFill>
                <a:latin typeface="+mn-lt"/>
                <a:sym typeface="+mn-ea"/>
              </a:rPr>
              <a:t>层层递进的异或操作得到校验码</a:t>
            </a:r>
            <a:r>
              <a:rPr lang="zh-CN" altLang="en-US" dirty="0">
                <a:latin typeface="+mn-lt"/>
                <a:sym typeface="+mn-ea"/>
              </a:rPr>
              <a:t>。</a:t>
            </a:r>
            <a:endParaRPr lang="en-US" altLang="zh-CN" dirty="0">
              <a:latin typeface="+mn-lt"/>
              <a:sym typeface="+mn-ea"/>
            </a:endParaRPr>
          </a:p>
          <a:p>
            <a:pPr>
              <a:lnSpc>
                <a:spcPts val="3400"/>
              </a:lnSpc>
            </a:pPr>
            <a:r>
              <a:rPr lang="en-US" altLang="zh-CN" dirty="0">
                <a:latin typeface="+mn-lt"/>
                <a:sym typeface="+mn-ea"/>
              </a:rPr>
              <a:t>        </a:t>
            </a:r>
            <a:r>
              <a:rPr lang="zh-CN" altLang="en-US" dirty="0">
                <a:latin typeface="+mn-lt"/>
                <a:sym typeface="+mn-ea"/>
              </a:rPr>
              <a:t>如图所示，把原数据分成</a:t>
            </a:r>
            <a:r>
              <a:rPr lang="en-US" altLang="zh-CN" dirty="0">
                <a:latin typeface="+mn-lt"/>
                <a:sym typeface="+mn-ea"/>
              </a:rPr>
              <a:t>n</a:t>
            </a:r>
            <a:r>
              <a:rPr lang="zh-CN" altLang="en-US" dirty="0">
                <a:latin typeface="+mn-lt"/>
                <a:sym typeface="+mn-ea"/>
              </a:rPr>
              <a:t>个等长的数据块</a:t>
            </a:r>
            <a:r>
              <a:rPr lang="en-US" altLang="zh-CN" dirty="0">
                <a:latin typeface="+mn-lt"/>
                <a:sym typeface="+mn-ea"/>
              </a:rPr>
              <a:t>(</a:t>
            </a:r>
            <a:r>
              <a:rPr lang="en-US" altLang="zh-CN" i="1" dirty="0">
                <a:latin typeface="+mn-lt"/>
                <a:sym typeface="+mn-ea"/>
              </a:rPr>
              <a:t>x</a:t>
            </a:r>
            <a:r>
              <a:rPr lang="en-US" altLang="zh-CN" baseline="-25000" dirty="0">
                <a:latin typeface="+mn-lt"/>
                <a:sym typeface="+mn-ea"/>
              </a:rPr>
              <a:t>1</a:t>
            </a:r>
            <a:r>
              <a:rPr lang="en-US" altLang="zh-CN" dirty="0">
                <a:latin typeface="+mn-lt"/>
                <a:sym typeface="+mn-ea"/>
              </a:rPr>
              <a:t>,</a:t>
            </a:r>
            <a:r>
              <a:rPr lang="en-US" altLang="zh-CN" i="1" dirty="0">
                <a:latin typeface="+mn-lt"/>
                <a:sym typeface="+mn-ea"/>
              </a:rPr>
              <a:t>x</a:t>
            </a:r>
            <a:r>
              <a:rPr lang="en-US" altLang="zh-CN" baseline="-25000" dirty="0">
                <a:latin typeface="+mn-lt"/>
                <a:sym typeface="+mn-ea"/>
              </a:rPr>
              <a:t>2</a:t>
            </a:r>
            <a:r>
              <a:rPr lang="en-US" altLang="zh-CN" dirty="0">
                <a:latin typeface="+mn-lt"/>
                <a:sym typeface="+mn-ea"/>
              </a:rPr>
              <a:t>,</a:t>
            </a:r>
            <a:r>
              <a:rPr lang="en-US" altLang="zh-CN" i="1" dirty="0">
                <a:latin typeface="+mn-lt"/>
                <a:sym typeface="+mn-ea"/>
              </a:rPr>
              <a:t>x</a:t>
            </a:r>
            <a:r>
              <a:rPr lang="en-US" altLang="zh-CN" baseline="-25000" dirty="0">
                <a:latin typeface="+mn-lt"/>
                <a:sym typeface="+mn-ea"/>
              </a:rPr>
              <a:t>3</a:t>
            </a:r>
            <a:r>
              <a:rPr lang="en-US" altLang="zh-CN" dirty="0">
                <a:latin typeface="+mn-lt"/>
                <a:sym typeface="+mn-ea"/>
              </a:rPr>
              <a:t>,…,</a:t>
            </a:r>
            <a:r>
              <a:rPr lang="en-US" altLang="zh-CN" i="1" dirty="0" err="1">
                <a:latin typeface="+mn-lt"/>
                <a:sym typeface="+mn-ea"/>
              </a:rPr>
              <a:t>x</a:t>
            </a:r>
            <a:r>
              <a:rPr lang="en-US" altLang="zh-CN" i="1" baseline="-25000" dirty="0" err="1">
                <a:latin typeface="+mn-lt"/>
                <a:sym typeface="+mn-ea"/>
              </a:rPr>
              <a:t>n</a:t>
            </a:r>
            <a:r>
              <a:rPr lang="en-US" altLang="zh-CN" dirty="0">
                <a:latin typeface="+mn-lt"/>
                <a:sym typeface="+mn-ea"/>
              </a:rPr>
              <a:t>)</a:t>
            </a:r>
            <a:r>
              <a:rPr lang="zh-CN" altLang="en-US" dirty="0">
                <a:latin typeface="+mn-lt"/>
                <a:sym typeface="+mn-ea"/>
              </a:rPr>
              <a:t>，这些数据被称为用户数据块</a:t>
            </a:r>
            <a:r>
              <a:rPr lang="en-US" altLang="zh-CN" dirty="0">
                <a:latin typeface="+mn-lt"/>
                <a:sym typeface="+mn-ea"/>
              </a:rPr>
              <a:t>(message bits)</a:t>
            </a:r>
            <a:r>
              <a:rPr lang="zh-CN" altLang="en-US" dirty="0">
                <a:latin typeface="+mn-lt"/>
                <a:sym typeface="+mn-ea"/>
              </a:rPr>
              <a:t>。根据多级二部图</a:t>
            </a:r>
            <a:r>
              <a:rPr lang="en-US" altLang="zh-CN" i="1" dirty="0">
                <a:latin typeface="+mn-lt"/>
                <a:sym typeface="+mn-ea"/>
              </a:rPr>
              <a:t>B</a:t>
            </a:r>
            <a:r>
              <a:rPr lang="en-US" altLang="zh-CN" baseline="-25000" dirty="0">
                <a:latin typeface="+mn-lt"/>
                <a:sym typeface="+mn-ea"/>
              </a:rPr>
              <a:t>0</a:t>
            </a:r>
            <a:r>
              <a:rPr lang="en-US" altLang="zh-CN" dirty="0">
                <a:latin typeface="+mn-lt"/>
                <a:sym typeface="+mn-ea"/>
              </a:rPr>
              <a:t>,</a:t>
            </a:r>
            <a:r>
              <a:rPr lang="en-US" altLang="zh-CN" i="1" dirty="0">
                <a:latin typeface="+mn-lt"/>
                <a:sym typeface="+mn-ea"/>
              </a:rPr>
              <a:t>B</a:t>
            </a:r>
            <a:r>
              <a:rPr lang="en-US" altLang="zh-CN" baseline="-25000" dirty="0">
                <a:latin typeface="+mn-lt"/>
                <a:sym typeface="+mn-ea"/>
              </a:rPr>
              <a:t>1</a:t>
            </a:r>
            <a:r>
              <a:rPr lang="en-US" altLang="zh-CN" dirty="0">
                <a:latin typeface="+mn-lt"/>
                <a:sym typeface="+mn-ea"/>
              </a:rPr>
              <a:t>,…,</a:t>
            </a:r>
            <a:r>
              <a:rPr lang="en-US" altLang="zh-CN" i="1" dirty="0">
                <a:latin typeface="+mn-lt"/>
                <a:sym typeface="+mn-ea"/>
              </a:rPr>
              <a:t>B</a:t>
            </a:r>
            <a:r>
              <a:rPr lang="en-US" altLang="zh-CN" i="1" baseline="-25000" dirty="0">
                <a:latin typeface="+mn-lt"/>
                <a:sym typeface="+mn-ea"/>
              </a:rPr>
              <a:t>k</a:t>
            </a:r>
            <a:r>
              <a:rPr lang="en-US" altLang="zh-CN" dirty="0">
                <a:latin typeface="+mn-lt"/>
                <a:sym typeface="+mn-ea"/>
              </a:rPr>
              <a:t>,</a:t>
            </a:r>
            <a:endParaRPr lang="en-US" altLang="zh-CN" dirty="0">
              <a:latin typeface="+mn-lt"/>
              <a:sym typeface="+mn-ea"/>
            </a:endParaRPr>
          </a:p>
          <a:p>
            <a:pPr>
              <a:lnSpc>
                <a:spcPts val="3400"/>
              </a:lnSpc>
            </a:pPr>
            <a:r>
              <a:rPr lang="en-US" altLang="zh-CN" i="1" dirty="0">
                <a:latin typeface="+mn-lt"/>
                <a:sym typeface="+mn-ea"/>
              </a:rPr>
              <a:t>B</a:t>
            </a:r>
            <a:r>
              <a:rPr lang="en-US" altLang="zh-CN" i="1" baseline="-25000" dirty="0">
                <a:latin typeface="+mn-lt"/>
                <a:sym typeface="+mn-ea"/>
              </a:rPr>
              <a:t>k</a:t>
            </a:r>
            <a:r>
              <a:rPr lang="en-US" altLang="zh-CN" baseline="-25000" dirty="0">
                <a:latin typeface="+mn-lt"/>
                <a:sym typeface="+mn-ea"/>
              </a:rPr>
              <a:t>+1</a:t>
            </a:r>
            <a:r>
              <a:rPr lang="zh-CN" altLang="en-US" dirty="0">
                <a:latin typeface="+mn-lt"/>
                <a:sym typeface="+mn-ea"/>
              </a:rPr>
              <a:t>的连接关系，将相连的数据节点进行异或得到下一层校验节点</a:t>
            </a:r>
            <a:r>
              <a:rPr lang="en-US" altLang="zh-CN" dirty="0">
                <a:latin typeface="+mn-lt"/>
                <a:sym typeface="+mn-ea"/>
              </a:rPr>
              <a:t>(check bits)</a:t>
            </a:r>
            <a:r>
              <a:rPr lang="zh-CN" altLang="en-US" dirty="0">
                <a:latin typeface="+mn-lt"/>
                <a:sym typeface="+mn-ea"/>
              </a:rPr>
              <a:t>的值</a:t>
            </a:r>
            <a:r>
              <a:rPr lang="en-US" altLang="zh-CN" dirty="0">
                <a:latin typeface="+mn-lt"/>
                <a:sym typeface="+mn-ea"/>
              </a:rPr>
              <a:t>(</a:t>
            </a:r>
            <a:r>
              <a:rPr lang="en-US" altLang="zh-CN" i="1" dirty="0">
                <a:latin typeface="+mn-lt"/>
                <a:sym typeface="+mn-ea"/>
              </a:rPr>
              <a:t>C</a:t>
            </a:r>
            <a:r>
              <a:rPr lang="en-US" altLang="zh-CN" baseline="-25000" dirty="0">
                <a:latin typeface="+mn-lt"/>
                <a:sym typeface="+mn-ea"/>
              </a:rPr>
              <a:t>1</a:t>
            </a:r>
            <a:r>
              <a:rPr lang="en-US" altLang="zh-CN" dirty="0">
                <a:latin typeface="+mn-lt"/>
                <a:sym typeface="+mn-ea"/>
              </a:rPr>
              <a:t>,</a:t>
            </a:r>
            <a:r>
              <a:rPr lang="en-US" altLang="zh-CN" i="1" dirty="0">
                <a:latin typeface="+mn-lt"/>
                <a:sym typeface="+mn-ea"/>
              </a:rPr>
              <a:t>C</a:t>
            </a:r>
            <a:r>
              <a:rPr lang="en-US" altLang="zh-CN" baseline="-25000" dirty="0">
                <a:latin typeface="+mn-lt"/>
                <a:sym typeface="+mn-ea"/>
              </a:rPr>
              <a:t>2</a:t>
            </a:r>
            <a:r>
              <a:rPr lang="en-US" altLang="zh-CN" dirty="0">
                <a:latin typeface="+mn-lt"/>
                <a:sym typeface="+mn-ea"/>
              </a:rPr>
              <a:t>,…,</a:t>
            </a:r>
            <a:endParaRPr lang="en-US" altLang="zh-CN" dirty="0">
              <a:latin typeface="+mn-lt"/>
              <a:sym typeface="+mn-ea"/>
            </a:endParaRPr>
          </a:p>
          <a:p>
            <a:pPr>
              <a:lnSpc>
                <a:spcPts val="3400"/>
              </a:lnSpc>
            </a:pPr>
            <a:r>
              <a:rPr lang="en-US" altLang="zh-CN" i="1" dirty="0">
                <a:latin typeface="+mn-lt"/>
                <a:sym typeface="+mn-ea"/>
              </a:rPr>
              <a:t>C</a:t>
            </a:r>
            <a:r>
              <a:rPr lang="el-GR" altLang="zh-CN" i="1" baseline="-25000" dirty="0">
                <a:latin typeface="+mn-lt"/>
                <a:sym typeface="+mn-ea"/>
              </a:rPr>
              <a:t>β</a:t>
            </a:r>
            <a:r>
              <a:rPr lang="en-US" altLang="zh-CN" dirty="0">
                <a:latin typeface="+mn-lt"/>
                <a:sym typeface="+mn-ea"/>
              </a:rPr>
              <a:t>)</a:t>
            </a:r>
            <a:r>
              <a:rPr lang="zh-CN" altLang="en-US" dirty="0">
                <a:latin typeface="+mn-lt"/>
                <a:sym typeface="+mn-ea"/>
              </a:rPr>
              <a:t>。</a:t>
            </a:r>
            <a:endParaRPr lang="en-US" altLang="zh-CN" dirty="0">
              <a:latin typeface="+mn-lt"/>
              <a:sym typeface="+mn-ea"/>
            </a:endParaRPr>
          </a:p>
        </p:txBody>
      </p:sp>
      <p:sp>
        <p:nvSpPr>
          <p:cNvPr id="8" name="文本框 7"/>
          <p:cNvSpPr txBox="1"/>
          <p:nvPr/>
        </p:nvSpPr>
        <p:spPr>
          <a:xfrm>
            <a:off x="1143090" y="1043296"/>
            <a:ext cx="7475577" cy="47634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gn="l">
              <a:lnSpc>
                <a:spcPts val="3400"/>
              </a:lnSpc>
            </a:pPr>
            <a:r>
              <a:rPr lang="zh-CN" altLang="en-US" dirty="0">
                <a:latin typeface="+mn-lt"/>
                <a:sym typeface="+mn-ea"/>
              </a:rPr>
              <a:t>低密度奇偶校验码的一个典型的例子是龙卷风码</a:t>
            </a:r>
            <a:r>
              <a:rPr lang="en-US" altLang="zh-CN" dirty="0">
                <a:latin typeface="+mn-lt"/>
                <a:sym typeface="+mn-ea"/>
              </a:rPr>
              <a:t>(Tornado Code)</a:t>
            </a:r>
            <a:endParaRPr lang="en-US" altLang="zh-CN" dirty="0">
              <a:latin typeface="+mn-lt"/>
              <a:sym typeface="+mn-ea"/>
            </a:endParaRPr>
          </a:p>
        </p:txBody>
      </p:sp>
      <p:grpSp>
        <p:nvGrpSpPr>
          <p:cNvPr id="11" name="组合 10"/>
          <p:cNvGrpSpPr/>
          <p:nvPr/>
        </p:nvGrpSpPr>
        <p:grpSpPr>
          <a:xfrm>
            <a:off x="5714617" y="1864606"/>
            <a:ext cx="3124471" cy="4812276"/>
            <a:chOff x="5714617" y="1864606"/>
            <a:chExt cx="3124471" cy="4812276"/>
          </a:xfrm>
        </p:grpSpPr>
        <p:sp>
          <p:nvSpPr>
            <p:cNvPr id="7" name="文本框 6"/>
            <p:cNvSpPr txBox="1"/>
            <p:nvPr/>
          </p:nvSpPr>
          <p:spPr>
            <a:xfrm>
              <a:off x="6273130" y="6172128"/>
              <a:ext cx="2382610" cy="50475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1800" dirty="0">
                  <a:sym typeface="+mn-ea"/>
                </a:rPr>
                <a:t>龙卷风码编码示例</a:t>
              </a:r>
              <a:endParaRPr lang="zh-CN" altLang="en-US" sz="1800" dirty="0">
                <a:sym typeface="+mn-ea"/>
              </a:endParaRPr>
            </a:p>
          </p:txBody>
        </p:sp>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714617" y="1864606"/>
              <a:ext cx="3124471" cy="4168501"/>
            </a:xfrm>
            <a:prstGeom prst="rect">
              <a:avLst/>
            </a:prstGeom>
          </p:spPr>
        </p:pic>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龙卷风码的编码</a:t>
            </a:r>
            <a:endParaRPr lang="zh-CN" altLang="en-US" sz="2400" dirty="0">
              <a:sym typeface="+mn-ea"/>
            </a:endParaRPr>
          </a:p>
        </p:txBody>
      </p:sp>
      <p:sp>
        <p:nvSpPr>
          <p:cNvPr id="9" name="文本框 8"/>
          <p:cNvSpPr txBox="1"/>
          <p:nvPr/>
        </p:nvSpPr>
        <p:spPr>
          <a:xfrm>
            <a:off x="266439" y="1774753"/>
            <a:ext cx="5071297" cy="372723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latin typeface="+mn-lt"/>
                <a:sym typeface="+mn-ea"/>
              </a:rPr>
              <a:t>        举例来说，在右图中，某校验块层各节点的值分别为</a:t>
            </a:r>
            <a:r>
              <a:rPr lang="en-US" altLang="zh-CN" i="1" dirty="0">
                <a:latin typeface="+mn-lt"/>
                <a:sym typeface="+mn-ea"/>
              </a:rPr>
              <a:t>X</a:t>
            </a:r>
            <a:r>
              <a:rPr lang="en-US" altLang="zh-CN" baseline="-25000" dirty="0">
                <a:latin typeface="+mn-lt"/>
                <a:sym typeface="+mn-ea"/>
              </a:rPr>
              <a:t>1</a:t>
            </a:r>
            <a:r>
              <a:rPr lang="en-US" altLang="zh-CN" dirty="0">
                <a:latin typeface="+mn-lt"/>
                <a:sym typeface="+mn-ea"/>
              </a:rPr>
              <a:t>,</a:t>
            </a:r>
            <a:r>
              <a:rPr lang="en-US" altLang="zh-CN" i="1" dirty="0">
                <a:latin typeface="+mn-lt"/>
                <a:sym typeface="+mn-ea"/>
              </a:rPr>
              <a:t>X</a:t>
            </a:r>
            <a:r>
              <a:rPr lang="en-US" altLang="zh-CN" baseline="-25000" dirty="0">
                <a:latin typeface="+mn-lt"/>
                <a:sym typeface="+mn-ea"/>
              </a:rPr>
              <a:t>2</a:t>
            </a:r>
            <a:r>
              <a:rPr lang="en-US" altLang="zh-CN" dirty="0">
                <a:latin typeface="+mn-lt"/>
                <a:sym typeface="+mn-ea"/>
              </a:rPr>
              <a:t>,</a:t>
            </a:r>
            <a:r>
              <a:rPr lang="en-US" altLang="zh-CN" i="1" dirty="0">
                <a:latin typeface="+mn-lt"/>
                <a:sym typeface="+mn-ea"/>
              </a:rPr>
              <a:t>X</a:t>
            </a:r>
            <a:r>
              <a:rPr lang="en-US" altLang="zh-CN" baseline="-25000" dirty="0">
                <a:latin typeface="+mn-lt"/>
                <a:sym typeface="+mn-ea"/>
              </a:rPr>
              <a:t>1</a:t>
            </a:r>
            <a:r>
              <a:rPr lang="en-US" altLang="zh-CN" dirty="0">
                <a:latin typeface="+mn-lt"/>
                <a:sym typeface="+mn-ea"/>
              </a:rPr>
              <a:t>+</a:t>
            </a:r>
            <a:r>
              <a:rPr lang="en-US" altLang="zh-CN" i="1" dirty="0">
                <a:latin typeface="+mn-lt"/>
                <a:sym typeface="+mn-ea"/>
              </a:rPr>
              <a:t>X</a:t>
            </a:r>
            <a:r>
              <a:rPr lang="en-US" altLang="zh-CN" baseline="-25000" dirty="0">
                <a:latin typeface="+mn-lt"/>
                <a:sym typeface="+mn-ea"/>
              </a:rPr>
              <a:t>2</a:t>
            </a:r>
            <a:r>
              <a:rPr lang="en-US" altLang="zh-CN" dirty="0">
                <a:latin typeface="+mn-lt"/>
                <a:sym typeface="+mn-ea"/>
              </a:rPr>
              <a:t>+</a:t>
            </a:r>
            <a:r>
              <a:rPr lang="en-US" altLang="zh-CN" i="1" dirty="0">
                <a:latin typeface="+mn-lt"/>
                <a:sym typeface="+mn-ea"/>
              </a:rPr>
              <a:t>C</a:t>
            </a:r>
            <a:r>
              <a:rPr lang="en-US" altLang="zh-CN" baseline="-25000" dirty="0">
                <a:latin typeface="+mn-lt"/>
                <a:sym typeface="+mn-ea"/>
              </a:rPr>
              <a:t>1</a:t>
            </a:r>
            <a:r>
              <a:rPr lang="en-US" altLang="zh-CN" dirty="0">
                <a:latin typeface="+mn-lt"/>
                <a:sym typeface="+mn-ea"/>
              </a:rPr>
              <a:t>,…,</a:t>
            </a:r>
            <a:r>
              <a:rPr lang="zh-CN" altLang="en-US" dirty="0">
                <a:latin typeface="+mn-lt"/>
                <a:sym typeface="+mn-ea"/>
              </a:rPr>
              <a:t>下一级第一个校验块由</a:t>
            </a:r>
            <a:r>
              <a:rPr lang="en-US" altLang="zh-CN" i="1" dirty="0">
                <a:latin typeface="+mn-lt"/>
                <a:sym typeface="+mn-ea"/>
              </a:rPr>
              <a:t>X</a:t>
            </a:r>
            <a:r>
              <a:rPr lang="en-US" altLang="zh-CN" baseline="-25000" dirty="0">
                <a:latin typeface="+mn-lt"/>
                <a:sym typeface="+mn-ea"/>
              </a:rPr>
              <a:t>1</a:t>
            </a:r>
            <a:r>
              <a:rPr lang="en-US" altLang="zh-CN" dirty="0">
                <a:latin typeface="+mn-lt"/>
                <a:sym typeface="+mn-ea"/>
              </a:rPr>
              <a:t>⊕</a:t>
            </a:r>
            <a:r>
              <a:rPr lang="en-US" altLang="zh-CN" i="1" dirty="0">
                <a:latin typeface="+mn-lt"/>
                <a:sym typeface="+mn-ea"/>
              </a:rPr>
              <a:t>X</a:t>
            </a:r>
            <a:r>
              <a:rPr lang="en-US" altLang="zh-CN" baseline="-25000" dirty="0">
                <a:latin typeface="+mn-lt"/>
                <a:sym typeface="+mn-ea"/>
              </a:rPr>
              <a:t>2</a:t>
            </a:r>
            <a:r>
              <a:rPr lang="zh-CN" altLang="en-US" dirty="0">
                <a:latin typeface="+mn-lt"/>
                <a:sym typeface="+mn-ea"/>
              </a:rPr>
              <a:t>得到。</a:t>
            </a:r>
            <a:endParaRPr lang="en-US" altLang="zh-CN" dirty="0">
              <a:latin typeface="+mn-lt"/>
              <a:sym typeface="+mn-ea"/>
            </a:endParaRPr>
          </a:p>
          <a:p>
            <a:pPr>
              <a:lnSpc>
                <a:spcPts val="3600"/>
              </a:lnSpc>
            </a:pPr>
            <a:r>
              <a:rPr lang="en-US" altLang="zh-CN" dirty="0">
                <a:latin typeface="+mn-lt"/>
                <a:sym typeface="+mn-ea"/>
              </a:rPr>
              <a:t>        </a:t>
            </a:r>
            <a:r>
              <a:rPr lang="zh-CN" altLang="en-US" dirty="0">
                <a:solidFill>
                  <a:srgbClr val="FF0000"/>
                </a:solidFill>
                <a:latin typeface="+mn-lt"/>
                <a:sym typeface="+mn-ea"/>
              </a:rPr>
              <a:t>选择哪些变量来进行异或操作由二部图确定</a:t>
            </a:r>
            <a:r>
              <a:rPr lang="zh-CN" altLang="en-US" dirty="0">
                <a:latin typeface="+mn-lt"/>
                <a:sym typeface="+mn-ea"/>
              </a:rPr>
              <a:t>，一般来说，级联低密度纠删码二部图的生成具有随机性</a:t>
            </a:r>
            <a:r>
              <a:rPr lang="en-US" altLang="zh-CN" dirty="0">
                <a:latin typeface="+mn-lt"/>
                <a:sym typeface="+mn-ea"/>
              </a:rPr>
              <a:t>,</a:t>
            </a:r>
            <a:r>
              <a:rPr lang="zh-CN" altLang="en-US" dirty="0">
                <a:solidFill>
                  <a:srgbClr val="FF0000"/>
                </a:solidFill>
                <a:latin typeface="+mn-lt"/>
                <a:sym typeface="+mn-ea"/>
              </a:rPr>
              <a:t>通过使用每一级二部图的连接关系，就可以依次生成级联二部图的所有右节点</a:t>
            </a:r>
            <a:r>
              <a:rPr lang="zh-CN" altLang="en-US" dirty="0">
                <a:latin typeface="+mn-lt"/>
                <a:sym typeface="+mn-ea"/>
              </a:rPr>
              <a:t>。</a:t>
            </a:r>
            <a:r>
              <a:rPr lang="en-US" altLang="zh-CN" dirty="0">
                <a:latin typeface="+mn-lt"/>
                <a:sym typeface="+mn-ea"/>
              </a:rPr>
              <a:t>        </a:t>
            </a:r>
            <a:endParaRPr lang="en-US" altLang="zh-CN" dirty="0">
              <a:latin typeface="+mn-lt"/>
              <a:sym typeface="+mn-ea"/>
            </a:endParaRPr>
          </a:p>
        </p:txBody>
      </p:sp>
      <p:grpSp>
        <p:nvGrpSpPr>
          <p:cNvPr id="7" name="组合 6"/>
          <p:cNvGrpSpPr/>
          <p:nvPr/>
        </p:nvGrpSpPr>
        <p:grpSpPr>
          <a:xfrm>
            <a:off x="5486376" y="1630524"/>
            <a:ext cx="3466489" cy="4116407"/>
            <a:chOff x="5486376" y="1630524"/>
            <a:chExt cx="3466489" cy="4116407"/>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486376" y="1630524"/>
              <a:ext cx="3292125" cy="3596952"/>
            </a:xfrm>
            <a:prstGeom prst="rect">
              <a:avLst/>
            </a:prstGeom>
          </p:spPr>
        </p:pic>
        <p:sp>
          <p:nvSpPr>
            <p:cNvPr id="10" name="文本框 9"/>
            <p:cNvSpPr txBox="1"/>
            <p:nvPr/>
          </p:nvSpPr>
          <p:spPr>
            <a:xfrm>
              <a:off x="5769333" y="5257053"/>
              <a:ext cx="3183532"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1800" dirty="0">
                  <a:sym typeface="+mn-ea"/>
                </a:rPr>
                <a:t>龙卷风码中校验块的计算过程</a:t>
              </a:r>
              <a:endParaRPr lang="zh-CN" altLang="en-US" sz="1800" dirty="0">
                <a:sym typeface="+mn-ea"/>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龙卷风码的编码</a:t>
            </a:r>
            <a:endParaRPr lang="zh-CN" altLang="en-US" sz="2400" dirty="0">
              <a:sym typeface="+mn-ea"/>
            </a:endParaRPr>
          </a:p>
        </p:txBody>
      </p:sp>
      <p:sp>
        <p:nvSpPr>
          <p:cNvPr id="5" name="文本框 4"/>
          <p:cNvSpPr txBox="1"/>
          <p:nvPr/>
        </p:nvSpPr>
        <p:spPr>
          <a:xfrm>
            <a:off x="258090" y="1447852"/>
            <a:ext cx="4998276" cy="4650568"/>
          </a:xfrm>
          <a:prstGeom prst="rect">
            <a:avLst/>
          </a:prstGeom>
          <a:noFill/>
        </p:spPr>
        <p:txBody>
          <a:bodyPr wrap="square" rtlCol="0" anchor="t">
            <a:spAutoFit/>
          </a:bodyPr>
          <a:lstStyle/>
          <a:p>
            <a:pPr algn="just">
              <a:lnSpc>
                <a:spcPts val="3600"/>
              </a:lnSpc>
            </a:pPr>
            <a:r>
              <a:rPr lang="zh-CN" altLang="en-US" sz="2000" dirty="0">
                <a:latin typeface="+mn-lt"/>
                <a:ea typeface="黑体" panose="02010609060101010101" pitchFamily="49" charset="-122"/>
                <a:sym typeface="+mn-ea"/>
              </a:rPr>
              <a:t>        在此过程中，</a:t>
            </a:r>
            <a:r>
              <a:rPr lang="zh-CN" altLang="en-US" sz="2000" dirty="0">
                <a:solidFill>
                  <a:srgbClr val="00B050"/>
                </a:solidFill>
                <a:latin typeface="+mn-lt"/>
                <a:ea typeface="黑体" panose="02010609060101010101" pitchFamily="49" charset="-122"/>
                <a:sym typeface="+mn-ea"/>
              </a:rPr>
              <a:t>进行异或操作的次数</a:t>
            </a:r>
            <a:r>
              <a:rPr lang="en-US" altLang="zh-CN" sz="2000" dirty="0">
                <a:solidFill>
                  <a:srgbClr val="00B050"/>
                </a:solidFill>
                <a:latin typeface="+mn-lt"/>
                <a:ea typeface="黑体" panose="02010609060101010101" pitchFamily="49" charset="-122"/>
                <a:sym typeface="+mn-ea"/>
              </a:rPr>
              <a:t>(</a:t>
            </a:r>
            <a:r>
              <a:rPr lang="zh-CN" altLang="en-US" sz="2000" dirty="0">
                <a:solidFill>
                  <a:srgbClr val="00B050"/>
                </a:solidFill>
                <a:latin typeface="+mn-lt"/>
                <a:ea typeface="黑体" panose="02010609060101010101" pitchFamily="49" charset="-122"/>
                <a:sym typeface="+mn-ea"/>
              </a:rPr>
              <a:t>或者说是运算层数</a:t>
            </a:r>
            <a:r>
              <a:rPr lang="en-US" altLang="zh-CN" sz="2000" dirty="0">
                <a:solidFill>
                  <a:srgbClr val="00B050"/>
                </a:solidFill>
                <a:latin typeface="+mn-lt"/>
                <a:ea typeface="黑体" panose="02010609060101010101" pitchFamily="49" charset="-122"/>
                <a:sym typeface="+mn-ea"/>
              </a:rPr>
              <a:t>)</a:t>
            </a:r>
            <a:r>
              <a:rPr lang="zh-CN" altLang="en-US" sz="2000" dirty="0">
                <a:solidFill>
                  <a:srgbClr val="00B050"/>
                </a:solidFill>
                <a:latin typeface="+mn-lt"/>
                <a:ea typeface="黑体" panose="02010609060101010101" pitchFamily="49" charset="-122"/>
                <a:sym typeface="+mn-ea"/>
              </a:rPr>
              <a:t>由每层中的数据块数目决定</a:t>
            </a:r>
            <a:r>
              <a:rPr lang="zh-CN" altLang="en-US" sz="2000" dirty="0">
                <a:latin typeface="+mn-lt"/>
                <a:ea typeface="黑体" panose="02010609060101010101" pitchFamily="49" charset="-122"/>
                <a:sym typeface="+mn-ea"/>
              </a:rPr>
              <a:t>。</a:t>
            </a:r>
            <a:endParaRPr lang="en-US" altLang="zh-CN" sz="2000" dirty="0">
              <a:latin typeface="+mn-lt"/>
              <a:ea typeface="黑体" panose="02010609060101010101" pitchFamily="49" charset="-122"/>
              <a:sym typeface="+mn-ea"/>
            </a:endParaRPr>
          </a:p>
          <a:p>
            <a:pPr algn="just">
              <a:lnSpc>
                <a:spcPts val="3600"/>
              </a:lnSpc>
            </a:pPr>
            <a:r>
              <a:rPr lang="en-US" altLang="zh-CN" sz="2000" dirty="0">
                <a:latin typeface="+mn-lt"/>
                <a:ea typeface="黑体" panose="02010609060101010101" pitchFamily="49" charset="-122"/>
                <a:sym typeface="+mn-ea"/>
              </a:rPr>
              <a:t>       </a:t>
            </a:r>
            <a:r>
              <a:rPr lang="zh-CN" altLang="en-US" sz="2000" dirty="0">
                <a:latin typeface="+mn-lt"/>
                <a:ea typeface="黑体" panose="02010609060101010101" pitchFamily="49" charset="-122"/>
                <a:sym typeface="+mn-ea"/>
              </a:rPr>
              <a:t>不妨引入一个参数</a:t>
            </a:r>
            <a:r>
              <a:rPr lang="en-US" altLang="zh-CN" sz="2000" i="1" dirty="0">
                <a:latin typeface="+mn-lt"/>
                <a:ea typeface="黑体" panose="02010609060101010101" pitchFamily="49" charset="-122"/>
                <a:sym typeface="+mn-ea"/>
              </a:rPr>
              <a:t>e</a:t>
            </a:r>
            <a:r>
              <a:rPr lang="en-US" altLang="zh-CN" sz="2000" dirty="0">
                <a:latin typeface="+mn-lt"/>
                <a:ea typeface="黑体" panose="02010609060101010101" pitchFamily="49" charset="-122"/>
                <a:sym typeface="+mn-ea"/>
              </a:rPr>
              <a:t>, </a:t>
            </a:r>
            <a:r>
              <a:rPr lang="en-US" altLang="zh-CN" sz="2000" i="1" dirty="0">
                <a:latin typeface="+mn-lt"/>
                <a:ea typeface="黑体" panose="02010609060101010101" pitchFamily="49" charset="-122"/>
                <a:sym typeface="+mn-ea"/>
              </a:rPr>
              <a:t>e</a:t>
            </a:r>
            <a:r>
              <a:rPr lang="en-US" altLang="zh-CN" sz="2000" dirty="0">
                <a:latin typeface="+mn-lt"/>
                <a:ea typeface="黑体" panose="02010609060101010101" pitchFamily="49" charset="-122"/>
                <a:sym typeface="+mn-ea"/>
              </a:rPr>
              <a:t> = </a:t>
            </a:r>
            <a:r>
              <a:rPr lang="en-US" altLang="zh-CN" sz="2000" i="1" dirty="0">
                <a:latin typeface="+mn-lt"/>
                <a:ea typeface="黑体" panose="02010609060101010101" pitchFamily="49" charset="-122"/>
                <a:sym typeface="+mn-ea"/>
              </a:rPr>
              <a:t>m</a:t>
            </a:r>
            <a:r>
              <a:rPr lang="en-US" altLang="zh-CN" sz="2000" dirty="0">
                <a:latin typeface="+mn-lt"/>
                <a:ea typeface="黑体" panose="02010609060101010101" pitchFamily="49" charset="-122"/>
                <a:sym typeface="+mn-ea"/>
              </a:rPr>
              <a:t>/(</a:t>
            </a:r>
            <a:r>
              <a:rPr lang="en-US" altLang="zh-CN" sz="2000" i="1" dirty="0" err="1">
                <a:latin typeface="+mn-lt"/>
                <a:ea typeface="黑体" panose="02010609060101010101" pitchFamily="49" charset="-122"/>
                <a:sym typeface="+mn-ea"/>
              </a:rPr>
              <a:t>m</a:t>
            </a:r>
            <a:r>
              <a:rPr lang="en-US" altLang="zh-CN" sz="2000" dirty="0" err="1">
                <a:latin typeface="+mn-lt"/>
                <a:ea typeface="黑体" panose="02010609060101010101" pitchFamily="49" charset="-122"/>
                <a:sym typeface="+mn-ea"/>
              </a:rPr>
              <a:t>+</a:t>
            </a:r>
            <a:r>
              <a:rPr lang="en-US" altLang="zh-CN" sz="2000" i="1" dirty="0" err="1">
                <a:latin typeface="+mn-lt"/>
                <a:ea typeface="黑体" panose="02010609060101010101" pitchFamily="49" charset="-122"/>
                <a:sym typeface="+mn-ea"/>
              </a:rPr>
              <a:t>n</a:t>
            </a:r>
            <a:r>
              <a:rPr lang="en-US" altLang="zh-CN" sz="2000" dirty="0">
                <a:latin typeface="+mn-lt"/>
                <a:ea typeface="黑体" panose="02010609060101010101" pitchFamily="49" charset="-122"/>
                <a:sym typeface="+mn-ea"/>
              </a:rPr>
              <a:t>),</a:t>
            </a:r>
            <a:r>
              <a:rPr lang="zh-CN" altLang="en-US" sz="2000" dirty="0">
                <a:latin typeface="+mn-lt"/>
                <a:ea typeface="黑体" panose="02010609060101010101" pitchFamily="49" charset="-122"/>
                <a:sym typeface="+mn-ea"/>
              </a:rPr>
              <a:t> 其中</a:t>
            </a:r>
            <a:r>
              <a:rPr lang="en-US" altLang="zh-CN" sz="2000" i="1" dirty="0">
                <a:latin typeface="+mn-lt"/>
                <a:ea typeface="黑体" panose="02010609060101010101" pitchFamily="49" charset="-122"/>
                <a:sym typeface="+mn-ea"/>
              </a:rPr>
              <a:t>m</a:t>
            </a:r>
            <a:r>
              <a:rPr lang="zh-CN" altLang="en-US" sz="2000" dirty="0">
                <a:latin typeface="+mn-lt"/>
                <a:ea typeface="黑体" panose="02010609060101010101" pitchFamily="49" charset="-122"/>
                <a:sym typeface="+mn-ea"/>
              </a:rPr>
              <a:t>是最终的校验码数目</a:t>
            </a:r>
            <a:r>
              <a:rPr lang="en-US" altLang="zh-CN" sz="2000" dirty="0">
                <a:latin typeface="+mn-lt"/>
                <a:ea typeface="黑体" panose="02010609060101010101" pitchFamily="49" charset="-122"/>
                <a:sym typeface="+mn-ea"/>
              </a:rPr>
              <a:t>, </a:t>
            </a:r>
            <a:r>
              <a:rPr lang="zh-CN" altLang="en-US" sz="2000" dirty="0">
                <a:latin typeface="+mn-lt"/>
                <a:ea typeface="黑体" panose="02010609060101010101" pitchFamily="49" charset="-122"/>
                <a:sym typeface="+mn-ea"/>
              </a:rPr>
              <a:t>也就是说</a:t>
            </a:r>
            <a:r>
              <a:rPr lang="en-US" altLang="zh-CN" sz="2000" dirty="0">
                <a:latin typeface="+mn-lt"/>
                <a:ea typeface="黑体" panose="02010609060101010101" pitchFamily="49" charset="-122"/>
                <a:sym typeface="+mn-ea"/>
              </a:rPr>
              <a:t>,</a:t>
            </a:r>
            <a:r>
              <a:rPr lang="zh-CN" altLang="en-US" sz="2000" dirty="0">
                <a:latin typeface="+mn-lt"/>
                <a:ea typeface="黑体" panose="02010609060101010101" pitchFamily="49" charset="-122"/>
                <a:sym typeface="+mn-ea"/>
              </a:rPr>
              <a:t> </a:t>
            </a:r>
            <a:r>
              <a:rPr lang="en-US" altLang="zh-CN" sz="2000" i="1" dirty="0">
                <a:latin typeface="+mn-lt"/>
                <a:ea typeface="黑体" panose="02010609060101010101" pitchFamily="49" charset="-122"/>
                <a:sym typeface="+mn-ea"/>
              </a:rPr>
              <a:t>e</a:t>
            </a:r>
            <a:r>
              <a:rPr lang="zh-CN" altLang="en-US" sz="2000" dirty="0">
                <a:latin typeface="+mn-lt"/>
                <a:ea typeface="黑体" panose="02010609060101010101" pitchFamily="49" charset="-122"/>
                <a:sym typeface="+mn-ea"/>
              </a:rPr>
              <a:t>是擦除概率</a:t>
            </a:r>
            <a:r>
              <a:rPr lang="en-US" altLang="zh-CN" sz="2000" dirty="0">
                <a:latin typeface="+mn-lt"/>
                <a:ea typeface="黑体" panose="02010609060101010101" pitchFamily="49" charset="-122"/>
                <a:sym typeface="+mn-ea"/>
              </a:rPr>
              <a:t>, </a:t>
            </a:r>
            <a:r>
              <a:rPr lang="zh-CN" altLang="en-US" sz="2000" dirty="0">
                <a:latin typeface="+mn-lt"/>
                <a:ea typeface="黑体" panose="02010609060101010101" pitchFamily="49" charset="-122"/>
                <a:sym typeface="+mn-ea"/>
              </a:rPr>
              <a:t>它与码率的和为</a:t>
            </a:r>
            <a:r>
              <a:rPr lang="en-US" altLang="zh-CN" sz="2000" dirty="0">
                <a:latin typeface="+mn-lt"/>
                <a:ea typeface="黑体" panose="02010609060101010101" pitchFamily="49" charset="-122"/>
                <a:sym typeface="+mn-ea"/>
              </a:rPr>
              <a:t>1</a:t>
            </a:r>
            <a:r>
              <a:rPr lang="zh-CN" altLang="en-US" sz="2000" dirty="0">
                <a:latin typeface="+mn-lt"/>
                <a:ea typeface="黑体" panose="02010609060101010101" pitchFamily="49" charset="-122"/>
                <a:sym typeface="+mn-ea"/>
              </a:rPr>
              <a:t>。显然，</a:t>
            </a:r>
            <a:r>
              <a:rPr lang="en-US" altLang="zh-CN" sz="2000" i="1" dirty="0">
                <a:latin typeface="+mn-lt"/>
                <a:ea typeface="黑体" panose="02010609060101010101" pitchFamily="49" charset="-122"/>
                <a:sym typeface="+mn-ea"/>
              </a:rPr>
              <a:t>e</a:t>
            </a:r>
            <a:r>
              <a:rPr lang="zh-CN" altLang="en-US" sz="2000" dirty="0">
                <a:latin typeface="+mn-lt"/>
                <a:ea typeface="黑体" panose="02010609060101010101" pitchFamily="49" charset="-122"/>
                <a:sym typeface="+mn-ea"/>
              </a:rPr>
              <a:t>满足</a:t>
            </a:r>
            <a:r>
              <a:rPr lang="en-US" altLang="zh-CN" sz="2000" i="1" dirty="0">
                <a:latin typeface="+mn-lt"/>
                <a:ea typeface="黑体" panose="02010609060101010101" pitchFamily="49" charset="-122"/>
                <a:sym typeface="+mn-ea"/>
              </a:rPr>
              <a:t>e</a:t>
            </a:r>
            <a:r>
              <a:rPr lang="en-US" altLang="zh-CN" sz="2000" dirty="0">
                <a:latin typeface="+mn-lt"/>
                <a:ea typeface="黑体" panose="02010609060101010101" pitchFamily="49" charset="-122"/>
                <a:sym typeface="+mn-ea"/>
              </a:rPr>
              <a:t>&lt;1</a:t>
            </a:r>
            <a:r>
              <a:rPr lang="zh-CN" altLang="en-US" sz="2000" dirty="0">
                <a:latin typeface="+mn-lt"/>
                <a:ea typeface="黑体" panose="02010609060101010101" pitchFamily="49" charset="-122"/>
                <a:sym typeface="+mn-ea"/>
              </a:rPr>
              <a:t>。那么</a:t>
            </a:r>
            <a:r>
              <a:rPr lang="en-US" altLang="zh-CN" sz="2000" dirty="0">
                <a:latin typeface="+mn-lt"/>
                <a:ea typeface="黑体" panose="02010609060101010101" pitchFamily="49" charset="-122"/>
                <a:sym typeface="+mn-ea"/>
              </a:rPr>
              <a:t>, </a:t>
            </a:r>
            <a:r>
              <a:rPr lang="zh-CN" altLang="en-US" sz="2000" dirty="0">
                <a:solidFill>
                  <a:schemeClr val="accent2"/>
                </a:solidFill>
                <a:latin typeface="+mn-lt"/>
                <a:ea typeface="黑体" panose="02010609060101010101" pitchFamily="49" charset="-122"/>
                <a:sym typeface="+mn-ea"/>
              </a:rPr>
              <a:t>在校验块计算时</a:t>
            </a:r>
            <a:r>
              <a:rPr lang="en-US" altLang="zh-CN" sz="2000" dirty="0">
                <a:solidFill>
                  <a:schemeClr val="accent2"/>
                </a:solidFill>
                <a:latin typeface="+mn-lt"/>
                <a:ea typeface="黑体" panose="02010609060101010101" pitchFamily="49" charset="-122"/>
                <a:sym typeface="+mn-ea"/>
              </a:rPr>
              <a:t>, </a:t>
            </a:r>
            <a:r>
              <a:rPr lang="zh-CN" altLang="en-US" sz="2000" dirty="0">
                <a:solidFill>
                  <a:schemeClr val="accent2"/>
                </a:solidFill>
                <a:latin typeface="+mn-lt"/>
                <a:ea typeface="黑体" panose="02010609060101010101" pitchFamily="49" charset="-122"/>
                <a:sym typeface="+mn-ea"/>
              </a:rPr>
              <a:t>第一层得到的数据块数目就是</a:t>
            </a:r>
            <a:r>
              <a:rPr lang="en-US" altLang="zh-CN" sz="2000" i="1" dirty="0" err="1">
                <a:solidFill>
                  <a:schemeClr val="accent2"/>
                </a:solidFill>
                <a:latin typeface="+mn-lt"/>
                <a:ea typeface="黑体" panose="02010609060101010101" pitchFamily="49" charset="-122"/>
                <a:sym typeface="+mn-ea"/>
              </a:rPr>
              <a:t>e</a:t>
            </a:r>
            <a:r>
              <a:rPr lang="en-US" altLang="zh-CN" sz="1600" dirty="0" err="1">
                <a:solidFill>
                  <a:schemeClr val="accent2"/>
                </a:solidFill>
                <a:latin typeface="+mn-lt"/>
                <a:ea typeface="黑体" panose="02010609060101010101" pitchFamily="49" charset="-122"/>
                <a:sym typeface="+mn-ea"/>
              </a:rPr>
              <a:t>×</a:t>
            </a:r>
            <a:r>
              <a:rPr lang="en-US" altLang="zh-CN" sz="2000" i="1" dirty="0" err="1">
                <a:solidFill>
                  <a:schemeClr val="accent2"/>
                </a:solidFill>
                <a:latin typeface="+mn-lt"/>
                <a:ea typeface="黑体" panose="02010609060101010101" pitchFamily="49" charset="-122"/>
                <a:sym typeface="+mn-ea"/>
              </a:rPr>
              <a:t>n</a:t>
            </a:r>
            <a:r>
              <a:rPr lang="zh-CN" altLang="en-US" sz="2000" dirty="0">
                <a:solidFill>
                  <a:schemeClr val="accent2"/>
                </a:solidFill>
                <a:latin typeface="+mn-lt"/>
                <a:ea typeface="黑体" panose="02010609060101010101" pitchFamily="49" charset="-122"/>
                <a:sym typeface="+mn-ea"/>
              </a:rPr>
              <a:t>，第二层的数目是</a:t>
            </a:r>
            <a:r>
              <a:rPr lang="en-US" altLang="zh-CN" sz="2000" i="1" dirty="0">
                <a:solidFill>
                  <a:schemeClr val="accent2"/>
                </a:solidFill>
                <a:latin typeface="+mn-lt"/>
                <a:ea typeface="黑体" panose="02010609060101010101" pitchFamily="49" charset="-122"/>
                <a:sym typeface="+mn-ea"/>
              </a:rPr>
              <a:t>e</a:t>
            </a:r>
            <a:r>
              <a:rPr lang="en-US" altLang="zh-CN" sz="2000" baseline="30000" dirty="0">
                <a:solidFill>
                  <a:schemeClr val="accent2"/>
                </a:solidFill>
                <a:latin typeface="+mn-lt"/>
                <a:ea typeface="黑体" panose="02010609060101010101" pitchFamily="49" charset="-122"/>
                <a:sym typeface="+mn-ea"/>
              </a:rPr>
              <a:t>2</a:t>
            </a:r>
            <a:r>
              <a:rPr lang="en-US" altLang="zh-CN" sz="1600" dirty="0">
                <a:solidFill>
                  <a:schemeClr val="accent2"/>
                </a:solidFill>
                <a:latin typeface="+mn-lt"/>
                <a:ea typeface="黑体" panose="02010609060101010101" pitchFamily="49" charset="-122"/>
                <a:sym typeface="+mn-ea"/>
              </a:rPr>
              <a:t>×</a:t>
            </a:r>
            <a:r>
              <a:rPr lang="en-US" altLang="zh-CN" sz="2000" i="1" dirty="0">
                <a:solidFill>
                  <a:schemeClr val="accent2"/>
                </a:solidFill>
                <a:latin typeface="+mn-lt"/>
                <a:ea typeface="黑体" panose="02010609060101010101" pitchFamily="49" charset="-122"/>
                <a:sym typeface="+mn-ea"/>
              </a:rPr>
              <a:t>n</a:t>
            </a:r>
            <a:r>
              <a:rPr lang="zh-CN" altLang="en-US" sz="2000" dirty="0">
                <a:solidFill>
                  <a:schemeClr val="accent2"/>
                </a:solidFill>
                <a:latin typeface="+mn-lt"/>
                <a:ea typeface="黑体" panose="02010609060101010101" pitchFamily="49" charset="-122"/>
                <a:sym typeface="+mn-ea"/>
              </a:rPr>
              <a:t>，第三层的数目是</a:t>
            </a:r>
            <a:r>
              <a:rPr lang="en-US" altLang="zh-CN" sz="2000" i="1" dirty="0">
                <a:solidFill>
                  <a:schemeClr val="accent2"/>
                </a:solidFill>
                <a:latin typeface="+mn-lt"/>
                <a:ea typeface="黑体" panose="02010609060101010101" pitchFamily="49" charset="-122"/>
                <a:sym typeface="+mn-ea"/>
              </a:rPr>
              <a:t>e</a:t>
            </a:r>
            <a:r>
              <a:rPr lang="en-US" altLang="zh-CN" sz="2000" baseline="30000" dirty="0">
                <a:solidFill>
                  <a:schemeClr val="accent2"/>
                </a:solidFill>
                <a:latin typeface="+mn-lt"/>
                <a:ea typeface="黑体" panose="02010609060101010101" pitchFamily="49" charset="-122"/>
                <a:sym typeface="+mn-ea"/>
              </a:rPr>
              <a:t>3</a:t>
            </a:r>
            <a:r>
              <a:rPr lang="en-US" altLang="zh-CN" sz="1600" dirty="0">
                <a:solidFill>
                  <a:schemeClr val="accent2"/>
                </a:solidFill>
                <a:latin typeface="+mn-lt"/>
                <a:ea typeface="黑体" panose="02010609060101010101" pitchFamily="49" charset="-122"/>
                <a:sym typeface="+mn-ea"/>
              </a:rPr>
              <a:t>×</a:t>
            </a:r>
            <a:r>
              <a:rPr lang="en-US" altLang="zh-CN" sz="2000" i="1" dirty="0">
                <a:solidFill>
                  <a:schemeClr val="accent2"/>
                </a:solidFill>
                <a:latin typeface="+mn-lt"/>
                <a:ea typeface="黑体" panose="02010609060101010101" pitchFamily="49" charset="-122"/>
                <a:sym typeface="+mn-ea"/>
              </a:rPr>
              <a:t>n</a:t>
            </a:r>
            <a:r>
              <a:rPr lang="zh-CN" altLang="en-US" sz="2000" dirty="0">
                <a:solidFill>
                  <a:schemeClr val="accent2"/>
                </a:solidFill>
                <a:latin typeface="+mn-lt"/>
                <a:ea typeface="黑体" panose="02010609060101010101" pitchFamily="49" charset="-122"/>
                <a:sym typeface="+mn-ea"/>
              </a:rPr>
              <a:t>，依次递推，第</a:t>
            </a:r>
            <a:r>
              <a:rPr lang="en-US" altLang="zh-CN" sz="2000" i="1" dirty="0">
                <a:solidFill>
                  <a:schemeClr val="accent2"/>
                </a:solidFill>
                <a:latin typeface="+mn-lt"/>
                <a:ea typeface="黑体" panose="02010609060101010101" pitchFamily="49" charset="-122"/>
                <a:sym typeface="+mn-ea"/>
              </a:rPr>
              <a:t>k</a:t>
            </a:r>
            <a:r>
              <a:rPr lang="zh-CN" altLang="en-US" sz="2000" dirty="0">
                <a:solidFill>
                  <a:schemeClr val="accent2"/>
                </a:solidFill>
                <a:latin typeface="+mn-lt"/>
                <a:ea typeface="黑体" panose="02010609060101010101" pitchFamily="49" charset="-122"/>
                <a:sym typeface="+mn-ea"/>
              </a:rPr>
              <a:t>层的数据块数目就是</a:t>
            </a:r>
            <a:r>
              <a:rPr lang="en-US" altLang="zh-CN" sz="2000" i="1" dirty="0" err="1">
                <a:solidFill>
                  <a:schemeClr val="accent2"/>
                </a:solidFill>
                <a:latin typeface="+mn-lt"/>
                <a:ea typeface="黑体" panose="02010609060101010101" pitchFamily="49" charset="-122"/>
                <a:sym typeface="+mn-ea"/>
              </a:rPr>
              <a:t>e</a:t>
            </a:r>
            <a:r>
              <a:rPr lang="en-US" altLang="zh-CN" sz="2000" i="1" baseline="30000" dirty="0" err="1">
                <a:solidFill>
                  <a:schemeClr val="accent2"/>
                </a:solidFill>
                <a:latin typeface="+mn-lt"/>
                <a:ea typeface="黑体" panose="02010609060101010101" pitchFamily="49" charset="-122"/>
                <a:sym typeface="+mn-ea"/>
              </a:rPr>
              <a:t>k</a:t>
            </a:r>
            <a:r>
              <a:rPr lang="en-US" altLang="zh-CN" sz="1600" dirty="0" err="1">
                <a:solidFill>
                  <a:schemeClr val="accent2"/>
                </a:solidFill>
                <a:latin typeface="+mn-lt"/>
                <a:ea typeface="黑体" panose="02010609060101010101" pitchFamily="49" charset="-122"/>
                <a:sym typeface="+mn-ea"/>
              </a:rPr>
              <a:t>×</a:t>
            </a:r>
            <a:r>
              <a:rPr lang="en-US" altLang="zh-CN" sz="2000" i="1" dirty="0" err="1">
                <a:solidFill>
                  <a:schemeClr val="accent2"/>
                </a:solidFill>
                <a:latin typeface="+mn-lt"/>
                <a:ea typeface="黑体" panose="02010609060101010101" pitchFamily="49" charset="-122"/>
                <a:sym typeface="+mn-ea"/>
              </a:rPr>
              <a:t>n</a:t>
            </a:r>
            <a:r>
              <a:rPr lang="zh-CN" altLang="en-US" sz="2000" dirty="0">
                <a:latin typeface="+mn-lt"/>
                <a:ea typeface="黑体" panose="02010609060101010101" pitchFamily="49" charset="-122"/>
                <a:sym typeface="+mn-ea"/>
              </a:rPr>
              <a:t>。</a:t>
            </a:r>
            <a:endParaRPr lang="zh-CN" altLang="en-US" sz="2000" dirty="0">
              <a:latin typeface="+mn-lt"/>
              <a:ea typeface="黑体" panose="02010609060101010101" pitchFamily="49" charset="-122"/>
              <a:sym typeface="+mn-ea"/>
            </a:endParaRPr>
          </a:p>
        </p:txBody>
      </p:sp>
      <p:grpSp>
        <p:nvGrpSpPr>
          <p:cNvPr id="3" name="组合 2"/>
          <p:cNvGrpSpPr/>
          <p:nvPr/>
        </p:nvGrpSpPr>
        <p:grpSpPr>
          <a:xfrm>
            <a:off x="5570923" y="1828842"/>
            <a:ext cx="3407248" cy="4052146"/>
            <a:chOff x="5570923" y="1828842"/>
            <a:chExt cx="3407248" cy="4052146"/>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70923" y="1828842"/>
              <a:ext cx="3314987" cy="3596952"/>
            </a:xfrm>
            <a:prstGeom prst="rect">
              <a:avLst/>
            </a:prstGeom>
          </p:spPr>
        </p:pic>
        <p:sp>
          <p:nvSpPr>
            <p:cNvPr id="6" name="文本框 5"/>
            <p:cNvSpPr txBox="1"/>
            <p:nvPr/>
          </p:nvSpPr>
          <p:spPr>
            <a:xfrm>
              <a:off x="5794639" y="5391110"/>
              <a:ext cx="3183532"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1800" dirty="0">
                  <a:sym typeface="+mn-ea"/>
                </a:rPr>
                <a:t>龙卷风码中校验块的计算过程</a:t>
              </a:r>
              <a:endParaRPr lang="zh-CN" altLang="en-US" sz="1800" dirty="0">
                <a:sym typeface="+mn-ea"/>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龙卷风码的编码</a:t>
            </a:r>
            <a:endParaRPr lang="zh-CN" altLang="en-US" sz="2400" dirty="0">
              <a:sym typeface="+mn-ea"/>
            </a:endParaRPr>
          </a:p>
        </p:txBody>
      </p:sp>
      <p:sp>
        <p:nvSpPr>
          <p:cNvPr id="9" name="文本框 8"/>
          <p:cNvSpPr txBox="1"/>
          <p:nvPr/>
        </p:nvSpPr>
        <p:spPr>
          <a:xfrm>
            <a:off x="393964" y="990664"/>
            <a:ext cx="8347811" cy="222041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dirty="0">
                <a:latin typeface="+mn-lt"/>
                <a:sym typeface="+mn-ea"/>
              </a:rPr>
              <a:t>        下图说明，</a:t>
            </a:r>
            <a:r>
              <a:rPr lang="zh-CN" altLang="en-US" dirty="0">
                <a:solidFill>
                  <a:srgbClr val="FF0000"/>
                </a:solidFill>
                <a:latin typeface="+mn-lt"/>
                <a:sym typeface="+mn-ea"/>
              </a:rPr>
              <a:t>最后一级</a:t>
            </a:r>
            <a:r>
              <a:rPr lang="en-US" altLang="zh-CN" dirty="0">
                <a:latin typeface="+mn-lt"/>
                <a:sym typeface="+mn-ea"/>
              </a:rPr>
              <a:t>(</a:t>
            </a:r>
            <a:r>
              <a:rPr lang="zh-CN" altLang="en-US" dirty="0">
                <a:latin typeface="+mn-lt"/>
                <a:sym typeface="+mn-ea"/>
              </a:rPr>
              <a:t>也就是二部图中的</a:t>
            </a:r>
            <a:r>
              <a:rPr lang="en-US" altLang="zh-CN" i="1" dirty="0">
                <a:latin typeface="+mn-lt"/>
                <a:sym typeface="+mn-ea"/>
              </a:rPr>
              <a:t>B</a:t>
            </a:r>
            <a:r>
              <a:rPr lang="en-US" altLang="zh-CN" i="1" baseline="-25000" dirty="0">
                <a:latin typeface="+mn-lt"/>
                <a:sym typeface="+mn-ea"/>
              </a:rPr>
              <a:t>k</a:t>
            </a:r>
            <a:r>
              <a:rPr lang="en-US" altLang="zh-CN" baseline="-25000" dirty="0">
                <a:latin typeface="+mn-lt"/>
                <a:sym typeface="+mn-ea"/>
              </a:rPr>
              <a:t>+1</a:t>
            </a:r>
            <a:r>
              <a:rPr lang="en-US" altLang="zh-CN" dirty="0">
                <a:latin typeface="+mn-lt"/>
                <a:sym typeface="+mn-ea"/>
              </a:rPr>
              <a:t>)</a:t>
            </a:r>
            <a:r>
              <a:rPr lang="zh-CN" altLang="en-US" dirty="0">
                <a:solidFill>
                  <a:srgbClr val="FF0000"/>
                </a:solidFill>
                <a:latin typeface="+mn-lt"/>
                <a:sym typeface="+mn-ea"/>
              </a:rPr>
              <a:t>的计算使用传统的编码方法</a:t>
            </a:r>
            <a:r>
              <a:rPr lang="en-US" altLang="zh-CN" dirty="0">
                <a:latin typeface="+mn-lt"/>
                <a:sym typeface="+mn-ea"/>
              </a:rPr>
              <a:t>(</a:t>
            </a:r>
            <a:r>
              <a:rPr lang="zh-CN" altLang="en-US" dirty="0">
                <a:latin typeface="+mn-lt"/>
                <a:sym typeface="+mn-ea"/>
              </a:rPr>
              <a:t>如</a:t>
            </a:r>
            <a:r>
              <a:rPr lang="en-US" altLang="zh-CN" dirty="0">
                <a:latin typeface="+mn-lt"/>
                <a:sym typeface="+mn-ea"/>
              </a:rPr>
              <a:t>RS</a:t>
            </a:r>
            <a:r>
              <a:rPr lang="zh-CN" altLang="en-US" dirty="0">
                <a:latin typeface="+mn-lt"/>
                <a:sym typeface="+mn-ea"/>
              </a:rPr>
              <a:t>码的编码方法</a:t>
            </a:r>
            <a:r>
              <a:rPr lang="en-US" altLang="zh-CN" dirty="0">
                <a:latin typeface="+mn-lt"/>
                <a:sym typeface="+mn-ea"/>
              </a:rPr>
              <a:t>)</a:t>
            </a:r>
            <a:r>
              <a:rPr lang="zh-CN" altLang="en-US" dirty="0">
                <a:latin typeface="+mn-lt"/>
                <a:sym typeface="+mn-ea"/>
              </a:rPr>
              <a:t>。最后一级的运算中，</a:t>
            </a:r>
            <a:r>
              <a:rPr lang="en-US" altLang="zh-CN" i="1" dirty="0">
                <a:latin typeface="+mn-lt"/>
                <a:sym typeface="+mn-ea"/>
              </a:rPr>
              <a:t>B</a:t>
            </a:r>
            <a:r>
              <a:rPr lang="en-US" altLang="zh-CN" i="1" baseline="-25000" dirty="0">
                <a:latin typeface="+mn-lt"/>
                <a:sym typeface="+mn-ea"/>
              </a:rPr>
              <a:t>k</a:t>
            </a:r>
            <a:r>
              <a:rPr lang="en-US" altLang="zh-CN" baseline="-25000" dirty="0">
                <a:latin typeface="+mn-lt"/>
                <a:sym typeface="+mn-ea"/>
              </a:rPr>
              <a:t>+1</a:t>
            </a:r>
            <a:r>
              <a:rPr lang="zh-CN" altLang="en-US" dirty="0">
                <a:latin typeface="+mn-lt"/>
                <a:sym typeface="+mn-ea"/>
              </a:rPr>
              <a:t>和</a:t>
            </a:r>
            <a:r>
              <a:rPr lang="en-US" altLang="zh-CN" i="1" dirty="0">
                <a:latin typeface="+mn-lt"/>
                <a:sym typeface="+mn-ea"/>
              </a:rPr>
              <a:t>B</a:t>
            </a:r>
            <a:r>
              <a:rPr lang="en-US" altLang="zh-CN" i="1" baseline="-25000" dirty="0">
                <a:latin typeface="+mn-lt"/>
                <a:sym typeface="+mn-ea"/>
              </a:rPr>
              <a:t>k</a:t>
            </a:r>
            <a:r>
              <a:rPr lang="zh-CN" altLang="en-US" dirty="0">
                <a:latin typeface="+mn-lt"/>
                <a:sym typeface="+mn-ea"/>
              </a:rPr>
              <a:t>具有相同的变量节点，根据连接关系生成新节点。</a:t>
            </a:r>
            <a:endParaRPr lang="en-US" altLang="zh-CN" dirty="0">
              <a:latin typeface="+mn-lt"/>
              <a:sym typeface="+mn-ea"/>
            </a:endParaRPr>
          </a:p>
          <a:p>
            <a:pPr>
              <a:lnSpc>
                <a:spcPts val="3400"/>
              </a:lnSpc>
            </a:pPr>
            <a:r>
              <a:rPr lang="en-US" altLang="zh-CN" dirty="0">
                <a:latin typeface="+mn-lt"/>
                <a:sym typeface="+mn-ea"/>
              </a:rPr>
              <a:t>        </a:t>
            </a:r>
            <a:r>
              <a:rPr lang="zh-CN" altLang="en-US" dirty="0">
                <a:latin typeface="+mn-lt"/>
                <a:sym typeface="+mn-ea"/>
              </a:rPr>
              <a:t>至此，整个编码工作完成。发送方传输的编码就是原数据包加上校验块的总数据包。</a:t>
            </a:r>
            <a:endParaRPr lang="en-US" altLang="zh-CN" dirty="0">
              <a:latin typeface="+mn-lt"/>
              <a:sym typeface="+mn-ea"/>
            </a:endParaRPr>
          </a:p>
        </p:txBody>
      </p:sp>
      <p:grpSp>
        <p:nvGrpSpPr>
          <p:cNvPr id="3" name="组合 2"/>
          <p:cNvGrpSpPr/>
          <p:nvPr/>
        </p:nvGrpSpPr>
        <p:grpSpPr>
          <a:xfrm>
            <a:off x="2514654" y="2895614"/>
            <a:ext cx="5329784" cy="3766392"/>
            <a:chOff x="2514654" y="2895614"/>
            <a:chExt cx="5329784" cy="3766392"/>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14654" y="2895614"/>
              <a:ext cx="5329784" cy="3442429"/>
            </a:xfrm>
            <a:prstGeom prst="rect">
              <a:avLst/>
            </a:prstGeom>
          </p:spPr>
        </p:pic>
        <p:sp>
          <p:nvSpPr>
            <p:cNvPr id="5" name="文本框 4"/>
            <p:cNvSpPr txBox="1"/>
            <p:nvPr/>
          </p:nvSpPr>
          <p:spPr>
            <a:xfrm>
              <a:off x="4561398" y="6172128"/>
              <a:ext cx="2358667"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1800" dirty="0">
                  <a:sym typeface="+mn-ea"/>
                </a:rPr>
                <a:t>龙卷风码解码过程</a:t>
              </a:r>
              <a:endParaRPr lang="zh-CN" altLang="en-US" sz="1800" dirty="0">
                <a:sym typeface="+mn-ea"/>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龙卷风码的解码</a:t>
            </a:r>
            <a:endParaRPr lang="zh-CN" altLang="en-US" sz="2400" dirty="0">
              <a:sym typeface="+mn-ea"/>
            </a:endParaRPr>
          </a:p>
        </p:txBody>
      </p:sp>
      <p:sp>
        <p:nvSpPr>
          <p:cNvPr id="9" name="文本框 8"/>
          <p:cNvSpPr txBox="1"/>
          <p:nvPr/>
        </p:nvSpPr>
        <p:spPr>
          <a:xfrm>
            <a:off x="266813" y="1371654"/>
            <a:ext cx="8610374" cy="418890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latin typeface="+mn-lt"/>
                <a:sym typeface="+mn-ea"/>
              </a:rPr>
              <a:t>解码方式：</a:t>
            </a:r>
            <a:endParaRPr lang="en-US" altLang="zh-CN" dirty="0">
              <a:latin typeface="+mn-lt"/>
              <a:sym typeface="+mn-ea"/>
            </a:endParaRPr>
          </a:p>
          <a:p>
            <a:pPr>
              <a:lnSpc>
                <a:spcPts val="3600"/>
              </a:lnSpc>
            </a:pPr>
            <a:r>
              <a:rPr lang="zh-CN" altLang="en-US" dirty="0">
                <a:latin typeface="+mn-lt"/>
                <a:sym typeface="+mn-ea"/>
              </a:rPr>
              <a:t>        接收方收到</a:t>
            </a:r>
            <a:r>
              <a:rPr lang="en-US" altLang="zh-CN" i="1" dirty="0" err="1">
                <a:latin typeface="+mn-lt"/>
                <a:sym typeface="+mn-ea"/>
              </a:rPr>
              <a:t>n+m</a:t>
            </a:r>
            <a:r>
              <a:rPr lang="zh-CN" altLang="en-US" dirty="0">
                <a:latin typeface="+mn-lt"/>
                <a:sym typeface="+mn-ea"/>
              </a:rPr>
              <a:t>个数据包，如果包含源数据的</a:t>
            </a:r>
            <a:r>
              <a:rPr lang="en-US" altLang="zh-CN" i="1" dirty="0">
                <a:latin typeface="+mn-lt"/>
                <a:sym typeface="+mn-ea"/>
              </a:rPr>
              <a:t>n</a:t>
            </a:r>
            <a:r>
              <a:rPr lang="zh-CN" altLang="en-US" dirty="0">
                <a:latin typeface="+mn-lt"/>
                <a:sym typeface="+mn-ea"/>
              </a:rPr>
              <a:t>个数据包有丢失，就可以通过</a:t>
            </a:r>
            <a:r>
              <a:rPr lang="en-US" altLang="zh-CN" i="1" dirty="0">
                <a:latin typeface="+mn-lt"/>
                <a:sym typeface="+mn-ea"/>
              </a:rPr>
              <a:t>m</a:t>
            </a:r>
            <a:r>
              <a:rPr lang="zh-CN" altLang="en-US" dirty="0">
                <a:latin typeface="+mn-lt"/>
                <a:sym typeface="+mn-ea"/>
              </a:rPr>
              <a:t>个冗余数据包进行重构。</a:t>
            </a:r>
            <a:endParaRPr lang="en-US" altLang="zh-CN" dirty="0">
              <a:latin typeface="+mn-lt"/>
              <a:sym typeface="+mn-ea"/>
            </a:endParaRPr>
          </a:p>
          <a:p>
            <a:pPr>
              <a:lnSpc>
                <a:spcPts val="3600"/>
              </a:lnSpc>
            </a:pPr>
            <a:r>
              <a:rPr lang="en-US" altLang="zh-CN" dirty="0">
                <a:latin typeface="+mn-lt"/>
                <a:sym typeface="+mn-ea"/>
              </a:rPr>
              <a:t>        </a:t>
            </a:r>
            <a:r>
              <a:rPr lang="zh-CN" altLang="en-US" dirty="0">
                <a:solidFill>
                  <a:srgbClr val="FF0000"/>
                </a:solidFill>
                <a:latin typeface="+mn-lt"/>
                <a:sym typeface="+mn-ea"/>
              </a:rPr>
              <a:t>解码过程实际上是一个在二部图上去边的过程</a:t>
            </a:r>
            <a:r>
              <a:rPr lang="zh-CN" altLang="en-US" dirty="0">
                <a:latin typeface="+mn-lt"/>
                <a:sym typeface="+mn-ea"/>
              </a:rPr>
              <a:t>，从最高级二部图开始：</a:t>
            </a:r>
            <a:r>
              <a:rPr lang="en-US" altLang="zh-CN" dirty="0">
                <a:latin typeface="+mn-lt"/>
                <a:sym typeface="+mn-ea"/>
              </a:rPr>
              <a:t>	(</a:t>
            </a:r>
            <a:r>
              <a:rPr lang="en-US" altLang="zh-CN" dirty="0">
                <a:latin typeface="+mn-lt"/>
                <a:sym typeface="Wingdings" panose="05000000000000000000" pitchFamily="2" charset="2"/>
              </a:rPr>
              <a:t>1)</a:t>
            </a:r>
            <a:r>
              <a:rPr lang="zh-CN" altLang="en-US" dirty="0">
                <a:latin typeface="+mn-lt"/>
                <a:sym typeface="+mn-ea"/>
              </a:rPr>
              <a:t>首先，利用</a:t>
            </a:r>
            <a:r>
              <a:rPr lang="en-US" altLang="zh-CN" i="1" dirty="0">
                <a:latin typeface="+mn-lt"/>
                <a:sym typeface="+mn-ea"/>
              </a:rPr>
              <a:t>B</a:t>
            </a:r>
            <a:r>
              <a:rPr lang="en-US" altLang="zh-CN" i="1" baseline="-25000" dirty="0">
                <a:latin typeface="+mn-lt"/>
                <a:sym typeface="+mn-ea"/>
              </a:rPr>
              <a:t>k</a:t>
            </a:r>
            <a:r>
              <a:rPr lang="zh-CN" altLang="en-US" dirty="0">
                <a:latin typeface="+mn-lt"/>
                <a:sym typeface="+mn-ea"/>
              </a:rPr>
              <a:t>和</a:t>
            </a:r>
            <a:r>
              <a:rPr lang="en-US" altLang="zh-CN" i="1" dirty="0">
                <a:latin typeface="+mn-lt"/>
                <a:sym typeface="+mn-ea"/>
              </a:rPr>
              <a:t>B</a:t>
            </a:r>
            <a:r>
              <a:rPr lang="en-US" altLang="zh-CN" i="1" baseline="-25000" dirty="0">
                <a:latin typeface="+mn-lt"/>
                <a:sym typeface="+mn-ea"/>
              </a:rPr>
              <a:t>k</a:t>
            </a:r>
            <a:r>
              <a:rPr lang="en-US" altLang="zh-CN" baseline="-25000" dirty="0">
                <a:latin typeface="+mn-lt"/>
                <a:sym typeface="+mn-ea"/>
              </a:rPr>
              <a:t>+1</a:t>
            </a:r>
            <a:r>
              <a:rPr lang="zh-CN" altLang="en-US" dirty="0">
                <a:latin typeface="+mn-lt"/>
                <a:sym typeface="+mn-ea"/>
              </a:rPr>
              <a:t>得到它们的信息块，即</a:t>
            </a:r>
            <a:r>
              <a:rPr lang="en-US" altLang="zh-CN" i="1" dirty="0">
                <a:latin typeface="+mn-lt"/>
                <a:sym typeface="+mn-ea"/>
              </a:rPr>
              <a:t>B</a:t>
            </a:r>
            <a:r>
              <a:rPr lang="en-US" altLang="zh-CN" i="1" baseline="-25000" dirty="0">
                <a:latin typeface="+mn-lt"/>
                <a:sym typeface="+mn-ea"/>
              </a:rPr>
              <a:t>k</a:t>
            </a:r>
            <a:r>
              <a:rPr lang="en-US" altLang="zh-CN" baseline="-25000" dirty="0">
                <a:latin typeface="+mn-lt"/>
                <a:sym typeface="+mn-ea"/>
              </a:rPr>
              <a:t>-1</a:t>
            </a:r>
            <a:r>
              <a:rPr lang="zh-CN" altLang="en-US" dirty="0">
                <a:latin typeface="+mn-lt"/>
                <a:sym typeface="+mn-ea"/>
              </a:rPr>
              <a:t>的校验块。</a:t>
            </a:r>
            <a:endParaRPr lang="en-US" altLang="zh-CN" dirty="0">
              <a:latin typeface="+mn-lt"/>
              <a:sym typeface="+mn-ea"/>
            </a:endParaRPr>
          </a:p>
          <a:p>
            <a:pPr>
              <a:lnSpc>
                <a:spcPts val="3600"/>
              </a:lnSpc>
            </a:pPr>
            <a:r>
              <a:rPr lang="en-US" altLang="zh-CN" dirty="0">
                <a:latin typeface="+mn-lt"/>
                <a:sym typeface="+mn-ea"/>
              </a:rPr>
              <a:t>	(2)</a:t>
            </a:r>
            <a:r>
              <a:rPr lang="zh-CN" altLang="en-US" dirty="0">
                <a:latin typeface="+mn-lt"/>
                <a:sym typeface="+mn-ea"/>
              </a:rPr>
              <a:t>然后，依次得到</a:t>
            </a:r>
            <a:r>
              <a:rPr lang="en-US" altLang="zh-CN" i="1" dirty="0">
                <a:latin typeface="+mn-lt"/>
                <a:sym typeface="+mn-ea"/>
              </a:rPr>
              <a:t>B</a:t>
            </a:r>
            <a:r>
              <a:rPr lang="en-US" altLang="zh-CN" i="1" baseline="-25000" dirty="0">
                <a:latin typeface="+mn-lt"/>
                <a:sym typeface="+mn-ea"/>
              </a:rPr>
              <a:t>k</a:t>
            </a:r>
            <a:r>
              <a:rPr lang="en-US" altLang="zh-CN" baseline="-25000" dirty="0">
                <a:latin typeface="+mn-lt"/>
                <a:sym typeface="+mn-ea"/>
              </a:rPr>
              <a:t>-2</a:t>
            </a:r>
            <a:r>
              <a:rPr lang="en-US" altLang="zh-CN" dirty="0">
                <a:latin typeface="+mn-lt"/>
                <a:sym typeface="+mn-ea"/>
              </a:rPr>
              <a:t>,...,</a:t>
            </a:r>
            <a:r>
              <a:rPr lang="en-US" altLang="zh-CN" i="1" dirty="0">
                <a:latin typeface="+mn-lt"/>
                <a:sym typeface="+mn-ea"/>
              </a:rPr>
              <a:t>B</a:t>
            </a:r>
            <a:r>
              <a:rPr lang="en-US" altLang="zh-CN" baseline="-25000" dirty="0">
                <a:latin typeface="+mn-lt"/>
                <a:sym typeface="+mn-ea"/>
              </a:rPr>
              <a:t>1</a:t>
            </a:r>
            <a:r>
              <a:rPr lang="en-US" altLang="zh-CN" dirty="0">
                <a:latin typeface="+mn-lt"/>
                <a:sym typeface="+mn-ea"/>
              </a:rPr>
              <a:t>,</a:t>
            </a:r>
            <a:r>
              <a:rPr lang="en-US" altLang="zh-CN" i="1" dirty="0">
                <a:latin typeface="+mn-lt"/>
                <a:sym typeface="+mn-ea"/>
              </a:rPr>
              <a:t>B</a:t>
            </a:r>
            <a:r>
              <a:rPr lang="en-US" altLang="zh-CN" baseline="-25000" dirty="0">
                <a:latin typeface="+mn-lt"/>
                <a:sym typeface="+mn-ea"/>
              </a:rPr>
              <a:t>0</a:t>
            </a:r>
            <a:r>
              <a:rPr lang="zh-CN" altLang="en-US" dirty="0">
                <a:latin typeface="+mn-lt"/>
                <a:sym typeface="+mn-ea"/>
              </a:rPr>
              <a:t>的校验块。</a:t>
            </a:r>
            <a:endParaRPr lang="en-US" altLang="zh-CN" dirty="0">
              <a:latin typeface="+mn-lt"/>
              <a:sym typeface="+mn-ea"/>
            </a:endParaRPr>
          </a:p>
          <a:p>
            <a:pPr>
              <a:lnSpc>
                <a:spcPts val="3600"/>
              </a:lnSpc>
            </a:pPr>
            <a:r>
              <a:rPr lang="en-US" altLang="zh-CN" dirty="0">
                <a:latin typeface="+mn-lt"/>
                <a:sym typeface="+mn-ea"/>
              </a:rPr>
              <a:t>	(3)</a:t>
            </a:r>
            <a:r>
              <a:rPr lang="zh-CN" altLang="en-US" dirty="0">
                <a:latin typeface="+mn-lt"/>
                <a:sym typeface="+mn-ea"/>
              </a:rPr>
              <a:t>最后，得到</a:t>
            </a:r>
            <a:r>
              <a:rPr lang="en-US" altLang="zh-CN" i="1" dirty="0">
                <a:latin typeface="+mn-lt"/>
                <a:sym typeface="+mn-ea"/>
              </a:rPr>
              <a:t>B</a:t>
            </a:r>
            <a:r>
              <a:rPr lang="en-US" altLang="zh-CN" baseline="-25000" dirty="0">
                <a:latin typeface="+mn-lt"/>
                <a:sym typeface="+mn-ea"/>
              </a:rPr>
              <a:t>0</a:t>
            </a:r>
            <a:r>
              <a:rPr lang="zh-CN" altLang="en-US" dirty="0">
                <a:latin typeface="+mn-lt"/>
                <a:sym typeface="+mn-ea"/>
              </a:rPr>
              <a:t>的</a:t>
            </a:r>
            <a:r>
              <a:rPr lang="en-US" altLang="zh-CN" i="1" dirty="0">
                <a:latin typeface="+mn-lt"/>
                <a:sym typeface="+mn-ea"/>
              </a:rPr>
              <a:t>m</a:t>
            </a:r>
            <a:r>
              <a:rPr lang="zh-CN" altLang="en-US" dirty="0">
                <a:latin typeface="+mn-lt"/>
                <a:sym typeface="+mn-ea"/>
              </a:rPr>
              <a:t>个信息块。</a:t>
            </a:r>
            <a:endParaRPr lang="en-US" altLang="zh-CN" dirty="0">
              <a:latin typeface="+mn-lt"/>
              <a:sym typeface="+mn-ea"/>
            </a:endParaRPr>
          </a:p>
          <a:p>
            <a:pPr>
              <a:lnSpc>
                <a:spcPts val="3600"/>
              </a:lnSpc>
            </a:pPr>
            <a:r>
              <a:rPr lang="en-US" altLang="zh-CN" dirty="0">
                <a:latin typeface="+mn-lt"/>
                <a:sym typeface="+mn-ea"/>
              </a:rPr>
              <a:t>        </a:t>
            </a:r>
            <a:r>
              <a:rPr lang="zh-CN" altLang="en-US" dirty="0">
                <a:latin typeface="+mn-lt"/>
                <a:sym typeface="+mn-ea"/>
              </a:rPr>
              <a:t>当然，如果在解码开始时就已经得到了某一层</a:t>
            </a:r>
            <a:r>
              <a:rPr lang="en-US" altLang="zh-CN" i="1" dirty="0">
                <a:latin typeface="+mn-lt"/>
                <a:sym typeface="+mn-ea"/>
              </a:rPr>
              <a:t>B</a:t>
            </a:r>
            <a:r>
              <a:rPr lang="en-US" altLang="zh-CN" i="1" baseline="-25000" dirty="0">
                <a:latin typeface="+mn-lt"/>
                <a:sym typeface="+mn-ea"/>
              </a:rPr>
              <a:t>i</a:t>
            </a:r>
            <a:r>
              <a:rPr lang="en-US" altLang="zh-CN" dirty="0">
                <a:latin typeface="+mn-lt"/>
                <a:sym typeface="+mn-ea"/>
              </a:rPr>
              <a:t>(0</a:t>
            </a:r>
            <a:r>
              <a:rPr lang="zh-CN" altLang="en-US" dirty="0">
                <a:latin typeface="+mn-lt"/>
                <a:sym typeface="+mn-ea"/>
              </a:rPr>
              <a:t>≤</a:t>
            </a:r>
            <a:r>
              <a:rPr lang="en-US" altLang="zh-CN" i="1" dirty="0" err="1">
                <a:latin typeface="+mn-lt"/>
                <a:sym typeface="+mn-ea"/>
              </a:rPr>
              <a:t>i</a:t>
            </a:r>
            <a:r>
              <a:rPr lang="en-US" altLang="zh-CN" dirty="0">
                <a:latin typeface="+mn-lt"/>
                <a:sym typeface="+mn-ea"/>
              </a:rPr>
              <a:t>&lt;</a:t>
            </a:r>
            <a:r>
              <a:rPr lang="en-US" altLang="zh-CN" i="1" dirty="0">
                <a:latin typeface="+mn-lt"/>
                <a:sym typeface="+mn-ea"/>
              </a:rPr>
              <a:t>k</a:t>
            </a:r>
            <a:r>
              <a:rPr lang="en-US" altLang="zh-CN" dirty="0">
                <a:latin typeface="+mn-lt"/>
                <a:sym typeface="+mn-ea"/>
              </a:rPr>
              <a:t>)</a:t>
            </a:r>
            <a:r>
              <a:rPr lang="zh-CN" altLang="en-US" dirty="0">
                <a:latin typeface="+mn-lt"/>
                <a:sym typeface="+mn-ea"/>
              </a:rPr>
              <a:t>的所有校验块，那么就可以直接从</a:t>
            </a:r>
            <a:r>
              <a:rPr lang="en-US" altLang="zh-CN" i="1" dirty="0">
                <a:latin typeface="+mn-lt"/>
                <a:sym typeface="+mn-ea"/>
              </a:rPr>
              <a:t>B</a:t>
            </a:r>
            <a:r>
              <a:rPr lang="en-US" altLang="zh-CN" i="1" baseline="-25000" dirty="0">
                <a:latin typeface="+mn-lt"/>
                <a:sym typeface="+mn-ea"/>
              </a:rPr>
              <a:t>i</a:t>
            </a:r>
            <a:r>
              <a:rPr lang="zh-CN" altLang="en-US" dirty="0">
                <a:latin typeface="+mn-lt"/>
                <a:sym typeface="+mn-ea"/>
              </a:rPr>
              <a:t>开始解码。</a:t>
            </a:r>
            <a:endParaRPr lang="en-US" altLang="zh-CN" dirty="0">
              <a:latin typeface="+mn-lt"/>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龙卷风码的容错性和数据恢复</a:t>
            </a:r>
            <a:endParaRPr lang="zh-CN" altLang="en-US" sz="2400" dirty="0">
              <a:sym typeface="+mn-ea"/>
            </a:endParaRPr>
          </a:p>
        </p:txBody>
      </p:sp>
      <p:sp>
        <p:nvSpPr>
          <p:cNvPr id="8" name="文本框 7"/>
          <p:cNvSpPr txBox="1"/>
          <p:nvPr/>
        </p:nvSpPr>
        <p:spPr>
          <a:xfrm>
            <a:off x="381109" y="1066862"/>
            <a:ext cx="8571755" cy="134838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dirty="0">
                <a:solidFill>
                  <a:srgbClr val="FF0000"/>
                </a:solidFill>
                <a:latin typeface="+mn-lt"/>
                <a:sym typeface="+mn-ea"/>
              </a:rPr>
              <a:t>容错性：</a:t>
            </a:r>
            <a:endParaRPr lang="en-US" altLang="zh-CN" dirty="0">
              <a:solidFill>
                <a:srgbClr val="FF0000"/>
              </a:solidFill>
              <a:latin typeface="+mn-lt"/>
              <a:sym typeface="+mn-ea"/>
            </a:endParaRPr>
          </a:p>
          <a:p>
            <a:pPr>
              <a:lnSpc>
                <a:spcPts val="3400"/>
              </a:lnSpc>
            </a:pPr>
            <a:r>
              <a:rPr lang="en-US" altLang="zh-CN" dirty="0">
                <a:latin typeface="+mn-lt"/>
                <a:sym typeface="+mn-ea"/>
              </a:rPr>
              <a:t>        </a:t>
            </a:r>
            <a:r>
              <a:rPr lang="zh-CN" altLang="en-US" dirty="0">
                <a:latin typeface="+mn-lt"/>
                <a:sym typeface="+mn-ea"/>
              </a:rPr>
              <a:t>如果与某一校验节点相邻的信息节点中存在一个丢失数据的信息节点</a:t>
            </a:r>
            <a:r>
              <a:rPr lang="en-US" altLang="zh-CN" dirty="0">
                <a:latin typeface="+mn-lt"/>
                <a:sym typeface="+mn-ea"/>
              </a:rPr>
              <a:t>, </a:t>
            </a:r>
            <a:r>
              <a:rPr lang="zh-CN" altLang="en-US" dirty="0">
                <a:latin typeface="+mn-lt"/>
                <a:sym typeface="+mn-ea"/>
              </a:rPr>
              <a:t>那么可以通过该校验节点和其它节点进行异或运算，得到丢失的信息数据。</a:t>
            </a:r>
            <a:endParaRPr lang="en-US" altLang="zh-CN" dirty="0">
              <a:latin typeface="+mn-lt"/>
              <a:sym typeface="+mn-ea"/>
            </a:endParaRPr>
          </a:p>
        </p:txBody>
      </p:sp>
      <p:sp>
        <p:nvSpPr>
          <p:cNvPr id="10" name="文本框 9"/>
          <p:cNvSpPr txBox="1"/>
          <p:nvPr/>
        </p:nvSpPr>
        <p:spPr>
          <a:xfrm>
            <a:off x="381108" y="2514624"/>
            <a:ext cx="8571755" cy="352846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dirty="0">
                <a:solidFill>
                  <a:srgbClr val="FF0000"/>
                </a:solidFill>
                <a:latin typeface="+mn-lt"/>
                <a:sym typeface="+mn-ea"/>
              </a:rPr>
              <a:t>数据恢复：</a:t>
            </a:r>
            <a:endParaRPr lang="en-US" altLang="zh-CN" dirty="0">
              <a:solidFill>
                <a:srgbClr val="FF0000"/>
              </a:solidFill>
              <a:latin typeface="+mn-lt"/>
              <a:sym typeface="+mn-ea"/>
            </a:endParaRPr>
          </a:p>
          <a:p>
            <a:pPr>
              <a:lnSpc>
                <a:spcPts val="3400"/>
              </a:lnSpc>
            </a:pPr>
            <a:r>
              <a:rPr lang="zh-CN" altLang="en-US" sz="2000" dirty="0">
                <a:latin typeface="+mn-lt"/>
                <a:sym typeface="+mn-ea"/>
              </a:rPr>
              <a:t>        这里的“信息节点”与“校验节点”是</a:t>
            </a:r>
            <a:r>
              <a:rPr lang="zh-CN" altLang="en-US" sz="2000" dirty="0">
                <a:solidFill>
                  <a:schemeClr val="accent2"/>
                </a:solidFill>
                <a:latin typeface="+mn-lt"/>
                <a:sym typeface="+mn-ea"/>
              </a:rPr>
              <a:t>相对的</a:t>
            </a:r>
            <a:r>
              <a:rPr lang="zh-CN" altLang="en-US" sz="2000" dirty="0">
                <a:latin typeface="+mn-lt"/>
                <a:sym typeface="+mn-ea"/>
              </a:rPr>
              <a:t>，在每一层异或运算中，参数节点称为“信息节点”，生成节点称为“校验节点”。具体步骤如下：</a:t>
            </a:r>
            <a:endParaRPr lang="en-US" altLang="zh-CN" sz="2000" dirty="0">
              <a:latin typeface="+mn-lt"/>
              <a:sym typeface="+mn-ea"/>
            </a:endParaRPr>
          </a:p>
          <a:p>
            <a:pPr>
              <a:lnSpc>
                <a:spcPts val="3400"/>
              </a:lnSpc>
            </a:pPr>
            <a:r>
              <a:rPr lang="en-US" altLang="zh-CN" sz="2000" dirty="0">
                <a:latin typeface="+mn-lt"/>
                <a:sym typeface="+mn-ea"/>
              </a:rPr>
              <a:t>        (1)</a:t>
            </a:r>
            <a:r>
              <a:rPr lang="zh-CN" altLang="en-US" sz="2000" dirty="0">
                <a:latin typeface="+mn-lt"/>
                <a:sym typeface="+mn-ea"/>
              </a:rPr>
              <a:t>所有校验节点赋初始值</a:t>
            </a:r>
            <a:r>
              <a:rPr lang="en-US" altLang="zh-CN" sz="2000" dirty="0">
                <a:latin typeface="+mn-lt"/>
                <a:sym typeface="+mn-ea"/>
              </a:rPr>
              <a:t>0</a:t>
            </a:r>
            <a:r>
              <a:rPr lang="zh-CN" altLang="en-US" sz="2000" dirty="0">
                <a:latin typeface="+mn-lt"/>
                <a:sym typeface="+mn-ea"/>
              </a:rPr>
              <a:t>，所有信息节点根据接收的信息赋值为</a:t>
            </a:r>
            <a:r>
              <a:rPr lang="en-US" altLang="zh-CN" sz="2000" dirty="0">
                <a:latin typeface="+mn-lt"/>
                <a:sym typeface="+mn-ea"/>
              </a:rPr>
              <a:t>0,1,</a:t>
            </a:r>
            <a:r>
              <a:rPr lang="zh-CN" altLang="en-US" sz="2000" dirty="0">
                <a:latin typeface="+mn-lt"/>
                <a:sym typeface="+mn-ea"/>
              </a:rPr>
              <a:t>或</a:t>
            </a:r>
            <a:r>
              <a:rPr lang="en-US" altLang="zh-CN" sz="2000" dirty="0">
                <a:latin typeface="+mn-lt"/>
                <a:sym typeface="+mn-ea"/>
              </a:rPr>
              <a:t>D (</a:t>
            </a:r>
            <a:r>
              <a:rPr lang="zh-CN" altLang="en-US" sz="2000" dirty="0">
                <a:latin typeface="+mn-lt"/>
                <a:sym typeface="+mn-ea"/>
              </a:rPr>
              <a:t>删除</a:t>
            </a:r>
            <a:r>
              <a:rPr lang="en-US" altLang="zh-CN" sz="2000" dirty="0">
                <a:latin typeface="+mn-lt"/>
                <a:sym typeface="+mn-ea"/>
              </a:rPr>
              <a:t>)</a:t>
            </a:r>
            <a:r>
              <a:rPr lang="zh-CN" altLang="en-US" sz="2000" dirty="0">
                <a:latin typeface="+mn-lt"/>
                <a:sym typeface="+mn-ea"/>
              </a:rPr>
              <a:t>。</a:t>
            </a:r>
            <a:endParaRPr lang="en-US" altLang="zh-CN" sz="2000" dirty="0">
              <a:latin typeface="+mn-lt"/>
              <a:sym typeface="+mn-ea"/>
            </a:endParaRPr>
          </a:p>
          <a:p>
            <a:pPr>
              <a:lnSpc>
                <a:spcPts val="3400"/>
              </a:lnSpc>
            </a:pPr>
            <a:r>
              <a:rPr lang="en-US" altLang="zh-CN" sz="2000" dirty="0">
                <a:latin typeface="+mn-lt"/>
                <a:sym typeface="+mn-ea"/>
              </a:rPr>
              <a:t>         (2)</a:t>
            </a:r>
            <a:r>
              <a:rPr lang="zh-CN" altLang="en-US" sz="2000" dirty="0">
                <a:latin typeface="+mn-lt"/>
                <a:sym typeface="+mn-ea"/>
              </a:rPr>
              <a:t>根据边的连接关系，</a:t>
            </a:r>
            <a:r>
              <a:rPr lang="zh-CN" altLang="en-US" sz="2000" dirty="0">
                <a:solidFill>
                  <a:schemeClr val="accent2"/>
                </a:solidFill>
                <a:latin typeface="+mn-lt"/>
                <a:sym typeface="+mn-ea"/>
              </a:rPr>
              <a:t>把所有未被删除的信息节点的值和与其相连的校验节点的值</a:t>
            </a:r>
            <a:r>
              <a:rPr lang="en-US" altLang="zh-CN" sz="2000" dirty="0">
                <a:solidFill>
                  <a:schemeClr val="accent2"/>
                </a:solidFill>
                <a:latin typeface="+mn-lt"/>
                <a:sym typeface="+mn-ea"/>
              </a:rPr>
              <a:t>(</a:t>
            </a:r>
            <a:r>
              <a:rPr lang="zh-CN" altLang="en-US" sz="2000" dirty="0">
                <a:solidFill>
                  <a:schemeClr val="accent2"/>
                </a:solidFill>
                <a:latin typeface="+mn-lt"/>
                <a:sym typeface="+mn-ea"/>
              </a:rPr>
              <a:t>模二</a:t>
            </a:r>
            <a:r>
              <a:rPr lang="en-US" altLang="zh-CN" sz="2000" dirty="0">
                <a:solidFill>
                  <a:schemeClr val="accent2"/>
                </a:solidFill>
                <a:latin typeface="+mn-lt"/>
                <a:sym typeface="+mn-ea"/>
              </a:rPr>
              <a:t>)</a:t>
            </a:r>
            <a:r>
              <a:rPr lang="zh-CN" altLang="en-US" sz="2000" dirty="0">
                <a:solidFill>
                  <a:schemeClr val="accent2"/>
                </a:solidFill>
                <a:latin typeface="+mn-lt"/>
                <a:sym typeface="+mn-ea"/>
              </a:rPr>
              <a:t>相加</a:t>
            </a:r>
            <a:r>
              <a:rPr lang="zh-CN" altLang="en-US" sz="2000" dirty="0">
                <a:latin typeface="+mn-lt"/>
                <a:sym typeface="+mn-ea"/>
              </a:rPr>
              <a:t>，并将得到的值作为该校验节点的新值，然后从二部图中去掉这些正确接收的变量节点以及与之相连的边。</a:t>
            </a:r>
            <a:endParaRPr lang="en-US" altLang="zh-CN" sz="2000" dirty="0">
              <a:latin typeface="+mn-lt"/>
              <a:sym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龙卷风码的数据恢复</a:t>
            </a:r>
            <a:endParaRPr lang="zh-CN" altLang="en-US" sz="2400" dirty="0">
              <a:sym typeface="+mn-ea"/>
            </a:endParaRPr>
          </a:p>
        </p:txBody>
      </p:sp>
      <p:sp>
        <p:nvSpPr>
          <p:cNvPr id="9" name="文本框 8"/>
          <p:cNvSpPr txBox="1"/>
          <p:nvPr/>
        </p:nvSpPr>
        <p:spPr>
          <a:xfrm>
            <a:off x="266813" y="1295456"/>
            <a:ext cx="8610374" cy="465056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latin typeface="+mn-lt"/>
                <a:sym typeface="+mn-ea"/>
              </a:rPr>
              <a:t>        </a:t>
            </a:r>
            <a:r>
              <a:rPr lang="en-US" altLang="zh-CN" dirty="0">
                <a:latin typeface="+mn-lt"/>
                <a:sym typeface="+mn-ea"/>
              </a:rPr>
              <a:t>(3)</a:t>
            </a:r>
            <a:r>
              <a:rPr lang="zh-CN" altLang="en-US" dirty="0">
                <a:solidFill>
                  <a:schemeClr val="accent2"/>
                </a:solidFill>
                <a:latin typeface="+mn-lt"/>
                <a:sym typeface="+mn-ea"/>
              </a:rPr>
              <a:t>在得到的二部图中寻找度数为</a:t>
            </a:r>
            <a:r>
              <a:rPr lang="en-US" altLang="zh-CN" dirty="0">
                <a:solidFill>
                  <a:schemeClr val="accent2"/>
                </a:solidFill>
                <a:latin typeface="+mn-lt"/>
                <a:sym typeface="+mn-ea"/>
              </a:rPr>
              <a:t>1</a:t>
            </a:r>
            <a:r>
              <a:rPr lang="zh-CN" altLang="en-US" dirty="0">
                <a:solidFill>
                  <a:schemeClr val="accent2"/>
                </a:solidFill>
                <a:latin typeface="+mn-lt"/>
                <a:sym typeface="+mn-ea"/>
              </a:rPr>
              <a:t>的校验节点</a:t>
            </a:r>
            <a:r>
              <a:rPr lang="zh-CN" altLang="en-US" dirty="0">
                <a:latin typeface="+mn-lt"/>
                <a:sym typeface="+mn-ea"/>
              </a:rPr>
              <a:t>。如果某一校验节点度数为</a:t>
            </a:r>
            <a:r>
              <a:rPr lang="en-US" altLang="zh-CN" dirty="0">
                <a:latin typeface="+mn-lt"/>
                <a:sym typeface="+mn-ea"/>
              </a:rPr>
              <a:t>1,</a:t>
            </a:r>
            <a:r>
              <a:rPr lang="zh-CN" altLang="en-US" dirty="0">
                <a:latin typeface="+mn-lt"/>
                <a:sym typeface="+mn-ea"/>
              </a:rPr>
              <a:t>则该校验节点的值就等于唯一与它相连的信息节点的值，此信息节点所对应的信息比特得到恢复。</a:t>
            </a:r>
            <a:endParaRPr lang="en-US" altLang="zh-CN" dirty="0">
              <a:latin typeface="+mn-lt"/>
              <a:sym typeface="+mn-ea"/>
            </a:endParaRPr>
          </a:p>
          <a:p>
            <a:pPr>
              <a:lnSpc>
                <a:spcPts val="3600"/>
              </a:lnSpc>
            </a:pPr>
            <a:r>
              <a:rPr lang="en-US" altLang="zh-CN" dirty="0">
                <a:latin typeface="+mn-lt"/>
                <a:sym typeface="+mn-ea"/>
              </a:rPr>
              <a:t>        (4)</a:t>
            </a:r>
            <a:r>
              <a:rPr lang="zh-CN" altLang="en-US" dirty="0">
                <a:latin typeface="+mn-lt"/>
                <a:sym typeface="+mn-ea"/>
              </a:rPr>
              <a:t>再根据边的连接关系，把恢复出来的信息节点的值与和它相连的校验节点的值</a:t>
            </a:r>
            <a:r>
              <a:rPr lang="en-US" altLang="zh-CN" dirty="0">
                <a:latin typeface="+mn-lt"/>
                <a:sym typeface="+mn-ea"/>
              </a:rPr>
              <a:t>(</a:t>
            </a:r>
            <a:r>
              <a:rPr lang="zh-CN" altLang="en-US" dirty="0">
                <a:latin typeface="+mn-lt"/>
                <a:sym typeface="+mn-ea"/>
              </a:rPr>
              <a:t>模二</a:t>
            </a:r>
            <a:r>
              <a:rPr lang="en-US" altLang="zh-CN" dirty="0">
                <a:latin typeface="+mn-lt"/>
                <a:sym typeface="+mn-ea"/>
              </a:rPr>
              <a:t>)</a:t>
            </a:r>
            <a:r>
              <a:rPr lang="zh-CN" altLang="en-US" dirty="0">
                <a:latin typeface="+mn-lt"/>
                <a:sym typeface="+mn-ea"/>
              </a:rPr>
              <a:t>相加，作为这些校验节点的新值，并</a:t>
            </a:r>
            <a:r>
              <a:rPr lang="zh-CN" altLang="en-US" dirty="0">
                <a:solidFill>
                  <a:schemeClr val="accent2"/>
                </a:solidFill>
                <a:latin typeface="+mn-lt"/>
                <a:sym typeface="+mn-ea"/>
              </a:rPr>
              <a:t>从二部图中去掉恢复出来的信息节点和与之相连的边</a:t>
            </a:r>
            <a:r>
              <a:rPr lang="zh-CN" altLang="en-US" dirty="0">
                <a:latin typeface="+mn-lt"/>
                <a:sym typeface="+mn-ea"/>
              </a:rPr>
              <a:t>。</a:t>
            </a:r>
            <a:endParaRPr lang="en-US" altLang="zh-CN" dirty="0">
              <a:latin typeface="+mn-lt"/>
              <a:sym typeface="+mn-ea"/>
            </a:endParaRPr>
          </a:p>
          <a:p>
            <a:pPr>
              <a:lnSpc>
                <a:spcPts val="3600"/>
              </a:lnSpc>
            </a:pPr>
            <a:r>
              <a:rPr lang="en-US" altLang="zh-CN" dirty="0">
                <a:latin typeface="+mn-lt"/>
                <a:sym typeface="+mn-ea"/>
              </a:rPr>
              <a:t>        (5) </a:t>
            </a:r>
            <a:r>
              <a:rPr lang="zh-CN" altLang="en-US" dirty="0">
                <a:latin typeface="+mn-lt"/>
                <a:sym typeface="+mn-ea"/>
              </a:rPr>
              <a:t>在去边之后的二部图中重复步骤</a:t>
            </a:r>
            <a:r>
              <a:rPr lang="en-US" altLang="zh-CN" dirty="0">
                <a:latin typeface="+mn-lt"/>
                <a:sym typeface="+mn-ea"/>
              </a:rPr>
              <a:t>(3)(4)</a:t>
            </a:r>
            <a:r>
              <a:rPr lang="zh-CN" altLang="en-US" dirty="0">
                <a:latin typeface="+mn-lt"/>
                <a:sym typeface="+mn-ea"/>
              </a:rPr>
              <a:t>，</a:t>
            </a:r>
            <a:r>
              <a:rPr lang="zh-CN" altLang="en-US" dirty="0">
                <a:solidFill>
                  <a:schemeClr val="accent2"/>
                </a:solidFill>
                <a:latin typeface="+mn-lt"/>
                <a:sym typeface="+mn-ea"/>
              </a:rPr>
              <a:t>直至二部图中不存在度数为</a:t>
            </a:r>
            <a:r>
              <a:rPr lang="en-US" altLang="zh-CN" dirty="0">
                <a:solidFill>
                  <a:schemeClr val="accent2"/>
                </a:solidFill>
                <a:latin typeface="+mn-lt"/>
                <a:sym typeface="+mn-ea"/>
              </a:rPr>
              <a:t>1</a:t>
            </a:r>
            <a:r>
              <a:rPr lang="zh-CN" altLang="en-US" dirty="0">
                <a:solidFill>
                  <a:schemeClr val="accent2"/>
                </a:solidFill>
                <a:latin typeface="+mn-lt"/>
                <a:sym typeface="+mn-ea"/>
              </a:rPr>
              <a:t>的校验节点，或所有的原数据</a:t>
            </a:r>
            <a:r>
              <a:rPr lang="en-US" altLang="zh-CN" dirty="0">
                <a:solidFill>
                  <a:schemeClr val="accent2"/>
                </a:solidFill>
                <a:latin typeface="+mn-lt"/>
                <a:sym typeface="+mn-ea"/>
              </a:rPr>
              <a:t>(message bits) </a:t>
            </a:r>
            <a:r>
              <a:rPr lang="zh-CN" altLang="en-US" dirty="0">
                <a:solidFill>
                  <a:schemeClr val="accent2"/>
                </a:solidFill>
                <a:latin typeface="+mn-lt"/>
                <a:sym typeface="+mn-ea"/>
              </a:rPr>
              <a:t>值均被恢复</a:t>
            </a:r>
            <a:r>
              <a:rPr lang="zh-CN" altLang="en-US" dirty="0">
                <a:latin typeface="+mn-lt"/>
                <a:sym typeface="+mn-ea"/>
              </a:rPr>
              <a:t>。</a:t>
            </a:r>
            <a:endParaRPr lang="en-US" altLang="zh-CN" dirty="0">
              <a:latin typeface="+mn-lt"/>
              <a:sym typeface="+mn-ea"/>
            </a:endParaRPr>
          </a:p>
          <a:p>
            <a:pPr>
              <a:lnSpc>
                <a:spcPts val="3600"/>
              </a:lnSpc>
            </a:pPr>
            <a:r>
              <a:rPr lang="en-US" altLang="zh-CN" dirty="0">
                <a:latin typeface="+mn-lt"/>
                <a:sym typeface="+mn-ea"/>
              </a:rPr>
              <a:t>         </a:t>
            </a:r>
            <a:r>
              <a:rPr lang="zh-CN" altLang="en-US" dirty="0">
                <a:latin typeface="+mn-lt"/>
                <a:sym typeface="+mn-ea"/>
              </a:rPr>
              <a:t>这样，所有能恢复的丢失数据都能被恢复。此解码过程中只有异或计算，故解码速度较其他纠删码快速。</a:t>
            </a:r>
            <a:endParaRPr lang="en-US" altLang="zh-CN" dirty="0">
              <a:latin typeface="+mn-lt"/>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龙卷风码的复杂度分析</a:t>
            </a:r>
            <a:endParaRPr lang="zh-CN" altLang="en-US" sz="2400" dirty="0">
              <a:sym typeface="+mn-ea"/>
            </a:endParaRPr>
          </a:p>
        </p:txBody>
      </p:sp>
      <p:graphicFrame>
        <p:nvGraphicFramePr>
          <p:cNvPr id="3" name="表格 3"/>
          <p:cNvGraphicFramePr>
            <a:graphicFrameLocks noGrp="1"/>
          </p:cNvGraphicFramePr>
          <p:nvPr/>
        </p:nvGraphicFramePr>
        <p:xfrm>
          <a:off x="1143091" y="1524050"/>
          <a:ext cx="6629226" cy="2599564"/>
        </p:xfrm>
        <a:graphic>
          <a:graphicData uri="http://schemas.openxmlformats.org/drawingml/2006/table">
            <a:tbl>
              <a:tblPr firstRow="1" bandRow="1">
                <a:tableStyleId>{5C22544A-7EE6-4342-B048-85BDC9FD1C3A}</a:tableStyleId>
              </a:tblPr>
              <a:tblGrid>
                <a:gridCol w="3100331"/>
                <a:gridCol w="3528895"/>
              </a:tblGrid>
              <a:tr h="649891">
                <a:tc>
                  <a:txBody>
                    <a:bodyPr/>
                    <a:lstStyle/>
                    <a:p>
                      <a:pPr algn="ctr"/>
                      <a:endParaRPr lang="zh-CN" altLang="en-US" sz="2200" b="0" dirty="0">
                        <a:solidFill>
                          <a:schemeClr val="tx1"/>
                        </a:solidFill>
                        <a:latin typeface="+mn-ea"/>
                        <a:ea typeface="+mn-ea"/>
                        <a:cs typeface="Adobe Arabic" panose="02040503050201020203" pitchFamily="18" charset="-78"/>
                      </a:endParaRPr>
                    </a:p>
                  </a:txBody>
                  <a:tcPr marL="124976" marR="124976" marT="62487" marB="62487"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2200" b="0" dirty="0">
                          <a:solidFill>
                            <a:schemeClr val="tx1"/>
                          </a:solidFill>
                          <a:latin typeface="+mn-ea"/>
                          <a:ea typeface="+mn-ea"/>
                          <a:cs typeface="Adobe Arabic" panose="02040503050201020203" pitchFamily="18" charset="-78"/>
                        </a:rPr>
                        <a:t>Tornado code</a:t>
                      </a:r>
                      <a:endParaRPr lang="zh-CN" altLang="en-US" sz="2200" b="0" dirty="0">
                        <a:solidFill>
                          <a:schemeClr val="tx1"/>
                        </a:solidFill>
                        <a:latin typeface="+mn-ea"/>
                        <a:ea typeface="+mn-ea"/>
                        <a:cs typeface="Adobe Arabic" panose="02040503050201020203" pitchFamily="18" charset="-78"/>
                      </a:endParaRPr>
                    </a:p>
                  </a:txBody>
                  <a:tcPr marL="124976" marR="124976" marT="62487" marB="62487"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649891">
                <a:tc>
                  <a:txBody>
                    <a:bodyPr/>
                    <a:lstStyle/>
                    <a:p>
                      <a:pPr algn="ctr"/>
                      <a:r>
                        <a:rPr lang="zh-CN" altLang="en-US" sz="2200" b="0" dirty="0">
                          <a:solidFill>
                            <a:schemeClr val="tx1"/>
                          </a:solidFill>
                          <a:latin typeface="+mn-ea"/>
                          <a:ea typeface="+mn-ea"/>
                          <a:cs typeface="Adobe Arabic" panose="02040503050201020203" pitchFamily="18" charset="-78"/>
                        </a:rPr>
                        <a:t>编码时间复杂度</a:t>
                      </a:r>
                      <a:endParaRPr lang="zh-CN" altLang="en-US" sz="2200" b="0" dirty="0">
                        <a:solidFill>
                          <a:schemeClr val="tx1"/>
                        </a:solidFill>
                        <a:latin typeface="+mn-ea"/>
                        <a:ea typeface="+mn-ea"/>
                        <a:cs typeface="Adobe Arabic" panose="02040503050201020203" pitchFamily="18" charset="-78"/>
                      </a:endParaRPr>
                    </a:p>
                  </a:txBody>
                  <a:tcPr marL="124976" marR="124976" marT="62487" marB="62487" anchor="ctr">
                    <a:lnT w="6350" cap="flat" cmpd="sng" algn="ctr">
                      <a:solidFill>
                        <a:schemeClr val="tx1"/>
                      </a:solidFill>
                      <a:prstDash val="solid"/>
                      <a:round/>
                      <a:headEnd type="none" w="med" len="med"/>
                      <a:tailEnd type="none" w="med" len="med"/>
                    </a:lnT>
                    <a:noFill/>
                  </a:tcPr>
                </a:tc>
                <a:tc>
                  <a:txBody>
                    <a:bodyPr/>
                    <a:lstStyle/>
                    <a:p>
                      <a:pPr algn="ctr"/>
                      <a:r>
                        <a:rPr lang="en-US" altLang="zh-CN" sz="2200" b="0" i="1" dirty="0">
                          <a:solidFill>
                            <a:schemeClr val="tx1"/>
                          </a:solidFill>
                          <a:latin typeface="+mn-ea"/>
                          <a:ea typeface="+mn-ea"/>
                          <a:cs typeface="Adobe Arabic" panose="02040503050201020203" pitchFamily="18" charset="-78"/>
                        </a:rPr>
                        <a:t>O</a:t>
                      </a:r>
                      <a:r>
                        <a:rPr lang="en-US" altLang="zh-CN" sz="2200" b="0" i="0" dirty="0">
                          <a:solidFill>
                            <a:schemeClr val="tx1"/>
                          </a:solidFill>
                          <a:latin typeface="+mn-ea"/>
                          <a:ea typeface="+mn-ea"/>
                          <a:cs typeface="Adobe Arabic" panose="02040503050201020203" pitchFamily="18" charset="-78"/>
                        </a:rPr>
                        <a:t>(</a:t>
                      </a:r>
                      <a:r>
                        <a:rPr lang="en-US" altLang="zh-CN" sz="2200" b="0" i="1" dirty="0" err="1">
                          <a:solidFill>
                            <a:schemeClr val="tx1"/>
                          </a:solidFill>
                          <a:latin typeface="+mn-ea"/>
                          <a:ea typeface="+mn-ea"/>
                          <a:cs typeface="Adobe Arabic" panose="02040503050201020203" pitchFamily="18" charset="-78"/>
                        </a:rPr>
                        <a:t>nln</a:t>
                      </a:r>
                      <a:r>
                        <a:rPr lang="en-US" altLang="zh-CN" sz="2200" b="0" i="0" dirty="0">
                          <a:solidFill>
                            <a:schemeClr val="tx1"/>
                          </a:solidFill>
                          <a:latin typeface="+mn-ea"/>
                          <a:ea typeface="+mn-ea"/>
                          <a:cs typeface="Adobe Arabic" panose="02040503050201020203" pitchFamily="18" charset="-78"/>
                        </a:rPr>
                        <a:t>(1/</a:t>
                      </a:r>
                      <a:r>
                        <a:rPr lang="en-US" altLang="zh-CN" sz="2200" b="0" i="1" dirty="0">
                          <a:solidFill>
                            <a:schemeClr val="tx1"/>
                          </a:solidFill>
                          <a:latin typeface="+mn-ea"/>
                          <a:ea typeface="+mn-ea"/>
                          <a:cs typeface="Adobe Arabic" panose="02040503050201020203" pitchFamily="18" charset="-78"/>
                        </a:rPr>
                        <a:t>e</a:t>
                      </a:r>
                      <a:r>
                        <a:rPr lang="en-US" altLang="zh-CN" sz="2200" b="0" i="0" dirty="0">
                          <a:solidFill>
                            <a:schemeClr val="tx1"/>
                          </a:solidFill>
                          <a:latin typeface="+mn-ea"/>
                          <a:ea typeface="+mn-ea"/>
                          <a:cs typeface="Adobe Arabic" panose="02040503050201020203" pitchFamily="18" charset="-78"/>
                        </a:rPr>
                        <a:t>))</a:t>
                      </a:r>
                      <a:endParaRPr lang="zh-CN" altLang="en-US" sz="2200" b="0" i="0" dirty="0">
                        <a:solidFill>
                          <a:schemeClr val="tx1"/>
                        </a:solidFill>
                        <a:latin typeface="+mn-ea"/>
                        <a:ea typeface="+mn-ea"/>
                        <a:cs typeface="Adobe Arabic" panose="02040503050201020203" pitchFamily="18" charset="-78"/>
                      </a:endParaRPr>
                    </a:p>
                  </a:txBody>
                  <a:tcPr marL="124976" marR="124976" marT="62487" marB="62487" anchor="ctr">
                    <a:lnT w="6350" cap="flat" cmpd="sng" algn="ctr">
                      <a:solidFill>
                        <a:schemeClr val="tx1"/>
                      </a:solidFill>
                      <a:prstDash val="solid"/>
                      <a:round/>
                      <a:headEnd type="none" w="med" len="med"/>
                      <a:tailEnd type="none" w="med" len="med"/>
                    </a:lnT>
                    <a:noFill/>
                  </a:tcPr>
                </a:tc>
              </a:tr>
              <a:tr h="649891">
                <a:tc>
                  <a:txBody>
                    <a:bodyPr/>
                    <a:lstStyle/>
                    <a:p>
                      <a:pPr algn="ctr"/>
                      <a:r>
                        <a:rPr lang="zh-CN" altLang="en-US" sz="2200" b="0" dirty="0">
                          <a:solidFill>
                            <a:schemeClr val="tx1"/>
                          </a:solidFill>
                          <a:latin typeface="+mn-ea"/>
                          <a:ea typeface="+mn-ea"/>
                          <a:cs typeface="Adobe Arabic" panose="02040503050201020203" pitchFamily="18" charset="-78"/>
                        </a:rPr>
                        <a:t>解码时间复杂度</a:t>
                      </a:r>
                      <a:endParaRPr lang="zh-CN" altLang="en-US" sz="2200" b="0" dirty="0">
                        <a:solidFill>
                          <a:schemeClr val="tx1"/>
                        </a:solidFill>
                        <a:latin typeface="+mn-ea"/>
                        <a:ea typeface="+mn-ea"/>
                        <a:cs typeface="Adobe Arabic" panose="02040503050201020203" pitchFamily="18" charset="-78"/>
                      </a:endParaRPr>
                    </a:p>
                  </a:txBody>
                  <a:tcPr marL="124976" marR="124976" marT="62487" marB="62487"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b="0" i="1" dirty="0">
                          <a:solidFill>
                            <a:schemeClr val="tx1"/>
                          </a:solidFill>
                          <a:latin typeface="+mn-ea"/>
                          <a:ea typeface="+mn-ea"/>
                          <a:cs typeface="Adobe Arabic" panose="02040503050201020203" pitchFamily="18" charset="-78"/>
                        </a:rPr>
                        <a:t>O</a:t>
                      </a:r>
                      <a:r>
                        <a:rPr lang="en-US" altLang="zh-CN" sz="2200" b="0" i="0" dirty="0">
                          <a:solidFill>
                            <a:schemeClr val="tx1"/>
                          </a:solidFill>
                          <a:latin typeface="+mn-ea"/>
                          <a:ea typeface="+mn-ea"/>
                          <a:cs typeface="Adobe Arabic" panose="02040503050201020203" pitchFamily="18" charset="-78"/>
                        </a:rPr>
                        <a:t>(</a:t>
                      </a:r>
                      <a:r>
                        <a:rPr lang="en-US" altLang="zh-CN" sz="2200" b="0" i="1" dirty="0" err="1">
                          <a:solidFill>
                            <a:schemeClr val="tx1"/>
                          </a:solidFill>
                          <a:latin typeface="+mn-ea"/>
                          <a:ea typeface="+mn-ea"/>
                          <a:cs typeface="Adobe Arabic" panose="02040503050201020203" pitchFamily="18" charset="-78"/>
                        </a:rPr>
                        <a:t>nln</a:t>
                      </a:r>
                      <a:r>
                        <a:rPr lang="en-US" altLang="zh-CN" sz="2200" b="0" i="0" dirty="0">
                          <a:solidFill>
                            <a:schemeClr val="tx1"/>
                          </a:solidFill>
                          <a:latin typeface="+mn-ea"/>
                          <a:ea typeface="+mn-ea"/>
                          <a:cs typeface="Adobe Arabic" panose="02040503050201020203" pitchFamily="18" charset="-78"/>
                        </a:rPr>
                        <a:t>(1/</a:t>
                      </a:r>
                      <a:r>
                        <a:rPr lang="en-US" altLang="zh-CN" sz="2200" b="0" i="1" dirty="0">
                          <a:solidFill>
                            <a:schemeClr val="tx1"/>
                          </a:solidFill>
                          <a:latin typeface="+mn-ea"/>
                          <a:ea typeface="+mn-ea"/>
                          <a:cs typeface="Adobe Arabic" panose="02040503050201020203" pitchFamily="18" charset="-78"/>
                        </a:rPr>
                        <a:t>e</a:t>
                      </a:r>
                      <a:r>
                        <a:rPr lang="en-US" altLang="zh-CN" sz="2200" b="0" i="0" dirty="0">
                          <a:solidFill>
                            <a:schemeClr val="tx1"/>
                          </a:solidFill>
                          <a:latin typeface="+mn-ea"/>
                          <a:ea typeface="+mn-ea"/>
                          <a:cs typeface="Adobe Arabic" panose="02040503050201020203" pitchFamily="18" charset="-78"/>
                        </a:rPr>
                        <a:t>))</a:t>
                      </a:r>
                      <a:endParaRPr lang="zh-CN" altLang="en-US" sz="2200" b="0" i="0" dirty="0">
                        <a:solidFill>
                          <a:schemeClr val="tx1"/>
                        </a:solidFill>
                        <a:latin typeface="+mn-ea"/>
                        <a:ea typeface="+mn-ea"/>
                        <a:cs typeface="Adobe Arabic" panose="02040503050201020203" pitchFamily="18" charset="-78"/>
                      </a:endParaRPr>
                    </a:p>
                  </a:txBody>
                  <a:tcPr marL="124976" marR="124976" marT="62487" marB="62487" anchor="ctr">
                    <a:noFill/>
                  </a:tcPr>
                </a:tc>
              </a:tr>
              <a:tr h="649891">
                <a:tc>
                  <a:txBody>
                    <a:bodyPr/>
                    <a:lstStyle/>
                    <a:p>
                      <a:pPr algn="ctr"/>
                      <a:r>
                        <a:rPr lang="zh-CN" altLang="en-US" sz="2200" b="0" dirty="0">
                          <a:solidFill>
                            <a:schemeClr val="tx1"/>
                          </a:solidFill>
                          <a:latin typeface="+mn-ea"/>
                          <a:ea typeface="+mn-ea"/>
                          <a:cs typeface="Adobe Arabic" panose="02040503050201020203" pitchFamily="18" charset="-78"/>
                        </a:rPr>
                        <a:t>编码率</a:t>
                      </a:r>
                      <a:endParaRPr lang="zh-CN" altLang="en-US" sz="2200" b="0" dirty="0">
                        <a:solidFill>
                          <a:schemeClr val="tx1"/>
                        </a:solidFill>
                        <a:latin typeface="+mn-ea"/>
                        <a:ea typeface="+mn-ea"/>
                        <a:cs typeface="Adobe Arabic" panose="02040503050201020203" pitchFamily="18" charset="-78"/>
                      </a:endParaRPr>
                    </a:p>
                  </a:txBody>
                  <a:tcPr marL="124976" marR="124976" marT="62487" marB="62487" anchor="ctr">
                    <a:lnB w="19050" cap="flat" cmpd="sng" algn="ctr">
                      <a:solidFill>
                        <a:schemeClr val="tx1"/>
                      </a:solidFill>
                      <a:prstDash val="solid"/>
                      <a:round/>
                      <a:headEnd type="none" w="med" len="med"/>
                      <a:tailEnd type="none" w="med" len="med"/>
                    </a:lnB>
                    <a:noFill/>
                  </a:tcPr>
                </a:tc>
                <a:tc>
                  <a:txBody>
                    <a:bodyPr/>
                    <a:lstStyle/>
                    <a:p>
                      <a:pPr algn="ctr"/>
                      <a:r>
                        <a:rPr lang="en-US" altLang="zh-CN" sz="2200" b="0" i="0" dirty="0">
                          <a:solidFill>
                            <a:schemeClr val="tx1"/>
                          </a:solidFill>
                          <a:latin typeface="+mn-ea"/>
                          <a:ea typeface="+mn-ea"/>
                          <a:cs typeface="Adobe Arabic" panose="02040503050201020203" pitchFamily="18" charset="-78"/>
                        </a:rPr>
                        <a:t>1</a:t>
                      </a:r>
                      <a:r>
                        <a:rPr lang="en-US" altLang="zh-CN" sz="2200" b="0" i="1" dirty="0">
                          <a:solidFill>
                            <a:schemeClr val="tx1"/>
                          </a:solidFill>
                          <a:latin typeface="+mn-ea"/>
                          <a:ea typeface="+mn-ea"/>
                          <a:cs typeface="Adobe Arabic" panose="02040503050201020203" pitchFamily="18" charset="-78"/>
                        </a:rPr>
                        <a:t>-p</a:t>
                      </a:r>
                      <a:r>
                        <a:rPr lang="en-US" altLang="zh-CN" sz="2200" b="0" i="0" dirty="0">
                          <a:solidFill>
                            <a:schemeClr val="tx1"/>
                          </a:solidFill>
                          <a:latin typeface="+mn-ea"/>
                          <a:ea typeface="+mn-ea"/>
                          <a:cs typeface="Adobe Arabic" panose="02040503050201020203" pitchFamily="18" charset="-78"/>
                        </a:rPr>
                        <a:t>(</a:t>
                      </a:r>
                      <a:r>
                        <a:rPr lang="en-US" altLang="zh-CN" sz="2200" b="0" i="1" dirty="0">
                          <a:solidFill>
                            <a:schemeClr val="tx1"/>
                          </a:solidFill>
                          <a:latin typeface="+mn-ea"/>
                          <a:ea typeface="+mn-ea"/>
                          <a:cs typeface="Adobe Arabic" panose="02040503050201020203" pitchFamily="18" charset="-78"/>
                        </a:rPr>
                        <a:t>e</a:t>
                      </a:r>
                      <a:r>
                        <a:rPr lang="en-US" altLang="zh-CN" sz="2200" b="0" i="0" dirty="0">
                          <a:solidFill>
                            <a:schemeClr val="tx1"/>
                          </a:solidFill>
                          <a:latin typeface="+mn-ea"/>
                          <a:ea typeface="+mn-ea"/>
                          <a:cs typeface="Adobe Arabic" panose="02040503050201020203" pitchFamily="18" charset="-78"/>
                        </a:rPr>
                        <a:t>)</a:t>
                      </a:r>
                      <a:r>
                        <a:rPr lang="en-US" altLang="zh-CN" sz="2200" b="0" i="1" dirty="0">
                          <a:solidFill>
                            <a:schemeClr val="tx1"/>
                          </a:solidFill>
                          <a:latin typeface="+mn-ea"/>
                          <a:ea typeface="+mn-ea"/>
                          <a:cs typeface="Adobe Arabic" panose="02040503050201020203" pitchFamily="18" charset="-78"/>
                        </a:rPr>
                        <a:t>^exp</a:t>
                      </a:r>
                      <a:r>
                        <a:rPr lang="en-US" altLang="zh-CN" sz="2200" b="0" i="0" dirty="0">
                          <a:solidFill>
                            <a:schemeClr val="tx1"/>
                          </a:solidFill>
                          <a:latin typeface="+mn-ea"/>
                          <a:ea typeface="+mn-ea"/>
                          <a:cs typeface="Adobe Arabic" panose="02040503050201020203" pitchFamily="18" charset="-78"/>
                        </a:rPr>
                        <a:t>(1+</a:t>
                      </a:r>
                      <a:r>
                        <a:rPr lang="en-US" altLang="zh-CN" sz="2200" b="0" i="1" dirty="0">
                          <a:solidFill>
                            <a:schemeClr val="tx1"/>
                          </a:solidFill>
                          <a:latin typeface="+mn-ea"/>
                          <a:ea typeface="+mn-ea"/>
                          <a:cs typeface="Adobe Arabic" panose="02040503050201020203" pitchFamily="18" charset="-78"/>
                        </a:rPr>
                        <a:t>e</a:t>
                      </a:r>
                      <a:r>
                        <a:rPr lang="en-US" altLang="zh-CN" sz="2200" b="0" i="0" dirty="0">
                          <a:solidFill>
                            <a:schemeClr val="tx1"/>
                          </a:solidFill>
                          <a:latin typeface="+mn-ea"/>
                          <a:ea typeface="+mn-ea"/>
                          <a:cs typeface="Adobe Arabic" panose="02040503050201020203" pitchFamily="18" charset="-78"/>
                        </a:rPr>
                        <a:t>)</a:t>
                      </a:r>
                      <a:endParaRPr lang="zh-CN" altLang="en-US" sz="2200" b="0" i="0" dirty="0">
                        <a:solidFill>
                          <a:schemeClr val="tx1"/>
                        </a:solidFill>
                        <a:latin typeface="+mn-ea"/>
                        <a:ea typeface="+mn-ea"/>
                        <a:cs typeface="Adobe Arabic" panose="02040503050201020203" pitchFamily="18" charset="-78"/>
                      </a:endParaRPr>
                    </a:p>
                  </a:txBody>
                  <a:tcPr marL="124976" marR="124976" marT="62487" marB="62487" anchor="ctr">
                    <a:lnB w="1905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龙卷风码的优点</a:t>
            </a:r>
            <a:endParaRPr lang="zh-CN" altLang="en-US" sz="2400" dirty="0">
              <a:sym typeface="+mn-ea"/>
            </a:endParaRPr>
          </a:p>
        </p:txBody>
      </p:sp>
      <p:sp>
        <p:nvSpPr>
          <p:cNvPr id="9" name="文本框 8"/>
          <p:cNvSpPr txBox="1"/>
          <p:nvPr/>
        </p:nvSpPr>
        <p:spPr>
          <a:xfrm>
            <a:off x="597956" y="1905040"/>
            <a:ext cx="7948088" cy="372723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latin typeface="+mn-lt"/>
                <a:sym typeface="+mn-ea"/>
              </a:rPr>
              <a:t>优点</a:t>
            </a:r>
            <a:r>
              <a:rPr lang="en-US" altLang="zh-CN" dirty="0">
                <a:latin typeface="+mn-lt"/>
                <a:sym typeface="+mn-ea"/>
              </a:rPr>
              <a:t>: </a:t>
            </a:r>
            <a:endParaRPr lang="en-US" altLang="zh-CN" dirty="0">
              <a:latin typeface="+mn-lt"/>
              <a:sym typeface="+mn-ea"/>
            </a:endParaRPr>
          </a:p>
          <a:p>
            <a:pPr>
              <a:lnSpc>
                <a:spcPts val="3600"/>
              </a:lnSpc>
            </a:pPr>
            <a:r>
              <a:rPr lang="en-US" altLang="zh-CN" dirty="0">
                <a:latin typeface="+mn-lt"/>
                <a:sym typeface="+mn-ea"/>
              </a:rPr>
              <a:t>        (1)</a:t>
            </a:r>
            <a:r>
              <a:rPr lang="zh-CN" altLang="en-US" dirty="0">
                <a:latin typeface="+mn-lt"/>
                <a:sym typeface="+mn-ea"/>
              </a:rPr>
              <a:t>由于只涉及异或操作，编码率高，其中</a:t>
            </a:r>
            <a:r>
              <a:rPr lang="en-US" altLang="zh-CN" i="1" dirty="0">
                <a:latin typeface="+mn-lt"/>
                <a:sym typeface="+mn-ea"/>
              </a:rPr>
              <a:t>p(e)</a:t>
            </a:r>
            <a:r>
              <a:rPr lang="en-US" altLang="zh-CN" dirty="0">
                <a:latin typeface="+mn-lt"/>
                <a:sym typeface="+mn-ea"/>
              </a:rPr>
              <a:t>(</a:t>
            </a:r>
            <a:r>
              <a:rPr lang="en-US" altLang="zh-CN" i="1" dirty="0">
                <a:latin typeface="+mn-lt"/>
                <a:sym typeface="+mn-ea"/>
              </a:rPr>
              <a:t>e</a:t>
            </a:r>
            <a:r>
              <a:rPr lang="zh-CN" altLang="en-US" dirty="0">
                <a:latin typeface="+mn-lt"/>
                <a:sym typeface="+mn-ea"/>
              </a:rPr>
              <a:t>是擦除概率</a:t>
            </a:r>
            <a:r>
              <a:rPr lang="en-US" altLang="zh-CN" dirty="0">
                <a:latin typeface="+mn-lt"/>
                <a:sym typeface="+mn-ea"/>
              </a:rPr>
              <a:t>)</a:t>
            </a:r>
            <a:r>
              <a:rPr lang="zh-CN" altLang="en-US" dirty="0">
                <a:latin typeface="+mn-lt"/>
                <a:sym typeface="+mn-ea"/>
              </a:rPr>
              <a:t>是一个极小量，与二部图的选择有关。</a:t>
            </a:r>
            <a:endParaRPr lang="en-US" altLang="zh-CN" dirty="0">
              <a:latin typeface="+mn-lt"/>
              <a:sym typeface="+mn-ea"/>
            </a:endParaRPr>
          </a:p>
          <a:p>
            <a:pPr>
              <a:lnSpc>
                <a:spcPts val="3600"/>
              </a:lnSpc>
            </a:pPr>
            <a:r>
              <a:rPr lang="en-US" altLang="zh-CN" dirty="0">
                <a:latin typeface="+mn-lt"/>
                <a:sym typeface="+mn-ea"/>
              </a:rPr>
              <a:t>        (2)</a:t>
            </a:r>
            <a:r>
              <a:rPr lang="zh-CN" altLang="en-US" dirty="0">
                <a:latin typeface="+mn-lt"/>
                <a:sym typeface="+mn-ea"/>
              </a:rPr>
              <a:t>编码过程提到，进行异或操作的次数，也就是二分图的边的数目，由每层中的数据块数目决定。因此该算法的复杂度为线性，编解码效率高。</a:t>
            </a:r>
            <a:endParaRPr lang="en-US" altLang="zh-CN" dirty="0">
              <a:latin typeface="+mn-lt"/>
              <a:sym typeface="+mn-ea"/>
            </a:endParaRPr>
          </a:p>
          <a:p>
            <a:pPr>
              <a:lnSpc>
                <a:spcPts val="3600"/>
              </a:lnSpc>
            </a:pPr>
            <a:r>
              <a:rPr lang="en-US" altLang="zh-CN" dirty="0">
                <a:latin typeface="+mn-lt"/>
                <a:sym typeface="+mn-ea"/>
              </a:rPr>
              <a:t>        (3)</a:t>
            </a:r>
            <a:r>
              <a:rPr lang="zh-CN" altLang="en-US" dirty="0">
                <a:latin typeface="+mn-lt"/>
                <a:sym typeface="+mn-ea"/>
              </a:rPr>
              <a:t>由于所有的丢失数据基本能恢复，龙卷风码能提供接近最优的损失保护。</a:t>
            </a:r>
            <a:endParaRPr lang="en-US" altLang="zh-CN" dirty="0">
              <a:latin typeface="+mn-lt"/>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龙卷风码的缺点</a:t>
            </a:r>
            <a:endParaRPr lang="zh-CN" altLang="en-US" sz="2400" dirty="0">
              <a:sym typeface="+mn-ea"/>
            </a:endParaRPr>
          </a:p>
        </p:txBody>
      </p:sp>
      <p:sp>
        <p:nvSpPr>
          <p:cNvPr id="9" name="文本框 8"/>
          <p:cNvSpPr txBox="1"/>
          <p:nvPr/>
        </p:nvSpPr>
        <p:spPr>
          <a:xfrm>
            <a:off x="586208" y="1905040"/>
            <a:ext cx="7971583" cy="246407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800"/>
              </a:lnSpc>
            </a:pPr>
            <a:r>
              <a:rPr lang="zh-CN" altLang="en-US" dirty="0">
                <a:latin typeface="+mn-lt"/>
                <a:sym typeface="+mn-ea"/>
              </a:rPr>
              <a:t>缺点</a:t>
            </a:r>
            <a:r>
              <a:rPr lang="en-US" altLang="zh-CN" dirty="0">
                <a:latin typeface="+mn-lt"/>
                <a:sym typeface="+mn-ea"/>
              </a:rPr>
              <a:t>: </a:t>
            </a:r>
            <a:endParaRPr lang="en-US" altLang="zh-CN" dirty="0">
              <a:latin typeface="+mn-lt"/>
              <a:sym typeface="+mn-ea"/>
            </a:endParaRPr>
          </a:p>
          <a:p>
            <a:pPr>
              <a:lnSpc>
                <a:spcPts val="3800"/>
              </a:lnSpc>
            </a:pPr>
            <a:r>
              <a:rPr lang="en-US" altLang="zh-CN" dirty="0">
                <a:latin typeface="+mn-lt"/>
                <a:sym typeface="+mn-ea"/>
              </a:rPr>
              <a:t>        (1)</a:t>
            </a:r>
            <a:r>
              <a:rPr lang="zh-CN" altLang="en-US" dirty="0">
                <a:latin typeface="+mn-lt"/>
                <a:sym typeface="+mn-ea"/>
              </a:rPr>
              <a:t>需要擦除概率</a:t>
            </a:r>
            <a:r>
              <a:rPr lang="en-US" altLang="zh-CN" i="1" dirty="0">
                <a:latin typeface="+mn-lt"/>
                <a:sym typeface="+mn-ea"/>
              </a:rPr>
              <a:t>e</a:t>
            </a:r>
            <a:r>
              <a:rPr lang="zh-CN" altLang="en-US" dirty="0">
                <a:latin typeface="+mn-lt"/>
                <a:sym typeface="+mn-ea"/>
              </a:rPr>
              <a:t>作为输入，而擦除概率难以精确获得、随时可能变化、多个接受者的擦除概率不同的特点也带来了这种算法的缺点。</a:t>
            </a:r>
            <a:endParaRPr lang="en-US" altLang="zh-CN" dirty="0">
              <a:latin typeface="+mn-lt"/>
              <a:sym typeface="+mn-ea"/>
            </a:endParaRPr>
          </a:p>
          <a:p>
            <a:pPr>
              <a:lnSpc>
                <a:spcPts val="3800"/>
              </a:lnSpc>
            </a:pPr>
            <a:r>
              <a:rPr lang="en-US" altLang="zh-CN" dirty="0">
                <a:latin typeface="+mn-lt"/>
                <a:sym typeface="+mn-ea"/>
              </a:rPr>
              <a:t>        (2)</a:t>
            </a:r>
            <a:r>
              <a:rPr lang="zh-CN" altLang="en-US" dirty="0">
                <a:latin typeface="+mn-lt"/>
                <a:sym typeface="+mn-ea"/>
              </a:rPr>
              <a:t>和</a:t>
            </a:r>
            <a:r>
              <a:rPr lang="en-US" altLang="zh-CN" dirty="0">
                <a:latin typeface="+mn-lt"/>
                <a:sym typeface="+mn-ea"/>
              </a:rPr>
              <a:t>RS Code</a:t>
            </a:r>
            <a:r>
              <a:rPr lang="zh-CN" altLang="en-US" dirty="0">
                <a:latin typeface="+mn-lt"/>
                <a:sym typeface="+mn-ea"/>
              </a:rPr>
              <a:t>一样，在数据规模较大，且在数据规模较大的情况下，编解码优势才比较明显。数据规模较小时并不能体现很大优势。</a:t>
            </a:r>
            <a:endParaRPr lang="en-US" altLang="zh-CN" sz="2400" dirty="0">
              <a:latin typeface="+mn-lt"/>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数字喷泉码</a:t>
            </a:r>
            <a:endParaRPr lang="zh-CN" altLang="en-US" sz="2400" dirty="0">
              <a:sym typeface="+mn-ea"/>
            </a:endParaRPr>
          </a:p>
        </p:txBody>
      </p:sp>
      <p:sp>
        <p:nvSpPr>
          <p:cNvPr id="9" name="文本框 8"/>
          <p:cNvSpPr txBox="1"/>
          <p:nvPr/>
        </p:nvSpPr>
        <p:spPr>
          <a:xfrm>
            <a:off x="616268" y="1004611"/>
            <a:ext cx="8162077" cy="2746201"/>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000"/>
              </a:lnSpc>
            </a:pPr>
            <a:r>
              <a:rPr lang="zh-CN" altLang="en-US" dirty="0">
                <a:latin typeface="+mn-lt"/>
                <a:sym typeface="+mn-ea"/>
              </a:rPr>
              <a:t>         </a:t>
            </a:r>
            <a:r>
              <a:rPr lang="zh-CN" altLang="en-US" dirty="0">
                <a:solidFill>
                  <a:srgbClr val="FF0000"/>
                </a:solidFill>
                <a:latin typeface="+mn-lt"/>
                <a:sym typeface="+mn-ea"/>
              </a:rPr>
              <a:t>数字喷泉码</a:t>
            </a:r>
            <a:r>
              <a:rPr lang="zh-CN" altLang="en-US" dirty="0">
                <a:latin typeface="+mn-lt"/>
                <a:sym typeface="+mn-ea"/>
              </a:rPr>
              <a:t>是一类</a:t>
            </a:r>
            <a:r>
              <a:rPr lang="zh-CN" altLang="en-US" dirty="0">
                <a:solidFill>
                  <a:srgbClr val="FF0000"/>
                </a:solidFill>
                <a:latin typeface="+mn-lt"/>
                <a:sym typeface="+mn-ea"/>
              </a:rPr>
              <a:t>码率不受限制的纠删码</a:t>
            </a:r>
            <a:r>
              <a:rPr lang="en-US" altLang="zh-CN" dirty="0">
                <a:latin typeface="+mn-lt"/>
                <a:sym typeface="+mn-ea"/>
              </a:rPr>
              <a:t>(</a:t>
            </a:r>
            <a:r>
              <a:rPr lang="en-US" altLang="zh-CN" dirty="0" err="1">
                <a:latin typeface="+mn-lt"/>
                <a:sym typeface="+mn-ea"/>
              </a:rPr>
              <a:t>Rateless</a:t>
            </a:r>
            <a:r>
              <a:rPr lang="en-US" altLang="zh-CN" dirty="0">
                <a:latin typeface="+mn-lt"/>
                <a:sym typeface="+mn-ea"/>
              </a:rPr>
              <a:t> Erasure Code)</a:t>
            </a:r>
            <a:r>
              <a:rPr lang="zh-CN" altLang="en-US" dirty="0">
                <a:latin typeface="+mn-lt"/>
                <a:sym typeface="+mn-ea"/>
              </a:rPr>
              <a:t>，也称为</a:t>
            </a:r>
            <a:r>
              <a:rPr lang="zh-CN" altLang="en-US" dirty="0">
                <a:solidFill>
                  <a:srgbClr val="FF0000"/>
                </a:solidFill>
                <a:latin typeface="+mn-lt"/>
                <a:sym typeface="+mn-ea"/>
              </a:rPr>
              <a:t>无速率编码</a:t>
            </a:r>
            <a:r>
              <a:rPr lang="zh-CN" altLang="en-US" dirty="0">
                <a:latin typeface="+mn-lt"/>
                <a:sym typeface="+mn-ea"/>
              </a:rPr>
              <a:t>，是一类基于图的线性纠删码。喷泉码是指可以由</a:t>
            </a:r>
            <a:r>
              <a:rPr lang="en-US" altLang="zh-CN" i="1" dirty="0">
                <a:latin typeface="+mn-lt"/>
                <a:sym typeface="+mn-ea"/>
              </a:rPr>
              <a:t>k</a:t>
            </a:r>
            <a:r>
              <a:rPr lang="zh-CN" altLang="en-US" dirty="0">
                <a:latin typeface="+mn-lt"/>
                <a:sym typeface="+mn-ea"/>
              </a:rPr>
              <a:t>个原始数据分组生成任意数量的编码分组，而接收方只要收到其中任意</a:t>
            </a:r>
            <a:r>
              <a:rPr lang="en-US" altLang="zh-CN" i="1" dirty="0">
                <a:latin typeface="+mn-lt"/>
                <a:sym typeface="+mn-ea"/>
              </a:rPr>
              <a:t>m</a:t>
            </a:r>
            <a:r>
              <a:rPr lang="zh-CN" altLang="en-US" dirty="0">
                <a:latin typeface="+mn-lt"/>
                <a:sym typeface="+mn-ea"/>
              </a:rPr>
              <a:t>个编码分组，即可通过译码以高概率成功恢复全部原始数据分组。</a:t>
            </a:r>
            <a:endParaRPr lang="en-US" altLang="zh-CN" dirty="0">
              <a:latin typeface="+mn-lt"/>
              <a:sym typeface="+mn-ea"/>
            </a:endParaRPr>
          </a:p>
          <a:p>
            <a:pPr>
              <a:lnSpc>
                <a:spcPts val="3000"/>
              </a:lnSpc>
            </a:pPr>
            <a:r>
              <a:rPr lang="en-US" altLang="zh-CN" dirty="0">
                <a:latin typeface="+mn-lt"/>
                <a:sym typeface="+mn-ea"/>
              </a:rPr>
              <a:t>         </a:t>
            </a:r>
            <a:r>
              <a:rPr lang="zh-CN" altLang="en-US" dirty="0">
                <a:latin typeface="+mn-lt"/>
                <a:sym typeface="+mn-ea"/>
              </a:rPr>
              <a:t>可以看到，上述编码过程就如同源源不断产生水滴</a:t>
            </a:r>
            <a:r>
              <a:rPr lang="en-US" altLang="zh-CN" dirty="0">
                <a:latin typeface="+mn-lt"/>
                <a:sym typeface="+mn-ea"/>
              </a:rPr>
              <a:t>(</a:t>
            </a:r>
            <a:r>
              <a:rPr lang="zh-CN" altLang="en-US" dirty="0">
                <a:latin typeface="+mn-lt"/>
                <a:sym typeface="+mn-ea"/>
              </a:rPr>
              <a:t>编码分组</a:t>
            </a:r>
            <a:r>
              <a:rPr lang="en-US" altLang="zh-CN" dirty="0">
                <a:latin typeface="+mn-lt"/>
                <a:sym typeface="+mn-ea"/>
              </a:rPr>
              <a:t>)</a:t>
            </a:r>
            <a:r>
              <a:rPr lang="zh-CN" altLang="en-US" dirty="0">
                <a:latin typeface="+mn-lt"/>
                <a:sym typeface="+mn-ea"/>
              </a:rPr>
              <a:t>的喷泉</a:t>
            </a:r>
            <a:r>
              <a:rPr lang="en-US" altLang="zh-CN" dirty="0">
                <a:latin typeface="+mn-lt"/>
                <a:sym typeface="+mn-ea"/>
              </a:rPr>
              <a:t>(</a:t>
            </a:r>
            <a:r>
              <a:rPr lang="zh-CN" altLang="en-US" dirty="0">
                <a:latin typeface="+mn-lt"/>
                <a:sym typeface="+mn-ea"/>
              </a:rPr>
              <a:t>编码器</a:t>
            </a:r>
            <a:r>
              <a:rPr lang="en-US" altLang="zh-CN" dirty="0">
                <a:latin typeface="+mn-lt"/>
                <a:sym typeface="+mn-ea"/>
              </a:rPr>
              <a:t>)</a:t>
            </a:r>
            <a:r>
              <a:rPr lang="zh-CN" altLang="en-US" dirty="0">
                <a:latin typeface="+mn-lt"/>
                <a:sym typeface="+mn-ea"/>
              </a:rPr>
              <a:t>，而我们只要用杯子</a:t>
            </a:r>
            <a:r>
              <a:rPr lang="en-US" altLang="zh-CN" dirty="0">
                <a:latin typeface="+mn-lt"/>
                <a:sym typeface="+mn-ea"/>
              </a:rPr>
              <a:t>(</a:t>
            </a:r>
            <a:r>
              <a:rPr lang="zh-CN" altLang="en-US" dirty="0">
                <a:latin typeface="+mn-lt"/>
                <a:sym typeface="+mn-ea"/>
              </a:rPr>
              <a:t>译码器</a:t>
            </a:r>
            <a:r>
              <a:rPr lang="en-US" altLang="zh-CN" dirty="0">
                <a:latin typeface="+mn-lt"/>
                <a:sym typeface="+mn-ea"/>
              </a:rPr>
              <a:t>)</a:t>
            </a:r>
            <a:r>
              <a:rPr lang="zh-CN" altLang="en-US" dirty="0">
                <a:latin typeface="+mn-lt"/>
                <a:sym typeface="+mn-ea"/>
              </a:rPr>
              <a:t>接收足够数量的水滴，即可达到饮用</a:t>
            </a:r>
            <a:r>
              <a:rPr lang="en-US" altLang="zh-CN" dirty="0">
                <a:latin typeface="+mn-lt"/>
                <a:sym typeface="+mn-ea"/>
              </a:rPr>
              <a:t>(</a:t>
            </a:r>
            <a:r>
              <a:rPr lang="zh-CN" altLang="en-US" dirty="0">
                <a:latin typeface="+mn-lt"/>
                <a:sym typeface="+mn-ea"/>
              </a:rPr>
              <a:t>成功译码</a:t>
            </a:r>
            <a:r>
              <a:rPr lang="en-US" altLang="zh-CN" dirty="0">
                <a:latin typeface="+mn-lt"/>
                <a:sym typeface="+mn-ea"/>
              </a:rPr>
              <a:t>)</a:t>
            </a:r>
            <a:r>
              <a:rPr lang="zh-CN" altLang="en-US" dirty="0">
                <a:latin typeface="+mn-lt"/>
                <a:sym typeface="+mn-ea"/>
              </a:rPr>
              <a:t>的目的。正因如此，该种编码被称为喷泉码。</a:t>
            </a:r>
            <a:endParaRPr lang="en-US" altLang="zh-CN" dirty="0">
              <a:latin typeface="+mn-lt"/>
              <a:sym typeface="+mn-ea"/>
            </a:endParaRPr>
          </a:p>
        </p:txBody>
      </p:sp>
      <p:sp>
        <p:nvSpPr>
          <p:cNvPr id="8" name="矩形 7"/>
          <p:cNvSpPr/>
          <p:nvPr/>
        </p:nvSpPr>
        <p:spPr>
          <a:xfrm>
            <a:off x="4648192" y="4952960"/>
            <a:ext cx="228600" cy="5333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819594" y="4089960"/>
            <a:ext cx="5504812" cy="2605346"/>
            <a:chOff x="1819594" y="4089960"/>
            <a:chExt cx="5504812" cy="2605346"/>
          </a:xfrm>
        </p:grpSpPr>
        <p:grpSp>
          <p:nvGrpSpPr>
            <p:cNvPr id="28" name="组合 27"/>
            <p:cNvGrpSpPr/>
            <p:nvPr/>
          </p:nvGrpSpPr>
          <p:grpSpPr>
            <a:xfrm>
              <a:off x="1819594" y="4089960"/>
              <a:ext cx="5504812" cy="2259385"/>
              <a:chOff x="1822333" y="4088080"/>
              <a:chExt cx="5504812" cy="2259385"/>
            </a:xfrm>
          </p:grpSpPr>
          <p:grpSp>
            <p:nvGrpSpPr>
              <p:cNvPr id="24" name="组合 23"/>
              <p:cNvGrpSpPr/>
              <p:nvPr/>
            </p:nvGrpSpPr>
            <p:grpSpPr>
              <a:xfrm>
                <a:off x="1822333" y="4088080"/>
                <a:ext cx="5504812" cy="2259385"/>
                <a:chOff x="1822333" y="4088080"/>
                <a:chExt cx="5504812" cy="2259385"/>
              </a:xfrm>
            </p:grpSpPr>
            <p:grpSp>
              <p:nvGrpSpPr>
                <p:cNvPr id="19" name="组合 18"/>
                <p:cNvGrpSpPr/>
                <p:nvPr/>
              </p:nvGrpSpPr>
              <p:grpSpPr>
                <a:xfrm>
                  <a:off x="1871662" y="4088080"/>
                  <a:ext cx="5455483" cy="2259385"/>
                  <a:chOff x="1871662" y="4088080"/>
                  <a:chExt cx="5455483" cy="2259385"/>
                </a:xfrm>
              </p:grpSpPr>
              <p:grpSp>
                <p:nvGrpSpPr>
                  <p:cNvPr id="6" name="组合 5"/>
                  <p:cNvGrpSpPr/>
                  <p:nvPr/>
                </p:nvGrpSpPr>
                <p:grpSpPr>
                  <a:xfrm>
                    <a:off x="1871662" y="4088080"/>
                    <a:ext cx="5455483" cy="2259385"/>
                    <a:chOff x="1871662" y="4088080"/>
                    <a:chExt cx="5455483" cy="2259385"/>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5100"/>
                    <a:stretch>
                      <a:fillRect/>
                    </a:stretch>
                  </p:blipFill>
                  <p:spPr>
                    <a:xfrm>
                      <a:off x="1871662" y="4114782"/>
                      <a:ext cx="5400675" cy="2232683"/>
                    </a:xfrm>
                    <a:prstGeom prst="rect">
                      <a:avLst/>
                    </a:prstGeom>
                  </p:spPr>
                </p:pic>
                <p:sp>
                  <p:nvSpPr>
                    <p:cNvPr id="5" name="矩形 4"/>
                    <p:cNvSpPr/>
                    <p:nvPr/>
                  </p:nvSpPr>
                  <p:spPr>
                    <a:xfrm>
                      <a:off x="3765906" y="5029158"/>
                      <a:ext cx="882292" cy="10667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5486376" y="5511690"/>
                      <a:ext cx="761980" cy="5080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7098545" y="5029158"/>
                      <a:ext cx="228600" cy="9143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6292460" y="5793624"/>
                      <a:ext cx="870272" cy="4522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812605" y="4819613"/>
                      <a:ext cx="685782" cy="2666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097029" y="4088080"/>
                      <a:ext cx="685782" cy="5466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椭圆 6"/>
                  <p:cNvSpPr/>
                  <p:nvPr/>
                </p:nvSpPr>
                <p:spPr>
                  <a:xfrm>
                    <a:off x="4616095" y="5116808"/>
                    <a:ext cx="228600" cy="36397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3816703" y="5147610"/>
                    <a:ext cx="228600" cy="36397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rot="17424943">
                    <a:off x="3791321" y="5405792"/>
                    <a:ext cx="228600" cy="36397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rot="3388731">
                    <a:off x="3806741" y="5693565"/>
                    <a:ext cx="228600" cy="36397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椭圆 19"/>
                <p:cNvSpPr/>
                <p:nvPr/>
              </p:nvSpPr>
              <p:spPr>
                <a:xfrm>
                  <a:off x="1827404" y="5257752"/>
                  <a:ext cx="382458" cy="59563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1822333" y="5192952"/>
                  <a:ext cx="228600" cy="36397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1822333" y="5621722"/>
                  <a:ext cx="228600" cy="36397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rot="9083987">
                  <a:off x="2371115" y="5290261"/>
                  <a:ext cx="228600" cy="36397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椭圆 24"/>
              <p:cNvSpPr/>
              <p:nvPr/>
            </p:nvSpPr>
            <p:spPr>
              <a:xfrm>
                <a:off x="2355722" y="5391224"/>
                <a:ext cx="228600" cy="36397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2595328" y="5621722"/>
                <a:ext cx="228600" cy="36397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2834934" y="5180876"/>
                <a:ext cx="273771" cy="80481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文本框 28"/>
            <p:cNvSpPr txBox="1"/>
            <p:nvPr/>
          </p:nvSpPr>
          <p:spPr>
            <a:xfrm>
              <a:off x="3389926" y="6205428"/>
              <a:ext cx="2629836"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1800" dirty="0">
                  <a:sym typeface="+mn-ea"/>
                </a:rPr>
                <a:t>数字喷泉码的形象说明</a:t>
              </a:r>
              <a:endParaRPr lang="zh-CN" altLang="en-US" sz="1800" dirty="0">
                <a:sym typeface="+mn-ea"/>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数字喷泉码的发展</a:t>
            </a:r>
            <a:endParaRPr lang="zh-CN" altLang="en-US" sz="2400" dirty="0">
              <a:sym typeface="+mn-ea"/>
            </a:endParaRPr>
          </a:p>
        </p:txBody>
      </p:sp>
      <p:sp>
        <p:nvSpPr>
          <p:cNvPr id="6" name="文本框 5"/>
          <p:cNvSpPr txBox="1"/>
          <p:nvPr/>
        </p:nvSpPr>
        <p:spPr>
          <a:xfrm>
            <a:off x="1441568" y="1000784"/>
            <a:ext cx="7449581" cy="168821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en-US" altLang="zh-CN" dirty="0">
                <a:latin typeface="+mn-lt"/>
                <a:sym typeface="+mn-ea"/>
              </a:rPr>
              <a:t>         John Byers </a:t>
            </a:r>
            <a:r>
              <a:rPr lang="zh-CN" altLang="en-US" dirty="0">
                <a:latin typeface="+mn-lt"/>
                <a:sym typeface="+mn-ea"/>
              </a:rPr>
              <a:t>及</a:t>
            </a:r>
            <a:r>
              <a:rPr lang="en-US" altLang="zh-CN" dirty="0">
                <a:latin typeface="+mn-lt"/>
                <a:sym typeface="+mn-ea"/>
              </a:rPr>
              <a:t>Michael </a:t>
            </a:r>
            <a:r>
              <a:rPr lang="en-US" altLang="zh-CN" dirty="0" err="1">
                <a:latin typeface="+mn-lt"/>
                <a:sym typeface="+mn-ea"/>
              </a:rPr>
              <a:t>Luby</a:t>
            </a:r>
            <a:r>
              <a:rPr lang="en-US" altLang="zh-CN" dirty="0">
                <a:latin typeface="+mn-lt"/>
                <a:sym typeface="+mn-ea"/>
              </a:rPr>
              <a:t> </a:t>
            </a:r>
            <a:r>
              <a:rPr lang="zh-CN" altLang="en-US" dirty="0">
                <a:latin typeface="+mn-lt"/>
                <a:sym typeface="+mn-ea"/>
              </a:rPr>
              <a:t>等人于</a:t>
            </a:r>
            <a:r>
              <a:rPr lang="en-US" altLang="zh-CN" dirty="0">
                <a:solidFill>
                  <a:srgbClr val="FF0000"/>
                </a:solidFill>
                <a:latin typeface="+mn-lt"/>
                <a:sym typeface="+mn-ea"/>
              </a:rPr>
              <a:t>1998 </a:t>
            </a:r>
            <a:r>
              <a:rPr lang="zh-CN" altLang="en-US" dirty="0">
                <a:solidFill>
                  <a:srgbClr val="FF0000"/>
                </a:solidFill>
                <a:latin typeface="+mn-lt"/>
                <a:sym typeface="+mn-ea"/>
              </a:rPr>
              <a:t>年首次提出了数字喷泉</a:t>
            </a:r>
            <a:r>
              <a:rPr lang="en-US" altLang="zh-CN" dirty="0">
                <a:solidFill>
                  <a:srgbClr val="FF0000"/>
                </a:solidFill>
                <a:latin typeface="+mn-lt"/>
                <a:sym typeface="+mn-ea"/>
              </a:rPr>
              <a:t>(Digital Fountain)</a:t>
            </a:r>
            <a:r>
              <a:rPr lang="zh-CN" altLang="en-US" dirty="0">
                <a:solidFill>
                  <a:srgbClr val="FF0000"/>
                </a:solidFill>
                <a:latin typeface="+mn-lt"/>
                <a:sym typeface="+mn-ea"/>
              </a:rPr>
              <a:t>的概念</a:t>
            </a:r>
            <a:r>
              <a:rPr lang="zh-CN" altLang="en-US" dirty="0">
                <a:latin typeface="+mn-lt"/>
                <a:sym typeface="+mn-ea"/>
              </a:rPr>
              <a:t>，它是针对大规模数据分发和可靠广播的应用特点而提出的一种理想的解决方案。但当时并未给出实用数字喷泉码设计方案。</a:t>
            </a:r>
            <a:endParaRPr lang="en-US" altLang="zh-CN" dirty="0">
              <a:latin typeface="+mn-lt"/>
              <a:sym typeface="+mn-ea"/>
            </a:endParaRPr>
          </a:p>
        </p:txBody>
      </p:sp>
      <p:grpSp>
        <p:nvGrpSpPr>
          <p:cNvPr id="5" name="组合 38"/>
          <p:cNvGrpSpPr/>
          <p:nvPr/>
        </p:nvGrpSpPr>
        <p:grpSpPr bwMode="auto">
          <a:xfrm>
            <a:off x="252851" y="1348485"/>
            <a:ext cx="992815" cy="992816"/>
            <a:chOff x="0" y="0"/>
            <a:chExt cx="941070" cy="941070"/>
          </a:xfrm>
          <a:solidFill>
            <a:schemeClr val="accent1"/>
          </a:solidFill>
        </p:grpSpPr>
        <p:sp>
          <p:nvSpPr>
            <p:cNvPr id="7" name="圆角矩形 4"/>
            <p:cNvSpPr>
              <a:spLocks noChangeArrowheads="1"/>
            </p:cNvSpPr>
            <p:nvPr/>
          </p:nvSpPr>
          <p:spPr bwMode="auto">
            <a:xfrm>
              <a:off x="0" y="0"/>
              <a:ext cx="941070" cy="941070"/>
            </a:xfrm>
            <a:prstGeom prst="roundRect">
              <a:avLst>
                <a:gd name="adj" fmla="val 13333"/>
              </a:avLst>
            </a:prstGeom>
            <a:grpFill/>
            <a:ln w="12700" cmpd="sng">
              <a:solidFill>
                <a:schemeClr val="bg1">
                  <a:alpha val="59000"/>
                </a:schemeClr>
              </a:solidFill>
              <a:round/>
            </a:ln>
          </p:spPr>
          <p:txBody>
            <a:bodyPr anchor="ctr"/>
            <a:lstStyle/>
            <a:p>
              <a:pPr algn="ctr" eaLnBrk="1" hangingPunct="1">
                <a:lnSpc>
                  <a:spcPct val="150000"/>
                </a:lnSpc>
              </a:pPr>
              <a:endParaRPr lang="zh-CN" altLang="en-US">
                <a:solidFill>
                  <a:schemeClr val="bg1">
                    <a:lumMod val="65000"/>
                  </a:schemeClr>
                </a:solidFill>
                <a:latin typeface="Arial" panose="020B0604020202020204" pitchFamily="34" charset="0"/>
                <a:ea typeface="微软雅黑" panose="020B0503020204020204" charset="-122"/>
                <a:sym typeface="Arial" panose="020B0604020202020204" pitchFamily="34" charset="0"/>
              </a:endParaRPr>
            </a:p>
          </p:txBody>
        </p:sp>
        <p:sp>
          <p:nvSpPr>
            <p:cNvPr id="9" name="Freeform 10"/>
            <p:cNvSpPr>
              <a:spLocks noEditPoints="1"/>
            </p:cNvSpPr>
            <p:nvPr/>
          </p:nvSpPr>
          <p:spPr bwMode="auto">
            <a:xfrm>
              <a:off x="174430" y="206113"/>
              <a:ext cx="628568" cy="528844"/>
            </a:xfrm>
            <a:custGeom>
              <a:avLst/>
              <a:gdLst>
                <a:gd name="T0" fmla="*/ 1050 w 1051"/>
                <a:gd name="T1" fmla="*/ 533 h 884"/>
                <a:gd name="T2" fmla="*/ 1048 w 1051"/>
                <a:gd name="T3" fmla="*/ 520 h 884"/>
                <a:gd name="T4" fmla="*/ 1046 w 1051"/>
                <a:gd name="T5" fmla="*/ 505 h 884"/>
                <a:gd name="T6" fmla="*/ 1042 w 1051"/>
                <a:gd name="T7" fmla="*/ 489 h 884"/>
                <a:gd name="T8" fmla="*/ 1040 w 1051"/>
                <a:gd name="T9" fmla="*/ 479 h 884"/>
                <a:gd name="T10" fmla="*/ 1034 w 1051"/>
                <a:gd name="T11" fmla="*/ 460 h 884"/>
                <a:gd name="T12" fmla="*/ 1034 w 1051"/>
                <a:gd name="T13" fmla="*/ 459 h 884"/>
                <a:gd name="T14" fmla="*/ 894 w 1051"/>
                <a:gd name="T15" fmla="*/ 287 h 884"/>
                <a:gd name="T16" fmla="*/ 889 w 1051"/>
                <a:gd name="T17" fmla="*/ 284 h 884"/>
                <a:gd name="T18" fmla="*/ 873 w 1051"/>
                <a:gd name="T19" fmla="*/ 275 h 884"/>
                <a:gd name="T20" fmla="*/ 863 w 1051"/>
                <a:gd name="T21" fmla="*/ 271 h 884"/>
                <a:gd name="T22" fmla="*/ 848 w 1051"/>
                <a:gd name="T23" fmla="*/ 264 h 884"/>
                <a:gd name="T24" fmla="*/ 837 w 1051"/>
                <a:gd name="T25" fmla="*/ 260 h 884"/>
                <a:gd name="T26" fmla="*/ 821 w 1051"/>
                <a:gd name="T27" fmla="*/ 255 h 884"/>
                <a:gd name="T28" fmla="*/ 819 w 1051"/>
                <a:gd name="T29" fmla="*/ 254 h 884"/>
                <a:gd name="T30" fmla="*/ 511 w 1051"/>
                <a:gd name="T31" fmla="*/ 0 h 884"/>
                <a:gd name="T32" fmla="*/ 196 w 1051"/>
                <a:gd name="T33" fmla="*/ 315 h 884"/>
                <a:gd name="T34" fmla="*/ 197 w 1051"/>
                <a:gd name="T35" fmla="*/ 330 h 884"/>
                <a:gd name="T36" fmla="*/ 0 w 1051"/>
                <a:gd name="T37" fmla="*/ 600 h 884"/>
                <a:gd name="T38" fmla="*/ 283 w 1051"/>
                <a:gd name="T39" fmla="*/ 884 h 884"/>
                <a:gd name="T40" fmla="*/ 730 w 1051"/>
                <a:gd name="T41" fmla="*/ 884 h 884"/>
                <a:gd name="T42" fmla="*/ 1051 w 1051"/>
                <a:gd name="T43" fmla="*/ 562 h 884"/>
                <a:gd name="T44" fmla="*/ 1050 w 1051"/>
                <a:gd name="T45" fmla="*/ 533 h 884"/>
                <a:gd name="T46" fmla="*/ 730 w 1051"/>
                <a:gd name="T47" fmla="*/ 825 h 884"/>
                <a:gd name="T48" fmla="*/ 283 w 1051"/>
                <a:gd name="T49" fmla="*/ 825 h 884"/>
                <a:gd name="T50" fmla="*/ 59 w 1051"/>
                <a:gd name="T51" fmla="*/ 600 h 884"/>
                <a:gd name="T52" fmla="*/ 205 w 1051"/>
                <a:gd name="T53" fmla="*/ 389 h 884"/>
                <a:gd name="T54" fmla="*/ 265 w 1051"/>
                <a:gd name="T55" fmla="*/ 512 h 884"/>
                <a:gd name="T56" fmla="*/ 288 w 1051"/>
                <a:gd name="T57" fmla="*/ 523 h 884"/>
                <a:gd name="T58" fmla="*/ 307 w 1051"/>
                <a:gd name="T59" fmla="*/ 516 h 884"/>
                <a:gd name="T60" fmla="*/ 311 w 1051"/>
                <a:gd name="T61" fmla="*/ 475 h 884"/>
                <a:gd name="T62" fmla="*/ 257 w 1051"/>
                <a:gd name="T63" fmla="*/ 348 h 884"/>
                <a:gd name="T64" fmla="*/ 257 w 1051"/>
                <a:gd name="T65" fmla="*/ 348 h 884"/>
                <a:gd name="T66" fmla="*/ 255 w 1051"/>
                <a:gd name="T67" fmla="*/ 331 h 884"/>
                <a:gd name="T68" fmla="*/ 255 w 1051"/>
                <a:gd name="T69" fmla="*/ 315 h 884"/>
                <a:gd name="T70" fmla="*/ 511 w 1051"/>
                <a:gd name="T71" fmla="*/ 59 h 884"/>
                <a:gd name="T72" fmla="*/ 756 w 1051"/>
                <a:gd name="T73" fmla="*/ 243 h 884"/>
                <a:gd name="T74" fmla="*/ 730 w 1051"/>
                <a:gd name="T75" fmla="*/ 241 h 884"/>
                <a:gd name="T76" fmla="*/ 532 w 1051"/>
                <a:gd name="T77" fmla="*/ 310 h 884"/>
                <a:gd name="T78" fmla="*/ 527 w 1051"/>
                <a:gd name="T79" fmla="*/ 351 h 884"/>
                <a:gd name="T80" fmla="*/ 568 w 1051"/>
                <a:gd name="T81" fmla="*/ 356 h 884"/>
                <a:gd name="T82" fmla="*/ 730 w 1051"/>
                <a:gd name="T83" fmla="*/ 300 h 884"/>
                <a:gd name="T84" fmla="*/ 792 w 1051"/>
                <a:gd name="T85" fmla="*/ 307 h 884"/>
                <a:gd name="T86" fmla="*/ 846 w 1051"/>
                <a:gd name="T87" fmla="*/ 327 h 884"/>
                <a:gd name="T88" fmla="*/ 851 w 1051"/>
                <a:gd name="T89" fmla="*/ 330 h 884"/>
                <a:gd name="T90" fmla="*/ 866 w 1051"/>
                <a:gd name="T91" fmla="*/ 338 h 884"/>
                <a:gd name="T92" fmla="*/ 871 w 1051"/>
                <a:gd name="T93" fmla="*/ 341 h 884"/>
                <a:gd name="T94" fmla="*/ 886 w 1051"/>
                <a:gd name="T95" fmla="*/ 352 h 884"/>
                <a:gd name="T96" fmla="*/ 888 w 1051"/>
                <a:gd name="T97" fmla="*/ 353 h 884"/>
                <a:gd name="T98" fmla="*/ 977 w 1051"/>
                <a:gd name="T99" fmla="*/ 473 h 884"/>
                <a:gd name="T100" fmla="*/ 978 w 1051"/>
                <a:gd name="T101" fmla="*/ 476 h 884"/>
                <a:gd name="T102" fmla="*/ 983 w 1051"/>
                <a:gd name="T103" fmla="*/ 493 h 884"/>
                <a:gd name="T104" fmla="*/ 985 w 1051"/>
                <a:gd name="T105" fmla="*/ 500 h 884"/>
                <a:gd name="T106" fmla="*/ 988 w 1051"/>
                <a:gd name="T107" fmla="*/ 515 h 884"/>
                <a:gd name="T108" fmla="*/ 990 w 1051"/>
                <a:gd name="T109" fmla="*/ 527 h 884"/>
                <a:gd name="T110" fmla="*/ 991 w 1051"/>
                <a:gd name="T111" fmla="*/ 538 h 884"/>
                <a:gd name="T112" fmla="*/ 993 w 1051"/>
                <a:gd name="T113" fmla="*/ 562 h 884"/>
                <a:gd name="T114" fmla="*/ 730 w 1051"/>
                <a:gd name="T115" fmla="*/ 825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51" h="884">
                  <a:moveTo>
                    <a:pt x="1050" y="533"/>
                  </a:moveTo>
                  <a:cubicBezTo>
                    <a:pt x="1049" y="529"/>
                    <a:pt x="1049" y="525"/>
                    <a:pt x="1048" y="520"/>
                  </a:cubicBezTo>
                  <a:cubicBezTo>
                    <a:pt x="1048" y="515"/>
                    <a:pt x="1047" y="510"/>
                    <a:pt x="1046" y="505"/>
                  </a:cubicBezTo>
                  <a:cubicBezTo>
                    <a:pt x="1045" y="500"/>
                    <a:pt x="1044" y="494"/>
                    <a:pt x="1042" y="489"/>
                  </a:cubicBezTo>
                  <a:cubicBezTo>
                    <a:pt x="1042" y="485"/>
                    <a:pt x="1041" y="482"/>
                    <a:pt x="1040" y="479"/>
                  </a:cubicBezTo>
                  <a:cubicBezTo>
                    <a:pt x="1038" y="473"/>
                    <a:pt x="1036" y="466"/>
                    <a:pt x="1034" y="460"/>
                  </a:cubicBezTo>
                  <a:cubicBezTo>
                    <a:pt x="1034" y="459"/>
                    <a:pt x="1034" y="459"/>
                    <a:pt x="1034" y="459"/>
                  </a:cubicBezTo>
                  <a:cubicBezTo>
                    <a:pt x="1009" y="386"/>
                    <a:pt x="959" y="326"/>
                    <a:pt x="894" y="287"/>
                  </a:cubicBezTo>
                  <a:cubicBezTo>
                    <a:pt x="893" y="286"/>
                    <a:pt x="891" y="285"/>
                    <a:pt x="889" y="284"/>
                  </a:cubicBezTo>
                  <a:cubicBezTo>
                    <a:pt x="884" y="281"/>
                    <a:pt x="878" y="278"/>
                    <a:pt x="873" y="275"/>
                  </a:cubicBezTo>
                  <a:cubicBezTo>
                    <a:pt x="870" y="274"/>
                    <a:pt x="867" y="272"/>
                    <a:pt x="863" y="271"/>
                  </a:cubicBezTo>
                  <a:cubicBezTo>
                    <a:pt x="858" y="268"/>
                    <a:pt x="853" y="266"/>
                    <a:pt x="848" y="264"/>
                  </a:cubicBezTo>
                  <a:cubicBezTo>
                    <a:pt x="844" y="262"/>
                    <a:pt x="840" y="261"/>
                    <a:pt x="837" y="260"/>
                  </a:cubicBezTo>
                  <a:cubicBezTo>
                    <a:pt x="831" y="258"/>
                    <a:pt x="826" y="256"/>
                    <a:pt x="821" y="255"/>
                  </a:cubicBezTo>
                  <a:cubicBezTo>
                    <a:pt x="820" y="254"/>
                    <a:pt x="819" y="254"/>
                    <a:pt x="819" y="254"/>
                  </a:cubicBezTo>
                  <a:cubicBezTo>
                    <a:pt x="790" y="108"/>
                    <a:pt x="661" y="0"/>
                    <a:pt x="511" y="0"/>
                  </a:cubicBezTo>
                  <a:cubicBezTo>
                    <a:pt x="337" y="0"/>
                    <a:pt x="196" y="141"/>
                    <a:pt x="196" y="315"/>
                  </a:cubicBezTo>
                  <a:cubicBezTo>
                    <a:pt x="196" y="320"/>
                    <a:pt x="196" y="325"/>
                    <a:pt x="197" y="330"/>
                  </a:cubicBezTo>
                  <a:cubicBezTo>
                    <a:pt x="81" y="367"/>
                    <a:pt x="0" y="477"/>
                    <a:pt x="0" y="600"/>
                  </a:cubicBezTo>
                  <a:cubicBezTo>
                    <a:pt x="0" y="756"/>
                    <a:pt x="127" y="884"/>
                    <a:pt x="283" y="884"/>
                  </a:cubicBezTo>
                  <a:cubicBezTo>
                    <a:pt x="730" y="884"/>
                    <a:pt x="730" y="884"/>
                    <a:pt x="730" y="884"/>
                  </a:cubicBezTo>
                  <a:cubicBezTo>
                    <a:pt x="907" y="884"/>
                    <a:pt x="1051" y="739"/>
                    <a:pt x="1051" y="562"/>
                  </a:cubicBezTo>
                  <a:cubicBezTo>
                    <a:pt x="1051" y="552"/>
                    <a:pt x="1051" y="543"/>
                    <a:pt x="1050" y="533"/>
                  </a:cubicBezTo>
                  <a:close/>
                  <a:moveTo>
                    <a:pt x="730" y="825"/>
                  </a:moveTo>
                  <a:cubicBezTo>
                    <a:pt x="283" y="825"/>
                    <a:pt x="283" y="825"/>
                    <a:pt x="283" y="825"/>
                  </a:cubicBezTo>
                  <a:cubicBezTo>
                    <a:pt x="159" y="825"/>
                    <a:pt x="59" y="724"/>
                    <a:pt x="59" y="600"/>
                  </a:cubicBezTo>
                  <a:cubicBezTo>
                    <a:pt x="59" y="506"/>
                    <a:pt x="119" y="421"/>
                    <a:pt x="205" y="389"/>
                  </a:cubicBezTo>
                  <a:cubicBezTo>
                    <a:pt x="216" y="434"/>
                    <a:pt x="236" y="476"/>
                    <a:pt x="265" y="512"/>
                  </a:cubicBezTo>
                  <a:cubicBezTo>
                    <a:pt x="271" y="519"/>
                    <a:pt x="280" y="523"/>
                    <a:pt x="288" y="523"/>
                  </a:cubicBezTo>
                  <a:cubicBezTo>
                    <a:pt x="295" y="523"/>
                    <a:pt x="301" y="520"/>
                    <a:pt x="307" y="516"/>
                  </a:cubicBezTo>
                  <a:cubicBezTo>
                    <a:pt x="319" y="506"/>
                    <a:pt x="321" y="487"/>
                    <a:pt x="311" y="475"/>
                  </a:cubicBezTo>
                  <a:cubicBezTo>
                    <a:pt x="281" y="438"/>
                    <a:pt x="263" y="395"/>
                    <a:pt x="257" y="348"/>
                  </a:cubicBezTo>
                  <a:cubicBezTo>
                    <a:pt x="257" y="348"/>
                    <a:pt x="257" y="348"/>
                    <a:pt x="257" y="348"/>
                  </a:cubicBezTo>
                  <a:cubicBezTo>
                    <a:pt x="256" y="342"/>
                    <a:pt x="256" y="336"/>
                    <a:pt x="255" y="331"/>
                  </a:cubicBezTo>
                  <a:cubicBezTo>
                    <a:pt x="255" y="326"/>
                    <a:pt x="255" y="320"/>
                    <a:pt x="255" y="315"/>
                  </a:cubicBezTo>
                  <a:cubicBezTo>
                    <a:pt x="255" y="174"/>
                    <a:pt x="369" y="59"/>
                    <a:pt x="511" y="59"/>
                  </a:cubicBezTo>
                  <a:cubicBezTo>
                    <a:pt x="625" y="59"/>
                    <a:pt x="724" y="136"/>
                    <a:pt x="756" y="243"/>
                  </a:cubicBezTo>
                  <a:cubicBezTo>
                    <a:pt x="747" y="242"/>
                    <a:pt x="739" y="241"/>
                    <a:pt x="730" y="241"/>
                  </a:cubicBezTo>
                  <a:cubicBezTo>
                    <a:pt x="657" y="241"/>
                    <a:pt x="589" y="265"/>
                    <a:pt x="532" y="310"/>
                  </a:cubicBezTo>
                  <a:cubicBezTo>
                    <a:pt x="519" y="320"/>
                    <a:pt x="517" y="338"/>
                    <a:pt x="527" y="351"/>
                  </a:cubicBezTo>
                  <a:cubicBezTo>
                    <a:pt x="537" y="364"/>
                    <a:pt x="555" y="366"/>
                    <a:pt x="568" y="356"/>
                  </a:cubicBezTo>
                  <a:cubicBezTo>
                    <a:pt x="615" y="319"/>
                    <a:pt x="671" y="300"/>
                    <a:pt x="730" y="300"/>
                  </a:cubicBezTo>
                  <a:cubicBezTo>
                    <a:pt x="751" y="300"/>
                    <a:pt x="772" y="303"/>
                    <a:pt x="792" y="307"/>
                  </a:cubicBezTo>
                  <a:cubicBezTo>
                    <a:pt x="811" y="312"/>
                    <a:pt x="829" y="319"/>
                    <a:pt x="846" y="327"/>
                  </a:cubicBezTo>
                  <a:cubicBezTo>
                    <a:pt x="848" y="328"/>
                    <a:pt x="849" y="329"/>
                    <a:pt x="851" y="330"/>
                  </a:cubicBezTo>
                  <a:cubicBezTo>
                    <a:pt x="856" y="332"/>
                    <a:pt x="861" y="335"/>
                    <a:pt x="866" y="338"/>
                  </a:cubicBezTo>
                  <a:cubicBezTo>
                    <a:pt x="868" y="339"/>
                    <a:pt x="869" y="340"/>
                    <a:pt x="871" y="341"/>
                  </a:cubicBezTo>
                  <a:cubicBezTo>
                    <a:pt x="876" y="344"/>
                    <a:pt x="881" y="348"/>
                    <a:pt x="886" y="352"/>
                  </a:cubicBezTo>
                  <a:cubicBezTo>
                    <a:pt x="887" y="352"/>
                    <a:pt x="888" y="353"/>
                    <a:pt x="888" y="353"/>
                  </a:cubicBezTo>
                  <a:cubicBezTo>
                    <a:pt x="928" y="384"/>
                    <a:pt x="959" y="425"/>
                    <a:pt x="977" y="473"/>
                  </a:cubicBezTo>
                  <a:cubicBezTo>
                    <a:pt x="977" y="474"/>
                    <a:pt x="977" y="475"/>
                    <a:pt x="978" y="476"/>
                  </a:cubicBezTo>
                  <a:cubicBezTo>
                    <a:pt x="980" y="481"/>
                    <a:pt x="981" y="487"/>
                    <a:pt x="983" y="493"/>
                  </a:cubicBezTo>
                  <a:cubicBezTo>
                    <a:pt x="984" y="495"/>
                    <a:pt x="984" y="498"/>
                    <a:pt x="985" y="500"/>
                  </a:cubicBezTo>
                  <a:cubicBezTo>
                    <a:pt x="986" y="505"/>
                    <a:pt x="987" y="510"/>
                    <a:pt x="988" y="515"/>
                  </a:cubicBezTo>
                  <a:cubicBezTo>
                    <a:pt x="989" y="519"/>
                    <a:pt x="989" y="523"/>
                    <a:pt x="990" y="527"/>
                  </a:cubicBezTo>
                  <a:cubicBezTo>
                    <a:pt x="990" y="530"/>
                    <a:pt x="991" y="534"/>
                    <a:pt x="991" y="538"/>
                  </a:cubicBezTo>
                  <a:cubicBezTo>
                    <a:pt x="992" y="546"/>
                    <a:pt x="993" y="554"/>
                    <a:pt x="993" y="562"/>
                  </a:cubicBezTo>
                  <a:cubicBezTo>
                    <a:pt x="993" y="707"/>
                    <a:pt x="875" y="825"/>
                    <a:pt x="730" y="825"/>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lnSpc>
                  <a:spcPct val="150000"/>
                </a:lnSpc>
              </a:pPr>
              <a:endParaRPr lang="zh-CN" altLang="en-US">
                <a:solidFill>
                  <a:schemeClr val="bg1">
                    <a:lumMod val="65000"/>
                  </a:schemeClr>
                </a:solidFill>
                <a:latin typeface="Arial" panose="020B0604020202020204" pitchFamily="34" charset="0"/>
                <a:ea typeface="微软雅黑" panose="020B0503020204020204" charset="-122"/>
                <a:sym typeface="Arial" panose="020B0604020202020204" pitchFamily="34" charset="0"/>
              </a:endParaRPr>
            </a:p>
          </p:txBody>
        </p:sp>
      </p:grpSp>
      <p:grpSp>
        <p:nvGrpSpPr>
          <p:cNvPr id="13" name="组合 39"/>
          <p:cNvGrpSpPr/>
          <p:nvPr/>
        </p:nvGrpSpPr>
        <p:grpSpPr bwMode="auto">
          <a:xfrm>
            <a:off x="252851" y="3113327"/>
            <a:ext cx="992815" cy="992816"/>
            <a:chOff x="0" y="0"/>
            <a:chExt cx="941070" cy="941070"/>
          </a:xfrm>
          <a:solidFill>
            <a:schemeClr val="accent2"/>
          </a:solidFill>
        </p:grpSpPr>
        <p:sp>
          <p:nvSpPr>
            <p:cNvPr id="14" name="圆角矩形 18"/>
            <p:cNvSpPr>
              <a:spLocks noChangeArrowheads="1"/>
            </p:cNvSpPr>
            <p:nvPr/>
          </p:nvSpPr>
          <p:spPr bwMode="auto">
            <a:xfrm>
              <a:off x="0" y="0"/>
              <a:ext cx="941070" cy="941070"/>
            </a:xfrm>
            <a:prstGeom prst="roundRect">
              <a:avLst>
                <a:gd name="adj" fmla="val 13333"/>
              </a:avLst>
            </a:prstGeom>
            <a:grpFill/>
            <a:ln w="12700" cmpd="sng">
              <a:solidFill>
                <a:schemeClr val="bg1">
                  <a:alpha val="59000"/>
                </a:schemeClr>
              </a:solidFill>
              <a:round/>
            </a:ln>
          </p:spPr>
          <p:txBody>
            <a:bodyPr anchor="ctr"/>
            <a:lstStyle/>
            <a:p>
              <a:pPr algn="ctr" eaLnBrk="1" hangingPunct="1">
                <a:lnSpc>
                  <a:spcPct val="150000"/>
                </a:lnSpc>
              </a:pPr>
              <a:endParaRPr lang="zh-CN" altLang="en-US">
                <a:solidFill>
                  <a:schemeClr val="bg1">
                    <a:lumMod val="65000"/>
                  </a:schemeClr>
                </a:solidFill>
                <a:latin typeface="Arial" panose="020B0604020202020204" pitchFamily="34" charset="0"/>
                <a:ea typeface="微软雅黑" panose="020B0503020204020204" charset="-122"/>
                <a:sym typeface="Arial" panose="020B0604020202020204" pitchFamily="34" charset="0"/>
              </a:endParaRPr>
            </a:p>
          </p:txBody>
        </p:sp>
        <p:pic>
          <p:nvPicPr>
            <p:cNvPr id="15" name="组合 25"/>
            <p:cNvPicPr>
              <a:picLocks noChangeArrowheads="1"/>
            </p:cNvPicPr>
            <p:nvPr/>
          </p:nvPicPr>
          <p:blipFill>
            <a:blip r:embed="rId1"/>
            <a:srcRect/>
            <a:stretch>
              <a:fillRect/>
            </a:stretch>
          </p:blipFill>
          <p:spPr bwMode="auto">
            <a:xfrm>
              <a:off x="148730" y="152602"/>
              <a:ext cx="645958" cy="62158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6" name="组合 41"/>
          <p:cNvGrpSpPr/>
          <p:nvPr/>
        </p:nvGrpSpPr>
        <p:grpSpPr bwMode="auto">
          <a:xfrm>
            <a:off x="272029" y="4795661"/>
            <a:ext cx="992816" cy="992816"/>
            <a:chOff x="0" y="0"/>
            <a:chExt cx="941070" cy="941070"/>
          </a:xfrm>
          <a:solidFill>
            <a:schemeClr val="accent4"/>
          </a:solidFill>
        </p:grpSpPr>
        <p:sp>
          <p:nvSpPr>
            <p:cNvPr id="17" name="圆角矩形 20"/>
            <p:cNvSpPr>
              <a:spLocks noChangeArrowheads="1"/>
            </p:cNvSpPr>
            <p:nvPr/>
          </p:nvSpPr>
          <p:spPr bwMode="auto">
            <a:xfrm>
              <a:off x="0" y="0"/>
              <a:ext cx="941070" cy="941070"/>
            </a:xfrm>
            <a:prstGeom prst="roundRect">
              <a:avLst>
                <a:gd name="adj" fmla="val 13333"/>
              </a:avLst>
            </a:prstGeom>
            <a:grpFill/>
            <a:ln w="12700" cmpd="sng">
              <a:solidFill>
                <a:schemeClr val="bg1">
                  <a:alpha val="59000"/>
                </a:schemeClr>
              </a:solidFill>
              <a:round/>
            </a:ln>
          </p:spPr>
          <p:txBody>
            <a:bodyPr anchor="ctr"/>
            <a:lstStyle/>
            <a:p>
              <a:pPr algn="ctr" eaLnBrk="1" hangingPunct="1">
                <a:lnSpc>
                  <a:spcPct val="150000"/>
                </a:lnSpc>
              </a:pPr>
              <a:endParaRPr lang="zh-CN" altLang="en-US">
                <a:solidFill>
                  <a:schemeClr val="bg1">
                    <a:lumMod val="65000"/>
                  </a:schemeClr>
                </a:solidFill>
                <a:latin typeface="Arial" panose="020B0604020202020204" pitchFamily="34" charset="0"/>
                <a:ea typeface="微软雅黑" panose="020B0503020204020204" charset="-122"/>
                <a:sym typeface="Arial" panose="020B0604020202020204" pitchFamily="34" charset="0"/>
              </a:endParaRPr>
            </a:p>
          </p:txBody>
        </p:sp>
        <p:pic>
          <p:nvPicPr>
            <p:cNvPr id="18" name="组合 30"/>
            <p:cNvPicPr>
              <a:picLocks noChangeArrowheads="1"/>
            </p:cNvPicPr>
            <p:nvPr/>
          </p:nvPicPr>
          <p:blipFill>
            <a:blip r:embed="rId2"/>
            <a:srcRect/>
            <a:stretch>
              <a:fillRect/>
            </a:stretch>
          </p:blipFill>
          <p:spPr bwMode="auto">
            <a:xfrm>
              <a:off x="213161" y="207448"/>
              <a:ext cx="560643" cy="55454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9" name="文本框 18"/>
          <p:cNvSpPr txBox="1"/>
          <p:nvPr/>
        </p:nvSpPr>
        <p:spPr>
          <a:xfrm>
            <a:off x="1459322" y="2970810"/>
            <a:ext cx="7449581" cy="1277850"/>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en-US" altLang="zh-CN" dirty="0">
                <a:latin typeface="+mn-lt"/>
                <a:sym typeface="+mn-ea"/>
              </a:rPr>
              <a:t>        </a:t>
            </a:r>
            <a:r>
              <a:rPr lang="en-US" altLang="zh-CN" dirty="0">
                <a:solidFill>
                  <a:srgbClr val="FF0000"/>
                </a:solidFill>
                <a:latin typeface="+mn-lt"/>
                <a:sym typeface="+mn-ea"/>
              </a:rPr>
              <a:t>2002</a:t>
            </a:r>
            <a:r>
              <a:rPr lang="zh-CN" altLang="en-US" dirty="0">
                <a:solidFill>
                  <a:srgbClr val="FF0000"/>
                </a:solidFill>
                <a:latin typeface="+mn-lt"/>
                <a:sym typeface="+mn-ea"/>
              </a:rPr>
              <a:t>年，</a:t>
            </a:r>
            <a:r>
              <a:rPr lang="en-US" altLang="zh-CN" dirty="0" err="1">
                <a:solidFill>
                  <a:srgbClr val="FF0000"/>
                </a:solidFill>
                <a:latin typeface="+mn-lt"/>
                <a:sym typeface="+mn-ea"/>
              </a:rPr>
              <a:t>M.Luby</a:t>
            </a:r>
            <a:r>
              <a:rPr lang="zh-CN" altLang="en-US" dirty="0">
                <a:solidFill>
                  <a:srgbClr val="FF0000"/>
                </a:solidFill>
                <a:latin typeface="+mn-lt"/>
                <a:sym typeface="+mn-ea"/>
              </a:rPr>
              <a:t>提出了第一种现实可行的喷泉码</a:t>
            </a:r>
            <a:r>
              <a:rPr lang="en-US" altLang="zh-CN" dirty="0">
                <a:solidFill>
                  <a:srgbClr val="FF0000"/>
                </a:solidFill>
                <a:latin typeface="+mn-lt"/>
                <a:sym typeface="+mn-ea"/>
              </a:rPr>
              <a:t>——LT</a:t>
            </a:r>
            <a:r>
              <a:rPr lang="zh-CN" altLang="en-US" dirty="0">
                <a:solidFill>
                  <a:srgbClr val="FF0000"/>
                </a:solidFill>
                <a:latin typeface="+mn-lt"/>
                <a:sym typeface="+mn-ea"/>
              </a:rPr>
              <a:t>码。</a:t>
            </a:r>
            <a:r>
              <a:rPr lang="zh-CN" altLang="en-US" dirty="0">
                <a:latin typeface="+mn-lt"/>
                <a:sym typeface="+mn-ea"/>
              </a:rPr>
              <a:t>在学术理论日渐完善的同时，喷泉码也日益受到产业界的关注，获得了越来越多的实际应用。</a:t>
            </a:r>
            <a:endParaRPr lang="en-US" altLang="zh-CN" dirty="0">
              <a:latin typeface="+mn-lt"/>
              <a:sym typeface="+mn-ea"/>
            </a:endParaRPr>
          </a:p>
        </p:txBody>
      </p:sp>
      <p:sp>
        <p:nvSpPr>
          <p:cNvPr id="20" name="文本框 19"/>
          <p:cNvSpPr txBox="1"/>
          <p:nvPr/>
        </p:nvSpPr>
        <p:spPr>
          <a:xfrm>
            <a:off x="1441568" y="4579366"/>
            <a:ext cx="7449581" cy="1277850"/>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zh-CN" altLang="en-US" dirty="0">
                <a:latin typeface="+mn-lt"/>
                <a:sym typeface="+mn-ea"/>
              </a:rPr>
              <a:t>        </a:t>
            </a:r>
            <a:r>
              <a:rPr lang="zh-CN" altLang="en-US" dirty="0">
                <a:solidFill>
                  <a:srgbClr val="FF0000"/>
                </a:solidFill>
                <a:latin typeface="+mn-lt"/>
                <a:sym typeface="+mn-ea"/>
              </a:rPr>
              <a:t>目前，一种由</a:t>
            </a:r>
            <a:r>
              <a:rPr lang="en-US" altLang="zh-CN" dirty="0">
                <a:solidFill>
                  <a:srgbClr val="FF0000"/>
                </a:solidFill>
                <a:latin typeface="+mn-lt"/>
                <a:sym typeface="+mn-ea"/>
              </a:rPr>
              <a:t>Digital Fountain</a:t>
            </a:r>
            <a:r>
              <a:rPr lang="zh-CN" altLang="en-US" dirty="0">
                <a:solidFill>
                  <a:srgbClr val="FF0000"/>
                </a:solidFill>
                <a:latin typeface="+mn-lt"/>
                <a:sym typeface="+mn-ea"/>
              </a:rPr>
              <a:t>公司设计的系统</a:t>
            </a:r>
            <a:r>
              <a:rPr lang="en-US" altLang="zh-CN" dirty="0">
                <a:solidFill>
                  <a:srgbClr val="FF0000"/>
                </a:solidFill>
                <a:latin typeface="+mn-lt"/>
                <a:sym typeface="+mn-ea"/>
              </a:rPr>
              <a:t>Raptor</a:t>
            </a:r>
            <a:r>
              <a:rPr lang="zh-CN" altLang="en-US" dirty="0">
                <a:solidFill>
                  <a:srgbClr val="FF0000"/>
                </a:solidFill>
                <a:latin typeface="+mn-lt"/>
                <a:sym typeface="+mn-ea"/>
              </a:rPr>
              <a:t>码也已经被</a:t>
            </a:r>
            <a:r>
              <a:rPr lang="en-US" altLang="zh-CN" dirty="0">
                <a:latin typeface="+mn-lt"/>
                <a:sym typeface="+mn-ea"/>
              </a:rPr>
              <a:t>DVB-H</a:t>
            </a:r>
            <a:r>
              <a:rPr lang="zh-CN" altLang="en-US" dirty="0">
                <a:latin typeface="+mn-lt"/>
                <a:sym typeface="+mn-ea"/>
              </a:rPr>
              <a:t>标准和</a:t>
            </a:r>
            <a:r>
              <a:rPr lang="en-US" altLang="zh-CN" dirty="0">
                <a:latin typeface="+mn-lt"/>
                <a:sym typeface="+mn-ea"/>
              </a:rPr>
              <a:t>3GPP</a:t>
            </a:r>
            <a:r>
              <a:rPr lang="zh-CN" altLang="en-US" dirty="0">
                <a:latin typeface="+mn-lt"/>
                <a:sym typeface="+mn-ea"/>
              </a:rPr>
              <a:t>组织的</a:t>
            </a:r>
            <a:r>
              <a:rPr lang="en-US" altLang="zh-CN" dirty="0">
                <a:latin typeface="+mn-lt"/>
                <a:sym typeface="+mn-ea"/>
              </a:rPr>
              <a:t>MBMS</a:t>
            </a:r>
            <a:r>
              <a:rPr lang="zh-CN" altLang="en-US" dirty="0">
                <a:latin typeface="+mn-lt"/>
                <a:sym typeface="+mn-ea"/>
              </a:rPr>
              <a:t>标准</a:t>
            </a:r>
            <a:r>
              <a:rPr lang="zh-CN" altLang="en-US" dirty="0">
                <a:solidFill>
                  <a:srgbClr val="FF0000"/>
                </a:solidFill>
                <a:latin typeface="+mn-lt"/>
                <a:sym typeface="+mn-ea"/>
              </a:rPr>
              <a:t>采用</a:t>
            </a:r>
            <a:r>
              <a:rPr lang="zh-CN" altLang="en-US" dirty="0">
                <a:latin typeface="+mn-lt"/>
                <a:sym typeface="+mn-ea"/>
              </a:rPr>
              <a:t>，并且正在参与其他多项国际标准的制定。</a:t>
            </a:r>
            <a:endParaRPr lang="en-US" altLang="zh-CN" dirty="0">
              <a:latin typeface="+mn-lt"/>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数字喷泉码的研究现状及方案</a:t>
            </a:r>
            <a:endParaRPr lang="zh-CN" altLang="en-US" sz="2400" dirty="0">
              <a:sym typeface="+mn-ea"/>
            </a:endParaRPr>
          </a:p>
        </p:txBody>
      </p:sp>
      <p:sp>
        <p:nvSpPr>
          <p:cNvPr id="6" name="文本框 5"/>
          <p:cNvSpPr txBox="1"/>
          <p:nvPr/>
        </p:nvSpPr>
        <p:spPr>
          <a:xfrm>
            <a:off x="280301" y="1066862"/>
            <a:ext cx="8583399" cy="209858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zh-CN" altLang="en-US" dirty="0">
                <a:latin typeface="+mn-lt"/>
                <a:sym typeface="+mn-ea"/>
              </a:rPr>
              <a:t>喷泉码的研究现状：</a:t>
            </a:r>
            <a:endParaRPr lang="en-US" altLang="zh-CN" dirty="0">
              <a:latin typeface="+mn-lt"/>
              <a:sym typeface="+mn-ea"/>
            </a:endParaRPr>
          </a:p>
          <a:p>
            <a:pPr>
              <a:lnSpc>
                <a:spcPts val="3200"/>
              </a:lnSpc>
            </a:pPr>
            <a:r>
              <a:rPr lang="en-US" altLang="zh-CN" dirty="0">
                <a:latin typeface="+mn-lt"/>
                <a:sym typeface="+mn-ea"/>
              </a:rPr>
              <a:t>      (1)</a:t>
            </a:r>
            <a:r>
              <a:rPr lang="zh-CN" altLang="en-US" dirty="0">
                <a:latin typeface="+mn-lt"/>
                <a:sym typeface="+mn-ea"/>
              </a:rPr>
              <a:t>应该尽量减小译码开销</a:t>
            </a:r>
            <a:r>
              <a:rPr lang="en-US" altLang="zh-CN" i="1" dirty="0">
                <a:latin typeface="+mn-lt"/>
                <a:sym typeface="+mn-ea"/>
              </a:rPr>
              <a:t>ε</a:t>
            </a:r>
            <a:r>
              <a:rPr lang="en-US" altLang="zh-CN" dirty="0">
                <a:latin typeface="+mn-lt"/>
                <a:sym typeface="+mn-ea"/>
              </a:rPr>
              <a:t>,</a:t>
            </a:r>
            <a:r>
              <a:rPr lang="zh-CN" altLang="en-US" dirty="0">
                <a:latin typeface="+mn-lt"/>
                <a:sym typeface="+mn-ea"/>
              </a:rPr>
              <a:t>使其趋于零。</a:t>
            </a:r>
            <a:endParaRPr lang="en-US" altLang="zh-CN" dirty="0">
              <a:latin typeface="+mn-lt"/>
              <a:sym typeface="+mn-ea"/>
            </a:endParaRPr>
          </a:p>
          <a:p>
            <a:pPr>
              <a:lnSpc>
                <a:spcPts val="3200"/>
              </a:lnSpc>
            </a:pPr>
            <a:r>
              <a:rPr lang="en-US" altLang="zh-CN" dirty="0">
                <a:latin typeface="+mn-lt"/>
                <a:sym typeface="+mn-ea"/>
              </a:rPr>
              <a:t>      (2)</a:t>
            </a:r>
            <a:r>
              <a:rPr lang="zh-CN" altLang="en-US" dirty="0">
                <a:latin typeface="+mn-lt"/>
                <a:sym typeface="+mn-ea"/>
              </a:rPr>
              <a:t>应该尽量减小编译码复杂度，理想情况下，应该使生成每个编码分组需要的运算量是一个与</a:t>
            </a:r>
            <a:r>
              <a:rPr lang="en-US" altLang="zh-CN" dirty="0">
                <a:latin typeface="+mn-lt"/>
                <a:sym typeface="+mn-ea"/>
              </a:rPr>
              <a:t>k</a:t>
            </a:r>
            <a:r>
              <a:rPr lang="zh-CN" altLang="en-US" dirty="0">
                <a:latin typeface="+mn-lt"/>
                <a:sym typeface="+mn-ea"/>
              </a:rPr>
              <a:t>无关的常数，而成功译码</a:t>
            </a:r>
            <a:r>
              <a:rPr lang="en-US" altLang="zh-CN" i="1" dirty="0">
                <a:latin typeface="+mn-lt"/>
                <a:sym typeface="+mn-ea"/>
              </a:rPr>
              <a:t>m</a:t>
            </a:r>
            <a:r>
              <a:rPr lang="zh-CN" altLang="en-US" dirty="0">
                <a:latin typeface="+mn-lt"/>
                <a:sym typeface="+mn-ea"/>
              </a:rPr>
              <a:t>个编码分组获得</a:t>
            </a:r>
            <a:r>
              <a:rPr lang="en-US" altLang="zh-CN" i="1" dirty="0">
                <a:latin typeface="+mn-lt"/>
                <a:sym typeface="+mn-ea"/>
              </a:rPr>
              <a:t>k</a:t>
            </a:r>
            <a:r>
              <a:rPr lang="zh-CN" altLang="en-US" dirty="0">
                <a:latin typeface="+mn-lt"/>
                <a:sym typeface="+mn-ea"/>
              </a:rPr>
              <a:t>个原始数据分组需要的运算量是一个关于</a:t>
            </a:r>
            <a:r>
              <a:rPr lang="en-US" altLang="zh-CN" i="1" dirty="0">
                <a:latin typeface="+mn-lt"/>
                <a:sym typeface="+mn-ea"/>
              </a:rPr>
              <a:t>k</a:t>
            </a:r>
            <a:r>
              <a:rPr lang="zh-CN" altLang="en-US" dirty="0">
                <a:latin typeface="+mn-lt"/>
                <a:sym typeface="+mn-ea"/>
              </a:rPr>
              <a:t>的线性函数。</a:t>
            </a:r>
            <a:endParaRPr lang="en-US" altLang="zh-CN" dirty="0">
              <a:latin typeface="+mn-lt"/>
              <a:sym typeface="+mn-ea"/>
            </a:endParaRPr>
          </a:p>
        </p:txBody>
      </p:sp>
      <p:sp>
        <p:nvSpPr>
          <p:cNvPr id="3" name="箭头: 下 2"/>
          <p:cNvSpPr/>
          <p:nvPr/>
        </p:nvSpPr>
        <p:spPr>
          <a:xfrm>
            <a:off x="4076712" y="3276604"/>
            <a:ext cx="990574" cy="685782"/>
          </a:xfrm>
          <a:prstGeom prst="downArrow">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688998" y="4267178"/>
            <a:ext cx="6024943" cy="1817167"/>
            <a:chOff x="235717" y="4103347"/>
            <a:chExt cx="6024943" cy="1817167"/>
          </a:xfrm>
        </p:grpSpPr>
        <p:sp>
          <p:nvSpPr>
            <p:cNvPr id="9" name="文本框 8"/>
            <p:cNvSpPr txBox="1"/>
            <p:nvPr/>
          </p:nvSpPr>
          <p:spPr>
            <a:xfrm>
              <a:off x="235717" y="4792032"/>
              <a:ext cx="2234353" cy="45711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zh-CN" altLang="en-US" dirty="0">
                  <a:latin typeface="+mn-lt"/>
                  <a:sym typeface="+mn-ea"/>
                </a:rPr>
                <a:t>喷泉码的研究方案</a:t>
              </a:r>
              <a:endParaRPr lang="en-US" altLang="zh-CN" dirty="0">
                <a:latin typeface="+mn-lt"/>
                <a:sym typeface="+mn-ea"/>
              </a:endParaRPr>
            </a:p>
          </p:txBody>
        </p:sp>
        <p:sp>
          <p:nvSpPr>
            <p:cNvPr id="4" name="左大括号 3"/>
            <p:cNvSpPr/>
            <p:nvPr/>
          </p:nvSpPr>
          <p:spPr bwMode="auto">
            <a:xfrm>
              <a:off x="2667050" y="4331904"/>
              <a:ext cx="838178" cy="1371564"/>
            </a:xfrm>
            <a:prstGeom prst="leftBrace">
              <a:avLst/>
            </a:prstGeom>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v"/>
              </a:pPr>
              <a:endParaRPr kumimoji="1" lang="zh-CN" altLang="en-US" sz="2800" b="0" i="0" u="none" strike="noStrike" cap="none" normalizeH="0" baseline="0">
                <a:ln>
                  <a:noFill/>
                </a:ln>
                <a:solidFill>
                  <a:srgbClr val="336699"/>
                </a:solidFill>
                <a:effectLst/>
                <a:latin typeface="黑体" panose="02010609060101010101" pitchFamily="49" charset="-122"/>
                <a:ea typeface="黑体" panose="02010609060101010101" pitchFamily="49" charset="-122"/>
              </a:endParaRPr>
            </a:p>
          </p:txBody>
        </p:sp>
        <p:sp>
          <p:nvSpPr>
            <p:cNvPr id="10" name="文本框 9"/>
            <p:cNvSpPr txBox="1"/>
            <p:nvPr/>
          </p:nvSpPr>
          <p:spPr>
            <a:xfrm>
              <a:off x="3873911" y="4103347"/>
              <a:ext cx="2386749" cy="45711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zh-CN" altLang="en-US" dirty="0">
                  <a:latin typeface="+mn-lt"/>
                  <a:sym typeface="+mn-ea"/>
                </a:rPr>
                <a:t>随机线性喷泉码</a:t>
              </a:r>
              <a:endParaRPr lang="en-US" altLang="zh-CN" dirty="0">
                <a:latin typeface="+mn-lt"/>
                <a:sym typeface="+mn-ea"/>
              </a:endParaRPr>
            </a:p>
          </p:txBody>
        </p:sp>
        <p:sp>
          <p:nvSpPr>
            <p:cNvPr id="11" name="文本框 10"/>
            <p:cNvSpPr txBox="1"/>
            <p:nvPr/>
          </p:nvSpPr>
          <p:spPr>
            <a:xfrm>
              <a:off x="3868189" y="4789129"/>
              <a:ext cx="1167581" cy="45711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en-US" altLang="zh-CN" dirty="0">
                  <a:latin typeface="+mn-lt"/>
                  <a:sym typeface="+mn-ea"/>
                </a:rPr>
                <a:t>LT</a:t>
              </a:r>
              <a:r>
                <a:rPr lang="zh-CN" altLang="en-US" dirty="0">
                  <a:latin typeface="+mn-lt"/>
                  <a:sym typeface="+mn-ea"/>
                </a:rPr>
                <a:t>码</a:t>
              </a:r>
              <a:endParaRPr lang="en-US" altLang="zh-CN" dirty="0">
                <a:latin typeface="+mn-lt"/>
                <a:sym typeface="+mn-ea"/>
              </a:endParaRPr>
            </a:p>
          </p:txBody>
        </p:sp>
        <p:sp>
          <p:nvSpPr>
            <p:cNvPr id="12" name="文本框 11"/>
            <p:cNvSpPr txBox="1"/>
            <p:nvPr/>
          </p:nvSpPr>
          <p:spPr>
            <a:xfrm>
              <a:off x="3873911" y="5463401"/>
              <a:ext cx="1472372" cy="45711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en-US" altLang="zh-CN" dirty="0">
                  <a:latin typeface="+mn-lt"/>
                  <a:sym typeface="+mn-ea"/>
                </a:rPr>
                <a:t>Raptor</a:t>
              </a:r>
              <a:r>
                <a:rPr lang="zh-CN" altLang="en-US" dirty="0">
                  <a:latin typeface="+mn-lt"/>
                  <a:sym typeface="+mn-ea"/>
                </a:rPr>
                <a:t>码</a:t>
              </a:r>
              <a:endParaRPr lang="en-US" altLang="zh-CN" dirty="0">
                <a:latin typeface="+mn-lt"/>
                <a:sym typeface="+mn-ea"/>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随机线性喷泉码的编码</a:t>
            </a:r>
            <a:endParaRPr lang="zh-CN" altLang="en-US" sz="2400" dirty="0">
              <a:sym typeface="+mn-ea"/>
            </a:endParaRPr>
          </a:p>
        </p:txBody>
      </p:sp>
      <mc:AlternateContent xmlns:mc="http://schemas.openxmlformats.org/markup-compatibility/2006">
        <mc:Choice xmlns:a14="http://schemas.microsoft.com/office/drawing/2010/main" Requires="a14">
          <p:sp>
            <p:nvSpPr>
              <p:cNvPr id="6" name="文本框 5"/>
              <p:cNvSpPr txBox="1"/>
              <p:nvPr/>
            </p:nvSpPr>
            <p:spPr>
              <a:xfrm>
                <a:off x="293618" y="914466"/>
                <a:ext cx="8583399" cy="265713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zh-CN" altLang="en-US" sz="1800" dirty="0">
                    <a:latin typeface="+mn-lt"/>
                    <a:sym typeface="+mn-ea"/>
                  </a:rPr>
                  <a:t>        假设编码器需要编码的文件为</a:t>
                </a:r>
                <a:r>
                  <a:rPr lang="en-US" altLang="zh-CN" sz="1800" i="1" dirty="0">
                    <a:latin typeface="+mn-lt"/>
                    <a:sym typeface="+mn-ea"/>
                  </a:rPr>
                  <a:t>S</a:t>
                </a:r>
                <a:r>
                  <a:rPr lang="en-US" altLang="zh-CN" sz="1800" baseline="-25000" dirty="0">
                    <a:latin typeface="+mn-lt"/>
                    <a:sym typeface="+mn-ea"/>
                  </a:rPr>
                  <a:t>1</a:t>
                </a:r>
                <a:r>
                  <a:rPr lang="en-US" altLang="zh-CN" sz="1800" dirty="0">
                    <a:latin typeface="+mn-lt"/>
                    <a:sym typeface="+mn-ea"/>
                  </a:rPr>
                  <a:t>,</a:t>
                </a:r>
                <a:r>
                  <a:rPr lang="en-US" altLang="zh-CN" sz="1800" i="1" dirty="0">
                    <a:latin typeface="+mn-lt"/>
                    <a:sym typeface="+mn-ea"/>
                  </a:rPr>
                  <a:t>S</a:t>
                </a:r>
                <a:r>
                  <a:rPr lang="en-US" altLang="zh-CN" sz="1800" baseline="-25000" dirty="0">
                    <a:latin typeface="+mn-lt"/>
                    <a:sym typeface="+mn-ea"/>
                  </a:rPr>
                  <a:t>2</a:t>
                </a:r>
                <a:r>
                  <a:rPr lang="en-US" altLang="zh-CN" sz="1800" dirty="0">
                    <a:latin typeface="+mn-lt"/>
                    <a:sym typeface="+mn-ea"/>
                  </a:rPr>
                  <a:t>,...,</a:t>
                </a:r>
                <a:r>
                  <a:rPr lang="en-US" altLang="zh-CN" sz="1800" i="1" dirty="0" err="1">
                    <a:latin typeface="+mn-lt"/>
                    <a:sym typeface="+mn-ea"/>
                  </a:rPr>
                  <a:t>S</a:t>
                </a:r>
                <a:r>
                  <a:rPr lang="en-US" altLang="zh-CN" sz="1800" i="1" baseline="-25000" dirty="0" err="1">
                    <a:latin typeface="+mn-lt"/>
                    <a:sym typeface="+mn-ea"/>
                  </a:rPr>
                  <a:t>k</a:t>
                </a:r>
                <a:r>
                  <a:rPr lang="zh-CN" altLang="en-US" sz="1800" dirty="0">
                    <a:latin typeface="+mn-lt"/>
                    <a:sym typeface="+mn-ea"/>
                  </a:rPr>
                  <a:t>，每个</a:t>
                </a:r>
                <a:r>
                  <a:rPr lang="en-US" altLang="zh-CN" sz="1800" i="1" dirty="0" err="1">
                    <a:latin typeface="+mn-lt"/>
                    <a:sym typeface="+mn-ea"/>
                  </a:rPr>
                  <a:t>S</a:t>
                </a:r>
                <a:r>
                  <a:rPr lang="en-US" altLang="zh-CN" sz="1800" i="1" baseline="-25000" dirty="0" err="1">
                    <a:latin typeface="+mn-lt"/>
                    <a:sym typeface="+mn-ea"/>
                  </a:rPr>
                  <a:t>k</a:t>
                </a:r>
                <a:r>
                  <a:rPr lang="zh-CN" altLang="en-US" sz="1800" dirty="0">
                    <a:latin typeface="+mn-lt"/>
                    <a:sym typeface="+mn-ea"/>
                  </a:rPr>
                  <a:t>都是一个信源符号，它只能被完整的传输或者被删除。假定每个</a:t>
                </a:r>
                <a:r>
                  <a:rPr lang="en-US" altLang="zh-CN" sz="1800" i="1" dirty="0" err="1">
                    <a:latin typeface="+mn-lt"/>
                    <a:sym typeface="+mn-ea"/>
                  </a:rPr>
                  <a:t>S</a:t>
                </a:r>
                <a:r>
                  <a:rPr lang="en-US" altLang="zh-CN" sz="1800" i="1" baseline="-25000" dirty="0" err="1">
                    <a:latin typeface="+mn-lt"/>
                    <a:sym typeface="+mn-ea"/>
                  </a:rPr>
                  <a:t>k</a:t>
                </a:r>
                <a:r>
                  <a:rPr lang="zh-CN" altLang="en-US" sz="1800" dirty="0">
                    <a:latin typeface="+mn-lt"/>
                    <a:sym typeface="+mn-ea"/>
                  </a:rPr>
                  <a:t>大小都是相同的比特数。在每一个时钟周期，编码器产生一个</a:t>
                </a:r>
                <a:r>
                  <a:rPr lang="en-US" altLang="zh-CN" sz="1800" dirty="0">
                    <a:latin typeface="+mn-lt"/>
                    <a:sym typeface="+mn-ea"/>
                  </a:rPr>
                  <a:t>K</a:t>
                </a:r>
                <a:r>
                  <a:rPr lang="zh-CN" altLang="en-US" sz="1800" dirty="0">
                    <a:latin typeface="+mn-lt"/>
                    <a:sym typeface="+mn-ea"/>
                  </a:rPr>
                  <a:t>阶随机二进制矩阵</a:t>
                </a:r>
                <a:r>
                  <a:rPr lang="en-US" altLang="zh-CN" sz="1800" dirty="0">
                    <a:latin typeface="+mn-lt"/>
                    <a:sym typeface="+mn-ea"/>
                  </a:rPr>
                  <a:t>{</a:t>
                </a:r>
                <a:r>
                  <a:rPr lang="en-US" altLang="zh-CN" sz="1800" i="1" dirty="0" err="1">
                    <a:latin typeface="+mn-lt"/>
                    <a:sym typeface="+mn-ea"/>
                  </a:rPr>
                  <a:t>G</a:t>
                </a:r>
                <a:r>
                  <a:rPr lang="en-US" altLang="zh-CN" sz="1800" i="1" baseline="-25000" dirty="0" err="1">
                    <a:latin typeface="+mn-lt"/>
                    <a:sym typeface="+mn-ea"/>
                  </a:rPr>
                  <a:t>kn</a:t>
                </a:r>
                <a:r>
                  <a:rPr lang="en-US" altLang="zh-CN" sz="1800" dirty="0">
                    <a:latin typeface="+mn-lt"/>
                    <a:sym typeface="+mn-ea"/>
                  </a:rPr>
                  <a:t>}</a:t>
                </a:r>
                <a:r>
                  <a:rPr lang="zh-CN" altLang="en-US" sz="1800" dirty="0">
                    <a:latin typeface="+mn-lt"/>
                    <a:sym typeface="+mn-ea"/>
                  </a:rPr>
                  <a:t>，编码器的输出</a:t>
                </a:r>
                <a:r>
                  <a:rPr lang="en-US" altLang="zh-CN" sz="1800" i="1" dirty="0" err="1">
                    <a:latin typeface="+mn-lt"/>
                    <a:sym typeface="+mn-ea"/>
                  </a:rPr>
                  <a:t>t</a:t>
                </a:r>
                <a:r>
                  <a:rPr lang="en-US" altLang="zh-CN" sz="1800" i="1" baseline="-25000" dirty="0" err="1">
                    <a:latin typeface="+mn-lt"/>
                    <a:sym typeface="+mn-ea"/>
                  </a:rPr>
                  <a:t>n</a:t>
                </a:r>
                <a:r>
                  <a:rPr lang="zh-CN" altLang="en-US" sz="1800" dirty="0">
                    <a:latin typeface="+mn-lt"/>
                    <a:sym typeface="+mn-ea"/>
                  </a:rPr>
                  <a:t>由</a:t>
                </a:r>
                <a:r>
                  <a:rPr lang="en-US" altLang="zh-CN" sz="1800" i="1" dirty="0" err="1">
                    <a:latin typeface="+mn-lt"/>
                    <a:sym typeface="+mn-ea"/>
                  </a:rPr>
                  <a:t>S</a:t>
                </a:r>
                <a:r>
                  <a:rPr lang="en-US" altLang="zh-CN" sz="1800" i="1" baseline="-25000" dirty="0" err="1">
                    <a:latin typeface="+mn-lt"/>
                    <a:sym typeface="+mn-ea"/>
                  </a:rPr>
                  <a:t>k</a:t>
                </a:r>
                <a:r>
                  <a:rPr lang="zh-CN" altLang="en-US" sz="1800" dirty="0">
                    <a:latin typeface="+mn-lt"/>
                    <a:sym typeface="+mn-ea"/>
                  </a:rPr>
                  <a:t>异或而成，</a:t>
                </a:r>
                <a:r>
                  <a:rPr lang="zh-CN" altLang="en-US" sz="1800" dirty="0">
                    <a:solidFill>
                      <a:srgbClr val="FF0000"/>
                    </a:solidFill>
                    <a:latin typeface="+mn-lt"/>
                    <a:sym typeface="+mn-ea"/>
                  </a:rPr>
                  <a:t>参加运算的</a:t>
                </a:r>
                <a:r>
                  <a:rPr lang="en-US" altLang="zh-CN" sz="1800" i="1" dirty="0" err="1">
                    <a:solidFill>
                      <a:srgbClr val="FF0000"/>
                    </a:solidFill>
                    <a:latin typeface="+mn-lt"/>
                    <a:sym typeface="+mn-ea"/>
                  </a:rPr>
                  <a:t>S</a:t>
                </a:r>
                <a:r>
                  <a:rPr lang="en-US" altLang="zh-CN" sz="1800" i="1" baseline="-25000" dirty="0" err="1">
                    <a:solidFill>
                      <a:srgbClr val="FF0000"/>
                    </a:solidFill>
                    <a:latin typeface="+mn-lt"/>
                    <a:sym typeface="+mn-ea"/>
                  </a:rPr>
                  <a:t>k</a:t>
                </a:r>
                <a:r>
                  <a:rPr lang="zh-CN" altLang="en-US" sz="1800" dirty="0">
                    <a:solidFill>
                      <a:srgbClr val="FF0000"/>
                    </a:solidFill>
                    <a:latin typeface="+mn-lt"/>
                    <a:sym typeface="+mn-ea"/>
                  </a:rPr>
                  <a:t>对应的</a:t>
                </a:r>
                <a:r>
                  <a:rPr lang="en-US" altLang="zh-CN" sz="1800" i="1" dirty="0" err="1">
                    <a:solidFill>
                      <a:srgbClr val="FF0000"/>
                    </a:solidFill>
                    <a:latin typeface="+mn-lt"/>
                    <a:sym typeface="+mn-ea"/>
                  </a:rPr>
                  <a:t>G</a:t>
                </a:r>
                <a:r>
                  <a:rPr lang="en-US" altLang="zh-CN" sz="1800" i="1" baseline="-25000" dirty="0" err="1">
                    <a:solidFill>
                      <a:srgbClr val="FF0000"/>
                    </a:solidFill>
                    <a:latin typeface="+mn-lt"/>
                    <a:sym typeface="+mn-ea"/>
                  </a:rPr>
                  <a:t>kn</a:t>
                </a:r>
                <a:r>
                  <a:rPr lang="en-US" altLang="zh-CN" sz="1800" dirty="0">
                    <a:solidFill>
                      <a:srgbClr val="FF0000"/>
                    </a:solidFill>
                    <a:latin typeface="+mn-lt"/>
                    <a:sym typeface="+mn-ea"/>
                  </a:rPr>
                  <a:t>=1</a:t>
                </a:r>
                <a:r>
                  <a:rPr lang="zh-CN" altLang="en-US" sz="1800" dirty="0">
                    <a:latin typeface="+mn-lt"/>
                    <a:sym typeface="+mn-ea"/>
                  </a:rPr>
                  <a:t>，即</a:t>
                </a:r>
                <a14:m>
                  <m:oMath xmlns:m="http://schemas.openxmlformats.org/officeDocument/2006/math">
                    <m:r>
                      <a:rPr lang="en-US" altLang="zh-CN" sz="1800" b="0" i="0" smtClean="0">
                        <a:latin typeface="Cambria Math" panose="02040503050406030204" pitchFamily="18" charset="0"/>
                        <a:sym typeface="+mn-ea"/>
                      </a:rPr>
                      <m:t> </m:t>
                    </m:r>
                    <m:sSub>
                      <m:sSubPr>
                        <m:ctrlPr>
                          <a:rPr lang="en-US" altLang="zh-CN" sz="1800" i="1" smtClean="0">
                            <a:latin typeface="Cambria Math" panose="02040503050406030204" pitchFamily="18" charset="0"/>
                            <a:sym typeface="+mn-ea"/>
                          </a:rPr>
                        </m:ctrlPr>
                      </m:sSubPr>
                      <m:e>
                        <m:r>
                          <a:rPr lang="en-US" altLang="zh-CN" sz="1800" i="1">
                            <a:latin typeface="Cambria Math" panose="02040503050406030204" pitchFamily="18" charset="0"/>
                            <a:sym typeface="+mn-ea"/>
                          </a:rPr>
                          <m:t>𝑡</m:t>
                        </m:r>
                      </m:e>
                      <m:sub>
                        <m:r>
                          <a:rPr lang="en-US" altLang="zh-CN" sz="1800" b="0" i="1" smtClean="0">
                            <a:latin typeface="Cambria Math" panose="02040503050406030204" pitchFamily="18" charset="0"/>
                            <a:sym typeface="+mn-ea"/>
                          </a:rPr>
                          <m:t>𝑛</m:t>
                        </m:r>
                      </m:sub>
                    </m:sSub>
                    <m:r>
                      <a:rPr lang="en-US" altLang="zh-CN" sz="1800" b="0" i="0" smtClean="0">
                        <a:latin typeface="Cambria Math" panose="02040503050406030204" pitchFamily="18" charset="0"/>
                        <a:sym typeface="+mn-ea"/>
                      </a:rPr>
                      <m:t>=</m:t>
                    </m:r>
                    <m:sSubSup>
                      <m:sSubSupPr>
                        <m:ctrlPr>
                          <a:rPr lang="en-US" altLang="zh-CN" sz="1800" b="0" i="1" smtClean="0">
                            <a:latin typeface="Cambria Math" panose="02040503050406030204" pitchFamily="18" charset="0"/>
                            <a:ea typeface="Cambria Math" panose="02040503050406030204" pitchFamily="18" charset="0"/>
                            <a:sym typeface="+mn-ea"/>
                          </a:rPr>
                        </m:ctrlPr>
                      </m:sSubSupPr>
                      <m:e>
                        <m:r>
                          <a:rPr lang="en-US" altLang="zh-CN" sz="1800" i="1">
                            <a:latin typeface="Cambria Math" panose="02040503050406030204" pitchFamily="18" charset="0"/>
                            <a:ea typeface="Cambria Math" panose="02040503050406030204" pitchFamily="18" charset="0"/>
                            <a:sym typeface="+mn-ea"/>
                          </a:rPr>
                          <m:t>∑</m:t>
                        </m:r>
                      </m:e>
                      <m:sub>
                        <m:r>
                          <a:rPr lang="en-US" altLang="zh-CN" sz="1800" b="0" i="1" smtClean="0">
                            <a:latin typeface="Cambria Math" panose="02040503050406030204" pitchFamily="18" charset="0"/>
                            <a:ea typeface="Cambria Math" panose="02040503050406030204" pitchFamily="18" charset="0"/>
                            <a:sym typeface="+mn-ea"/>
                          </a:rPr>
                          <m:t>𝑘</m:t>
                        </m:r>
                        <m:r>
                          <a:rPr lang="en-US" altLang="zh-CN" sz="1800" b="0" i="1" smtClean="0">
                            <a:latin typeface="Cambria Math" panose="02040503050406030204" pitchFamily="18" charset="0"/>
                            <a:ea typeface="Cambria Math" panose="02040503050406030204" pitchFamily="18" charset="0"/>
                            <a:sym typeface="+mn-ea"/>
                          </a:rPr>
                          <m:t>=</m:t>
                        </m:r>
                        <m:r>
                          <a:rPr lang="en-US" altLang="zh-CN" sz="1800" b="0" i="1" smtClean="0">
                            <a:latin typeface="Cambria Math" panose="02040503050406030204" pitchFamily="18" charset="0"/>
                            <a:ea typeface="Cambria Math" panose="02040503050406030204" pitchFamily="18" charset="0"/>
                            <a:sym typeface="+mn-ea"/>
                          </a:rPr>
                          <m:t>1</m:t>
                        </m:r>
                      </m:sub>
                      <m:sup>
                        <m:r>
                          <a:rPr lang="en-US" altLang="zh-CN" sz="1800" b="0" i="1" smtClean="0">
                            <a:latin typeface="Cambria Math" panose="02040503050406030204" pitchFamily="18" charset="0"/>
                            <a:ea typeface="Cambria Math" panose="02040503050406030204" pitchFamily="18" charset="0"/>
                            <a:sym typeface="+mn-ea"/>
                          </a:rPr>
                          <m:t>𝐾</m:t>
                        </m:r>
                      </m:sup>
                    </m:sSubSup>
                    <m:sSub>
                      <m:sSubPr>
                        <m:ctrlPr>
                          <a:rPr lang="en-US" altLang="zh-CN" sz="1800" b="0" i="1" smtClean="0">
                            <a:latin typeface="Cambria Math" panose="02040503050406030204" pitchFamily="18" charset="0"/>
                            <a:ea typeface="Cambria Math" panose="02040503050406030204" pitchFamily="18" charset="0"/>
                            <a:sym typeface="+mn-ea"/>
                          </a:rPr>
                        </m:ctrlPr>
                      </m:sSubPr>
                      <m:e>
                        <m:r>
                          <a:rPr lang="en-US" altLang="zh-CN" sz="1800" b="0" i="1" smtClean="0">
                            <a:latin typeface="Cambria Math" panose="02040503050406030204" pitchFamily="18" charset="0"/>
                            <a:ea typeface="Cambria Math" panose="02040503050406030204" pitchFamily="18" charset="0"/>
                            <a:sym typeface="+mn-ea"/>
                          </a:rPr>
                          <m:t>𝑆</m:t>
                        </m:r>
                      </m:e>
                      <m:sub>
                        <m:r>
                          <a:rPr lang="en-US" altLang="zh-CN" sz="1800" b="0" i="1" smtClean="0">
                            <a:latin typeface="Cambria Math" panose="02040503050406030204" pitchFamily="18" charset="0"/>
                            <a:ea typeface="Cambria Math" panose="02040503050406030204" pitchFamily="18" charset="0"/>
                            <a:sym typeface="+mn-ea"/>
                          </a:rPr>
                          <m:t>𝑘</m:t>
                        </m:r>
                      </m:sub>
                    </m:sSub>
                    <m:sSub>
                      <m:sSubPr>
                        <m:ctrlPr>
                          <a:rPr lang="en-US" altLang="zh-CN" sz="1800" b="0" i="1" smtClean="0">
                            <a:latin typeface="Cambria Math" panose="02040503050406030204" pitchFamily="18" charset="0"/>
                            <a:ea typeface="Cambria Math" panose="02040503050406030204" pitchFamily="18" charset="0"/>
                            <a:sym typeface="+mn-ea"/>
                          </a:rPr>
                        </m:ctrlPr>
                      </m:sSubPr>
                      <m:e>
                        <m:r>
                          <a:rPr lang="en-US" altLang="zh-CN" sz="1800" b="0" i="1" smtClean="0">
                            <a:latin typeface="Cambria Math" panose="02040503050406030204" pitchFamily="18" charset="0"/>
                            <a:ea typeface="Cambria Math" panose="02040503050406030204" pitchFamily="18" charset="0"/>
                            <a:sym typeface="+mn-ea"/>
                          </a:rPr>
                          <m:t>𝐺</m:t>
                        </m:r>
                      </m:e>
                      <m:sub>
                        <m:r>
                          <a:rPr lang="en-US" altLang="zh-CN" sz="1800" b="0" i="1" smtClean="0">
                            <a:latin typeface="Cambria Math" panose="02040503050406030204" pitchFamily="18" charset="0"/>
                            <a:ea typeface="Cambria Math" panose="02040503050406030204" pitchFamily="18" charset="0"/>
                            <a:sym typeface="+mn-ea"/>
                          </a:rPr>
                          <m:t>𝑘𝑛</m:t>
                        </m:r>
                      </m:sub>
                    </m:sSub>
                  </m:oMath>
                </a14:m>
                <a:endParaRPr lang="en-US" altLang="zh-CN" sz="1800" i="1" dirty="0">
                  <a:latin typeface="+mn-lt"/>
                  <a:sym typeface="+mn-ea"/>
                </a:endParaRPr>
              </a:p>
              <a:p>
                <a:pPr>
                  <a:lnSpc>
                    <a:spcPts val="3200"/>
                  </a:lnSpc>
                  <a:spcBef>
                    <a:spcPts val="1200"/>
                  </a:spcBef>
                </a:pPr>
                <a:r>
                  <a:rPr lang="zh-CN" altLang="en-US" sz="1800" dirty="0">
                    <a:latin typeface="+mn-lt"/>
                    <a:sym typeface="+mn-ea"/>
                  </a:rPr>
                  <a:t>        这个和可连续的由不同的</a:t>
                </a:r>
                <a:r>
                  <a:rPr lang="en-US" altLang="zh-CN" sz="1800" i="1" dirty="0" err="1">
                    <a:latin typeface="+mn-lt"/>
                    <a:sym typeface="+mn-ea"/>
                  </a:rPr>
                  <a:t>S</a:t>
                </a:r>
                <a:r>
                  <a:rPr lang="en-US" altLang="zh-CN" sz="1800" i="1" baseline="-25000" dirty="0" err="1">
                    <a:latin typeface="+mn-lt"/>
                    <a:sym typeface="+mn-ea"/>
                  </a:rPr>
                  <a:t>k</a:t>
                </a:r>
                <a:r>
                  <a:rPr lang="zh-CN" altLang="en-US" sz="1800" dirty="0">
                    <a:latin typeface="+mn-lt"/>
                    <a:sym typeface="+mn-ea"/>
                  </a:rPr>
                  <a:t>异或而来，可以</a:t>
                </a:r>
                <a:r>
                  <a:rPr lang="zh-CN" altLang="en-US" sz="1800" dirty="0">
                    <a:solidFill>
                      <a:srgbClr val="FF0000"/>
                    </a:solidFill>
                    <a:latin typeface="+mn-lt"/>
                    <a:sym typeface="+mn-ea"/>
                  </a:rPr>
                  <a:t>对每</a:t>
                </a:r>
                <a:r>
                  <a:rPr lang="en-US" altLang="zh-CN" sz="1800" dirty="0">
                    <a:solidFill>
                      <a:srgbClr val="FF0000"/>
                    </a:solidFill>
                    <a:latin typeface="+mn-lt"/>
                    <a:sym typeface="+mn-ea"/>
                  </a:rPr>
                  <a:t>K</a:t>
                </a:r>
                <a:r>
                  <a:rPr lang="zh-CN" altLang="en-US" sz="1800" dirty="0">
                    <a:solidFill>
                      <a:srgbClr val="FF0000"/>
                    </a:solidFill>
                    <a:latin typeface="+mn-lt"/>
                    <a:sym typeface="+mn-ea"/>
                  </a:rPr>
                  <a:t>个随机</a:t>
                </a:r>
                <a:r>
                  <a:rPr lang="en-US" altLang="zh-CN" sz="1800" i="1" dirty="0" err="1">
                    <a:solidFill>
                      <a:srgbClr val="FF0000"/>
                    </a:solidFill>
                    <a:latin typeface="+mn-lt"/>
                    <a:sym typeface="+mn-ea"/>
                  </a:rPr>
                  <a:t>t</a:t>
                </a:r>
                <a:r>
                  <a:rPr lang="en-US" altLang="zh-CN" sz="1800" i="1" baseline="-25000" dirty="0" err="1">
                    <a:solidFill>
                      <a:srgbClr val="FF0000"/>
                    </a:solidFill>
                    <a:latin typeface="+mn-lt"/>
                    <a:sym typeface="+mn-ea"/>
                  </a:rPr>
                  <a:t>n</a:t>
                </a:r>
                <a:r>
                  <a:rPr lang="zh-CN" altLang="en-US" sz="1800" dirty="0">
                    <a:solidFill>
                      <a:srgbClr val="FF0000"/>
                    </a:solidFill>
                    <a:latin typeface="+mn-lt"/>
                    <a:sym typeface="+mn-ea"/>
                  </a:rPr>
                  <a:t>在一个半无限的二进制矩阵中定义一个新的列</a:t>
                </a:r>
                <a:r>
                  <a:rPr lang="zh-CN" altLang="en-US" sz="1800" dirty="0">
                    <a:latin typeface="+mn-lt"/>
                    <a:sym typeface="+mn-ea"/>
                  </a:rPr>
                  <a:t>，如图所示。</a:t>
                </a:r>
                <a:endParaRPr lang="en-US" altLang="zh-CN" sz="1800" dirty="0">
                  <a:latin typeface="+mn-lt"/>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293618" y="914466"/>
                <a:ext cx="8583399" cy="2657138"/>
              </a:xfrm>
              <a:prstGeom prst="rect">
                <a:avLst/>
              </a:prstGeom>
              <a:blipFill rotWithShape="1">
                <a:blip r:embed="rId1"/>
                <a:stretch>
                  <a:fillRect l="-3" t="-2" r="4" b="14"/>
                </a:stretch>
              </a:blipFill>
            </p:spPr>
            <p:txBody>
              <a:bodyPr/>
              <a:lstStyle/>
              <a:p>
                <a:r>
                  <a:rPr lang="zh-CN" altLang="en-US">
                    <a:noFill/>
                  </a:rPr>
                  <a:t> </a:t>
                </a:r>
              </a:p>
            </p:txBody>
          </p:sp>
        </mc:Fallback>
      </mc:AlternateContent>
      <p:grpSp>
        <p:nvGrpSpPr>
          <p:cNvPr id="3" name="组合 2"/>
          <p:cNvGrpSpPr/>
          <p:nvPr/>
        </p:nvGrpSpPr>
        <p:grpSpPr>
          <a:xfrm>
            <a:off x="1887287" y="3751146"/>
            <a:ext cx="5105266" cy="2944160"/>
            <a:chOff x="1887287" y="3751146"/>
            <a:chExt cx="5105266" cy="2944160"/>
          </a:xfrm>
        </p:grpSpPr>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7287" y="3751146"/>
              <a:ext cx="5105266" cy="2579717"/>
            </a:xfrm>
            <a:prstGeom prst="rect">
              <a:avLst/>
            </a:prstGeom>
          </p:spPr>
        </p:pic>
        <p:sp>
          <p:nvSpPr>
            <p:cNvPr id="5" name="文本框 4"/>
            <p:cNvSpPr txBox="1"/>
            <p:nvPr/>
          </p:nvSpPr>
          <p:spPr>
            <a:xfrm>
              <a:off x="3389926" y="6205428"/>
              <a:ext cx="2629836"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1800" dirty="0">
                  <a:sym typeface="+mn-ea"/>
                </a:rPr>
                <a:t>随机矩阵</a:t>
              </a:r>
              <a:r>
                <a:rPr lang="en-US" altLang="zh-CN" sz="1800" dirty="0">
                  <a:sym typeface="+mn-ea"/>
                </a:rPr>
                <a:t>G</a:t>
              </a:r>
              <a:endParaRPr lang="zh-CN" altLang="en-US" sz="1800" dirty="0">
                <a:sym typeface="+mn-ea"/>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随机线性喷泉码的编码</a:t>
            </a:r>
            <a:endParaRPr lang="zh-CN" altLang="en-US" sz="2400" dirty="0">
              <a:sym typeface="+mn-ea"/>
            </a:endParaRPr>
          </a:p>
        </p:txBody>
      </p:sp>
      <p:sp>
        <p:nvSpPr>
          <p:cNvPr id="6" name="文本框 5"/>
          <p:cNvSpPr txBox="1"/>
          <p:nvPr/>
        </p:nvSpPr>
        <p:spPr>
          <a:xfrm>
            <a:off x="5486115" y="3074559"/>
            <a:ext cx="3314613" cy="127214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zh-CN" altLang="en-US" sz="1800" dirty="0">
                <a:latin typeface="+mn-lt"/>
                <a:sym typeface="+mn-ea"/>
              </a:rPr>
              <a:t>        经过信道传输，发生数据包删除，接收端一直接收数据包，直到</a:t>
            </a:r>
            <a:r>
              <a:rPr lang="zh-CN" altLang="en-US" sz="1800" dirty="0">
                <a:solidFill>
                  <a:srgbClr val="FF0000"/>
                </a:solidFill>
                <a:latin typeface="+mn-lt"/>
                <a:sym typeface="+mn-ea"/>
              </a:rPr>
              <a:t>接收到</a:t>
            </a:r>
            <a:r>
              <a:rPr lang="en-US" altLang="zh-CN" sz="1800" dirty="0">
                <a:solidFill>
                  <a:srgbClr val="FF0000"/>
                </a:solidFill>
                <a:latin typeface="+mn-lt"/>
                <a:sym typeface="+mn-ea"/>
              </a:rPr>
              <a:t>N</a:t>
            </a:r>
            <a:r>
              <a:rPr lang="zh-CN" altLang="en-US" sz="1800" dirty="0">
                <a:solidFill>
                  <a:srgbClr val="FF0000"/>
                </a:solidFill>
                <a:latin typeface="+mn-lt"/>
                <a:sym typeface="+mn-ea"/>
              </a:rPr>
              <a:t>个</a:t>
            </a:r>
            <a:r>
              <a:rPr lang="zh-CN" altLang="en-US" sz="1800" dirty="0">
                <a:latin typeface="+mn-lt"/>
                <a:sym typeface="+mn-ea"/>
              </a:rPr>
              <a:t>数据包。</a:t>
            </a:r>
            <a:endParaRPr lang="en-US" altLang="zh-CN" sz="1800" dirty="0">
              <a:latin typeface="+mn-lt"/>
              <a:sym typeface="+mn-ea"/>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83138" y="2590822"/>
            <a:ext cx="1295366" cy="624083"/>
          </a:xfrm>
          <a:prstGeom prst="rect">
            <a:avLst/>
          </a:prstGeom>
        </p:spPr>
      </p:pic>
      <p:grpSp>
        <p:nvGrpSpPr>
          <p:cNvPr id="9" name="组合 8"/>
          <p:cNvGrpSpPr/>
          <p:nvPr/>
        </p:nvGrpSpPr>
        <p:grpSpPr>
          <a:xfrm>
            <a:off x="38219" y="885731"/>
            <a:ext cx="5105266" cy="5915757"/>
            <a:chOff x="38219" y="885731"/>
            <a:chExt cx="5105266" cy="5915757"/>
          </a:xfrm>
        </p:grpSpPr>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19" y="885731"/>
              <a:ext cx="5105266" cy="2579717"/>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18" y="3548054"/>
              <a:ext cx="4876672" cy="3253434"/>
            </a:xfrm>
            <a:prstGeom prst="rect">
              <a:avLst/>
            </a:prstGeom>
          </p:spPr>
        </p:pic>
      </p:grpSp>
      <p:sp>
        <p:nvSpPr>
          <p:cNvPr id="13" name="文本框 12"/>
          <p:cNvSpPr txBox="1"/>
          <p:nvPr/>
        </p:nvSpPr>
        <p:spPr>
          <a:xfrm>
            <a:off x="4337498" y="5868816"/>
            <a:ext cx="3968204" cy="45140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zh-CN" altLang="en-US" sz="1800" dirty="0">
                <a:latin typeface="+mn-lt"/>
                <a:sym typeface="+mn-ea"/>
              </a:rPr>
              <a:t> </a:t>
            </a:r>
            <a:r>
              <a:rPr lang="en-US" altLang="zh-CN" sz="1800" dirty="0">
                <a:latin typeface="+mn-lt"/>
                <a:sym typeface="+mn-ea"/>
              </a:rPr>
              <a:t>K – BY – N </a:t>
            </a:r>
            <a:r>
              <a:rPr lang="zh-CN" altLang="en-US" sz="1800" dirty="0">
                <a:latin typeface="+mn-lt"/>
                <a:sym typeface="+mn-ea"/>
              </a:rPr>
              <a:t>矩阵，称其中一部分为</a:t>
            </a:r>
            <a:r>
              <a:rPr lang="en-US" altLang="zh-CN" sz="1800" dirty="0">
                <a:latin typeface="+mn-lt"/>
                <a:sym typeface="+mn-ea"/>
              </a:rPr>
              <a:t>G</a:t>
            </a:r>
            <a:endParaRPr lang="en-US" altLang="zh-CN" sz="1800" dirty="0">
              <a:latin typeface="+mn-lt"/>
              <a:sym typeface="+mn-ea"/>
            </a:endParaRPr>
          </a:p>
        </p:txBody>
      </p:sp>
      <p:cxnSp>
        <p:nvCxnSpPr>
          <p:cNvPr id="14" name="直接箭头连接符 13"/>
          <p:cNvCxnSpPr/>
          <p:nvPr/>
        </p:nvCxnSpPr>
        <p:spPr bwMode="auto">
          <a:xfrm flipH="1" flipV="1">
            <a:off x="3124238" y="5486346"/>
            <a:ext cx="1154266" cy="6095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随机线性喷泉码的解码</a:t>
            </a:r>
            <a:endParaRPr lang="zh-CN" altLang="en-US" sz="2400" dirty="0">
              <a:sym typeface="+mn-ea"/>
            </a:endParaRPr>
          </a:p>
        </p:txBody>
      </p:sp>
      <mc:AlternateContent xmlns:mc="http://schemas.openxmlformats.org/markup-compatibility/2006">
        <mc:Choice xmlns:a14="http://schemas.microsoft.com/office/drawing/2010/main" Requires="a14">
          <p:sp>
            <p:nvSpPr>
              <p:cNvPr id="6" name="文本框 5"/>
              <p:cNvSpPr txBox="1"/>
              <p:nvPr/>
            </p:nvSpPr>
            <p:spPr>
              <a:xfrm>
                <a:off x="293618" y="914466"/>
                <a:ext cx="8659247" cy="4644861"/>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1800" dirty="0">
                    <a:solidFill>
                      <a:srgbClr val="FF0000"/>
                    </a:solidFill>
                    <a:latin typeface="+mn-lt"/>
                    <a:sym typeface="+mn-ea"/>
                  </a:rPr>
                  <a:t>（</a:t>
                </a:r>
                <a:r>
                  <a:rPr lang="en-US" altLang="zh-CN" sz="1800" dirty="0">
                    <a:solidFill>
                      <a:srgbClr val="FF0000"/>
                    </a:solidFill>
                    <a:latin typeface="+mn-lt"/>
                    <a:sym typeface="+mn-ea"/>
                  </a:rPr>
                  <a:t>1</a:t>
                </a:r>
                <a:r>
                  <a:rPr lang="zh-CN" altLang="en-US" sz="1800" dirty="0">
                    <a:solidFill>
                      <a:srgbClr val="FF0000"/>
                    </a:solidFill>
                    <a:latin typeface="+mn-lt"/>
                    <a:sym typeface="+mn-ea"/>
                  </a:rPr>
                  <a:t>）如果</a:t>
                </a:r>
                <a:r>
                  <a:rPr lang="en-US" altLang="zh-CN" sz="1800" dirty="0">
                    <a:solidFill>
                      <a:srgbClr val="FF0000"/>
                    </a:solidFill>
                    <a:latin typeface="+mn-lt"/>
                    <a:sym typeface="+mn-ea"/>
                  </a:rPr>
                  <a:t>N&lt;K</a:t>
                </a:r>
                <a:r>
                  <a:rPr lang="zh-CN" altLang="en-US" sz="1800" dirty="0">
                    <a:solidFill>
                      <a:srgbClr val="FF0000"/>
                    </a:solidFill>
                    <a:latin typeface="+mn-lt"/>
                    <a:sym typeface="+mn-ea"/>
                  </a:rPr>
                  <a:t>，</a:t>
                </a:r>
                <a:r>
                  <a:rPr lang="zh-CN" altLang="en-US" sz="1800" dirty="0">
                    <a:latin typeface="+mn-lt"/>
                    <a:sym typeface="+mn-ea"/>
                  </a:rPr>
                  <a:t>接收端就没有接收到足够多的码元，不可能恢复源文件。</a:t>
                </a:r>
                <a:endParaRPr lang="en-US" altLang="zh-CN" sz="1800" dirty="0">
                  <a:latin typeface="+mn-lt"/>
                  <a:sym typeface="+mn-ea"/>
                </a:endParaRPr>
              </a:p>
              <a:p>
                <a:pPr marL="285750" indent="-285750">
                  <a:lnSpc>
                    <a:spcPts val="3600"/>
                  </a:lnSpc>
                  <a:buFont typeface="Wingdings" panose="05000000000000000000" pitchFamily="2" charset="2"/>
                  <a:buChar char="l"/>
                </a:pPr>
                <a:r>
                  <a:rPr lang="en-US" altLang="zh-CN" sz="1800" dirty="0">
                    <a:latin typeface="+mn-lt"/>
                    <a:sym typeface="+mn-ea"/>
                  </a:rPr>
                  <a:t>        </a:t>
                </a:r>
                <a:r>
                  <a:rPr lang="zh-CN" altLang="en-US" sz="1800" dirty="0">
                    <a:solidFill>
                      <a:srgbClr val="FF0000"/>
                    </a:solidFill>
                    <a:latin typeface="+mn-lt"/>
                    <a:sym typeface="+mn-ea"/>
                  </a:rPr>
                  <a:t>如果</a:t>
                </a:r>
                <a:r>
                  <a:rPr lang="en-US" altLang="zh-CN" sz="1800" dirty="0">
                    <a:solidFill>
                      <a:srgbClr val="FF0000"/>
                    </a:solidFill>
                    <a:latin typeface="+mn-lt"/>
                    <a:sym typeface="+mn-ea"/>
                  </a:rPr>
                  <a:t>N=K</a:t>
                </a:r>
                <a:r>
                  <a:rPr lang="zh-CN" altLang="en-US" sz="1800" dirty="0">
                    <a:solidFill>
                      <a:srgbClr val="FF0000"/>
                    </a:solidFill>
                    <a:latin typeface="+mn-lt"/>
                    <a:sym typeface="+mn-ea"/>
                  </a:rPr>
                  <a:t>，</a:t>
                </a:r>
                <a:r>
                  <a:rPr lang="zh-CN" altLang="en-US" sz="1800" dirty="0">
                    <a:latin typeface="+mn-lt"/>
                    <a:sym typeface="+mn-ea"/>
                  </a:rPr>
                  <a:t>则接收端有可能恢复源文件。如果矩阵</a:t>
                </a:r>
                <a:r>
                  <a:rPr lang="en-US" altLang="zh-CN" sz="1800" dirty="0">
                    <a:latin typeface="+mn-lt"/>
                    <a:sym typeface="+mn-ea"/>
                  </a:rPr>
                  <a:t>G</a:t>
                </a:r>
                <a:r>
                  <a:rPr lang="zh-CN" altLang="en-US" sz="1800" dirty="0">
                    <a:latin typeface="+mn-lt"/>
                    <a:sym typeface="+mn-ea"/>
                  </a:rPr>
                  <a:t>可逆（二进制），就可以计算出</a:t>
                </a:r>
                <a:r>
                  <a:rPr lang="en-US" altLang="zh-CN" sz="1800" dirty="0">
                    <a:latin typeface="+mn-lt"/>
                    <a:sym typeface="+mn-ea"/>
                  </a:rPr>
                  <a:t>G</a:t>
                </a:r>
                <a:r>
                  <a:rPr lang="zh-CN" altLang="en-US" sz="1800" dirty="0">
                    <a:latin typeface="+mn-lt"/>
                    <a:sym typeface="+mn-ea"/>
                  </a:rPr>
                  <a:t>的逆矩阵</a:t>
                </a:r>
                <a:r>
                  <a:rPr lang="en-US" altLang="zh-CN" sz="1800" dirty="0">
                    <a:latin typeface="+mn-lt"/>
                    <a:sym typeface="+mn-ea"/>
                  </a:rPr>
                  <a:t>G</a:t>
                </a:r>
                <a:r>
                  <a:rPr lang="en-US" altLang="zh-CN" sz="1800" baseline="30000" dirty="0">
                    <a:latin typeface="+mn-lt"/>
                    <a:sym typeface="+mn-ea"/>
                  </a:rPr>
                  <a:t>-1</a:t>
                </a:r>
                <a:r>
                  <a:rPr lang="zh-CN" altLang="en-US" sz="1800" dirty="0">
                    <a:latin typeface="+mn-lt"/>
                    <a:sym typeface="+mn-ea"/>
                  </a:rPr>
                  <a:t>，就能恢复</a:t>
                </a:r>
                <a:r>
                  <a:rPr lang="en-US" altLang="zh-CN" sz="1800" i="1" dirty="0" err="1">
                    <a:latin typeface="+mn-lt"/>
                    <a:sym typeface="+mn-ea"/>
                  </a:rPr>
                  <a:t>S</a:t>
                </a:r>
                <a:r>
                  <a:rPr lang="en-US" altLang="zh-CN" sz="1800" i="1" baseline="-25000" dirty="0" err="1">
                    <a:latin typeface="+mn-lt"/>
                    <a:sym typeface="+mn-ea"/>
                  </a:rPr>
                  <a:t>k</a:t>
                </a:r>
                <a:r>
                  <a:rPr lang="zh-CN" altLang="en-US" sz="1800" dirty="0">
                    <a:latin typeface="+mn-lt"/>
                    <a:sym typeface="+mn-ea"/>
                  </a:rPr>
                  <a:t>，即</a:t>
                </a:r>
                <a14:m>
                  <m:oMath xmlns:m="http://schemas.openxmlformats.org/officeDocument/2006/math">
                    <m:sSub>
                      <m:sSubPr>
                        <m:ctrlPr>
                          <a:rPr lang="en-US" altLang="zh-CN" sz="1800" i="1" smtClean="0">
                            <a:latin typeface="Cambria Math" panose="02040503050406030204" pitchFamily="18" charset="0"/>
                            <a:sym typeface="+mn-ea"/>
                          </a:rPr>
                        </m:ctrlPr>
                      </m:sSubPr>
                      <m:e>
                        <m:r>
                          <m:rPr>
                            <m:sty m:val="p"/>
                          </m:rPr>
                          <a:rPr lang="en-US" altLang="zh-CN" sz="1800" b="0" i="0" smtClean="0">
                            <a:latin typeface="Cambria Math" panose="02040503050406030204" pitchFamily="18" charset="0"/>
                            <a:sym typeface="+mn-ea"/>
                          </a:rPr>
                          <m:t>S</m:t>
                        </m:r>
                      </m:e>
                      <m:sub>
                        <m:r>
                          <m:rPr>
                            <m:sty m:val="p"/>
                          </m:rPr>
                          <a:rPr lang="en-US" altLang="zh-CN" sz="1800" b="0" i="0" smtClean="0">
                            <a:latin typeface="Cambria Math" panose="02040503050406030204" pitchFamily="18" charset="0"/>
                            <a:sym typeface="+mn-ea"/>
                          </a:rPr>
                          <m:t>k</m:t>
                        </m:r>
                      </m:sub>
                    </m:sSub>
                    <m:r>
                      <a:rPr lang="en-US" altLang="zh-CN" sz="1800" i="0">
                        <a:latin typeface="Cambria Math" panose="02040503050406030204" pitchFamily="18" charset="0"/>
                        <a:sym typeface="+mn-ea"/>
                      </a:rPr>
                      <m:t>=</m:t>
                    </m:r>
                    <m:sSubSup>
                      <m:sSubSupPr>
                        <m:ctrlPr>
                          <a:rPr lang="en-US" altLang="zh-CN" sz="1800" i="1" smtClean="0">
                            <a:latin typeface="Cambria Math" panose="02040503050406030204" pitchFamily="18" charset="0"/>
                            <a:ea typeface="Cambria Math" panose="02040503050406030204" pitchFamily="18" charset="0"/>
                            <a:sym typeface="+mn-ea"/>
                          </a:rPr>
                        </m:ctrlPr>
                      </m:sSubSupPr>
                      <m:e>
                        <m:r>
                          <a:rPr lang="en-US" altLang="zh-CN" sz="1800" i="1">
                            <a:latin typeface="Cambria Math" panose="02040503050406030204" pitchFamily="18" charset="0"/>
                            <a:ea typeface="Cambria Math" panose="02040503050406030204" pitchFamily="18" charset="0"/>
                            <a:sym typeface="+mn-ea"/>
                          </a:rPr>
                          <m:t>∑</m:t>
                        </m:r>
                      </m:e>
                      <m:sub>
                        <m:r>
                          <a:rPr lang="en-US" altLang="zh-CN" sz="1800" b="0" i="1" smtClean="0">
                            <a:latin typeface="Cambria Math" panose="02040503050406030204" pitchFamily="18" charset="0"/>
                            <a:ea typeface="Cambria Math" panose="02040503050406030204" pitchFamily="18" charset="0"/>
                            <a:sym typeface="+mn-ea"/>
                          </a:rPr>
                          <m:t>𝑛</m:t>
                        </m:r>
                        <m:r>
                          <a:rPr lang="en-US" altLang="zh-CN" sz="1800" b="0" i="1" smtClean="0">
                            <a:latin typeface="Cambria Math" panose="02040503050406030204" pitchFamily="18" charset="0"/>
                            <a:ea typeface="Cambria Math" panose="02040503050406030204" pitchFamily="18" charset="0"/>
                            <a:sym typeface="+mn-ea"/>
                          </a:rPr>
                          <m:t>=</m:t>
                        </m:r>
                        <m:r>
                          <a:rPr lang="en-US" altLang="zh-CN" sz="1800" b="0" i="1" smtClean="0">
                            <a:latin typeface="Cambria Math" panose="02040503050406030204" pitchFamily="18" charset="0"/>
                            <a:ea typeface="Cambria Math" panose="02040503050406030204" pitchFamily="18" charset="0"/>
                            <a:sym typeface="+mn-ea"/>
                          </a:rPr>
                          <m:t>1</m:t>
                        </m:r>
                      </m:sub>
                      <m:sup>
                        <m:r>
                          <a:rPr lang="en-US" altLang="zh-CN" sz="1800" b="0" i="1" smtClean="0">
                            <a:latin typeface="Cambria Math" panose="02040503050406030204" pitchFamily="18" charset="0"/>
                            <a:ea typeface="Cambria Math" panose="02040503050406030204" pitchFamily="18" charset="0"/>
                            <a:sym typeface="+mn-ea"/>
                          </a:rPr>
                          <m:t>𝑁</m:t>
                        </m:r>
                      </m:sup>
                    </m:sSubSup>
                    <m:sSub>
                      <m:sSubPr>
                        <m:ctrlPr>
                          <a:rPr lang="en-US" altLang="zh-CN" sz="1800" i="1" smtClean="0">
                            <a:latin typeface="Cambria Math" panose="02040503050406030204" pitchFamily="18" charset="0"/>
                            <a:ea typeface="Cambria Math" panose="02040503050406030204" pitchFamily="18" charset="0"/>
                            <a:sym typeface="+mn-ea"/>
                          </a:rPr>
                        </m:ctrlPr>
                      </m:sSubPr>
                      <m:e>
                        <m:r>
                          <a:rPr lang="en-US" altLang="zh-CN" sz="1800" b="0" i="1" smtClean="0">
                            <a:latin typeface="Cambria Math" panose="02040503050406030204" pitchFamily="18" charset="0"/>
                            <a:ea typeface="Cambria Math" panose="02040503050406030204" pitchFamily="18" charset="0"/>
                            <a:sym typeface="+mn-ea"/>
                          </a:rPr>
                          <m:t>𝑡</m:t>
                        </m:r>
                      </m:e>
                      <m:sub>
                        <m:r>
                          <a:rPr lang="en-US" altLang="zh-CN" sz="1800" b="0" i="1" smtClean="0">
                            <a:latin typeface="Cambria Math" panose="02040503050406030204" pitchFamily="18" charset="0"/>
                            <a:ea typeface="Cambria Math" panose="02040503050406030204" pitchFamily="18" charset="0"/>
                            <a:sym typeface="+mn-ea"/>
                          </a:rPr>
                          <m:t>𝑛</m:t>
                        </m:r>
                      </m:sub>
                    </m:sSub>
                    <m:sSubSup>
                      <m:sSubSupPr>
                        <m:ctrlPr>
                          <a:rPr lang="en-US" altLang="zh-CN" sz="1800" i="1" smtClean="0">
                            <a:latin typeface="Cambria Math" panose="02040503050406030204" pitchFamily="18" charset="0"/>
                            <a:ea typeface="Cambria Math" panose="02040503050406030204" pitchFamily="18" charset="0"/>
                            <a:sym typeface="+mn-ea"/>
                          </a:rPr>
                        </m:ctrlPr>
                      </m:sSubSupPr>
                      <m:e>
                        <m:r>
                          <a:rPr lang="en-US" altLang="zh-CN" sz="1800" b="0" i="1" smtClean="0">
                            <a:latin typeface="Cambria Math" panose="02040503050406030204" pitchFamily="18" charset="0"/>
                            <a:ea typeface="Cambria Math" panose="02040503050406030204" pitchFamily="18" charset="0"/>
                            <a:sym typeface="+mn-ea"/>
                          </a:rPr>
                          <m:t>𝐺</m:t>
                        </m:r>
                      </m:e>
                      <m:sub>
                        <m:r>
                          <a:rPr lang="en-US" altLang="zh-CN" sz="1800" b="0" i="1" smtClean="0">
                            <a:latin typeface="Cambria Math" panose="02040503050406030204" pitchFamily="18" charset="0"/>
                            <a:ea typeface="Cambria Math" panose="02040503050406030204" pitchFamily="18" charset="0"/>
                            <a:sym typeface="+mn-ea"/>
                          </a:rPr>
                          <m:t>𝑛𝑘</m:t>
                        </m:r>
                      </m:sub>
                      <m:sup>
                        <m:r>
                          <a:rPr lang="en-US" altLang="zh-CN" sz="1800" b="0" i="1" smtClean="0">
                            <a:latin typeface="Cambria Math" panose="02040503050406030204" pitchFamily="18" charset="0"/>
                            <a:ea typeface="Cambria Math" panose="02040503050406030204" pitchFamily="18" charset="0"/>
                            <a:sym typeface="+mn-ea"/>
                          </a:rPr>
                          <m:t>−</m:t>
                        </m:r>
                        <m:r>
                          <a:rPr lang="en-US" altLang="zh-CN" sz="1800" b="0" i="1" smtClean="0">
                            <a:latin typeface="Cambria Math" panose="02040503050406030204" pitchFamily="18" charset="0"/>
                            <a:ea typeface="Cambria Math" panose="02040503050406030204" pitchFamily="18" charset="0"/>
                            <a:sym typeface="+mn-ea"/>
                          </a:rPr>
                          <m:t>1</m:t>
                        </m:r>
                      </m:sup>
                    </m:sSubSup>
                    <m:r>
                      <a:rPr lang="zh-CN" altLang="en-US" sz="1800" i="1">
                        <a:latin typeface="Cambria Math" panose="02040503050406030204" pitchFamily="18" charset="0"/>
                        <a:ea typeface="Cambria Math" panose="02040503050406030204" pitchFamily="18" charset="0"/>
                        <a:sym typeface="+mn-ea"/>
                      </a:rPr>
                      <m:t>，</m:t>
                    </m:r>
                  </m:oMath>
                </a14:m>
                <a:r>
                  <a:rPr lang="zh-CN" altLang="en-US" sz="1800" dirty="0">
                    <a:latin typeface="+mn-lt"/>
                    <a:sym typeface="+mn-ea"/>
                  </a:rPr>
                  <a:t>此时数据恢复的概率为</a:t>
                </a:r>
                <a:r>
                  <a:rPr lang="en-US" altLang="zh-CN" sz="1800" dirty="0">
                    <a:latin typeface="+mn-lt"/>
                    <a:sym typeface="+mn-ea"/>
                  </a:rPr>
                  <a:t>(1-2</a:t>
                </a:r>
                <a:r>
                  <a:rPr lang="en-US" altLang="zh-CN" sz="1800" baseline="30000" dirty="0">
                    <a:latin typeface="+mn-lt"/>
                    <a:sym typeface="+mn-ea"/>
                  </a:rPr>
                  <a:t>-K</a:t>
                </a:r>
                <a:r>
                  <a:rPr lang="en-US" altLang="zh-CN" sz="1800" dirty="0">
                    <a:latin typeface="+mn-lt"/>
                    <a:sym typeface="+mn-ea"/>
                  </a:rPr>
                  <a:t>)(1-2</a:t>
                </a:r>
                <a:r>
                  <a:rPr lang="en-US" altLang="zh-CN" sz="1800" baseline="30000" dirty="0">
                    <a:latin typeface="+mn-lt"/>
                    <a:sym typeface="+mn-ea"/>
                  </a:rPr>
                  <a:t>-(K-1)</a:t>
                </a:r>
                <a:r>
                  <a:rPr lang="en-US" altLang="zh-CN" sz="1800" dirty="0">
                    <a:latin typeface="+mn-lt"/>
                    <a:sym typeface="+mn-ea"/>
                  </a:rPr>
                  <a:t>)…(1-1/8)(1-1/4)(1-1/2)</a:t>
                </a:r>
                <a:r>
                  <a:rPr lang="zh-CN" altLang="en-US" sz="1800" dirty="0">
                    <a:latin typeface="+mn-lt"/>
                    <a:sym typeface="+mn-ea"/>
                  </a:rPr>
                  <a:t>，当</a:t>
                </a:r>
                <a:r>
                  <a:rPr lang="en-US" altLang="zh-CN" sz="1800" dirty="0">
                    <a:latin typeface="+mn-lt"/>
                    <a:sym typeface="+mn-ea"/>
                  </a:rPr>
                  <a:t>K&gt;10</a:t>
                </a:r>
                <a:r>
                  <a:rPr lang="zh-CN" altLang="en-US" sz="1800" dirty="0">
                    <a:latin typeface="+mn-lt"/>
                    <a:sym typeface="+mn-ea"/>
                  </a:rPr>
                  <a:t>时，概率约为</a:t>
                </a:r>
                <a:r>
                  <a:rPr lang="en-US" altLang="zh-CN" sz="1800" dirty="0">
                    <a:latin typeface="+mn-lt"/>
                    <a:sym typeface="+mn-ea"/>
                  </a:rPr>
                  <a:t>0.289</a:t>
                </a:r>
                <a:r>
                  <a:rPr lang="zh-CN" altLang="en-US" sz="1800" dirty="0">
                    <a:latin typeface="+mn-lt"/>
                    <a:sym typeface="+mn-ea"/>
                  </a:rPr>
                  <a:t>。</a:t>
                </a:r>
                <a:endParaRPr lang="en-US" altLang="zh-CN" sz="1800" dirty="0">
                  <a:latin typeface="+mn-lt"/>
                  <a:sym typeface="+mn-ea"/>
                </a:endParaRPr>
              </a:p>
              <a:p>
                <a:pPr marL="285750" indent="-285750">
                  <a:lnSpc>
                    <a:spcPts val="3600"/>
                  </a:lnSpc>
                  <a:buFont typeface="Wingdings" panose="05000000000000000000" pitchFamily="2" charset="2"/>
                  <a:buChar char="l"/>
                </a:pPr>
                <a:r>
                  <a:rPr lang="en-US" altLang="zh-CN" sz="1800" dirty="0">
                    <a:latin typeface="+mn-lt"/>
                    <a:sym typeface="+mn-ea"/>
                  </a:rPr>
                  <a:t>       </a:t>
                </a:r>
                <a:r>
                  <a:rPr lang="zh-CN" altLang="en-US" sz="1800" dirty="0">
                    <a:solidFill>
                      <a:srgbClr val="FF0000"/>
                    </a:solidFill>
                    <a:latin typeface="+mn-lt"/>
                    <a:sym typeface="+mn-ea"/>
                  </a:rPr>
                  <a:t>如果</a:t>
                </a:r>
                <a:r>
                  <a:rPr lang="en-US" altLang="zh-CN" sz="1800" dirty="0">
                    <a:solidFill>
                      <a:srgbClr val="FF0000"/>
                    </a:solidFill>
                    <a:latin typeface="+mn-lt"/>
                    <a:sym typeface="+mn-ea"/>
                  </a:rPr>
                  <a:t>N&gt;K</a:t>
                </a:r>
                <a:r>
                  <a:rPr lang="zh-CN" altLang="en-US" sz="1800" dirty="0">
                    <a:solidFill>
                      <a:srgbClr val="FF0000"/>
                    </a:solidFill>
                    <a:latin typeface="+mn-lt"/>
                    <a:sym typeface="+mn-ea"/>
                  </a:rPr>
                  <a:t>，</a:t>
                </a:r>
                <a:r>
                  <a:rPr lang="zh-CN" altLang="en-US" sz="1800" dirty="0">
                    <a:latin typeface="+mn-lt"/>
                    <a:sym typeface="+mn-ea"/>
                  </a:rPr>
                  <a:t>令</a:t>
                </a:r>
                <a:r>
                  <a:rPr lang="en-US" altLang="zh-CN" sz="1800" dirty="0">
                    <a:latin typeface="+mn-lt"/>
                    <a:sym typeface="+mn-ea"/>
                  </a:rPr>
                  <a:t>N = K + E </a:t>
                </a:r>
                <a:r>
                  <a:rPr lang="zh-CN" altLang="en-US" sz="1800" dirty="0">
                    <a:latin typeface="+mn-lt"/>
                    <a:sym typeface="+mn-ea"/>
                  </a:rPr>
                  <a:t>，</a:t>
                </a:r>
                <a:r>
                  <a:rPr lang="en-US" altLang="zh-CN" sz="1800" dirty="0">
                    <a:latin typeface="+mn-lt"/>
                    <a:sym typeface="+mn-ea"/>
                  </a:rPr>
                  <a:t>E</a:t>
                </a:r>
                <a:r>
                  <a:rPr lang="zh-CN" altLang="en-US" sz="1800" dirty="0">
                    <a:latin typeface="+mn-lt"/>
                    <a:sym typeface="+mn-ea"/>
                  </a:rPr>
                  <a:t>是多接收到的很小量的码元。令此时数据恢复的概率为</a:t>
                </a:r>
                <a:r>
                  <a:rPr lang="en-US" altLang="zh-CN" sz="1800" dirty="0">
                    <a:latin typeface="+mn-lt"/>
                    <a:sym typeface="+mn-ea"/>
                  </a:rPr>
                  <a:t>1-</a:t>
                </a:r>
                <a:r>
                  <a:rPr lang="en-US" altLang="zh-CN" sz="1800" i="1" dirty="0">
                    <a:latin typeface="+mn-lt"/>
                    <a:sym typeface="+mn-ea"/>
                  </a:rPr>
                  <a:t>e</a:t>
                </a:r>
                <a:r>
                  <a:rPr lang="zh-CN" altLang="en-US" sz="1800" dirty="0">
                    <a:latin typeface="+mn-lt"/>
                    <a:sym typeface="+mn-ea"/>
                  </a:rPr>
                  <a:t>，</a:t>
                </a:r>
                <a:r>
                  <a:rPr lang="en-US" altLang="zh-CN" sz="1800" i="1" dirty="0">
                    <a:latin typeface="+mn-lt"/>
                    <a:sym typeface="+mn-ea"/>
                  </a:rPr>
                  <a:t>e</a:t>
                </a:r>
                <a:r>
                  <a:rPr lang="zh-CN" altLang="en-US" sz="1800" dirty="0">
                    <a:latin typeface="+mn-lt"/>
                    <a:sym typeface="+mn-ea"/>
                  </a:rPr>
                  <a:t>为接收端接收到额外的码元时无法恢复的概率。对于任何</a:t>
                </a:r>
                <a:r>
                  <a:rPr lang="en-US" altLang="zh-CN" sz="1800" dirty="0">
                    <a:latin typeface="+mn-lt"/>
                    <a:sym typeface="+mn-ea"/>
                  </a:rPr>
                  <a:t>K</a:t>
                </a:r>
                <a:r>
                  <a:rPr lang="zh-CN" altLang="en-US" sz="1800" dirty="0">
                    <a:latin typeface="+mn-lt"/>
                    <a:sym typeface="+mn-ea"/>
                  </a:rPr>
                  <a:t>，无法恢复源文件的概率</a:t>
                </a:r>
                <a:r>
                  <a:rPr lang="en-US" altLang="zh-CN" sz="1800" i="1" dirty="0">
                    <a:latin typeface="+mn-lt"/>
                    <a:sym typeface="+mn-ea"/>
                  </a:rPr>
                  <a:t>e</a:t>
                </a:r>
                <a:r>
                  <a:rPr lang="en-US" altLang="zh-CN" sz="1800" dirty="0">
                    <a:latin typeface="+mn-lt"/>
                    <a:sym typeface="+mn-ea"/>
                  </a:rPr>
                  <a:t>(E)</a:t>
                </a:r>
                <a:r>
                  <a:rPr lang="zh-CN" altLang="en-US" sz="1800" dirty="0">
                    <a:latin typeface="+mn-lt"/>
                    <a:sym typeface="+mn-ea"/>
                  </a:rPr>
                  <a:t>≤</a:t>
                </a:r>
                <a:r>
                  <a:rPr lang="en-US" altLang="zh-CN" sz="1800" dirty="0">
                    <a:latin typeface="+mn-lt"/>
                    <a:sym typeface="+mn-ea"/>
                  </a:rPr>
                  <a:t>2</a:t>
                </a:r>
                <a:r>
                  <a:rPr lang="en-US" altLang="zh-CN" sz="1800" baseline="30000" dirty="0">
                    <a:latin typeface="+mn-lt"/>
                    <a:sym typeface="+mn-ea"/>
                  </a:rPr>
                  <a:t>-E</a:t>
                </a:r>
                <a:r>
                  <a:rPr lang="zh-CN" altLang="en-US" sz="1800" dirty="0">
                    <a:latin typeface="+mn-lt"/>
                    <a:sym typeface="+mn-ea"/>
                  </a:rPr>
                  <a:t>。总的来说，恢复源文件的概率为</a:t>
                </a:r>
                <a:r>
                  <a:rPr lang="en-US" altLang="zh-CN" sz="1800" dirty="0">
                    <a:latin typeface="+mn-lt"/>
                    <a:sym typeface="+mn-ea"/>
                  </a:rPr>
                  <a:t>1-</a:t>
                </a:r>
                <a:r>
                  <a:rPr lang="en-US" altLang="zh-CN" sz="1800" i="1" dirty="0">
                    <a:latin typeface="+mn-lt"/>
                    <a:sym typeface="+mn-ea"/>
                  </a:rPr>
                  <a:t>e</a:t>
                </a:r>
                <a:r>
                  <a:rPr lang="zh-CN" altLang="en-US" sz="1800" dirty="0">
                    <a:latin typeface="+mn-lt"/>
                    <a:sym typeface="+mn-ea"/>
                  </a:rPr>
                  <a:t>时，需要接收的数据包数目大概是</a:t>
                </a:r>
                <a:r>
                  <a:rPr lang="en-US" altLang="zh-CN" sz="1800" dirty="0">
                    <a:latin typeface="+mn-lt"/>
                    <a:sym typeface="+mn-ea"/>
                  </a:rPr>
                  <a:t>K+log</a:t>
                </a:r>
                <a:r>
                  <a:rPr lang="en-US" altLang="zh-CN" sz="1800" baseline="-25000" dirty="0">
                    <a:latin typeface="+mn-lt"/>
                    <a:sym typeface="+mn-ea"/>
                  </a:rPr>
                  <a:t>2</a:t>
                </a:r>
                <a:r>
                  <a:rPr lang="en-US" altLang="zh-CN" sz="1800" dirty="0">
                    <a:latin typeface="+mn-lt"/>
                    <a:sym typeface="+mn-ea"/>
                  </a:rPr>
                  <a:t>(1/</a:t>
                </a:r>
                <a:r>
                  <a:rPr lang="en-US" altLang="zh-CN" sz="1800" i="1" dirty="0">
                    <a:latin typeface="+mn-lt"/>
                    <a:sym typeface="+mn-ea"/>
                  </a:rPr>
                  <a:t>e</a:t>
                </a:r>
                <a:r>
                  <a:rPr lang="en-US" altLang="zh-CN" sz="1800" dirty="0">
                    <a:latin typeface="+mn-lt"/>
                    <a:sym typeface="+mn-ea"/>
                  </a:rPr>
                  <a:t>)</a:t>
                </a:r>
                <a:r>
                  <a:rPr lang="zh-CN" altLang="en-US" sz="1800" dirty="0">
                    <a:latin typeface="+mn-lt"/>
                    <a:sym typeface="+mn-ea"/>
                  </a:rPr>
                  <a:t>，对一个数据包编码的代价是需要</a:t>
                </a:r>
                <a:r>
                  <a:rPr lang="en-US" altLang="zh-CN" sz="1800" dirty="0">
                    <a:latin typeface="+mn-lt"/>
                    <a:sym typeface="+mn-ea"/>
                  </a:rPr>
                  <a:t>K/2</a:t>
                </a:r>
                <a:r>
                  <a:rPr lang="zh-CN" altLang="en-US" sz="1800" dirty="0">
                    <a:latin typeface="+mn-lt"/>
                    <a:sym typeface="+mn-ea"/>
                  </a:rPr>
                  <a:t>次数据包运算，解码的代价是对随机矩阵</a:t>
                </a:r>
                <a:r>
                  <a:rPr lang="en-US" altLang="zh-CN" sz="1800" dirty="0">
                    <a:latin typeface="+mn-lt"/>
                    <a:sym typeface="+mn-ea"/>
                  </a:rPr>
                  <a:t>G</a:t>
                </a:r>
                <a:r>
                  <a:rPr lang="zh-CN" altLang="en-US" sz="1800" dirty="0">
                    <a:latin typeface="+mn-lt"/>
                    <a:sym typeface="+mn-ea"/>
                  </a:rPr>
                  <a:t>求逆的代价</a:t>
                </a:r>
                <a:r>
                  <a:rPr lang="en-US" altLang="zh-CN" sz="1800" dirty="0">
                    <a:latin typeface="+mn-lt"/>
                    <a:sym typeface="+mn-ea"/>
                  </a:rPr>
                  <a:t>(</a:t>
                </a:r>
                <a:r>
                  <a:rPr lang="zh-CN" altLang="en-US" sz="1800" dirty="0">
                    <a:latin typeface="+mn-lt"/>
                    <a:sym typeface="+mn-ea"/>
                  </a:rPr>
                  <a:t>大概</a:t>
                </a:r>
                <a:r>
                  <a:rPr lang="en-US" altLang="zh-CN" sz="1800" dirty="0">
                    <a:latin typeface="+mn-lt"/>
                    <a:sym typeface="+mn-ea"/>
                  </a:rPr>
                  <a:t>K</a:t>
                </a:r>
                <a:r>
                  <a:rPr lang="en-US" altLang="zh-CN" sz="1800" baseline="30000" dirty="0">
                    <a:latin typeface="+mn-lt"/>
                    <a:sym typeface="+mn-ea"/>
                  </a:rPr>
                  <a:t>3</a:t>
                </a:r>
                <a:r>
                  <a:rPr lang="zh-CN" altLang="en-US" sz="1800" dirty="0">
                    <a:latin typeface="+mn-lt"/>
                    <a:sym typeface="+mn-ea"/>
                  </a:rPr>
                  <a:t>次二进制运算</a:t>
                </a:r>
                <a:r>
                  <a:rPr lang="en-US" altLang="zh-CN" sz="1800" dirty="0">
                    <a:latin typeface="+mn-lt"/>
                    <a:sym typeface="+mn-ea"/>
                  </a:rPr>
                  <a:t>)</a:t>
                </a:r>
                <a:r>
                  <a:rPr lang="zh-CN" altLang="en-US" sz="1800" dirty="0">
                    <a:latin typeface="+mn-lt"/>
                    <a:sym typeface="+mn-ea"/>
                  </a:rPr>
                  <a:t>和对接收的数据包对应的随机矩阵求逆的代价</a:t>
                </a:r>
                <a:r>
                  <a:rPr lang="en-US" altLang="zh-CN" sz="1800" dirty="0">
                    <a:latin typeface="+mn-lt"/>
                    <a:sym typeface="+mn-ea"/>
                  </a:rPr>
                  <a:t>(</a:t>
                </a:r>
                <a:r>
                  <a:rPr lang="zh-CN" altLang="en-US" sz="1800" dirty="0">
                    <a:latin typeface="+mn-lt"/>
                    <a:sym typeface="+mn-ea"/>
                  </a:rPr>
                  <a:t>大概是</a:t>
                </a:r>
                <a:r>
                  <a:rPr lang="en-US" altLang="zh-CN" sz="1800" dirty="0">
                    <a:latin typeface="+mn-lt"/>
                    <a:sym typeface="+mn-ea"/>
                  </a:rPr>
                  <a:t>K</a:t>
                </a:r>
                <a:r>
                  <a:rPr lang="en-US" altLang="zh-CN" sz="1800" baseline="30000" dirty="0">
                    <a:latin typeface="+mn-lt"/>
                    <a:sym typeface="+mn-ea"/>
                  </a:rPr>
                  <a:t>2</a:t>
                </a:r>
                <a:r>
                  <a:rPr lang="en-US" altLang="zh-CN" sz="1800" dirty="0">
                    <a:latin typeface="+mn-lt"/>
                    <a:sym typeface="+mn-ea"/>
                  </a:rPr>
                  <a:t>/2</a:t>
                </a:r>
                <a:r>
                  <a:rPr lang="zh-CN" altLang="en-US" sz="1800" dirty="0">
                    <a:latin typeface="+mn-lt"/>
                    <a:sym typeface="+mn-ea"/>
                  </a:rPr>
                  <a:t>次数据包运算</a:t>
                </a:r>
                <a:r>
                  <a:rPr lang="en-US" altLang="zh-CN" sz="1800" dirty="0">
                    <a:latin typeface="+mn-lt"/>
                    <a:sym typeface="+mn-ea"/>
                  </a:rPr>
                  <a:t>)</a:t>
                </a:r>
                <a:r>
                  <a:rPr lang="zh-CN" altLang="en-US" sz="1800" dirty="0">
                    <a:latin typeface="+mn-lt"/>
                    <a:sym typeface="+mn-ea"/>
                  </a:rPr>
                  <a:t>之和。</a:t>
                </a:r>
                <a:endParaRPr lang="en-US" altLang="zh-CN" sz="1800" dirty="0">
                  <a:latin typeface="+mn-lt"/>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293618" y="914466"/>
                <a:ext cx="8659247" cy="4644861"/>
              </a:xfrm>
              <a:prstGeom prst="rect">
                <a:avLst/>
              </a:prstGeom>
              <a:blipFill rotWithShape="1">
                <a:blip r:embed="rId1"/>
                <a:stretch>
                  <a:fillRect l="-3" t="-1" b="12"/>
                </a:stretch>
              </a:blipFill>
            </p:spPr>
            <p:txBody>
              <a:bodyPr/>
              <a:lstStyle/>
              <a:p>
                <a:r>
                  <a:rPr lang="zh-CN" altLang="en-US">
                    <a:noFill/>
                  </a:rPr>
                  <a:t> </a:t>
                </a:r>
              </a:p>
            </p:txBody>
          </p:sp>
        </mc:Fallback>
      </mc:AlternateContent>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随机线性喷泉码的解码</a:t>
            </a:r>
            <a:endParaRPr lang="zh-CN" altLang="en-US" sz="2400" dirty="0">
              <a:sym typeface="+mn-ea"/>
            </a:endParaRPr>
          </a:p>
        </p:txBody>
      </p:sp>
      <p:sp>
        <p:nvSpPr>
          <p:cNvPr id="6" name="文本框 5"/>
          <p:cNvSpPr txBox="1"/>
          <p:nvPr/>
        </p:nvSpPr>
        <p:spPr>
          <a:xfrm>
            <a:off x="274147" y="990664"/>
            <a:ext cx="8595705" cy="3259867"/>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1800" dirty="0">
                <a:latin typeface="+mn-lt"/>
                <a:sym typeface="+mn-ea"/>
              </a:rPr>
              <a:t>         当一个随机码对删除信道而言并不是技术上的最佳码，在接收端接收到</a:t>
            </a:r>
            <a:r>
              <a:rPr lang="en-US" altLang="zh-CN" sz="1800" dirty="0">
                <a:latin typeface="+mn-lt"/>
                <a:sym typeface="+mn-ea"/>
              </a:rPr>
              <a:t>K</a:t>
            </a:r>
            <a:r>
              <a:rPr lang="zh-CN" altLang="en-US" sz="1800" dirty="0">
                <a:latin typeface="+mn-lt"/>
                <a:sym typeface="+mn-ea"/>
              </a:rPr>
              <a:t>个数据包时，只有</a:t>
            </a:r>
            <a:r>
              <a:rPr lang="en-US" altLang="zh-CN" sz="1800" dirty="0">
                <a:latin typeface="+mn-lt"/>
                <a:sym typeface="+mn-ea"/>
              </a:rPr>
              <a:t>0.289</a:t>
            </a:r>
            <a:r>
              <a:rPr lang="zh-CN" altLang="en-US" sz="1800" dirty="0">
                <a:latin typeface="+mn-lt"/>
                <a:sym typeface="+mn-ea"/>
              </a:rPr>
              <a:t>的概率恢复源文件，这几乎可以认为是最好的了。但当接收到额外的</a:t>
            </a:r>
            <a:r>
              <a:rPr lang="en-US" altLang="zh-CN" sz="1800" dirty="0">
                <a:latin typeface="+mn-lt"/>
                <a:sym typeface="+mn-ea"/>
              </a:rPr>
              <a:t>E</a:t>
            </a:r>
            <a:r>
              <a:rPr lang="zh-CN" altLang="en-US" sz="1800" dirty="0">
                <a:latin typeface="+mn-lt"/>
                <a:sym typeface="+mn-ea"/>
              </a:rPr>
              <a:t>个数据包时，无差错的恢复源文件的概率就至少为</a:t>
            </a:r>
            <a:r>
              <a:rPr lang="en-US" altLang="zh-CN" sz="1800" dirty="0">
                <a:latin typeface="+mn-lt"/>
                <a:sym typeface="+mn-ea"/>
              </a:rPr>
              <a:t>1-</a:t>
            </a:r>
            <a:r>
              <a:rPr lang="en-US" altLang="zh-CN" sz="1800" i="1" dirty="0">
                <a:latin typeface="+mn-lt"/>
                <a:sym typeface="+mn-ea"/>
              </a:rPr>
              <a:t>e</a:t>
            </a:r>
            <a:r>
              <a:rPr lang="zh-CN" altLang="en-US" sz="1800" dirty="0">
                <a:latin typeface="+mn-lt"/>
                <a:sym typeface="+mn-ea"/>
              </a:rPr>
              <a:t>，其中</a:t>
            </a:r>
            <a:r>
              <a:rPr lang="en-US" altLang="zh-CN" sz="1800" i="1" dirty="0">
                <a:latin typeface="+mn-lt"/>
                <a:sym typeface="+mn-ea"/>
              </a:rPr>
              <a:t>e</a:t>
            </a:r>
            <a:r>
              <a:rPr lang="en-US" altLang="zh-CN" sz="1800" dirty="0">
                <a:latin typeface="+mn-lt"/>
                <a:sym typeface="+mn-ea"/>
              </a:rPr>
              <a:t>=1-2</a:t>
            </a:r>
            <a:r>
              <a:rPr lang="en-US" altLang="zh-CN" sz="1800" baseline="30000" dirty="0">
                <a:latin typeface="+mn-lt"/>
                <a:sym typeface="+mn-ea"/>
              </a:rPr>
              <a:t>-E</a:t>
            </a:r>
            <a:r>
              <a:rPr lang="zh-CN" altLang="en-US" sz="1800" dirty="0">
                <a:latin typeface="+mn-lt"/>
                <a:sym typeface="+mn-ea"/>
              </a:rPr>
              <a:t>。因此，随着源文件大小的增加，随机线性喷泉码能够无限地接近香农理论的极限。唯一的缺点是随机线性喷泉码的编码和解码的代价都是二次方，编码时还会出现三次方。当</a:t>
            </a:r>
            <a:r>
              <a:rPr lang="en-US" altLang="zh-CN" sz="1800" dirty="0">
                <a:latin typeface="+mn-lt"/>
                <a:sym typeface="+mn-ea"/>
              </a:rPr>
              <a:t>K</a:t>
            </a:r>
            <a:r>
              <a:rPr lang="zh-CN" altLang="en-US" sz="1800" dirty="0">
                <a:latin typeface="+mn-lt"/>
                <a:sym typeface="+mn-ea"/>
              </a:rPr>
              <a:t>比较小时，这并不重要，但若</a:t>
            </a:r>
            <a:r>
              <a:rPr lang="en-US" altLang="zh-CN" sz="1800" dirty="0">
                <a:latin typeface="+mn-lt"/>
                <a:sym typeface="+mn-ea"/>
              </a:rPr>
              <a:t>K</a:t>
            </a:r>
            <a:r>
              <a:rPr lang="zh-CN" altLang="en-US" sz="1800" dirty="0">
                <a:latin typeface="+mn-lt"/>
                <a:sym typeface="+mn-ea"/>
              </a:rPr>
              <a:t>很大时，编码和解码的代价就会很大。因此，我们希望更小的编码和解码代价来解决问题。</a:t>
            </a:r>
            <a:endParaRPr lang="en-US" altLang="zh-CN" sz="1800" dirty="0">
              <a:latin typeface="+mn-lt"/>
              <a:sym typeface="+mn-e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码的编码</a:t>
            </a:r>
            <a:endParaRPr lang="zh-CN" altLang="en-US" sz="2400" dirty="0">
              <a:sym typeface="+mn-ea"/>
            </a:endParaRPr>
          </a:p>
        </p:txBody>
      </p:sp>
      <p:sp>
        <p:nvSpPr>
          <p:cNvPr id="6" name="文本框 5"/>
          <p:cNvSpPr txBox="1"/>
          <p:nvPr/>
        </p:nvSpPr>
        <p:spPr>
          <a:xfrm>
            <a:off x="223067" y="914466"/>
            <a:ext cx="8697866" cy="352275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sz="1800" dirty="0">
                <a:latin typeface="+mn-lt"/>
                <a:sym typeface="+mn-ea"/>
              </a:rPr>
              <a:t>        将长为</a:t>
            </a:r>
            <a:r>
              <a:rPr lang="en-US" altLang="zh-CN" sz="1800" i="1" dirty="0">
                <a:latin typeface="+mn-lt"/>
                <a:sym typeface="+mn-ea"/>
              </a:rPr>
              <a:t>n</a:t>
            </a:r>
            <a:r>
              <a:rPr lang="zh-CN" altLang="en-US" sz="1800" dirty="0">
                <a:latin typeface="+mn-lt"/>
                <a:sym typeface="+mn-ea"/>
              </a:rPr>
              <a:t>的文件分割成</a:t>
            </a:r>
            <a:r>
              <a:rPr lang="en-US" altLang="zh-CN" sz="1800" i="1" dirty="0">
                <a:latin typeface="+mn-lt"/>
                <a:sym typeface="+mn-ea"/>
              </a:rPr>
              <a:t>k</a:t>
            </a:r>
            <a:r>
              <a:rPr lang="en-US" altLang="zh-CN" sz="1800" dirty="0">
                <a:latin typeface="+mn-lt"/>
                <a:sym typeface="+mn-ea"/>
              </a:rPr>
              <a:t>=</a:t>
            </a:r>
            <a:r>
              <a:rPr lang="en-US" altLang="zh-CN" sz="1800" i="1" dirty="0">
                <a:latin typeface="+mn-lt"/>
                <a:sym typeface="+mn-ea"/>
              </a:rPr>
              <a:t>n</a:t>
            </a:r>
            <a:r>
              <a:rPr lang="en-US" altLang="zh-CN" sz="1800" dirty="0">
                <a:latin typeface="+mn-lt"/>
                <a:sym typeface="+mn-ea"/>
              </a:rPr>
              <a:t>/</a:t>
            </a:r>
            <a:r>
              <a:rPr lang="en-US" altLang="zh-CN" sz="1800" i="1" dirty="0">
                <a:latin typeface="+mn-lt"/>
                <a:sym typeface="+mn-ea"/>
              </a:rPr>
              <a:t>w</a:t>
            </a:r>
            <a:r>
              <a:rPr lang="zh-CN" altLang="en-US" sz="1800" dirty="0">
                <a:latin typeface="+mn-lt"/>
                <a:sym typeface="+mn-ea"/>
              </a:rPr>
              <a:t>个等长的输入符号</a:t>
            </a:r>
            <a:r>
              <a:rPr lang="en-US" altLang="zh-CN" sz="1800" i="1" dirty="0" err="1">
                <a:latin typeface="+mn-lt"/>
                <a:sym typeface="+mn-ea"/>
              </a:rPr>
              <a:t>s</a:t>
            </a:r>
            <a:r>
              <a:rPr lang="en-US" altLang="zh-CN" sz="1800" i="1" baseline="-25000" dirty="0" err="1">
                <a:latin typeface="+mn-lt"/>
                <a:sym typeface="+mn-ea"/>
              </a:rPr>
              <a:t>k</a:t>
            </a:r>
            <a:r>
              <a:rPr lang="en-US" altLang="zh-CN" sz="1800" dirty="0">
                <a:latin typeface="+mn-lt"/>
                <a:sym typeface="+mn-ea"/>
              </a:rPr>
              <a:t>(</a:t>
            </a:r>
            <a:r>
              <a:rPr lang="zh-CN" altLang="en-US" sz="1800" dirty="0">
                <a:latin typeface="+mn-lt"/>
                <a:sym typeface="+mn-ea"/>
              </a:rPr>
              <a:t>每个输入符号的长为</a:t>
            </a:r>
            <a:r>
              <a:rPr lang="en-US" altLang="zh-CN" sz="1800" i="1" dirty="0">
                <a:latin typeface="+mn-lt"/>
                <a:sym typeface="+mn-ea"/>
              </a:rPr>
              <a:t>w</a:t>
            </a:r>
            <a:r>
              <a:rPr lang="en-US" altLang="zh-CN" sz="1800" dirty="0">
                <a:latin typeface="+mn-lt"/>
                <a:sym typeface="+mn-ea"/>
              </a:rPr>
              <a:t>)</a:t>
            </a:r>
            <a:r>
              <a:rPr lang="zh-CN" altLang="en-US" sz="1800" dirty="0">
                <a:latin typeface="+mn-lt"/>
                <a:sym typeface="+mn-ea"/>
              </a:rPr>
              <a:t>。每个数据包称为输入符号，每个编码包为输出符号。若一个输出符号结点的度为</a:t>
            </a:r>
            <a:r>
              <a:rPr lang="en-US" altLang="zh-CN" sz="1800" i="1" dirty="0">
                <a:latin typeface="+mn-lt"/>
                <a:sym typeface="+mn-ea"/>
              </a:rPr>
              <a:t>d</a:t>
            </a:r>
            <a:r>
              <a:rPr lang="en-US" altLang="zh-CN" sz="1800" dirty="0">
                <a:latin typeface="+mn-lt"/>
                <a:sym typeface="+mn-ea"/>
              </a:rPr>
              <a:t>,</a:t>
            </a:r>
            <a:r>
              <a:rPr lang="zh-CN" altLang="en-US" sz="1800" dirty="0">
                <a:latin typeface="+mn-lt"/>
                <a:sym typeface="+mn-ea"/>
              </a:rPr>
              <a:t>定义</a:t>
            </a:r>
            <a:r>
              <a:rPr lang="en-US" altLang="zh-CN" sz="1800" dirty="0">
                <a:latin typeface="+mn-lt"/>
                <a:sym typeface="+mn-ea"/>
              </a:rPr>
              <a:t>LT</a:t>
            </a:r>
            <a:r>
              <a:rPr lang="zh-CN" altLang="en-US" sz="1800" dirty="0">
                <a:latin typeface="+mn-lt"/>
                <a:sym typeface="+mn-ea"/>
              </a:rPr>
              <a:t>码的度分布</a:t>
            </a:r>
            <a:r>
              <a:rPr lang="en-US" altLang="zh-CN" sz="1800" dirty="0">
                <a:latin typeface="+mn-lt"/>
                <a:sym typeface="+mn-ea"/>
              </a:rPr>
              <a:t>ρ(</a:t>
            </a:r>
            <a:r>
              <a:rPr lang="en-US" altLang="zh-CN" sz="1800" i="1" dirty="0">
                <a:latin typeface="+mn-lt"/>
                <a:sym typeface="+mn-ea"/>
              </a:rPr>
              <a:t>d</a:t>
            </a:r>
            <a:r>
              <a:rPr lang="en-US" altLang="zh-CN" sz="1800" dirty="0">
                <a:latin typeface="+mn-lt"/>
                <a:sym typeface="+mn-ea"/>
              </a:rPr>
              <a:t>)(</a:t>
            </a:r>
            <a:r>
              <a:rPr lang="en-US" altLang="zh-CN" sz="1800" i="1" dirty="0">
                <a:latin typeface="+mn-lt"/>
                <a:sym typeface="+mn-ea"/>
              </a:rPr>
              <a:t>d</a:t>
            </a:r>
            <a:r>
              <a:rPr lang="en-US" altLang="zh-CN" sz="1800" dirty="0">
                <a:latin typeface="+mn-lt"/>
                <a:sym typeface="+mn-ea"/>
              </a:rPr>
              <a:t>≥1)</a:t>
            </a:r>
            <a:r>
              <a:rPr lang="zh-CN" altLang="en-US" sz="1800" dirty="0">
                <a:latin typeface="+mn-lt"/>
                <a:sym typeface="+mn-ea"/>
              </a:rPr>
              <a:t>为</a:t>
            </a:r>
            <a:r>
              <a:rPr lang="en-US" altLang="zh-CN" sz="1800" i="1" dirty="0">
                <a:latin typeface="+mn-lt"/>
                <a:sym typeface="+mn-ea"/>
              </a:rPr>
              <a:t>d</a:t>
            </a:r>
            <a:r>
              <a:rPr lang="zh-CN" altLang="en-US" sz="1800" dirty="0">
                <a:latin typeface="+mn-lt"/>
                <a:sym typeface="+mn-ea"/>
              </a:rPr>
              <a:t>的概率分布。编码步骤如下：</a:t>
            </a:r>
            <a:endParaRPr lang="en-US" altLang="zh-CN" sz="1800" dirty="0">
              <a:latin typeface="+mn-lt"/>
              <a:sym typeface="+mn-ea"/>
            </a:endParaRPr>
          </a:p>
          <a:p>
            <a:pPr>
              <a:lnSpc>
                <a:spcPts val="3400"/>
              </a:lnSpc>
            </a:pPr>
            <a:r>
              <a:rPr lang="en-US" altLang="zh-CN" sz="1800" dirty="0">
                <a:latin typeface="+mn-lt"/>
                <a:sym typeface="+mn-ea"/>
              </a:rPr>
              <a:t>        (1)</a:t>
            </a:r>
            <a:r>
              <a:rPr lang="zh-CN" altLang="en-US" sz="1800" dirty="0">
                <a:latin typeface="+mn-lt"/>
                <a:sym typeface="+mn-ea"/>
              </a:rPr>
              <a:t>编码器首先在</a:t>
            </a:r>
            <a:r>
              <a:rPr lang="en-US" altLang="zh-CN" sz="1800" dirty="0">
                <a:latin typeface="+mn-lt"/>
                <a:sym typeface="+mn-ea"/>
              </a:rPr>
              <a:t>1~</a:t>
            </a:r>
            <a:r>
              <a:rPr lang="en-US" altLang="zh-CN" sz="1800" i="1" dirty="0">
                <a:latin typeface="+mn-lt"/>
                <a:sym typeface="+mn-ea"/>
              </a:rPr>
              <a:t>k</a:t>
            </a:r>
            <a:r>
              <a:rPr lang="zh-CN" altLang="en-US" sz="1800" dirty="0">
                <a:latin typeface="+mn-lt"/>
                <a:sym typeface="+mn-ea"/>
              </a:rPr>
              <a:t>范围内按某一分布</a:t>
            </a:r>
            <a:r>
              <a:rPr lang="en-US" altLang="zh-CN" sz="1800" dirty="0">
                <a:latin typeface="+mn-lt"/>
                <a:sym typeface="+mn-ea"/>
              </a:rPr>
              <a:t>ρ(</a:t>
            </a:r>
            <a:r>
              <a:rPr lang="zh-CN" altLang="en-US" sz="1800" dirty="0">
                <a:latin typeface="+mn-lt"/>
                <a:sym typeface="+mn-ea"/>
              </a:rPr>
              <a:t>称为编码度分布</a:t>
            </a:r>
            <a:r>
              <a:rPr lang="en-US" altLang="zh-CN" sz="1800" dirty="0">
                <a:latin typeface="+mn-lt"/>
                <a:sym typeface="+mn-ea"/>
              </a:rPr>
              <a:t>)</a:t>
            </a:r>
            <a:r>
              <a:rPr lang="zh-CN" altLang="en-US" sz="1800" dirty="0">
                <a:solidFill>
                  <a:srgbClr val="FF0000"/>
                </a:solidFill>
                <a:latin typeface="+mn-lt"/>
                <a:sym typeface="+mn-ea"/>
              </a:rPr>
              <a:t>随机选取一个整数</a:t>
            </a:r>
            <a:r>
              <a:rPr lang="en-US" altLang="zh-CN" sz="1800" i="1" dirty="0">
                <a:solidFill>
                  <a:srgbClr val="FF0000"/>
                </a:solidFill>
                <a:latin typeface="+mn-lt"/>
                <a:sym typeface="+mn-ea"/>
              </a:rPr>
              <a:t>d</a:t>
            </a:r>
            <a:r>
              <a:rPr lang="en-US" altLang="zh-CN" sz="1800" dirty="0">
                <a:latin typeface="+mn-lt"/>
                <a:sym typeface="+mn-ea"/>
              </a:rPr>
              <a:t>,</a:t>
            </a:r>
            <a:r>
              <a:rPr lang="zh-CN" altLang="en-US" sz="1800" dirty="0">
                <a:latin typeface="+mn-lt"/>
                <a:sym typeface="+mn-ea"/>
              </a:rPr>
              <a:t>其中</a:t>
            </a:r>
            <a:r>
              <a:rPr lang="en-US" altLang="zh-CN" sz="1800" dirty="0">
                <a:latin typeface="+mn-lt"/>
                <a:sym typeface="+mn-ea"/>
              </a:rPr>
              <a:t>k</a:t>
            </a:r>
            <a:r>
              <a:rPr lang="zh-CN" altLang="en-US" sz="1800" dirty="0">
                <a:latin typeface="+mn-lt"/>
                <a:sym typeface="+mn-ea"/>
              </a:rPr>
              <a:t>称为该码的码长，</a:t>
            </a:r>
            <a:r>
              <a:rPr lang="en-US" altLang="zh-CN" sz="1800" i="1" dirty="0">
                <a:latin typeface="+mn-lt"/>
                <a:sym typeface="+mn-ea"/>
              </a:rPr>
              <a:t>d</a:t>
            </a:r>
            <a:r>
              <a:rPr lang="zh-CN" altLang="en-US" sz="1800" dirty="0">
                <a:latin typeface="+mn-lt"/>
                <a:sym typeface="+mn-ea"/>
              </a:rPr>
              <a:t>称为编码分组的度</a:t>
            </a:r>
            <a:r>
              <a:rPr lang="en-US" altLang="zh-CN" sz="1800" dirty="0">
                <a:latin typeface="+mn-lt"/>
                <a:sym typeface="+mn-ea"/>
              </a:rPr>
              <a:t>;</a:t>
            </a:r>
            <a:endParaRPr lang="en-US" altLang="zh-CN" sz="1800" dirty="0">
              <a:latin typeface="+mn-lt"/>
              <a:sym typeface="+mn-ea"/>
            </a:endParaRPr>
          </a:p>
          <a:p>
            <a:pPr>
              <a:lnSpc>
                <a:spcPts val="3400"/>
              </a:lnSpc>
            </a:pPr>
            <a:r>
              <a:rPr lang="en-US" altLang="zh-CN" sz="1800" dirty="0">
                <a:latin typeface="+mn-lt"/>
                <a:sym typeface="+mn-ea"/>
              </a:rPr>
              <a:t>        (2)</a:t>
            </a:r>
            <a:r>
              <a:rPr lang="zh-CN" altLang="en-US" sz="1800" dirty="0">
                <a:solidFill>
                  <a:srgbClr val="FF0000"/>
                </a:solidFill>
                <a:latin typeface="+mn-lt"/>
                <a:sym typeface="+mn-ea"/>
              </a:rPr>
              <a:t>在所有输入符号中随机均匀地选取</a:t>
            </a:r>
            <a:r>
              <a:rPr lang="en-US" altLang="zh-CN" sz="1800" i="1" dirty="0">
                <a:solidFill>
                  <a:srgbClr val="FF0000"/>
                </a:solidFill>
                <a:latin typeface="+mn-lt"/>
                <a:sym typeface="+mn-ea"/>
              </a:rPr>
              <a:t>d</a:t>
            </a:r>
            <a:r>
              <a:rPr lang="zh-CN" altLang="en-US" sz="1800" dirty="0">
                <a:solidFill>
                  <a:srgbClr val="FF0000"/>
                </a:solidFill>
                <a:latin typeface="+mn-lt"/>
                <a:sym typeface="+mn-ea"/>
              </a:rPr>
              <a:t>个符号</a:t>
            </a:r>
            <a:r>
              <a:rPr lang="zh-CN" altLang="en-US" sz="1800" dirty="0">
                <a:latin typeface="+mn-lt"/>
                <a:sym typeface="+mn-ea"/>
              </a:rPr>
              <a:t>作为该编码符号的邻节点符号</a:t>
            </a:r>
            <a:r>
              <a:rPr lang="en-US" altLang="zh-CN" sz="1800" dirty="0">
                <a:latin typeface="+mn-lt"/>
                <a:sym typeface="+mn-ea"/>
              </a:rPr>
              <a:t>;</a:t>
            </a:r>
            <a:endParaRPr lang="en-US" altLang="zh-CN" sz="1800" dirty="0">
              <a:latin typeface="+mn-lt"/>
              <a:sym typeface="+mn-ea"/>
            </a:endParaRPr>
          </a:p>
          <a:p>
            <a:pPr>
              <a:lnSpc>
                <a:spcPts val="3400"/>
              </a:lnSpc>
            </a:pPr>
            <a:r>
              <a:rPr lang="en-US" altLang="zh-CN" sz="1800" dirty="0">
                <a:latin typeface="+mn-lt"/>
                <a:sym typeface="+mn-ea"/>
              </a:rPr>
              <a:t>        (3)</a:t>
            </a:r>
            <a:r>
              <a:rPr lang="zh-CN" altLang="en-US" sz="1800" dirty="0">
                <a:solidFill>
                  <a:srgbClr val="FF0000"/>
                </a:solidFill>
                <a:latin typeface="+mn-lt"/>
                <a:sym typeface="+mn-ea"/>
              </a:rPr>
              <a:t>将</a:t>
            </a:r>
            <a:r>
              <a:rPr lang="en-US" altLang="zh-CN" sz="1800" i="1" dirty="0">
                <a:solidFill>
                  <a:srgbClr val="FF0000"/>
                </a:solidFill>
                <a:latin typeface="+mn-lt"/>
                <a:sym typeface="+mn-ea"/>
              </a:rPr>
              <a:t>d</a:t>
            </a:r>
            <a:r>
              <a:rPr lang="zh-CN" altLang="en-US" sz="1800" dirty="0">
                <a:solidFill>
                  <a:srgbClr val="FF0000"/>
                </a:solidFill>
                <a:latin typeface="+mn-lt"/>
                <a:sym typeface="+mn-ea"/>
              </a:rPr>
              <a:t>个数据进行异或并输出</a:t>
            </a:r>
            <a:r>
              <a:rPr lang="zh-CN" altLang="en-US" sz="1800" dirty="0">
                <a:latin typeface="+mn-lt"/>
                <a:sym typeface="+mn-ea"/>
              </a:rPr>
              <a:t>，即对这</a:t>
            </a:r>
            <a:r>
              <a:rPr lang="en-US" altLang="zh-CN" sz="1800" i="1" dirty="0">
                <a:latin typeface="+mn-lt"/>
                <a:sym typeface="+mn-ea"/>
              </a:rPr>
              <a:t>d</a:t>
            </a:r>
            <a:r>
              <a:rPr lang="zh-CN" altLang="en-US" sz="1800" dirty="0">
                <a:latin typeface="+mn-lt"/>
                <a:sym typeface="+mn-ea"/>
              </a:rPr>
              <a:t>个输入符号求异或得到一个编码符号</a:t>
            </a:r>
            <a:r>
              <a:rPr lang="en-US" altLang="zh-CN" sz="1800" i="1" dirty="0" err="1">
                <a:latin typeface="+mn-lt"/>
                <a:sym typeface="+mn-ea"/>
              </a:rPr>
              <a:t>t</a:t>
            </a:r>
            <a:r>
              <a:rPr lang="en-US" altLang="zh-CN" sz="1800" i="1" baseline="-25000" dirty="0" err="1">
                <a:latin typeface="+mn-lt"/>
                <a:sym typeface="+mn-ea"/>
              </a:rPr>
              <a:t>n</a:t>
            </a:r>
            <a:r>
              <a:rPr lang="zh-CN" altLang="en-US" sz="1800" dirty="0">
                <a:latin typeface="+mn-lt"/>
                <a:sym typeface="+mn-ea"/>
              </a:rPr>
              <a:t>。</a:t>
            </a:r>
            <a:endParaRPr lang="en-US" altLang="zh-CN" sz="1800" dirty="0">
              <a:latin typeface="+mn-lt"/>
              <a:sym typeface="+mn-ea"/>
            </a:endParaRPr>
          </a:p>
          <a:p>
            <a:pPr>
              <a:lnSpc>
                <a:spcPts val="3400"/>
              </a:lnSpc>
            </a:pPr>
            <a:r>
              <a:rPr lang="zh-CN" altLang="en-US" sz="1800" dirty="0">
                <a:latin typeface="+mn-lt"/>
                <a:sym typeface="+mn-ea"/>
              </a:rPr>
              <a:t>不断重复上面的步骤，就可以得到无限多个编码分组。</a:t>
            </a:r>
            <a:endParaRPr lang="en-US" altLang="zh-CN" sz="1800" dirty="0">
              <a:latin typeface="+mn-lt"/>
              <a:sym typeface="+mn-ea"/>
            </a:endParaRPr>
          </a:p>
        </p:txBody>
      </p:sp>
      <p:grpSp>
        <p:nvGrpSpPr>
          <p:cNvPr id="3" name="组合 2"/>
          <p:cNvGrpSpPr/>
          <p:nvPr/>
        </p:nvGrpSpPr>
        <p:grpSpPr>
          <a:xfrm>
            <a:off x="1482455" y="4456025"/>
            <a:ext cx="7421628" cy="2372648"/>
            <a:chOff x="1482455" y="4456025"/>
            <a:chExt cx="7421628" cy="2372648"/>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82455" y="4456025"/>
              <a:ext cx="5914929" cy="2108909"/>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6274247" y="6338795"/>
              <a:ext cx="2629836"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sym typeface="+mn-ea"/>
                </a:rPr>
                <a:t>LT</a:t>
              </a:r>
              <a:r>
                <a:rPr lang="zh-CN" altLang="en-US" sz="1800" dirty="0">
                  <a:sym typeface="+mn-ea"/>
                </a:rPr>
                <a:t>编码过程</a:t>
              </a:r>
              <a:endParaRPr lang="zh-CN" altLang="en-US" sz="1800" dirty="0">
                <a:sym typeface="+mn-ea"/>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码的编码</a:t>
            </a:r>
            <a:endParaRPr lang="zh-CN" altLang="en-US" sz="2400" dirty="0">
              <a:sym typeface="+mn-ea"/>
            </a:endParaRPr>
          </a:p>
        </p:txBody>
      </p:sp>
      <p:sp>
        <p:nvSpPr>
          <p:cNvPr id="6" name="文本框 5"/>
          <p:cNvSpPr txBox="1"/>
          <p:nvPr/>
        </p:nvSpPr>
        <p:spPr>
          <a:xfrm>
            <a:off x="259966" y="914466"/>
            <a:ext cx="8659247" cy="265072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sz="1800" dirty="0">
                <a:latin typeface="+mn-lt"/>
                <a:sym typeface="+mn-ea"/>
              </a:rPr>
              <a:t>        在这些步骤中一些细节需要注意：</a:t>
            </a:r>
            <a:r>
              <a:rPr lang="en-US" altLang="zh-CN" sz="1800" dirty="0">
                <a:solidFill>
                  <a:srgbClr val="FF0000"/>
                </a:solidFill>
                <a:latin typeface="+mn-lt"/>
                <a:sym typeface="+mn-ea"/>
              </a:rPr>
              <a:t>LT</a:t>
            </a:r>
            <a:r>
              <a:rPr lang="zh-CN" altLang="en-US" sz="1800" dirty="0">
                <a:solidFill>
                  <a:srgbClr val="FF0000"/>
                </a:solidFill>
                <a:latin typeface="+mn-lt"/>
                <a:sym typeface="+mn-ea"/>
              </a:rPr>
              <a:t>码编码之前要先确定度分布函数</a:t>
            </a:r>
            <a:r>
              <a:rPr lang="zh-CN" altLang="en-US" sz="1800" dirty="0">
                <a:latin typeface="+mn-lt"/>
                <a:sym typeface="+mn-ea"/>
              </a:rPr>
              <a:t>，度值的确定由度分布函数来计算。不同的度分布，</a:t>
            </a:r>
            <a:r>
              <a:rPr lang="en-US" altLang="zh-CN" sz="1800" i="1" dirty="0">
                <a:latin typeface="+mn-lt"/>
                <a:sym typeface="+mn-ea"/>
              </a:rPr>
              <a:t>k</a:t>
            </a:r>
            <a:r>
              <a:rPr lang="zh-CN" altLang="en-US" sz="1800" dirty="0">
                <a:latin typeface="+mn-lt"/>
                <a:sym typeface="+mn-ea"/>
              </a:rPr>
              <a:t>的概率值是不同的，但</a:t>
            </a:r>
            <a:r>
              <a:rPr lang="zh-CN" altLang="en-US" sz="1800" dirty="0">
                <a:solidFill>
                  <a:srgbClr val="FF0000"/>
                </a:solidFill>
                <a:latin typeface="+mn-lt"/>
                <a:sym typeface="+mn-ea"/>
              </a:rPr>
              <a:t>度分布概率函数只是确定了取度值为</a:t>
            </a:r>
            <a:r>
              <a:rPr lang="en-US" altLang="zh-CN" sz="1800" i="1" dirty="0">
                <a:solidFill>
                  <a:srgbClr val="FF0000"/>
                </a:solidFill>
                <a:latin typeface="+mn-lt"/>
                <a:sym typeface="+mn-ea"/>
              </a:rPr>
              <a:t>d</a:t>
            </a:r>
            <a:r>
              <a:rPr lang="zh-CN" altLang="en-US" sz="1800" dirty="0">
                <a:solidFill>
                  <a:srgbClr val="FF0000"/>
                </a:solidFill>
                <a:latin typeface="+mn-lt"/>
                <a:sym typeface="+mn-ea"/>
              </a:rPr>
              <a:t>的概率是多少，而并不能确定这</a:t>
            </a:r>
            <a:r>
              <a:rPr lang="en-US" altLang="zh-CN" sz="1800" i="1" dirty="0">
                <a:solidFill>
                  <a:srgbClr val="FF0000"/>
                </a:solidFill>
                <a:latin typeface="+mn-lt"/>
                <a:sym typeface="+mn-ea"/>
              </a:rPr>
              <a:t>d</a:t>
            </a:r>
            <a:r>
              <a:rPr lang="zh-CN" altLang="en-US" sz="1800" dirty="0">
                <a:solidFill>
                  <a:srgbClr val="FF0000"/>
                </a:solidFill>
                <a:latin typeface="+mn-lt"/>
                <a:sym typeface="+mn-ea"/>
              </a:rPr>
              <a:t>个原始编码分组是哪些，所以对于这</a:t>
            </a:r>
            <a:r>
              <a:rPr lang="en-US" altLang="zh-CN" sz="1800" i="1" dirty="0">
                <a:solidFill>
                  <a:srgbClr val="FF0000"/>
                </a:solidFill>
                <a:latin typeface="+mn-lt"/>
                <a:sym typeface="+mn-ea"/>
              </a:rPr>
              <a:t>d</a:t>
            </a:r>
            <a:r>
              <a:rPr lang="zh-CN" altLang="en-US" sz="1800" dirty="0">
                <a:solidFill>
                  <a:srgbClr val="FF0000"/>
                </a:solidFill>
                <a:latin typeface="+mn-lt"/>
                <a:sym typeface="+mn-ea"/>
              </a:rPr>
              <a:t>个原始编码分组的选择来说是任意的</a:t>
            </a:r>
            <a:r>
              <a:rPr lang="zh-CN" altLang="en-US" sz="1800" dirty="0">
                <a:latin typeface="+mn-lt"/>
                <a:sym typeface="+mn-ea"/>
              </a:rPr>
              <a:t>，这里对这</a:t>
            </a:r>
            <a:r>
              <a:rPr lang="en-US" altLang="zh-CN" sz="1800" i="1" dirty="0">
                <a:latin typeface="+mn-lt"/>
                <a:sym typeface="+mn-ea"/>
              </a:rPr>
              <a:t>d</a:t>
            </a:r>
            <a:r>
              <a:rPr lang="zh-CN" altLang="en-US" sz="1800" dirty="0">
                <a:latin typeface="+mn-lt"/>
                <a:sym typeface="+mn-ea"/>
              </a:rPr>
              <a:t>个原始编码分组的选择采用均匀分布来进行选取，即从区间</a:t>
            </a:r>
            <a:r>
              <a:rPr lang="en-US" altLang="zh-CN" sz="1800" dirty="0">
                <a:latin typeface="+mn-lt"/>
                <a:sym typeface="+mn-ea"/>
              </a:rPr>
              <a:t>[1,</a:t>
            </a:r>
            <a:r>
              <a:rPr lang="en-US" altLang="zh-CN" sz="1800" i="1" dirty="0">
                <a:latin typeface="+mn-lt"/>
                <a:sym typeface="+mn-ea"/>
              </a:rPr>
              <a:t>k</a:t>
            </a:r>
            <a:r>
              <a:rPr lang="en-US" altLang="zh-CN" sz="1800" dirty="0">
                <a:latin typeface="+mn-lt"/>
                <a:sym typeface="+mn-ea"/>
              </a:rPr>
              <a:t>]</a:t>
            </a:r>
            <a:r>
              <a:rPr lang="zh-CN" altLang="en-US" sz="1800" dirty="0">
                <a:latin typeface="+mn-lt"/>
                <a:sym typeface="+mn-ea"/>
              </a:rPr>
              <a:t>中按均匀分布随机生成</a:t>
            </a:r>
            <a:r>
              <a:rPr lang="en-US" altLang="zh-CN" sz="1800" i="1" dirty="0">
                <a:latin typeface="+mn-lt"/>
                <a:sym typeface="+mn-ea"/>
              </a:rPr>
              <a:t>d</a:t>
            </a:r>
            <a:r>
              <a:rPr lang="zh-CN" altLang="en-US" sz="1800" dirty="0">
                <a:latin typeface="+mn-lt"/>
                <a:sym typeface="+mn-ea"/>
              </a:rPr>
              <a:t>个整数。区间</a:t>
            </a:r>
            <a:r>
              <a:rPr lang="en-US" altLang="zh-CN" sz="1800" dirty="0">
                <a:latin typeface="+mn-lt"/>
                <a:sym typeface="+mn-ea"/>
              </a:rPr>
              <a:t>[1,</a:t>
            </a:r>
            <a:r>
              <a:rPr lang="en-US" altLang="zh-CN" sz="1800" i="1" dirty="0">
                <a:latin typeface="+mn-lt"/>
                <a:sym typeface="+mn-ea"/>
              </a:rPr>
              <a:t>k</a:t>
            </a:r>
            <a:r>
              <a:rPr lang="en-US" altLang="zh-CN" sz="1800" dirty="0">
                <a:latin typeface="+mn-lt"/>
                <a:sym typeface="+mn-ea"/>
              </a:rPr>
              <a:t>]</a:t>
            </a:r>
            <a:r>
              <a:rPr lang="zh-CN" altLang="en-US" sz="1800" dirty="0">
                <a:latin typeface="+mn-lt"/>
                <a:sym typeface="+mn-ea"/>
              </a:rPr>
              <a:t>中所有整数被选取的概率是相等的。把这</a:t>
            </a:r>
            <a:r>
              <a:rPr lang="en-US" altLang="zh-CN" sz="1800" i="1" dirty="0">
                <a:latin typeface="+mn-lt"/>
                <a:sym typeface="+mn-ea"/>
              </a:rPr>
              <a:t>d</a:t>
            </a:r>
            <a:r>
              <a:rPr lang="zh-CN" altLang="en-US" sz="1800" dirty="0">
                <a:latin typeface="+mn-lt"/>
                <a:sym typeface="+mn-ea"/>
              </a:rPr>
              <a:t>个整数进行异或，就得到了一个编码分组。</a:t>
            </a:r>
            <a:endParaRPr lang="zh-CN" altLang="en-US" sz="1800" dirty="0">
              <a:latin typeface="+mn-lt"/>
              <a:sym typeface="+mn-ea"/>
            </a:endParaRPr>
          </a:p>
        </p:txBody>
      </p:sp>
      <p:grpSp>
        <p:nvGrpSpPr>
          <p:cNvPr id="3" name="组合 2"/>
          <p:cNvGrpSpPr/>
          <p:nvPr/>
        </p:nvGrpSpPr>
        <p:grpSpPr>
          <a:xfrm>
            <a:off x="1614535" y="3962386"/>
            <a:ext cx="5914929" cy="2617274"/>
            <a:chOff x="1614535" y="3962386"/>
            <a:chExt cx="5914929" cy="2617274"/>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14535" y="3962386"/>
              <a:ext cx="5914929" cy="2108909"/>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3886218" y="6089782"/>
              <a:ext cx="2629836"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sym typeface="+mn-ea"/>
                </a:rPr>
                <a:t>LT</a:t>
              </a:r>
              <a:r>
                <a:rPr lang="zh-CN" altLang="en-US" sz="1800" dirty="0">
                  <a:sym typeface="+mn-ea"/>
                </a:rPr>
                <a:t>编码过程</a:t>
              </a:r>
              <a:endParaRPr lang="zh-CN" altLang="en-US" sz="1800" dirty="0">
                <a:sym typeface="+mn-ea"/>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随机度</a:t>
            </a:r>
            <a:r>
              <a:rPr lang="en-US" altLang="zh-CN" sz="2400" dirty="0">
                <a:sym typeface="+mn-ea"/>
              </a:rPr>
              <a:t>d</a:t>
            </a:r>
            <a:endParaRPr lang="zh-CN" altLang="en-US" sz="2400" dirty="0">
              <a:sym typeface="+mn-ea"/>
            </a:endParaRPr>
          </a:p>
        </p:txBody>
      </p:sp>
      <mc:AlternateContent xmlns:mc="http://schemas.openxmlformats.org/markup-compatibility/2006">
        <mc:Choice xmlns:a14="http://schemas.microsoft.com/office/drawing/2010/main" Requires="a14">
          <p:sp>
            <p:nvSpPr>
              <p:cNvPr id="6" name="文本框 5"/>
              <p:cNvSpPr txBox="1"/>
              <p:nvPr/>
            </p:nvSpPr>
            <p:spPr>
              <a:xfrm>
                <a:off x="259966" y="914466"/>
                <a:ext cx="8659247" cy="3101811"/>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sz="1800" dirty="0">
                    <a:latin typeface="+mn-lt"/>
                    <a:sym typeface="+mn-ea"/>
                  </a:rPr>
                  <a:t>随机度</a:t>
                </a:r>
                <a:r>
                  <a:rPr lang="en-US" altLang="zh-CN" sz="1800" dirty="0">
                    <a:latin typeface="+mn-lt"/>
                    <a:sym typeface="+mn-ea"/>
                  </a:rPr>
                  <a:t>d</a:t>
                </a:r>
                <a:r>
                  <a:rPr lang="zh-CN" altLang="en-US" sz="1800" dirty="0">
                    <a:latin typeface="+mn-lt"/>
                    <a:sym typeface="+mn-ea"/>
                  </a:rPr>
                  <a:t>的确定</a:t>
                </a:r>
                <a:r>
                  <a:rPr lang="en-US" altLang="zh-CN" sz="1800" dirty="0">
                    <a:latin typeface="+mn-lt"/>
                    <a:sym typeface="Wingdings" panose="05000000000000000000" pitchFamily="2" charset="2"/>
                  </a:rPr>
                  <a:t>(</a:t>
                </a:r>
                <a:r>
                  <a:rPr lang="zh-CN" altLang="en-US" sz="1800" dirty="0">
                    <a:latin typeface="+mn-lt"/>
                    <a:sym typeface="Wingdings" panose="05000000000000000000" pitchFamily="2" charset="2"/>
                  </a:rPr>
                  <a:t>孤波分布</a:t>
                </a:r>
                <a:r>
                  <a:rPr lang="en-US" altLang="zh-CN" sz="1800" dirty="0">
                    <a:latin typeface="+mn-lt"/>
                    <a:sym typeface="Wingdings" panose="05000000000000000000" pitchFamily="2" charset="2"/>
                  </a:rPr>
                  <a:t>)</a:t>
                </a:r>
                <a:r>
                  <a:rPr lang="zh-CN" altLang="en-US" sz="1800" dirty="0">
                    <a:latin typeface="+mn-lt"/>
                    <a:sym typeface="Wingdings" panose="05000000000000000000" pitchFamily="2" charset="2"/>
                  </a:rPr>
                  <a:t>：</a:t>
                </a:r>
                <a:endParaRPr lang="en-US" altLang="zh-CN" sz="1800" dirty="0">
                  <a:latin typeface="+mn-lt"/>
                  <a:sym typeface="Wingdings" panose="05000000000000000000" pitchFamily="2" charset="2"/>
                </a:endParaRPr>
              </a:p>
              <a:p>
                <a:pPr>
                  <a:lnSpc>
                    <a:spcPct val="100000"/>
                  </a:lnSpc>
                </a:pPr>
                <a:r>
                  <a:rPr lang="zh-CN" altLang="en-US" sz="1800" dirty="0">
                    <a:sym typeface="+mn-ea"/>
                  </a:rPr>
                  <a:t>                                        </a:t>
                </a:r>
                <a14:m>
                  <m:oMath xmlns:m="http://schemas.openxmlformats.org/officeDocument/2006/math">
                    <m:r>
                      <a:rPr lang="zh-CN" altLang="en-US" sz="1800" i="1" smtClean="0">
                        <a:latin typeface="Cambria Math" panose="02040503050406030204" pitchFamily="18" charset="0"/>
                        <a:sym typeface="+mn-ea"/>
                      </a:rPr>
                      <m:t>𝜌</m:t>
                    </m:r>
                    <m:d>
                      <m:dPr>
                        <m:ctrlPr>
                          <a:rPr lang="en-US" altLang="zh-CN" sz="1800" b="0" i="1" smtClean="0">
                            <a:latin typeface="Cambria Math" panose="02040503050406030204" pitchFamily="18" charset="0"/>
                            <a:sym typeface="+mn-ea"/>
                          </a:rPr>
                        </m:ctrlPr>
                      </m:dPr>
                      <m:e>
                        <m:r>
                          <a:rPr lang="en-US" altLang="zh-CN" sz="1800" b="0" i="1" smtClean="0">
                            <a:latin typeface="Cambria Math" panose="02040503050406030204" pitchFamily="18" charset="0"/>
                            <a:sym typeface="+mn-ea"/>
                          </a:rPr>
                          <m:t>𝑑</m:t>
                        </m:r>
                      </m:e>
                    </m:d>
                    <m:r>
                      <a:rPr lang="en-US" altLang="zh-CN" sz="1800" b="0" i="1" smtClean="0">
                        <a:latin typeface="Cambria Math" panose="02040503050406030204" pitchFamily="18" charset="0"/>
                        <a:sym typeface="+mn-ea"/>
                      </a:rPr>
                      <m:t>=</m:t>
                    </m:r>
                    <m:d>
                      <m:dPr>
                        <m:begChr m:val="{"/>
                        <m:endChr m:val=""/>
                        <m:ctrlPr>
                          <a:rPr lang="en-US" altLang="zh-CN" sz="1800" b="0" i="1" smtClean="0">
                            <a:latin typeface="Cambria Math" panose="02040503050406030204" pitchFamily="18" charset="0"/>
                            <a:sym typeface="+mn-ea"/>
                          </a:rPr>
                        </m:ctrlPr>
                      </m:dPr>
                      <m:e>
                        <m:m>
                          <m:mPr>
                            <m:mcs>
                              <m:mc>
                                <m:mcPr>
                                  <m:count m:val="1"/>
                                  <m:mcJc m:val="center"/>
                                </m:mcPr>
                              </m:mc>
                            </m:mcs>
                            <m:ctrlPr>
                              <a:rPr lang="en-US" altLang="zh-CN" sz="1800" b="0" i="1" smtClean="0">
                                <a:latin typeface="Cambria Math" panose="02040503050406030204" pitchFamily="18" charset="0"/>
                                <a:sym typeface="+mn-ea"/>
                              </a:rPr>
                            </m:ctrlPr>
                          </m:mPr>
                          <m:mr>
                            <m:e>
                              <m:f>
                                <m:fPr>
                                  <m:ctrlPr>
                                    <a:rPr lang="en-US" altLang="zh-CN" sz="1800" b="0" i="1" smtClean="0">
                                      <a:latin typeface="Cambria Math" panose="02040503050406030204" pitchFamily="18" charset="0"/>
                                      <a:sym typeface="+mn-ea"/>
                                    </a:rPr>
                                  </m:ctrlPr>
                                </m:fPr>
                                <m:num>
                                  <m:r>
                                    <a:rPr lang="en-US" altLang="zh-CN" sz="1800" b="0" i="1" smtClean="0">
                                      <a:latin typeface="Cambria Math" panose="02040503050406030204" pitchFamily="18" charset="0"/>
                                      <a:sym typeface="+mn-ea"/>
                                    </a:rPr>
                                    <m:t>1</m:t>
                                  </m:r>
                                </m:num>
                                <m:den>
                                  <m:r>
                                    <a:rPr lang="en-US" altLang="zh-CN" sz="1800" b="0" i="1" smtClean="0">
                                      <a:latin typeface="Cambria Math" panose="02040503050406030204" pitchFamily="18" charset="0"/>
                                      <a:sym typeface="+mn-ea"/>
                                    </a:rPr>
                                    <m:t>𝑘</m:t>
                                  </m:r>
                                </m:den>
                              </m:f>
                              <m:r>
                                <m:rPr>
                                  <m:brk m:alnAt="7"/>
                                </m:rPr>
                                <a:rPr lang="en-US" altLang="zh-CN" sz="1800" b="0" i="1" smtClean="0">
                                  <a:latin typeface="Cambria Math" panose="02040503050406030204" pitchFamily="18" charset="0"/>
                                  <a:sym typeface="+mn-ea"/>
                                </a:rPr>
                                <m:t> </m:t>
                              </m:r>
                              <m:r>
                                <a:rPr lang="en-US" altLang="zh-CN" sz="1800" b="0" i="1" smtClean="0">
                                  <a:latin typeface="Cambria Math" panose="02040503050406030204" pitchFamily="18" charset="0"/>
                                  <a:sym typeface="+mn-ea"/>
                                </a:rPr>
                                <m:t>                  </m:t>
                              </m:r>
                              <m:r>
                                <a:rPr lang="en-US" altLang="zh-CN" sz="1800" b="0" i="1" smtClean="0">
                                  <a:latin typeface="Cambria Math" panose="02040503050406030204" pitchFamily="18" charset="0"/>
                                  <a:sym typeface="+mn-ea"/>
                                </a:rPr>
                                <m:t>𝑑</m:t>
                              </m:r>
                              <m:r>
                                <a:rPr lang="en-US" altLang="zh-CN" sz="1800" b="0" i="1" smtClean="0">
                                  <a:latin typeface="Cambria Math" panose="02040503050406030204" pitchFamily="18" charset="0"/>
                                  <a:sym typeface="+mn-ea"/>
                                </a:rPr>
                                <m:t>=</m:t>
                              </m:r>
                              <m:r>
                                <a:rPr lang="en-US" altLang="zh-CN" sz="1800" b="0" i="1" smtClean="0">
                                  <a:latin typeface="Cambria Math" panose="02040503050406030204" pitchFamily="18" charset="0"/>
                                  <a:sym typeface="+mn-ea"/>
                                </a:rPr>
                                <m:t>1</m:t>
                              </m:r>
                            </m:e>
                          </m:mr>
                          <m:mr>
                            <m:e>
                              <m:f>
                                <m:fPr>
                                  <m:ctrlPr>
                                    <a:rPr lang="en-US" altLang="zh-CN" sz="1800" b="0" i="1" smtClean="0">
                                      <a:latin typeface="Cambria Math" panose="02040503050406030204" pitchFamily="18" charset="0"/>
                                      <a:sym typeface="+mn-ea"/>
                                    </a:rPr>
                                  </m:ctrlPr>
                                </m:fPr>
                                <m:num>
                                  <m:r>
                                    <a:rPr lang="en-US" altLang="zh-CN" sz="1800" b="0" i="1" smtClean="0">
                                      <a:latin typeface="Cambria Math" panose="02040503050406030204" pitchFamily="18" charset="0"/>
                                      <a:sym typeface="+mn-ea"/>
                                    </a:rPr>
                                    <m:t>1</m:t>
                                  </m:r>
                                </m:num>
                                <m:den>
                                  <m:r>
                                    <a:rPr lang="en-US" altLang="zh-CN" sz="1800" b="0" i="1" smtClean="0">
                                      <a:latin typeface="Cambria Math" panose="02040503050406030204" pitchFamily="18" charset="0"/>
                                      <a:sym typeface="+mn-ea"/>
                                    </a:rPr>
                                    <m:t>𝑑</m:t>
                                  </m:r>
                                  <m:r>
                                    <a:rPr lang="en-US" altLang="zh-CN" sz="1800" b="0" i="1" smtClean="0">
                                      <a:latin typeface="Cambria Math" panose="02040503050406030204" pitchFamily="18" charset="0"/>
                                      <a:sym typeface="+mn-ea"/>
                                    </a:rPr>
                                    <m:t>(</m:t>
                                  </m:r>
                                  <m:r>
                                    <a:rPr lang="en-US" altLang="zh-CN" sz="1800" b="0" i="1" smtClean="0">
                                      <a:latin typeface="Cambria Math" panose="02040503050406030204" pitchFamily="18" charset="0"/>
                                      <a:sym typeface="+mn-ea"/>
                                    </a:rPr>
                                    <m:t>𝑑</m:t>
                                  </m:r>
                                  <m:r>
                                    <a:rPr lang="en-US" altLang="zh-CN" sz="1800" b="0" i="1" smtClean="0">
                                      <a:latin typeface="Cambria Math" panose="02040503050406030204" pitchFamily="18" charset="0"/>
                                      <a:sym typeface="+mn-ea"/>
                                    </a:rPr>
                                    <m:t>−</m:t>
                                  </m:r>
                                  <m:r>
                                    <a:rPr lang="en-US" altLang="zh-CN" sz="1800" b="0" i="1" smtClean="0">
                                      <a:latin typeface="Cambria Math" panose="02040503050406030204" pitchFamily="18" charset="0"/>
                                      <a:sym typeface="+mn-ea"/>
                                    </a:rPr>
                                    <m:t>1</m:t>
                                  </m:r>
                                  <m:r>
                                    <a:rPr lang="en-US" altLang="zh-CN" sz="1800" b="0" i="1" smtClean="0">
                                      <a:latin typeface="Cambria Math" panose="02040503050406030204" pitchFamily="18" charset="0"/>
                                      <a:sym typeface="+mn-ea"/>
                                    </a:rPr>
                                    <m:t>)</m:t>
                                  </m:r>
                                </m:den>
                              </m:f>
                              <m:r>
                                <a:rPr lang="en-US" altLang="zh-CN" sz="1800" b="0" i="1" smtClean="0">
                                  <a:latin typeface="Cambria Math" panose="02040503050406030204" pitchFamily="18" charset="0"/>
                                  <a:sym typeface="+mn-ea"/>
                                </a:rPr>
                                <m:t>         </m:t>
                              </m:r>
                              <m:r>
                                <a:rPr lang="en-US" altLang="zh-CN" sz="1800" b="0" i="1" smtClean="0">
                                  <a:latin typeface="Cambria Math" panose="02040503050406030204" pitchFamily="18" charset="0"/>
                                  <a:sym typeface="+mn-ea"/>
                                </a:rPr>
                                <m:t>𝑑</m:t>
                              </m:r>
                              <m:r>
                                <a:rPr lang="en-US" altLang="zh-CN" sz="1800" b="0" i="1" smtClean="0">
                                  <a:latin typeface="Cambria Math" panose="02040503050406030204" pitchFamily="18" charset="0"/>
                                  <a:sym typeface="+mn-ea"/>
                                </a:rPr>
                                <m:t>=</m:t>
                              </m:r>
                              <m:r>
                                <a:rPr lang="en-US" altLang="zh-CN" sz="1800" b="0" i="1" smtClean="0">
                                  <a:latin typeface="Cambria Math" panose="02040503050406030204" pitchFamily="18" charset="0"/>
                                  <a:sym typeface="+mn-ea"/>
                                </a:rPr>
                                <m:t>2</m:t>
                              </m:r>
                              <m:r>
                                <a:rPr lang="en-US" altLang="zh-CN" sz="1800" b="0" i="1" smtClean="0">
                                  <a:latin typeface="Cambria Math" panose="02040503050406030204" pitchFamily="18" charset="0"/>
                                  <a:sym typeface="+mn-ea"/>
                                </a:rPr>
                                <m:t>,</m:t>
                              </m:r>
                              <m:r>
                                <a:rPr lang="en-US" altLang="zh-CN" sz="1800" b="0" i="1" smtClean="0">
                                  <a:latin typeface="Cambria Math" panose="02040503050406030204" pitchFamily="18" charset="0"/>
                                  <a:sym typeface="+mn-ea"/>
                                </a:rPr>
                                <m:t>3</m:t>
                              </m:r>
                              <m:r>
                                <a:rPr lang="en-US" altLang="zh-CN" sz="1800" b="0" i="1" smtClean="0">
                                  <a:latin typeface="Cambria Math" panose="02040503050406030204" pitchFamily="18" charset="0"/>
                                  <a:sym typeface="+mn-ea"/>
                                </a:rPr>
                                <m:t>,…,</m:t>
                              </m:r>
                              <m:r>
                                <a:rPr lang="en-US" altLang="zh-CN" sz="1800" b="0" i="1" smtClean="0">
                                  <a:latin typeface="Cambria Math" panose="02040503050406030204" pitchFamily="18" charset="0"/>
                                  <a:sym typeface="+mn-ea"/>
                                </a:rPr>
                                <m:t>𝑘</m:t>
                              </m:r>
                            </m:e>
                          </m:mr>
                        </m:m>
                        <m:r>
                          <a:rPr lang="en-US" altLang="zh-CN" sz="1800" b="0" i="1" smtClean="0">
                            <a:latin typeface="Cambria Math" panose="02040503050406030204" pitchFamily="18" charset="0"/>
                            <a:sym typeface="+mn-ea"/>
                          </a:rPr>
                          <m:t> </m:t>
                        </m:r>
                      </m:e>
                    </m:d>
                  </m:oMath>
                </a14:m>
                <a:r>
                  <a:rPr lang="en-US" altLang="zh-CN" sz="1800" dirty="0">
                    <a:latin typeface="+mn-lt"/>
                    <a:sym typeface="+mn-ea"/>
                  </a:rPr>
                  <a:t>                                          (1)</a:t>
                </a:r>
                <a:endParaRPr lang="en-US" altLang="zh-CN" sz="1800" dirty="0">
                  <a:latin typeface="+mn-lt"/>
                  <a:sym typeface="+mn-ea"/>
                </a:endParaRPr>
              </a:p>
              <a:p>
                <a:pPr>
                  <a:lnSpc>
                    <a:spcPts val="3400"/>
                  </a:lnSpc>
                </a:pPr>
                <a:r>
                  <a:rPr lang="zh-CN" altLang="en-US" sz="1800" dirty="0">
                    <a:latin typeface="+mn-lt"/>
                  </a:rPr>
                  <a:t>         根据度分布函数来确定编码时的度</a:t>
                </a:r>
                <a:r>
                  <a:rPr lang="en-US" altLang="zh-CN" sz="1800" dirty="0">
                    <a:latin typeface="+mn-lt"/>
                  </a:rPr>
                  <a:t>(</a:t>
                </a:r>
                <a:r>
                  <a:rPr lang="zh-CN" altLang="en-US" sz="1800" dirty="0">
                    <a:latin typeface="+mn-lt"/>
                  </a:rPr>
                  <a:t>参与编码的源文件的个数</a:t>
                </a:r>
                <a:r>
                  <a:rPr lang="en-US" altLang="zh-CN" sz="1800" dirty="0">
                    <a:latin typeface="+mn-lt"/>
                  </a:rPr>
                  <a:t>)</a:t>
                </a:r>
                <a:r>
                  <a:rPr lang="zh-CN" altLang="en-US" sz="1800" dirty="0">
                    <a:latin typeface="+mn-lt"/>
                  </a:rPr>
                  <a:t>。假设</a:t>
                </a:r>
                <a:r>
                  <a:rPr lang="en-US" altLang="zh-CN" sz="1800" i="1" dirty="0">
                    <a:latin typeface="+mn-lt"/>
                  </a:rPr>
                  <a:t>k</a:t>
                </a:r>
                <a:r>
                  <a:rPr lang="en-US" altLang="zh-CN" sz="1800" dirty="0">
                    <a:latin typeface="+mn-lt"/>
                  </a:rPr>
                  <a:t>=100</a:t>
                </a:r>
                <a:r>
                  <a:rPr lang="zh-CN" altLang="en-US" sz="1800" dirty="0">
                    <a:latin typeface="+mn-lt"/>
                  </a:rPr>
                  <a:t>，则由孤波分布可知：度为</a:t>
                </a:r>
                <a:r>
                  <a:rPr lang="en-US" altLang="zh-CN" sz="1800" dirty="0">
                    <a:latin typeface="+mn-lt"/>
                  </a:rPr>
                  <a:t>1</a:t>
                </a:r>
                <a:r>
                  <a:rPr lang="zh-CN" altLang="en-US" sz="1800" dirty="0">
                    <a:latin typeface="+mn-lt"/>
                  </a:rPr>
                  <a:t>的概率为</a:t>
                </a:r>
                <a:r>
                  <a:rPr lang="en-US" altLang="zh-CN" sz="1800" dirty="0">
                    <a:latin typeface="+mn-lt"/>
                  </a:rPr>
                  <a:t>1/100</a:t>
                </a:r>
                <a:r>
                  <a:rPr lang="zh-CN" altLang="en-US" sz="1800" dirty="0">
                    <a:latin typeface="+mn-lt"/>
                  </a:rPr>
                  <a:t>，度为</a:t>
                </a:r>
                <a:r>
                  <a:rPr lang="en-US" altLang="zh-CN" sz="1800" dirty="0">
                    <a:latin typeface="+mn-lt"/>
                  </a:rPr>
                  <a:t>2</a:t>
                </a:r>
                <a:r>
                  <a:rPr lang="zh-CN" altLang="en-US" sz="1800" dirty="0">
                    <a:latin typeface="+mn-lt"/>
                  </a:rPr>
                  <a:t>的概率为</a:t>
                </a:r>
                <a:r>
                  <a:rPr lang="en-US" altLang="zh-CN" sz="1800" dirty="0">
                    <a:latin typeface="+mn-lt"/>
                  </a:rPr>
                  <a:t>1/2</a:t>
                </a:r>
                <a:r>
                  <a:rPr lang="zh-CN" altLang="en-US" sz="1800" dirty="0">
                    <a:latin typeface="+mn-lt"/>
                  </a:rPr>
                  <a:t>，</a:t>
                </a:r>
                <a:r>
                  <a:rPr lang="en-US" altLang="zh-CN" sz="1800" dirty="0">
                    <a:latin typeface="+mn-lt"/>
                  </a:rPr>
                  <a:t>...</a:t>
                </a:r>
                <a:r>
                  <a:rPr lang="zh-CN" altLang="en-US" sz="1800" dirty="0">
                    <a:latin typeface="+mn-lt"/>
                  </a:rPr>
                  <a:t>，</a:t>
                </a:r>
                <a:r>
                  <a:rPr lang="en-US" altLang="zh-CN" sz="1800" dirty="0">
                    <a:latin typeface="+mn-lt"/>
                  </a:rPr>
                  <a:t>d</a:t>
                </a:r>
                <a:r>
                  <a:rPr lang="zh-CN" altLang="en-US" sz="1800" dirty="0">
                    <a:latin typeface="+mn-lt"/>
                  </a:rPr>
                  <a:t>为</a:t>
                </a:r>
                <a:r>
                  <a:rPr lang="en-US" altLang="zh-CN" sz="1800" dirty="0">
                    <a:latin typeface="+mn-lt"/>
                  </a:rPr>
                  <a:t>100</a:t>
                </a:r>
                <a:r>
                  <a:rPr lang="zh-CN" altLang="en-US" sz="1800" dirty="0">
                    <a:latin typeface="+mn-lt"/>
                  </a:rPr>
                  <a:t>的概率为</a:t>
                </a:r>
                <a:r>
                  <a:rPr lang="en-US" altLang="zh-CN" sz="1800" dirty="0">
                    <a:latin typeface="+mn-lt"/>
                  </a:rPr>
                  <a:t>1/9900</a:t>
                </a:r>
                <a:r>
                  <a:rPr lang="zh-CN" altLang="en-US" sz="1800" dirty="0">
                    <a:latin typeface="+mn-lt"/>
                  </a:rPr>
                  <a:t>。</a:t>
                </a:r>
                <a:endParaRPr lang="en-US" altLang="zh-CN" sz="1800" dirty="0">
                  <a:latin typeface="+mn-lt"/>
                </a:endParaRPr>
              </a:p>
              <a:p>
                <a:pPr>
                  <a:lnSpc>
                    <a:spcPts val="3400"/>
                  </a:lnSpc>
                </a:pPr>
                <a:r>
                  <a:rPr lang="zh-CN" altLang="en-US" sz="1800" dirty="0">
                    <a:latin typeface="+mn-lt"/>
                  </a:rPr>
                  <a:t>在</a:t>
                </a:r>
                <a:r>
                  <a:rPr lang="en-US" altLang="zh-CN" sz="1800" dirty="0">
                    <a:latin typeface="+mn-lt"/>
                  </a:rPr>
                  <a:t>[1,10000]</a:t>
                </a:r>
                <a:r>
                  <a:rPr lang="zh-CN" altLang="en-US" sz="1800" dirty="0">
                    <a:latin typeface="+mn-lt"/>
                  </a:rPr>
                  <a:t>区间上划分</a:t>
                </a:r>
                <a:r>
                  <a:rPr lang="en-US" altLang="zh-CN" sz="1800" dirty="0">
                    <a:latin typeface="+mn-lt"/>
                  </a:rPr>
                  <a:t>100</a:t>
                </a:r>
                <a:r>
                  <a:rPr lang="zh-CN" altLang="en-US" sz="1800" dirty="0">
                    <a:latin typeface="+mn-lt"/>
                  </a:rPr>
                  <a:t>个区间：</a:t>
                </a:r>
                <a:endParaRPr lang="zh-CN" altLang="en-US" sz="1800" dirty="0">
                  <a:latin typeface="+mn-lt"/>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259966" y="914466"/>
                <a:ext cx="8659247" cy="3101811"/>
              </a:xfrm>
              <a:prstGeom prst="rect">
                <a:avLst/>
              </a:prstGeom>
              <a:blipFill rotWithShape="1">
                <a:blip r:embed="rId1"/>
                <a:stretch>
                  <a:fillRect l="-3" t="-2" b="17"/>
                </a:stretch>
              </a:blipFill>
            </p:spPr>
            <p:txBody>
              <a:bodyPr/>
              <a:lstStyle/>
              <a:p>
                <a:r>
                  <a:rPr lang="zh-CN" altLang="en-US">
                    <a:noFill/>
                  </a:rPr>
                  <a:t> </a:t>
                </a:r>
              </a:p>
            </p:txBody>
          </p:sp>
        </mc:Fallback>
      </mc:AlternateContent>
      <p:graphicFrame>
        <p:nvGraphicFramePr>
          <p:cNvPr id="3" name="表格 3"/>
          <p:cNvGraphicFramePr>
            <a:graphicFrameLocks noGrp="1"/>
          </p:cNvGraphicFramePr>
          <p:nvPr/>
        </p:nvGraphicFramePr>
        <p:xfrm>
          <a:off x="1541589" y="4184130"/>
          <a:ext cx="6096000" cy="222504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r>
                        <a:rPr lang="zh-CN" altLang="en-US" sz="1600" b="0" dirty="0">
                          <a:solidFill>
                            <a:schemeClr val="tx1"/>
                          </a:solidFill>
                        </a:rPr>
                        <a:t>度</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b="0" dirty="0">
                          <a:solidFill>
                            <a:schemeClr val="tx1"/>
                          </a:solidFill>
                        </a:rPr>
                        <a:t>取该度的概率</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b="0" dirty="0">
                          <a:solidFill>
                            <a:schemeClr val="tx1"/>
                          </a:solidFill>
                        </a:rPr>
                        <a:t>取该度的空间</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altLang="zh-CN" sz="1600" b="0" dirty="0">
                          <a:solidFill>
                            <a:schemeClr val="tx1"/>
                          </a:solidFill>
                        </a:rPr>
                        <a:t>1</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1/100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(0,100]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altLang="zh-CN" sz="1600" b="0" dirty="0">
                          <a:solidFill>
                            <a:schemeClr val="tx1"/>
                          </a:solidFill>
                        </a:rPr>
                        <a:t>2</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1/2</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(100,5100]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altLang="zh-CN" sz="1600" b="0" dirty="0">
                          <a:solidFill>
                            <a:schemeClr val="tx1"/>
                          </a:solidFill>
                        </a:rPr>
                        <a:t>3</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1/6</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(5100,6766]</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altLang="zh-CN" sz="1600" b="0" dirty="0">
                          <a:solidFill>
                            <a:schemeClr val="tx1"/>
                          </a:solidFill>
                        </a:rPr>
                        <a:t>…</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altLang="zh-CN" sz="1600" b="0" dirty="0">
                          <a:solidFill>
                            <a:schemeClr val="tx1"/>
                          </a:solidFill>
                        </a:rPr>
                        <a:t>100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1/9900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(9999,10000]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i="1" dirty="0" err="1">
                <a:sym typeface="+mn-ea"/>
              </a:rPr>
              <a:t>S</a:t>
            </a:r>
            <a:r>
              <a:rPr lang="en-US" altLang="zh-CN" sz="2400" i="1" baseline="-25000" dirty="0" err="1">
                <a:sym typeface="+mn-ea"/>
              </a:rPr>
              <a:t>k</a:t>
            </a:r>
            <a:r>
              <a:rPr lang="zh-CN" altLang="en-US" sz="2400" dirty="0">
                <a:sym typeface="+mn-ea"/>
              </a:rPr>
              <a:t>的确定</a:t>
            </a:r>
            <a:endParaRPr lang="zh-CN" altLang="en-US" sz="2400" dirty="0">
              <a:sym typeface="+mn-ea"/>
            </a:endParaRPr>
          </a:p>
        </p:txBody>
      </p:sp>
      <p:sp>
        <p:nvSpPr>
          <p:cNvPr id="6" name="文本框 5"/>
          <p:cNvSpPr txBox="1"/>
          <p:nvPr/>
        </p:nvSpPr>
        <p:spPr>
          <a:xfrm>
            <a:off x="259966" y="914466"/>
            <a:ext cx="8659247" cy="134267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sz="1800" dirty="0">
                <a:latin typeface="+mn-lt"/>
                <a:sym typeface="+mn-ea"/>
              </a:rPr>
              <a:t>        确定了一次编码的度后，还需要确定是由哪几个</a:t>
            </a:r>
            <a:r>
              <a:rPr lang="en-US" altLang="zh-CN" sz="1800" i="1" dirty="0" err="1">
                <a:latin typeface="+mn-lt"/>
                <a:sym typeface="+mn-ea"/>
              </a:rPr>
              <a:t>s</a:t>
            </a:r>
            <a:r>
              <a:rPr lang="en-US" altLang="zh-CN" sz="1800" i="1" baseline="-25000" dirty="0" err="1">
                <a:latin typeface="+mn-lt"/>
                <a:sym typeface="+mn-ea"/>
              </a:rPr>
              <a:t>k</a:t>
            </a:r>
            <a:r>
              <a:rPr lang="zh-CN" altLang="en-US" sz="1800" dirty="0">
                <a:latin typeface="+mn-lt"/>
                <a:sym typeface="+mn-ea"/>
              </a:rPr>
              <a:t>异或编码，可以用和确定度相同的方法来选取</a:t>
            </a:r>
            <a:r>
              <a:rPr lang="en-US" altLang="zh-CN" sz="1800" i="1" dirty="0" err="1">
                <a:latin typeface="+mn-lt"/>
                <a:sym typeface="+mn-ea"/>
              </a:rPr>
              <a:t>s</a:t>
            </a:r>
            <a:r>
              <a:rPr lang="en-US" altLang="zh-CN" sz="1800" i="1" baseline="-25000" dirty="0" err="1">
                <a:latin typeface="+mn-lt"/>
                <a:sym typeface="+mn-ea"/>
              </a:rPr>
              <a:t>k</a:t>
            </a:r>
            <a:r>
              <a:rPr lang="zh-CN" altLang="en-US" sz="1800" dirty="0">
                <a:latin typeface="+mn-lt"/>
                <a:sym typeface="+mn-ea"/>
              </a:rPr>
              <a:t>。</a:t>
            </a:r>
            <a:endParaRPr lang="en-US" altLang="zh-CN" sz="1800" dirty="0">
              <a:latin typeface="+mn-lt"/>
              <a:sym typeface="+mn-ea"/>
            </a:endParaRPr>
          </a:p>
          <a:p>
            <a:pPr>
              <a:lnSpc>
                <a:spcPts val="3400"/>
              </a:lnSpc>
            </a:pPr>
            <a:r>
              <a:rPr lang="zh-CN" altLang="en-US" sz="1800" dirty="0">
                <a:latin typeface="+mn-lt"/>
              </a:rPr>
              <a:t>        在</a:t>
            </a:r>
            <a:r>
              <a:rPr lang="en-US" altLang="zh-CN" sz="1800" dirty="0">
                <a:latin typeface="+mn-lt"/>
              </a:rPr>
              <a:t>[1,10000]</a:t>
            </a:r>
            <a:r>
              <a:rPr lang="zh-CN" altLang="en-US" sz="1800" dirty="0">
                <a:latin typeface="+mn-lt"/>
              </a:rPr>
              <a:t>区间上划分</a:t>
            </a:r>
            <a:r>
              <a:rPr lang="en-US" altLang="zh-CN" sz="1800" dirty="0">
                <a:latin typeface="+mn-lt"/>
              </a:rPr>
              <a:t>100</a:t>
            </a:r>
            <a:r>
              <a:rPr lang="zh-CN" altLang="en-US" sz="1800" dirty="0">
                <a:latin typeface="+mn-lt"/>
              </a:rPr>
              <a:t>个区间：</a:t>
            </a:r>
            <a:endParaRPr lang="en-US" altLang="zh-CN" sz="1800" dirty="0">
              <a:latin typeface="+mn-lt"/>
            </a:endParaRPr>
          </a:p>
        </p:txBody>
      </p:sp>
      <p:graphicFrame>
        <p:nvGraphicFramePr>
          <p:cNvPr id="3" name="表格 3"/>
          <p:cNvGraphicFramePr>
            <a:graphicFrameLocks noGrp="1"/>
          </p:cNvGraphicFramePr>
          <p:nvPr/>
        </p:nvGraphicFramePr>
        <p:xfrm>
          <a:off x="1524000" y="2405216"/>
          <a:ext cx="6096000" cy="222504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r>
                        <a:rPr lang="en-US" altLang="zh-CN" sz="1600" b="0" i="1" dirty="0" err="1">
                          <a:solidFill>
                            <a:schemeClr val="tx1"/>
                          </a:solidFill>
                        </a:rPr>
                        <a:t>s</a:t>
                      </a:r>
                      <a:r>
                        <a:rPr lang="en-US" altLang="zh-CN" sz="1600" b="0" i="1" baseline="-25000" dirty="0" err="1">
                          <a:solidFill>
                            <a:schemeClr val="tx1"/>
                          </a:solidFill>
                        </a:rPr>
                        <a:t>k</a:t>
                      </a:r>
                      <a:endParaRPr lang="zh-CN" altLang="en-US" sz="1600" b="0" i="1" baseline="-25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b="0" dirty="0">
                          <a:solidFill>
                            <a:schemeClr val="tx1"/>
                          </a:solidFill>
                        </a:rPr>
                        <a:t>取该度的概率</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b="0" dirty="0">
                          <a:solidFill>
                            <a:schemeClr val="tx1"/>
                          </a:solidFill>
                        </a:rPr>
                        <a:t>取该度的空间</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altLang="zh-CN" sz="1600" b="0" i="1" dirty="0">
                          <a:solidFill>
                            <a:schemeClr val="tx1"/>
                          </a:solidFill>
                        </a:rPr>
                        <a:t>S</a:t>
                      </a:r>
                      <a:r>
                        <a:rPr lang="en-US" altLang="zh-CN" sz="1600" b="0" baseline="-25000" dirty="0">
                          <a:solidFill>
                            <a:schemeClr val="tx1"/>
                          </a:solidFill>
                        </a:rPr>
                        <a:t>1</a:t>
                      </a:r>
                      <a:endParaRPr lang="zh-CN" altLang="en-US" sz="1600" b="0" baseline="-25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1/100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(0,100]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0" i="1" dirty="0">
                          <a:solidFill>
                            <a:schemeClr val="tx1"/>
                          </a:solidFill>
                        </a:rPr>
                        <a:t>S</a:t>
                      </a:r>
                      <a:r>
                        <a:rPr lang="en-US" altLang="zh-CN" sz="1600" b="0" baseline="-25000" dirty="0">
                          <a:solidFill>
                            <a:schemeClr val="tx1"/>
                          </a:solidFill>
                        </a:rPr>
                        <a:t>2</a:t>
                      </a:r>
                      <a:endParaRPr lang="zh-CN" altLang="en-US" sz="1600" b="0" baseline="-25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1/100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(100,200]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0" i="1" dirty="0">
                          <a:solidFill>
                            <a:schemeClr val="tx1"/>
                          </a:solidFill>
                        </a:rPr>
                        <a:t>S</a:t>
                      </a:r>
                      <a:r>
                        <a:rPr lang="en-US" altLang="zh-CN" sz="1600" b="0" baseline="-25000" dirty="0">
                          <a:solidFill>
                            <a:schemeClr val="tx1"/>
                          </a:solidFill>
                        </a:rPr>
                        <a:t>3</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1/100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(200,300]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altLang="zh-CN" sz="1600" b="0" dirty="0">
                          <a:solidFill>
                            <a:schemeClr val="tx1"/>
                          </a:solidFill>
                        </a:rPr>
                        <a:t>…</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0" i="1" dirty="0">
                          <a:solidFill>
                            <a:schemeClr val="tx1"/>
                          </a:solidFill>
                        </a:rPr>
                        <a:t>S</a:t>
                      </a:r>
                      <a:r>
                        <a:rPr lang="en-US" altLang="zh-CN" sz="1600" b="0" baseline="-25000" dirty="0">
                          <a:solidFill>
                            <a:schemeClr val="tx1"/>
                          </a:solidFill>
                        </a:rPr>
                        <a:t>100</a:t>
                      </a:r>
                      <a:endParaRPr lang="zh-CN" altLang="en-US" sz="1600" b="0" baseline="-25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1/100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dirty="0">
                          <a:solidFill>
                            <a:schemeClr val="tx1"/>
                          </a:solidFill>
                        </a:rPr>
                        <a:t>(9900,10000]</a:t>
                      </a:r>
                      <a:endParaRPr lang="zh-CN" altLang="en-US" sz="16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15" name="文本框 14"/>
          <p:cNvSpPr txBox="1"/>
          <p:nvPr/>
        </p:nvSpPr>
        <p:spPr>
          <a:xfrm>
            <a:off x="320043" y="4782439"/>
            <a:ext cx="8659247" cy="90665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sz="1800" dirty="0">
                <a:latin typeface="+mn-lt"/>
                <a:sym typeface="+mn-ea"/>
              </a:rPr>
              <a:t>        在</a:t>
            </a:r>
            <a:r>
              <a:rPr lang="en-US" altLang="zh-CN" sz="1800" dirty="0">
                <a:latin typeface="+mn-lt"/>
                <a:sym typeface="+mn-ea"/>
              </a:rPr>
              <a:t>0</a:t>
            </a:r>
            <a:r>
              <a:rPr lang="zh-CN" altLang="en-US" sz="1800" dirty="0">
                <a:latin typeface="+mn-lt"/>
                <a:sym typeface="+mn-ea"/>
              </a:rPr>
              <a:t>到</a:t>
            </a:r>
            <a:r>
              <a:rPr lang="en-US" altLang="zh-CN" sz="1800" dirty="0">
                <a:latin typeface="+mn-lt"/>
                <a:sym typeface="+mn-ea"/>
              </a:rPr>
              <a:t>10000</a:t>
            </a:r>
            <a:r>
              <a:rPr lang="zh-CN" altLang="en-US" sz="1800" dirty="0">
                <a:latin typeface="+mn-lt"/>
                <a:sym typeface="+mn-ea"/>
              </a:rPr>
              <a:t>之间随机产生</a:t>
            </a:r>
            <a:r>
              <a:rPr lang="en-US" altLang="zh-CN" sz="1800" i="1" dirty="0">
                <a:latin typeface="+mn-lt"/>
                <a:sym typeface="+mn-ea"/>
              </a:rPr>
              <a:t>d</a:t>
            </a:r>
            <a:r>
              <a:rPr lang="zh-CN" altLang="en-US" sz="1800" dirty="0">
                <a:latin typeface="+mn-lt"/>
                <a:sym typeface="+mn-ea"/>
              </a:rPr>
              <a:t>个数，看这</a:t>
            </a:r>
            <a:r>
              <a:rPr lang="en-US" altLang="zh-CN" sz="1800" i="1" dirty="0">
                <a:latin typeface="+mn-lt"/>
                <a:sym typeface="+mn-ea"/>
              </a:rPr>
              <a:t>d</a:t>
            </a:r>
            <a:r>
              <a:rPr lang="zh-CN" altLang="en-US" sz="1800" dirty="0">
                <a:latin typeface="+mn-lt"/>
                <a:sym typeface="+mn-ea"/>
              </a:rPr>
              <a:t>个数落在哪个区间，选取这些区间所对应的</a:t>
            </a:r>
            <a:r>
              <a:rPr lang="en-US" altLang="zh-CN" sz="1800" i="1" dirty="0" err="1">
                <a:latin typeface="+mn-lt"/>
                <a:sym typeface="+mn-ea"/>
              </a:rPr>
              <a:t>s</a:t>
            </a:r>
            <a:r>
              <a:rPr lang="en-US" altLang="zh-CN" sz="1800" i="1" baseline="-25000" dirty="0" err="1">
                <a:latin typeface="+mn-lt"/>
                <a:sym typeface="+mn-ea"/>
              </a:rPr>
              <a:t>k</a:t>
            </a:r>
            <a:r>
              <a:rPr lang="zh-CN" altLang="en-US" sz="1800" dirty="0">
                <a:latin typeface="+mn-lt"/>
                <a:sym typeface="+mn-ea"/>
              </a:rPr>
              <a:t>进行编码。</a:t>
            </a:r>
            <a:endParaRPr lang="en-US" altLang="zh-CN" sz="1800" dirty="0">
              <a:latin typeface="+mn-lt"/>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码的解码</a:t>
            </a:r>
            <a:endParaRPr lang="zh-CN" altLang="en-US" sz="2400" dirty="0">
              <a:sym typeface="+mn-ea"/>
            </a:endParaRPr>
          </a:p>
        </p:txBody>
      </p:sp>
      <p:sp>
        <p:nvSpPr>
          <p:cNvPr id="6" name="文本框 5"/>
          <p:cNvSpPr txBox="1"/>
          <p:nvPr/>
        </p:nvSpPr>
        <p:spPr>
          <a:xfrm>
            <a:off x="259966" y="914466"/>
            <a:ext cx="8659247" cy="265072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en-US" altLang="zh-CN" sz="1800" dirty="0">
                <a:latin typeface="+mn-lt"/>
                <a:sym typeface="+mn-ea"/>
              </a:rPr>
              <a:t>        LT</a:t>
            </a:r>
            <a:r>
              <a:rPr lang="zh-CN" altLang="en-US" sz="1800" dirty="0">
                <a:latin typeface="+mn-lt"/>
                <a:sym typeface="+mn-ea"/>
              </a:rPr>
              <a:t>码的解码采取</a:t>
            </a:r>
            <a:r>
              <a:rPr lang="zh-CN" altLang="en-US" sz="1800" dirty="0">
                <a:solidFill>
                  <a:srgbClr val="FF0000"/>
                </a:solidFill>
                <a:latin typeface="+mn-lt"/>
                <a:sym typeface="+mn-ea"/>
              </a:rPr>
              <a:t>迭代法</a:t>
            </a:r>
            <a:r>
              <a:rPr lang="en-US" altLang="zh-CN" sz="1800" dirty="0">
                <a:solidFill>
                  <a:srgbClr val="FF0000"/>
                </a:solidFill>
                <a:latin typeface="+mn-lt"/>
                <a:sym typeface="+mn-ea"/>
              </a:rPr>
              <a:t>(BP</a:t>
            </a:r>
            <a:r>
              <a:rPr lang="zh-CN" altLang="en-US" sz="1800" dirty="0">
                <a:solidFill>
                  <a:srgbClr val="FF0000"/>
                </a:solidFill>
                <a:latin typeface="+mn-lt"/>
                <a:sym typeface="+mn-ea"/>
              </a:rPr>
              <a:t>算法</a:t>
            </a:r>
            <a:r>
              <a:rPr lang="en-US" altLang="zh-CN" sz="1800" dirty="0">
                <a:solidFill>
                  <a:srgbClr val="FF0000"/>
                </a:solidFill>
                <a:latin typeface="+mn-lt"/>
                <a:sym typeface="+mn-ea"/>
              </a:rPr>
              <a:t>)</a:t>
            </a:r>
            <a:r>
              <a:rPr lang="zh-CN" altLang="en-US" sz="1800" dirty="0">
                <a:latin typeface="+mn-lt"/>
                <a:sym typeface="+mn-ea"/>
              </a:rPr>
              <a:t>。在解码的每一步，解码器都</a:t>
            </a:r>
            <a:r>
              <a:rPr lang="zh-CN" altLang="en-US" sz="1800" dirty="0">
                <a:solidFill>
                  <a:srgbClr val="FF0000"/>
                </a:solidFill>
                <a:latin typeface="+mn-lt"/>
                <a:sym typeface="+mn-ea"/>
              </a:rPr>
              <a:t>在编码符号集合中寻找度为</a:t>
            </a:r>
            <a:r>
              <a:rPr lang="en-US" altLang="zh-CN" sz="1800" dirty="0">
                <a:solidFill>
                  <a:srgbClr val="FF0000"/>
                </a:solidFill>
                <a:latin typeface="+mn-lt"/>
                <a:sym typeface="+mn-ea"/>
              </a:rPr>
              <a:t>1</a:t>
            </a:r>
            <a:r>
              <a:rPr lang="zh-CN" altLang="en-US" sz="1800" dirty="0">
                <a:solidFill>
                  <a:srgbClr val="FF0000"/>
                </a:solidFill>
                <a:latin typeface="+mn-lt"/>
                <a:sym typeface="+mn-ea"/>
              </a:rPr>
              <a:t>的符号</a:t>
            </a:r>
            <a:r>
              <a:rPr lang="zh-CN" altLang="en-US" sz="1800" dirty="0">
                <a:latin typeface="+mn-lt"/>
                <a:sym typeface="+mn-ea"/>
              </a:rPr>
              <a:t>，</a:t>
            </a:r>
            <a:r>
              <a:rPr lang="zh-CN" altLang="en-US" sz="1800" dirty="0">
                <a:solidFill>
                  <a:srgbClr val="FF0000"/>
                </a:solidFill>
                <a:latin typeface="+mn-lt"/>
                <a:sym typeface="+mn-ea"/>
              </a:rPr>
              <a:t>从而直接恢复出它们所连接的输入符号</a:t>
            </a:r>
            <a:r>
              <a:rPr lang="zh-CN" altLang="en-US" sz="1800" dirty="0">
                <a:latin typeface="+mn-lt"/>
                <a:sym typeface="+mn-ea"/>
              </a:rPr>
              <a:t>，然后将这些输入符号与跟它们有连接的编码符号进行异或并将结果取代该编码符号原来的值，完成之后删去它们之间的连接关系，并相应地修改编码符号的度。重复上述过程直至不存在度为</a:t>
            </a:r>
            <a:r>
              <a:rPr lang="en-US" altLang="zh-CN" sz="1800" dirty="0">
                <a:latin typeface="+mn-lt"/>
                <a:sym typeface="+mn-ea"/>
              </a:rPr>
              <a:t>1</a:t>
            </a:r>
            <a:r>
              <a:rPr lang="zh-CN" altLang="en-US" sz="1800" dirty="0">
                <a:latin typeface="+mn-lt"/>
                <a:sym typeface="+mn-ea"/>
              </a:rPr>
              <a:t>的符号为止。</a:t>
            </a:r>
            <a:endParaRPr lang="en-US" altLang="zh-CN" sz="1800" dirty="0">
              <a:latin typeface="+mn-lt"/>
              <a:sym typeface="+mn-ea"/>
            </a:endParaRPr>
          </a:p>
          <a:p>
            <a:pPr>
              <a:lnSpc>
                <a:spcPts val="3400"/>
              </a:lnSpc>
            </a:pPr>
            <a:r>
              <a:rPr lang="en-US" altLang="zh-CN" sz="1800" dirty="0">
                <a:latin typeface="+mn-lt"/>
                <a:sym typeface="+mn-ea"/>
              </a:rPr>
              <a:t>         </a:t>
            </a:r>
            <a:r>
              <a:rPr lang="zh-CN" altLang="en-US" sz="1800" dirty="0">
                <a:latin typeface="+mn-lt"/>
                <a:sym typeface="+mn-ea"/>
              </a:rPr>
              <a:t>如果所有输入符号都被恢复则解码成功，否则解码失败。</a:t>
            </a:r>
            <a:r>
              <a:rPr lang="en-US" altLang="zh-CN" sz="1800" dirty="0">
                <a:latin typeface="+mn-lt"/>
                <a:sym typeface="+mn-ea"/>
              </a:rPr>
              <a:t> </a:t>
            </a:r>
            <a:endParaRPr lang="zh-CN" altLang="en-US" sz="1800" dirty="0">
              <a:latin typeface="+mn-lt"/>
              <a:sym typeface="+mn-ea"/>
            </a:endParaRPr>
          </a:p>
        </p:txBody>
      </p:sp>
      <p:grpSp>
        <p:nvGrpSpPr>
          <p:cNvPr id="3" name="组合 2"/>
          <p:cNvGrpSpPr/>
          <p:nvPr/>
        </p:nvGrpSpPr>
        <p:grpSpPr>
          <a:xfrm>
            <a:off x="1098889" y="3565192"/>
            <a:ext cx="6917310" cy="3223653"/>
            <a:chOff x="1098889" y="3565192"/>
            <a:chExt cx="6917310" cy="3223653"/>
          </a:xfrm>
        </p:grpSpPr>
        <p:pic>
          <p:nvPicPr>
            <p:cNvPr id="205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b="5350"/>
            <a:stretch>
              <a:fillRect/>
            </a:stretch>
          </p:blipFill>
          <p:spPr bwMode="auto">
            <a:xfrm>
              <a:off x="1098889" y="3565192"/>
              <a:ext cx="6682062" cy="2978714"/>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6631272" y="6298967"/>
              <a:ext cx="1384927"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sym typeface="+mn-ea"/>
                </a:rPr>
                <a:t>LT</a:t>
              </a:r>
              <a:r>
                <a:rPr lang="zh-CN" altLang="en-US" sz="1800" dirty="0">
                  <a:sym typeface="+mn-ea"/>
                </a:rPr>
                <a:t>解码过程</a:t>
              </a:r>
              <a:endParaRPr lang="zh-CN" altLang="en-US" sz="1800" dirty="0">
                <a:sym typeface="+mn-ea"/>
              </a:endParaRP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码的解码</a:t>
            </a:r>
            <a:endParaRPr lang="zh-CN" altLang="en-US" sz="2400" dirty="0">
              <a:sym typeface="+mn-ea"/>
            </a:endParaRPr>
          </a:p>
        </p:txBody>
      </p:sp>
      <p:sp>
        <p:nvSpPr>
          <p:cNvPr id="6" name="文本框 5"/>
          <p:cNvSpPr txBox="1"/>
          <p:nvPr/>
        </p:nvSpPr>
        <p:spPr>
          <a:xfrm>
            <a:off x="259966" y="914466"/>
            <a:ext cx="8672566" cy="221470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sz="1800" dirty="0">
                <a:latin typeface="+mn-lt"/>
                <a:sym typeface="+mn-ea"/>
              </a:rPr>
              <a:t>具体步骤是：</a:t>
            </a:r>
            <a:endParaRPr lang="en-US" altLang="zh-CN" sz="1800" dirty="0">
              <a:latin typeface="+mn-lt"/>
              <a:sym typeface="+mn-ea"/>
            </a:endParaRPr>
          </a:p>
          <a:p>
            <a:pPr>
              <a:lnSpc>
                <a:spcPts val="3400"/>
              </a:lnSpc>
            </a:pPr>
            <a:r>
              <a:rPr lang="zh-CN" altLang="en-US" sz="1800" dirty="0">
                <a:latin typeface="+mn-lt"/>
                <a:sym typeface="+mn-ea"/>
              </a:rPr>
              <a:t>         </a:t>
            </a:r>
            <a:r>
              <a:rPr lang="en-US" altLang="zh-CN" sz="1800" dirty="0">
                <a:latin typeface="+mn-lt"/>
                <a:sym typeface="+mn-ea"/>
              </a:rPr>
              <a:t>(1)</a:t>
            </a:r>
            <a:r>
              <a:rPr lang="zh-CN" altLang="en-US" sz="1800" dirty="0">
                <a:latin typeface="+mn-lt"/>
                <a:sym typeface="+mn-ea"/>
              </a:rPr>
              <a:t>如图</a:t>
            </a:r>
            <a:r>
              <a:rPr lang="en-US" altLang="zh-CN" sz="1800" dirty="0">
                <a:latin typeface="+mn-lt"/>
                <a:sym typeface="+mn-ea"/>
              </a:rPr>
              <a:t>(a)</a:t>
            </a:r>
            <a:r>
              <a:rPr lang="zh-CN" altLang="en-US" sz="1800" dirty="0">
                <a:latin typeface="+mn-lt"/>
                <a:sym typeface="+mn-ea"/>
              </a:rPr>
              <a:t>所示，接收一定数量的编码分组，根据编码分组间的对应关系</a:t>
            </a:r>
            <a:r>
              <a:rPr lang="en-US" altLang="zh-CN" sz="1800" dirty="0">
                <a:latin typeface="+mn-lt"/>
                <a:sym typeface="+mn-ea"/>
              </a:rPr>
              <a:t>(</a:t>
            </a:r>
            <a:r>
              <a:rPr lang="zh-CN" altLang="en-US" sz="1800" dirty="0">
                <a:latin typeface="+mn-lt"/>
                <a:sym typeface="+mn-ea"/>
              </a:rPr>
              <a:t>可以通过分组头部等方式显式传递，也可以通过事先约定伪随机序列等方式隐式传递</a:t>
            </a:r>
            <a:r>
              <a:rPr lang="en-US" altLang="zh-CN" sz="1800" dirty="0">
                <a:latin typeface="+mn-lt"/>
                <a:sym typeface="+mn-ea"/>
              </a:rPr>
              <a:t>)</a:t>
            </a:r>
            <a:r>
              <a:rPr lang="zh-CN" altLang="en-US" sz="1800" dirty="0">
                <a:solidFill>
                  <a:srgbClr val="FF0000"/>
                </a:solidFill>
                <a:latin typeface="+mn-lt"/>
                <a:sym typeface="+mn-ea"/>
              </a:rPr>
              <a:t>建立双向图</a:t>
            </a:r>
            <a:r>
              <a:rPr lang="zh-CN" altLang="en-US" sz="1800" dirty="0">
                <a:latin typeface="+mn-lt"/>
                <a:sym typeface="+mn-ea"/>
              </a:rPr>
              <a:t>。顶层节点代表原始分组，底层节点代表编码分组，连接它们的边代表该原始分组是该编码分组的模二和分量。</a:t>
            </a:r>
            <a:endParaRPr lang="en-US" altLang="zh-CN" sz="1800" dirty="0">
              <a:latin typeface="+mn-lt"/>
              <a:sym typeface="+mn-ea"/>
            </a:endParaRPr>
          </a:p>
        </p:txBody>
      </p:sp>
      <p:grpSp>
        <p:nvGrpSpPr>
          <p:cNvPr id="3" name="组合 2"/>
          <p:cNvGrpSpPr/>
          <p:nvPr/>
        </p:nvGrpSpPr>
        <p:grpSpPr>
          <a:xfrm>
            <a:off x="1189609" y="3429000"/>
            <a:ext cx="6826590" cy="3359845"/>
            <a:chOff x="1189609" y="3429000"/>
            <a:chExt cx="6826590" cy="3359845"/>
          </a:xfrm>
        </p:grpSpPr>
        <p:pic>
          <p:nvPicPr>
            <p:cNvPr id="205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b="5350"/>
            <a:stretch>
              <a:fillRect/>
            </a:stretch>
          </p:blipFill>
          <p:spPr bwMode="auto">
            <a:xfrm>
              <a:off x="1189609" y="3429000"/>
              <a:ext cx="6764782" cy="3015589"/>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6631272" y="6298967"/>
              <a:ext cx="1384927"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sym typeface="+mn-ea"/>
                </a:rPr>
                <a:t>LT</a:t>
              </a:r>
              <a:r>
                <a:rPr lang="zh-CN" altLang="en-US" sz="1800" dirty="0">
                  <a:sym typeface="+mn-ea"/>
                </a:rPr>
                <a:t>解码过程</a:t>
              </a:r>
              <a:endParaRPr lang="zh-CN" altLang="en-US" sz="1800" dirty="0">
                <a:sym typeface="+mn-ea"/>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码的解码</a:t>
            </a:r>
            <a:endParaRPr lang="zh-CN" altLang="en-US" sz="2400" dirty="0">
              <a:sym typeface="+mn-ea"/>
            </a:endParaRPr>
          </a:p>
        </p:txBody>
      </p:sp>
      <p:sp>
        <p:nvSpPr>
          <p:cNvPr id="6" name="文本框 5"/>
          <p:cNvSpPr txBox="1"/>
          <p:nvPr/>
        </p:nvSpPr>
        <p:spPr>
          <a:xfrm>
            <a:off x="280300" y="1232756"/>
            <a:ext cx="8672566" cy="95154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latin typeface="+mn-lt"/>
                <a:sym typeface="+mn-ea"/>
              </a:rPr>
              <a:t>        (2)</a:t>
            </a:r>
            <a:r>
              <a:rPr lang="zh-CN" altLang="en-US" sz="1800" dirty="0">
                <a:latin typeface="+mn-lt"/>
                <a:sym typeface="+mn-ea"/>
              </a:rPr>
              <a:t>任意</a:t>
            </a:r>
            <a:r>
              <a:rPr lang="zh-CN" altLang="en-US" sz="1800" dirty="0">
                <a:solidFill>
                  <a:srgbClr val="FF0000"/>
                </a:solidFill>
                <a:latin typeface="+mn-lt"/>
                <a:sym typeface="+mn-ea"/>
              </a:rPr>
              <a:t>选取一个度数为</a:t>
            </a:r>
            <a:r>
              <a:rPr lang="en-US" altLang="zh-CN" sz="1800" dirty="0">
                <a:solidFill>
                  <a:srgbClr val="FF0000"/>
                </a:solidFill>
                <a:latin typeface="+mn-lt"/>
                <a:sym typeface="+mn-ea"/>
              </a:rPr>
              <a:t>1</a:t>
            </a:r>
            <a:r>
              <a:rPr lang="zh-CN" altLang="en-US" sz="1800" dirty="0">
                <a:solidFill>
                  <a:srgbClr val="FF0000"/>
                </a:solidFill>
                <a:latin typeface="+mn-lt"/>
                <a:sym typeface="+mn-ea"/>
              </a:rPr>
              <a:t>的编码分组</a:t>
            </a:r>
            <a:r>
              <a:rPr lang="zh-CN" altLang="en-US" sz="1800" dirty="0">
                <a:latin typeface="+mn-lt"/>
                <a:sym typeface="+mn-ea"/>
              </a:rPr>
              <a:t>。如果不存在，则译码停止</a:t>
            </a:r>
            <a:r>
              <a:rPr lang="en-US" altLang="zh-CN" sz="1800" dirty="0">
                <a:latin typeface="+mn-lt"/>
                <a:sym typeface="+mn-ea"/>
              </a:rPr>
              <a:t>;</a:t>
            </a:r>
            <a:r>
              <a:rPr lang="zh-CN" altLang="en-US" sz="1800" dirty="0">
                <a:latin typeface="+mn-lt"/>
                <a:sym typeface="+mn-ea"/>
              </a:rPr>
              <a:t>如果存在，则通过简单的复制运算，即可恢复与之相连的唯一原始分组，如图</a:t>
            </a:r>
            <a:r>
              <a:rPr lang="en-US" altLang="zh-CN" sz="1800" dirty="0">
                <a:latin typeface="+mn-lt"/>
                <a:sym typeface="+mn-ea"/>
              </a:rPr>
              <a:t>(b)</a:t>
            </a:r>
            <a:r>
              <a:rPr lang="zh-CN" altLang="en-US" sz="1800" dirty="0">
                <a:latin typeface="+mn-lt"/>
                <a:sym typeface="+mn-ea"/>
              </a:rPr>
              <a:t>所示。</a:t>
            </a:r>
            <a:endParaRPr lang="en-US" altLang="zh-CN" sz="1800" dirty="0">
              <a:latin typeface="+mn-lt"/>
              <a:sym typeface="+mn-ea"/>
            </a:endParaRPr>
          </a:p>
        </p:txBody>
      </p:sp>
      <p:grpSp>
        <p:nvGrpSpPr>
          <p:cNvPr id="3" name="组合 2"/>
          <p:cNvGrpSpPr/>
          <p:nvPr/>
        </p:nvGrpSpPr>
        <p:grpSpPr>
          <a:xfrm>
            <a:off x="895977" y="2670442"/>
            <a:ext cx="7352046" cy="3767256"/>
            <a:chOff x="895977" y="2670442"/>
            <a:chExt cx="7352046" cy="3767256"/>
          </a:xfrm>
        </p:grpSpPr>
        <p:pic>
          <p:nvPicPr>
            <p:cNvPr id="205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b="5350"/>
            <a:stretch>
              <a:fillRect/>
            </a:stretch>
          </p:blipFill>
          <p:spPr bwMode="auto">
            <a:xfrm>
              <a:off x="895977" y="2670442"/>
              <a:ext cx="7352046" cy="3277378"/>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3924119" y="5947820"/>
              <a:ext cx="1384927"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sym typeface="+mn-ea"/>
                </a:rPr>
                <a:t>LT</a:t>
              </a:r>
              <a:r>
                <a:rPr lang="zh-CN" altLang="en-US" sz="1800" dirty="0">
                  <a:sym typeface="+mn-ea"/>
                </a:rPr>
                <a:t>解码过程</a:t>
              </a:r>
              <a:endParaRPr lang="zh-CN" altLang="en-US" sz="1800" dirty="0">
                <a:sym typeface="+mn-ea"/>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码的解码</a:t>
            </a:r>
            <a:endParaRPr lang="zh-CN" altLang="en-US" sz="2400" dirty="0">
              <a:sym typeface="+mn-ea"/>
            </a:endParaRPr>
          </a:p>
        </p:txBody>
      </p:sp>
      <p:sp>
        <p:nvSpPr>
          <p:cNvPr id="6" name="文本框 5"/>
          <p:cNvSpPr txBox="1"/>
          <p:nvPr/>
        </p:nvSpPr>
        <p:spPr>
          <a:xfrm>
            <a:off x="259966" y="914466"/>
            <a:ext cx="8672566" cy="187487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latin typeface="+mn-lt"/>
                <a:sym typeface="+mn-ea"/>
              </a:rPr>
              <a:t>        (3)</a:t>
            </a:r>
            <a:r>
              <a:rPr lang="zh-CN" altLang="en-US" sz="1800" dirty="0">
                <a:latin typeface="+mn-lt"/>
                <a:sym typeface="+mn-ea"/>
              </a:rPr>
              <a:t>将已经恢复的原始分组模二和到与其相连的所有其他编码分组中，消除其在这些编码分组中的模二和分量。相应地，将双向图中对应的边删除，使得这些编码分组的度数减</a:t>
            </a:r>
            <a:r>
              <a:rPr lang="en-US" altLang="zh-CN" sz="1800" dirty="0">
                <a:latin typeface="+mn-lt"/>
                <a:sym typeface="+mn-ea"/>
              </a:rPr>
              <a:t>1</a:t>
            </a:r>
            <a:r>
              <a:rPr lang="zh-CN" altLang="en-US" sz="1800" dirty="0">
                <a:latin typeface="+mn-lt"/>
                <a:sym typeface="+mn-ea"/>
              </a:rPr>
              <a:t>。如图</a:t>
            </a:r>
            <a:r>
              <a:rPr lang="en-US" altLang="zh-CN" sz="1800" dirty="0">
                <a:latin typeface="+mn-lt"/>
                <a:sym typeface="+mn-ea"/>
              </a:rPr>
              <a:t> (c)</a:t>
            </a:r>
            <a:r>
              <a:rPr lang="zh-CN" altLang="en-US" sz="1800" dirty="0">
                <a:latin typeface="+mn-lt"/>
                <a:sym typeface="+mn-ea"/>
              </a:rPr>
              <a:t>所示。如果某个编码分组的</a:t>
            </a:r>
            <a:r>
              <a:rPr lang="zh-CN" altLang="en-US" sz="1800" dirty="0">
                <a:solidFill>
                  <a:srgbClr val="FF0000"/>
                </a:solidFill>
                <a:latin typeface="+mn-lt"/>
                <a:sym typeface="+mn-ea"/>
              </a:rPr>
              <a:t>度数减小为</a:t>
            </a:r>
            <a:r>
              <a:rPr lang="en-US" altLang="zh-CN" sz="1800" dirty="0">
                <a:solidFill>
                  <a:srgbClr val="FF0000"/>
                </a:solidFill>
                <a:latin typeface="+mn-lt"/>
                <a:sym typeface="+mn-ea"/>
              </a:rPr>
              <a:t>1</a:t>
            </a:r>
            <a:r>
              <a:rPr lang="zh-CN" altLang="en-US" sz="1800" dirty="0">
                <a:latin typeface="+mn-lt"/>
                <a:sym typeface="+mn-ea"/>
              </a:rPr>
              <a:t>，</a:t>
            </a:r>
            <a:r>
              <a:rPr lang="zh-CN" altLang="en-US" sz="1800" dirty="0">
                <a:solidFill>
                  <a:srgbClr val="FF0000"/>
                </a:solidFill>
                <a:latin typeface="+mn-lt"/>
                <a:sym typeface="+mn-ea"/>
              </a:rPr>
              <a:t>则称该编码分组被“释放”</a:t>
            </a:r>
            <a:r>
              <a:rPr lang="zh-CN" altLang="en-US" sz="1800" dirty="0">
                <a:latin typeface="+mn-lt"/>
                <a:sym typeface="+mn-ea"/>
              </a:rPr>
              <a:t>，如图</a:t>
            </a:r>
            <a:r>
              <a:rPr lang="en-US" altLang="zh-CN" sz="1800" dirty="0">
                <a:latin typeface="+mn-lt"/>
                <a:sym typeface="+mn-ea"/>
              </a:rPr>
              <a:t>(c)</a:t>
            </a:r>
            <a:r>
              <a:rPr lang="zh-CN" altLang="en-US" sz="1800" dirty="0">
                <a:latin typeface="+mn-lt"/>
                <a:sym typeface="+mn-ea"/>
              </a:rPr>
              <a:t>最右侧的编码分组。</a:t>
            </a:r>
            <a:endParaRPr lang="zh-CN" altLang="en-US" sz="1800" dirty="0">
              <a:latin typeface="+mn-lt"/>
              <a:sym typeface="+mn-ea"/>
            </a:endParaRPr>
          </a:p>
        </p:txBody>
      </p:sp>
      <p:grpSp>
        <p:nvGrpSpPr>
          <p:cNvPr id="3" name="组合 2"/>
          <p:cNvGrpSpPr/>
          <p:nvPr/>
        </p:nvGrpSpPr>
        <p:grpSpPr>
          <a:xfrm>
            <a:off x="912395" y="3124208"/>
            <a:ext cx="7055050" cy="3459457"/>
            <a:chOff x="912395" y="3124208"/>
            <a:chExt cx="7055050" cy="3459457"/>
          </a:xfrm>
        </p:grpSpPr>
        <p:pic>
          <p:nvPicPr>
            <p:cNvPr id="205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b="5350"/>
            <a:stretch>
              <a:fillRect/>
            </a:stretch>
          </p:blipFill>
          <p:spPr bwMode="auto">
            <a:xfrm>
              <a:off x="912395" y="3124208"/>
              <a:ext cx="7055050" cy="3144984"/>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6576262" y="6093787"/>
              <a:ext cx="1384927"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sym typeface="+mn-ea"/>
                </a:rPr>
                <a:t>LT</a:t>
              </a:r>
              <a:r>
                <a:rPr lang="zh-CN" altLang="en-US" sz="1800" dirty="0">
                  <a:sym typeface="+mn-ea"/>
                </a:rPr>
                <a:t>解码过程</a:t>
              </a:r>
              <a:endParaRPr lang="zh-CN" altLang="en-US" sz="1800" dirty="0">
                <a:sym typeface="+mn-ea"/>
              </a:endParaRPr>
            </a:p>
          </p:txBody>
        </p:sp>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码的解码</a:t>
            </a:r>
            <a:endParaRPr lang="zh-CN" altLang="en-US" sz="2400" dirty="0">
              <a:sym typeface="+mn-ea"/>
            </a:endParaRPr>
          </a:p>
        </p:txBody>
      </p:sp>
      <p:sp>
        <p:nvSpPr>
          <p:cNvPr id="6" name="文本框 5"/>
          <p:cNvSpPr txBox="1"/>
          <p:nvPr/>
        </p:nvSpPr>
        <p:spPr>
          <a:xfrm>
            <a:off x="274886" y="959875"/>
            <a:ext cx="8594228" cy="187487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latin typeface="+mn-lt"/>
                <a:sym typeface="+mn-ea"/>
              </a:rPr>
              <a:t>        (4)</a:t>
            </a:r>
            <a:r>
              <a:rPr lang="zh-CN" altLang="en-US" sz="1800" dirty="0">
                <a:latin typeface="+mn-lt"/>
                <a:sym typeface="+mn-ea"/>
              </a:rPr>
              <a:t>重复步骤</a:t>
            </a:r>
            <a:r>
              <a:rPr lang="en-US" altLang="zh-CN" sz="1800" dirty="0">
                <a:latin typeface="+mn-lt"/>
                <a:sym typeface="+mn-ea"/>
              </a:rPr>
              <a:t>(2)</a:t>
            </a:r>
            <a:r>
              <a:rPr lang="zh-CN" altLang="en-US" sz="1800" dirty="0">
                <a:latin typeface="+mn-lt"/>
                <a:sym typeface="+mn-ea"/>
              </a:rPr>
              <a:t>和</a:t>
            </a:r>
            <a:r>
              <a:rPr lang="en-US" altLang="zh-CN" sz="1800" dirty="0">
                <a:latin typeface="+mn-lt"/>
                <a:sym typeface="+mn-ea"/>
              </a:rPr>
              <a:t>(3)</a:t>
            </a:r>
            <a:r>
              <a:rPr lang="zh-CN" altLang="en-US" sz="1800" dirty="0">
                <a:latin typeface="+mn-lt"/>
                <a:sym typeface="+mn-ea"/>
              </a:rPr>
              <a:t>，直至译码停止。如果所有原始分组都已经恢复，则译码成功</a:t>
            </a:r>
            <a:r>
              <a:rPr lang="en-US" altLang="zh-CN" sz="1800" dirty="0">
                <a:latin typeface="+mn-lt"/>
                <a:sym typeface="+mn-ea"/>
              </a:rPr>
              <a:t>;</a:t>
            </a:r>
            <a:r>
              <a:rPr lang="zh-CN" altLang="en-US" sz="1800" dirty="0">
                <a:latin typeface="+mn-lt"/>
                <a:sym typeface="+mn-ea"/>
              </a:rPr>
              <a:t>否则，译码失败，必须接收更多的编码分组才能继续译码。</a:t>
            </a:r>
            <a:endParaRPr lang="en-US" altLang="zh-CN" sz="1800" dirty="0">
              <a:latin typeface="+mn-lt"/>
              <a:sym typeface="+mn-ea"/>
            </a:endParaRPr>
          </a:p>
          <a:p>
            <a:pPr>
              <a:lnSpc>
                <a:spcPts val="3600"/>
              </a:lnSpc>
            </a:pPr>
            <a:r>
              <a:rPr lang="en-US" altLang="zh-CN" sz="1800" dirty="0">
                <a:latin typeface="+mn-lt"/>
                <a:sym typeface="+mn-ea"/>
              </a:rPr>
              <a:t>         </a:t>
            </a:r>
            <a:r>
              <a:rPr lang="zh-CN" altLang="en-US" sz="1800" dirty="0">
                <a:latin typeface="+mn-lt"/>
                <a:sym typeface="+mn-ea"/>
              </a:rPr>
              <a:t>一般来说，为了保证所有数据均能恢复出来，度的选择期望值必须高于</a:t>
            </a:r>
            <a:r>
              <a:rPr lang="en-US" altLang="zh-CN" sz="1800" dirty="0">
                <a:latin typeface="+mn-lt"/>
                <a:sym typeface="+mn-ea"/>
              </a:rPr>
              <a:t>O(</a:t>
            </a:r>
            <a:r>
              <a:rPr lang="en-US" altLang="zh-CN" sz="1800" dirty="0" err="1">
                <a:latin typeface="+mn-lt"/>
                <a:sym typeface="+mn-ea"/>
              </a:rPr>
              <a:t>logn</a:t>
            </a:r>
            <a:r>
              <a:rPr lang="en-US" altLang="zh-CN" sz="1800" dirty="0">
                <a:latin typeface="+mn-lt"/>
                <a:sym typeface="+mn-ea"/>
              </a:rPr>
              <a:t>),</a:t>
            </a:r>
            <a:r>
              <a:rPr lang="zh-CN" altLang="en-US" sz="1800" dirty="0">
                <a:latin typeface="+mn-lt"/>
                <a:sym typeface="+mn-ea"/>
              </a:rPr>
              <a:t>舍弃编码过程中关于计算量的考虑。</a:t>
            </a:r>
            <a:endParaRPr lang="zh-CN" altLang="en-US" sz="1800" dirty="0">
              <a:latin typeface="+mn-lt"/>
              <a:sym typeface="+mn-ea"/>
            </a:endParaRPr>
          </a:p>
        </p:txBody>
      </p:sp>
      <p:grpSp>
        <p:nvGrpSpPr>
          <p:cNvPr id="3" name="组合 2"/>
          <p:cNvGrpSpPr/>
          <p:nvPr/>
        </p:nvGrpSpPr>
        <p:grpSpPr>
          <a:xfrm>
            <a:off x="757861" y="3048010"/>
            <a:ext cx="7364117" cy="3740961"/>
            <a:chOff x="757861" y="3048010"/>
            <a:chExt cx="7364117" cy="3740961"/>
          </a:xfrm>
        </p:grpSpPr>
        <p:pic>
          <p:nvPicPr>
            <p:cNvPr id="205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b="5350"/>
            <a:stretch>
              <a:fillRect/>
            </a:stretch>
          </p:blipFill>
          <p:spPr bwMode="auto">
            <a:xfrm>
              <a:off x="757861" y="3048010"/>
              <a:ext cx="7364117" cy="3282759"/>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4114812" y="6299093"/>
              <a:ext cx="1384927"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sym typeface="+mn-ea"/>
                </a:rPr>
                <a:t>LT</a:t>
              </a:r>
              <a:r>
                <a:rPr lang="zh-CN" altLang="en-US" sz="1800" dirty="0">
                  <a:sym typeface="+mn-ea"/>
                </a:rPr>
                <a:t>解码过程</a:t>
              </a:r>
              <a:endParaRPr lang="zh-CN" altLang="en-US" sz="1800" dirty="0">
                <a:sym typeface="+mn-ea"/>
              </a:endParaRPr>
            </a:p>
          </p:txBody>
        </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码的特点</a:t>
            </a:r>
            <a:endParaRPr lang="zh-CN" altLang="en-US" sz="2400" dirty="0">
              <a:sym typeface="+mn-ea"/>
            </a:endParaRPr>
          </a:p>
        </p:txBody>
      </p:sp>
      <p:sp>
        <p:nvSpPr>
          <p:cNvPr id="9" name="文本框 8"/>
          <p:cNvSpPr txBox="1"/>
          <p:nvPr/>
        </p:nvSpPr>
        <p:spPr>
          <a:xfrm>
            <a:off x="562712" y="3229784"/>
            <a:ext cx="8018574" cy="90665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en-US" altLang="zh-CN" sz="1800" dirty="0">
                <a:latin typeface="+mn-lt"/>
                <a:sym typeface="+mn-ea"/>
              </a:rPr>
              <a:t>         LT</a:t>
            </a:r>
            <a:r>
              <a:rPr lang="zh-CN" altLang="en-US" sz="1800" dirty="0">
                <a:latin typeface="+mn-lt"/>
                <a:sym typeface="+mn-ea"/>
              </a:rPr>
              <a:t>码的编解码时间复杂度均为</a:t>
            </a:r>
            <a:r>
              <a:rPr lang="en-US" altLang="zh-CN" sz="1800" dirty="0">
                <a:latin typeface="+mn-lt"/>
                <a:sym typeface="+mn-ea"/>
              </a:rPr>
              <a:t>O(</a:t>
            </a:r>
            <a:r>
              <a:rPr lang="en-US" altLang="zh-CN" sz="1800" i="1" dirty="0" err="1">
                <a:latin typeface="+mn-lt"/>
                <a:sym typeface="+mn-ea"/>
              </a:rPr>
              <a:t>nlogn</a:t>
            </a:r>
            <a:r>
              <a:rPr lang="en-US" altLang="zh-CN" sz="1800" dirty="0">
                <a:latin typeface="+mn-lt"/>
                <a:sym typeface="+mn-ea"/>
              </a:rPr>
              <a:t>)</a:t>
            </a:r>
            <a:r>
              <a:rPr lang="zh-CN" altLang="en-US" sz="1800" dirty="0">
                <a:latin typeface="+mn-lt"/>
                <a:sym typeface="+mn-ea"/>
              </a:rPr>
              <a:t>。另外，</a:t>
            </a:r>
            <a:r>
              <a:rPr lang="en-US" altLang="zh-CN" sz="1800" dirty="0">
                <a:latin typeface="+mn-lt"/>
                <a:sym typeface="+mn-ea"/>
              </a:rPr>
              <a:t>LT</a:t>
            </a:r>
            <a:r>
              <a:rPr lang="zh-CN" altLang="en-US" sz="1800" dirty="0">
                <a:latin typeface="+mn-lt"/>
                <a:sym typeface="+mn-ea"/>
              </a:rPr>
              <a:t>码因为随机性，编码率并不确定，不过确定的是其编码效率较为低下。</a:t>
            </a:r>
            <a:endParaRPr lang="en-US" altLang="zh-CN" sz="1800" dirty="0">
              <a:latin typeface="+mn-lt"/>
              <a:sym typeface="+mn-ea"/>
            </a:endParaRPr>
          </a:p>
        </p:txBody>
      </p:sp>
      <p:graphicFrame>
        <p:nvGraphicFramePr>
          <p:cNvPr id="3" name="表格 3"/>
          <p:cNvGraphicFramePr>
            <a:graphicFrameLocks noGrp="1"/>
          </p:cNvGraphicFramePr>
          <p:nvPr/>
        </p:nvGraphicFramePr>
        <p:xfrm>
          <a:off x="2146819" y="990664"/>
          <a:ext cx="4850360" cy="1902004"/>
        </p:xfrm>
        <a:graphic>
          <a:graphicData uri="http://schemas.openxmlformats.org/drawingml/2006/table">
            <a:tbl>
              <a:tblPr firstRow="1" bandRow="1">
                <a:tableStyleId>{5C22544A-7EE6-4342-B048-85BDC9FD1C3A}</a:tableStyleId>
              </a:tblPr>
              <a:tblGrid>
                <a:gridCol w="2268398"/>
                <a:gridCol w="2581962"/>
              </a:tblGrid>
              <a:tr h="475501">
                <a:tc>
                  <a:txBody>
                    <a:bodyPr/>
                    <a:lstStyle/>
                    <a:p>
                      <a:pPr algn="ctr"/>
                      <a:endParaRPr lang="zh-CN" altLang="en-US" sz="1600" b="0" dirty="0">
                        <a:solidFill>
                          <a:schemeClr val="tx1"/>
                        </a:solidFill>
                        <a:latin typeface="+mn-ea"/>
                        <a:ea typeface="+mn-ea"/>
                        <a:cs typeface="Adobe Arabic" panose="02040503050201020203" pitchFamily="18" charset="-78"/>
                      </a:endParaRPr>
                    </a:p>
                  </a:txBody>
                  <a:tcPr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b="0" dirty="0">
                          <a:solidFill>
                            <a:schemeClr val="tx1"/>
                          </a:solidFill>
                          <a:latin typeface="+mn-ea"/>
                          <a:ea typeface="+mn-ea"/>
                          <a:cs typeface="Adobe Arabic" panose="02040503050201020203" pitchFamily="18" charset="-78"/>
                        </a:rPr>
                        <a:t>LT</a:t>
                      </a:r>
                      <a:r>
                        <a:rPr lang="zh-CN" altLang="en-US" sz="1600" b="0" dirty="0">
                          <a:solidFill>
                            <a:schemeClr val="tx1"/>
                          </a:solidFill>
                          <a:latin typeface="+mn-ea"/>
                          <a:ea typeface="+mn-ea"/>
                          <a:cs typeface="Adobe Arabic" panose="02040503050201020203" pitchFamily="18" charset="-78"/>
                        </a:rPr>
                        <a:t>码</a:t>
                      </a:r>
                      <a:endParaRPr lang="zh-CN" altLang="en-US" sz="1600" b="0" dirty="0">
                        <a:solidFill>
                          <a:schemeClr val="tx1"/>
                        </a:solidFill>
                        <a:latin typeface="+mn-ea"/>
                        <a:ea typeface="+mn-ea"/>
                        <a:cs typeface="Adobe Arabic" panose="02040503050201020203" pitchFamily="18" charset="-78"/>
                      </a:endParaRPr>
                    </a:p>
                  </a:txBody>
                  <a:tcPr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r>
              <a:tr h="475501">
                <a:tc>
                  <a:txBody>
                    <a:bodyPr/>
                    <a:lstStyle/>
                    <a:p>
                      <a:pPr algn="ctr"/>
                      <a:r>
                        <a:rPr lang="zh-CN" altLang="en-US" sz="1600" b="0" dirty="0">
                          <a:solidFill>
                            <a:schemeClr val="tx1"/>
                          </a:solidFill>
                          <a:latin typeface="+mn-ea"/>
                          <a:ea typeface="+mn-ea"/>
                          <a:cs typeface="Adobe Arabic" panose="02040503050201020203" pitchFamily="18" charset="-78"/>
                        </a:rPr>
                        <a:t>编码时间复杂度</a:t>
                      </a:r>
                      <a:endParaRPr lang="zh-CN" altLang="en-US" sz="1600" b="0" dirty="0">
                        <a:solidFill>
                          <a:schemeClr val="tx1"/>
                        </a:solidFill>
                        <a:latin typeface="+mn-ea"/>
                        <a:ea typeface="+mn-ea"/>
                        <a:cs typeface="Adobe Arabic" panose="02040503050201020203" pitchFamily="18" charset="-78"/>
                      </a:endParaRPr>
                    </a:p>
                  </a:txBody>
                  <a:tcPr anchor="ctr">
                    <a:lnT w="6350" cap="flat" cmpd="sng" algn="ctr">
                      <a:solidFill>
                        <a:schemeClr val="tx1"/>
                      </a:solidFill>
                      <a:prstDash val="solid"/>
                      <a:round/>
                      <a:headEnd type="none" w="med" len="med"/>
                      <a:tailEnd type="none" w="med" len="med"/>
                    </a:lnT>
                    <a:noFill/>
                  </a:tcPr>
                </a:tc>
                <a:tc>
                  <a:txBody>
                    <a:bodyPr/>
                    <a:lstStyle/>
                    <a:p>
                      <a:pPr algn="ctr"/>
                      <a:r>
                        <a:rPr lang="en-US" altLang="zh-CN" sz="1600" b="0" dirty="0">
                          <a:solidFill>
                            <a:schemeClr val="tx1"/>
                          </a:solidFill>
                          <a:latin typeface="+mn-ea"/>
                          <a:ea typeface="+mn-ea"/>
                          <a:cs typeface="Adobe Arabic" panose="02040503050201020203" pitchFamily="18" charset="-78"/>
                        </a:rPr>
                        <a:t>O(</a:t>
                      </a:r>
                      <a:r>
                        <a:rPr lang="en-US" altLang="zh-CN" sz="1600" b="0" i="1" dirty="0" err="1">
                          <a:solidFill>
                            <a:schemeClr val="tx1"/>
                          </a:solidFill>
                          <a:latin typeface="+mn-ea"/>
                          <a:ea typeface="+mn-ea"/>
                          <a:cs typeface="Adobe Arabic" panose="02040503050201020203" pitchFamily="18" charset="-78"/>
                        </a:rPr>
                        <a:t>nlogn</a:t>
                      </a:r>
                      <a:r>
                        <a:rPr lang="en-US" altLang="zh-CN" sz="1600" b="0" dirty="0">
                          <a:solidFill>
                            <a:schemeClr val="tx1"/>
                          </a:solidFill>
                          <a:latin typeface="+mn-ea"/>
                          <a:ea typeface="+mn-ea"/>
                          <a:cs typeface="Adobe Arabic" panose="02040503050201020203" pitchFamily="18" charset="-78"/>
                        </a:rPr>
                        <a:t>)</a:t>
                      </a:r>
                      <a:endParaRPr lang="zh-CN" altLang="en-US" sz="1600" b="0" dirty="0">
                        <a:solidFill>
                          <a:schemeClr val="tx1"/>
                        </a:solidFill>
                        <a:latin typeface="+mn-ea"/>
                        <a:ea typeface="+mn-ea"/>
                        <a:cs typeface="Adobe Arabic" panose="02040503050201020203" pitchFamily="18" charset="-78"/>
                      </a:endParaRPr>
                    </a:p>
                  </a:txBody>
                  <a:tcPr anchor="ctr">
                    <a:lnT w="6350" cap="flat" cmpd="sng" algn="ctr">
                      <a:solidFill>
                        <a:schemeClr val="tx1"/>
                      </a:solidFill>
                      <a:prstDash val="solid"/>
                      <a:round/>
                      <a:headEnd type="none" w="med" len="med"/>
                      <a:tailEnd type="none" w="med" len="med"/>
                    </a:lnT>
                    <a:noFill/>
                  </a:tcPr>
                </a:tc>
              </a:tr>
              <a:tr h="475501">
                <a:tc>
                  <a:txBody>
                    <a:bodyPr/>
                    <a:lstStyle/>
                    <a:p>
                      <a:pPr algn="ctr"/>
                      <a:r>
                        <a:rPr lang="zh-CN" altLang="en-US" sz="1600" b="0" dirty="0">
                          <a:solidFill>
                            <a:schemeClr val="tx1"/>
                          </a:solidFill>
                          <a:latin typeface="+mn-ea"/>
                          <a:ea typeface="+mn-ea"/>
                          <a:cs typeface="Adobe Arabic" panose="02040503050201020203" pitchFamily="18" charset="-78"/>
                        </a:rPr>
                        <a:t>解码时间复杂度</a:t>
                      </a:r>
                      <a:endParaRPr lang="zh-CN" altLang="en-US" sz="1600" b="0" dirty="0">
                        <a:solidFill>
                          <a:schemeClr val="tx1"/>
                        </a:solidFill>
                        <a:latin typeface="+mn-ea"/>
                        <a:ea typeface="+mn-ea"/>
                        <a:cs typeface="Adobe Arabic" panose="02040503050201020203" pitchFamily="18" charset="-78"/>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0" dirty="0">
                          <a:solidFill>
                            <a:schemeClr val="tx1"/>
                          </a:solidFill>
                          <a:latin typeface="+mn-ea"/>
                          <a:ea typeface="+mn-ea"/>
                          <a:cs typeface="Adobe Arabic" panose="02040503050201020203" pitchFamily="18" charset="-78"/>
                        </a:rPr>
                        <a:t>O(</a:t>
                      </a:r>
                      <a:r>
                        <a:rPr lang="en-US" altLang="zh-CN" sz="1600" b="0" i="1" dirty="0" err="1">
                          <a:solidFill>
                            <a:schemeClr val="tx1"/>
                          </a:solidFill>
                          <a:latin typeface="+mn-ea"/>
                          <a:ea typeface="+mn-ea"/>
                          <a:cs typeface="Adobe Arabic" panose="02040503050201020203" pitchFamily="18" charset="-78"/>
                        </a:rPr>
                        <a:t>nlogn</a:t>
                      </a:r>
                      <a:r>
                        <a:rPr lang="en-US" altLang="zh-CN" sz="1600" b="0" dirty="0">
                          <a:solidFill>
                            <a:schemeClr val="tx1"/>
                          </a:solidFill>
                          <a:latin typeface="+mn-ea"/>
                          <a:ea typeface="+mn-ea"/>
                          <a:cs typeface="Adobe Arabic" panose="02040503050201020203" pitchFamily="18" charset="-78"/>
                        </a:rPr>
                        <a:t>)</a:t>
                      </a:r>
                      <a:endParaRPr lang="zh-CN" altLang="en-US" sz="1600" b="0" dirty="0">
                        <a:solidFill>
                          <a:schemeClr val="tx1"/>
                        </a:solidFill>
                        <a:latin typeface="+mn-ea"/>
                        <a:ea typeface="+mn-ea"/>
                        <a:cs typeface="Adobe Arabic" panose="02040503050201020203" pitchFamily="18" charset="-78"/>
                      </a:endParaRPr>
                    </a:p>
                  </a:txBody>
                  <a:tcPr anchor="ctr">
                    <a:noFill/>
                  </a:tcPr>
                </a:tc>
              </a:tr>
              <a:tr h="475501">
                <a:tc>
                  <a:txBody>
                    <a:bodyPr/>
                    <a:lstStyle/>
                    <a:p>
                      <a:pPr algn="ctr"/>
                      <a:r>
                        <a:rPr lang="zh-CN" altLang="en-US" sz="1600" b="0" dirty="0">
                          <a:solidFill>
                            <a:schemeClr val="tx1"/>
                          </a:solidFill>
                          <a:latin typeface="+mn-ea"/>
                          <a:ea typeface="+mn-ea"/>
                          <a:cs typeface="Adobe Arabic" panose="02040503050201020203" pitchFamily="18" charset="-78"/>
                        </a:rPr>
                        <a:t>编码率</a:t>
                      </a:r>
                      <a:endParaRPr lang="zh-CN" altLang="en-US" sz="1600" b="0" dirty="0">
                        <a:solidFill>
                          <a:schemeClr val="tx1"/>
                        </a:solidFill>
                        <a:latin typeface="+mn-ea"/>
                        <a:ea typeface="+mn-ea"/>
                        <a:cs typeface="Adobe Arabic" panose="02040503050201020203" pitchFamily="18" charset="-78"/>
                      </a:endParaRPr>
                    </a:p>
                  </a:txBody>
                  <a:tcPr anchor="ctr">
                    <a:lnB w="1905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latin typeface="+mn-ea"/>
                          <a:ea typeface="+mn-ea"/>
                          <a:cs typeface="Adobe Arabic" panose="02040503050201020203" pitchFamily="18" charset="-78"/>
                        </a:rPr>
                        <a:t>低</a:t>
                      </a:r>
                      <a:endParaRPr lang="zh-CN" altLang="en-US" sz="1600" b="0" dirty="0">
                        <a:solidFill>
                          <a:schemeClr val="tx1"/>
                        </a:solidFill>
                        <a:latin typeface="+mn-ea"/>
                        <a:ea typeface="+mn-ea"/>
                        <a:cs typeface="Adobe Arabic" panose="02040503050201020203" pitchFamily="18" charset="-78"/>
                      </a:endParaRPr>
                    </a:p>
                  </a:txBody>
                  <a:tcPr anchor="ctr">
                    <a:lnB w="1905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Raptor</a:t>
            </a:r>
            <a:r>
              <a:rPr lang="zh-CN" altLang="en-US" sz="2400" dirty="0">
                <a:sym typeface="+mn-ea"/>
              </a:rPr>
              <a:t>码</a:t>
            </a:r>
            <a:endParaRPr lang="zh-CN" altLang="en-US" sz="2400" dirty="0">
              <a:sym typeface="+mn-ea"/>
            </a:endParaRPr>
          </a:p>
        </p:txBody>
      </p:sp>
      <p:sp>
        <p:nvSpPr>
          <p:cNvPr id="6" name="文本框 5"/>
          <p:cNvSpPr txBox="1"/>
          <p:nvPr/>
        </p:nvSpPr>
        <p:spPr>
          <a:xfrm>
            <a:off x="267333" y="1104395"/>
            <a:ext cx="7240367" cy="234224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latin typeface="+mn-lt"/>
              </a:rPr>
              <a:t>产生原因：</a:t>
            </a:r>
            <a:endParaRPr lang="en-US" altLang="zh-CN" dirty="0">
              <a:latin typeface="+mn-lt"/>
            </a:endParaRPr>
          </a:p>
          <a:p>
            <a:pPr>
              <a:lnSpc>
                <a:spcPts val="3600"/>
              </a:lnSpc>
            </a:pPr>
            <a:r>
              <a:rPr lang="en-US" altLang="zh-CN" dirty="0">
                <a:latin typeface="+mn-lt"/>
              </a:rPr>
              <a:t>         LT</a:t>
            </a:r>
            <a:r>
              <a:rPr lang="zh-CN" altLang="en-US" dirty="0">
                <a:latin typeface="+mn-lt"/>
              </a:rPr>
              <a:t>码生成的编码包中有少量连接度很高的包，这些</a:t>
            </a:r>
            <a:r>
              <a:rPr lang="zh-CN" altLang="en-US" dirty="0">
                <a:solidFill>
                  <a:srgbClr val="FF0000"/>
                </a:solidFill>
                <a:latin typeface="+mn-lt"/>
              </a:rPr>
              <a:t>高连接度包的存在</a:t>
            </a:r>
            <a:r>
              <a:rPr lang="zh-CN" altLang="en-US" dirty="0">
                <a:latin typeface="+mn-lt"/>
              </a:rPr>
              <a:t>消耗了很多编译码异或操作，同时也降低了低连接度包的比例，从而减小了译码过程中可译集的大小，</a:t>
            </a:r>
            <a:r>
              <a:rPr lang="zh-CN" altLang="en-US" dirty="0">
                <a:solidFill>
                  <a:srgbClr val="FF0000"/>
                </a:solidFill>
                <a:latin typeface="+mn-lt"/>
              </a:rPr>
              <a:t>降低了译码成功率</a:t>
            </a:r>
            <a:r>
              <a:rPr lang="zh-CN" altLang="en-US" dirty="0">
                <a:latin typeface="+mn-lt"/>
              </a:rPr>
              <a:t>。</a:t>
            </a:r>
            <a:endParaRPr lang="en-US" altLang="zh-CN" dirty="0">
              <a:latin typeface="+mn-lt"/>
            </a:endParaRPr>
          </a:p>
        </p:txBody>
      </p:sp>
      <p:grpSp>
        <p:nvGrpSpPr>
          <p:cNvPr id="3" name="组合 2"/>
          <p:cNvGrpSpPr/>
          <p:nvPr/>
        </p:nvGrpSpPr>
        <p:grpSpPr>
          <a:xfrm>
            <a:off x="7605160" y="1472175"/>
            <a:ext cx="1256747" cy="1600811"/>
            <a:chOff x="1290086" y="4137263"/>
            <a:chExt cx="1142970" cy="1455885"/>
          </a:xfrm>
        </p:grpSpPr>
        <p:sp>
          <p:nvSpPr>
            <p:cNvPr id="10" name="Freeform 5"/>
            <p:cNvSpPr/>
            <p:nvPr/>
          </p:nvSpPr>
          <p:spPr bwMode="auto">
            <a:xfrm>
              <a:off x="1290086" y="4137263"/>
              <a:ext cx="1142970" cy="1455885"/>
            </a:xfrm>
            <a:custGeom>
              <a:avLst/>
              <a:gdLst>
                <a:gd name="T0" fmla="*/ 178 w 367"/>
                <a:gd name="T1" fmla="*/ 0 h 468"/>
                <a:gd name="T2" fmla="*/ 185 w 367"/>
                <a:gd name="T3" fmla="*/ 6 h 468"/>
                <a:gd name="T4" fmla="*/ 312 w 367"/>
                <a:gd name="T5" fmla="*/ 147 h 468"/>
                <a:gd name="T6" fmla="*/ 354 w 367"/>
                <a:gd name="T7" fmla="*/ 297 h 468"/>
                <a:gd name="T8" fmla="*/ 101 w 367"/>
                <a:gd name="T9" fmla="*/ 411 h 468"/>
                <a:gd name="T10" fmla="*/ 221 w 367"/>
                <a:gd name="T11" fmla="*/ 365 h 468"/>
                <a:gd name="T12" fmla="*/ 228 w 367"/>
                <a:gd name="T13" fmla="*/ 175 h 468"/>
                <a:gd name="T14" fmla="*/ 189 w 367"/>
                <a:gd name="T15" fmla="*/ 133 h 468"/>
                <a:gd name="T16" fmla="*/ 171 w 367"/>
                <a:gd name="T17" fmla="*/ 131 h 468"/>
                <a:gd name="T18" fmla="*/ 108 w 367"/>
                <a:gd name="T19" fmla="*/ 211 h 468"/>
                <a:gd name="T20" fmla="*/ 172 w 367"/>
                <a:gd name="T21" fmla="*/ 332 h 468"/>
                <a:gd name="T22" fmla="*/ 189 w 367"/>
                <a:gd name="T23" fmla="*/ 334 h 468"/>
                <a:gd name="T24" fmla="*/ 86 w 367"/>
                <a:gd name="T25" fmla="*/ 382 h 468"/>
                <a:gd name="T26" fmla="*/ 10 w 367"/>
                <a:gd name="T27" fmla="*/ 298 h 468"/>
                <a:gd name="T28" fmla="*/ 36 w 367"/>
                <a:gd name="T29" fmla="*/ 170 h 468"/>
                <a:gd name="T30" fmla="*/ 173 w 367"/>
                <a:gd name="T31" fmla="*/ 2 h 468"/>
                <a:gd name="T32" fmla="*/ 178 w 367"/>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7" h="468">
                  <a:moveTo>
                    <a:pt x="178" y="0"/>
                  </a:moveTo>
                  <a:cubicBezTo>
                    <a:pt x="180" y="2"/>
                    <a:pt x="183" y="3"/>
                    <a:pt x="185" y="6"/>
                  </a:cubicBezTo>
                  <a:cubicBezTo>
                    <a:pt x="228" y="52"/>
                    <a:pt x="272" y="98"/>
                    <a:pt x="312" y="147"/>
                  </a:cubicBezTo>
                  <a:cubicBezTo>
                    <a:pt x="348" y="190"/>
                    <a:pt x="367" y="239"/>
                    <a:pt x="354" y="297"/>
                  </a:cubicBezTo>
                  <a:cubicBezTo>
                    <a:pt x="330" y="408"/>
                    <a:pt x="199" y="468"/>
                    <a:pt x="101" y="411"/>
                  </a:cubicBezTo>
                  <a:cubicBezTo>
                    <a:pt x="148" y="410"/>
                    <a:pt x="187" y="396"/>
                    <a:pt x="221" y="365"/>
                  </a:cubicBezTo>
                  <a:cubicBezTo>
                    <a:pt x="281" y="310"/>
                    <a:pt x="284" y="234"/>
                    <a:pt x="228" y="175"/>
                  </a:cubicBezTo>
                  <a:cubicBezTo>
                    <a:pt x="215" y="161"/>
                    <a:pt x="203" y="146"/>
                    <a:pt x="189" y="133"/>
                  </a:cubicBezTo>
                  <a:cubicBezTo>
                    <a:pt x="185" y="129"/>
                    <a:pt x="173" y="129"/>
                    <a:pt x="171" y="131"/>
                  </a:cubicBezTo>
                  <a:cubicBezTo>
                    <a:pt x="149" y="157"/>
                    <a:pt x="125" y="182"/>
                    <a:pt x="108" y="211"/>
                  </a:cubicBezTo>
                  <a:cubicBezTo>
                    <a:pt x="76" y="267"/>
                    <a:pt x="107" y="324"/>
                    <a:pt x="172" y="332"/>
                  </a:cubicBezTo>
                  <a:cubicBezTo>
                    <a:pt x="177" y="333"/>
                    <a:pt x="183" y="334"/>
                    <a:pt x="189" y="334"/>
                  </a:cubicBezTo>
                  <a:cubicBezTo>
                    <a:pt x="176" y="368"/>
                    <a:pt x="127" y="391"/>
                    <a:pt x="86" y="382"/>
                  </a:cubicBezTo>
                  <a:cubicBezTo>
                    <a:pt x="41" y="372"/>
                    <a:pt x="20" y="339"/>
                    <a:pt x="10" y="298"/>
                  </a:cubicBezTo>
                  <a:cubicBezTo>
                    <a:pt x="0" y="252"/>
                    <a:pt x="9" y="207"/>
                    <a:pt x="36" y="170"/>
                  </a:cubicBezTo>
                  <a:cubicBezTo>
                    <a:pt x="79" y="112"/>
                    <a:pt x="127" y="57"/>
                    <a:pt x="173" y="2"/>
                  </a:cubicBezTo>
                  <a:cubicBezTo>
                    <a:pt x="174" y="1"/>
                    <a:pt x="176" y="1"/>
                    <a:pt x="178" y="0"/>
                  </a:cubicBezTo>
                  <a:close/>
                </a:path>
              </a:pathLst>
            </a:custGeom>
            <a:solidFill>
              <a:schemeClr val="accent1"/>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11" name="组合 10"/>
            <p:cNvGrpSpPr/>
            <p:nvPr/>
          </p:nvGrpSpPr>
          <p:grpSpPr>
            <a:xfrm>
              <a:off x="1767975" y="4857016"/>
              <a:ext cx="171648" cy="171816"/>
              <a:chOff x="5240338" y="2657475"/>
              <a:chExt cx="1630363" cy="1631951"/>
            </a:xfrm>
            <a:solidFill>
              <a:srgbClr val="56A165"/>
            </a:solidFill>
          </p:grpSpPr>
          <p:sp>
            <p:nvSpPr>
              <p:cNvPr id="12" name="Freeform 5"/>
              <p:cNvSpPr/>
              <p:nvPr/>
            </p:nvSpPr>
            <p:spPr bwMode="auto">
              <a:xfrm>
                <a:off x="5240338" y="2735263"/>
                <a:ext cx="1552575" cy="1554163"/>
              </a:xfrm>
              <a:custGeom>
                <a:avLst/>
                <a:gdLst>
                  <a:gd name="T0" fmla="*/ 391 w 517"/>
                  <a:gd name="T1" fmla="*/ 73 h 519"/>
                  <a:gd name="T2" fmla="*/ 346 w 517"/>
                  <a:gd name="T3" fmla="*/ 101 h 519"/>
                  <a:gd name="T4" fmla="*/ 325 w 517"/>
                  <a:gd name="T5" fmla="*/ 98 h 519"/>
                  <a:gd name="T6" fmla="*/ 122 w 517"/>
                  <a:gd name="T7" fmla="*/ 151 h 519"/>
                  <a:gd name="T8" fmla="*/ 125 w 517"/>
                  <a:gd name="T9" fmla="*/ 369 h 519"/>
                  <a:gd name="T10" fmla="*/ 332 w 517"/>
                  <a:gd name="T11" fmla="*/ 416 h 519"/>
                  <a:gd name="T12" fmla="*/ 421 w 517"/>
                  <a:gd name="T13" fmla="*/ 197 h 519"/>
                  <a:gd name="T14" fmla="*/ 425 w 517"/>
                  <a:gd name="T15" fmla="*/ 155 h 519"/>
                  <a:gd name="T16" fmla="*/ 443 w 517"/>
                  <a:gd name="T17" fmla="*/ 127 h 519"/>
                  <a:gd name="T18" fmla="*/ 444 w 517"/>
                  <a:gd name="T19" fmla="*/ 398 h 519"/>
                  <a:gd name="T20" fmla="*/ 113 w 517"/>
                  <a:gd name="T21" fmla="*/ 438 h 519"/>
                  <a:gd name="T22" fmla="*/ 88 w 517"/>
                  <a:gd name="T23" fmla="*/ 101 h 519"/>
                  <a:gd name="T24" fmla="*/ 391 w 517"/>
                  <a:gd name="T25" fmla="*/ 73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7" h="519">
                    <a:moveTo>
                      <a:pt x="391" y="73"/>
                    </a:moveTo>
                    <a:cubicBezTo>
                      <a:pt x="376" y="83"/>
                      <a:pt x="361" y="93"/>
                      <a:pt x="346" y="101"/>
                    </a:cubicBezTo>
                    <a:cubicBezTo>
                      <a:pt x="340" y="103"/>
                      <a:pt x="331" y="100"/>
                      <a:pt x="325" y="98"/>
                    </a:cubicBezTo>
                    <a:cubicBezTo>
                      <a:pt x="252" y="68"/>
                      <a:pt x="166" y="91"/>
                      <a:pt x="122" y="151"/>
                    </a:cubicBezTo>
                    <a:cubicBezTo>
                      <a:pt x="72" y="219"/>
                      <a:pt x="73" y="305"/>
                      <a:pt x="125" y="369"/>
                    </a:cubicBezTo>
                    <a:cubicBezTo>
                      <a:pt x="174" y="429"/>
                      <a:pt x="261" y="449"/>
                      <a:pt x="332" y="416"/>
                    </a:cubicBezTo>
                    <a:cubicBezTo>
                      <a:pt x="413" y="379"/>
                      <a:pt x="454" y="279"/>
                      <a:pt x="421" y="197"/>
                    </a:cubicBezTo>
                    <a:cubicBezTo>
                      <a:pt x="414" y="181"/>
                      <a:pt x="415" y="169"/>
                      <a:pt x="425" y="155"/>
                    </a:cubicBezTo>
                    <a:cubicBezTo>
                      <a:pt x="432" y="146"/>
                      <a:pt x="437" y="136"/>
                      <a:pt x="443" y="127"/>
                    </a:cubicBezTo>
                    <a:cubicBezTo>
                      <a:pt x="491" y="165"/>
                      <a:pt x="517" y="302"/>
                      <a:pt x="444" y="398"/>
                    </a:cubicBezTo>
                    <a:cubicBezTo>
                      <a:pt x="366" y="501"/>
                      <a:pt x="209" y="519"/>
                      <a:pt x="113" y="438"/>
                    </a:cubicBezTo>
                    <a:cubicBezTo>
                      <a:pt x="0" y="343"/>
                      <a:pt x="9" y="187"/>
                      <a:pt x="88" y="101"/>
                    </a:cubicBezTo>
                    <a:cubicBezTo>
                      <a:pt x="181" y="0"/>
                      <a:pt x="336" y="17"/>
                      <a:pt x="391" y="73"/>
                    </a:cubicBezTo>
                    <a:close/>
                  </a:path>
                </a:pathLst>
              </a:custGeom>
              <a:grpFill/>
              <a:ln w="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3" name="Freeform 6"/>
              <p:cNvSpPr/>
              <p:nvPr/>
            </p:nvSpPr>
            <p:spPr bwMode="auto">
              <a:xfrm>
                <a:off x="5618163" y="3103563"/>
                <a:ext cx="793750" cy="793750"/>
              </a:xfrm>
              <a:custGeom>
                <a:avLst/>
                <a:gdLst>
                  <a:gd name="T0" fmla="*/ 132 w 264"/>
                  <a:gd name="T1" fmla="*/ 265 h 265"/>
                  <a:gd name="T2" fmla="*/ 3 w 264"/>
                  <a:gd name="T3" fmla="*/ 128 h 265"/>
                  <a:gd name="T4" fmla="*/ 141 w 264"/>
                  <a:gd name="T5" fmla="*/ 5 h 265"/>
                  <a:gd name="T6" fmla="*/ 161 w 264"/>
                  <a:gd name="T7" fmla="*/ 8 h 265"/>
                  <a:gd name="T8" fmla="*/ 168 w 264"/>
                  <a:gd name="T9" fmla="*/ 27 h 265"/>
                  <a:gd name="T10" fmla="*/ 156 w 264"/>
                  <a:gd name="T11" fmla="*/ 50 h 265"/>
                  <a:gd name="T12" fmla="*/ 135 w 264"/>
                  <a:gd name="T13" fmla="*/ 63 h 265"/>
                  <a:gd name="T14" fmla="*/ 60 w 264"/>
                  <a:gd name="T15" fmla="*/ 131 h 265"/>
                  <a:gd name="T16" fmla="*/ 124 w 264"/>
                  <a:gd name="T17" fmla="*/ 207 h 265"/>
                  <a:gd name="T18" fmla="*/ 205 w 264"/>
                  <a:gd name="T19" fmla="*/ 136 h 265"/>
                  <a:gd name="T20" fmla="*/ 224 w 264"/>
                  <a:gd name="T21" fmla="*/ 110 h 265"/>
                  <a:gd name="T22" fmla="*/ 226 w 264"/>
                  <a:gd name="T23" fmla="*/ 109 h 265"/>
                  <a:gd name="T24" fmla="*/ 254 w 264"/>
                  <a:gd name="T25" fmla="*/ 97 h 265"/>
                  <a:gd name="T26" fmla="*/ 263 w 264"/>
                  <a:gd name="T27" fmla="*/ 135 h 265"/>
                  <a:gd name="T28" fmla="*/ 132 w 264"/>
                  <a:gd name="T29" fmla="*/ 26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4" h="265">
                    <a:moveTo>
                      <a:pt x="132" y="265"/>
                    </a:moveTo>
                    <a:cubicBezTo>
                      <a:pt x="57" y="265"/>
                      <a:pt x="0" y="205"/>
                      <a:pt x="3" y="128"/>
                    </a:cubicBezTo>
                    <a:cubicBezTo>
                      <a:pt x="5" y="58"/>
                      <a:pt x="70" y="0"/>
                      <a:pt x="141" y="5"/>
                    </a:cubicBezTo>
                    <a:cubicBezTo>
                      <a:pt x="148" y="6"/>
                      <a:pt x="155" y="7"/>
                      <a:pt x="161" y="8"/>
                    </a:cubicBezTo>
                    <a:cubicBezTo>
                      <a:pt x="173" y="11"/>
                      <a:pt x="175" y="17"/>
                      <a:pt x="168" y="27"/>
                    </a:cubicBezTo>
                    <a:cubicBezTo>
                      <a:pt x="164" y="34"/>
                      <a:pt x="159" y="42"/>
                      <a:pt x="156" y="50"/>
                    </a:cubicBezTo>
                    <a:cubicBezTo>
                      <a:pt x="152" y="60"/>
                      <a:pt x="147" y="63"/>
                      <a:pt x="135" y="63"/>
                    </a:cubicBezTo>
                    <a:cubicBezTo>
                      <a:pt x="94" y="63"/>
                      <a:pt x="63" y="92"/>
                      <a:pt x="60" y="131"/>
                    </a:cubicBezTo>
                    <a:cubicBezTo>
                      <a:pt x="57" y="167"/>
                      <a:pt x="85" y="200"/>
                      <a:pt x="124" y="207"/>
                    </a:cubicBezTo>
                    <a:cubicBezTo>
                      <a:pt x="164" y="214"/>
                      <a:pt x="204" y="180"/>
                      <a:pt x="205" y="136"/>
                    </a:cubicBezTo>
                    <a:cubicBezTo>
                      <a:pt x="205" y="120"/>
                      <a:pt x="209" y="113"/>
                      <a:pt x="224" y="110"/>
                    </a:cubicBezTo>
                    <a:cubicBezTo>
                      <a:pt x="225" y="110"/>
                      <a:pt x="225" y="109"/>
                      <a:pt x="226" y="109"/>
                    </a:cubicBezTo>
                    <a:cubicBezTo>
                      <a:pt x="235" y="105"/>
                      <a:pt x="244" y="101"/>
                      <a:pt x="254" y="97"/>
                    </a:cubicBezTo>
                    <a:cubicBezTo>
                      <a:pt x="257" y="109"/>
                      <a:pt x="263" y="122"/>
                      <a:pt x="263" y="135"/>
                    </a:cubicBezTo>
                    <a:cubicBezTo>
                      <a:pt x="264" y="207"/>
                      <a:pt x="205" y="265"/>
                      <a:pt x="132" y="265"/>
                    </a:cubicBezTo>
                    <a:close/>
                  </a:path>
                </a:pathLst>
              </a:custGeom>
              <a:grpFill/>
              <a:ln w="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4" name="Freeform 7"/>
              <p:cNvSpPr/>
              <p:nvPr/>
            </p:nvSpPr>
            <p:spPr bwMode="auto">
              <a:xfrm>
                <a:off x="6018213" y="2657475"/>
                <a:ext cx="852488" cy="850900"/>
              </a:xfrm>
              <a:custGeom>
                <a:avLst/>
                <a:gdLst>
                  <a:gd name="T0" fmla="*/ 0 w 284"/>
                  <a:gd name="T1" fmla="*/ 280 h 284"/>
                  <a:gd name="T2" fmla="*/ 10 w 284"/>
                  <a:gd name="T3" fmla="*/ 266 h 284"/>
                  <a:gd name="T4" fmla="*/ 31 w 284"/>
                  <a:gd name="T5" fmla="*/ 214 h 284"/>
                  <a:gd name="T6" fmla="*/ 68 w 284"/>
                  <a:gd name="T7" fmla="*/ 156 h 284"/>
                  <a:gd name="T8" fmla="*/ 165 w 284"/>
                  <a:gd name="T9" fmla="*/ 97 h 284"/>
                  <a:gd name="T10" fmla="*/ 186 w 284"/>
                  <a:gd name="T11" fmla="*/ 62 h 284"/>
                  <a:gd name="T12" fmla="*/ 186 w 284"/>
                  <a:gd name="T13" fmla="*/ 41 h 284"/>
                  <a:gd name="T14" fmla="*/ 216 w 284"/>
                  <a:gd name="T15" fmla="*/ 2 h 284"/>
                  <a:gd name="T16" fmla="*/ 249 w 284"/>
                  <a:gd name="T17" fmla="*/ 34 h 284"/>
                  <a:gd name="T18" fmla="*/ 282 w 284"/>
                  <a:gd name="T19" fmla="*/ 68 h 284"/>
                  <a:gd name="T20" fmla="*/ 243 w 284"/>
                  <a:gd name="T21" fmla="*/ 97 h 284"/>
                  <a:gd name="T22" fmla="*/ 175 w 284"/>
                  <a:gd name="T23" fmla="*/ 142 h 284"/>
                  <a:gd name="T24" fmla="*/ 102 w 284"/>
                  <a:gd name="T25" fmla="*/ 240 h 284"/>
                  <a:gd name="T26" fmla="*/ 69 w 284"/>
                  <a:gd name="T27" fmla="*/ 253 h 284"/>
                  <a:gd name="T28" fmla="*/ 19 w 284"/>
                  <a:gd name="T29" fmla="*/ 273 h 284"/>
                  <a:gd name="T30" fmla="*/ 4 w 284"/>
                  <a:gd name="T31" fmla="*/ 284 h 284"/>
                  <a:gd name="T32" fmla="*/ 0 w 284"/>
                  <a:gd name="T33" fmla="*/ 28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4" h="284">
                    <a:moveTo>
                      <a:pt x="0" y="280"/>
                    </a:moveTo>
                    <a:cubicBezTo>
                      <a:pt x="4" y="275"/>
                      <a:pt x="6" y="270"/>
                      <a:pt x="10" y="266"/>
                    </a:cubicBezTo>
                    <a:cubicBezTo>
                      <a:pt x="23" y="251"/>
                      <a:pt x="31" y="236"/>
                      <a:pt x="31" y="214"/>
                    </a:cubicBezTo>
                    <a:cubicBezTo>
                      <a:pt x="31" y="189"/>
                      <a:pt x="48" y="169"/>
                      <a:pt x="68" y="156"/>
                    </a:cubicBezTo>
                    <a:cubicBezTo>
                      <a:pt x="100" y="134"/>
                      <a:pt x="132" y="115"/>
                      <a:pt x="165" y="97"/>
                    </a:cubicBezTo>
                    <a:cubicBezTo>
                      <a:pt x="180" y="89"/>
                      <a:pt x="188" y="79"/>
                      <a:pt x="186" y="62"/>
                    </a:cubicBezTo>
                    <a:cubicBezTo>
                      <a:pt x="185" y="55"/>
                      <a:pt x="185" y="48"/>
                      <a:pt x="186" y="41"/>
                    </a:cubicBezTo>
                    <a:cubicBezTo>
                      <a:pt x="187" y="17"/>
                      <a:pt x="198" y="4"/>
                      <a:pt x="216" y="2"/>
                    </a:cubicBezTo>
                    <a:cubicBezTo>
                      <a:pt x="234" y="0"/>
                      <a:pt x="243" y="9"/>
                      <a:pt x="249" y="34"/>
                    </a:cubicBezTo>
                    <a:cubicBezTo>
                      <a:pt x="274" y="40"/>
                      <a:pt x="284" y="50"/>
                      <a:pt x="282" y="68"/>
                    </a:cubicBezTo>
                    <a:cubicBezTo>
                      <a:pt x="280" y="86"/>
                      <a:pt x="266" y="100"/>
                      <a:pt x="243" y="97"/>
                    </a:cubicBezTo>
                    <a:cubicBezTo>
                      <a:pt x="205" y="92"/>
                      <a:pt x="189" y="111"/>
                      <a:pt x="175" y="142"/>
                    </a:cubicBezTo>
                    <a:cubicBezTo>
                      <a:pt x="159" y="181"/>
                      <a:pt x="137" y="215"/>
                      <a:pt x="102" y="240"/>
                    </a:cubicBezTo>
                    <a:cubicBezTo>
                      <a:pt x="92" y="246"/>
                      <a:pt x="80" y="253"/>
                      <a:pt x="69" y="253"/>
                    </a:cubicBezTo>
                    <a:cubicBezTo>
                      <a:pt x="49" y="252"/>
                      <a:pt x="33" y="259"/>
                      <a:pt x="19" y="273"/>
                    </a:cubicBezTo>
                    <a:cubicBezTo>
                      <a:pt x="15" y="277"/>
                      <a:pt x="9" y="280"/>
                      <a:pt x="4" y="284"/>
                    </a:cubicBezTo>
                    <a:cubicBezTo>
                      <a:pt x="3" y="283"/>
                      <a:pt x="1" y="281"/>
                      <a:pt x="0" y="280"/>
                    </a:cubicBezTo>
                    <a:close/>
                  </a:path>
                </a:pathLst>
              </a:custGeom>
              <a:grpFill/>
              <a:ln w="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5" name="Freeform 8"/>
              <p:cNvSpPr/>
              <p:nvPr/>
            </p:nvSpPr>
            <p:spPr bwMode="auto">
              <a:xfrm>
                <a:off x="5907088" y="3403600"/>
                <a:ext cx="222250" cy="219075"/>
              </a:xfrm>
              <a:custGeom>
                <a:avLst/>
                <a:gdLst>
                  <a:gd name="T0" fmla="*/ 39 w 74"/>
                  <a:gd name="T1" fmla="*/ 3 h 73"/>
                  <a:gd name="T2" fmla="*/ 30 w 74"/>
                  <a:gd name="T3" fmla="*/ 43 h 73"/>
                  <a:gd name="T4" fmla="*/ 69 w 74"/>
                  <a:gd name="T5" fmla="*/ 35 h 73"/>
                  <a:gd name="T6" fmla="*/ 58 w 74"/>
                  <a:gd name="T7" fmla="*/ 62 h 73"/>
                  <a:gd name="T8" fmla="*/ 15 w 74"/>
                  <a:gd name="T9" fmla="*/ 63 h 73"/>
                  <a:gd name="T10" fmla="*/ 6 w 74"/>
                  <a:gd name="T11" fmla="*/ 21 h 73"/>
                  <a:gd name="T12" fmla="*/ 39 w 74"/>
                  <a:gd name="T13" fmla="*/ 3 h 73"/>
                </a:gdLst>
                <a:ahLst/>
                <a:cxnLst>
                  <a:cxn ang="0">
                    <a:pos x="T0" y="T1"/>
                  </a:cxn>
                  <a:cxn ang="0">
                    <a:pos x="T2" y="T3"/>
                  </a:cxn>
                  <a:cxn ang="0">
                    <a:pos x="T4" y="T5"/>
                  </a:cxn>
                  <a:cxn ang="0">
                    <a:pos x="T6" y="T7"/>
                  </a:cxn>
                  <a:cxn ang="0">
                    <a:pos x="T8" y="T9"/>
                  </a:cxn>
                  <a:cxn ang="0">
                    <a:pos x="T10" y="T11"/>
                  </a:cxn>
                  <a:cxn ang="0">
                    <a:pos x="T12" y="T13"/>
                  </a:cxn>
                </a:cxnLst>
                <a:rect l="0" t="0" r="r" b="b"/>
                <a:pathLst>
                  <a:path w="74" h="73">
                    <a:moveTo>
                      <a:pt x="39" y="3"/>
                    </a:moveTo>
                    <a:cubicBezTo>
                      <a:pt x="40" y="19"/>
                      <a:pt x="14" y="29"/>
                      <a:pt x="30" y="43"/>
                    </a:cubicBezTo>
                    <a:cubicBezTo>
                      <a:pt x="37" y="48"/>
                      <a:pt x="54" y="38"/>
                      <a:pt x="69" y="35"/>
                    </a:cubicBezTo>
                    <a:cubicBezTo>
                      <a:pt x="74" y="46"/>
                      <a:pt x="68" y="56"/>
                      <a:pt x="58" y="62"/>
                    </a:cubicBezTo>
                    <a:cubicBezTo>
                      <a:pt x="44" y="72"/>
                      <a:pt x="29" y="73"/>
                      <a:pt x="15" y="63"/>
                    </a:cubicBezTo>
                    <a:cubicBezTo>
                      <a:pt x="1" y="52"/>
                      <a:pt x="0" y="36"/>
                      <a:pt x="6" y="21"/>
                    </a:cubicBezTo>
                    <a:cubicBezTo>
                      <a:pt x="11" y="7"/>
                      <a:pt x="22" y="0"/>
                      <a:pt x="39" y="3"/>
                    </a:cubicBezTo>
                    <a:close/>
                  </a:path>
                </a:pathLst>
              </a:custGeom>
              <a:grpFill/>
              <a:ln w="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grpSp>
      <p:sp>
        <p:nvSpPr>
          <p:cNvPr id="17" name="文本框 16"/>
          <p:cNvSpPr txBox="1"/>
          <p:nvPr/>
        </p:nvSpPr>
        <p:spPr>
          <a:xfrm>
            <a:off x="2133664" y="4193480"/>
            <a:ext cx="6406845" cy="188057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latin typeface="+mn-lt"/>
              </a:rPr>
              <a:t>基本思想：</a:t>
            </a:r>
            <a:endParaRPr lang="en-US" altLang="zh-CN" dirty="0">
              <a:latin typeface="+mn-lt"/>
            </a:endParaRPr>
          </a:p>
          <a:p>
            <a:pPr>
              <a:lnSpc>
                <a:spcPts val="3600"/>
              </a:lnSpc>
            </a:pPr>
            <a:r>
              <a:rPr lang="en-US" altLang="zh-CN" dirty="0">
                <a:latin typeface="+mn-lt"/>
              </a:rPr>
              <a:t>        Raptor</a:t>
            </a:r>
            <a:r>
              <a:rPr lang="zh-CN" altLang="en-US" dirty="0">
                <a:latin typeface="+mn-lt"/>
              </a:rPr>
              <a:t>码提出</a:t>
            </a:r>
            <a:r>
              <a:rPr lang="zh-CN" altLang="en-US" dirty="0">
                <a:solidFill>
                  <a:srgbClr val="FF0000"/>
                </a:solidFill>
                <a:latin typeface="+mn-lt"/>
              </a:rPr>
              <a:t>采用两步编码</a:t>
            </a:r>
            <a:r>
              <a:rPr lang="zh-CN" altLang="en-US" dirty="0">
                <a:latin typeface="+mn-lt"/>
              </a:rPr>
              <a:t>的方式。首先对原始信息用一个分组码进行预编码，然后采用一个</a:t>
            </a:r>
            <a:r>
              <a:rPr lang="zh-CN" altLang="en-US" dirty="0">
                <a:solidFill>
                  <a:srgbClr val="FF0000"/>
                </a:solidFill>
                <a:latin typeface="+mn-lt"/>
              </a:rPr>
              <a:t>弱化的</a:t>
            </a:r>
            <a:r>
              <a:rPr lang="en-US" altLang="zh-CN" dirty="0">
                <a:solidFill>
                  <a:srgbClr val="FF0000"/>
                </a:solidFill>
                <a:latin typeface="+mn-lt"/>
              </a:rPr>
              <a:t>LT</a:t>
            </a:r>
            <a:r>
              <a:rPr lang="zh-CN" altLang="en-US" dirty="0">
                <a:solidFill>
                  <a:srgbClr val="FF0000"/>
                </a:solidFill>
                <a:latin typeface="+mn-lt"/>
              </a:rPr>
              <a:t>码</a:t>
            </a:r>
            <a:r>
              <a:rPr lang="zh-CN" altLang="en-US" dirty="0">
                <a:latin typeface="+mn-lt"/>
              </a:rPr>
              <a:t>对数据进行编码并发送。</a:t>
            </a:r>
            <a:endParaRPr lang="en-US" altLang="zh-CN" dirty="0">
              <a:latin typeface="+mn-lt"/>
            </a:endParaRPr>
          </a:p>
        </p:txBody>
      </p:sp>
      <p:grpSp>
        <p:nvGrpSpPr>
          <p:cNvPr id="4" name="组合 3"/>
          <p:cNvGrpSpPr/>
          <p:nvPr/>
        </p:nvGrpSpPr>
        <p:grpSpPr>
          <a:xfrm>
            <a:off x="457308" y="4338302"/>
            <a:ext cx="1337554" cy="1703742"/>
            <a:chOff x="567516" y="4038433"/>
            <a:chExt cx="1649952" cy="2101666"/>
          </a:xfrm>
        </p:grpSpPr>
        <p:sp>
          <p:nvSpPr>
            <p:cNvPr id="18" name="Freeform 5"/>
            <p:cNvSpPr/>
            <p:nvPr/>
          </p:nvSpPr>
          <p:spPr bwMode="auto">
            <a:xfrm>
              <a:off x="567516" y="4038433"/>
              <a:ext cx="1649952" cy="2101666"/>
            </a:xfrm>
            <a:custGeom>
              <a:avLst/>
              <a:gdLst>
                <a:gd name="T0" fmla="*/ 178 w 367"/>
                <a:gd name="T1" fmla="*/ 0 h 468"/>
                <a:gd name="T2" fmla="*/ 185 w 367"/>
                <a:gd name="T3" fmla="*/ 6 h 468"/>
                <a:gd name="T4" fmla="*/ 312 w 367"/>
                <a:gd name="T5" fmla="*/ 147 h 468"/>
                <a:gd name="T6" fmla="*/ 354 w 367"/>
                <a:gd name="T7" fmla="*/ 297 h 468"/>
                <a:gd name="T8" fmla="*/ 101 w 367"/>
                <a:gd name="T9" fmla="*/ 411 h 468"/>
                <a:gd name="T10" fmla="*/ 221 w 367"/>
                <a:gd name="T11" fmla="*/ 365 h 468"/>
                <a:gd name="T12" fmla="*/ 228 w 367"/>
                <a:gd name="T13" fmla="*/ 175 h 468"/>
                <a:gd name="T14" fmla="*/ 189 w 367"/>
                <a:gd name="T15" fmla="*/ 133 h 468"/>
                <a:gd name="T16" fmla="*/ 171 w 367"/>
                <a:gd name="T17" fmla="*/ 131 h 468"/>
                <a:gd name="T18" fmla="*/ 108 w 367"/>
                <a:gd name="T19" fmla="*/ 211 h 468"/>
                <a:gd name="T20" fmla="*/ 172 w 367"/>
                <a:gd name="T21" fmla="*/ 332 h 468"/>
                <a:gd name="T22" fmla="*/ 189 w 367"/>
                <a:gd name="T23" fmla="*/ 334 h 468"/>
                <a:gd name="T24" fmla="*/ 86 w 367"/>
                <a:gd name="T25" fmla="*/ 382 h 468"/>
                <a:gd name="T26" fmla="*/ 10 w 367"/>
                <a:gd name="T27" fmla="*/ 298 h 468"/>
                <a:gd name="T28" fmla="*/ 36 w 367"/>
                <a:gd name="T29" fmla="*/ 170 h 468"/>
                <a:gd name="T30" fmla="*/ 173 w 367"/>
                <a:gd name="T31" fmla="*/ 2 h 468"/>
                <a:gd name="T32" fmla="*/ 178 w 367"/>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7" h="468">
                  <a:moveTo>
                    <a:pt x="178" y="0"/>
                  </a:moveTo>
                  <a:cubicBezTo>
                    <a:pt x="180" y="2"/>
                    <a:pt x="183" y="3"/>
                    <a:pt x="185" y="6"/>
                  </a:cubicBezTo>
                  <a:cubicBezTo>
                    <a:pt x="228" y="52"/>
                    <a:pt x="272" y="98"/>
                    <a:pt x="312" y="147"/>
                  </a:cubicBezTo>
                  <a:cubicBezTo>
                    <a:pt x="348" y="190"/>
                    <a:pt x="367" y="239"/>
                    <a:pt x="354" y="297"/>
                  </a:cubicBezTo>
                  <a:cubicBezTo>
                    <a:pt x="330" y="408"/>
                    <a:pt x="199" y="468"/>
                    <a:pt x="101" y="411"/>
                  </a:cubicBezTo>
                  <a:cubicBezTo>
                    <a:pt x="148" y="410"/>
                    <a:pt x="187" y="396"/>
                    <a:pt x="221" y="365"/>
                  </a:cubicBezTo>
                  <a:cubicBezTo>
                    <a:pt x="281" y="310"/>
                    <a:pt x="284" y="234"/>
                    <a:pt x="228" y="175"/>
                  </a:cubicBezTo>
                  <a:cubicBezTo>
                    <a:pt x="215" y="161"/>
                    <a:pt x="203" y="146"/>
                    <a:pt x="189" y="133"/>
                  </a:cubicBezTo>
                  <a:cubicBezTo>
                    <a:pt x="185" y="129"/>
                    <a:pt x="173" y="129"/>
                    <a:pt x="171" y="131"/>
                  </a:cubicBezTo>
                  <a:cubicBezTo>
                    <a:pt x="149" y="157"/>
                    <a:pt x="125" y="182"/>
                    <a:pt x="108" y="211"/>
                  </a:cubicBezTo>
                  <a:cubicBezTo>
                    <a:pt x="76" y="267"/>
                    <a:pt x="107" y="324"/>
                    <a:pt x="172" y="332"/>
                  </a:cubicBezTo>
                  <a:cubicBezTo>
                    <a:pt x="177" y="333"/>
                    <a:pt x="183" y="334"/>
                    <a:pt x="189" y="334"/>
                  </a:cubicBezTo>
                  <a:cubicBezTo>
                    <a:pt x="176" y="368"/>
                    <a:pt x="127" y="391"/>
                    <a:pt x="86" y="382"/>
                  </a:cubicBezTo>
                  <a:cubicBezTo>
                    <a:pt x="41" y="372"/>
                    <a:pt x="20" y="339"/>
                    <a:pt x="10" y="298"/>
                  </a:cubicBezTo>
                  <a:cubicBezTo>
                    <a:pt x="0" y="252"/>
                    <a:pt x="9" y="207"/>
                    <a:pt x="36" y="170"/>
                  </a:cubicBezTo>
                  <a:cubicBezTo>
                    <a:pt x="79" y="112"/>
                    <a:pt x="127" y="57"/>
                    <a:pt x="173" y="2"/>
                  </a:cubicBezTo>
                  <a:cubicBezTo>
                    <a:pt x="174" y="1"/>
                    <a:pt x="176" y="1"/>
                    <a:pt x="178" y="0"/>
                  </a:cubicBezTo>
                  <a:close/>
                </a:path>
              </a:pathLst>
            </a:custGeom>
            <a:solidFill>
              <a:srgbClr val="F6B9EB"/>
            </a:solidFill>
            <a:ln w="38100">
              <a:solidFill>
                <a:srgbClr val="F6B9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9" name="Freeform 157"/>
            <p:cNvSpPr>
              <a:spLocks noChangeAspect="1" noEditPoints="1"/>
            </p:cNvSpPr>
            <p:nvPr/>
          </p:nvSpPr>
          <p:spPr bwMode="auto">
            <a:xfrm>
              <a:off x="1279020" y="5019690"/>
              <a:ext cx="226942" cy="250383"/>
            </a:xfrm>
            <a:custGeom>
              <a:avLst/>
              <a:gdLst>
                <a:gd name="T0" fmla="*/ 25 w 99"/>
                <a:gd name="T1" fmla="*/ 58 h 109"/>
                <a:gd name="T2" fmla="*/ 15 w 99"/>
                <a:gd name="T3" fmla="*/ 61 h 109"/>
                <a:gd name="T4" fmla="*/ 51 w 99"/>
                <a:gd name="T5" fmla="*/ 55 h 109"/>
                <a:gd name="T6" fmla="*/ 63 w 99"/>
                <a:gd name="T7" fmla="*/ 46 h 109"/>
                <a:gd name="T8" fmla="*/ 56 w 99"/>
                <a:gd name="T9" fmla="*/ 59 h 109"/>
                <a:gd name="T10" fmla="*/ 51 w 99"/>
                <a:gd name="T11" fmla="*/ 67 h 109"/>
                <a:gd name="T12" fmla="*/ 46 w 99"/>
                <a:gd name="T13" fmla="*/ 57 h 109"/>
                <a:gd name="T14" fmla="*/ 38 w 99"/>
                <a:gd name="T15" fmla="*/ 37 h 109"/>
                <a:gd name="T16" fmla="*/ 51 w 99"/>
                <a:gd name="T17" fmla="*/ 55 h 109"/>
                <a:gd name="T18" fmla="*/ 42 w 99"/>
                <a:gd name="T19" fmla="*/ 33 h 109"/>
                <a:gd name="T20" fmla="*/ 42 w 99"/>
                <a:gd name="T21" fmla="*/ 0 h 109"/>
                <a:gd name="T22" fmla="*/ 15 w 99"/>
                <a:gd name="T23" fmla="*/ 25 h 109"/>
                <a:gd name="T24" fmla="*/ 15 w 99"/>
                <a:gd name="T25" fmla="*/ 94 h 109"/>
                <a:gd name="T26" fmla="*/ 84 w 99"/>
                <a:gd name="T27" fmla="*/ 94 h 109"/>
                <a:gd name="T28" fmla="*/ 97 w 99"/>
                <a:gd name="T29" fmla="*/ 73 h 109"/>
                <a:gd name="T30" fmla="*/ 85 w 99"/>
                <a:gd name="T31" fmla="*/ 71 h 109"/>
                <a:gd name="T32" fmla="*/ 49 w 99"/>
                <a:gd name="T33" fmla="*/ 97 h 109"/>
                <a:gd name="T34" fmla="*/ 12 w 99"/>
                <a:gd name="T35" fmla="*/ 60 h 109"/>
                <a:gd name="T36" fmla="*/ 42 w 99"/>
                <a:gd name="T37" fmla="*/ 22 h 109"/>
                <a:gd name="T38" fmla="*/ 85 w 99"/>
                <a:gd name="T39" fmla="*/ 47 h 109"/>
                <a:gd name="T40" fmla="*/ 95 w 99"/>
                <a:gd name="T41" fmla="*/ 41 h 109"/>
                <a:gd name="T42" fmla="*/ 98 w 99"/>
                <a:gd name="T43" fmla="*/ 53 h 109"/>
                <a:gd name="T44" fmla="*/ 87 w 99"/>
                <a:gd name="T45" fmla="*/ 56 h 109"/>
                <a:gd name="T46" fmla="*/ 87 w 99"/>
                <a:gd name="T47" fmla="*/ 67 h 109"/>
                <a:gd name="T48" fmla="*/ 87 w 99"/>
                <a:gd name="T49" fmla="*/ 59 h 109"/>
                <a:gd name="T50" fmla="*/ 99 w 99"/>
                <a:gd name="T51" fmla="*/ 57 h 109"/>
                <a:gd name="T52" fmla="*/ 99 w 99"/>
                <a:gd name="T53" fmla="*/ 60 h 109"/>
                <a:gd name="T54" fmla="*/ 97 w 99"/>
                <a:gd name="T55" fmla="*/ 71 h 109"/>
                <a:gd name="T56" fmla="*/ 87 w 99"/>
                <a:gd name="T57" fmla="*/ 67 h 109"/>
                <a:gd name="T58" fmla="*/ 80 w 99"/>
                <a:gd name="T59" fmla="*/ 37 h 109"/>
                <a:gd name="T60" fmla="*/ 88 w 99"/>
                <a:gd name="T61" fmla="*/ 28 h 109"/>
                <a:gd name="T62" fmla="*/ 94 w 99"/>
                <a:gd name="T63" fmla="*/ 38 h 109"/>
                <a:gd name="T64" fmla="*/ 84 w 99"/>
                <a:gd name="T65" fmla="*/ 44 h 109"/>
                <a:gd name="T66" fmla="*/ 77 w 99"/>
                <a:gd name="T67" fmla="*/ 34 h 109"/>
                <a:gd name="T68" fmla="*/ 71 w 99"/>
                <a:gd name="T69" fmla="*/ 28 h 109"/>
                <a:gd name="T70" fmla="*/ 76 w 99"/>
                <a:gd name="T71" fmla="*/ 18 h 109"/>
                <a:gd name="T72" fmla="*/ 84 w 99"/>
                <a:gd name="T73" fmla="*/ 25 h 109"/>
                <a:gd name="T74" fmla="*/ 86 w 99"/>
                <a:gd name="T75" fmla="*/ 27 h 109"/>
                <a:gd name="T76" fmla="*/ 50 w 99"/>
                <a:gd name="T77" fmla="*/ 93 h 109"/>
                <a:gd name="T78" fmla="*/ 53 w 99"/>
                <a:gd name="T79" fmla="*/ 83 h 109"/>
                <a:gd name="T80" fmla="*/ 50 w 99"/>
                <a:gd name="T81" fmla="*/ 93 h 109"/>
                <a:gd name="T82" fmla="*/ 67 w 99"/>
                <a:gd name="T83" fmla="*/ 76 h 109"/>
                <a:gd name="T84" fmla="*/ 77 w 99"/>
                <a:gd name="T85" fmla="*/ 81 h 109"/>
                <a:gd name="T86" fmla="*/ 25 w 99"/>
                <a:gd name="T87" fmla="*/ 83 h 109"/>
                <a:gd name="T88" fmla="*/ 34 w 99"/>
                <a:gd name="T89" fmla="*/ 78 h 109"/>
                <a:gd name="T90" fmla="*/ 25 w 99"/>
                <a:gd name="T91" fmla="*/ 83 h 109"/>
                <a:gd name="T92" fmla="*/ 33 w 99"/>
                <a:gd name="T93" fmla="*/ 40 h 109"/>
                <a:gd name="T94" fmla="*/ 23 w 99"/>
                <a:gd name="T95" fmla="*/ 36 h 109"/>
                <a:gd name="T96" fmla="*/ 75 w 99"/>
                <a:gd name="T97" fmla="*/ 34 h 109"/>
                <a:gd name="T98" fmla="*/ 66 w 99"/>
                <a:gd name="T99" fmla="*/ 39 h 109"/>
                <a:gd name="T100" fmla="*/ 75 w 99"/>
                <a:gd name="T101" fmla="*/ 34 h 109"/>
                <a:gd name="T102" fmla="*/ 75 w 99"/>
                <a:gd name="T103" fmla="*/ 59 h 109"/>
                <a:gd name="T104" fmla="*/ 85 w 99"/>
                <a:gd name="T105" fmla="*/ 5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9" h="109">
                  <a:moveTo>
                    <a:pt x="15" y="58"/>
                  </a:moveTo>
                  <a:cubicBezTo>
                    <a:pt x="25" y="58"/>
                    <a:pt x="25" y="58"/>
                    <a:pt x="25" y="58"/>
                  </a:cubicBezTo>
                  <a:cubicBezTo>
                    <a:pt x="25" y="61"/>
                    <a:pt x="25" y="61"/>
                    <a:pt x="25" y="61"/>
                  </a:cubicBezTo>
                  <a:cubicBezTo>
                    <a:pt x="15" y="61"/>
                    <a:pt x="15" y="61"/>
                    <a:pt x="15" y="61"/>
                  </a:cubicBezTo>
                  <a:cubicBezTo>
                    <a:pt x="15" y="58"/>
                    <a:pt x="15" y="58"/>
                    <a:pt x="15" y="58"/>
                  </a:cubicBezTo>
                  <a:close/>
                  <a:moveTo>
                    <a:pt x="51" y="55"/>
                  </a:moveTo>
                  <a:cubicBezTo>
                    <a:pt x="52" y="55"/>
                    <a:pt x="52" y="55"/>
                    <a:pt x="53" y="55"/>
                  </a:cubicBezTo>
                  <a:cubicBezTo>
                    <a:pt x="56" y="52"/>
                    <a:pt x="60" y="48"/>
                    <a:pt x="63" y="46"/>
                  </a:cubicBezTo>
                  <a:cubicBezTo>
                    <a:pt x="64" y="46"/>
                    <a:pt x="65" y="47"/>
                    <a:pt x="66" y="48"/>
                  </a:cubicBezTo>
                  <a:cubicBezTo>
                    <a:pt x="63" y="53"/>
                    <a:pt x="60" y="56"/>
                    <a:pt x="56" y="59"/>
                  </a:cubicBezTo>
                  <a:cubicBezTo>
                    <a:pt x="57" y="60"/>
                    <a:pt x="57" y="60"/>
                    <a:pt x="57" y="61"/>
                  </a:cubicBezTo>
                  <a:cubicBezTo>
                    <a:pt x="57" y="64"/>
                    <a:pt x="54" y="67"/>
                    <a:pt x="51" y="67"/>
                  </a:cubicBezTo>
                  <a:cubicBezTo>
                    <a:pt x="47" y="67"/>
                    <a:pt x="45" y="64"/>
                    <a:pt x="45" y="61"/>
                  </a:cubicBezTo>
                  <a:cubicBezTo>
                    <a:pt x="45" y="59"/>
                    <a:pt x="45" y="58"/>
                    <a:pt x="46" y="57"/>
                  </a:cubicBezTo>
                  <a:cubicBezTo>
                    <a:pt x="41" y="51"/>
                    <a:pt x="38" y="45"/>
                    <a:pt x="35" y="38"/>
                  </a:cubicBezTo>
                  <a:cubicBezTo>
                    <a:pt x="36" y="38"/>
                    <a:pt x="37" y="37"/>
                    <a:pt x="38" y="37"/>
                  </a:cubicBezTo>
                  <a:cubicBezTo>
                    <a:pt x="42" y="42"/>
                    <a:pt x="46" y="49"/>
                    <a:pt x="49" y="55"/>
                  </a:cubicBezTo>
                  <a:cubicBezTo>
                    <a:pt x="49" y="55"/>
                    <a:pt x="50" y="55"/>
                    <a:pt x="51" y="55"/>
                  </a:cubicBezTo>
                  <a:close/>
                  <a:moveTo>
                    <a:pt x="42" y="22"/>
                  </a:moveTo>
                  <a:cubicBezTo>
                    <a:pt x="42" y="33"/>
                    <a:pt x="42" y="33"/>
                    <a:pt x="42" y="33"/>
                  </a:cubicBezTo>
                  <a:cubicBezTo>
                    <a:pt x="70" y="17"/>
                    <a:pt x="70" y="17"/>
                    <a:pt x="70" y="17"/>
                  </a:cubicBezTo>
                  <a:cubicBezTo>
                    <a:pt x="42" y="0"/>
                    <a:pt x="42" y="0"/>
                    <a:pt x="42" y="0"/>
                  </a:cubicBezTo>
                  <a:cubicBezTo>
                    <a:pt x="42" y="11"/>
                    <a:pt x="42" y="11"/>
                    <a:pt x="42" y="11"/>
                  </a:cubicBezTo>
                  <a:cubicBezTo>
                    <a:pt x="32" y="12"/>
                    <a:pt x="22" y="17"/>
                    <a:pt x="15" y="25"/>
                  </a:cubicBezTo>
                  <a:cubicBezTo>
                    <a:pt x="5" y="34"/>
                    <a:pt x="0" y="46"/>
                    <a:pt x="0" y="60"/>
                  </a:cubicBezTo>
                  <a:cubicBezTo>
                    <a:pt x="0" y="73"/>
                    <a:pt x="5" y="85"/>
                    <a:pt x="15" y="94"/>
                  </a:cubicBezTo>
                  <a:cubicBezTo>
                    <a:pt x="24" y="104"/>
                    <a:pt x="36" y="109"/>
                    <a:pt x="49" y="109"/>
                  </a:cubicBezTo>
                  <a:cubicBezTo>
                    <a:pt x="63" y="109"/>
                    <a:pt x="75" y="104"/>
                    <a:pt x="84" y="94"/>
                  </a:cubicBezTo>
                  <a:cubicBezTo>
                    <a:pt x="90" y="89"/>
                    <a:pt x="94" y="82"/>
                    <a:pt x="96" y="75"/>
                  </a:cubicBezTo>
                  <a:cubicBezTo>
                    <a:pt x="97" y="73"/>
                    <a:pt x="97" y="73"/>
                    <a:pt x="97" y="73"/>
                  </a:cubicBezTo>
                  <a:cubicBezTo>
                    <a:pt x="86" y="70"/>
                    <a:pt x="86" y="70"/>
                    <a:pt x="86" y="70"/>
                  </a:cubicBezTo>
                  <a:cubicBezTo>
                    <a:pt x="85" y="71"/>
                    <a:pt x="85" y="71"/>
                    <a:pt x="85" y="71"/>
                  </a:cubicBezTo>
                  <a:cubicBezTo>
                    <a:pt x="84" y="77"/>
                    <a:pt x="80" y="82"/>
                    <a:pt x="76" y="86"/>
                  </a:cubicBezTo>
                  <a:cubicBezTo>
                    <a:pt x="69" y="93"/>
                    <a:pt x="60" y="97"/>
                    <a:pt x="49" y="97"/>
                  </a:cubicBezTo>
                  <a:cubicBezTo>
                    <a:pt x="39" y="97"/>
                    <a:pt x="30" y="93"/>
                    <a:pt x="23" y="86"/>
                  </a:cubicBezTo>
                  <a:cubicBezTo>
                    <a:pt x="16" y="79"/>
                    <a:pt x="12" y="70"/>
                    <a:pt x="12" y="60"/>
                  </a:cubicBezTo>
                  <a:cubicBezTo>
                    <a:pt x="12" y="50"/>
                    <a:pt x="16" y="40"/>
                    <a:pt x="23" y="33"/>
                  </a:cubicBezTo>
                  <a:cubicBezTo>
                    <a:pt x="28" y="28"/>
                    <a:pt x="35" y="24"/>
                    <a:pt x="42" y="22"/>
                  </a:cubicBezTo>
                  <a:close/>
                  <a:moveTo>
                    <a:pt x="87" y="54"/>
                  </a:moveTo>
                  <a:cubicBezTo>
                    <a:pt x="87" y="52"/>
                    <a:pt x="86" y="49"/>
                    <a:pt x="85" y="47"/>
                  </a:cubicBezTo>
                  <a:cubicBezTo>
                    <a:pt x="84" y="45"/>
                    <a:pt x="84" y="45"/>
                    <a:pt x="84" y="45"/>
                  </a:cubicBezTo>
                  <a:cubicBezTo>
                    <a:pt x="95" y="41"/>
                    <a:pt x="95" y="41"/>
                    <a:pt x="95" y="41"/>
                  </a:cubicBezTo>
                  <a:cubicBezTo>
                    <a:pt x="96" y="43"/>
                    <a:pt x="96" y="43"/>
                    <a:pt x="96" y="43"/>
                  </a:cubicBezTo>
                  <a:cubicBezTo>
                    <a:pt x="97" y="46"/>
                    <a:pt x="98" y="50"/>
                    <a:pt x="98" y="53"/>
                  </a:cubicBezTo>
                  <a:cubicBezTo>
                    <a:pt x="99" y="55"/>
                    <a:pt x="99" y="55"/>
                    <a:pt x="99" y="55"/>
                  </a:cubicBezTo>
                  <a:cubicBezTo>
                    <a:pt x="87" y="56"/>
                    <a:pt x="87" y="56"/>
                    <a:pt x="87" y="56"/>
                  </a:cubicBezTo>
                  <a:cubicBezTo>
                    <a:pt x="87" y="54"/>
                    <a:pt x="87" y="54"/>
                    <a:pt x="87" y="54"/>
                  </a:cubicBezTo>
                  <a:close/>
                  <a:moveTo>
                    <a:pt x="87" y="67"/>
                  </a:moveTo>
                  <a:cubicBezTo>
                    <a:pt x="87" y="64"/>
                    <a:pt x="87" y="62"/>
                    <a:pt x="87" y="60"/>
                  </a:cubicBezTo>
                  <a:cubicBezTo>
                    <a:pt x="87" y="59"/>
                    <a:pt x="87" y="59"/>
                    <a:pt x="87" y="59"/>
                  </a:cubicBezTo>
                  <a:cubicBezTo>
                    <a:pt x="87" y="57"/>
                    <a:pt x="87" y="57"/>
                    <a:pt x="87" y="57"/>
                  </a:cubicBezTo>
                  <a:cubicBezTo>
                    <a:pt x="99" y="57"/>
                    <a:pt x="99" y="57"/>
                    <a:pt x="99" y="57"/>
                  </a:cubicBezTo>
                  <a:cubicBezTo>
                    <a:pt x="99" y="59"/>
                    <a:pt x="99" y="59"/>
                    <a:pt x="99" y="59"/>
                  </a:cubicBezTo>
                  <a:cubicBezTo>
                    <a:pt x="99" y="59"/>
                    <a:pt x="99" y="59"/>
                    <a:pt x="99" y="60"/>
                  </a:cubicBezTo>
                  <a:cubicBezTo>
                    <a:pt x="99" y="63"/>
                    <a:pt x="99" y="66"/>
                    <a:pt x="98" y="69"/>
                  </a:cubicBezTo>
                  <a:cubicBezTo>
                    <a:pt x="97" y="71"/>
                    <a:pt x="97" y="71"/>
                    <a:pt x="97" y="71"/>
                  </a:cubicBezTo>
                  <a:cubicBezTo>
                    <a:pt x="86" y="68"/>
                    <a:pt x="86" y="68"/>
                    <a:pt x="86" y="68"/>
                  </a:cubicBezTo>
                  <a:cubicBezTo>
                    <a:pt x="87" y="67"/>
                    <a:pt x="87" y="67"/>
                    <a:pt x="87" y="67"/>
                  </a:cubicBezTo>
                  <a:close/>
                  <a:moveTo>
                    <a:pt x="83" y="42"/>
                  </a:moveTo>
                  <a:cubicBezTo>
                    <a:pt x="82" y="40"/>
                    <a:pt x="81" y="38"/>
                    <a:pt x="80" y="37"/>
                  </a:cubicBezTo>
                  <a:cubicBezTo>
                    <a:pt x="78" y="35"/>
                    <a:pt x="78" y="35"/>
                    <a:pt x="78" y="35"/>
                  </a:cubicBezTo>
                  <a:cubicBezTo>
                    <a:pt x="88" y="28"/>
                    <a:pt x="88" y="28"/>
                    <a:pt x="88" y="28"/>
                  </a:cubicBezTo>
                  <a:cubicBezTo>
                    <a:pt x="89" y="30"/>
                    <a:pt x="89" y="30"/>
                    <a:pt x="89" y="30"/>
                  </a:cubicBezTo>
                  <a:cubicBezTo>
                    <a:pt x="91" y="32"/>
                    <a:pt x="92" y="35"/>
                    <a:pt x="94" y="38"/>
                  </a:cubicBezTo>
                  <a:cubicBezTo>
                    <a:pt x="95" y="40"/>
                    <a:pt x="95" y="40"/>
                    <a:pt x="95" y="40"/>
                  </a:cubicBezTo>
                  <a:cubicBezTo>
                    <a:pt x="84" y="44"/>
                    <a:pt x="84" y="44"/>
                    <a:pt x="84" y="44"/>
                  </a:cubicBezTo>
                  <a:cubicBezTo>
                    <a:pt x="83" y="42"/>
                    <a:pt x="83" y="42"/>
                    <a:pt x="83" y="42"/>
                  </a:cubicBezTo>
                  <a:close/>
                  <a:moveTo>
                    <a:pt x="77" y="34"/>
                  </a:moveTo>
                  <a:cubicBezTo>
                    <a:pt x="76" y="33"/>
                    <a:pt x="76" y="33"/>
                    <a:pt x="76" y="33"/>
                  </a:cubicBezTo>
                  <a:cubicBezTo>
                    <a:pt x="75" y="31"/>
                    <a:pt x="73" y="30"/>
                    <a:pt x="71" y="28"/>
                  </a:cubicBezTo>
                  <a:cubicBezTo>
                    <a:pt x="69" y="27"/>
                    <a:pt x="69" y="27"/>
                    <a:pt x="69" y="27"/>
                  </a:cubicBezTo>
                  <a:cubicBezTo>
                    <a:pt x="76" y="18"/>
                    <a:pt x="76" y="18"/>
                    <a:pt x="76" y="18"/>
                  </a:cubicBezTo>
                  <a:cubicBezTo>
                    <a:pt x="78" y="19"/>
                    <a:pt x="78" y="19"/>
                    <a:pt x="78" y="19"/>
                  </a:cubicBezTo>
                  <a:cubicBezTo>
                    <a:pt x="80" y="21"/>
                    <a:pt x="82" y="23"/>
                    <a:pt x="84" y="25"/>
                  </a:cubicBezTo>
                  <a:cubicBezTo>
                    <a:pt x="85" y="25"/>
                    <a:pt x="85" y="25"/>
                    <a:pt x="85" y="25"/>
                  </a:cubicBezTo>
                  <a:cubicBezTo>
                    <a:pt x="86" y="27"/>
                    <a:pt x="86" y="27"/>
                    <a:pt x="86" y="27"/>
                  </a:cubicBezTo>
                  <a:cubicBezTo>
                    <a:pt x="77" y="34"/>
                    <a:pt x="77" y="34"/>
                    <a:pt x="77" y="34"/>
                  </a:cubicBezTo>
                  <a:close/>
                  <a:moveTo>
                    <a:pt x="50" y="93"/>
                  </a:moveTo>
                  <a:cubicBezTo>
                    <a:pt x="50" y="83"/>
                    <a:pt x="50" y="83"/>
                    <a:pt x="50" y="83"/>
                  </a:cubicBezTo>
                  <a:cubicBezTo>
                    <a:pt x="53" y="83"/>
                    <a:pt x="53" y="83"/>
                    <a:pt x="53" y="83"/>
                  </a:cubicBezTo>
                  <a:cubicBezTo>
                    <a:pt x="53" y="93"/>
                    <a:pt x="53" y="93"/>
                    <a:pt x="53" y="93"/>
                  </a:cubicBezTo>
                  <a:cubicBezTo>
                    <a:pt x="50" y="93"/>
                    <a:pt x="50" y="93"/>
                    <a:pt x="50" y="93"/>
                  </a:cubicBezTo>
                  <a:close/>
                  <a:moveTo>
                    <a:pt x="74" y="83"/>
                  </a:moveTo>
                  <a:cubicBezTo>
                    <a:pt x="67" y="76"/>
                    <a:pt x="67" y="76"/>
                    <a:pt x="67" y="76"/>
                  </a:cubicBezTo>
                  <a:cubicBezTo>
                    <a:pt x="70" y="74"/>
                    <a:pt x="70" y="74"/>
                    <a:pt x="70" y="74"/>
                  </a:cubicBezTo>
                  <a:cubicBezTo>
                    <a:pt x="77" y="81"/>
                    <a:pt x="77" y="81"/>
                    <a:pt x="77" y="81"/>
                  </a:cubicBezTo>
                  <a:cubicBezTo>
                    <a:pt x="74" y="83"/>
                    <a:pt x="74" y="83"/>
                    <a:pt x="74" y="83"/>
                  </a:cubicBezTo>
                  <a:close/>
                  <a:moveTo>
                    <a:pt x="25" y="83"/>
                  </a:moveTo>
                  <a:cubicBezTo>
                    <a:pt x="32" y="76"/>
                    <a:pt x="32" y="76"/>
                    <a:pt x="32" y="76"/>
                  </a:cubicBezTo>
                  <a:cubicBezTo>
                    <a:pt x="34" y="78"/>
                    <a:pt x="34" y="78"/>
                    <a:pt x="34" y="78"/>
                  </a:cubicBezTo>
                  <a:cubicBezTo>
                    <a:pt x="27" y="85"/>
                    <a:pt x="27" y="85"/>
                    <a:pt x="27" y="85"/>
                  </a:cubicBezTo>
                  <a:cubicBezTo>
                    <a:pt x="25" y="83"/>
                    <a:pt x="25" y="83"/>
                    <a:pt x="25" y="83"/>
                  </a:cubicBezTo>
                  <a:close/>
                  <a:moveTo>
                    <a:pt x="26" y="33"/>
                  </a:moveTo>
                  <a:cubicBezTo>
                    <a:pt x="33" y="40"/>
                    <a:pt x="33" y="40"/>
                    <a:pt x="33" y="40"/>
                  </a:cubicBezTo>
                  <a:cubicBezTo>
                    <a:pt x="30" y="43"/>
                    <a:pt x="30" y="43"/>
                    <a:pt x="30" y="43"/>
                  </a:cubicBezTo>
                  <a:cubicBezTo>
                    <a:pt x="23" y="36"/>
                    <a:pt x="23" y="36"/>
                    <a:pt x="23" y="36"/>
                  </a:cubicBezTo>
                  <a:cubicBezTo>
                    <a:pt x="26" y="33"/>
                    <a:pt x="26" y="33"/>
                    <a:pt x="26" y="33"/>
                  </a:cubicBezTo>
                  <a:close/>
                  <a:moveTo>
                    <a:pt x="75" y="34"/>
                  </a:moveTo>
                  <a:cubicBezTo>
                    <a:pt x="73" y="32"/>
                    <a:pt x="73" y="32"/>
                    <a:pt x="73" y="32"/>
                  </a:cubicBezTo>
                  <a:cubicBezTo>
                    <a:pt x="66" y="39"/>
                    <a:pt x="66" y="39"/>
                    <a:pt x="66" y="39"/>
                  </a:cubicBezTo>
                  <a:cubicBezTo>
                    <a:pt x="68" y="41"/>
                    <a:pt x="68" y="41"/>
                    <a:pt x="68" y="41"/>
                  </a:cubicBezTo>
                  <a:cubicBezTo>
                    <a:pt x="75" y="34"/>
                    <a:pt x="75" y="34"/>
                    <a:pt x="75" y="34"/>
                  </a:cubicBezTo>
                  <a:close/>
                  <a:moveTo>
                    <a:pt x="85" y="59"/>
                  </a:moveTo>
                  <a:cubicBezTo>
                    <a:pt x="75" y="59"/>
                    <a:pt x="75" y="59"/>
                    <a:pt x="75" y="59"/>
                  </a:cubicBezTo>
                  <a:cubicBezTo>
                    <a:pt x="75" y="56"/>
                    <a:pt x="75" y="56"/>
                    <a:pt x="75" y="56"/>
                  </a:cubicBezTo>
                  <a:cubicBezTo>
                    <a:pt x="85" y="56"/>
                    <a:pt x="85" y="56"/>
                    <a:pt x="85" y="56"/>
                  </a:cubicBezTo>
                  <a:lnTo>
                    <a:pt x="85" y="59"/>
                  </a:lnTo>
                  <a:close/>
                </a:path>
              </a:pathLst>
            </a:custGeom>
            <a:solidFill>
              <a:srgbClr val="9ECD9F"/>
            </a:solidFill>
            <a:ln w="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课堂思政</a:t>
            </a:r>
            <a:endParaRPr lang="zh-CN" altLang="en-US" sz="2400" dirty="0">
              <a:sym typeface="+mn-ea"/>
            </a:endParaRPr>
          </a:p>
        </p:txBody>
      </p:sp>
      <p:sp>
        <p:nvSpPr>
          <p:cNvPr id="20" name="文本框 19"/>
          <p:cNvSpPr txBox="1"/>
          <p:nvPr/>
        </p:nvSpPr>
        <p:spPr>
          <a:xfrm>
            <a:off x="609704" y="2049178"/>
            <a:ext cx="4327742" cy="326557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dirty="0">
                <a:latin typeface="+mn-lt"/>
              </a:rPr>
              <a:t>         Raptor</a:t>
            </a:r>
            <a:r>
              <a:rPr lang="zh-CN" altLang="en-US" dirty="0">
                <a:latin typeface="+mn-lt"/>
              </a:rPr>
              <a:t>码是在</a:t>
            </a:r>
            <a:r>
              <a:rPr lang="en-US" altLang="zh-CN" dirty="0">
                <a:latin typeface="+mn-lt"/>
              </a:rPr>
              <a:t>LT</a:t>
            </a:r>
            <a:r>
              <a:rPr lang="zh-CN" altLang="en-US" dirty="0">
                <a:latin typeface="+mn-lt"/>
              </a:rPr>
              <a:t>码的基础上发展出来的改进版，</a:t>
            </a:r>
            <a:r>
              <a:rPr lang="en-US" altLang="zh-CN" dirty="0">
                <a:latin typeface="+mn-lt"/>
              </a:rPr>
              <a:t>Raptor</a:t>
            </a:r>
            <a:r>
              <a:rPr lang="zh-CN" altLang="en-US" dirty="0">
                <a:latin typeface="+mn-lt"/>
              </a:rPr>
              <a:t>码的出现告诉我们有问题不可怕，改正就是了。正如党的十八大以来习总书记反复强调的“直面问题、解决问题”的思想，并且敢于直面问题、勇于修正错误使我们党的显著特点和优势。</a:t>
            </a:r>
            <a:endParaRPr lang="en-US" altLang="zh-CN" dirty="0">
              <a:latin typeface="+mn-lt"/>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38772" y="1069463"/>
            <a:ext cx="3047920" cy="52250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Raptor</a:t>
            </a:r>
            <a:r>
              <a:rPr lang="zh-CN" altLang="en-US" sz="2400" dirty="0">
                <a:sym typeface="+mn-ea"/>
              </a:rPr>
              <a:t>码的编码</a:t>
            </a:r>
            <a:endParaRPr lang="zh-CN" altLang="en-US" sz="2400" dirty="0">
              <a:sym typeface="+mn-ea"/>
            </a:endParaRPr>
          </a:p>
        </p:txBody>
      </p:sp>
      <p:sp>
        <p:nvSpPr>
          <p:cNvPr id="6" name="文本框 5"/>
          <p:cNvSpPr txBox="1"/>
          <p:nvPr/>
        </p:nvSpPr>
        <p:spPr>
          <a:xfrm>
            <a:off x="464207" y="990664"/>
            <a:ext cx="8304747" cy="188057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latin typeface="+mn-lt"/>
              </a:rPr>
              <a:t>         如下图所示，通过</a:t>
            </a:r>
            <a:r>
              <a:rPr lang="zh-CN" altLang="en-US" dirty="0">
                <a:solidFill>
                  <a:srgbClr val="FF0000"/>
                </a:solidFill>
                <a:latin typeface="+mn-lt"/>
              </a:rPr>
              <a:t>预编码</a:t>
            </a:r>
            <a:r>
              <a:rPr lang="zh-CN" altLang="en-US" dirty="0">
                <a:latin typeface="+mn-lt"/>
              </a:rPr>
              <a:t>过程，首先采用某种传统的编码方法</a:t>
            </a:r>
            <a:r>
              <a:rPr lang="en-US" altLang="zh-CN" dirty="0">
                <a:latin typeface="+mn-lt"/>
              </a:rPr>
              <a:t>(</a:t>
            </a:r>
            <a:r>
              <a:rPr lang="zh-CN" altLang="en-US" dirty="0">
                <a:latin typeface="+mn-lt"/>
              </a:rPr>
              <a:t>图中采用龙卷风码编码方法，如同</a:t>
            </a:r>
            <a:r>
              <a:rPr lang="en-US" altLang="zh-CN" dirty="0">
                <a:latin typeface="+mn-lt"/>
              </a:rPr>
              <a:t>Raptor</a:t>
            </a:r>
            <a:r>
              <a:rPr lang="zh-CN" altLang="en-US" dirty="0">
                <a:latin typeface="+mn-lt"/>
              </a:rPr>
              <a:t>码的命名</a:t>
            </a:r>
            <a:r>
              <a:rPr lang="en-US" altLang="zh-CN" dirty="0">
                <a:latin typeface="+mn-lt"/>
              </a:rPr>
              <a:t>Rapid-Tornado</a:t>
            </a:r>
            <a:r>
              <a:rPr lang="zh-CN" altLang="en-US" dirty="0">
                <a:latin typeface="+mn-lt"/>
              </a:rPr>
              <a:t>所暗示，这里</a:t>
            </a:r>
            <a:r>
              <a:rPr lang="zh-CN" altLang="en-US" dirty="0">
                <a:solidFill>
                  <a:srgbClr val="FF0000"/>
                </a:solidFill>
                <a:latin typeface="+mn-lt"/>
              </a:rPr>
              <a:t>一般采用的就是龙卷风码</a:t>
            </a:r>
            <a:r>
              <a:rPr lang="en-US" altLang="zh-CN" dirty="0">
                <a:latin typeface="+mn-lt"/>
              </a:rPr>
              <a:t>)</a:t>
            </a:r>
            <a:r>
              <a:rPr lang="zh-CN" altLang="en-US" dirty="0">
                <a:latin typeface="+mn-lt"/>
              </a:rPr>
              <a:t>，将原始数据编码成为中间编码校验单元。然后将这些中间编码校验单元作为</a:t>
            </a:r>
            <a:r>
              <a:rPr lang="en-US" altLang="zh-CN" dirty="0">
                <a:latin typeface="+mn-lt"/>
              </a:rPr>
              <a:t>LT</a:t>
            </a:r>
            <a:r>
              <a:rPr lang="zh-CN" altLang="en-US" dirty="0">
                <a:latin typeface="+mn-lt"/>
              </a:rPr>
              <a:t>码的输入符号，进行编码。</a:t>
            </a:r>
            <a:endParaRPr lang="en-US" altLang="zh-CN" dirty="0">
              <a:latin typeface="+mn-lt"/>
            </a:endParaRPr>
          </a:p>
        </p:txBody>
      </p:sp>
      <p:grpSp>
        <p:nvGrpSpPr>
          <p:cNvPr id="3" name="组合 2"/>
          <p:cNvGrpSpPr/>
          <p:nvPr/>
        </p:nvGrpSpPr>
        <p:grpSpPr>
          <a:xfrm>
            <a:off x="1657984" y="3267690"/>
            <a:ext cx="5917194" cy="3437142"/>
            <a:chOff x="1657984" y="3267690"/>
            <a:chExt cx="5917194" cy="3437142"/>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57984" y="3267690"/>
              <a:ext cx="5917194" cy="3040695"/>
            </a:xfrm>
            <a:prstGeom prst="rect">
              <a:avLst/>
            </a:prstGeom>
          </p:spPr>
        </p:pic>
        <p:sp>
          <p:nvSpPr>
            <p:cNvPr id="5" name="文本框 4"/>
            <p:cNvSpPr txBox="1"/>
            <p:nvPr/>
          </p:nvSpPr>
          <p:spPr>
            <a:xfrm>
              <a:off x="3581426" y="6214954"/>
              <a:ext cx="2666930"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sym typeface="+mn-ea"/>
                </a:rPr>
                <a:t>Raptor</a:t>
              </a:r>
              <a:r>
                <a:rPr lang="zh-CN" altLang="en-US" sz="1800" dirty="0">
                  <a:sym typeface="+mn-ea"/>
                </a:rPr>
                <a:t>码编码解码过程</a:t>
              </a:r>
              <a:endParaRPr lang="zh-CN" altLang="en-US" sz="1800" dirty="0">
                <a:sym typeface="+mn-ea"/>
              </a:endParaRPr>
            </a:p>
          </p:txBody>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Raptor</a:t>
            </a:r>
            <a:r>
              <a:rPr lang="zh-CN" altLang="en-US" sz="2400" dirty="0">
                <a:sym typeface="+mn-ea"/>
              </a:rPr>
              <a:t>码的解码</a:t>
            </a:r>
            <a:endParaRPr lang="zh-CN" altLang="en-US" sz="2400" dirty="0">
              <a:sym typeface="+mn-ea"/>
            </a:endParaRPr>
          </a:p>
        </p:txBody>
      </p:sp>
      <p:sp>
        <p:nvSpPr>
          <p:cNvPr id="6" name="文本框 5"/>
          <p:cNvSpPr txBox="1"/>
          <p:nvPr/>
        </p:nvSpPr>
        <p:spPr>
          <a:xfrm>
            <a:off x="372254" y="1295437"/>
            <a:ext cx="8399492" cy="141891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latin typeface="+mn-lt"/>
              </a:rPr>
              <a:t>        与编码过程相对应地，解码时只需要利用</a:t>
            </a:r>
            <a:r>
              <a:rPr lang="en-US" altLang="zh-CN" dirty="0">
                <a:latin typeface="+mn-lt"/>
              </a:rPr>
              <a:t>LT</a:t>
            </a:r>
            <a:r>
              <a:rPr lang="zh-CN" altLang="en-US" dirty="0">
                <a:latin typeface="+mn-lt"/>
              </a:rPr>
              <a:t>码解码技术恢复所有的中间编码校验单元，再根据中间编码的获得方式，使用传统编码的解码方式得到源数据包。</a:t>
            </a:r>
            <a:endParaRPr lang="en-US" altLang="zh-CN" dirty="0">
              <a:latin typeface="+mn-lt"/>
            </a:endParaRPr>
          </a:p>
        </p:txBody>
      </p:sp>
      <p:grpSp>
        <p:nvGrpSpPr>
          <p:cNvPr id="3" name="组合 2"/>
          <p:cNvGrpSpPr/>
          <p:nvPr/>
        </p:nvGrpSpPr>
        <p:grpSpPr>
          <a:xfrm>
            <a:off x="1828872" y="3048010"/>
            <a:ext cx="5917194" cy="3437142"/>
            <a:chOff x="1657984" y="3267690"/>
            <a:chExt cx="5917194" cy="3437142"/>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57984" y="3267690"/>
              <a:ext cx="5917194" cy="3040695"/>
            </a:xfrm>
            <a:prstGeom prst="rect">
              <a:avLst/>
            </a:prstGeom>
          </p:spPr>
        </p:pic>
        <p:sp>
          <p:nvSpPr>
            <p:cNvPr id="5" name="文本框 4"/>
            <p:cNvSpPr txBox="1"/>
            <p:nvPr/>
          </p:nvSpPr>
          <p:spPr>
            <a:xfrm>
              <a:off x="3581426" y="6214954"/>
              <a:ext cx="2666930"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sym typeface="+mn-ea"/>
                </a:rPr>
                <a:t>Raptor</a:t>
              </a:r>
              <a:r>
                <a:rPr lang="zh-CN" altLang="en-US" sz="1800" dirty="0">
                  <a:sym typeface="+mn-ea"/>
                </a:rPr>
                <a:t>码编码解码过程</a:t>
              </a:r>
              <a:endParaRPr lang="zh-CN" altLang="en-US" sz="1800" dirty="0">
                <a:sym typeface="+mn-ea"/>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Raptor</a:t>
            </a:r>
            <a:r>
              <a:rPr lang="zh-CN" altLang="en-US" sz="2400" dirty="0">
                <a:sym typeface="+mn-ea"/>
              </a:rPr>
              <a:t>码的特点</a:t>
            </a:r>
            <a:endParaRPr lang="zh-CN" altLang="en-US" sz="2400" dirty="0">
              <a:sym typeface="+mn-ea"/>
            </a:endParaRPr>
          </a:p>
        </p:txBody>
      </p:sp>
      <p:grpSp>
        <p:nvGrpSpPr>
          <p:cNvPr id="5" name="组合 4"/>
          <p:cNvGrpSpPr/>
          <p:nvPr/>
        </p:nvGrpSpPr>
        <p:grpSpPr>
          <a:xfrm>
            <a:off x="3031633" y="1447852"/>
            <a:ext cx="2876359" cy="5144992"/>
            <a:chOff x="4687714" y="1713008"/>
            <a:chExt cx="2876359" cy="5144992"/>
          </a:xfrm>
        </p:grpSpPr>
        <p:sp>
          <p:nvSpPr>
            <p:cNvPr id="7" name="任意多边形 7"/>
            <p:cNvSpPr/>
            <p:nvPr/>
          </p:nvSpPr>
          <p:spPr>
            <a:xfrm>
              <a:off x="5150882" y="1713008"/>
              <a:ext cx="2045082" cy="5144992"/>
            </a:xfrm>
            <a:custGeom>
              <a:avLst/>
              <a:gdLst>
                <a:gd name="connsiteX0" fmla="*/ 982449 w 1382890"/>
                <a:gd name="connsiteY0" fmla="*/ 3543487 h 3594532"/>
                <a:gd name="connsiteX1" fmla="*/ 572874 w 1382890"/>
                <a:gd name="connsiteY1" fmla="*/ 3553012 h 3594532"/>
                <a:gd name="connsiteX2" fmla="*/ 372849 w 1382890"/>
                <a:gd name="connsiteY2" fmla="*/ 3038662 h 3594532"/>
                <a:gd name="connsiteX3" fmla="*/ 725274 w 1382890"/>
                <a:gd name="connsiteY3" fmla="*/ 2343337 h 3594532"/>
                <a:gd name="connsiteX4" fmla="*/ 515724 w 1382890"/>
                <a:gd name="connsiteY4" fmla="*/ 1838512 h 3594532"/>
                <a:gd name="connsiteX5" fmla="*/ 1374 w 1382890"/>
                <a:gd name="connsiteY5" fmla="*/ 1809937 h 3594532"/>
                <a:gd name="connsiteX6" fmla="*/ 372849 w 1382890"/>
                <a:gd name="connsiteY6" fmla="*/ 1705162 h 3594532"/>
                <a:gd name="connsiteX7" fmla="*/ 620499 w 1382890"/>
                <a:gd name="connsiteY7" fmla="*/ 1838512 h 3594532"/>
                <a:gd name="connsiteX8" fmla="*/ 668124 w 1382890"/>
                <a:gd name="connsiteY8" fmla="*/ 1609912 h 3594532"/>
                <a:gd name="connsiteX9" fmla="*/ 801474 w 1382890"/>
                <a:gd name="connsiteY9" fmla="*/ 1295587 h 3594532"/>
                <a:gd name="connsiteX10" fmla="*/ 744324 w 1382890"/>
                <a:gd name="connsiteY10" fmla="*/ 771712 h 3594532"/>
                <a:gd name="connsiteX11" fmla="*/ 515724 w 1382890"/>
                <a:gd name="connsiteY11" fmla="*/ 628837 h 3594532"/>
                <a:gd name="connsiteX12" fmla="*/ 668124 w 1382890"/>
                <a:gd name="connsiteY12" fmla="*/ 628837 h 3594532"/>
                <a:gd name="connsiteX13" fmla="*/ 744324 w 1382890"/>
                <a:gd name="connsiteY13" fmla="*/ 714562 h 3594532"/>
                <a:gd name="connsiteX14" fmla="*/ 849099 w 1382890"/>
                <a:gd name="connsiteY14" fmla="*/ 187 h 3594532"/>
                <a:gd name="connsiteX15" fmla="*/ 810999 w 1382890"/>
                <a:gd name="connsiteY15" fmla="*/ 647887 h 3594532"/>
                <a:gd name="connsiteX16" fmla="*/ 887199 w 1382890"/>
                <a:gd name="connsiteY16" fmla="*/ 1038412 h 3594532"/>
                <a:gd name="connsiteX17" fmla="*/ 915774 w 1382890"/>
                <a:gd name="connsiteY17" fmla="*/ 1286062 h 3594532"/>
                <a:gd name="connsiteX18" fmla="*/ 1087224 w 1382890"/>
                <a:gd name="connsiteY18" fmla="*/ 1152712 h 3594532"/>
                <a:gd name="connsiteX19" fmla="*/ 1315824 w 1382890"/>
                <a:gd name="connsiteY19" fmla="*/ 1133662 h 3594532"/>
                <a:gd name="connsiteX20" fmla="*/ 1068174 w 1382890"/>
                <a:gd name="connsiteY20" fmla="*/ 1190812 h 3594532"/>
                <a:gd name="connsiteX21" fmla="*/ 858624 w 1382890"/>
                <a:gd name="connsiteY21" fmla="*/ 1495612 h 3594532"/>
                <a:gd name="connsiteX22" fmla="*/ 801474 w 1382890"/>
                <a:gd name="connsiteY22" fmla="*/ 1857562 h 3594532"/>
                <a:gd name="connsiteX23" fmla="*/ 953874 w 1382890"/>
                <a:gd name="connsiteY23" fmla="*/ 2314762 h 3594532"/>
                <a:gd name="connsiteX24" fmla="*/ 877674 w 1382890"/>
                <a:gd name="connsiteY24" fmla="*/ 2552887 h 3594532"/>
                <a:gd name="connsiteX25" fmla="*/ 1191999 w 1382890"/>
                <a:gd name="connsiteY25" fmla="*/ 2495737 h 3594532"/>
                <a:gd name="connsiteX26" fmla="*/ 1382499 w 1382890"/>
                <a:gd name="connsiteY26" fmla="*/ 2590987 h 3594532"/>
                <a:gd name="connsiteX27" fmla="*/ 1144374 w 1382890"/>
                <a:gd name="connsiteY27" fmla="*/ 2533837 h 3594532"/>
                <a:gd name="connsiteX28" fmla="*/ 810999 w 1382890"/>
                <a:gd name="connsiteY28" fmla="*/ 2695762 h 3594532"/>
                <a:gd name="connsiteX29" fmla="*/ 668124 w 1382890"/>
                <a:gd name="connsiteY29" fmla="*/ 3048187 h 3594532"/>
                <a:gd name="connsiteX30" fmla="*/ 896724 w 1382890"/>
                <a:gd name="connsiteY30" fmla="*/ 3381562 h 3594532"/>
                <a:gd name="connsiteX31" fmla="*/ 982449 w 1382890"/>
                <a:gd name="connsiteY31" fmla="*/ 3543487 h 3594532"/>
                <a:gd name="connsiteX0-1" fmla="*/ 982886 w 1383327"/>
                <a:gd name="connsiteY0-2" fmla="*/ 3543487 h 3594532"/>
                <a:gd name="connsiteX1-3" fmla="*/ 573311 w 1383327"/>
                <a:gd name="connsiteY1-4" fmla="*/ 3553012 h 3594532"/>
                <a:gd name="connsiteX2-5" fmla="*/ 373286 w 1383327"/>
                <a:gd name="connsiteY2-6" fmla="*/ 3038662 h 3594532"/>
                <a:gd name="connsiteX3-7" fmla="*/ 725711 w 1383327"/>
                <a:gd name="connsiteY3-8" fmla="*/ 2343337 h 3594532"/>
                <a:gd name="connsiteX4-9" fmla="*/ 539021 w 1383327"/>
                <a:gd name="connsiteY4-10" fmla="*/ 1884232 h 3594532"/>
                <a:gd name="connsiteX5-11" fmla="*/ 1811 w 1383327"/>
                <a:gd name="connsiteY5-12" fmla="*/ 1809937 h 3594532"/>
                <a:gd name="connsiteX6-13" fmla="*/ 373286 w 1383327"/>
                <a:gd name="connsiteY6-14" fmla="*/ 1705162 h 3594532"/>
                <a:gd name="connsiteX7-15" fmla="*/ 620936 w 1383327"/>
                <a:gd name="connsiteY7-16" fmla="*/ 1838512 h 3594532"/>
                <a:gd name="connsiteX8-17" fmla="*/ 668561 w 1383327"/>
                <a:gd name="connsiteY8-18" fmla="*/ 1609912 h 3594532"/>
                <a:gd name="connsiteX9-19" fmla="*/ 801911 w 1383327"/>
                <a:gd name="connsiteY9-20" fmla="*/ 1295587 h 3594532"/>
                <a:gd name="connsiteX10-21" fmla="*/ 744761 w 1383327"/>
                <a:gd name="connsiteY10-22" fmla="*/ 771712 h 3594532"/>
                <a:gd name="connsiteX11-23" fmla="*/ 516161 w 1383327"/>
                <a:gd name="connsiteY11-24" fmla="*/ 628837 h 3594532"/>
                <a:gd name="connsiteX12-25" fmla="*/ 668561 w 1383327"/>
                <a:gd name="connsiteY12-26" fmla="*/ 628837 h 3594532"/>
                <a:gd name="connsiteX13-27" fmla="*/ 744761 w 1383327"/>
                <a:gd name="connsiteY13-28" fmla="*/ 714562 h 3594532"/>
                <a:gd name="connsiteX14-29" fmla="*/ 849536 w 1383327"/>
                <a:gd name="connsiteY14-30" fmla="*/ 187 h 3594532"/>
                <a:gd name="connsiteX15-31" fmla="*/ 811436 w 1383327"/>
                <a:gd name="connsiteY15-32" fmla="*/ 647887 h 3594532"/>
                <a:gd name="connsiteX16-33" fmla="*/ 887636 w 1383327"/>
                <a:gd name="connsiteY16-34" fmla="*/ 1038412 h 3594532"/>
                <a:gd name="connsiteX17-35" fmla="*/ 916211 w 1383327"/>
                <a:gd name="connsiteY17-36" fmla="*/ 1286062 h 3594532"/>
                <a:gd name="connsiteX18-37" fmla="*/ 1087661 w 1383327"/>
                <a:gd name="connsiteY18-38" fmla="*/ 1152712 h 3594532"/>
                <a:gd name="connsiteX19-39" fmla="*/ 1316261 w 1383327"/>
                <a:gd name="connsiteY19-40" fmla="*/ 1133662 h 3594532"/>
                <a:gd name="connsiteX20-41" fmla="*/ 1068611 w 1383327"/>
                <a:gd name="connsiteY20-42" fmla="*/ 1190812 h 3594532"/>
                <a:gd name="connsiteX21-43" fmla="*/ 859061 w 1383327"/>
                <a:gd name="connsiteY21-44" fmla="*/ 1495612 h 3594532"/>
                <a:gd name="connsiteX22-45" fmla="*/ 801911 w 1383327"/>
                <a:gd name="connsiteY22-46" fmla="*/ 1857562 h 3594532"/>
                <a:gd name="connsiteX23-47" fmla="*/ 954311 w 1383327"/>
                <a:gd name="connsiteY23-48" fmla="*/ 2314762 h 3594532"/>
                <a:gd name="connsiteX24-49" fmla="*/ 878111 w 1383327"/>
                <a:gd name="connsiteY24-50" fmla="*/ 2552887 h 3594532"/>
                <a:gd name="connsiteX25-51" fmla="*/ 1192436 w 1383327"/>
                <a:gd name="connsiteY25-52" fmla="*/ 2495737 h 3594532"/>
                <a:gd name="connsiteX26-53" fmla="*/ 1382936 w 1383327"/>
                <a:gd name="connsiteY26-54" fmla="*/ 2590987 h 3594532"/>
                <a:gd name="connsiteX27-55" fmla="*/ 1144811 w 1383327"/>
                <a:gd name="connsiteY27-56" fmla="*/ 2533837 h 3594532"/>
                <a:gd name="connsiteX28-57" fmla="*/ 811436 w 1383327"/>
                <a:gd name="connsiteY28-58" fmla="*/ 2695762 h 3594532"/>
                <a:gd name="connsiteX29-59" fmla="*/ 668561 w 1383327"/>
                <a:gd name="connsiteY29-60" fmla="*/ 3048187 h 3594532"/>
                <a:gd name="connsiteX30-61" fmla="*/ 897161 w 1383327"/>
                <a:gd name="connsiteY30-62" fmla="*/ 3381562 h 3594532"/>
                <a:gd name="connsiteX31-63" fmla="*/ 982886 w 1383327"/>
                <a:gd name="connsiteY31-64" fmla="*/ 3543487 h 3594532"/>
                <a:gd name="connsiteX0-65" fmla="*/ 982886 w 1383327"/>
                <a:gd name="connsiteY0-66" fmla="*/ 3543487 h 3594532"/>
                <a:gd name="connsiteX1-67" fmla="*/ 573311 w 1383327"/>
                <a:gd name="connsiteY1-68" fmla="*/ 3553012 h 3594532"/>
                <a:gd name="connsiteX2-69" fmla="*/ 373286 w 1383327"/>
                <a:gd name="connsiteY2-70" fmla="*/ 3038662 h 3594532"/>
                <a:gd name="connsiteX3-71" fmla="*/ 725711 w 1383327"/>
                <a:gd name="connsiteY3-72" fmla="*/ 2343337 h 3594532"/>
                <a:gd name="connsiteX4-73" fmla="*/ 539021 w 1383327"/>
                <a:gd name="connsiteY4-74" fmla="*/ 1884232 h 3594532"/>
                <a:gd name="connsiteX5-75" fmla="*/ 1811 w 1383327"/>
                <a:gd name="connsiteY5-76" fmla="*/ 1809937 h 3594532"/>
                <a:gd name="connsiteX6-77" fmla="*/ 373286 w 1383327"/>
                <a:gd name="connsiteY6-78" fmla="*/ 1705162 h 3594532"/>
                <a:gd name="connsiteX7-79" fmla="*/ 620936 w 1383327"/>
                <a:gd name="connsiteY7-80" fmla="*/ 1838512 h 3594532"/>
                <a:gd name="connsiteX8-81" fmla="*/ 668561 w 1383327"/>
                <a:gd name="connsiteY8-82" fmla="*/ 1609912 h 3594532"/>
                <a:gd name="connsiteX9-83" fmla="*/ 801911 w 1383327"/>
                <a:gd name="connsiteY9-84" fmla="*/ 1295587 h 3594532"/>
                <a:gd name="connsiteX10-85" fmla="*/ 744761 w 1383327"/>
                <a:gd name="connsiteY10-86" fmla="*/ 771712 h 3594532"/>
                <a:gd name="connsiteX11-87" fmla="*/ 516161 w 1383327"/>
                <a:gd name="connsiteY11-88" fmla="*/ 628837 h 3594532"/>
                <a:gd name="connsiteX12-89" fmla="*/ 668561 w 1383327"/>
                <a:gd name="connsiteY12-90" fmla="*/ 628837 h 3594532"/>
                <a:gd name="connsiteX13-91" fmla="*/ 744761 w 1383327"/>
                <a:gd name="connsiteY13-92" fmla="*/ 714562 h 3594532"/>
                <a:gd name="connsiteX14-93" fmla="*/ 849536 w 1383327"/>
                <a:gd name="connsiteY14-94" fmla="*/ 187 h 3594532"/>
                <a:gd name="connsiteX15-95" fmla="*/ 811436 w 1383327"/>
                <a:gd name="connsiteY15-96" fmla="*/ 647887 h 3594532"/>
                <a:gd name="connsiteX16-97" fmla="*/ 887636 w 1383327"/>
                <a:gd name="connsiteY16-98" fmla="*/ 1038412 h 3594532"/>
                <a:gd name="connsiteX17-99" fmla="*/ 916211 w 1383327"/>
                <a:gd name="connsiteY17-100" fmla="*/ 1286062 h 3594532"/>
                <a:gd name="connsiteX18-101" fmla="*/ 1087661 w 1383327"/>
                <a:gd name="connsiteY18-102" fmla="*/ 1152712 h 3594532"/>
                <a:gd name="connsiteX19-103" fmla="*/ 1316261 w 1383327"/>
                <a:gd name="connsiteY19-104" fmla="*/ 1133662 h 3594532"/>
                <a:gd name="connsiteX20-105" fmla="*/ 1068611 w 1383327"/>
                <a:gd name="connsiteY20-106" fmla="*/ 1190812 h 3594532"/>
                <a:gd name="connsiteX21-107" fmla="*/ 859061 w 1383327"/>
                <a:gd name="connsiteY21-108" fmla="*/ 1495612 h 3594532"/>
                <a:gd name="connsiteX22-109" fmla="*/ 801911 w 1383327"/>
                <a:gd name="connsiteY22-110" fmla="*/ 1857562 h 3594532"/>
                <a:gd name="connsiteX23-111" fmla="*/ 954311 w 1383327"/>
                <a:gd name="connsiteY23-112" fmla="*/ 2314762 h 3594532"/>
                <a:gd name="connsiteX24-113" fmla="*/ 878111 w 1383327"/>
                <a:gd name="connsiteY24-114" fmla="*/ 2552887 h 3594532"/>
                <a:gd name="connsiteX25-115" fmla="*/ 1192436 w 1383327"/>
                <a:gd name="connsiteY25-116" fmla="*/ 2495737 h 3594532"/>
                <a:gd name="connsiteX26-117" fmla="*/ 1382936 w 1383327"/>
                <a:gd name="connsiteY26-118" fmla="*/ 2590987 h 3594532"/>
                <a:gd name="connsiteX27-119" fmla="*/ 1144811 w 1383327"/>
                <a:gd name="connsiteY27-120" fmla="*/ 2533837 h 3594532"/>
                <a:gd name="connsiteX28-121" fmla="*/ 811436 w 1383327"/>
                <a:gd name="connsiteY28-122" fmla="*/ 2695762 h 3594532"/>
                <a:gd name="connsiteX29-123" fmla="*/ 668561 w 1383327"/>
                <a:gd name="connsiteY29-124" fmla="*/ 3048187 h 3594532"/>
                <a:gd name="connsiteX30-125" fmla="*/ 897161 w 1383327"/>
                <a:gd name="connsiteY30-126" fmla="*/ 3381562 h 3594532"/>
                <a:gd name="connsiteX31-127" fmla="*/ 982886 w 1383327"/>
                <a:gd name="connsiteY31-128" fmla="*/ 3543487 h 3594532"/>
                <a:gd name="connsiteX0-129" fmla="*/ 1005643 w 1406084"/>
                <a:gd name="connsiteY0-130" fmla="*/ 3543487 h 3594532"/>
                <a:gd name="connsiteX1-131" fmla="*/ 596068 w 1406084"/>
                <a:gd name="connsiteY1-132" fmla="*/ 3553012 h 3594532"/>
                <a:gd name="connsiteX2-133" fmla="*/ 396043 w 1406084"/>
                <a:gd name="connsiteY2-134" fmla="*/ 3038662 h 3594532"/>
                <a:gd name="connsiteX3-135" fmla="*/ 748468 w 1406084"/>
                <a:gd name="connsiteY3-136" fmla="*/ 2343337 h 3594532"/>
                <a:gd name="connsiteX4-137" fmla="*/ 561778 w 1406084"/>
                <a:gd name="connsiteY4-138" fmla="*/ 1884232 h 3594532"/>
                <a:gd name="connsiteX5-139" fmla="*/ 1708 w 1406084"/>
                <a:gd name="connsiteY5-140" fmla="*/ 1832797 h 3594532"/>
                <a:gd name="connsiteX6-141" fmla="*/ 396043 w 1406084"/>
                <a:gd name="connsiteY6-142" fmla="*/ 1705162 h 3594532"/>
                <a:gd name="connsiteX7-143" fmla="*/ 643693 w 1406084"/>
                <a:gd name="connsiteY7-144" fmla="*/ 1838512 h 3594532"/>
                <a:gd name="connsiteX8-145" fmla="*/ 691318 w 1406084"/>
                <a:gd name="connsiteY8-146" fmla="*/ 1609912 h 3594532"/>
                <a:gd name="connsiteX9-147" fmla="*/ 824668 w 1406084"/>
                <a:gd name="connsiteY9-148" fmla="*/ 1295587 h 3594532"/>
                <a:gd name="connsiteX10-149" fmla="*/ 767518 w 1406084"/>
                <a:gd name="connsiteY10-150" fmla="*/ 771712 h 3594532"/>
                <a:gd name="connsiteX11-151" fmla="*/ 538918 w 1406084"/>
                <a:gd name="connsiteY11-152" fmla="*/ 628837 h 3594532"/>
                <a:gd name="connsiteX12-153" fmla="*/ 691318 w 1406084"/>
                <a:gd name="connsiteY12-154" fmla="*/ 628837 h 3594532"/>
                <a:gd name="connsiteX13-155" fmla="*/ 767518 w 1406084"/>
                <a:gd name="connsiteY13-156" fmla="*/ 714562 h 3594532"/>
                <a:gd name="connsiteX14-157" fmla="*/ 872293 w 1406084"/>
                <a:gd name="connsiteY14-158" fmla="*/ 187 h 3594532"/>
                <a:gd name="connsiteX15-159" fmla="*/ 834193 w 1406084"/>
                <a:gd name="connsiteY15-160" fmla="*/ 647887 h 3594532"/>
                <a:gd name="connsiteX16-161" fmla="*/ 910393 w 1406084"/>
                <a:gd name="connsiteY16-162" fmla="*/ 1038412 h 3594532"/>
                <a:gd name="connsiteX17-163" fmla="*/ 938968 w 1406084"/>
                <a:gd name="connsiteY17-164" fmla="*/ 1286062 h 3594532"/>
                <a:gd name="connsiteX18-165" fmla="*/ 1110418 w 1406084"/>
                <a:gd name="connsiteY18-166" fmla="*/ 1152712 h 3594532"/>
                <a:gd name="connsiteX19-167" fmla="*/ 1339018 w 1406084"/>
                <a:gd name="connsiteY19-168" fmla="*/ 1133662 h 3594532"/>
                <a:gd name="connsiteX20-169" fmla="*/ 1091368 w 1406084"/>
                <a:gd name="connsiteY20-170" fmla="*/ 1190812 h 3594532"/>
                <a:gd name="connsiteX21-171" fmla="*/ 881818 w 1406084"/>
                <a:gd name="connsiteY21-172" fmla="*/ 1495612 h 3594532"/>
                <a:gd name="connsiteX22-173" fmla="*/ 824668 w 1406084"/>
                <a:gd name="connsiteY22-174" fmla="*/ 1857562 h 3594532"/>
                <a:gd name="connsiteX23-175" fmla="*/ 977068 w 1406084"/>
                <a:gd name="connsiteY23-176" fmla="*/ 2314762 h 3594532"/>
                <a:gd name="connsiteX24-177" fmla="*/ 900868 w 1406084"/>
                <a:gd name="connsiteY24-178" fmla="*/ 2552887 h 3594532"/>
                <a:gd name="connsiteX25-179" fmla="*/ 1215193 w 1406084"/>
                <a:gd name="connsiteY25-180" fmla="*/ 2495737 h 3594532"/>
                <a:gd name="connsiteX26-181" fmla="*/ 1405693 w 1406084"/>
                <a:gd name="connsiteY26-182" fmla="*/ 2590987 h 3594532"/>
                <a:gd name="connsiteX27-183" fmla="*/ 1167568 w 1406084"/>
                <a:gd name="connsiteY27-184" fmla="*/ 2533837 h 3594532"/>
                <a:gd name="connsiteX28-185" fmla="*/ 834193 w 1406084"/>
                <a:gd name="connsiteY28-186" fmla="*/ 2695762 h 3594532"/>
                <a:gd name="connsiteX29-187" fmla="*/ 691318 w 1406084"/>
                <a:gd name="connsiteY29-188" fmla="*/ 3048187 h 3594532"/>
                <a:gd name="connsiteX30-189" fmla="*/ 919918 w 1406084"/>
                <a:gd name="connsiteY30-190" fmla="*/ 3381562 h 3594532"/>
                <a:gd name="connsiteX31-191" fmla="*/ 1005643 w 1406084"/>
                <a:gd name="connsiteY31-192" fmla="*/ 3543487 h 3594532"/>
                <a:gd name="connsiteX0-193" fmla="*/ 1003993 w 1404434"/>
                <a:gd name="connsiteY0-194" fmla="*/ 3543487 h 3594532"/>
                <a:gd name="connsiteX1-195" fmla="*/ 594418 w 1404434"/>
                <a:gd name="connsiteY1-196" fmla="*/ 3553012 h 3594532"/>
                <a:gd name="connsiteX2-197" fmla="*/ 394393 w 1404434"/>
                <a:gd name="connsiteY2-198" fmla="*/ 3038662 h 3594532"/>
                <a:gd name="connsiteX3-199" fmla="*/ 746818 w 1404434"/>
                <a:gd name="connsiteY3-200" fmla="*/ 2343337 h 3594532"/>
                <a:gd name="connsiteX4-201" fmla="*/ 560128 w 1404434"/>
                <a:gd name="connsiteY4-202" fmla="*/ 1884232 h 3594532"/>
                <a:gd name="connsiteX5-203" fmla="*/ 58 w 1404434"/>
                <a:gd name="connsiteY5-204" fmla="*/ 1832797 h 3594532"/>
                <a:gd name="connsiteX6-205" fmla="*/ 394393 w 1404434"/>
                <a:gd name="connsiteY6-206" fmla="*/ 1705162 h 3594532"/>
                <a:gd name="connsiteX7-207" fmla="*/ 642043 w 1404434"/>
                <a:gd name="connsiteY7-208" fmla="*/ 1838512 h 3594532"/>
                <a:gd name="connsiteX8-209" fmla="*/ 689668 w 1404434"/>
                <a:gd name="connsiteY8-210" fmla="*/ 1609912 h 3594532"/>
                <a:gd name="connsiteX9-211" fmla="*/ 823018 w 1404434"/>
                <a:gd name="connsiteY9-212" fmla="*/ 1295587 h 3594532"/>
                <a:gd name="connsiteX10-213" fmla="*/ 765868 w 1404434"/>
                <a:gd name="connsiteY10-214" fmla="*/ 771712 h 3594532"/>
                <a:gd name="connsiteX11-215" fmla="*/ 537268 w 1404434"/>
                <a:gd name="connsiteY11-216" fmla="*/ 628837 h 3594532"/>
                <a:gd name="connsiteX12-217" fmla="*/ 689668 w 1404434"/>
                <a:gd name="connsiteY12-218" fmla="*/ 628837 h 3594532"/>
                <a:gd name="connsiteX13-219" fmla="*/ 765868 w 1404434"/>
                <a:gd name="connsiteY13-220" fmla="*/ 714562 h 3594532"/>
                <a:gd name="connsiteX14-221" fmla="*/ 870643 w 1404434"/>
                <a:gd name="connsiteY14-222" fmla="*/ 187 h 3594532"/>
                <a:gd name="connsiteX15-223" fmla="*/ 832543 w 1404434"/>
                <a:gd name="connsiteY15-224" fmla="*/ 647887 h 3594532"/>
                <a:gd name="connsiteX16-225" fmla="*/ 908743 w 1404434"/>
                <a:gd name="connsiteY16-226" fmla="*/ 1038412 h 3594532"/>
                <a:gd name="connsiteX17-227" fmla="*/ 937318 w 1404434"/>
                <a:gd name="connsiteY17-228" fmla="*/ 1286062 h 3594532"/>
                <a:gd name="connsiteX18-229" fmla="*/ 1108768 w 1404434"/>
                <a:gd name="connsiteY18-230" fmla="*/ 1152712 h 3594532"/>
                <a:gd name="connsiteX19-231" fmla="*/ 1337368 w 1404434"/>
                <a:gd name="connsiteY19-232" fmla="*/ 1133662 h 3594532"/>
                <a:gd name="connsiteX20-233" fmla="*/ 1089718 w 1404434"/>
                <a:gd name="connsiteY20-234" fmla="*/ 1190812 h 3594532"/>
                <a:gd name="connsiteX21-235" fmla="*/ 880168 w 1404434"/>
                <a:gd name="connsiteY21-236" fmla="*/ 1495612 h 3594532"/>
                <a:gd name="connsiteX22-237" fmla="*/ 823018 w 1404434"/>
                <a:gd name="connsiteY22-238" fmla="*/ 1857562 h 3594532"/>
                <a:gd name="connsiteX23-239" fmla="*/ 975418 w 1404434"/>
                <a:gd name="connsiteY23-240" fmla="*/ 2314762 h 3594532"/>
                <a:gd name="connsiteX24-241" fmla="*/ 899218 w 1404434"/>
                <a:gd name="connsiteY24-242" fmla="*/ 2552887 h 3594532"/>
                <a:gd name="connsiteX25-243" fmla="*/ 1213543 w 1404434"/>
                <a:gd name="connsiteY25-244" fmla="*/ 2495737 h 3594532"/>
                <a:gd name="connsiteX26-245" fmla="*/ 1404043 w 1404434"/>
                <a:gd name="connsiteY26-246" fmla="*/ 2590987 h 3594532"/>
                <a:gd name="connsiteX27-247" fmla="*/ 1165918 w 1404434"/>
                <a:gd name="connsiteY27-248" fmla="*/ 2533837 h 3594532"/>
                <a:gd name="connsiteX28-249" fmla="*/ 832543 w 1404434"/>
                <a:gd name="connsiteY28-250" fmla="*/ 2695762 h 3594532"/>
                <a:gd name="connsiteX29-251" fmla="*/ 689668 w 1404434"/>
                <a:gd name="connsiteY29-252" fmla="*/ 3048187 h 3594532"/>
                <a:gd name="connsiteX30-253" fmla="*/ 918268 w 1404434"/>
                <a:gd name="connsiteY30-254" fmla="*/ 3381562 h 3594532"/>
                <a:gd name="connsiteX31-255" fmla="*/ 1003993 w 1404434"/>
                <a:gd name="connsiteY31-256" fmla="*/ 3543487 h 3594532"/>
                <a:gd name="connsiteX0-257" fmla="*/ 1003993 w 1404434"/>
                <a:gd name="connsiteY0-258" fmla="*/ 3543487 h 3559332"/>
                <a:gd name="connsiteX1-259" fmla="*/ 594418 w 1404434"/>
                <a:gd name="connsiteY1-260" fmla="*/ 3553012 h 3559332"/>
                <a:gd name="connsiteX2-261" fmla="*/ 394393 w 1404434"/>
                <a:gd name="connsiteY2-262" fmla="*/ 3038662 h 3559332"/>
                <a:gd name="connsiteX3-263" fmla="*/ 746818 w 1404434"/>
                <a:gd name="connsiteY3-264" fmla="*/ 2343337 h 3559332"/>
                <a:gd name="connsiteX4-265" fmla="*/ 560128 w 1404434"/>
                <a:gd name="connsiteY4-266" fmla="*/ 1884232 h 3559332"/>
                <a:gd name="connsiteX5-267" fmla="*/ 58 w 1404434"/>
                <a:gd name="connsiteY5-268" fmla="*/ 1832797 h 3559332"/>
                <a:gd name="connsiteX6-269" fmla="*/ 394393 w 1404434"/>
                <a:gd name="connsiteY6-270" fmla="*/ 1705162 h 3559332"/>
                <a:gd name="connsiteX7-271" fmla="*/ 642043 w 1404434"/>
                <a:gd name="connsiteY7-272" fmla="*/ 1838512 h 3559332"/>
                <a:gd name="connsiteX8-273" fmla="*/ 689668 w 1404434"/>
                <a:gd name="connsiteY8-274" fmla="*/ 1609912 h 3559332"/>
                <a:gd name="connsiteX9-275" fmla="*/ 823018 w 1404434"/>
                <a:gd name="connsiteY9-276" fmla="*/ 1295587 h 3559332"/>
                <a:gd name="connsiteX10-277" fmla="*/ 765868 w 1404434"/>
                <a:gd name="connsiteY10-278" fmla="*/ 771712 h 3559332"/>
                <a:gd name="connsiteX11-279" fmla="*/ 537268 w 1404434"/>
                <a:gd name="connsiteY11-280" fmla="*/ 628837 h 3559332"/>
                <a:gd name="connsiteX12-281" fmla="*/ 689668 w 1404434"/>
                <a:gd name="connsiteY12-282" fmla="*/ 628837 h 3559332"/>
                <a:gd name="connsiteX13-283" fmla="*/ 765868 w 1404434"/>
                <a:gd name="connsiteY13-284" fmla="*/ 714562 h 3559332"/>
                <a:gd name="connsiteX14-285" fmla="*/ 870643 w 1404434"/>
                <a:gd name="connsiteY14-286" fmla="*/ 187 h 3559332"/>
                <a:gd name="connsiteX15-287" fmla="*/ 832543 w 1404434"/>
                <a:gd name="connsiteY15-288" fmla="*/ 647887 h 3559332"/>
                <a:gd name="connsiteX16-289" fmla="*/ 908743 w 1404434"/>
                <a:gd name="connsiteY16-290" fmla="*/ 1038412 h 3559332"/>
                <a:gd name="connsiteX17-291" fmla="*/ 937318 w 1404434"/>
                <a:gd name="connsiteY17-292" fmla="*/ 1286062 h 3559332"/>
                <a:gd name="connsiteX18-293" fmla="*/ 1108768 w 1404434"/>
                <a:gd name="connsiteY18-294" fmla="*/ 1152712 h 3559332"/>
                <a:gd name="connsiteX19-295" fmla="*/ 1337368 w 1404434"/>
                <a:gd name="connsiteY19-296" fmla="*/ 1133662 h 3559332"/>
                <a:gd name="connsiteX20-297" fmla="*/ 1089718 w 1404434"/>
                <a:gd name="connsiteY20-298" fmla="*/ 1190812 h 3559332"/>
                <a:gd name="connsiteX21-299" fmla="*/ 880168 w 1404434"/>
                <a:gd name="connsiteY21-300" fmla="*/ 1495612 h 3559332"/>
                <a:gd name="connsiteX22-301" fmla="*/ 823018 w 1404434"/>
                <a:gd name="connsiteY22-302" fmla="*/ 1857562 h 3559332"/>
                <a:gd name="connsiteX23-303" fmla="*/ 975418 w 1404434"/>
                <a:gd name="connsiteY23-304" fmla="*/ 2314762 h 3559332"/>
                <a:gd name="connsiteX24-305" fmla="*/ 899218 w 1404434"/>
                <a:gd name="connsiteY24-306" fmla="*/ 2552887 h 3559332"/>
                <a:gd name="connsiteX25-307" fmla="*/ 1213543 w 1404434"/>
                <a:gd name="connsiteY25-308" fmla="*/ 2495737 h 3559332"/>
                <a:gd name="connsiteX26-309" fmla="*/ 1404043 w 1404434"/>
                <a:gd name="connsiteY26-310" fmla="*/ 2590987 h 3559332"/>
                <a:gd name="connsiteX27-311" fmla="*/ 1165918 w 1404434"/>
                <a:gd name="connsiteY27-312" fmla="*/ 2533837 h 3559332"/>
                <a:gd name="connsiteX28-313" fmla="*/ 832543 w 1404434"/>
                <a:gd name="connsiteY28-314" fmla="*/ 2695762 h 3559332"/>
                <a:gd name="connsiteX29-315" fmla="*/ 689668 w 1404434"/>
                <a:gd name="connsiteY29-316" fmla="*/ 3048187 h 3559332"/>
                <a:gd name="connsiteX30-317" fmla="*/ 918268 w 1404434"/>
                <a:gd name="connsiteY30-318" fmla="*/ 3381562 h 3559332"/>
                <a:gd name="connsiteX31-319" fmla="*/ 1003993 w 1404434"/>
                <a:gd name="connsiteY31-320" fmla="*/ 3543487 h 3559332"/>
                <a:gd name="connsiteX0-321" fmla="*/ 1003993 w 1404434"/>
                <a:gd name="connsiteY0-322" fmla="*/ 3543487 h 3553018"/>
                <a:gd name="connsiteX1-323" fmla="*/ 594418 w 1404434"/>
                <a:gd name="connsiteY1-324" fmla="*/ 3553012 h 3553018"/>
                <a:gd name="connsiteX2-325" fmla="*/ 394393 w 1404434"/>
                <a:gd name="connsiteY2-326" fmla="*/ 3038662 h 3553018"/>
                <a:gd name="connsiteX3-327" fmla="*/ 746818 w 1404434"/>
                <a:gd name="connsiteY3-328" fmla="*/ 2343337 h 3553018"/>
                <a:gd name="connsiteX4-329" fmla="*/ 560128 w 1404434"/>
                <a:gd name="connsiteY4-330" fmla="*/ 1884232 h 3553018"/>
                <a:gd name="connsiteX5-331" fmla="*/ 58 w 1404434"/>
                <a:gd name="connsiteY5-332" fmla="*/ 1832797 h 3553018"/>
                <a:gd name="connsiteX6-333" fmla="*/ 394393 w 1404434"/>
                <a:gd name="connsiteY6-334" fmla="*/ 1705162 h 3553018"/>
                <a:gd name="connsiteX7-335" fmla="*/ 642043 w 1404434"/>
                <a:gd name="connsiteY7-336" fmla="*/ 1838512 h 3553018"/>
                <a:gd name="connsiteX8-337" fmla="*/ 689668 w 1404434"/>
                <a:gd name="connsiteY8-338" fmla="*/ 1609912 h 3553018"/>
                <a:gd name="connsiteX9-339" fmla="*/ 823018 w 1404434"/>
                <a:gd name="connsiteY9-340" fmla="*/ 1295587 h 3553018"/>
                <a:gd name="connsiteX10-341" fmla="*/ 765868 w 1404434"/>
                <a:gd name="connsiteY10-342" fmla="*/ 771712 h 3553018"/>
                <a:gd name="connsiteX11-343" fmla="*/ 537268 w 1404434"/>
                <a:gd name="connsiteY11-344" fmla="*/ 628837 h 3553018"/>
                <a:gd name="connsiteX12-345" fmla="*/ 689668 w 1404434"/>
                <a:gd name="connsiteY12-346" fmla="*/ 628837 h 3553018"/>
                <a:gd name="connsiteX13-347" fmla="*/ 765868 w 1404434"/>
                <a:gd name="connsiteY13-348" fmla="*/ 714562 h 3553018"/>
                <a:gd name="connsiteX14-349" fmla="*/ 870643 w 1404434"/>
                <a:gd name="connsiteY14-350" fmla="*/ 187 h 3553018"/>
                <a:gd name="connsiteX15-351" fmla="*/ 832543 w 1404434"/>
                <a:gd name="connsiteY15-352" fmla="*/ 647887 h 3553018"/>
                <a:gd name="connsiteX16-353" fmla="*/ 908743 w 1404434"/>
                <a:gd name="connsiteY16-354" fmla="*/ 1038412 h 3553018"/>
                <a:gd name="connsiteX17-355" fmla="*/ 937318 w 1404434"/>
                <a:gd name="connsiteY17-356" fmla="*/ 1286062 h 3553018"/>
                <a:gd name="connsiteX18-357" fmla="*/ 1108768 w 1404434"/>
                <a:gd name="connsiteY18-358" fmla="*/ 1152712 h 3553018"/>
                <a:gd name="connsiteX19-359" fmla="*/ 1337368 w 1404434"/>
                <a:gd name="connsiteY19-360" fmla="*/ 1133662 h 3553018"/>
                <a:gd name="connsiteX20-361" fmla="*/ 1089718 w 1404434"/>
                <a:gd name="connsiteY20-362" fmla="*/ 1190812 h 3553018"/>
                <a:gd name="connsiteX21-363" fmla="*/ 880168 w 1404434"/>
                <a:gd name="connsiteY21-364" fmla="*/ 1495612 h 3553018"/>
                <a:gd name="connsiteX22-365" fmla="*/ 823018 w 1404434"/>
                <a:gd name="connsiteY22-366" fmla="*/ 1857562 h 3553018"/>
                <a:gd name="connsiteX23-367" fmla="*/ 975418 w 1404434"/>
                <a:gd name="connsiteY23-368" fmla="*/ 2314762 h 3553018"/>
                <a:gd name="connsiteX24-369" fmla="*/ 899218 w 1404434"/>
                <a:gd name="connsiteY24-370" fmla="*/ 2552887 h 3553018"/>
                <a:gd name="connsiteX25-371" fmla="*/ 1213543 w 1404434"/>
                <a:gd name="connsiteY25-372" fmla="*/ 2495737 h 3553018"/>
                <a:gd name="connsiteX26-373" fmla="*/ 1404043 w 1404434"/>
                <a:gd name="connsiteY26-374" fmla="*/ 2590987 h 3553018"/>
                <a:gd name="connsiteX27-375" fmla="*/ 1165918 w 1404434"/>
                <a:gd name="connsiteY27-376" fmla="*/ 2533837 h 3553018"/>
                <a:gd name="connsiteX28-377" fmla="*/ 832543 w 1404434"/>
                <a:gd name="connsiteY28-378" fmla="*/ 2695762 h 3553018"/>
                <a:gd name="connsiteX29-379" fmla="*/ 689668 w 1404434"/>
                <a:gd name="connsiteY29-380" fmla="*/ 3048187 h 3553018"/>
                <a:gd name="connsiteX30-381" fmla="*/ 918268 w 1404434"/>
                <a:gd name="connsiteY30-382" fmla="*/ 3381562 h 3553018"/>
                <a:gd name="connsiteX31-383" fmla="*/ 1003993 w 1404434"/>
                <a:gd name="connsiteY31-384" fmla="*/ 3543487 h 3553018"/>
                <a:gd name="connsiteX0-385" fmla="*/ 1003993 w 1404434"/>
                <a:gd name="connsiteY0-386" fmla="*/ 3543487 h 3553025"/>
                <a:gd name="connsiteX1-387" fmla="*/ 594418 w 1404434"/>
                <a:gd name="connsiteY1-388" fmla="*/ 3553012 h 3553025"/>
                <a:gd name="connsiteX2-389" fmla="*/ 394393 w 1404434"/>
                <a:gd name="connsiteY2-390" fmla="*/ 3038662 h 3553025"/>
                <a:gd name="connsiteX3-391" fmla="*/ 746818 w 1404434"/>
                <a:gd name="connsiteY3-392" fmla="*/ 2343337 h 3553025"/>
                <a:gd name="connsiteX4-393" fmla="*/ 560128 w 1404434"/>
                <a:gd name="connsiteY4-394" fmla="*/ 1884232 h 3553025"/>
                <a:gd name="connsiteX5-395" fmla="*/ 58 w 1404434"/>
                <a:gd name="connsiteY5-396" fmla="*/ 1832797 h 3553025"/>
                <a:gd name="connsiteX6-397" fmla="*/ 394393 w 1404434"/>
                <a:gd name="connsiteY6-398" fmla="*/ 1705162 h 3553025"/>
                <a:gd name="connsiteX7-399" fmla="*/ 642043 w 1404434"/>
                <a:gd name="connsiteY7-400" fmla="*/ 1838512 h 3553025"/>
                <a:gd name="connsiteX8-401" fmla="*/ 689668 w 1404434"/>
                <a:gd name="connsiteY8-402" fmla="*/ 1609912 h 3553025"/>
                <a:gd name="connsiteX9-403" fmla="*/ 823018 w 1404434"/>
                <a:gd name="connsiteY9-404" fmla="*/ 1295587 h 3553025"/>
                <a:gd name="connsiteX10-405" fmla="*/ 765868 w 1404434"/>
                <a:gd name="connsiteY10-406" fmla="*/ 771712 h 3553025"/>
                <a:gd name="connsiteX11-407" fmla="*/ 537268 w 1404434"/>
                <a:gd name="connsiteY11-408" fmla="*/ 628837 h 3553025"/>
                <a:gd name="connsiteX12-409" fmla="*/ 689668 w 1404434"/>
                <a:gd name="connsiteY12-410" fmla="*/ 628837 h 3553025"/>
                <a:gd name="connsiteX13-411" fmla="*/ 765868 w 1404434"/>
                <a:gd name="connsiteY13-412" fmla="*/ 714562 h 3553025"/>
                <a:gd name="connsiteX14-413" fmla="*/ 870643 w 1404434"/>
                <a:gd name="connsiteY14-414" fmla="*/ 187 h 3553025"/>
                <a:gd name="connsiteX15-415" fmla="*/ 832543 w 1404434"/>
                <a:gd name="connsiteY15-416" fmla="*/ 647887 h 3553025"/>
                <a:gd name="connsiteX16-417" fmla="*/ 908743 w 1404434"/>
                <a:gd name="connsiteY16-418" fmla="*/ 1038412 h 3553025"/>
                <a:gd name="connsiteX17-419" fmla="*/ 937318 w 1404434"/>
                <a:gd name="connsiteY17-420" fmla="*/ 1286062 h 3553025"/>
                <a:gd name="connsiteX18-421" fmla="*/ 1108768 w 1404434"/>
                <a:gd name="connsiteY18-422" fmla="*/ 1152712 h 3553025"/>
                <a:gd name="connsiteX19-423" fmla="*/ 1337368 w 1404434"/>
                <a:gd name="connsiteY19-424" fmla="*/ 1133662 h 3553025"/>
                <a:gd name="connsiteX20-425" fmla="*/ 1089718 w 1404434"/>
                <a:gd name="connsiteY20-426" fmla="*/ 1190812 h 3553025"/>
                <a:gd name="connsiteX21-427" fmla="*/ 880168 w 1404434"/>
                <a:gd name="connsiteY21-428" fmla="*/ 1495612 h 3553025"/>
                <a:gd name="connsiteX22-429" fmla="*/ 823018 w 1404434"/>
                <a:gd name="connsiteY22-430" fmla="*/ 1857562 h 3553025"/>
                <a:gd name="connsiteX23-431" fmla="*/ 975418 w 1404434"/>
                <a:gd name="connsiteY23-432" fmla="*/ 2314762 h 3553025"/>
                <a:gd name="connsiteX24-433" fmla="*/ 899218 w 1404434"/>
                <a:gd name="connsiteY24-434" fmla="*/ 2552887 h 3553025"/>
                <a:gd name="connsiteX25-435" fmla="*/ 1213543 w 1404434"/>
                <a:gd name="connsiteY25-436" fmla="*/ 2495737 h 3553025"/>
                <a:gd name="connsiteX26-437" fmla="*/ 1404043 w 1404434"/>
                <a:gd name="connsiteY26-438" fmla="*/ 2590987 h 3553025"/>
                <a:gd name="connsiteX27-439" fmla="*/ 1165918 w 1404434"/>
                <a:gd name="connsiteY27-440" fmla="*/ 2533837 h 3553025"/>
                <a:gd name="connsiteX28-441" fmla="*/ 832543 w 1404434"/>
                <a:gd name="connsiteY28-442" fmla="*/ 2695762 h 3553025"/>
                <a:gd name="connsiteX29-443" fmla="*/ 689668 w 1404434"/>
                <a:gd name="connsiteY29-444" fmla="*/ 3048187 h 3553025"/>
                <a:gd name="connsiteX30-445" fmla="*/ 918268 w 1404434"/>
                <a:gd name="connsiteY30-446" fmla="*/ 3381562 h 3553025"/>
                <a:gd name="connsiteX31-447" fmla="*/ 1003993 w 1404434"/>
                <a:gd name="connsiteY31-448" fmla="*/ 3543487 h 3553025"/>
                <a:gd name="connsiteX0-449" fmla="*/ 1016693 w 1404434"/>
                <a:gd name="connsiteY0-450" fmla="*/ 3543487 h 3588988"/>
                <a:gd name="connsiteX1-451" fmla="*/ 594418 w 1404434"/>
                <a:gd name="connsiteY1-452" fmla="*/ 3553012 h 3588988"/>
                <a:gd name="connsiteX2-453" fmla="*/ 394393 w 1404434"/>
                <a:gd name="connsiteY2-454" fmla="*/ 3038662 h 3588988"/>
                <a:gd name="connsiteX3-455" fmla="*/ 746818 w 1404434"/>
                <a:gd name="connsiteY3-456" fmla="*/ 2343337 h 3588988"/>
                <a:gd name="connsiteX4-457" fmla="*/ 560128 w 1404434"/>
                <a:gd name="connsiteY4-458" fmla="*/ 1884232 h 3588988"/>
                <a:gd name="connsiteX5-459" fmla="*/ 58 w 1404434"/>
                <a:gd name="connsiteY5-460" fmla="*/ 1832797 h 3588988"/>
                <a:gd name="connsiteX6-461" fmla="*/ 394393 w 1404434"/>
                <a:gd name="connsiteY6-462" fmla="*/ 1705162 h 3588988"/>
                <a:gd name="connsiteX7-463" fmla="*/ 642043 w 1404434"/>
                <a:gd name="connsiteY7-464" fmla="*/ 1838512 h 3588988"/>
                <a:gd name="connsiteX8-465" fmla="*/ 689668 w 1404434"/>
                <a:gd name="connsiteY8-466" fmla="*/ 1609912 h 3588988"/>
                <a:gd name="connsiteX9-467" fmla="*/ 823018 w 1404434"/>
                <a:gd name="connsiteY9-468" fmla="*/ 1295587 h 3588988"/>
                <a:gd name="connsiteX10-469" fmla="*/ 765868 w 1404434"/>
                <a:gd name="connsiteY10-470" fmla="*/ 771712 h 3588988"/>
                <a:gd name="connsiteX11-471" fmla="*/ 537268 w 1404434"/>
                <a:gd name="connsiteY11-472" fmla="*/ 628837 h 3588988"/>
                <a:gd name="connsiteX12-473" fmla="*/ 689668 w 1404434"/>
                <a:gd name="connsiteY12-474" fmla="*/ 628837 h 3588988"/>
                <a:gd name="connsiteX13-475" fmla="*/ 765868 w 1404434"/>
                <a:gd name="connsiteY13-476" fmla="*/ 714562 h 3588988"/>
                <a:gd name="connsiteX14-477" fmla="*/ 870643 w 1404434"/>
                <a:gd name="connsiteY14-478" fmla="*/ 187 h 3588988"/>
                <a:gd name="connsiteX15-479" fmla="*/ 832543 w 1404434"/>
                <a:gd name="connsiteY15-480" fmla="*/ 647887 h 3588988"/>
                <a:gd name="connsiteX16-481" fmla="*/ 908743 w 1404434"/>
                <a:gd name="connsiteY16-482" fmla="*/ 1038412 h 3588988"/>
                <a:gd name="connsiteX17-483" fmla="*/ 937318 w 1404434"/>
                <a:gd name="connsiteY17-484" fmla="*/ 1286062 h 3588988"/>
                <a:gd name="connsiteX18-485" fmla="*/ 1108768 w 1404434"/>
                <a:gd name="connsiteY18-486" fmla="*/ 1152712 h 3588988"/>
                <a:gd name="connsiteX19-487" fmla="*/ 1337368 w 1404434"/>
                <a:gd name="connsiteY19-488" fmla="*/ 1133662 h 3588988"/>
                <a:gd name="connsiteX20-489" fmla="*/ 1089718 w 1404434"/>
                <a:gd name="connsiteY20-490" fmla="*/ 1190812 h 3588988"/>
                <a:gd name="connsiteX21-491" fmla="*/ 880168 w 1404434"/>
                <a:gd name="connsiteY21-492" fmla="*/ 1495612 h 3588988"/>
                <a:gd name="connsiteX22-493" fmla="*/ 823018 w 1404434"/>
                <a:gd name="connsiteY22-494" fmla="*/ 1857562 h 3588988"/>
                <a:gd name="connsiteX23-495" fmla="*/ 975418 w 1404434"/>
                <a:gd name="connsiteY23-496" fmla="*/ 2314762 h 3588988"/>
                <a:gd name="connsiteX24-497" fmla="*/ 899218 w 1404434"/>
                <a:gd name="connsiteY24-498" fmla="*/ 2552887 h 3588988"/>
                <a:gd name="connsiteX25-499" fmla="*/ 1213543 w 1404434"/>
                <a:gd name="connsiteY25-500" fmla="*/ 2495737 h 3588988"/>
                <a:gd name="connsiteX26-501" fmla="*/ 1404043 w 1404434"/>
                <a:gd name="connsiteY26-502" fmla="*/ 2590987 h 3588988"/>
                <a:gd name="connsiteX27-503" fmla="*/ 1165918 w 1404434"/>
                <a:gd name="connsiteY27-504" fmla="*/ 2533837 h 3588988"/>
                <a:gd name="connsiteX28-505" fmla="*/ 832543 w 1404434"/>
                <a:gd name="connsiteY28-506" fmla="*/ 2695762 h 3588988"/>
                <a:gd name="connsiteX29-507" fmla="*/ 689668 w 1404434"/>
                <a:gd name="connsiteY29-508" fmla="*/ 3048187 h 3588988"/>
                <a:gd name="connsiteX30-509" fmla="*/ 918268 w 1404434"/>
                <a:gd name="connsiteY30-510" fmla="*/ 3381562 h 3588988"/>
                <a:gd name="connsiteX31-511" fmla="*/ 1016693 w 1404434"/>
                <a:gd name="connsiteY31-512" fmla="*/ 3543487 h 3588988"/>
                <a:gd name="connsiteX0-513" fmla="*/ 1016693 w 1404434"/>
                <a:gd name="connsiteY0-514" fmla="*/ 3543487 h 3592198"/>
                <a:gd name="connsiteX1-515" fmla="*/ 591243 w 1404434"/>
                <a:gd name="connsiteY1-516" fmla="*/ 3549837 h 3592198"/>
                <a:gd name="connsiteX2-517" fmla="*/ 394393 w 1404434"/>
                <a:gd name="connsiteY2-518" fmla="*/ 3038662 h 3592198"/>
                <a:gd name="connsiteX3-519" fmla="*/ 746818 w 1404434"/>
                <a:gd name="connsiteY3-520" fmla="*/ 2343337 h 3592198"/>
                <a:gd name="connsiteX4-521" fmla="*/ 560128 w 1404434"/>
                <a:gd name="connsiteY4-522" fmla="*/ 1884232 h 3592198"/>
                <a:gd name="connsiteX5-523" fmla="*/ 58 w 1404434"/>
                <a:gd name="connsiteY5-524" fmla="*/ 1832797 h 3592198"/>
                <a:gd name="connsiteX6-525" fmla="*/ 394393 w 1404434"/>
                <a:gd name="connsiteY6-526" fmla="*/ 1705162 h 3592198"/>
                <a:gd name="connsiteX7-527" fmla="*/ 642043 w 1404434"/>
                <a:gd name="connsiteY7-528" fmla="*/ 1838512 h 3592198"/>
                <a:gd name="connsiteX8-529" fmla="*/ 689668 w 1404434"/>
                <a:gd name="connsiteY8-530" fmla="*/ 1609912 h 3592198"/>
                <a:gd name="connsiteX9-531" fmla="*/ 823018 w 1404434"/>
                <a:gd name="connsiteY9-532" fmla="*/ 1295587 h 3592198"/>
                <a:gd name="connsiteX10-533" fmla="*/ 765868 w 1404434"/>
                <a:gd name="connsiteY10-534" fmla="*/ 771712 h 3592198"/>
                <a:gd name="connsiteX11-535" fmla="*/ 537268 w 1404434"/>
                <a:gd name="connsiteY11-536" fmla="*/ 628837 h 3592198"/>
                <a:gd name="connsiteX12-537" fmla="*/ 689668 w 1404434"/>
                <a:gd name="connsiteY12-538" fmla="*/ 628837 h 3592198"/>
                <a:gd name="connsiteX13-539" fmla="*/ 765868 w 1404434"/>
                <a:gd name="connsiteY13-540" fmla="*/ 714562 h 3592198"/>
                <a:gd name="connsiteX14-541" fmla="*/ 870643 w 1404434"/>
                <a:gd name="connsiteY14-542" fmla="*/ 187 h 3592198"/>
                <a:gd name="connsiteX15-543" fmla="*/ 832543 w 1404434"/>
                <a:gd name="connsiteY15-544" fmla="*/ 647887 h 3592198"/>
                <a:gd name="connsiteX16-545" fmla="*/ 908743 w 1404434"/>
                <a:gd name="connsiteY16-546" fmla="*/ 1038412 h 3592198"/>
                <a:gd name="connsiteX17-547" fmla="*/ 937318 w 1404434"/>
                <a:gd name="connsiteY17-548" fmla="*/ 1286062 h 3592198"/>
                <a:gd name="connsiteX18-549" fmla="*/ 1108768 w 1404434"/>
                <a:gd name="connsiteY18-550" fmla="*/ 1152712 h 3592198"/>
                <a:gd name="connsiteX19-551" fmla="*/ 1337368 w 1404434"/>
                <a:gd name="connsiteY19-552" fmla="*/ 1133662 h 3592198"/>
                <a:gd name="connsiteX20-553" fmla="*/ 1089718 w 1404434"/>
                <a:gd name="connsiteY20-554" fmla="*/ 1190812 h 3592198"/>
                <a:gd name="connsiteX21-555" fmla="*/ 880168 w 1404434"/>
                <a:gd name="connsiteY21-556" fmla="*/ 1495612 h 3592198"/>
                <a:gd name="connsiteX22-557" fmla="*/ 823018 w 1404434"/>
                <a:gd name="connsiteY22-558" fmla="*/ 1857562 h 3592198"/>
                <a:gd name="connsiteX23-559" fmla="*/ 975418 w 1404434"/>
                <a:gd name="connsiteY23-560" fmla="*/ 2314762 h 3592198"/>
                <a:gd name="connsiteX24-561" fmla="*/ 899218 w 1404434"/>
                <a:gd name="connsiteY24-562" fmla="*/ 2552887 h 3592198"/>
                <a:gd name="connsiteX25-563" fmla="*/ 1213543 w 1404434"/>
                <a:gd name="connsiteY25-564" fmla="*/ 2495737 h 3592198"/>
                <a:gd name="connsiteX26-565" fmla="*/ 1404043 w 1404434"/>
                <a:gd name="connsiteY26-566" fmla="*/ 2590987 h 3592198"/>
                <a:gd name="connsiteX27-567" fmla="*/ 1165918 w 1404434"/>
                <a:gd name="connsiteY27-568" fmla="*/ 2533837 h 3592198"/>
                <a:gd name="connsiteX28-569" fmla="*/ 832543 w 1404434"/>
                <a:gd name="connsiteY28-570" fmla="*/ 2695762 h 3592198"/>
                <a:gd name="connsiteX29-571" fmla="*/ 689668 w 1404434"/>
                <a:gd name="connsiteY29-572" fmla="*/ 3048187 h 3592198"/>
                <a:gd name="connsiteX30-573" fmla="*/ 918268 w 1404434"/>
                <a:gd name="connsiteY30-574" fmla="*/ 3381562 h 3592198"/>
                <a:gd name="connsiteX31-575" fmla="*/ 1016693 w 1404434"/>
                <a:gd name="connsiteY31-576" fmla="*/ 3543487 h 3592198"/>
                <a:gd name="connsiteX0-577" fmla="*/ 1016693 w 1404434"/>
                <a:gd name="connsiteY0-578" fmla="*/ 3543487 h 3558296"/>
                <a:gd name="connsiteX1-579" fmla="*/ 591243 w 1404434"/>
                <a:gd name="connsiteY1-580" fmla="*/ 3549837 h 3558296"/>
                <a:gd name="connsiteX2-581" fmla="*/ 394393 w 1404434"/>
                <a:gd name="connsiteY2-582" fmla="*/ 3038662 h 3558296"/>
                <a:gd name="connsiteX3-583" fmla="*/ 746818 w 1404434"/>
                <a:gd name="connsiteY3-584" fmla="*/ 2343337 h 3558296"/>
                <a:gd name="connsiteX4-585" fmla="*/ 560128 w 1404434"/>
                <a:gd name="connsiteY4-586" fmla="*/ 1884232 h 3558296"/>
                <a:gd name="connsiteX5-587" fmla="*/ 58 w 1404434"/>
                <a:gd name="connsiteY5-588" fmla="*/ 1832797 h 3558296"/>
                <a:gd name="connsiteX6-589" fmla="*/ 394393 w 1404434"/>
                <a:gd name="connsiteY6-590" fmla="*/ 1705162 h 3558296"/>
                <a:gd name="connsiteX7-591" fmla="*/ 642043 w 1404434"/>
                <a:gd name="connsiteY7-592" fmla="*/ 1838512 h 3558296"/>
                <a:gd name="connsiteX8-593" fmla="*/ 689668 w 1404434"/>
                <a:gd name="connsiteY8-594" fmla="*/ 1609912 h 3558296"/>
                <a:gd name="connsiteX9-595" fmla="*/ 823018 w 1404434"/>
                <a:gd name="connsiteY9-596" fmla="*/ 1295587 h 3558296"/>
                <a:gd name="connsiteX10-597" fmla="*/ 765868 w 1404434"/>
                <a:gd name="connsiteY10-598" fmla="*/ 771712 h 3558296"/>
                <a:gd name="connsiteX11-599" fmla="*/ 537268 w 1404434"/>
                <a:gd name="connsiteY11-600" fmla="*/ 628837 h 3558296"/>
                <a:gd name="connsiteX12-601" fmla="*/ 689668 w 1404434"/>
                <a:gd name="connsiteY12-602" fmla="*/ 628837 h 3558296"/>
                <a:gd name="connsiteX13-603" fmla="*/ 765868 w 1404434"/>
                <a:gd name="connsiteY13-604" fmla="*/ 714562 h 3558296"/>
                <a:gd name="connsiteX14-605" fmla="*/ 870643 w 1404434"/>
                <a:gd name="connsiteY14-606" fmla="*/ 187 h 3558296"/>
                <a:gd name="connsiteX15-607" fmla="*/ 832543 w 1404434"/>
                <a:gd name="connsiteY15-608" fmla="*/ 647887 h 3558296"/>
                <a:gd name="connsiteX16-609" fmla="*/ 908743 w 1404434"/>
                <a:gd name="connsiteY16-610" fmla="*/ 1038412 h 3558296"/>
                <a:gd name="connsiteX17-611" fmla="*/ 937318 w 1404434"/>
                <a:gd name="connsiteY17-612" fmla="*/ 1286062 h 3558296"/>
                <a:gd name="connsiteX18-613" fmla="*/ 1108768 w 1404434"/>
                <a:gd name="connsiteY18-614" fmla="*/ 1152712 h 3558296"/>
                <a:gd name="connsiteX19-615" fmla="*/ 1337368 w 1404434"/>
                <a:gd name="connsiteY19-616" fmla="*/ 1133662 h 3558296"/>
                <a:gd name="connsiteX20-617" fmla="*/ 1089718 w 1404434"/>
                <a:gd name="connsiteY20-618" fmla="*/ 1190812 h 3558296"/>
                <a:gd name="connsiteX21-619" fmla="*/ 880168 w 1404434"/>
                <a:gd name="connsiteY21-620" fmla="*/ 1495612 h 3558296"/>
                <a:gd name="connsiteX22-621" fmla="*/ 823018 w 1404434"/>
                <a:gd name="connsiteY22-622" fmla="*/ 1857562 h 3558296"/>
                <a:gd name="connsiteX23-623" fmla="*/ 975418 w 1404434"/>
                <a:gd name="connsiteY23-624" fmla="*/ 2314762 h 3558296"/>
                <a:gd name="connsiteX24-625" fmla="*/ 899218 w 1404434"/>
                <a:gd name="connsiteY24-626" fmla="*/ 2552887 h 3558296"/>
                <a:gd name="connsiteX25-627" fmla="*/ 1213543 w 1404434"/>
                <a:gd name="connsiteY25-628" fmla="*/ 2495737 h 3558296"/>
                <a:gd name="connsiteX26-629" fmla="*/ 1404043 w 1404434"/>
                <a:gd name="connsiteY26-630" fmla="*/ 2590987 h 3558296"/>
                <a:gd name="connsiteX27-631" fmla="*/ 1165918 w 1404434"/>
                <a:gd name="connsiteY27-632" fmla="*/ 2533837 h 3558296"/>
                <a:gd name="connsiteX28-633" fmla="*/ 832543 w 1404434"/>
                <a:gd name="connsiteY28-634" fmla="*/ 2695762 h 3558296"/>
                <a:gd name="connsiteX29-635" fmla="*/ 689668 w 1404434"/>
                <a:gd name="connsiteY29-636" fmla="*/ 3048187 h 3558296"/>
                <a:gd name="connsiteX30-637" fmla="*/ 918268 w 1404434"/>
                <a:gd name="connsiteY30-638" fmla="*/ 3381562 h 3558296"/>
                <a:gd name="connsiteX31-639" fmla="*/ 1016693 w 1404434"/>
                <a:gd name="connsiteY31-640" fmla="*/ 3543487 h 3558296"/>
                <a:gd name="connsiteX0-641" fmla="*/ 1016693 w 1404434"/>
                <a:gd name="connsiteY0-642" fmla="*/ 3543487 h 3550128"/>
                <a:gd name="connsiteX1-643" fmla="*/ 591243 w 1404434"/>
                <a:gd name="connsiteY1-644" fmla="*/ 3549837 h 3550128"/>
                <a:gd name="connsiteX2-645" fmla="*/ 394393 w 1404434"/>
                <a:gd name="connsiteY2-646" fmla="*/ 3038662 h 3550128"/>
                <a:gd name="connsiteX3-647" fmla="*/ 746818 w 1404434"/>
                <a:gd name="connsiteY3-648" fmla="*/ 2343337 h 3550128"/>
                <a:gd name="connsiteX4-649" fmla="*/ 560128 w 1404434"/>
                <a:gd name="connsiteY4-650" fmla="*/ 1884232 h 3550128"/>
                <a:gd name="connsiteX5-651" fmla="*/ 58 w 1404434"/>
                <a:gd name="connsiteY5-652" fmla="*/ 1832797 h 3550128"/>
                <a:gd name="connsiteX6-653" fmla="*/ 394393 w 1404434"/>
                <a:gd name="connsiteY6-654" fmla="*/ 1705162 h 3550128"/>
                <a:gd name="connsiteX7-655" fmla="*/ 642043 w 1404434"/>
                <a:gd name="connsiteY7-656" fmla="*/ 1838512 h 3550128"/>
                <a:gd name="connsiteX8-657" fmla="*/ 689668 w 1404434"/>
                <a:gd name="connsiteY8-658" fmla="*/ 1609912 h 3550128"/>
                <a:gd name="connsiteX9-659" fmla="*/ 823018 w 1404434"/>
                <a:gd name="connsiteY9-660" fmla="*/ 1295587 h 3550128"/>
                <a:gd name="connsiteX10-661" fmla="*/ 765868 w 1404434"/>
                <a:gd name="connsiteY10-662" fmla="*/ 771712 h 3550128"/>
                <a:gd name="connsiteX11-663" fmla="*/ 537268 w 1404434"/>
                <a:gd name="connsiteY11-664" fmla="*/ 628837 h 3550128"/>
                <a:gd name="connsiteX12-665" fmla="*/ 689668 w 1404434"/>
                <a:gd name="connsiteY12-666" fmla="*/ 628837 h 3550128"/>
                <a:gd name="connsiteX13-667" fmla="*/ 765868 w 1404434"/>
                <a:gd name="connsiteY13-668" fmla="*/ 714562 h 3550128"/>
                <a:gd name="connsiteX14-669" fmla="*/ 870643 w 1404434"/>
                <a:gd name="connsiteY14-670" fmla="*/ 187 h 3550128"/>
                <a:gd name="connsiteX15-671" fmla="*/ 832543 w 1404434"/>
                <a:gd name="connsiteY15-672" fmla="*/ 647887 h 3550128"/>
                <a:gd name="connsiteX16-673" fmla="*/ 908743 w 1404434"/>
                <a:gd name="connsiteY16-674" fmla="*/ 1038412 h 3550128"/>
                <a:gd name="connsiteX17-675" fmla="*/ 937318 w 1404434"/>
                <a:gd name="connsiteY17-676" fmla="*/ 1286062 h 3550128"/>
                <a:gd name="connsiteX18-677" fmla="*/ 1108768 w 1404434"/>
                <a:gd name="connsiteY18-678" fmla="*/ 1152712 h 3550128"/>
                <a:gd name="connsiteX19-679" fmla="*/ 1337368 w 1404434"/>
                <a:gd name="connsiteY19-680" fmla="*/ 1133662 h 3550128"/>
                <a:gd name="connsiteX20-681" fmla="*/ 1089718 w 1404434"/>
                <a:gd name="connsiteY20-682" fmla="*/ 1190812 h 3550128"/>
                <a:gd name="connsiteX21-683" fmla="*/ 880168 w 1404434"/>
                <a:gd name="connsiteY21-684" fmla="*/ 1495612 h 3550128"/>
                <a:gd name="connsiteX22-685" fmla="*/ 823018 w 1404434"/>
                <a:gd name="connsiteY22-686" fmla="*/ 1857562 h 3550128"/>
                <a:gd name="connsiteX23-687" fmla="*/ 975418 w 1404434"/>
                <a:gd name="connsiteY23-688" fmla="*/ 2314762 h 3550128"/>
                <a:gd name="connsiteX24-689" fmla="*/ 899218 w 1404434"/>
                <a:gd name="connsiteY24-690" fmla="*/ 2552887 h 3550128"/>
                <a:gd name="connsiteX25-691" fmla="*/ 1213543 w 1404434"/>
                <a:gd name="connsiteY25-692" fmla="*/ 2495737 h 3550128"/>
                <a:gd name="connsiteX26-693" fmla="*/ 1404043 w 1404434"/>
                <a:gd name="connsiteY26-694" fmla="*/ 2590987 h 3550128"/>
                <a:gd name="connsiteX27-695" fmla="*/ 1165918 w 1404434"/>
                <a:gd name="connsiteY27-696" fmla="*/ 2533837 h 3550128"/>
                <a:gd name="connsiteX28-697" fmla="*/ 832543 w 1404434"/>
                <a:gd name="connsiteY28-698" fmla="*/ 2695762 h 3550128"/>
                <a:gd name="connsiteX29-699" fmla="*/ 689668 w 1404434"/>
                <a:gd name="connsiteY29-700" fmla="*/ 3048187 h 3550128"/>
                <a:gd name="connsiteX30-701" fmla="*/ 918268 w 1404434"/>
                <a:gd name="connsiteY30-702" fmla="*/ 3381562 h 3550128"/>
                <a:gd name="connsiteX31-703" fmla="*/ 1016693 w 1404434"/>
                <a:gd name="connsiteY31-704" fmla="*/ 3543487 h 3550128"/>
                <a:gd name="connsiteX0-705" fmla="*/ 1016693 w 1404434"/>
                <a:gd name="connsiteY0-706" fmla="*/ 3543487 h 3550128"/>
                <a:gd name="connsiteX1-707" fmla="*/ 591243 w 1404434"/>
                <a:gd name="connsiteY1-708" fmla="*/ 3549837 h 3550128"/>
                <a:gd name="connsiteX2-709" fmla="*/ 394393 w 1404434"/>
                <a:gd name="connsiteY2-710" fmla="*/ 3038662 h 3550128"/>
                <a:gd name="connsiteX3-711" fmla="*/ 746818 w 1404434"/>
                <a:gd name="connsiteY3-712" fmla="*/ 2343337 h 3550128"/>
                <a:gd name="connsiteX4-713" fmla="*/ 560128 w 1404434"/>
                <a:gd name="connsiteY4-714" fmla="*/ 1884232 h 3550128"/>
                <a:gd name="connsiteX5-715" fmla="*/ 58 w 1404434"/>
                <a:gd name="connsiteY5-716" fmla="*/ 1832797 h 3550128"/>
                <a:gd name="connsiteX6-717" fmla="*/ 394393 w 1404434"/>
                <a:gd name="connsiteY6-718" fmla="*/ 1705162 h 3550128"/>
                <a:gd name="connsiteX7-719" fmla="*/ 642043 w 1404434"/>
                <a:gd name="connsiteY7-720" fmla="*/ 1838512 h 3550128"/>
                <a:gd name="connsiteX8-721" fmla="*/ 689668 w 1404434"/>
                <a:gd name="connsiteY8-722" fmla="*/ 1609912 h 3550128"/>
                <a:gd name="connsiteX9-723" fmla="*/ 823018 w 1404434"/>
                <a:gd name="connsiteY9-724" fmla="*/ 1295587 h 3550128"/>
                <a:gd name="connsiteX10-725" fmla="*/ 765868 w 1404434"/>
                <a:gd name="connsiteY10-726" fmla="*/ 771712 h 3550128"/>
                <a:gd name="connsiteX11-727" fmla="*/ 537268 w 1404434"/>
                <a:gd name="connsiteY11-728" fmla="*/ 628837 h 3550128"/>
                <a:gd name="connsiteX12-729" fmla="*/ 689668 w 1404434"/>
                <a:gd name="connsiteY12-730" fmla="*/ 628837 h 3550128"/>
                <a:gd name="connsiteX13-731" fmla="*/ 765868 w 1404434"/>
                <a:gd name="connsiteY13-732" fmla="*/ 714562 h 3550128"/>
                <a:gd name="connsiteX14-733" fmla="*/ 870643 w 1404434"/>
                <a:gd name="connsiteY14-734" fmla="*/ 187 h 3550128"/>
                <a:gd name="connsiteX15-735" fmla="*/ 832543 w 1404434"/>
                <a:gd name="connsiteY15-736" fmla="*/ 647887 h 3550128"/>
                <a:gd name="connsiteX16-737" fmla="*/ 908743 w 1404434"/>
                <a:gd name="connsiteY16-738" fmla="*/ 1038412 h 3550128"/>
                <a:gd name="connsiteX17-739" fmla="*/ 937318 w 1404434"/>
                <a:gd name="connsiteY17-740" fmla="*/ 1286062 h 3550128"/>
                <a:gd name="connsiteX18-741" fmla="*/ 1108768 w 1404434"/>
                <a:gd name="connsiteY18-742" fmla="*/ 1152712 h 3550128"/>
                <a:gd name="connsiteX19-743" fmla="*/ 1337368 w 1404434"/>
                <a:gd name="connsiteY19-744" fmla="*/ 1133662 h 3550128"/>
                <a:gd name="connsiteX20-745" fmla="*/ 1089718 w 1404434"/>
                <a:gd name="connsiteY20-746" fmla="*/ 1190812 h 3550128"/>
                <a:gd name="connsiteX21-747" fmla="*/ 880168 w 1404434"/>
                <a:gd name="connsiteY21-748" fmla="*/ 1495612 h 3550128"/>
                <a:gd name="connsiteX22-749" fmla="*/ 823018 w 1404434"/>
                <a:gd name="connsiteY22-750" fmla="*/ 1857562 h 3550128"/>
                <a:gd name="connsiteX23-751" fmla="*/ 975418 w 1404434"/>
                <a:gd name="connsiteY23-752" fmla="*/ 2314762 h 3550128"/>
                <a:gd name="connsiteX24-753" fmla="*/ 899218 w 1404434"/>
                <a:gd name="connsiteY24-754" fmla="*/ 2552887 h 3550128"/>
                <a:gd name="connsiteX25-755" fmla="*/ 1213543 w 1404434"/>
                <a:gd name="connsiteY25-756" fmla="*/ 2495737 h 3550128"/>
                <a:gd name="connsiteX26-757" fmla="*/ 1404043 w 1404434"/>
                <a:gd name="connsiteY26-758" fmla="*/ 2590987 h 3550128"/>
                <a:gd name="connsiteX27-759" fmla="*/ 1165918 w 1404434"/>
                <a:gd name="connsiteY27-760" fmla="*/ 2533837 h 3550128"/>
                <a:gd name="connsiteX28-761" fmla="*/ 832543 w 1404434"/>
                <a:gd name="connsiteY28-762" fmla="*/ 2695762 h 3550128"/>
                <a:gd name="connsiteX29-763" fmla="*/ 689668 w 1404434"/>
                <a:gd name="connsiteY29-764" fmla="*/ 3048187 h 3550128"/>
                <a:gd name="connsiteX30-765" fmla="*/ 918268 w 1404434"/>
                <a:gd name="connsiteY30-766" fmla="*/ 3381562 h 3550128"/>
                <a:gd name="connsiteX31-767" fmla="*/ 1016693 w 1404434"/>
                <a:gd name="connsiteY31-768" fmla="*/ 3543487 h 3550128"/>
                <a:gd name="connsiteX0-769" fmla="*/ 1016693 w 1404434"/>
                <a:gd name="connsiteY0-770" fmla="*/ 3543487 h 3550128"/>
                <a:gd name="connsiteX1-771" fmla="*/ 591243 w 1404434"/>
                <a:gd name="connsiteY1-772" fmla="*/ 3549837 h 3550128"/>
                <a:gd name="connsiteX2-773" fmla="*/ 394393 w 1404434"/>
                <a:gd name="connsiteY2-774" fmla="*/ 3038662 h 3550128"/>
                <a:gd name="connsiteX3-775" fmla="*/ 746818 w 1404434"/>
                <a:gd name="connsiteY3-776" fmla="*/ 2343337 h 3550128"/>
                <a:gd name="connsiteX4-777" fmla="*/ 560128 w 1404434"/>
                <a:gd name="connsiteY4-778" fmla="*/ 1884232 h 3550128"/>
                <a:gd name="connsiteX5-779" fmla="*/ 58 w 1404434"/>
                <a:gd name="connsiteY5-780" fmla="*/ 1832797 h 3550128"/>
                <a:gd name="connsiteX6-781" fmla="*/ 394393 w 1404434"/>
                <a:gd name="connsiteY6-782" fmla="*/ 1705162 h 3550128"/>
                <a:gd name="connsiteX7-783" fmla="*/ 642043 w 1404434"/>
                <a:gd name="connsiteY7-784" fmla="*/ 1838512 h 3550128"/>
                <a:gd name="connsiteX8-785" fmla="*/ 689668 w 1404434"/>
                <a:gd name="connsiteY8-786" fmla="*/ 1609912 h 3550128"/>
                <a:gd name="connsiteX9-787" fmla="*/ 823018 w 1404434"/>
                <a:gd name="connsiteY9-788" fmla="*/ 1295587 h 3550128"/>
                <a:gd name="connsiteX10-789" fmla="*/ 765868 w 1404434"/>
                <a:gd name="connsiteY10-790" fmla="*/ 771712 h 3550128"/>
                <a:gd name="connsiteX11-791" fmla="*/ 537268 w 1404434"/>
                <a:gd name="connsiteY11-792" fmla="*/ 628837 h 3550128"/>
                <a:gd name="connsiteX12-793" fmla="*/ 689668 w 1404434"/>
                <a:gd name="connsiteY12-794" fmla="*/ 628837 h 3550128"/>
                <a:gd name="connsiteX13-795" fmla="*/ 765868 w 1404434"/>
                <a:gd name="connsiteY13-796" fmla="*/ 714562 h 3550128"/>
                <a:gd name="connsiteX14-797" fmla="*/ 870643 w 1404434"/>
                <a:gd name="connsiteY14-798" fmla="*/ 187 h 3550128"/>
                <a:gd name="connsiteX15-799" fmla="*/ 832543 w 1404434"/>
                <a:gd name="connsiteY15-800" fmla="*/ 647887 h 3550128"/>
                <a:gd name="connsiteX16-801" fmla="*/ 908743 w 1404434"/>
                <a:gd name="connsiteY16-802" fmla="*/ 1038412 h 3550128"/>
                <a:gd name="connsiteX17-803" fmla="*/ 937318 w 1404434"/>
                <a:gd name="connsiteY17-804" fmla="*/ 1286062 h 3550128"/>
                <a:gd name="connsiteX18-805" fmla="*/ 1108768 w 1404434"/>
                <a:gd name="connsiteY18-806" fmla="*/ 1152712 h 3550128"/>
                <a:gd name="connsiteX19-807" fmla="*/ 1337368 w 1404434"/>
                <a:gd name="connsiteY19-808" fmla="*/ 1133662 h 3550128"/>
                <a:gd name="connsiteX20-809" fmla="*/ 1089718 w 1404434"/>
                <a:gd name="connsiteY20-810" fmla="*/ 1190812 h 3550128"/>
                <a:gd name="connsiteX21-811" fmla="*/ 880168 w 1404434"/>
                <a:gd name="connsiteY21-812" fmla="*/ 1495612 h 3550128"/>
                <a:gd name="connsiteX22-813" fmla="*/ 823018 w 1404434"/>
                <a:gd name="connsiteY22-814" fmla="*/ 1857562 h 3550128"/>
                <a:gd name="connsiteX23-815" fmla="*/ 975418 w 1404434"/>
                <a:gd name="connsiteY23-816" fmla="*/ 2314762 h 3550128"/>
                <a:gd name="connsiteX24-817" fmla="*/ 899218 w 1404434"/>
                <a:gd name="connsiteY24-818" fmla="*/ 2552887 h 3550128"/>
                <a:gd name="connsiteX25-819" fmla="*/ 1213543 w 1404434"/>
                <a:gd name="connsiteY25-820" fmla="*/ 2495737 h 3550128"/>
                <a:gd name="connsiteX26-821" fmla="*/ 1404043 w 1404434"/>
                <a:gd name="connsiteY26-822" fmla="*/ 2590987 h 3550128"/>
                <a:gd name="connsiteX27-823" fmla="*/ 1165918 w 1404434"/>
                <a:gd name="connsiteY27-824" fmla="*/ 2533837 h 3550128"/>
                <a:gd name="connsiteX28-825" fmla="*/ 832543 w 1404434"/>
                <a:gd name="connsiteY28-826" fmla="*/ 2695762 h 3550128"/>
                <a:gd name="connsiteX29-827" fmla="*/ 689668 w 1404434"/>
                <a:gd name="connsiteY29-828" fmla="*/ 3048187 h 3550128"/>
                <a:gd name="connsiteX30-829" fmla="*/ 918268 w 1404434"/>
                <a:gd name="connsiteY30-830" fmla="*/ 3381562 h 3550128"/>
                <a:gd name="connsiteX31-831" fmla="*/ 1016693 w 1404434"/>
                <a:gd name="connsiteY31-832" fmla="*/ 3543487 h 3550128"/>
                <a:gd name="connsiteX0-833" fmla="*/ 1016693 w 1404434"/>
                <a:gd name="connsiteY0-834" fmla="*/ 3543487 h 3550128"/>
                <a:gd name="connsiteX1-835" fmla="*/ 591243 w 1404434"/>
                <a:gd name="connsiteY1-836" fmla="*/ 3549837 h 3550128"/>
                <a:gd name="connsiteX2-837" fmla="*/ 394393 w 1404434"/>
                <a:gd name="connsiteY2-838" fmla="*/ 3038662 h 3550128"/>
                <a:gd name="connsiteX3-839" fmla="*/ 746818 w 1404434"/>
                <a:gd name="connsiteY3-840" fmla="*/ 2343337 h 3550128"/>
                <a:gd name="connsiteX4-841" fmla="*/ 560128 w 1404434"/>
                <a:gd name="connsiteY4-842" fmla="*/ 1884232 h 3550128"/>
                <a:gd name="connsiteX5-843" fmla="*/ 58 w 1404434"/>
                <a:gd name="connsiteY5-844" fmla="*/ 1832797 h 3550128"/>
                <a:gd name="connsiteX6-845" fmla="*/ 394393 w 1404434"/>
                <a:gd name="connsiteY6-846" fmla="*/ 1705162 h 3550128"/>
                <a:gd name="connsiteX7-847" fmla="*/ 642043 w 1404434"/>
                <a:gd name="connsiteY7-848" fmla="*/ 1838512 h 3550128"/>
                <a:gd name="connsiteX8-849" fmla="*/ 689668 w 1404434"/>
                <a:gd name="connsiteY8-850" fmla="*/ 1609912 h 3550128"/>
                <a:gd name="connsiteX9-851" fmla="*/ 823018 w 1404434"/>
                <a:gd name="connsiteY9-852" fmla="*/ 1295587 h 3550128"/>
                <a:gd name="connsiteX10-853" fmla="*/ 765868 w 1404434"/>
                <a:gd name="connsiteY10-854" fmla="*/ 771712 h 3550128"/>
                <a:gd name="connsiteX11-855" fmla="*/ 537268 w 1404434"/>
                <a:gd name="connsiteY11-856" fmla="*/ 628837 h 3550128"/>
                <a:gd name="connsiteX12-857" fmla="*/ 689668 w 1404434"/>
                <a:gd name="connsiteY12-858" fmla="*/ 628837 h 3550128"/>
                <a:gd name="connsiteX13-859" fmla="*/ 765868 w 1404434"/>
                <a:gd name="connsiteY13-860" fmla="*/ 714562 h 3550128"/>
                <a:gd name="connsiteX14-861" fmla="*/ 870643 w 1404434"/>
                <a:gd name="connsiteY14-862" fmla="*/ 187 h 3550128"/>
                <a:gd name="connsiteX15-863" fmla="*/ 832543 w 1404434"/>
                <a:gd name="connsiteY15-864" fmla="*/ 647887 h 3550128"/>
                <a:gd name="connsiteX16-865" fmla="*/ 908743 w 1404434"/>
                <a:gd name="connsiteY16-866" fmla="*/ 1038412 h 3550128"/>
                <a:gd name="connsiteX17-867" fmla="*/ 937318 w 1404434"/>
                <a:gd name="connsiteY17-868" fmla="*/ 1286062 h 3550128"/>
                <a:gd name="connsiteX18-869" fmla="*/ 1108768 w 1404434"/>
                <a:gd name="connsiteY18-870" fmla="*/ 1152712 h 3550128"/>
                <a:gd name="connsiteX19-871" fmla="*/ 1337368 w 1404434"/>
                <a:gd name="connsiteY19-872" fmla="*/ 1133662 h 3550128"/>
                <a:gd name="connsiteX20-873" fmla="*/ 1089718 w 1404434"/>
                <a:gd name="connsiteY20-874" fmla="*/ 1190812 h 3550128"/>
                <a:gd name="connsiteX21-875" fmla="*/ 880168 w 1404434"/>
                <a:gd name="connsiteY21-876" fmla="*/ 1495612 h 3550128"/>
                <a:gd name="connsiteX22-877" fmla="*/ 823018 w 1404434"/>
                <a:gd name="connsiteY22-878" fmla="*/ 1857562 h 3550128"/>
                <a:gd name="connsiteX23-879" fmla="*/ 975418 w 1404434"/>
                <a:gd name="connsiteY23-880" fmla="*/ 2314762 h 3550128"/>
                <a:gd name="connsiteX24-881" fmla="*/ 899218 w 1404434"/>
                <a:gd name="connsiteY24-882" fmla="*/ 2552887 h 3550128"/>
                <a:gd name="connsiteX25-883" fmla="*/ 1213543 w 1404434"/>
                <a:gd name="connsiteY25-884" fmla="*/ 2495737 h 3550128"/>
                <a:gd name="connsiteX26-885" fmla="*/ 1404043 w 1404434"/>
                <a:gd name="connsiteY26-886" fmla="*/ 2590987 h 3550128"/>
                <a:gd name="connsiteX27-887" fmla="*/ 1165918 w 1404434"/>
                <a:gd name="connsiteY27-888" fmla="*/ 2533837 h 3550128"/>
                <a:gd name="connsiteX28-889" fmla="*/ 832543 w 1404434"/>
                <a:gd name="connsiteY28-890" fmla="*/ 2695762 h 3550128"/>
                <a:gd name="connsiteX29-891" fmla="*/ 689668 w 1404434"/>
                <a:gd name="connsiteY29-892" fmla="*/ 3048187 h 3550128"/>
                <a:gd name="connsiteX30-893" fmla="*/ 918268 w 1404434"/>
                <a:gd name="connsiteY30-894" fmla="*/ 3381562 h 3550128"/>
                <a:gd name="connsiteX31-895" fmla="*/ 1016693 w 1404434"/>
                <a:gd name="connsiteY31-896" fmla="*/ 3543487 h 3550128"/>
                <a:gd name="connsiteX0-897" fmla="*/ 1016693 w 1404434"/>
                <a:gd name="connsiteY0-898" fmla="*/ 3543487 h 3550128"/>
                <a:gd name="connsiteX1-899" fmla="*/ 591243 w 1404434"/>
                <a:gd name="connsiteY1-900" fmla="*/ 3549837 h 3550128"/>
                <a:gd name="connsiteX2-901" fmla="*/ 394393 w 1404434"/>
                <a:gd name="connsiteY2-902" fmla="*/ 3038662 h 3550128"/>
                <a:gd name="connsiteX3-903" fmla="*/ 746818 w 1404434"/>
                <a:gd name="connsiteY3-904" fmla="*/ 2343337 h 3550128"/>
                <a:gd name="connsiteX4-905" fmla="*/ 560128 w 1404434"/>
                <a:gd name="connsiteY4-906" fmla="*/ 1884232 h 3550128"/>
                <a:gd name="connsiteX5-907" fmla="*/ 58 w 1404434"/>
                <a:gd name="connsiteY5-908" fmla="*/ 1832797 h 3550128"/>
                <a:gd name="connsiteX6-909" fmla="*/ 394393 w 1404434"/>
                <a:gd name="connsiteY6-910" fmla="*/ 1705162 h 3550128"/>
                <a:gd name="connsiteX7-911" fmla="*/ 642043 w 1404434"/>
                <a:gd name="connsiteY7-912" fmla="*/ 1838512 h 3550128"/>
                <a:gd name="connsiteX8-913" fmla="*/ 689668 w 1404434"/>
                <a:gd name="connsiteY8-914" fmla="*/ 1609912 h 3550128"/>
                <a:gd name="connsiteX9-915" fmla="*/ 823018 w 1404434"/>
                <a:gd name="connsiteY9-916" fmla="*/ 1295587 h 3550128"/>
                <a:gd name="connsiteX10-917" fmla="*/ 765868 w 1404434"/>
                <a:gd name="connsiteY10-918" fmla="*/ 771712 h 3550128"/>
                <a:gd name="connsiteX11-919" fmla="*/ 537268 w 1404434"/>
                <a:gd name="connsiteY11-920" fmla="*/ 628837 h 3550128"/>
                <a:gd name="connsiteX12-921" fmla="*/ 689668 w 1404434"/>
                <a:gd name="connsiteY12-922" fmla="*/ 628837 h 3550128"/>
                <a:gd name="connsiteX13-923" fmla="*/ 765868 w 1404434"/>
                <a:gd name="connsiteY13-924" fmla="*/ 714562 h 3550128"/>
                <a:gd name="connsiteX14-925" fmla="*/ 870643 w 1404434"/>
                <a:gd name="connsiteY14-926" fmla="*/ 187 h 3550128"/>
                <a:gd name="connsiteX15-927" fmla="*/ 832543 w 1404434"/>
                <a:gd name="connsiteY15-928" fmla="*/ 647887 h 3550128"/>
                <a:gd name="connsiteX16-929" fmla="*/ 908743 w 1404434"/>
                <a:gd name="connsiteY16-930" fmla="*/ 1038412 h 3550128"/>
                <a:gd name="connsiteX17-931" fmla="*/ 937318 w 1404434"/>
                <a:gd name="connsiteY17-932" fmla="*/ 1286062 h 3550128"/>
                <a:gd name="connsiteX18-933" fmla="*/ 1108768 w 1404434"/>
                <a:gd name="connsiteY18-934" fmla="*/ 1152712 h 3550128"/>
                <a:gd name="connsiteX19-935" fmla="*/ 1337368 w 1404434"/>
                <a:gd name="connsiteY19-936" fmla="*/ 1133662 h 3550128"/>
                <a:gd name="connsiteX20-937" fmla="*/ 1089718 w 1404434"/>
                <a:gd name="connsiteY20-938" fmla="*/ 1190812 h 3550128"/>
                <a:gd name="connsiteX21-939" fmla="*/ 880168 w 1404434"/>
                <a:gd name="connsiteY21-940" fmla="*/ 1495612 h 3550128"/>
                <a:gd name="connsiteX22-941" fmla="*/ 823018 w 1404434"/>
                <a:gd name="connsiteY22-942" fmla="*/ 1857562 h 3550128"/>
                <a:gd name="connsiteX23-943" fmla="*/ 975418 w 1404434"/>
                <a:gd name="connsiteY23-944" fmla="*/ 2314762 h 3550128"/>
                <a:gd name="connsiteX24-945" fmla="*/ 899218 w 1404434"/>
                <a:gd name="connsiteY24-946" fmla="*/ 2552887 h 3550128"/>
                <a:gd name="connsiteX25-947" fmla="*/ 1213543 w 1404434"/>
                <a:gd name="connsiteY25-948" fmla="*/ 2495737 h 3550128"/>
                <a:gd name="connsiteX26-949" fmla="*/ 1404043 w 1404434"/>
                <a:gd name="connsiteY26-950" fmla="*/ 2590987 h 3550128"/>
                <a:gd name="connsiteX27-951" fmla="*/ 1165918 w 1404434"/>
                <a:gd name="connsiteY27-952" fmla="*/ 2533837 h 3550128"/>
                <a:gd name="connsiteX28-953" fmla="*/ 832543 w 1404434"/>
                <a:gd name="connsiteY28-954" fmla="*/ 2695762 h 3550128"/>
                <a:gd name="connsiteX29-955" fmla="*/ 689668 w 1404434"/>
                <a:gd name="connsiteY29-956" fmla="*/ 3048187 h 3550128"/>
                <a:gd name="connsiteX30-957" fmla="*/ 918268 w 1404434"/>
                <a:gd name="connsiteY30-958" fmla="*/ 3381562 h 3550128"/>
                <a:gd name="connsiteX31-959" fmla="*/ 1016693 w 1404434"/>
                <a:gd name="connsiteY31-960" fmla="*/ 3543487 h 3550128"/>
                <a:gd name="connsiteX0-961" fmla="*/ 1016693 w 1404434"/>
                <a:gd name="connsiteY0-962" fmla="*/ 3543487 h 3550128"/>
                <a:gd name="connsiteX1-963" fmla="*/ 591243 w 1404434"/>
                <a:gd name="connsiteY1-964" fmla="*/ 3549837 h 3550128"/>
                <a:gd name="connsiteX2-965" fmla="*/ 394393 w 1404434"/>
                <a:gd name="connsiteY2-966" fmla="*/ 3038662 h 3550128"/>
                <a:gd name="connsiteX3-967" fmla="*/ 746818 w 1404434"/>
                <a:gd name="connsiteY3-968" fmla="*/ 2343337 h 3550128"/>
                <a:gd name="connsiteX4-969" fmla="*/ 560128 w 1404434"/>
                <a:gd name="connsiteY4-970" fmla="*/ 1884232 h 3550128"/>
                <a:gd name="connsiteX5-971" fmla="*/ 58 w 1404434"/>
                <a:gd name="connsiteY5-972" fmla="*/ 1832797 h 3550128"/>
                <a:gd name="connsiteX6-973" fmla="*/ 394393 w 1404434"/>
                <a:gd name="connsiteY6-974" fmla="*/ 1705162 h 3550128"/>
                <a:gd name="connsiteX7-975" fmla="*/ 642043 w 1404434"/>
                <a:gd name="connsiteY7-976" fmla="*/ 1838512 h 3550128"/>
                <a:gd name="connsiteX8-977" fmla="*/ 689668 w 1404434"/>
                <a:gd name="connsiteY8-978" fmla="*/ 1609912 h 3550128"/>
                <a:gd name="connsiteX9-979" fmla="*/ 823018 w 1404434"/>
                <a:gd name="connsiteY9-980" fmla="*/ 1295587 h 3550128"/>
                <a:gd name="connsiteX10-981" fmla="*/ 765868 w 1404434"/>
                <a:gd name="connsiteY10-982" fmla="*/ 771712 h 3550128"/>
                <a:gd name="connsiteX11-983" fmla="*/ 537268 w 1404434"/>
                <a:gd name="connsiteY11-984" fmla="*/ 628837 h 3550128"/>
                <a:gd name="connsiteX12-985" fmla="*/ 689668 w 1404434"/>
                <a:gd name="connsiteY12-986" fmla="*/ 628837 h 3550128"/>
                <a:gd name="connsiteX13-987" fmla="*/ 765868 w 1404434"/>
                <a:gd name="connsiteY13-988" fmla="*/ 714562 h 3550128"/>
                <a:gd name="connsiteX14-989" fmla="*/ 870643 w 1404434"/>
                <a:gd name="connsiteY14-990" fmla="*/ 187 h 3550128"/>
                <a:gd name="connsiteX15-991" fmla="*/ 832543 w 1404434"/>
                <a:gd name="connsiteY15-992" fmla="*/ 647887 h 3550128"/>
                <a:gd name="connsiteX16-993" fmla="*/ 908743 w 1404434"/>
                <a:gd name="connsiteY16-994" fmla="*/ 1038412 h 3550128"/>
                <a:gd name="connsiteX17-995" fmla="*/ 937318 w 1404434"/>
                <a:gd name="connsiteY17-996" fmla="*/ 1286062 h 3550128"/>
                <a:gd name="connsiteX18-997" fmla="*/ 1108768 w 1404434"/>
                <a:gd name="connsiteY18-998" fmla="*/ 1152712 h 3550128"/>
                <a:gd name="connsiteX19-999" fmla="*/ 1337368 w 1404434"/>
                <a:gd name="connsiteY19-1000" fmla="*/ 1133662 h 3550128"/>
                <a:gd name="connsiteX20-1001" fmla="*/ 1089718 w 1404434"/>
                <a:gd name="connsiteY20-1002" fmla="*/ 1190812 h 3550128"/>
                <a:gd name="connsiteX21-1003" fmla="*/ 880168 w 1404434"/>
                <a:gd name="connsiteY21-1004" fmla="*/ 1495612 h 3550128"/>
                <a:gd name="connsiteX22-1005" fmla="*/ 823018 w 1404434"/>
                <a:gd name="connsiteY22-1006" fmla="*/ 1857562 h 3550128"/>
                <a:gd name="connsiteX23-1007" fmla="*/ 975418 w 1404434"/>
                <a:gd name="connsiteY23-1008" fmla="*/ 2314762 h 3550128"/>
                <a:gd name="connsiteX24-1009" fmla="*/ 899218 w 1404434"/>
                <a:gd name="connsiteY24-1010" fmla="*/ 2552887 h 3550128"/>
                <a:gd name="connsiteX25-1011" fmla="*/ 1213543 w 1404434"/>
                <a:gd name="connsiteY25-1012" fmla="*/ 2495737 h 3550128"/>
                <a:gd name="connsiteX26-1013" fmla="*/ 1404043 w 1404434"/>
                <a:gd name="connsiteY26-1014" fmla="*/ 2590987 h 3550128"/>
                <a:gd name="connsiteX27-1015" fmla="*/ 1165918 w 1404434"/>
                <a:gd name="connsiteY27-1016" fmla="*/ 2533837 h 3550128"/>
                <a:gd name="connsiteX28-1017" fmla="*/ 832543 w 1404434"/>
                <a:gd name="connsiteY28-1018" fmla="*/ 2695762 h 3550128"/>
                <a:gd name="connsiteX29-1019" fmla="*/ 689668 w 1404434"/>
                <a:gd name="connsiteY29-1020" fmla="*/ 3048187 h 3550128"/>
                <a:gd name="connsiteX30-1021" fmla="*/ 918268 w 1404434"/>
                <a:gd name="connsiteY30-1022" fmla="*/ 3381562 h 3550128"/>
                <a:gd name="connsiteX31-1023" fmla="*/ 1016693 w 1404434"/>
                <a:gd name="connsiteY31-1024" fmla="*/ 3543487 h 3550128"/>
                <a:gd name="connsiteX0-1025" fmla="*/ 1016693 w 1404434"/>
                <a:gd name="connsiteY0-1026" fmla="*/ 3543487 h 3550128"/>
                <a:gd name="connsiteX1-1027" fmla="*/ 591243 w 1404434"/>
                <a:gd name="connsiteY1-1028" fmla="*/ 3549837 h 3550128"/>
                <a:gd name="connsiteX2-1029" fmla="*/ 394393 w 1404434"/>
                <a:gd name="connsiteY2-1030" fmla="*/ 3038662 h 3550128"/>
                <a:gd name="connsiteX3-1031" fmla="*/ 746818 w 1404434"/>
                <a:gd name="connsiteY3-1032" fmla="*/ 2343337 h 3550128"/>
                <a:gd name="connsiteX4-1033" fmla="*/ 560128 w 1404434"/>
                <a:gd name="connsiteY4-1034" fmla="*/ 1884232 h 3550128"/>
                <a:gd name="connsiteX5-1035" fmla="*/ 58 w 1404434"/>
                <a:gd name="connsiteY5-1036" fmla="*/ 1832797 h 3550128"/>
                <a:gd name="connsiteX6-1037" fmla="*/ 394393 w 1404434"/>
                <a:gd name="connsiteY6-1038" fmla="*/ 1705162 h 3550128"/>
                <a:gd name="connsiteX7-1039" fmla="*/ 642043 w 1404434"/>
                <a:gd name="connsiteY7-1040" fmla="*/ 1838512 h 3550128"/>
                <a:gd name="connsiteX8-1041" fmla="*/ 689668 w 1404434"/>
                <a:gd name="connsiteY8-1042" fmla="*/ 1609912 h 3550128"/>
                <a:gd name="connsiteX9-1043" fmla="*/ 823018 w 1404434"/>
                <a:gd name="connsiteY9-1044" fmla="*/ 1295587 h 3550128"/>
                <a:gd name="connsiteX10-1045" fmla="*/ 765868 w 1404434"/>
                <a:gd name="connsiteY10-1046" fmla="*/ 771712 h 3550128"/>
                <a:gd name="connsiteX11-1047" fmla="*/ 537268 w 1404434"/>
                <a:gd name="connsiteY11-1048" fmla="*/ 628837 h 3550128"/>
                <a:gd name="connsiteX12-1049" fmla="*/ 689668 w 1404434"/>
                <a:gd name="connsiteY12-1050" fmla="*/ 628837 h 3550128"/>
                <a:gd name="connsiteX13-1051" fmla="*/ 765868 w 1404434"/>
                <a:gd name="connsiteY13-1052" fmla="*/ 714562 h 3550128"/>
                <a:gd name="connsiteX14-1053" fmla="*/ 870643 w 1404434"/>
                <a:gd name="connsiteY14-1054" fmla="*/ 187 h 3550128"/>
                <a:gd name="connsiteX15-1055" fmla="*/ 832543 w 1404434"/>
                <a:gd name="connsiteY15-1056" fmla="*/ 647887 h 3550128"/>
                <a:gd name="connsiteX16-1057" fmla="*/ 908743 w 1404434"/>
                <a:gd name="connsiteY16-1058" fmla="*/ 1038412 h 3550128"/>
                <a:gd name="connsiteX17-1059" fmla="*/ 937318 w 1404434"/>
                <a:gd name="connsiteY17-1060" fmla="*/ 1286062 h 3550128"/>
                <a:gd name="connsiteX18-1061" fmla="*/ 1108768 w 1404434"/>
                <a:gd name="connsiteY18-1062" fmla="*/ 1152712 h 3550128"/>
                <a:gd name="connsiteX19-1063" fmla="*/ 1337368 w 1404434"/>
                <a:gd name="connsiteY19-1064" fmla="*/ 1133662 h 3550128"/>
                <a:gd name="connsiteX20-1065" fmla="*/ 1089718 w 1404434"/>
                <a:gd name="connsiteY20-1066" fmla="*/ 1190812 h 3550128"/>
                <a:gd name="connsiteX21-1067" fmla="*/ 880168 w 1404434"/>
                <a:gd name="connsiteY21-1068" fmla="*/ 1495612 h 3550128"/>
                <a:gd name="connsiteX22-1069" fmla="*/ 823018 w 1404434"/>
                <a:gd name="connsiteY22-1070" fmla="*/ 1857562 h 3550128"/>
                <a:gd name="connsiteX23-1071" fmla="*/ 975418 w 1404434"/>
                <a:gd name="connsiteY23-1072" fmla="*/ 2314762 h 3550128"/>
                <a:gd name="connsiteX24-1073" fmla="*/ 899218 w 1404434"/>
                <a:gd name="connsiteY24-1074" fmla="*/ 2552887 h 3550128"/>
                <a:gd name="connsiteX25-1075" fmla="*/ 1213543 w 1404434"/>
                <a:gd name="connsiteY25-1076" fmla="*/ 2495737 h 3550128"/>
                <a:gd name="connsiteX26-1077" fmla="*/ 1404043 w 1404434"/>
                <a:gd name="connsiteY26-1078" fmla="*/ 2590987 h 3550128"/>
                <a:gd name="connsiteX27-1079" fmla="*/ 1165918 w 1404434"/>
                <a:gd name="connsiteY27-1080" fmla="*/ 2533837 h 3550128"/>
                <a:gd name="connsiteX28-1081" fmla="*/ 832543 w 1404434"/>
                <a:gd name="connsiteY28-1082" fmla="*/ 2695762 h 3550128"/>
                <a:gd name="connsiteX29-1083" fmla="*/ 689668 w 1404434"/>
                <a:gd name="connsiteY29-1084" fmla="*/ 3048187 h 3550128"/>
                <a:gd name="connsiteX30-1085" fmla="*/ 918268 w 1404434"/>
                <a:gd name="connsiteY30-1086" fmla="*/ 3381562 h 3550128"/>
                <a:gd name="connsiteX31-1087" fmla="*/ 1016693 w 1404434"/>
                <a:gd name="connsiteY31-1088" fmla="*/ 3543487 h 3550128"/>
                <a:gd name="connsiteX0-1089" fmla="*/ 1016693 w 1404434"/>
                <a:gd name="connsiteY0-1090" fmla="*/ 3543487 h 3550128"/>
                <a:gd name="connsiteX1-1091" fmla="*/ 591243 w 1404434"/>
                <a:gd name="connsiteY1-1092" fmla="*/ 3549837 h 3550128"/>
                <a:gd name="connsiteX2-1093" fmla="*/ 394393 w 1404434"/>
                <a:gd name="connsiteY2-1094" fmla="*/ 3038662 h 3550128"/>
                <a:gd name="connsiteX3-1095" fmla="*/ 746818 w 1404434"/>
                <a:gd name="connsiteY3-1096" fmla="*/ 2343337 h 3550128"/>
                <a:gd name="connsiteX4-1097" fmla="*/ 560128 w 1404434"/>
                <a:gd name="connsiteY4-1098" fmla="*/ 1884232 h 3550128"/>
                <a:gd name="connsiteX5-1099" fmla="*/ 58 w 1404434"/>
                <a:gd name="connsiteY5-1100" fmla="*/ 1832797 h 3550128"/>
                <a:gd name="connsiteX6-1101" fmla="*/ 394393 w 1404434"/>
                <a:gd name="connsiteY6-1102" fmla="*/ 1705162 h 3550128"/>
                <a:gd name="connsiteX7-1103" fmla="*/ 642043 w 1404434"/>
                <a:gd name="connsiteY7-1104" fmla="*/ 1838512 h 3550128"/>
                <a:gd name="connsiteX8-1105" fmla="*/ 689668 w 1404434"/>
                <a:gd name="connsiteY8-1106" fmla="*/ 1609912 h 3550128"/>
                <a:gd name="connsiteX9-1107" fmla="*/ 823018 w 1404434"/>
                <a:gd name="connsiteY9-1108" fmla="*/ 1295587 h 3550128"/>
                <a:gd name="connsiteX10-1109" fmla="*/ 765868 w 1404434"/>
                <a:gd name="connsiteY10-1110" fmla="*/ 771712 h 3550128"/>
                <a:gd name="connsiteX11-1111" fmla="*/ 537268 w 1404434"/>
                <a:gd name="connsiteY11-1112" fmla="*/ 628837 h 3550128"/>
                <a:gd name="connsiteX12-1113" fmla="*/ 689668 w 1404434"/>
                <a:gd name="connsiteY12-1114" fmla="*/ 628837 h 3550128"/>
                <a:gd name="connsiteX13-1115" fmla="*/ 765868 w 1404434"/>
                <a:gd name="connsiteY13-1116" fmla="*/ 714562 h 3550128"/>
                <a:gd name="connsiteX14-1117" fmla="*/ 870643 w 1404434"/>
                <a:gd name="connsiteY14-1118" fmla="*/ 187 h 3550128"/>
                <a:gd name="connsiteX15-1119" fmla="*/ 832543 w 1404434"/>
                <a:gd name="connsiteY15-1120" fmla="*/ 647887 h 3550128"/>
                <a:gd name="connsiteX16-1121" fmla="*/ 908743 w 1404434"/>
                <a:gd name="connsiteY16-1122" fmla="*/ 1038412 h 3550128"/>
                <a:gd name="connsiteX17-1123" fmla="*/ 937318 w 1404434"/>
                <a:gd name="connsiteY17-1124" fmla="*/ 1286062 h 3550128"/>
                <a:gd name="connsiteX18-1125" fmla="*/ 1108768 w 1404434"/>
                <a:gd name="connsiteY18-1126" fmla="*/ 1152712 h 3550128"/>
                <a:gd name="connsiteX19-1127" fmla="*/ 1337368 w 1404434"/>
                <a:gd name="connsiteY19-1128" fmla="*/ 1133662 h 3550128"/>
                <a:gd name="connsiteX20-1129" fmla="*/ 1089718 w 1404434"/>
                <a:gd name="connsiteY20-1130" fmla="*/ 1190812 h 3550128"/>
                <a:gd name="connsiteX21-1131" fmla="*/ 880168 w 1404434"/>
                <a:gd name="connsiteY21-1132" fmla="*/ 1495612 h 3550128"/>
                <a:gd name="connsiteX22-1133" fmla="*/ 823018 w 1404434"/>
                <a:gd name="connsiteY22-1134" fmla="*/ 1857562 h 3550128"/>
                <a:gd name="connsiteX23-1135" fmla="*/ 975418 w 1404434"/>
                <a:gd name="connsiteY23-1136" fmla="*/ 2314762 h 3550128"/>
                <a:gd name="connsiteX24-1137" fmla="*/ 899218 w 1404434"/>
                <a:gd name="connsiteY24-1138" fmla="*/ 2552887 h 3550128"/>
                <a:gd name="connsiteX25-1139" fmla="*/ 1213543 w 1404434"/>
                <a:gd name="connsiteY25-1140" fmla="*/ 2495737 h 3550128"/>
                <a:gd name="connsiteX26-1141" fmla="*/ 1404043 w 1404434"/>
                <a:gd name="connsiteY26-1142" fmla="*/ 2590987 h 3550128"/>
                <a:gd name="connsiteX27-1143" fmla="*/ 1165918 w 1404434"/>
                <a:gd name="connsiteY27-1144" fmla="*/ 2533837 h 3550128"/>
                <a:gd name="connsiteX28-1145" fmla="*/ 832543 w 1404434"/>
                <a:gd name="connsiteY28-1146" fmla="*/ 2695762 h 3550128"/>
                <a:gd name="connsiteX29-1147" fmla="*/ 689668 w 1404434"/>
                <a:gd name="connsiteY29-1148" fmla="*/ 3048187 h 3550128"/>
                <a:gd name="connsiteX30-1149" fmla="*/ 918268 w 1404434"/>
                <a:gd name="connsiteY30-1150" fmla="*/ 3381562 h 3550128"/>
                <a:gd name="connsiteX31-1151" fmla="*/ 1016693 w 1404434"/>
                <a:gd name="connsiteY31-1152" fmla="*/ 3543487 h 3550128"/>
                <a:gd name="connsiteX0-1153" fmla="*/ 1016693 w 1404434"/>
                <a:gd name="connsiteY0-1154" fmla="*/ 3543487 h 3550128"/>
                <a:gd name="connsiteX1-1155" fmla="*/ 591243 w 1404434"/>
                <a:gd name="connsiteY1-1156" fmla="*/ 3549837 h 3550128"/>
                <a:gd name="connsiteX2-1157" fmla="*/ 394393 w 1404434"/>
                <a:gd name="connsiteY2-1158" fmla="*/ 3038662 h 3550128"/>
                <a:gd name="connsiteX3-1159" fmla="*/ 746818 w 1404434"/>
                <a:gd name="connsiteY3-1160" fmla="*/ 2343337 h 3550128"/>
                <a:gd name="connsiteX4-1161" fmla="*/ 560128 w 1404434"/>
                <a:gd name="connsiteY4-1162" fmla="*/ 1884232 h 3550128"/>
                <a:gd name="connsiteX5-1163" fmla="*/ 58 w 1404434"/>
                <a:gd name="connsiteY5-1164" fmla="*/ 1832797 h 3550128"/>
                <a:gd name="connsiteX6-1165" fmla="*/ 394393 w 1404434"/>
                <a:gd name="connsiteY6-1166" fmla="*/ 1705162 h 3550128"/>
                <a:gd name="connsiteX7-1167" fmla="*/ 642043 w 1404434"/>
                <a:gd name="connsiteY7-1168" fmla="*/ 1838512 h 3550128"/>
                <a:gd name="connsiteX8-1169" fmla="*/ 689668 w 1404434"/>
                <a:gd name="connsiteY8-1170" fmla="*/ 1609912 h 3550128"/>
                <a:gd name="connsiteX9-1171" fmla="*/ 823018 w 1404434"/>
                <a:gd name="connsiteY9-1172" fmla="*/ 1295587 h 3550128"/>
                <a:gd name="connsiteX10-1173" fmla="*/ 765868 w 1404434"/>
                <a:gd name="connsiteY10-1174" fmla="*/ 771712 h 3550128"/>
                <a:gd name="connsiteX11-1175" fmla="*/ 537268 w 1404434"/>
                <a:gd name="connsiteY11-1176" fmla="*/ 628837 h 3550128"/>
                <a:gd name="connsiteX12-1177" fmla="*/ 689668 w 1404434"/>
                <a:gd name="connsiteY12-1178" fmla="*/ 628837 h 3550128"/>
                <a:gd name="connsiteX13-1179" fmla="*/ 765868 w 1404434"/>
                <a:gd name="connsiteY13-1180" fmla="*/ 714562 h 3550128"/>
                <a:gd name="connsiteX14-1181" fmla="*/ 870643 w 1404434"/>
                <a:gd name="connsiteY14-1182" fmla="*/ 187 h 3550128"/>
                <a:gd name="connsiteX15-1183" fmla="*/ 832543 w 1404434"/>
                <a:gd name="connsiteY15-1184" fmla="*/ 647887 h 3550128"/>
                <a:gd name="connsiteX16-1185" fmla="*/ 908743 w 1404434"/>
                <a:gd name="connsiteY16-1186" fmla="*/ 1038412 h 3550128"/>
                <a:gd name="connsiteX17-1187" fmla="*/ 937318 w 1404434"/>
                <a:gd name="connsiteY17-1188" fmla="*/ 1286062 h 3550128"/>
                <a:gd name="connsiteX18-1189" fmla="*/ 1108768 w 1404434"/>
                <a:gd name="connsiteY18-1190" fmla="*/ 1152712 h 3550128"/>
                <a:gd name="connsiteX19-1191" fmla="*/ 1337368 w 1404434"/>
                <a:gd name="connsiteY19-1192" fmla="*/ 1133662 h 3550128"/>
                <a:gd name="connsiteX20-1193" fmla="*/ 1089718 w 1404434"/>
                <a:gd name="connsiteY20-1194" fmla="*/ 1190812 h 3550128"/>
                <a:gd name="connsiteX21-1195" fmla="*/ 880168 w 1404434"/>
                <a:gd name="connsiteY21-1196" fmla="*/ 1495612 h 3550128"/>
                <a:gd name="connsiteX22-1197" fmla="*/ 823018 w 1404434"/>
                <a:gd name="connsiteY22-1198" fmla="*/ 1857562 h 3550128"/>
                <a:gd name="connsiteX23-1199" fmla="*/ 975418 w 1404434"/>
                <a:gd name="connsiteY23-1200" fmla="*/ 2314762 h 3550128"/>
                <a:gd name="connsiteX24-1201" fmla="*/ 899218 w 1404434"/>
                <a:gd name="connsiteY24-1202" fmla="*/ 2552887 h 3550128"/>
                <a:gd name="connsiteX25-1203" fmla="*/ 1213543 w 1404434"/>
                <a:gd name="connsiteY25-1204" fmla="*/ 2495737 h 3550128"/>
                <a:gd name="connsiteX26-1205" fmla="*/ 1404043 w 1404434"/>
                <a:gd name="connsiteY26-1206" fmla="*/ 2590987 h 3550128"/>
                <a:gd name="connsiteX27-1207" fmla="*/ 1165918 w 1404434"/>
                <a:gd name="connsiteY27-1208" fmla="*/ 2533837 h 3550128"/>
                <a:gd name="connsiteX28-1209" fmla="*/ 832543 w 1404434"/>
                <a:gd name="connsiteY28-1210" fmla="*/ 2695762 h 3550128"/>
                <a:gd name="connsiteX29-1211" fmla="*/ 689668 w 1404434"/>
                <a:gd name="connsiteY29-1212" fmla="*/ 3048187 h 3550128"/>
                <a:gd name="connsiteX30-1213" fmla="*/ 918268 w 1404434"/>
                <a:gd name="connsiteY30-1214" fmla="*/ 3381562 h 3550128"/>
                <a:gd name="connsiteX31-1215" fmla="*/ 1016693 w 1404434"/>
                <a:gd name="connsiteY31-1216" fmla="*/ 3543487 h 3550128"/>
                <a:gd name="connsiteX0-1217" fmla="*/ 1016693 w 1404434"/>
                <a:gd name="connsiteY0-1218" fmla="*/ 3543487 h 3550128"/>
                <a:gd name="connsiteX1-1219" fmla="*/ 591243 w 1404434"/>
                <a:gd name="connsiteY1-1220" fmla="*/ 3549837 h 3550128"/>
                <a:gd name="connsiteX2-1221" fmla="*/ 394393 w 1404434"/>
                <a:gd name="connsiteY2-1222" fmla="*/ 3038662 h 3550128"/>
                <a:gd name="connsiteX3-1223" fmla="*/ 746818 w 1404434"/>
                <a:gd name="connsiteY3-1224" fmla="*/ 2343337 h 3550128"/>
                <a:gd name="connsiteX4-1225" fmla="*/ 560128 w 1404434"/>
                <a:gd name="connsiteY4-1226" fmla="*/ 1884232 h 3550128"/>
                <a:gd name="connsiteX5-1227" fmla="*/ 58 w 1404434"/>
                <a:gd name="connsiteY5-1228" fmla="*/ 1832797 h 3550128"/>
                <a:gd name="connsiteX6-1229" fmla="*/ 394393 w 1404434"/>
                <a:gd name="connsiteY6-1230" fmla="*/ 1705162 h 3550128"/>
                <a:gd name="connsiteX7-1231" fmla="*/ 642043 w 1404434"/>
                <a:gd name="connsiteY7-1232" fmla="*/ 1838512 h 3550128"/>
                <a:gd name="connsiteX8-1233" fmla="*/ 689668 w 1404434"/>
                <a:gd name="connsiteY8-1234" fmla="*/ 1609912 h 3550128"/>
                <a:gd name="connsiteX9-1235" fmla="*/ 823018 w 1404434"/>
                <a:gd name="connsiteY9-1236" fmla="*/ 1295587 h 3550128"/>
                <a:gd name="connsiteX10-1237" fmla="*/ 765868 w 1404434"/>
                <a:gd name="connsiteY10-1238" fmla="*/ 771712 h 3550128"/>
                <a:gd name="connsiteX11-1239" fmla="*/ 537268 w 1404434"/>
                <a:gd name="connsiteY11-1240" fmla="*/ 628837 h 3550128"/>
                <a:gd name="connsiteX12-1241" fmla="*/ 689668 w 1404434"/>
                <a:gd name="connsiteY12-1242" fmla="*/ 628837 h 3550128"/>
                <a:gd name="connsiteX13-1243" fmla="*/ 765868 w 1404434"/>
                <a:gd name="connsiteY13-1244" fmla="*/ 714562 h 3550128"/>
                <a:gd name="connsiteX14-1245" fmla="*/ 870643 w 1404434"/>
                <a:gd name="connsiteY14-1246" fmla="*/ 187 h 3550128"/>
                <a:gd name="connsiteX15-1247" fmla="*/ 832543 w 1404434"/>
                <a:gd name="connsiteY15-1248" fmla="*/ 647887 h 3550128"/>
                <a:gd name="connsiteX16-1249" fmla="*/ 908743 w 1404434"/>
                <a:gd name="connsiteY16-1250" fmla="*/ 1038412 h 3550128"/>
                <a:gd name="connsiteX17-1251" fmla="*/ 937318 w 1404434"/>
                <a:gd name="connsiteY17-1252" fmla="*/ 1286062 h 3550128"/>
                <a:gd name="connsiteX18-1253" fmla="*/ 1108768 w 1404434"/>
                <a:gd name="connsiteY18-1254" fmla="*/ 1152712 h 3550128"/>
                <a:gd name="connsiteX19-1255" fmla="*/ 1337368 w 1404434"/>
                <a:gd name="connsiteY19-1256" fmla="*/ 1133662 h 3550128"/>
                <a:gd name="connsiteX20-1257" fmla="*/ 1089718 w 1404434"/>
                <a:gd name="connsiteY20-1258" fmla="*/ 1190812 h 3550128"/>
                <a:gd name="connsiteX21-1259" fmla="*/ 880168 w 1404434"/>
                <a:gd name="connsiteY21-1260" fmla="*/ 1495612 h 3550128"/>
                <a:gd name="connsiteX22-1261" fmla="*/ 823018 w 1404434"/>
                <a:gd name="connsiteY22-1262" fmla="*/ 1857562 h 3550128"/>
                <a:gd name="connsiteX23-1263" fmla="*/ 975418 w 1404434"/>
                <a:gd name="connsiteY23-1264" fmla="*/ 2314762 h 3550128"/>
                <a:gd name="connsiteX24-1265" fmla="*/ 899218 w 1404434"/>
                <a:gd name="connsiteY24-1266" fmla="*/ 2552887 h 3550128"/>
                <a:gd name="connsiteX25-1267" fmla="*/ 1213543 w 1404434"/>
                <a:gd name="connsiteY25-1268" fmla="*/ 2495737 h 3550128"/>
                <a:gd name="connsiteX26-1269" fmla="*/ 1404043 w 1404434"/>
                <a:gd name="connsiteY26-1270" fmla="*/ 2590987 h 3550128"/>
                <a:gd name="connsiteX27-1271" fmla="*/ 1165918 w 1404434"/>
                <a:gd name="connsiteY27-1272" fmla="*/ 2533837 h 3550128"/>
                <a:gd name="connsiteX28-1273" fmla="*/ 832543 w 1404434"/>
                <a:gd name="connsiteY28-1274" fmla="*/ 2695762 h 3550128"/>
                <a:gd name="connsiteX29-1275" fmla="*/ 689668 w 1404434"/>
                <a:gd name="connsiteY29-1276" fmla="*/ 3048187 h 3550128"/>
                <a:gd name="connsiteX30-1277" fmla="*/ 918268 w 1404434"/>
                <a:gd name="connsiteY30-1278" fmla="*/ 3381562 h 3550128"/>
                <a:gd name="connsiteX31-1279" fmla="*/ 1016693 w 1404434"/>
                <a:gd name="connsiteY31-1280" fmla="*/ 3543487 h 3550128"/>
                <a:gd name="connsiteX0-1281" fmla="*/ 1016693 w 1404434"/>
                <a:gd name="connsiteY0-1282" fmla="*/ 3543487 h 3550128"/>
                <a:gd name="connsiteX1-1283" fmla="*/ 591243 w 1404434"/>
                <a:gd name="connsiteY1-1284" fmla="*/ 3549837 h 3550128"/>
                <a:gd name="connsiteX2-1285" fmla="*/ 394393 w 1404434"/>
                <a:gd name="connsiteY2-1286" fmla="*/ 3038662 h 3550128"/>
                <a:gd name="connsiteX3-1287" fmla="*/ 746818 w 1404434"/>
                <a:gd name="connsiteY3-1288" fmla="*/ 2343337 h 3550128"/>
                <a:gd name="connsiteX4-1289" fmla="*/ 560128 w 1404434"/>
                <a:gd name="connsiteY4-1290" fmla="*/ 1884232 h 3550128"/>
                <a:gd name="connsiteX5-1291" fmla="*/ 58 w 1404434"/>
                <a:gd name="connsiteY5-1292" fmla="*/ 1832797 h 3550128"/>
                <a:gd name="connsiteX6-1293" fmla="*/ 394393 w 1404434"/>
                <a:gd name="connsiteY6-1294" fmla="*/ 1705162 h 3550128"/>
                <a:gd name="connsiteX7-1295" fmla="*/ 642043 w 1404434"/>
                <a:gd name="connsiteY7-1296" fmla="*/ 1838512 h 3550128"/>
                <a:gd name="connsiteX8-1297" fmla="*/ 689668 w 1404434"/>
                <a:gd name="connsiteY8-1298" fmla="*/ 1609912 h 3550128"/>
                <a:gd name="connsiteX9-1299" fmla="*/ 823018 w 1404434"/>
                <a:gd name="connsiteY9-1300" fmla="*/ 1295587 h 3550128"/>
                <a:gd name="connsiteX10-1301" fmla="*/ 765868 w 1404434"/>
                <a:gd name="connsiteY10-1302" fmla="*/ 771712 h 3550128"/>
                <a:gd name="connsiteX11-1303" fmla="*/ 537268 w 1404434"/>
                <a:gd name="connsiteY11-1304" fmla="*/ 628837 h 3550128"/>
                <a:gd name="connsiteX12-1305" fmla="*/ 689668 w 1404434"/>
                <a:gd name="connsiteY12-1306" fmla="*/ 628837 h 3550128"/>
                <a:gd name="connsiteX13-1307" fmla="*/ 765868 w 1404434"/>
                <a:gd name="connsiteY13-1308" fmla="*/ 714562 h 3550128"/>
                <a:gd name="connsiteX14-1309" fmla="*/ 870643 w 1404434"/>
                <a:gd name="connsiteY14-1310" fmla="*/ 187 h 3550128"/>
                <a:gd name="connsiteX15-1311" fmla="*/ 832543 w 1404434"/>
                <a:gd name="connsiteY15-1312" fmla="*/ 647887 h 3550128"/>
                <a:gd name="connsiteX16-1313" fmla="*/ 908743 w 1404434"/>
                <a:gd name="connsiteY16-1314" fmla="*/ 1038412 h 3550128"/>
                <a:gd name="connsiteX17-1315" fmla="*/ 937318 w 1404434"/>
                <a:gd name="connsiteY17-1316" fmla="*/ 1286062 h 3550128"/>
                <a:gd name="connsiteX18-1317" fmla="*/ 1108768 w 1404434"/>
                <a:gd name="connsiteY18-1318" fmla="*/ 1152712 h 3550128"/>
                <a:gd name="connsiteX19-1319" fmla="*/ 1337368 w 1404434"/>
                <a:gd name="connsiteY19-1320" fmla="*/ 1133662 h 3550128"/>
                <a:gd name="connsiteX20-1321" fmla="*/ 1089718 w 1404434"/>
                <a:gd name="connsiteY20-1322" fmla="*/ 1190812 h 3550128"/>
                <a:gd name="connsiteX21-1323" fmla="*/ 880168 w 1404434"/>
                <a:gd name="connsiteY21-1324" fmla="*/ 1495612 h 3550128"/>
                <a:gd name="connsiteX22-1325" fmla="*/ 823018 w 1404434"/>
                <a:gd name="connsiteY22-1326" fmla="*/ 1857562 h 3550128"/>
                <a:gd name="connsiteX23-1327" fmla="*/ 975418 w 1404434"/>
                <a:gd name="connsiteY23-1328" fmla="*/ 2314762 h 3550128"/>
                <a:gd name="connsiteX24-1329" fmla="*/ 899218 w 1404434"/>
                <a:gd name="connsiteY24-1330" fmla="*/ 2552887 h 3550128"/>
                <a:gd name="connsiteX25-1331" fmla="*/ 1213543 w 1404434"/>
                <a:gd name="connsiteY25-1332" fmla="*/ 2495737 h 3550128"/>
                <a:gd name="connsiteX26-1333" fmla="*/ 1404043 w 1404434"/>
                <a:gd name="connsiteY26-1334" fmla="*/ 2590987 h 3550128"/>
                <a:gd name="connsiteX27-1335" fmla="*/ 1165918 w 1404434"/>
                <a:gd name="connsiteY27-1336" fmla="*/ 2533837 h 3550128"/>
                <a:gd name="connsiteX28-1337" fmla="*/ 832543 w 1404434"/>
                <a:gd name="connsiteY28-1338" fmla="*/ 2695762 h 3550128"/>
                <a:gd name="connsiteX29-1339" fmla="*/ 689668 w 1404434"/>
                <a:gd name="connsiteY29-1340" fmla="*/ 3048187 h 3550128"/>
                <a:gd name="connsiteX30-1341" fmla="*/ 918268 w 1404434"/>
                <a:gd name="connsiteY30-1342" fmla="*/ 3381562 h 3550128"/>
                <a:gd name="connsiteX31-1343" fmla="*/ 1016693 w 1404434"/>
                <a:gd name="connsiteY31-1344" fmla="*/ 3543487 h 3550128"/>
                <a:gd name="connsiteX0-1345" fmla="*/ 1016693 w 1404387"/>
                <a:gd name="connsiteY0-1346" fmla="*/ 3543487 h 3550128"/>
                <a:gd name="connsiteX1-1347" fmla="*/ 591243 w 1404387"/>
                <a:gd name="connsiteY1-1348" fmla="*/ 3549837 h 3550128"/>
                <a:gd name="connsiteX2-1349" fmla="*/ 394393 w 1404387"/>
                <a:gd name="connsiteY2-1350" fmla="*/ 3038662 h 3550128"/>
                <a:gd name="connsiteX3-1351" fmla="*/ 746818 w 1404387"/>
                <a:gd name="connsiteY3-1352" fmla="*/ 2343337 h 3550128"/>
                <a:gd name="connsiteX4-1353" fmla="*/ 560128 w 1404387"/>
                <a:gd name="connsiteY4-1354" fmla="*/ 1884232 h 3550128"/>
                <a:gd name="connsiteX5-1355" fmla="*/ 58 w 1404387"/>
                <a:gd name="connsiteY5-1356" fmla="*/ 1832797 h 3550128"/>
                <a:gd name="connsiteX6-1357" fmla="*/ 394393 w 1404387"/>
                <a:gd name="connsiteY6-1358" fmla="*/ 1705162 h 3550128"/>
                <a:gd name="connsiteX7-1359" fmla="*/ 642043 w 1404387"/>
                <a:gd name="connsiteY7-1360" fmla="*/ 1838512 h 3550128"/>
                <a:gd name="connsiteX8-1361" fmla="*/ 689668 w 1404387"/>
                <a:gd name="connsiteY8-1362" fmla="*/ 1609912 h 3550128"/>
                <a:gd name="connsiteX9-1363" fmla="*/ 823018 w 1404387"/>
                <a:gd name="connsiteY9-1364" fmla="*/ 1295587 h 3550128"/>
                <a:gd name="connsiteX10-1365" fmla="*/ 765868 w 1404387"/>
                <a:gd name="connsiteY10-1366" fmla="*/ 771712 h 3550128"/>
                <a:gd name="connsiteX11-1367" fmla="*/ 537268 w 1404387"/>
                <a:gd name="connsiteY11-1368" fmla="*/ 628837 h 3550128"/>
                <a:gd name="connsiteX12-1369" fmla="*/ 689668 w 1404387"/>
                <a:gd name="connsiteY12-1370" fmla="*/ 628837 h 3550128"/>
                <a:gd name="connsiteX13-1371" fmla="*/ 765868 w 1404387"/>
                <a:gd name="connsiteY13-1372" fmla="*/ 714562 h 3550128"/>
                <a:gd name="connsiteX14-1373" fmla="*/ 870643 w 1404387"/>
                <a:gd name="connsiteY14-1374" fmla="*/ 187 h 3550128"/>
                <a:gd name="connsiteX15-1375" fmla="*/ 832543 w 1404387"/>
                <a:gd name="connsiteY15-1376" fmla="*/ 647887 h 3550128"/>
                <a:gd name="connsiteX16-1377" fmla="*/ 908743 w 1404387"/>
                <a:gd name="connsiteY16-1378" fmla="*/ 1038412 h 3550128"/>
                <a:gd name="connsiteX17-1379" fmla="*/ 937318 w 1404387"/>
                <a:gd name="connsiteY17-1380" fmla="*/ 1286062 h 3550128"/>
                <a:gd name="connsiteX18-1381" fmla="*/ 1108768 w 1404387"/>
                <a:gd name="connsiteY18-1382" fmla="*/ 1152712 h 3550128"/>
                <a:gd name="connsiteX19-1383" fmla="*/ 1337368 w 1404387"/>
                <a:gd name="connsiteY19-1384" fmla="*/ 1133662 h 3550128"/>
                <a:gd name="connsiteX20-1385" fmla="*/ 1089718 w 1404387"/>
                <a:gd name="connsiteY20-1386" fmla="*/ 1190812 h 3550128"/>
                <a:gd name="connsiteX21-1387" fmla="*/ 880168 w 1404387"/>
                <a:gd name="connsiteY21-1388" fmla="*/ 1495612 h 3550128"/>
                <a:gd name="connsiteX22-1389" fmla="*/ 823018 w 1404387"/>
                <a:gd name="connsiteY22-1390" fmla="*/ 1857562 h 3550128"/>
                <a:gd name="connsiteX23-1391" fmla="*/ 975418 w 1404387"/>
                <a:gd name="connsiteY23-1392" fmla="*/ 2314762 h 3550128"/>
                <a:gd name="connsiteX24-1393" fmla="*/ 899218 w 1404387"/>
                <a:gd name="connsiteY24-1394" fmla="*/ 2552887 h 3550128"/>
                <a:gd name="connsiteX25-1395" fmla="*/ 1213543 w 1404387"/>
                <a:gd name="connsiteY25-1396" fmla="*/ 2495737 h 3550128"/>
                <a:gd name="connsiteX26-1397" fmla="*/ 1404043 w 1404387"/>
                <a:gd name="connsiteY26-1398" fmla="*/ 2590987 h 3550128"/>
                <a:gd name="connsiteX27-1399" fmla="*/ 1169093 w 1404387"/>
                <a:gd name="connsiteY27-1400" fmla="*/ 2543362 h 3550128"/>
                <a:gd name="connsiteX28-1401" fmla="*/ 832543 w 1404387"/>
                <a:gd name="connsiteY28-1402" fmla="*/ 2695762 h 3550128"/>
                <a:gd name="connsiteX29-1403" fmla="*/ 689668 w 1404387"/>
                <a:gd name="connsiteY29-1404" fmla="*/ 3048187 h 3550128"/>
                <a:gd name="connsiteX30-1405" fmla="*/ 918268 w 1404387"/>
                <a:gd name="connsiteY30-1406" fmla="*/ 3381562 h 3550128"/>
                <a:gd name="connsiteX31-1407" fmla="*/ 1016693 w 1404387"/>
                <a:gd name="connsiteY31-1408" fmla="*/ 3543487 h 3550128"/>
                <a:gd name="connsiteX0-1409" fmla="*/ 1016693 w 1404387"/>
                <a:gd name="connsiteY0-1410" fmla="*/ 3543487 h 3550128"/>
                <a:gd name="connsiteX1-1411" fmla="*/ 591243 w 1404387"/>
                <a:gd name="connsiteY1-1412" fmla="*/ 3549837 h 3550128"/>
                <a:gd name="connsiteX2-1413" fmla="*/ 394393 w 1404387"/>
                <a:gd name="connsiteY2-1414" fmla="*/ 3038662 h 3550128"/>
                <a:gd name="connsiteX3-1415" fmla="*/ 746818 w 1404387"/>
                <a:gd name="connsiteY3-1416" fmla="*/ 2343337 h 3550128"/>
                <a:gd name="connsiteX4-1417" fmla="*/ 560128 w 1404387"/>
                <a:gd name="connsiteY4-1418" fmla="*/ 1884232 h 3550128"/>
                <a:gd name="connsiteX5-1419" fmla="*/ 58 w 1404387"/>
                <a:gd name="connsiteY5-1420" fmla="*/ 1832797 h 3550128"/>
                <a:gd name="connsiteX6-1421" fmla="*/ 394393 w 1404387"/>
                <a:gd name="connsiteY6-1422" fmla="*/ 1705162 h 3550128"/>
                <a:gd name="connsiteX7-1423" fmla="*/ 642043 w 1404387"/>
                <a:gd name="connsiteY7-1424" fmla="*/ 1838512 h 3550128"/>
                <a:gd name="connsiteX8-1425" fmla="*/ 689668 w 1404387"/>
                <a:gd name="connsiteY8-1426" fmla="*/ 1609912 h 3550128"/>
                <a:gd name="connsiteX9-1427" fmla="*/ 823018 w 1404387"/>
                <a:gd name="connsiteY9-1428" fmla="*/ 1295587 h 3550128"/>
                <a:gd name="connsiteX10-1429" fmla="*/ 765868 w 1404387"/>
                <a:gd name="connsiteY10-1430" fmla="*/ 771712 h 3550128"/>
                <a:gd name="connsiteX11-1431" fmla="*/ 537268 w 1404387"/>
                <a:gd name="connsiteY11-1432" fmla="*/ 628837 h 3550128"/>
                <a:gd name="connsiteX12-1433" fmla="*/ 689668 w 1404387"/>
                <a:gd name="connsiteY12-1434" fmla="*/ 628837 h 3550128"/>
                <a:gd name="connsiteX13-1435" fmla="*/ 765868 w 1404387"/>
                <a:gd name="connsiteY13-1436" fmla="*/ 714562 h 3550128"/>
                <a:gd name="connsiteX14-1437" fmla="*/ 870643 w 1404387"/>
                <a:gd name="connsiteY14-1438" fmla="*/ 187 h 3550128"/>
                <a:gd name="connsiteX15-1439" fmla="*/ 832543 w 1404387"/>
                <a:gd name="connsiteY15-1440" fmla="*/ 647887 h 3550128"/>
                <a:gd name="connsiteX16-1441" fmla="*/ 908743 w 1404387"/>
                <a:gd name="connsiteY16-1442" fmla="*/ 1038412 h 3550128"/>
                <a:gd name="connsiteX17-1443" fmla="*/ 937318 w 1404387"/>
                <a:gd name="connsiteY17-1444" fmla="*/ 1286062 h 3550128"/>
                <a:gd name="connsiteX18-1445" fmla="*/ 1108768 w 1404387"/>
                <a:gd name="connsiteY18-1446" fmla="*/ 1152712 h 3550128"/>
                <a:gd name="connsiteX19-1447" fmla="*/ 1337368 w 1404387"/>
                <a:gd name="connsiteY19-1448" fmla="*/ 1133662 h 3550128"/>
                <a:gd name="connsiteX20-1449" fmla="*/ 1089718 w 1404387"/>
                <a:gd name="connsiteY20-1450" fmla="*/ 1190812 h 3550128"/>
                <a:gd name="connsiteX21-1451" fmla="*/ 880168 w 1404387"/>
                <a:gd name="connsiteY21-1452" fmla="*/ 1495612 h 3550128"/>
                <a:gd name="connsiteX22-1453" fmla="*/ 823018 w 1404387"/>
                <a:gd name="connsiteY22-1454" fmla="*/ 1857562 h 3550128"/>
                <a:gd name="connsiteX23-1455" fmla="*/ 975418 w 1404387"/>
                <a:gd name="connsiteY23-1456" fmla="*/ 2314762 h 3550128"/>
                <a:gd name="connsiteX24-1457" fmla="*/ 899218 w 1404387"/>
                <a:gd name="connsiteY24-1458" fmla="*/ 2552887 h 3550128"/>
                <a:gd name="connsiteX25-1459" fmla="*/ 1213543 w 1404387"/>
                <a:gd name="connsiteY25-1460" fmla="*/ 2495737 h 3550128"/>
                <a:gd name="connsiteX26-1461" fmla="*/ 1404043 w 1404387"/>
                <a:gd name="connsiteY26-1462" fmla="*/ 2590987 h 3550128"/>
                <a:gd name="connsiteX27-1463" fmla="*/ 1169093 w 1404387"/>
                <a:gd name="connsiteY27-1464" fmla="*/ 2543362 h 3550128"/>
                <a:gd name="connsiteX28-1465" fmla="*/ 832543 w 1404387"/>
                <a:gd name="connsiteY28-1466" fmla="*/ 2695762 h 3550128"/>
                <a:gd name="connsiteX29-1467" fmla="*/ 689668 w 1404387"/>
                <a:gd name="connsiteY29-1468" fmla="*/ 3048187 h 3550128"/>
                <a:gd name="connsiteX30-1469" fmla="*/ 918268 w 1404387"/>
                <a:gd name="connsiteY30-1470" fmla="*/ 3381562 h 3550128"/>
                <a:gd name="connsiteX31-1471" fmla="*/ 1016693 w 1404387"/>
                <a:gd name="connsiteY31-1472" fmla="*/ 3543487 h 3550128"/>
                <a:gd name="connsiteX0-1473" fmla="*/ 1016693 w 1404160"/>
                <a:gd name="connsiteY0-1474" fmla="*/ 3543487 h 3550128"/>
                <a:gd name="connsiteX1-1475" fmla="*/ 591243 w 1404160"/>
                <a:gd name="connsiteY1-1476" fmla="*/ 3549837 h 3550128"/>
                <a:gd name="connsiteX2-1477" fmla="*/ 394393 w 1404160"/>
                <a:gd name="connsiteY2-1478" fmla="*/ 3038662 h 3550128"/>
                <a:gd name="connsiteX3-1479" fmla="*/ 746818 w 1404160"/>
                <a:gd name="connsiteY3-1480" fmla="*/ 2343337 h 3550128"/>
                <a:gd name="connsiteX4-1481" fmla="*/ 560128 w 1404160"/>
                <a:gd name="connsiteY4-1482" fmla="*/ 1884232 h 3550128"/>
                <a:gd name="connsiteX5-1483" fmla="*/ 58 w 1404160"/>
                <a:gd name="connsiteY5-1484" fmla="*/ 1832797 h 3550128"/>
                <a:gd name="connsiteX6-1485" fmla="*/ 394393 w 1404160"/>
                <a:gd name="connsiteY6-1486" fmla="*/ 1705162 h 3550128"/>
                <a:gd name="connsiteX7-1487" fmla="*/ 642043 w 1404160"/>
                <a:gd name="connsiteY7-1488" fmla="*/ 1838512 h 3550128"/>
                <a:gd name="connsiteX8-1489" fmla="*/ 689668 w 1404160"/>
                <a:gd name="connsiteY8-1490" fmla="*/ 1609912 h 3550128"/>
                <a:gd name="connsiteX9-1491" fmla="*/ 823018 w 1404160"/>
                <a:gd name="connsiteY9-1492" fmla="*/ 1295587 h 3550128"/>
                <a:gd name="connsiteX10-1493" fmla="*/ 765868 w 1404160"/>
                <a:gd name="connsiteY10-1494" fmla="*/ 771712 h 3550128"/>
                <a:gd name="connsiteX11-1495" fmla="*/ 537268 w 1404160"/>
                <a:gd name="connsiteY11-1496" fmla="*/ 628837 h 3550128"/>
                <a:gd name="connsiteX12-1497" fmla="*/ 689668 w 1404160"/>
                <a:gd name="connsiteY12-1498" fmla="*/ 628837 h 3550128"/>
                <a:gd name="connsiteX13-1499" fmla="*/ 765868 w 1404160"/>
                <a:gd name="connsiteY13-1500" fmla="*/ 714562 h 3550128"/>
                <a:gd name="connsiteX14-1501" fmla="*/ 870643 w 1404160"/>
                <a:gd name="connsiteY14-1502" fmla="*/ 187 h 3550128"/>
                <a:gd name="connsiteX15-1503" fmla="*/ 832543 w 1404160"/>
                <a:gd name="connsiteY15-1504" fmla="*/ 647887 h 3550128"/>
                <a:gd name="connsiteX16-1505" fmla="*/ 908743 w 1404160"/>
                <a:gd name="connsiteY16-1506" fmla="*/ 1038412 h 3550128"/>
                <a:gd name="connsiteX17-1507" fmla="*/ 937318 w 1404160"/>
                <a:gd name="connsiteY17-1508" fmla="*/ 1286062 h 3550128"/>
                <a:gd name="connsiteX18-1509" fmla="*/ 1108768 w 1404160"/>
                <a:gd name="connsiteY18-1510" fmla="*/ 1152712 h 3550128"/>
                <a:gd name="connsiteX19-1511" fmla="*/ 1337368 w 1404160"/>
                <a:gd name="connsiteY19-1512" fmla="*/ 1133662 h 3550128"/>
                <a:gd name="connsiteX20-1513" fmla="*/ 1089718 w 1404160"/>
                <a:gd name="connsiteY20-1514" fmla="*/ 1190812 h 3550128"/>
                <a:gd name="connsiteX21-1515" fmla="*/ 880168 w 1404160"/>
                <a:gd name="connsiteY21-1516" fmla="*/ 1495612 h 3550128"/>
                <a:gd name="connsiteX22-1517" fmla="*/ 823018 w 1404160"/>
                <a:gd name="connsiteY22-1518" fmla="*/ 1857562 h 3550128"/>
                <a:gd name="connsiteX23-1519" fmla="*/ 975418 w 1404160"/>
                <a:gd name="connsiteY23-1520" fmla="*/ 2314762 h 3550128"/>
                <a:gd name="connsiteX24-1521" fmla="*/ 899218 w 1404160"/>
                <a:gd name="connsiteY24-1522" fmla="*/ 2552887 h 3550128"/>
                <a:gd name="connsiteX25-1523" fmla="*/ 1213543 w 1404160"/>
                <a:gd name="connsiteY25-1524" fmla="*/ 2495737 h 3550128"/>
                <a:gd name="connsiteX26-1525" fmla="*/ 1404043 w 1404160"/>
                <a:gd name="connsiteY26-1526" fmla="*/ 2590987 h 3550128"/>
                <a:gd name="connsiteX27-1527" fmla="*/ 1188143 w 1404160"/>
                <a:gd name="connsiteY27-1528" fmla="*/ 2552887 h 3550128"/>
                <a:gd name="connsiteX28-1529" fmla="*/ 832543 w 1404160"/>
                <a:gd name="connsiteY28-1530" fmla="*/ 2695762 h 3550128"/>
                <a:gd name="connsiteX29-1531" fmla="*/ 689668 w 1404160"/>
                <a:gd name="connsiteY29-1532" fmla="*/ 3048187 h 3550128"/>
                <a:gd name="connsiteX30-1533" fmla="*/ 918268 w 1404160"/>
                <a:gd name="connsiteY30-1534" fmla="*/ 3381562 h 3550128"/>
                <a:gd name="connsiteX31-1535" fmla="*/ 1016693 w 1404160"/>
                <a:gd name="connsiteY31-1536" fmla="*/ 3543487 h 3550128"/>
                <a:gd name="connsiteX0-1537" fmla="*/ 1016693 w 1404160"/>
                <a:gd name="connsiteY0-1538" fmla="*/ 3543487 h 3550128"/>
                <a:gd name="connsiteX1-1539" fmla="*/ 591243 w 1404160"/>
                <a:gd name="connsiteY1-1540" fmla="*/ 3549837 h 3550128"/>
                <a:gd name="connsiteX2-1541" fmla="*/ 394393 w 1404160"/>
                <a:gd name="connsiteY2-1542" fmla="*/ 3038662 h 3550128"/>
                <a:gd name="connsiteX3-1543" fmla="*/ 746818 w 1404160"/>
                <a:gd name="connsiteY3-1544" fmla="*/ 2343337 h 3550128"/>
                <a:gd name="connsiteX4-1545" fmla="*/ 560128 w 1404160"/>
                <a:gd name="connsiteY4-1546" fmla="*/ 1884232 h 3550128"/>
                <a:gd name="connsiteX5-1547" fmla="*/ 58 w 1404160"/>
                <a:gd name="connsiteY5-1548" fmla="*/ 1832797 h 3550128"/>
                <a:gd name="connsiteX6-1549" fmla="*/ 394393 w 1404160"/>
                <a:gd name="connsiteY6-1550" fmla="*/ 1705162 h 3550128"/>
                <a:gd name="connsiteX7-1551" fmla="*/ 642043 w 1404160"/>
                <a:gd name="connsiteY7-1552" fmla="*/ 1838512 h 3550128"/>
                <a:gd name="connsiteX8-1553" fmla="*/ 689668 w 1404160"/>
                <a:gd name="connsiteY8-1554" fmla="*/ 1609912 h 3550128"/>
                <a:gd name="connsiteX9-1555" fmla="*/ 823018 w 1404160"/>
                <a:gd name="connsiteY9-1556" fmla="*/ 1295587 h 3550128"/>
                <a:gd name="connsiteX10-1557" fmla="*/ 765868 w 1404160"/>
                <a:gd name="connsiteY10-1558" fmla="*/ 771712 h 3550128"/>
                <a:gd name="connsiteX11-1559" fmla="*/ 537268 w 1404160"/>
                <a:gd name="connsiteY11-1560" fmla="*/ 628837 h 3550128"/>
                <a:gd name="connsiteX12-1561" fmla="*/ 689668 w 1404160"/>
                <a:gd name="connsiteY12-1562" fmla="*/ 628837 h 3550128"/>
                <a:gd name="connsiteX13-1563" fmla="*/ 765868 w 1404160"/>
                <a:gd name="connsiteY13-1564" fmla="*/ 714562 h 3550128"/>
                <a:gd name="connsiteX14-1565" fmla="*/ 870643 w 1404160"/>
                <a:gd name="connsiteY14-1566" fmla="*/ 187 h 3550128"/>
                <a:gd name="connsiteX15-1567" fmla="*/ 832543 w 1404160"/>
                <a:gd name="connsiteY15-1568" fmla="*/ 647887 h 3550128"/>
                <a:gd name="connsiteX16-1569" fmla="*/ 908743 w 1404160"/>
                <a:gd name="connsiteY16-1570" fmla="*/ 1038412 h 3550128"/>
                <a:gd name="connsiteX17-1571" fmla="*/ 937318 w 1404160"/>
                <a:gd name="connsiteY17-1572" fmla="*/ 1286062 h 3550128"/>
                <a:gd name="connsiteX18-1573" fmla="*/ 1108768 w 1404160"/>
                <a:gd name="connsiteY18-1574" fmla="*/ 1152712 h 3550128"/>
                <a:gd name="connsiteX19-1575" fmla="*/ 1337368 w 1404160"/>
                <a:gd name="connsiteY19-1576" fmla="*/ 1133662 h 3550128"/>
                <a:gd name="connsiteX20-1577" fmla="*/ 1089718 w 1404160"/>
                <a:gd name="connsiteY20-1578" fmla="*/ 1190812 h 3550128"/>
                <a:gd name="connsiteX21-1579" fmla="*/ 880168 w 1404160"/>
                <a:gd name="connsiteY21-1580" fmla="*/ 1495612 h 3550128"/>
                <a:gd name="connsiteX22-1581" fmla="*/ 823018 w 1404160"/>
                <a:gd name="connsiteY22-1582" fmla="*/ 1857562 h 3550128"/>
                <a:gd name="connsiteX23-1583" fmla="*/ 975418 w 1404160"/>
                <a:gd name="connsiteY23-1584" fmla="*/ 2314762 h 3550128"/>
                <a:gd name="connsiteX24-1585" fmla="*/ 899218 w 1404160"/>
                <a:gd name="connsiteY24-1586" fmla="*/ 2552887 h 3550128"/>
                <a:gd name="connsiteX25-1587" fmla="*/ 1213543 w 1404160"/>
                <a:gd name="connsiteY25-1588" fmla="*/ 2495737 h 3550128"/>
                <a:gd name="connsiteX26-1589" fmla="*/ 1404043 w 1404160"/>
                <a:gd name="connsiteY26-1590" fmla="*/ 2590987 h 3550128"/>
                <a:gd name="connsiteX27-1591" fmla="*/ 1188143 w 1404160"/>
                <a:gd name="connsiteY27-1592" fmla="*/ 2552887 h 3550128"/>
                <a:gd name="connsiteX28-1593" fmla="*/ 832543 w 1404160"/>
                <a:gd name="connsiteY28-1594" fmla="*/ 2695762 h 3550128"/>
                <a:gd name="connsiteX29-1595" fmla="*/ 689668 w 1404160"/>
                <a:gd name="connsiteY29-1596" fmla="*/ 3048187 h 3550128"/>
                <a:gd name="connsiteX30-1597" fmla="*/ 918268 w 1404160"/>
                <a:gd name="connsiteY30-1598" fmla="*/ 3381562 h 3550128"/>
                <a:gd name="connsiteX31-1599" fmla="*/ 1016693 w 1404160"/>
                <a:gd name="connsiteY31-1600" fmla="*/ 3543487 h 3550128"/>
                <a:gd name="connsiteX0-1601" fmla="*/ 1016693 w 1423196"/>
                <a:gd name="connsiteY0-1602" fmla="*/ 3543487 h 3550128"/>
                <a:gd name="connsiteX1-1603" fmla="*/ 591243 w 1423196"/>
                <a:gd name="connsiteY1-1604" fmla="*/ 3549837 h 3550128"/>
                <a:gd name="connsiteX2-1605" fmla="*/ 394393 w 1423196"/>
                <a:gd name="connsiteY2-1606" fmla="*/ 3038662 h 3550128"/>
                <a:gd name="connsiteX3-1607" fmla="*/ 746818 w 1423196"/>
                <a:gd name="connsiteY3-1608" fmla="*/ 2343337 h 3550128"/>
                <a:gd name="connsiteX4-1609" fmla="*/ 560128 w 1423196"/>
                <a:gd name="connsiteY4-1610" fmla="*/ 1884232 h 3550128"/>
                <a:gd name="connsiteX5-1611" fmla="*/ 58 w 1423196"/>
                <a:gd name="connsiteY5-1612" fmla="*/ 1832797 h 3550128"/>
                <a:gd name="connsiteX6-1613" fmla="*/ 394393 w 1423196"/>
                <a:gd name="connsiteY6-1614" fmla="*/ 1705162 h 3550128"/>
                <a:gd name="connsiteX7-1615" fmla="*/ 642043 w 1423196"/>
                <a:gd name="connsiteY7-1616" fmla="*/ 1838512 h 3550128"/>
                <a:gd name="connsiteX8-1617" fmla="*/ 689668 w 1423196"/>
                <a:gd name="connsiteY8-1618" fmla="*/ 1609912 h 3550128"/>
                <a:gd name="connsiteX9-1619" fmla="*/ 823018 w 1423196"/>
                <a:gd name="connsiteY9-1620" fmla="*/ 1295587 h 3550128"/>
                <a:gd name="connsiteX10-1621" fmla="*/ 765868 w 1423196"/>
                <a:gd name="connsiteY10-1622" fmla="*/ 771712 h 3550128"/>
                <a:gd name="connsiteX11-1623" fmla="*/ 537268 w 1423196"/>
                <a:gd name="connsiteY11-1624" fmla="*/ 628837 h 3550128"/>
                <a:gd name="connsiteX12-1625" fmla="*/ 689668 w 1423196"/>
                <a:gd name="connsiteY12-1626" fmla="*/ 628837 h 3550128"/>
                <a:gd name="connsiteX13-1627" fmla="*/ 765868 w 1423196"/>
                <a:gd name="connsiteY13-1628" fmla="*/ 714562 h 3550128"/>
                <a:gd name="connsiteX14-1629" fmla="*/ 870643 w 1423196"/>
                <a:gd name="connsiteY14-1630" fmla="*/ 187 h 3550128"/>
                <a:gd name="connsiteX15-1631" fmla="*/ 832543 w 1423196"/>
                <a:gd name="connsiteY15-1632" fmla="*/ 647887 h 3550128"/>
                <a:gd name="connsiteX16-1633" fmla="*/ 908743 w 1423196"/>
                <a:gd name="connsiteY16-1634" fmla="*/ 1038412 h 3550128"/>
                <a:gd name="connsiteX17-1635" fmla="*/ 937318 w 1423196"/>
                <a:gd name="connsiteY17-1636" fmla="*/ 1286062 h 3550128"/>
                <a:gd name="connsiteX18-1637" fmla="*/ 1108768 w 1423196"/>
                <a:gd name="connsiteY18-1638" fmla="*/ 1152712 h 3550128"/>
                <a:gd name="connsiteX19-1639" fmla="*/ 1337368 w 1423196"/>
                <a:gd name="connsiteY19-1640" fmla="*/ 1133662 h 3550128"/>
                <a:gd name="connsiteX20-1641" fmla="*/ 1089718 w 1423196"/>
                <a:gd name="connsiteY20-1642" fmla="*/ 1190812 h 3550128"/>
                <a:gd name="connsiteX21-1643" fmla="*/ 880168 w 1423196"/>
                <a:gd name="connsiteY21-1644" fmla="*/ 1495612 h 3550128"/>
                <a:gd name="connsiteX22-1645" fmla="*/ 823018 w 1423196"/>
                <a:gd name="connsiteY22-1646" fmla="*/ 1857562 h 3550128"/>
                <a:gd name="connsiteX23-1647" fmla="*/ 975418 w 1423196"/>
                <a:gd name="connsiteY23-1648" fmla="*/ 2314762 h 3550128"/>
                <a:gd name="connsiteX24-1649" fmla="*/ 899218 w 1423196"/>
                <a:gd name="connsiteY24-1650" fmla="*/ 2552887 h 3550128"/>
                <a:gd name="connsiteX25-1651" fmla="*/ 1213543 w 1423196"/>
                <a:gd name="connsiteY25-1652" fmla="*/ 2495737 h 3550128"/>
                <a:gd name="connsiteX26-1653" fmla="*/ 1423093 w 1423196"/>
                <a:gd name="connsiteY26-1654" fmla="*/ 2612418 h 3550128"/>
                <a:gd name="connsiteX27-1655" fmla="*/ 1188143 w 1423196"/>
                <a:gd name="connsiteY27-1656" fmla="*/ 2552887 h 3550128"/>
                <a:gd name="connsiteX28-1657" fmla="*/ 832543 w 1423196"/>
                <a:gd name="connsiteY28-1658" fmla="*/ 2695762 h 3550128"/>
                <a:gd name="connsiteX29-1659" fmla="*/ 689668 w 1423196"/>
                <a:gd name="connsiteY29-1660" fmla="*/ 3048187 h 3550128"/>
                <a:gd name="connsiteX30-1661" fmla="*/ 918268 w 1423196"/>
                <a:gd name="connsiteY30-1662" fmla="*/ 3381562 h 3550128"/>
                <a:gd name="connsiteX31-1663" fmla="*/ 1016693 w 1423196"/>
                <a:gd name="connsiteY31-1664" fmla="*/ 3543487 h 3550128"/>
                <a:gd name="connsiteX0-1665" fmla="*/ 1016693 w 1420817"/>
                <a:gd name="connsiteY0-1666" fmla="*/ 3543487 h 3550128"/>
                <a:gd name="connsiteX1-1667" fmla="*/ 591243 w 1420817"/>
                <a:gd name="connsiteY1-1668" fmla="*/ 3549837 h 3550128"/>
                <a:gd name="connsiteX2-1669" fmla="*/ 394393 w 1420817"/>
                <a:gd name="connsiteY2-1670" fmla="*/ 3038662 h 3550128"/>
                <a:gd name="connsiteX3-1671" fmla="*/ 746818 w 1420817"/>
                <a:gd name="connsiteY3-1672" fmla="*/ 2343337 h 3550128"/>
                <a:gd name="connsiteX4-1673" fmla="*/ 560128 w 1420817"/>
                <a:gd name="connsiteY4-1674" fmla="*/ 1884232 h 3550128"/>
                <a:gd name="connsiteX5-1675" fmla="*/ 58 w 1420817"/>
                <a:gd name="connsiteY5-1676" fmla="*/ 1832797 h 3550128"/>
                <a:gd name="connsiteX6-1677" fmla="*/ 394393 w 1420817"/>
                <a:gd name="connsiteY6-1678" fmla="*/ 1705162 h 3550128"/>
                <a:gd name="connsiteX7-1679" fmla="*/ 642043 w 1420817"/>
                <a:gd name="connsiteY7-1680" fmla="*/ 1838512 h 3550128"/>
                <a:gd name="connsiteX8-1681" fmla="*/ 689668 w 1420817"/>
                <a:gd name="connsiteY8-1682" fmla="*/ 1609912 h 3550128"/>
                <a:gd name="connsiteX9-1683" fmla="*/ 823018 w 1420817"/>
                <a:gd name="connsiteY9-1684" fmla="*/ 1295587 h 3550128"/>
                <a:gd name="connsiteX10-1685" fmla="*/ 765868 w 1420817"/>
                <a:gd name="connsiteY10-1686" fmla="*/ 771712 h 3550128"/>
                <a:gd name="connsiteX11-1687" fmla="*/ 537268 w 1420817"/>
                <a:gd name="connsiteY11-1688" fmla="*/ 628837 h 3550128"/>
                <a:gd name="connsiteX12-1689" fmla="*/ 689668 w 1420817"/>
                <a:gd name="connsiteY12-1690" fmla="*/ 628837 h 3550128"/>
                <a:gd name="connsiteX13-1691" fmla="*/ 765868 w 1420817"/>
                <a:gd name="connsiteY13-1692" fmla="*/ 714562 h 3550128"/>
                <a:gd name="connsiteX14-1693" fmla="*/ 870643 w 1420817"/>
                <a:gd name="connsiteY14-1694" fmla="*/ 187 h 3550128"/>
                <a:gd name="connsiteX15-1695" fmla="*/ 832543 w 1420817"/>
                <a:gd name="connsiteY15-1696" fmla="*/ 647887 h 3550128"/>
                <a:gd name="connsiteX16-1697" fmla="*/ 908743 w 1420817"/>
                <a:gd name="connsiteY16-1698" fmla="*/ 1038412 h 3550128"/>
                <a:gd name="connsiteX17-1699" fmla="*/ 937318 w 1420817"/>
                <a:gd name="connsiteY17-1700" fmla="*/ 1286062 h 3550128"/>
                <a:gd name="connsiteX18-1701" fmla="*/ 1108768 w 1420817"/>
                <a:gd name="connsiteY18-1702" fmla="*/ 1152712 h 3550128"/>
                <a:gd name="connsiteX19-1703" fmla="*/ 1337368 w 1420817"/>
                <a:gd name="connsiteY19-1704" fmla="*/ 1133662 h 3550128"/>
                <a:gd name="connsiteX20-1705" fmla="*/ 1089718 w 1420817"/>
                <a:gd name="connsiteY20-1706" fmla="*/ 1190812 h 3550128"/>
                <a:gd name="connsiteX21-1707" fmla="*/ 880168 w 1420817"/>
                <a:gd name="connsiteY21-1708" fmla="*/ 1495612 h 3550128"/>
                <a:gd name="connsiteX22-1709" fmla="*/ 823018 w 1420817"/>
                <a:gd name="connsiteY22-1710" fmla="*/ 1857562 h 3550128"/>
                <a:gd name="connsiteX23-1711" fmla="*/ 975418 w 1420817"/>
                <a:gd name="connsiteY23-1712" fmla="*/ 2314762 h 3550128"/>
                <a:gd name="connsiteX24-1713" fmla="*/ 899218 w 1420817"/>
                <a:gd name="connsiteY24-1714" fmla="*/ 2552887 h 3550128"/>
                <a:gd name="connsiteX25-1715" fmla="*/ 1213543 w 1420817"/>
                <a:gd name="connsiteY25-1716" fmla="*/ 2495737 h 3550128"/>
                <a:gd name="connsiteX26-1717" fmla="*/ 1420712 w 1420817"/>
                <a:gd name="connsiteY26-1718" fmla="*/ 2583843 h 3550128"/>
                <a:gd name="connsiteX27-1719" fmla="*/ 1188143 w 1420817"/>
                <a:gd name="connsiteY27-1720" fmla="*/ 2552887 h 3550128"/>
                <a:gd name="connsiteX28-1721" fmla="*/ 832543 w 1420817"/>
                <a:gd name="connsiteY28-1722" fmla="*/ 2695762 h 3550128"/>
                <a:gd name="connsiteX29-1723" fmla="*/ 689668 w 1420817"/>
                <a:gd name="connsiteY29-1724" fmla="*/ 3048187 h 3550128"/>
                <a:gd name="connsiteX30-1725" fmla="*/ 918268 w 1420817"/>
                <a:gd name="connsiteY30-1726" fmla="*/ 3381562 h 3550128"/>
                <a:gd name="connsiteX31-1727" fmla="*/ 1016693 w 1420817"/>
                <a:gd name="connsiteY31-1728" fmla="*/ 3543487 h 3550128"/>
                <a:gd name="connsiteX0-1729" fmla="*/ 1016693 w 1420960"/>
                <a:gd name="connsiteY0-1730" fmla="*/ 3543487 h 3550128"/>
                <a:gd name="connsiteX1-1731" fmla="*/ 591243 w 1420960"/>
                <a:gd name="connsiteY1-1732" fmla="*/ 3549837 h 3550128"/>
                <a:gd name="connsiteX2-1733" fmla="*/ 394393 w 1420960"/>
                <a:gd name="connsiteY2-1734" fmla="*/ 3038662 h 3550128"/>
                <a:gd name="connsiteX3-1735" fmla="*/ 746818 w 1420960"/>
                <a:gd name="connsiteY3-1736" fmla="*/ 2343337 h 3550128"/>
                <a:gd name="connsiteX4-1737" fmla="*/ 560128 w 1420960"/>
                <a:gd name="connsiteY4-1738" fmla="*/ 1884232 h 3550128"/>
                <a:gd name="connsiteX5-1739" fmla="*/ 58 w 1420960"/>
                <a:gd name="connsiteY5-1740" fmla="*/ 1832797 h 3550128"/>
                <a:gd name="connsiteX6-1741" fmla="*/ 394393 w 1420960"/>
                <a:gd name="connsiteY6-1742" fmla="*/ 1705162 h 3550128"/>
                <a:gd name="connsiteX7-1743" fmla="*/ 642043 w 1420960"/>
                <a:gd name="connsiteY7-1744" fmla="*/ 1838512 h 3550128"/>
                <a:gd name="connsiteX8-1745" fmla="*/ 689668 w 1420960"/>
                <a:gd name="connsiteY8-1746" fmla="*/ 1609912 h 3550128"/>
                <a:gd name="connsiteX9-1747" fmla="*/ 823018 w 1420960"/>
                <a:gd name="connsiteY9-1748" fmla="*/ 1295587 h 3550128"/>
                <a:gd name="connsiteX10-1749" fmla="*/ 765868 w 1420960"/>
                <a:gd name="connsiteY10-1750" fmla="*/ 771712 h 3550128"/>
                <a:gd name="connsiteX11-1751" fmla="*/ 537268 w 1420960"/>
                <a:gd name="connsiteY11-1752" fmla="*/ 628837 h 3550128"/>
                <a:gd name="connsiteX12-1753" fmla="*/ 689668 w 1420960"/>
                <a:gd name="connsiteY12-1754" fmla="*/ 628837 h 3550128"/>
                <a:gd name="connsiteX13-1755" fmla="*/ 765868 w 1420960"/>
                <a:gd name="connsiteY13-1756" fmla="*/ 714562 h 3550128"/>
                <a:gd name="connsiteX14-1757" fmla="*/ 870643 w 1420960"/>
                <a:gd name="connsiteY14-1758" fmla="*/ 187 h 3550128"/>
                <a:gd name="connsiteX15-1759" fmla="*/ 832543 w 1420960"/>
                <a:gd name="connsiteY15-1760" fmla="*/ 647887 h 3550128"/>
                <a:gd name="connsiteX16-1761" fmla="*/ 908743 w 1420960"/>
                <a:gd name="connsiteY16-1762" fmla="*/ 1038412 h 3550128"/>
                <a:gd name="connsiteX17-1763" fmla="*/ 937318 w 1420960"/>
                <a:gd name="connsiteY17-1764" fmla="*/ 1286062 h 3550128"/>
                <a:gd name="connsiteX18-1765" fmla="*/ 1108768 w 1420960"/>
                <a:gd name="connsiteY18-1766" fmla="*/ 1152712 h 3550128"/>
                <a:gd name="connsiteX19-1767" fmla="*/ 1337368 w 1420960"/>
                <a:gd name="connsiteY19-1768" fmla="*/ 1133662 h 3550128"/>
                <a:gd name="connsiteX20-1769" fmla="*/ 1089718 w 1420960"/>
                <a:gd name="connsiteY20-1770" fmla="*/ 1190812 h 3550128"/>
                <a:gd name="connsiteX21-1771" fmla="*/ 880168 w 1420960"/>
                <a:gd name="connsiteY21-1772" fmla="*/ 1495612 h 3550128"/>
                <a:gd name="connsiteX22-1773" fmla="*/ 823018 w 1420960"/>
                <a:gd name="connsiteY22-1774" fmla="*/ 1857562 h 3550128"/>
                <a:gd name="connsiteX23-1775" fmla="*/ 975418 w 1420960"/>
                <a:gd name="connsiteY23-1776" fmla="*/ 2314762 h 3550128"/>
                <a:gd name="connsiteX24-1777" fmla="*/ 899218 w 1420960"/>
                <a:gd name="connsiteY24-1778" fmla="*/ 2552887 h 3550128"/>
                <a:gd name="connsiteX25-1779" fmla="*/ 1213543 w 1420960"/>
                <a:gd name="connsiteY25-1780" fmla="*/ 2495737 h 3550128"/>
                <a:gd name="connsiteX26-1781" fmla="*/ 1420712 w 1420960"/>
                <a:gd name="connsiteY26-1782" fmla="*/ 2583843 h 3550128"/>
                <a:gd name="connsiteX27-1783" fmla="*/ 1188143 w 1420960"/>
                <a:gd name="connsiteY27-1784" fmla="*/ 2552887 h 3550128"/>
                <a:gd name="connsiteX28-1785" fmla="*/ 832543 w 1420960"/>
                <a:gd name="connsiteY28-1786" fmla="*/ 2695762 h 3550128"/>
                <a:gd name="connsiteX29-1787" fmla="*/ 689668 w 1420960"/>
                <a:gd name="connsiteY29-1788" fmla="*/ 3048187 h 3550128"/>
                <a:gd name="connsiteX30-1789" fmla="*/ 918268 w 1420960"/>
                <a:gd name="connsiteY30-1790" fmla="*/ 3381562 h 3550128"/>
                <a:gd name="connsiteX31-1791" fmla="*/ 1016693 w 1420960"/>
                <a:gd name="connsiteY31-1792" fmla="*/ 3543487 h 3550128"/>
                <a:gd name="connsiteX0-1793" fmla="*/ 1016693 w 1432703"/>
                <a:gd name="connsiteY0-1794" fmla="*/ 3543487 h 3550128"/>
                <a:gd name="connsiteX1-1795" fmla="*/ 591243 w 1432703"/>
                <a:gd name="connsiteY1-1796" fmla="*/ 3549837 h 3550128"/>
                <a:gd name="connsiteX2-1797" fmla="*/ 394393 w 1432703"/>
                <a:gd name="connsiteY2-1798" fmla="*/ 3038662 h 3550128"/>
                <a:gd name="connsiteX3-1799" fmla="*/ 746818 w 1432703"/>
                <a:gd name="connsiteY3-1800" fmla="*/ 2343337 h 3550128"/>
                <a:gd name="connsiteX4-1801" fmla="*/ 560128 w 1432703"/>
                <a:gd name="connsiteY4-1802" fmla="*/ 1884232 h 3550128"/>
                <a:gd name="connsiteX5-1803" fmla="*/ 58 w 1432703"/>
                <a:gd name="connsiteY5-1804" fmla="*/ 1832797 h 3550128"/>
                <a:gd name="connsiteX6-1805" fmla="*/ 394393 w 1432703"/>
                <a:gd name="connsiteY6-1806" fmla="*/ 1705162 h 3550128"/>
                <a:gd name="connsiteX7-1807" fmla="*/ 642043 w 1432703"/>
                <a:gd name="connsiteY7-1808" fmla="*/ 1838512 h 3550128"/>
                <a:gd name="connsiteX8-1809" fmla="*/ 689668 w 1432703"/>
                <a:gd name="connsiteY8-1810" fmla="*/ 1609912 h 3550128"/>
                <a:gd name="connsiteX9-1811" fmla="*/ 823018 w 1432703"/>
                <a:gd name="connsiteY9-1812" fmla="*/ 1295587 h 3550128"/>
                <a:gd name="connsiteX10-1813" fmla="*/ 765868 w 1432703"/>
                <a:gd name="connsiteY10-1814" fmla="*/ 771712 h 3550128"/>
                <a:gd name="connsiteX11-1815" fmla="*/ 537268 w 1432703"/>
                <a:gd name="connsiteY11-1816" fmla="*/ 628837 h 3550128"/>
                <a:gd name="connsiteX12-1817" fmla="*/ 689668 w 1432703"/>
                <a:gd name="connsiteY12-1818" fmla="*/ 628837 h 3550128"/>
                <a:gd name="connsiteX13-1819" fmla="*/ 765868 w 1432703"/>
                <a:gd name="connsiteY13-1820" fmla="*/ 714562 h 3550128"/>
                <a:gd name="connsiteX14-1821" fmla="*/ 870643 w 1432703"/>
                <a:gd name="connsiteY14-1822" fmla="*/ 187 h 3550128"/>
                <a:gd name="connsiteX15-1823" fmla="*/ 832543 w 1432703"/>
                <a:gd name="connsiteY15-1824" fmla="*/ 647887 h 3550128"/>
                <a:gd name="connsiteX16-1825" fmla="*/ 908743 w 1432703"/>
                <a:gd name="connsiteY16-1826" fmla="*/ 1038412 h 3550128"/>
                <a:gd name="connsiteX17-1827" fmla="*/ 937318 w 1432703"/>
                <a:gd name="connsiteY17-1828" fmla="*/ 1286062 h 3550128"/>
                <a:gd name="connsiteX18-1829" fmla="*/ 1108768 w 1432703"/>
                <a:gd name="connsiteY18-1830" fmla="*/ 1152712 h 3550128"/>
                <a:gd name="connsiteX19-1831" fmla="*/ 1337368 w 1432703"/>
                <a:gd name="connsiteY19-1832" fmla="*/ 1133662 h 3550128"/>
                <a:gd name="connsiteX20-1833" fmla="*/ 1089718 w 1432703"/>
                <a:gd name="connsiteY20-1834" fmla="*/ 1190812 h 3550128"/>
                <a:gd name="connsiteX21-1835" fmla="*/ 880168 w 1432703"/>
                <a:gd name="connsiteY21-1836" fmla="*/ 1495612 h 3550128"/>
                <a:gd name="connsiteX22-1837" fmla="*/ 823018 w 1432703"/>
                <a:gd name="connsiteY22-1838" fmla="*/ 1857562 h 3550128"/>
                <a:gd name="connsiteX23-1839" fmla="*/ 975418 w 1432703"/>
                <a:gd name="connsiteY23-1840" fmla="*/ 2314762 h 3550128"/>
                <a:gd name="connsiteX24-1841" fmla="*/ 899218 w 1432703"/>
                <a:gd name="connsiteY24-1842" fmla="*/ 2552887 h 3550128"/>
                <a:gd name="connsiteX25-1843" fmla="*/ 1213543 w 1432703"/>
                <a:gd name="connsiteY25-1844" fmla="*/ 2495737 h 3550128"/>
                <a:gd name="connsiteX26-1845" fmla="*/ 1420712 w 1432703"/>
                <a:gd name="connsiteY26-1846" fmla="*/ 2583843 h 3550128"/>
                <a:gd name="connsiteX27-1847" fmla="*/ 1188143 w 1432703"/>
                <a:gd name="connsiteY27-1848" fmla="*/ 2552887 h 3550128"/>
                <a:gd name="connsiteX28-1849" fmla="*/ 832543 w 1432703"/>
                <a:gd name="connsiteY28-1850" fmla="*/ 2695762 h 3550128"/>
                <a:gd name="connsiteX29-1851" fmla="*/ 689668 w 1432703"/>
                <a:gd name="connsiteY29-1852" fmla="*/ 3048187 h 3550128"/>
                <a:gd name="connsiteX30-1853" fmla="*/ 918268 w 1432703"/>
                <a:gd name="connsiteY30-1854" fmla="*/ 3381562 h 3550128"/>
                <a:gd name="connsiteX31-1855" fmla="*/ 1016693 w 1432703"/>
                <a:gd name="connsiteY31-1856" fmla="*/ 3543487 h 3550128"/>
                <a:gd name="connsiteX0-1857" fmla="*/ 1016693 w 1420712"/>
                <a:gd name="connsiteY0-1858" fmla="*/ 3543487 h 3550128"/>
                <a:gd name="connsiteX1-1859" fmla="*/ 591243 w 1420712"/>
                <a:gd name="connsiteY1-1860" fmla="*/ 3549837 h 3550128"/>
                <a:gd name="connsiteX2-1861" fmla="*/ 394393 w 1420712"/>
                <a:gd name="connsiteY2-1862" fmla="*/ 3038662 h 3550128"/>
                <a:gd name="connsiteX3-1863" fmla="*/ 746818 w 1420712"/>
                <a:gd name="connsiteY3-1864" fmla="*/ 2343337 h 3550128"/>
                <a:gd name="connsiteX4-1865" fmla="*/ 560128 w 1420712"/>
                <a:gd name="connsiteY4-1866" fmla="*/ 1884232 h 3550128"/>
                <a:gd name="connsiteX5-1867" fmla="*/ 58 w 1420712"/>
                <a:gd name="connsiteY5-1868" fmla="*/ 1832797 h 3550128"/>
                <a:gd name="connsiteX6-1869" fmla="*/ 394393 w 1420712"/>
                <a:gd name="connsiteY6-1870" fmla="*/ 1705162 h 3550128"/>
                <a:gd name="connsiteX7-1871" fmla="*/ 642043 w 1420712"/>
                <a:gd name="connsiteY7-1872" fmla="*/ 1838512 h 3550128"/>
                <a:gd name="connsiteX8-1873" fmla="*/ 689668 w 1420712"/>
                <a:gd name="connsiteY8-1874" fmla="*/ 1609912 h 3550128"/>
                <a:gd name="connsiteX9-1875" fmla="*/ 823018 w 1420712"/>
                <a:gd name="connsiteY9-1876" fmla="*/ 1295587 h 3550128"/>
                <a:gd name="connsiteX10-1877" fmla="*/ 765868 w 1420712"/>
                <a:gd name="connsiteY10-1878" fmla="*/ 771712 h 3550128"/>
                <a:gd name="connsiteX11-1879" fmla="*/ 537268 w 1420712"/>
                <a:gd name="connsiteY11-1880" fmla="*/ 628837 h 3550128"/>
                <a:gd name="connsiteX12-1881" fmla="*/ 689668 w 1420712"/>
                <a:gd name="connsiteY12-1882" fmla="*/ 628837 h 3550128"/>
                <a:gd name="connsiteX13-1883" fmla="*/ 765868 w 1420712"/>
                <a:gd name="connsiteY13-1884" fmla="*/ 714562 h 3550128"/>
                <a:gd name="connsiteX14-1885" fmla="*/ 870643 w 1420712"/>
                <a:gd name="connsiteY14-1886" fmla="*/ 187 h 3550128"/>
                <a:gd name="connsiteX15-1887" fmla="*/ 832543 w 1420712"/>
                <a:gd name="connsiteY15-1888" fmla="*/ 647887 h 3550128"/>
                <a:gd name="connsiteX16-1889" fmla="*/ 908743 w 1420712"/>
                <a:gd name="connsiteY16-1890" fmla="*/ 1038412 h 3550128"/>
                <a:gd name="connsiteX17-1891" fmla="*/ 937318 w 1420712"/>
                <a:gd name="connsiteY17-1892" fmla="*/ 1286062 h 3550128"/>
                <a:gd name="connsiteX18-1893" fmla="*/ 1108768 w 1420712"/>
                <a:gd name="connsiteY18-1894" fmla="*/ 1152712 h 3550128"/>
                <a:gd name="connsiteX19-1895" fmla="*/ 1337368 w 1420712"/>
                <a:gd name="connsiteY19-1896" fmla="*/ 1133662 h 3550128"/>
                <a:gd name="connsiteX20-1897" fmla="*/ 1089718 w 1420712"/>
                <a:gd name="connsiteY20-1898" fmla="*/ 1190812 h 3550128"/>
                <a:gd name="connsiteX21-1899" fmla="*/ 880168 w 1420712"/>
                <a:gd name="connsiteY21-1900" fmla="*/ 1495612 h 3550128"/>
                <a:gd name="connsiteX22-1901" fmla="*/ 823018 w 1420712"/>
                <a:gd name="connsiteY22-1902" fmla="*/ 1857562 h 3550128"/>
                <a:gd name="connsiteX23-1903" fmla="*/ 975418 w 1420712"/>
                <a:gd name="connsiteY23-1904" fmla="*/ 2314762 h 3550128"/>
                <a:gd name="connsiteX24-1905" fmla="*/ 899218 w 1420712"/>
                <a:gd name="connsiteY24-1906" fmla="*/ 2552887 h 3550128"/>
                <a:gd name="connsiteX25-1907" fmla="*/ 1213543 w 1420712"/>
                <a:gd name="connsiteY25-1908" fmla="*/ 2495737 h 3550128"/>
                <a:gd name="connsiteX26-1909" fmla="*/ 1420712 w 1420712"/>
                <a:gd name="connsiteY26-1910" fmla="*/ 2583843 h 3550128"/>
                <a:gd name="connsiteX27-1911" fmla="*/ 1188143 w 1420712"/>
                <a:gd name="connsiteY27-1912" fmla="*/ 2552887 h 3550128"/>
                <a:gd name="connsiteX28-1913" fmla="*/ 832543 w 1420712"/>
                <a:gd name="connsiteY28-1914" fmla="*/ 2695762 h 3550128"/>
                <a:gd name="connsiteX29-1915" fmla="*/ 689668 w 1420712"/>
                <a:gd name="connsiteY29-1916" fmla="*/ 3048187 h 3550128"/>
                <a:gd name="connsiteX30-1917" fmla="*/ 918268 w 1420712"/>
                <a:gd name="connsiteY30-1918" fmla="*/ 3381562 h 3550128"/>
                <a:gd name="connsiteX31-1919" fmla="*/ 1016693 w 1420712"/>
                <a:gd name="connsiteY31-1920" fmla="*/ 3543487 h 3550128"/>
                <a:gd name="connsiteX0-1921" fmla="*/ 1016693 w 1432618"/>
                <a:gd name="connsiteY0-1922" fmla="*/ 3543487 h 3550128"/>
                <a:gd name="connsiteX1-1923" fmla="*/ 591243 w 1432618"/>
                <a:gd name="connsiteY1-1924" fmla="*/ 3549837 h 3550128"/>
                <a:gd name="connsiteX2-1925" fmla="*/ 394393 w 1432618"/>
                <a:gd name="connsiteY2-1926" fmla="*/ 3038662 h 3550128"/>
                <a:gd name="connsiteX3-1927" fmla="*/ 746818 w 1432618"/>
                <a:gd name="connsiteY3-1928" fmla="*/ 2343337 h 3550128"/>
                <a:gd name="connsiteX4-1929" fmla="*/ 560128 w 1432618"/>
                <a:gd name="connsiteY4-1930" fmla="*/ 1884232 h 3550128"/>
                <a:gd name="connsiteX5-1931" fmla="*/ 58 w 1432618"/>
                <a:gd name="connsiteY5-1932" fmla="*/ 1832797 h 3550128"/>
                <a:gd name="connsiteX6-1933" fmla="*/ 394393 w 1432618"/>
                <a:gd name="connsiteY6-1934" fmla="*/ 1705162 h 3550128"/>
                <a:gd name="connsiteX7-1935" fmla="*/ 642043 w 1432618"/>
                <a:gd name="connsiteY7-1936" fmla="*/ 1838512 h 3550128"/>
                <a:gd name="connsiteX8-1937" fmla="*/ 689668 w 1432618"/>
                <a:gd name="connsiteY8-1938" fmla="*/ 1609912 h 3550128"/>
                <a:gd name="connsiteX9-1939" fmla="*/ 823018 w 1432618"/>
                <a:gd name="connsiteY9-1940" fmla="*/ 1295587 h 3550128"/>
                <a:gd name="connsiteX10-1941" fmla="*/ 765868 w 1432618"/>
                <a:gd name="connsiteY10-1942" fmla="*/ 771712 h 3550128"/>
                <a:gd name="connsiteX11-1943" fmla="*/ 537268 w 1432618"/>
                <a:gd name="connsiteY11-1944" fmla="*/ 628837 h 3550128"/>
                <a:gd name="connsiteX12-1945" fmla="*/ 689668 w 1432618"/>
                <a:gd name="connsiteY12-1946" fmla="*/ 628837 h 3550128"/>
                <a:gd name="connsiteX13-1947" fmla="*/ 765868 w 1432618"/>
                <a:gd name="connsiteY13-1948" fmla="*/ 714562 h 3550128"/>
                <a:gd name="connsiteX14-1949" fmla="*/ 870643 w 1432618"/>
                <a:gd name="connsiteY14-1950" fmla="*/ 187 h 3550128"/>
                <a:gd name="connsiteX15-1951" fmla="*/ 832543 w 1432618"/>
                <a:gd name="connsiteY15-1952" fmla="*/ 647887 h 3550128"/>
                <a:gd name="connsiteX16-1953" fmla="*/ 908743 w 1432618"/>
                <a:gd name="connsiteY16-1954" fmla="*/ 1038412 h 3550128"/>
                <a:gd name="connsiteX17-1955" fmla="*/ 937318 w 1432618"/>
                <a:gd name="connsiteY17-1956" fmla="*/ 1286062 h 3550128"/>
                <a:gd name="connsiteX18-1957" fmla="*/ 1108768 w 1432618"/>
                <a:gd name="connsiteY18-1958" fmla="*/ 1152712 h 3550128"/>
                <a:gd name="connsiteX19-1959" fmla="*/ 1337368 w 1432618"/>
                <a:gd name="connsiteY19-1960" fmla="*/ 1133662 h 3550128"/>
                <a:gd name="connsiteX20-1961" fmla="*/ 1089718 w 1432618"/>
                <a:gd name="connsiteY20-1962" fmla="*/ 1190812 h 3550128"/>
                <a:gd name="connsiteX21-1963" fmla="*/ 880168 w 1432618"/>
                <a:gd name="connsiteY21-1964" fmla="*/ 1495612 h 3550128"/>
                <a:gd name="connsiteX22-1965" fmla="*/ 823018 w 1432618"/>
                <a:gd name="connsiteY22-1966" fmla="*/ 1857562 h 3550128"/>
                <a:gd name="connsiteX23-1967" fmla="*/ 975418 w 1432618"/>
                <a:gd name="connsiteY23-1968" fmla="*/ 2314762 h 3550128"/>
                <a:gd name="connsiteX24-1969" fmla="*/ 899218 w 1432618"/>
                <a:gd name="connsiteY24-1970" fmla="*/ 2552887 h 3550128"/>
                <a:gd name="connsiteX25-1971" fmla="*/ 1213543 w 1432618"/>
                <a:gd name="connsiteY25-1972" fmla="*/ 2495737 h 3550128"/>
                <a:gd name="connsiteX26-1973" fmla="*/ 1432618 w 1432618"/>
                <a:gd name="connsiteY26-1974" fmla="*/ 2588606 h 3550128"/>
                <a:gd name="connsiteX27-1975" fmla="*/ 1188143 w 1432618"/>
                <a:gd name="connsiteY27-1976" fmla="*/ 2552887 h 3550128"/>
                <a:gd name="connsiteX28-1977" fmla="*/ 832543 w 1432618"/>
                <a:gd name="connsiteY28-1978" fmla="*/ 2695762 h 3550128"/>
                <a:gd name="connsiteX29-1979" fmla="*/ 689668 w 1432618"/>
                <a:gd name="connsiteY29-1980" fmla="*/ 3048187 h 3550128"/>
                <a:gd name="connsiteX30-1981" fmla="*/ 918268 w 1432618"/>
                <a:gd name="connsiteY30-1982" fmla="*/ 3381562 h 3550128"/>
                <a:gd name="connsiteX31-1983" fmla="*/ 1016693 w 1432618"/>
                <a:gd name="connsiteY31-1984" fmla="*/ 3543487 h 3550128"/>
                <a:gd name="connsiteX0-1985" fmla="*/ 1016693 w 1432618"/>
                <a:gd name="connsiteY0-1986" fmla="*/ 3543487 h 3550128"/>
                <a:gd name="connsiteX1-1987" fmla="*/ 591243 w 1432618"/>
                <a:gd name="connsiteY1-1988" fmla="*/ 3549837 h 3550128"/>
                <a:gd name="connsiteX2-1989" fmla="*/ 394393 w 1432618"/>
                <a:gd name="connsiteY2-1990" fmla="*/ 3038662 h 3550128"/>
                <a:gd name="connsiteX3-1991" fmla="*/ 746818 w 1432618"/>
                <a:gd name="connsiteY3-1992" fmla="*/ 2343337 h 3550128"/>
                <a:gd name="connsiteX4-1993" fmla="*/ 560128 w 1432618"/>
                <a:gd name="connsiteY4-1994" fmla="*/ 1884232 h 3550128"/>
                <a:gd name="connsiteX5-1995" fmla="*/ 58 w 1432618"/>
                <a:gd name="connsiteY5-1996" fmla="*/ 1832797 h 3550128"/>
                <a:gd name="connsiteX6-1997" fmla="*/ 394393 w 1432618"/>
                <a:gd name="connsiteY6-1998" fmla="*/ 1705162 h 3550128"/>
                <a:gd name="connsiteX7-1999" fmla="*/ 642043 w 1432618"/>
                <a:gd name="connsiteY7-2000" fmla="*/ 1838512 h 3550128"/>
                <a:gd name="connsiteX8-2001" fmla="*/ 689668 w 1432618"/>
                <a:gd name="connsiteY8-2002" fmla="*/ 1609912 h 3550128"/>
                <a:gd name="connsiteX9-2003" fmla="*/ 823018 w 1432618"/>
                <a:gd name="connsiteY9-2004" fmla="*/ 1295587 h 3550128"/>
                <a:gd name="connsiteX10-2005" fmla="*/ 765868 w 1432618"/>
                <a:gd name="connsiteY10-2006" fmla="*/ 771712 h 3550128"/>
                <a:gd name="connsiteX11-2007" fmla="*/ 537268 w 1432618"/>
                <a:gd name="connsiteY11-2008" fmla="*/ 628837 h 3550128"/>
                <a:gd name="connsiteX12-2009" fmla="*/ 689668 w 1432618"/>
                <a:gd name="connsiteY12-2010" fmla="*/ 628837 h 3550128"/>
                <a:gd name="connsiteX13-2011" fmla="*/ 765868 w 1432618"/>
                <a:gd name="connsiteY13-2012" fmla="*/ 714562 h 3550128"/>
                <a:gd name="connsiteX14-2013" fmla="*/ 870643 w 1432618"/>
                <a:gd name="connsiteY14-2014" fmla="*/ 187 h 3550128"/>
                <a:gd name="connsiteX15-2015" fmla="*/ 832543 w 1432618"/>
                <a:gd name="connsiteY15-2016" fmla="*/ 647887 h 3550128"/>
                <a:gd name="connsiteX16-2017" fmla="*/ 908743 w 1432618"/>
                <a:gd name="connsiteY16-2018" fmla="*/ 1038412 h 3550128"/>
                <a:gd name="connsiteX17-2019" fmla="*/ 937318 w 1432618"/>
                <a:gd name="connsiteY17-2020" fmla="*/ 1286062 h 3550128"/>
                <a:gd name="connsiteX18-2021" fmla="*/ 1108768 w 1432618"/>
                <a:gd name="connsiteY18-2022" fmla="*/ 1152712 h 3550128"/>
                <a:gd name="connsiteX19-2023" fmla="*/ 1337368 w 1432618"/>
                <a:gd name="connsiteY19-2024" fmla="*/ 1133662 h 3550128"/>
                <a:gd name="connsiteX20-2025" fmla="*/ 1089718 w 1432618"/>
                <a:gd name="connsiteY20-2026" fmla="*/ 1190812 h 3550128"/>
                <a:gd name="connsiteX21-2027" fmla="*/ 880168 w 1432618"/>
                <a:gd name="connsiteY21-2028" fmla="*/ 1495612 h 3550128"/>
                <a:gd name="connsiteX22-2029" fmla="*/ 823018 w 1432618"/>
                <a:gd name="connsiteY22-2030" fmla="*/ 1857562 h 3550128"/>
                <a:gd name="connsiteX23-2031" fmla="*/ 975418 w 1432618"/>
                <a:gd name="connsiteY23-2032" fmla="*/ 2314762 h 3550128"/>
                <a:gd name="connsiteX24-2033" fmla="*/ 899218 w 1432618"/>
                <a:gd name="connsiteY24-2034" fmla="*/ 2552887 h 3550128"/>
                <a:gd name="connsiteX25-2035" fmla="*/ 1213543 w 1432618"/>
                <a:gd name="connsiteY25-2036" fmla="*/ 2495737 h 3550128"/>
                <a:gd name="connsiteX26-2037" fmla="*/ 1432618 w 1432618"/>
                <a:gd name="connsiteY26-2038" fmla="*/ 2588606 h 3550128"/>
                <a:gd name="connsiteX27-2039" fmla="*/ 1188143 w 1432618"/>
                <a:gd name="connsiteY27-2040" fmla="*/ 2552887 h 3550128"/>
                <a:gd name="connsiteX28-2041" fmla="*/ 832543 w 1432618"/>
                <a:gd name="connsiteY28-2042" fmla="*/ 2695762 h 3550128"/>
                <a:gd name="connsiteX29-2043" fmla="*/ 689668 w 1432618"/>
                <a:gd name="connsiteY29-2044" fmla="*/ 3048187 h 3550128"/>
                <a:gd name="connsiteX30-2045" fmla="*/ 918268 w 1432618"/>
                <a:gd name="connsiteY30-2046" fmla="*/ 3381562 h 3550128"/>
                <a:gd name="connsiteX31-2047" fmla="*/ 1016693 w 1432618"/>
                <a:gd name="connsiteY31-2048" fmla="*/ 3543487 h 3550128"/>
                <a:gd name="connsiteX0-2049" fmla="*/ 1016693 w 1432618"/>
                <a:gd name="connsiteY0-2050" fmla="*/ 3543487 h 3550128"/>
                <a:gd name="connsiteX1-2051" fmla="*/ 591243 w 1432618"/>
                <a:gd name="connsiteY1-2052" fmla="*/ 3549837 h 3550128"/>
                <a:gd name="connsiteX2-2053" fmla="*/ 394393 w 1432618"/>
                <a:gd name="connsiteY2-2054" fmla="*/ 3038662 h 3550128"/>
                <a:gd name="connsiteX3-2055" fmla="*/ 746818 w 1432618"/>
                <a:gd name="connsiteY3-2056" fmla="*/ 2343337 h 3550128"/>
                <a:gd name="connsiteX4-2057" fmla="*/ 560128 w 1432618"/>
                <a:gd name="connsiteY4-2058" fmla="*/ 1884232 h 3550128"/>
                <a:gd name="connsiteX5-2059" fmla="*/ 58 w 1432618"/>
                <a:gd name="connsiteY5-2060" fmla="*/ 1832797 h 3550128"/>
                <a:gd name="connsiteX6-2061" fmla="*/ 394393 w 1432618"/>
                <a:gd name="connsiteY6-2062" fmla="*/ 1705162 h 3550128"/>
                <a:gd name="connsiteX7-2063" fmla="*/ 642043 w 1432618"/>
                <a:gd name="connsiteY7-2064" fmla="*/ 1838512 h 3550128"/>
                <a:gd name="connsiteX8-2065" fmla="*/ 689668 w 1432618"/>
                <a:gd name="connsiteY8-2066" fmla="*/ 1609912 h 3550128"/>
                <a:gd name="connsiteX9-2067" fmla="*/ 823018 w 1432618"/>
                <a:gd name="connsiteY9-2068" fmla="*/ 1295587 h 3550128"/>
                <a:gd name="connsiteX10-2069" fmla="*/ 765868 w 1432618"/>
                <a:gd name="connsiteY10-2070" fmla="*/ 771712 h 3550128"/>
                <a:gd name="connsiteX11-2071" fmla="*/ 537268 w 1432618"/>
                <a:gd name="connsiteY11-2072" fmla="*/ 628837 h 3550128"/>
                <a:gd name="connsiteX12-2073" fmla="*/ 689668 w 1432618"/>
                <a:gd name="connsiteY12-2074" fmla="*/ 628837 h 3550128"/>
                <a:gd name="connsiteX13-2075" fmla="*/ 765868 w 1432618"/>
                <a:gd name="connsiteY13-2076" fmla="*/ 714562 h 3550128"/>
                <a:gd name="connsiteX14-2077" fmla="*/ 870643 w 1432618"/>
                <a:gd name="connsiteY14-2078" fmla="*/ 187 h 3550128"/>
                <a:gd name="connsiteX15-2079" fmla="*/ 832543 w 1432618"/>
                <a:gd name="connsiteY15-2080" fmla="*/ 647887 h 3550128"/>
                <a:gd name="connsiteX16-2081" fmla="*/ 908743 w 1432618"/>
                <a:gd name="connsiteY16-2082" fmla="*/ 1038412 h 3550128"/>
                <a:gd name="connsiteX17-2083" fmla="*/ 937318 w 1432618"/>
                <a:gd name="connsiteY17-2084" fmla="*/ 1286062 h 3550128"/>
                <a:gd name="connsiteX18-2085" fmla="*/ 1108768 w 1432618"/>
                <a:gd name="connsiteY18-2086" fmla="*/ 1152712 h 3550128"/>
                <a:gd name="connsiteX19-2087" fmla="*/ 1337368 w 1432618"/>
                <a:gd name="connsiteY19-2088" fmla="*/ 1133662 h 3550128"/>
                <a:gd name="connsiteX20-2089" fmla="*/ 1089718 w 1432618"/>
                <a:gd name="connsiteY20-2090" fmla="*/ 1190812 h 3550128"/>
                <a:gd name="connsiteX21-2091" fmla="*/ 880168 w 1432618"/>
                <a:gd name="connsiteY21-2092" fmla="*/ 1495612 h 3550128"/>
                <a:gd name="connsiteX22-2093" fmla="*/ 823018 w 1432618"/>
                <a:gd name="connsiteY22-2094" fmla="*/ 1857562 h 3550128"/>
                <a:gd name="connsiteX23-2095" fmla="*/ 975418 w 1432618"/>
                <a:gd name="connsiteY23-2096" fmla="*/ 2314762 h 3550128"/>
                <a:gd name="connsiteX24-2097" fmla="*/ 899218 w 1432618"/>
                <a:gd name="connsiteY24-2098" fmla="*/ 2552887 h 3550128"/>
                <a:gd name="connsiteX25-2099" fmla="*/ 1213543 w 1432618"/>
                <a:gd name="connsiteY25-2100" fmla="*/ 2495737 h 3550128"/>
                <a:gd name="connsiteX26-2101" fmla="*/ 1432618 w 1432618"/>
                <a:gd name="connsiteY26-2102" fmla="*/ 2588606 h 3550128"/>
                <a:gd name="connsiteX27-2103" fmla="*/ 1188143 w 1432618"/>
                <a:gd name="connsiteY27-2104" fmla="*/ 2552887 h 3550128"/>
                <a:gd name="connsiteX28-2105" fmla="*/ 832543 w 1432618"/>
                <a:gd name="connsiteY28-2106" fmla="*/ 2695762 h 3550128"/>
                <a:gd name="connsiteX29-2107" fmla="*/ 689668 w 1432618"/>
                <a:gd name="connsiteY29-2108" fmla="*/ 3048187 h 3550128"/>
                <a:gd name="connsiteX30-2109" fmla="*/ 918268 w 1432618"/>
                <a:gd name="connsiteY30-2110" fmla="*/ 3381562 h 3550128"/>
                <a:gd name="connsiteX31-2111" fmla="*/ 1016693 w 1432618"/>
                <a:gd name="connsiteY31-2112" fmla="*/ 3543487 h 3550128"/>
                <a:gd name="connsiteX0-2113" fmla="*/ 1016693 w 1432618"/>
                <a:gd name="connsiteY0-2114" fmla="*/ 3543487 h 3550128"/>
                <a:gd name="connsiteX1-2115" fmla="*/ 591243 w 1432618"/>
                <a:gd name="connsiteY1-2116" fmla="*/ 3549837 h 3550128"/>
                <a:gd name="connsiteX2-2117" fmla="*/ 394393 w 1432618"/>
                <a:gd name="connsiteY2-2118" fmla="*/ 3038662 h 3550128"/>
                <a:gd name="connsiteX3-2119" fmla="*/ 746818 w 1432618"/>
                <a:gd name="connsiteY3-2120" fmla="*/ 2343337 h 3550128"/>
                <a:gd name="connsiteX4-2121" fmla="*/ 560128 w 1432618"/>
                <a:gd name="connsiteY4-2122" fmla="*/ 1884232 h 3550128"/>
                <a:gd name="connsiteX5-2123" fmla="*/ 58 w 1432618"/>
                <a:gd name="connsiteY5-2124" fmla="*/ 1832797 h 3550128"/>
                <a:gd name="connsiteX6-2125" fmla="*/ 394393 w 1432618"/>
                <a:gd name="connsiteY6-2126" fmla="*/ 1705162 h 3550128"/>
                <a:gd name="connsiteX7-2127" fmla="*/ 642043 w 1432618"/>
                <a:gd name="connsiteY7-2128" fmla="*/ 1838512 h 3550128"/>
                <a:gd name="connsiteX8-2129" fmla="*/ 689668 w 1432618"/>
                <a:gd name="connsiteY8-2130" fmla="*/ 1609912 h 3550128"/>
                <a:gd name="connsiteX9-2131" fmla="*/ 823018 w 1432618"/>
                <a:gd name="connsiteY9-2132" fmla="*/ 1295587 h 3550128"/>
                <a:gd name="connsiteX10-2133" fmla="*/ 765868 w 1432618"/>
                <a:gd name="connsiteY10-2134" fmla="*/ 771712 h 3550128"/>
                <a:gd name="connsiteX11-2135" fmla="*/ 537268 w 1432618"/>
                <a:gd name="connsiteY11-2136" fmla="*/ 628837 h 3550128"/>
                <a:gd name="connsiteX12-2137" fmla="*/ 689668 w 1432618"/>
                <a:gd name="connsiteY12-2138" fmla="*/ 628837 h 3550128"/>
                <a:gd name="connsiteX13-2139" fmla="*/ 765868 w 1432618"/>
                <a:gd name="connsiteY13-2140" fmla="*/ 714562 h 3550128"/>
                <a:gd name="connsiteX14-2141" fmla="*/ 870643 w 1432618"/>
                <a:gd name="connsiteY14-2142" fmla="*/ 187 h 3550128"/>
                <a:gd name="connsiteX15-2143" fmla="*/ 832543 w 1432618"/>
                <a:gd name="connsiteY15-2144" fmla="*/ 647887 h 3550128"/>
                <a:gd name="connsiteX16-2145" fmla="*/ 908743 w 1432618"/>
                <a:gd name="connsiteY16-2146" fmla="*/ 1038412 h 3550128"/>
                <a:gd name="connsiteX17-2147" fmla="*/ 937318 w 1432618"/>
                <a:gd name="connsiteY17-2148" fmla="*/ 1286062 h 3550128"/>
                <a:gd name="connsiteX18-2149" fmla="*/ 1108768 w 1432618"/>
                <a:gd name="connsiteY18-2150" fmla="*/ 1152712 h 3550128"/>
                <a:gd name="connsiteX19-2151" fmla="*/ 1337368 w 1432618"/>
                <a:gd name="connsiteY19-2152" fmla="*/ 1133662 h 3550128"/>
                <a:gd name="connsiteX20-2153" fmla="*/ 1089718 w 1432618"/>
                <a:gd name="connsiteY20-2154" fmla="*/ 1190812 h 3550128"/>
                <a:gd name="connsiteX21-2155" fmla="*/ 880168 w 1432618"/>
                <a:gd name="connsiteY21-2156" fmla="*/ 1495612 h 3550128"/>
                <a:gd name="connsiteX22-2157" fmla="*/ 823018 w 1432618"/>
                <a:gd name="connsiteY22-2158" fmla="*/ 1857562 h 3550128"/>
                <a:gd name="connsiteX23-2159" fmla="*/ 975418 w 1432618"/>
                <a:gd name="connsiteY23-2160" fmla="*/ 2314762 h 3550128"/>
                <a:gd name="connsiteX24-2161" fmla="*/ 899218 w 1432618"/>
                <a:gd name="connsiteY24-2162" fmla="*/ 2552887 h 3550128"/>
                <a:gd name="connsiteX25-2163" fmla="*/ 1213543 w 1432618"/>
                <a:gd name="connsiteY25-2164" fmla="*/ 2495737 h 3550128"/>
                <a:gd name="connsiteX26-2165" fmla="*/ 1432618 w 1432618"/>
                <a:gd name="connsiteY26-2166" fmla="*/ 2588606 h 3550128"/>
                <a:gd name="connsiteX27-2167" fmla="*/ 1188143 w 1432618"/>
                <a:gd name="connsiteY27-2168" fmla="*/ 2552887 h 3550128"/>
                <a:gd name="connsiteX28-2169" fmla="*/ 832543 w 1432618"/>
                <a:gd name="connsiteY28-2170" fmla="*/ 2695762 h 3550128"/>
                <a:gd name="connsiteX29-2171" fmla="*/ 689668 w 1432618"/>
                <a:gd name="connsiteY29-2172" fmla="*/ 3048187 h 3550128"/>
                <a:gd name="connsiteX30-2173" fmla="*/ 918268 w 1432618"/>
                <a:gd name="connsiteY30-2174" fmla="*/ 3381562 h 3550128"/>
                <a:gd name="connsiteX31-2175" fmla="*/ 1016693 w 1432618"/>
                <a:gd name="connsiteY31-2176" fmla="*/ 3543487 h 3550128"/>
                <a:gd name="connsiteX0-2177" fmla="*/ 1016693 w 1432618"/>
                <a:gd name="connsiteY0-2178" fmla="*/ 3543487 h 3550128"/>
                <a:gd name="connsiteX1-2179" fmla="*/ 591243 w 1432618"/>
                <a:gd name="connsiteY1-2180" fmla="*/ 3549837 h 3550128"/>
                <a:gd name="connsiteX2-2181" fmla="*/ 394393 w 1432618"/>
                <a:gd name="connsiteY2-2182" fmla="*/ 3038662 h 3550128"/>
                <a:gd name="connsiteX3-2183" fmla="*/ 746818 w 1432618"/>
                <a:gd name="connsiteY3-2184" fmla="*/ 2343337 h 3550128"/>
                <a:gd name="connsiteX4-2185" fmla="*/ 560128 w 1432618"/>
                <a:gd name="connsiteY4-2186" fmla="*/ 1884232 h 3550128"/>
                <a:gd name="connsiteX5-2187" fmla="*/ 58 w 1432618"/>
                <a:gd name="connsiteY5-2188" fmla="*/ 1832797 h 3550128"/>
                <a:gd name="connsiteX6-2189" fmla="*/ 394393 w 1432618"/>
                <a:gd name="connsiteY6-2190" fmla="*/ 1705162 h 3550128"/>
                <a:gd name="connsiteX7-2191" fmla="*/ 642043 w 1432618"/>
                <a:gd name="connsiteY7-2192" fmla="*/ 1838512 h 3550128"/>
                <a:gd name="connsiteX8-2193" fmla="*/ 689668 w 1432618"/>
                <a:gd name="connsiteY8-2194" fmla="*/ 1609912 h 3550128"/>
                <a:gd name="connsiteX9-2195" fmla="*/ 823018 w 1432618"/>
                <a:gd name="connsiteY9-2196" fmla="*/ 1295587 h 3550128"/>
                <a:gd name="connsiteX10-2197" fmla="*/ 765868 w 1432618"/>
                <a:gd name="connsiteY10-2198" fmla="*/ 771712 h 3550128"/>
                <a:gd name="connsiteX11-2199" fmla="*/ 537268 w 1432618"/>
                <a:gd name="connsiteY11-2200" fmla="*/ 628837 h 3550128"/>
                <a:gd name="connsiteX12-2201" fmla="*/ 689668 w 1432618"/>
                <a:gd name="connsiteY12-2202" fmla="*/ 628837 h 3550128"/>
                <a:gd name="connsiteX13-2203" fmla="*/ 765868 w 1432618"/>
                <a:gd name="connsiteY13-2204" fmla="*/ 714562 h 3550128"/>
                <a:gd name="connsiteX14-2205" fmla="*/ 870643 w 1432618"/>
                <a:gd name="connsiteY14-2206" fmla="*/ 187 h 3550128"/>
                <a:gd name="connsiteX15-2207" fmla="*/ 832543 w 1432618"/>
                <a:gd name="connsiteY15-2208" fmla="*/ 647887 h 3550128"/>
                <a:gd name="connsiteX16-2209" fmla="*/ 908743 w 1432618"/>
                <a:gd name="connsiteY16-2210" fmla="*/ 1038412 h 3550128"/>
                <a:gd name="connsiteX17-2211" fmla="*/ 937318 w 1432618"/>
                <a:gd name="connsiteY17-2212" fmla="*/ 1286062 h 3550128"/>
                <a:gd name="connsiteX18-2213" fmla="*/ 1108768 w 1432618"/>
                <a:gd name="connsiteY18-2214" fmla="*/ 1152712 h 3550128"/>
                <a:gd name="connsiteX19-2215" fmla="*/ 1337368 w 1432618"/>
                <a:gd name="connsiteY19-2216" fmla="*/ 1133662 h 3550128"/>
                <a:gd name="connsiteX20-2217" fmla="*/ 1089718 w 1432618"/>
                <a:gd name="connsiteY20-2218" fmla="*/ 1190812 h 3550128"/>
                <a:gd name="connsiteX21-2219" fmla="*/ 880168 w 1432618"/>
                <a:gd name="connsiteY21-2220" fmla="*/ 1495612 h 3550128"/>
                <a:gd name="connsiteX22-2221" fmla="*/ 823018 w 1432618"/>
                <a:gd name="connsiteY22-2222" fmla="*/ 1857562 h 3550128"/>
                <a:gd name="connsiteX23-2223" fmla="*/ 975418 w 1432618"/>
                <a:gd name="connsiteY23-2224" fmla="*/ 2314762 h 3550128"/>
                <a:gd name="connsiteX24-2225" fmla="*/ 899218 w 1432618"/>
                <a:gd name="connsiteY24-2226" fmla="*/ 2552887 h 3550128"/>
                <a:gd name="connsiteX25-2227" fmla="*/ 1213543 w 1432618"/>
                <a:gd name="connsiteY25-2228" fmla="*/ 2495737 h 3550128"/>
                <a:gd name="connsiteX26-2229" fmla="*/ 1432618 w 1432618"/>
                <a:gd name="connsiteY26-2230" fmla="*/ 2588606 h 3550128"/>
                <a:gd name="connsiteX27-2231" fmla="*/ 1188143 w 1432618"/>
                <a:gd name="connsiteY27-2232" fmla="*/ 2552887 h 3550128"/>
                <a:gd name="connsiteX28-2233" fmla="*/ 832543 w 1432618"/>
                <a:gd name="connsiteY28-2234" fmla="*/ 2695762 h 3550128"/>
                <a:gd name="connsiteX29-2235" fmla="*/ 689668 w 1432618"/>
                <a:gd name="connsiteY29-2236" fmla="*/ 3048187 h 3550128"/>
                <a:gd name="connsiteX30-2237" fmla="*/ 918268 w 1432618"/>
                <a:gd name="connsiteY30-2238" fmla="*/ 3381562 h 3550128"/>
                <a:gd name="connsiteX31-2239" fmla="*/ 1016693 w 1432618"/>
                <a:gd name="connsiteY31-2240" fmla="*/ 3543487 h 3550128"/>
                <a:gd name="connsiteX0-2241" fmla="*/ 1016693 w 1432618"/>
                <a:gd name="connsiteY0-2242" fmla="*/ 3543487 h 3550128"/>
                <a:gd name="connsiteX1-2243" fmla="*/ 591243 w 1432618"/>
                <a:gd name="connsiteY1-2244" fmla="*/ 3549837 h 3550128"/>
                <a:gd name="connsiteX2-2245" fmla="*/ 394393 w 1432618"/>
                <a:gd name="connsiteY2-2246" fmla="*/ 3038662 h 3550128"/>
                <a:gd name="connsiteX3-2247" fmla="*/ 746818 w 1432618"/>
                <a:gd name="connsiteY3-2248" fmla="*/ 2343337 h 3550128"/>
                <a:gd name="connsiteX4-2249" fmla="*/ 560128 w 1432618"/>
                <a:gd name="connsiteY4-2250" fmla="*/ 1884232 h 3550128"/>
                <a:gd name="connsiteX5-2251" fmla="*/ 58 w 1432618"/>
                <a:gd name="connsiteY5-2252" fmla="*/ 1832797 h 3550128"/>
                <a:gd name="connsiteX6-2253" fmla="*/ 394393 w 1432618"/>
                <a:gd name="connsiteY6-2254" fmla="*/ 1705162 h 3550128"/>
                <a:gd name="connsiteX7-2255" fmla="*/ 642043 w 1432618"/>
                <a:gd name="connsiteY7-2256" fmla="*/ 1838512 h 3550128"/>
                <a:gd name="connsiteX8-2257" fmla="*/ 689668 w 1432618"/>
                <a:gd name="connsiteY8-2258" fmla="*/ 1609912 h 3550128"/>
                <a:gd name="connsiteX9-2259" fmla="*/ 823018 w 1432618"/>
                <a:gd name="connsiteY9-2260" fmla="*/ 1295587 h 3550128"/>
                <a:gd name="connsiteX10-2261" fmla="*/ 765868 w 1432618"/>
                <a:gd name="connsiteY10-2262" fmla="*/ 771712 h 3550128"/>
                <a:gd name="connsiteX11-2263" fmla="*/ 537268 w 1432618"/>
                <a:gd name="connsiteY11-2264" fmla="*/ 628837 h 3550128"/>
                <a:gd name="connsiteX12-2265" fmla="*/ 689668 w 1432618"/>
                <a:gd name="connsiteY12-2266" fmla="*/ 628837 h 3550128"/>
                <a:gd name="connsiteX13-2267" fmla="*/ 765868 w 1432618"/>
                <a:gd name="connsiteY13-2268" fmla="*/ 714562 h 3550128"/>
                <a:gd name="connsiteX14-2269" fmla="*/ 870643 w 1432618"/>
                <a:gd name="connsiteY14-2270" fmla="*/ 187 h 3550128"/>
                <a:gd name="connsiteX15-2271" fmla="*/ 832543 w 1432618"/>
                <a:gd name="connsiteY15-2272" fmla="*/ 647887 h 3550128"/>
                <a:gd name="connsiteX16-2273" fmla="*/ 908743 w 1432618"/>
                <a:gd name="connsiteY16-2274" fmla="*/ 1038412 h 3550128"/>
                <a:gd name="connsiteX17-2275" fmla="*/ 937318 w 1432618"/>
                <a:gd name="connsiteY17-2276" fmla="*/ 1286062 h 3550128"/>
                <a:gd name="connsiteX18-2277" fmla="*/ 1108768 w 1432618"/>
                <a:gd name="connsiteY18-2278" fmla="*/ 1152712 h 3550128"/>
                <a:gd name="connsiteX19-2279" fmla="*/ 1337368 w 1432618"/>
                <a:gd name="connsiteY19-2280" fmla="*/ 1133662 h 3550128"/>
                <a:gd name="connsiteX20-2281" fmla="*/ 1089718 w 1432618"/>
                <a:gd name="connsiteY20-2282" fmla="*/ 1190812 h 3550128"/>
                <a:gd name="connsiteX21-2283" fmla="*/ 880168 w 1432618"/>
                <a:gd name="connsiteY21-2284" fmla="*/ 1495612 h 3550128"/>
                <a:gd name="connsiteX22-2285" fmla="*/ 823018 w 1432618"/>
                <a:gd name="connsiteY22-2286" fmla="*/ 1857562 h 3550128"/>
                <a:gd name="connsiteX23-2287" fmla="*/ 975418 w 1432618"/>
                <a:gd name="connsiteY23-2288" fmla="*/ 2314762 h 3550128"/>
                <a:gd name="connsiteX24-2289" fmla="*/ 899218 w 1432618"/>
                <a:gd name="connsiteY24-2290" fmla="*/ 2552887 h 3550128"/>
                <a:gd name="connsiteX25-2291" fmla="*/ 1213543 w 1432618"/>
                <a:gd name="connsiteY25-2292" fmla="*/ 2495737 h 3550128"/>
                <a:gd name="connsiteX26-2293" fmla="*/ 1432618 w 1432618"/>
                <a:gd name="connsiteY26-2294" fmla="*/ 2588606 h 3550128"/>
                <a:gd name="connsiteX27-2295" fmla="*/ 1188143 w 1432618"/>
                <a:gd name="connsiteY27-2296" fmla="*/ 2552887 h 3550128"/>
                <a:gd name="connsiteX28-2297" fmla="*/ 832543 w 1432618"/>
                <a:gd name="connsiteY28-2298" fmla="*/ 2695762 h 3550128"/>
                <a:gd name="connsiteX29-2299" fmla="*/ 689668 w 1432618"/>
                <a:gd name="connsiteY29-2300" fmla="*/ 3048187 h 3550128"/>
                <a:gd name="connsiteX30-2301" fmla="*/ 918268 w 1432618"/>
                <a:gd name="connsiteY30-2302" fmla="*/ 3381562 h 3550128"/>
                <a:gd name="connsiteX31-2303" fmla="*/ 1016693 w 1432618"/>
                <a:gd name="connsiteY31-2304" fmla="*/ 3543487 h 3550128"/>
                <a:gd name="connsiteX0-2305" fmla="*/ 1016693 w 1432618"/>
                <a:gd name="connsiteY0-2306" fmla="*/ 3543487 h 3550128"/>
                <a:gd name="connsiteX1-2307" fmla="*/ 591243 w 1432618"/>
                <a:gd name="connsiteY1-2308" fmla="*/ 3549837 h 3550128"/>
                <a:gd name="connsiteX2-2309" fmla="*/ 394393 w 1432618"/>
                <a:gd name="connsiteY2-2310" fmla="*/ 3038662 h 3550128"/>
                <a:gd name="connsiteX3-2311" fmla="*/ 746818 w 1432618"/>
                <a:gd name="connsiteY3-2312" fmla="*/ 2343337 h 3550128"/>
                <a:gd name="connsiteX4-2313" fmla="*/ 560128 w 1432618"/>
                <a:gd name="connsiteY4-2314" fmla="*/ 1884232 h 3550128"/>
                <a:gd name="connsiteX5-2315" fmla="*/ 58 w 1432618"/>
                <a:gd name="connsiteY5-2316" fmla="*/ 1832797 h 3550128"/>
                <a:gd name="connsiteX6-2317" fmla="*/ 394393 w 1432618"/>
                <a:gd name="connsiteY6-2318" fmla="*/ 1705162 h 3550128"/>
                <a:gd name="connsiteX7-2319" fmla="*/ 642043 w 1432618"/>
                <a:gd name="connsiteY7-2320" fmla="*/ 1838512 h 3550128"/>
                <a:gd name="connsiteX8-2321" fmla="*/ 689668 w 1432618"/>
                <a:gd name="connsiteY8-2322" fmla="*/ 1609912 h 3550128"/>
                <a:gd name="connsiteX9-2323" fmla="*/ 823018 w 1432618"/>
                <a:gd name="connsiteY9-2324" fmla="*/ 1295587 h 3550128"/>
                <a:gd name="connsiteX10-2325" fmla="*/ 765868 w 1432618"/>
                <a:gd name="connsiteY10-2326" fmla="*/ 771712 h 3550128"/>
                <a:gd name="connsiteX11-2327" fmla="*/ 537268 w 1432618"/>
                <a:gd name="connsiteY11-2328" fmla="*/ 628837 h 3550128"/>
                <a:gd name="connsiteX12-2329" fmla="*/ 689668 w 1432618"/>
                <a:gd name="connsiteY12-2330" fmla="*/ 628837 h 3550128"/>
                <a:gd name="connsiteX13-2331" fmla="*/ 765868 w 1432618"/>
                <a:gd name="connsiteY13-2332" fmla="*/ 714562 h 3550128"/>
                <a:gd name="connsiteX14-2333" fmla="*/ 870643 w 1432618"/>
                <a:gd name="connsiteY14-2334" fmla="*/ 187 h 3550128"/>
                <a:gd name="connsiteX15-2335" fmla="*/ 832543 w 1432618"/>
                <a:gd name="connsiteY15-2336" fmla="*/ 647887 h 3550128"/>
                <a:gd name="connsiteX16-2337" fmla="*/ 908743 w 1432618"/>
                <a:gd name="connsiteY16-2338" fmla="*/ 1038412 h 3550128"/>
                <a:gd name="connsiteX17-2339" fmla="*/ 937318 w 1432618"/>
                <a:gd name="connsiteY17-2340" fmla="*/ 1286062 h 3550128"/>
                <a:gd name="connsiteX18-2341" fmla="*/ 1108768 w 1432618"/>
                <a:gd name="connsiteY18-2342" fmla="*/ 1152712 h 3550128"/>
                <a:gd name="connsiteX19-2343" fmla="*/ 1337368 w 1432618"/>
                <a:gd name="connsiteY19-2344" fmla="*/ 1133662 h 3550128"/>
                <a:gd name="connsiteX20-2345" fmla="*/ 1089718 w 1432618"/>
                <a:gd name="connsiteY20-2346" fmla="*/ 1190812 h 3550128"/>
                <a:gd name="connsiteX21-2347" fmla="*/ 880168 w 1432618"/>
                <a:gd name="connsiteY21-2348" fmla="*/ 1495612 h 3550128"/>
                <a:gd name="connsiteX22-2349" fmla="*/ 823018 w 1432618"/>
                <a:gd name="connsiteY22-2350" fmla="*/ 1857562 h 3550128"/>
                <a:gd name="connsiteX23-2351" fmla="*/ 975418 w 1432618"/>
                <a:gd name="connsiteY23-2352" fmla="*/ 2314762 h 3550128"/>
                <a:gd name="connsiteX24-2353" fmla="*/ 899218 w 1432618"/>
                <a:gd name="connsiteY24-2354" fmla="*/ 2552887 h 3550128"/>
                <a:gd name="connsiteX25-2355" fmla="*/ 1213543 w 1432618"/>
                <a:gd name="connsiteY25-2356" fmla="*/ 2495737 h 3550128"/>
                <a:gd name="connsiteX26-2357" fmla="*/ 1432618 w 1432618"/>
                <a:gd name="connsiteY26-2358" fmla="*/ 2588606 h 3550128"/>
                <a:gd name="connsiteX27-2359" fmla="*/ 1188143 w 1432618"/>
                <a:gd name="connsiteY27-2360" fmla="*/ 2552887 h 3550128"/>
                <a:gd name="connsiteX28-2361" fmla="*/ 832543 w 1432618"/>
                <a:gd name="connsiteY28-2362" fmla="*/ 2695762 h 3550128"/>
                <a:gd name="connsiteX29-2363" fmla="*/ 689668 w 1432618"/>
                <a:gd name="connsiteY29-2364" fmla="*/ 3048187 h 3550128"/>
                <a:gd name="connsiteX30-2365" fmla="*/ 918268 w 1432618"/>
                <a:gd name="connsiteY30-2366" fmla="*/ 3381562 h 3550128"/>
                <a:gd name="connsiteX31-2367" fmla="*/ 1016693 w 1432618"/>
                <a:gd name="connsiteY31-2368" fmla="*/ 3543487 h 3550128"/>
                <a:gd name="connsiteX0-2369" fmla="*/ 1016693 w 1432618"/>
                <a:gd name="connsiteY0-2370" fmla="*/ 3543487 h 3550128"/>
                <a:gd name="connsiteX1-2371" fmla="*/ 591243 w 1432618"/>
                <a:gd name="connsiteY1-2372" fmla="*/ 3549837 h 3550128"/>
                <a:gd name="connsiteX2-2373" fmla="*/ 394393 w 1432618"/>
                <a:gd name="connsiteY2-2374" fmla="*/ 3038662 h 3550128"/>
                <a:gd name="connsiteX3-2375" fmla="*/ 746818 w 1432618"/>
                <a:gd name="connsiteY3-2376" fmla="*/ 2343337 h 3550128"/>
                <a:gd name="connsiteX4-2377" fmla="*/ 560128 w 1432618"/>
                <a:gd name="connsiteY4-2378" fmla="*/ 1884232 h 3550128"/>
                <a:gd name="connsiteX5-2379" fmla="*/ 58 w 1432618"/>
                <a:gd name="connsiteY5-2380" fmla="*/ 1832797 h 3550128"/>
                <a:gd name="connsiteX6-2381" fmla="*/ 394393 w 1432618"/>
                <a:gd name="connsiteY6-2382" fmla="*/ 1705162 h 3550128"/>
                <a:gd name="connsiteX7-2383" fmla="*/ 642043 w 1432618"/>
                <a:gd name="connsiteY7-2384" fmla="*/ 1838512 h 3550128"/>
                <a:gd name="connsiteX8-2385" fmla="*/ 689668 w 1432618"/>
                <a:gd name="connsiteY8-2386" fmla="*/ 1609912 h 3550128"/>
                <a:gd name="connsiteX9-2387" fmla="*/ 823018 w 1432618"/>
                <a:gd name="connsiteY9-2388" fmla="*/ 1295587 h 3550128"/>
                <a:gd name="connsiteX10-2389" fmla="*/ 765868 w 1432618"/>
                <a:gd name="connsiteY10-2390" fmla="*/ 771712 h 3550128"/>
                <a:gd name="connsiteX11-2391" fmla="*/ 537268 w 1432618"/>
                <a:gd name="connsiteY11-2392" fmla="*/ 628837 h 3550128"/>
                <a:gd name="connsiteX12-2393" fmla="*/ 689668 w 1432618"/>
                <a:gd name="connsiteY12-2394" fmla="*/ 628837 h 3550128"/>
                <a:gd name="connsiteX13-2395" fmla="*/ 765868 w 1432618"/>
                <a:gd name="connsiteY13-2396" fmla="*/ 714562 h 3550128"/>
                <a:gd name="connsiteX14-2397" fmla="*/ 870643 w 1432618"/>
                <a:gd name="connsiteY14-2398" fmla="*/ 187 h 3550128"/>
                <a:gd name="connsiteX15-2399" fmla="*/ 832543 w 1432618"/>
                <a:gd name="connsiteY15-2400" fmla="*/ 647887 h 3550128"/>
                <a:gd name="connsiteX16-2401" fmla="*/ 908743 w 1432618"/>
                <a:gd name="connsiteY16-2402" fmla="*/ 1038412 h 3550128"/>
                <a:gd name="connsiteX17-2403" fmla="*/ 937318 w 1432618"/>
                <a:gd name="connsiteY17-2404" fmla="*/ 1286062 h 3550128"/>
                <a:gd name="connsiteX18-2405" fmla="*/ 1108768 w 1432618"/>
                <a:gd name="connsiteY18-2406" fmla="*/ 1152712 h 3550128"/>
                <a:gd name="connsiteX19-2407" fmla="*/ 1337368 w 1432618"/>
                <a:gd name="connsiteY19-2408" fmla="*/ 1133662 h 3550128"/>
                <a:gd name="connsiteX20-2409" fmla="*/ 1089718 w 1432618"/>
                <a:gd name="connsiteY20-2410" fmla="*/ 1190812 h 3550128"/>
                <a:gd name="connsiteX21-2411" fmla="*/ 880168 w 1432618"/>
                <a:gd name="connsiteY21-2412" fmla="*/ 1495612 h 3550128"/>
                <a:gd name="connsiteX22-2413" fmla="*/ 823018 w 1432618"/>
                <a:gd name="connsiteY22-2414" fmla="*/ 1857562 h 3550128"/>
                <a:gd name="connsiteX23-2415" fmla="*/ 975418 w 1432618"/>
                <a:gd name="connsiteY23-2416" fmla="*/ 2314762 h 3550128"/>
                <a:gd name="connsiteX24-2417" fmla="*/ 896043 w 1432618"/>
                <a:gd name="connsiteY24-2418" fmla="*/ 2540187 h 3550128"/>
                <a:gd name="connsiteX25-2419" fmla="*/ 1213543 w 1432618"/>
                <a:gd name="connsiteY25-2420" fmla="*/ 2495737 h 3550128"/>
                <a:gd name="connsiteX26-2421" fmla="*/ 1432618 w 1432618"/>
                <a:gd name="connsiteY26-2422" fmla="*/ 2588606 h 3550128"/>
                <a:gd name="connsiteX27-2423" fmla="*/ 1188143 w 1432618"/>
                <a:gd name="connsiteY27-2424" fmla="*/ 2552887 h 3550128"/>
                <a:gd name="connsiteX28-2425" fmla="*/ 832543 w 1432618"/>
                <a:gd name="connsiteY28-2426" fmla="*/ 2695762 h 3550128"/>
                <a:gd name="connsiteX29-2427" fmla="*/ 689668 w 1432618"/>
                <a:gd name="connsiteY29-2428" fmla="*/ 3048187 h 3550128"/>
                <a:gd name="connsiteX30-2429" fmla="*/ 918268 w 1432618"/>
                <a:gd name="connsiteY30-2430" fmla="*/ 3381562 h 3550128"/>
                <a:gd name="connsiteX31-2431" fmla="*/ 1016693 w 1432618"/>
                <a:gd name="connsiteY31-2432" fmla="*/ 3543487 h 3550128"/>
                <a:gd name="connsiteX0-2433" fmla="*/ 1016693 w 1432618"/>
                <a:gd name="connsiteY0-2434" fmla="*/ 3543487 h 3550128"/>
                <a:gd name="connsiteX1-2435" fmla="*/ 591243 w 1432618"/>
                <a:gd name="connsiteY1-2436" fmla="*/ 3549837 h 3550128"/>
                <a:gd name="connsiteX2-2437" fmla="*/ 394393 w 1432618"/>
                <a:gd name="connsiteY2-2438" fmla="*/ 3038662 h 3550128"/>
                <a:gd name="connsiteX3-2439" fmla="*/ 746818 w 1432618"/>
                <a:gd name="connsiteY3-2440" fmla="*/ 2343337 h 3550128"/>
                <a:gd name="connsiteX4-2441" fmla="*/ 560128 w 1432618"/>
                <a:gd name="connsiteY4-2442" fmla="*/ 1884232 h 3550128"/>
                <a:gd name="connsiteX5-2443" fmla="*/ 58 w 1432618"/>
                <a:gd name="connsiteY5-2444" fmla="*/ 1832797 h 3550128"/>
                <a:gd name="connsiteX6-2445" fmla="*/ 394393 w 1432618"/>
                <a:gd name="connsiteY6-2446" fmla="*/ 1705162 h 3550128"/>
                <a:gd name="connsiteX7-2447" fmla="*/ 642043 w 1432618"/>
                <a:gd name="connsiteY7-2448" fmla="*/ 1838512 h 3550128"/>
                <a:gd name="connsiteX8-2449" fmla="*/ 689668 w 1432618"/>
                <a:gd name="connsiteY8-2450" fmla="*/ 1609912 h 3550128"/>
                <a:gd name="connsiteX9-2451" fmla="*/ 823018 w 1432618"/>
                <a:gd name="connsiteY9-2452" fmla="*/ 1295587 h 3550128"/>
                <a:gd name="connsiteX10-2453" fmla="*/ 765868 w 1432618"/>
                <a:gd name="connsiteY10-2454" fmla="*/ 771712 h 3550128"/>
                <a:gd name="connsiteX11-2455" fmla="*/ 537268 w 1432618"/>
                <a:gd name="connsiteY11-2456" fmla="*/ 628837 h 3550128"/>
                <a:gd name="connsiteX12-2457" fmla="*/ 689668 w 1432618"/>
                <a:gd name="connsiteY12-2458" fmla="*/ 628837 h 3550128"/>
                <a:gd name="connsiteX13-2459" fmla="*/ 765868 w 1432618"/>
                <a:gd name="connsiteY13-2460" fmla="*/ 714562 h 3550128"/>
                <a:gd name="connsiteX14-2461" fmla="*/ 870643 w 1432618"/>
                <a:gd name="connsiteY14-2462" fmla="*/ 187 h 3550128"/>
                <a:gd name="connsiteX15-2463" fmla="*/ 832543 w 1432618"/>
                <a:gd name="connsiteY15-2464" fmla="*/ 647887 h 3550128"/>
                <a:gd name="connsiteX16-2465" fmla="*/ 908743 w 1432618"/>
                <a:gd name="connsiteY16-2466" fmla="*/ 1038412 h 3550128"/>
                <a:gd name="connsiteX17-2467" fmla="*/ 937318 w 1432618"/>
                <a:gd name="connsiteY17-2468" fmla="*/ 1286062 h 3550128"/>
                <a:gd name="connsiteX18-2469" fmla="*/ 1108768 w 1432618"/>
                <a:gd name="connsiteY18-2470" fmla="*/ 1152712 h 3550128"/>
                <a:gd name="connsiteX19-2471" fmla="*/ 1337368 w 1432618"/>
                <a:gd name="connsiteY19-2472" fmla="*/ 1133662 h 3550128"/>
                <a:gd name="connsiteX20-2473" fmla="*/ 1089718 w 1432618"/>
                <a:gd name="connsiteY20-2474" fmla="*/ 1190812 h 3550128"/>
                <a:gd name="connsiteX21-2475" fmla="*/ 880168 w 1432618"/>
                <a:gd name="connsiteY21-2476" fmla="*/ 1495612 h 3550128"/>
                <a:gd name="connsiteX22-2477" fmla="*/ 823018 w 1432618"/>
                <a:gd name="connsiteY22-2478" fmla="*/ 1857562 h 3550128"/>
                <a:gd name="connsiteX23-2479" fmla="*/ 975418 w 1432618"/>
                <a:gd name="connsiteY23-2480" fmla="*/ 2314762 h 3550128"/>
                <a:gd name="connsiteX24-2481" fmla="*/ 896043 w 1432618"/>
                <a:gd name="connsiteY24-2482" fmla="*/ 2540187 h 3550128"/>
                <a:gd name="connsiteX25-2483" fmla="*/ 1213543 w 1432618"/>
                <a:gd name="connsiteY25-2484" fmla="*/ 2495737 h 3550128"/>
                <a:gd name="connsiteX26-2485" fmla="*/ 1432618 w 1432618"/>
                <a:gd name="connsiteY26-2486" fmla="*/ 2588606 h 3550128"/>
                <a:gd name="connsiteX27-2487" fmla="*/ 1188143 w 1432618"/>
                <a:gd name="connsiteY27-2488" fmla="*/ 2552887 h 3550128"/>
                <a:gd name="connsiteX28-2489" fmla="*/ 832543 w 1432618"/>
                <a:gd name="connsiteY28-2490" fmla="*/ 2695762 h 3550128"/>
                <a:gd name="connsiteX29-2491" fmla="*/ 689668 w 1432618"/>
                <a:gd name="connsiteY29-2492" fmla="*/ 3048187 h 3550128"/>
                <a:gd name="connsiteX30-2493" fmla="*/ 918268 w 1432618"/>
                <a:gd name="connsiteY30-2494" fmla="*/ 3381562 h 3550128"/>
                <a:gd name="connsiteX31-2495" fmla="*/ 1016693 w 1432618"/>
                <a:gd name="connsiteY31-2496" fmla="*/ 3543487 h 3550128"/>
                <a:gd name="connsiteX0-2497" fmla="*/ 1016693 w 1432618"/>
                <a:gd name="connsiteY0-2498" fmla="*/ 3543487 h 3550128"/>
                <a:gd name="connsiteX1-2499" fmla="*/ 591243 w 1432618"/>
                <a:gd name="connsiteY1-2500" fmla="*/ 3549837 h 3550128"/>
                <a:gd name="connsiteX2-2501" fmla="*/ 394393 w 1432618"/>
                <a:gd name="connsiteY2-2502" fmla="*/ 3038662 h 3550128"/>
                <a:gd name="connsiteX3-2503" fmla="*/ 746818 w 1432618"/>
                <a:gd name="connsiteY3-2504" fmla="*/ 2343337 h 3550128"/>
                <a:gd name="connsiteX4-2505" fmla="*/ 560128 w 1432618"/>
                <a:gd name="connsiteY4-2506" fmla="*/ 1884232 h 3550128"/>
                <a:gd name="connsiteX5-2507" fmla="*/ 58 w 1432618"/>
                <a:gd name="connsiteY5-2508" fmla="*/ 1832797 h 3550128"/>
                <a:gd name="connsiteX6-2509" fmla="*/ 394393 w 1432618"/>
                <a:gd name="connsiteY6-2510" fmla="*/ 1705162 h 3550128"/>
                <a:gd name="connsiteX7-2511" fmla="*/ 642043 w 1432618"/>
                <a:gd name="connsiteY7-2512" fmla="*/ 1838512 h 3550128"/>
                <a:gd name="connsiteX8-2513" fmla="*/ 689668 w 1432618"/>
                <a:gd name="connsiteY8-2514" fmla="*/ 1609912 h 3550128"/>
                <a:gd name="connsiteX9-2515" fmla="*/ 823018 w 1432618"/>
                <a:gd name="connsiteY9-2516" fmla="*/ 1295587 h 3550128"/>
                <a:gd name="connsiteX10-2517" fmla="*/ 765868 w 1432618"/>
                <a:gd name="connsiteY10-2518" fmla="*/ 771712 h 3550128"/>
                <a:gd name="connsiteX11-2519" fmla="*/ 537268 w 1432618"/>
                <a:gd name="connsiteY11-2520" fmla="*/ 628837 h 3550128"/>
                <a:gd name="connsiteX12-2521" fmla="*/ 689668 w 1432618"/>
                <a:gd name="connsiteY12-2522" fmla="*/ 628837 h 3550128"/>
                <a:gd name="connsiteX13-2523" fmla="*/ 765868 w 1432618"/>
                <a:gd name="connsiteY13-2524" fmla="*/ 714562 h 3550128"/>
                <a:gd name="connsiteX14-2525" fmla="*/ 870643 w 1432618"/>
                <a:gd name="connsiteY14-2526" fmla="*/ 187 h 3550128"/>
                <a:gd name="connsiteX15-2527" fmla="*/ 832543 w 1432618"/>
                <a:gd name="connsiteY15-2528" fmla="*/ 647887 h 3550128"/>
                <a:gd name="connsiteX16-2529" fmla="*/ 908743 w 1432618"/>
                <a:gd name="connsiteY16-2530" fmla="*/ 1038412 h 3550128"/>
                <a:gd name="connsiteX17-2531" fmla="*/ 937318 w 1432618"/>
                <a:gd name="connsiteY17-2532" fmla="*/ 1286062 h 3550128"/>
                <a:gd name="connsiteX18-2533" fmla="*/ 1108768 w 1432618"/>
                <a:gd name="connsiteY18-2534" fmla="*/ 1152712 h 3550128"/>
                <a:gd name="connsiteX19-2535" fmla="*/ 1337368 w 1432618"/>
                <a:gd name="connsiteY19-2536" fmla="*/ 1133662 h 3550128"/>
                <a:gd name="connsiteX20-2537" fmla="*/ 1089718 w 1432618"/>
                <a:gd name="connsiteY20-2538" fmla="*/ 1190812 h 3550128"/>
                <a:gd name="connsiteX21-2539" fmla="*/ 880168 w 1432618"/>
                <a:gd name="connsiteY21-2540" fmla="*/ 1495612 h 3550128"/>
                <a:gd name="connsiteX22-2541" fmla="*/ 823018 w 1432618"/>
                <a:gd name="connsiteY22-2542" fmla="*/ 1857562 h 3550128"/>
                <a:gd name="connsiteX23-2543" fmla="*/ 975418 w 1432618"/>
                <a:gd name="connsiteY23-2544" fmla="*/ 2314762 h 3550128"/>
                <a:gd name="connsiteX24-2545" fmla="*/ 896043 w 1432618"/>
                <a:gd name="connsiteY24-2546" fmla="*/ 2540187 h 3550128"/>
                <a:gd name="connsiteX25-2547" fmla="*/ 1213543 w 1432618"/>
                <a:gd name="connsiteY25-2548" fmla="*/ 2495737 h 3550128"/>
                <a:gd name="connsiteX26-2549" fmla="*/ 1432618 w 1432618"/>
                <a:gd name="connsiteY26-2550" fmla="*/ 2588606 h 3550128"/>
                <a:gd name="connsiteX27-2551" fmla="*/ 1188143 w 1432618"/>
                <a:gd name="connsiteY27-2552" fmla="*/ 2552887 h 3550128"/>
                <a:gd name="connsiteX28-2553" fmla="*/ 832543 w 1432618"/>
                <a:gd name="connsiteY28-2554" fmla="*/ 2695762 h 3550128"/>
                <a:gd name="connsiteX29-2555" fmla="*/ 689668 w 1432618"/>
                <a:gd name="connsiteY29-2556" fmla="*/ 3048187 h 3550128"/>
                <a:gd name="connsiteX30-2557" fmla="*/ 918268 w 1432618"/>
                <a:gd name="connsiteY30-2558" fmla="*/ 3381562 h 3550128"/>
                <a:gd name="connsiteX31-2559" fmla="*/ 1016693 w 1432618"/>
                <a:gd name="connsiteY31-2560" fmla="*/ 3543487 h 3550128"/>
                <a:gd name="connsiteX0-2561" fmla="*/ 1016693 w 1432618"/>
                <a:gd name="connsiteY0-2562" fmla="*/ 3543487 h 3550128"/>
                <a:gd name="connsiteX1-2563" fmla="*/ 591243 w 1432618"/>
                <a:gd name="connsiteY1-2564" fmla="*/ 3549837 h 3550128"/>
                <a:gd name="connsiteX2-2565" fmla="*/ 394393 w 1432618"/>
                <a:gd name="connsiteY2-2566" fmla="*/ 3038662 h 3550128"/>
                <a:gd name="connsiteX3-2567" fmla="*/ 746818 w 1432618"/>
                <a:gd name="connsiteY3-2568" fmla="*/ 2343337 h 3550128"/>
                <a:gd name="connsiteX4-2569" fmla="*/ 560128 w 1432618"/>
                <a:gd name="connsiteY4-2570" fmla="*/ 1884232 h 3550128"/>
                <a:gd name="connsiteX5-2571" fmla="*/ 58 w 1432618"/>
                <a:gd name="connsiteY5-2572" fmla="*/ 1832797 h 3550128"/>
                <a:gd name="connsiteX6-2573" fmla="*/ 394393 w 1432618"/>
                <a:gd name="connsiteY6-2574" fmla="*/ 1705162 h 3550128"/>
                <a:gd name="connsiteX7-2575" fmla="*/ 642043 w 1432618"/>
                <a:gd name="connsiteY7-2576" fmla="*/ 1838512 h 3550128"/>
                <a:gd name="connsiteX8-2577" fmla="*/ 689668 w 1432618"/>
                <a:gd name="connsiteY8-2578" fmla="*/ 1609912 h 3550128"/>
                <a:gd name="connsiteX9-2579" fmla="*/ 823018 w 1432618"/>
                <a:gd name="connsiteY9-2580" fmla="*/ 1295587 h 3550128"/>
                <a:gd name="connsiteX10-2581" fmla="*/ 765868 w 1432618"/>
                <a:gd name="connsiteY10-2582" fmla="*/ 771712 h 3550128"/>
                <a:gd name="connsiteX11-2583" fmla="*/ 537268 w 1432618"/>
                <a:gd name="connsiteY11-2584" fmla="*/ 628837 h 3550128"/>
                <a:gd name="connsiteX12-2585" fmla="*/ 689668 w 1432618"/>
                <a:gd name="connsiteY12-2586" fmla="*/ 628837 h 3550128"/>
                <a:gd name="connsiteX13-2587" fmla="*/ 765868 w 1432618"/>
                <a:gd name="connsiteY13-2588" fmla="*/ 714562 h 3550128"/>
                <a:gd name="connsiteX14-2589" fmla="*/ 870643 w 1432618"/>
                <a:gd name="connsiteY14-2590" fmla="*/ 187 h 3550128"/>
                <a:gd name="connsiteX15-2591" fmla="*/ 832543 w 1432618"/>
                <a:gd name="connsiteY15-2592" fmla="*/ 647887 h 3550128"/>
                <a:gd name="connsiteX16-2593" fmla="*/ 908743 w 1432618"/>
                <a:gd name="connsiteY16-2594" fmla="*/ 1038412 h 3550128"/>
                <a:gd name="connsiteX17-2595" fmla="*/ 937318 w 1432618"/>
                <a:gd name="connsiteY17-2596" fmla="*/ 1286062 h 3550128"/>
                <a:gd name="connsiteX18-2597" fmla="*/ 1108768 w 1432618"/>
                <a:gd name="connsiteY18-2598" fmla="*/ 1152712 h 3550128"/>
                <a:gd name="connsiteX19-2599" fmla="*/ 1337368 w 1432618"/>
                <a:gd name="connsiteY19-2600" fmla="*/ 1133662 h 3550128"/>
                <a:gd name="connsiteX20-2601" fmla="*/ 1089718 w 1432618"/>
                <a:gd name="connsiteY20-2602" fmla="*/ 1190812 h 3550128"/>
                <a:gd name="connsiteX21-2603" fmla="*/ 880168 w 1432618"/>
                <a:gd name="connsiteY21-2604" fmla="*/ 1495612 h 3550128"/>
                <a:gd name="connsiteX22-2605" fmla="*/ 823018 w 1432618"/>
                <a:gd name="connsiteY22-2606" fmla="*/ 1857562 h 3550128"/>
                <a:gd name="connsiteX23-2607" fmla="*/ 975418 w 1432618"/>
                <a:gd name="connsiteY23-2608" fmla="*/ 2314762 h 3550128"/>
                <a:gd name="connsiteX24-2609" fmla="*/ 896043 w 1432618"/>
                <a:gd name="connsiteY24-2610" fmla="*/ 2540187 h 3550128"/>
                <a:gd name="connsiteX25-2611" fmla="*/ 1213543 w 1432618"/>
                <a:gd name="connsiteY25-2612" fmla="*/ 2495737 h 3550128"/>
                <a:gd name="connsiteX26-2613" fmla="*/ 1432618 w 1432618"/>
                <a:gd name="connsiteY26-2614" fmla="*/ 2588606 h 3550128"/>
                <a:gd name="connsiteX27-2615" fmla="*/ 1188143 w 1432618"/>
                <a:gd name="connsiteY27-2616" fmla="*/ 2552887 h 3550128"/>
                <a:gd name="connsiteX28-2617" fmla="*/ 832543 w 1432618"/>
                <a:gd name="connsiteY28-2618" fmla="*/ 2695762 h 3550128"/>
                <a:gd name="connsiteX29-2619" fmla="*/ 689668 w 1432618"/>
                <a:gd name="connsiteY29-2620" fmla="*/ 3048187 h 3550128"/>
                <a:gd name="connsiteX30-2621" fmla="*/ 918268 w 1432618"/>
                <a:gd name="connsiteY30-2622" fmla="*/ 3381562 h 3550128"/>
                <a:gd name="connsiteX31-2623" fmla="*/ 1016693 w 1432618"/>
                <a:gd name="connsiteY31-2624" fmla="*/ 3543487 h 3550128"/>
                <a:gd name="connsiteX0-2625" fmla="*/ 1016693 w 1432618"/>
                <a:gd name="connsiteY0-2626" fmla="*/ 3543487 h 3550128"/>
                <a:gd name="connsiteX1-2627" fmla="*/ 591243 w 1432618"/>
                <a:gd name="connsiteY1-2628" fmla="*/ 3549837 h 3550128"/>
                <a:gd name="connsiteX2-2629" fmla="*/ 394393 w 1432618"/>
                <a:gd name="connsiteY2-2630" fmla="*/ 3038662 h 3550128"/>
                <a:gd name="connsiteX3-2631" fmla="*/ 746818 w 1432618"/>
                <a:gd name="connsiteY3-2632" fmla="*/ 2343337 h 3550128"/>
                <a:gd name="connsiteX4-2633" fmla="*/ 560128 w 1432618"/>
                <a:gd name="connsiteY4-2634" fmla="*/ 1884232 h 3550128"/>
                <a:gd name="connsiteX5-2635" fmla="*/ 58 w 1432618"/>
                <a:gd name="connsiteY5-2636" fmla="*/ 1832797 h 3550128"/>
                <a:gd name="connsiteX6-2637" fmla="*/ 394393 w 1432618"/>
                <a:gd name="connsiteY6-2638" fmla="*/ 1705162 h 3550128"/>
                <a:gd name="connsiteX7-2639" fmla="*/ 642043 w 1432618"/>
                <a:gd name="connsiteY7-2640" fmla="*/ 1838512 h 3550128"/>
                <a:gd name="connsiteX8-2641" fmla="*/ 689668 w 1432618"/>
                <a:gd name="connsiteY8-2642" fmla="*/ 1609912 h 3550128"/>
                <a:gd name="connsiteX9-2643" fmla="*/ 823018 w 1432618"/>
                <a:gd name="connsiteY9-2644" fmla="*/ 1295587 h 3550128"/>
                <a:gd name="connsiteX10-2645" fmla="*/ 765868 w 1432618"/>
                <a:gd name="connsiteY10-2646" fmla="*/ 771712 h 3550128"/>
                <a:gd name="connsiteX11-2647" fmla="*/ 537268 w 1432618"/>
                <a:gd name="connsiteY11-2648" fmla="*/ 628837 h 3550128"/>
                <a:gd name="connsiteX12-2649" fmla="*/ 689668 w 1432618"/>
                <a:gd name="connsiteY12-2650" fmla="*/ 628837 h 3550128"/>
                <a:gd name="connsiteX13-2651" fmla="*/ 765868 w 1432618"/>
                <a:gd name="connsiteY13-2652" fmla="*/ 714562 h 3550128"/>
                <a:gd name="connsiteX14-2653" fmla="*/ 870643 w 1432618"/>
                <a:gd name="connsiteY14-2654" fmla="*/ 187 h 3550128"/>
                <a:gd name="connsiteX15-2655" fmla="*/ 832543 w 1432618"/>
                <a:gd name="connsiteY15-2656" fmla="*/ 647887 h 3550128"/>
                <a:gd name="connsiteX16-2657" fmla="*/ 908743 w 1432618"/>
                <a:gd name="connsiteY16-2658" fmla="*/ 1038412 h 3550128"/>
                <a:gd name="connsiteX17-2659" fmla="*/ 937318 w 1432618"/>
                <a:gd name="connsiteY17-2660" fmla="*/ 1286062 h 3550128"/>
                <a:gd name="connsiteX18-2661" fmla="*/ 1108768 w 1432618"/>
                <a:gd name="connsiteY18-2662" fmla="*/ 1152712 h 3550128"/>
                <a:gd name="connsiteX19-2663" fmla="*/ 1337368 w 1432618"/>
                <a:gd name="connsiteY19-2664" fmla="*/ 1133662 h 3550128"/>
                <a:gd name="connsiteX20-2665" fmla="*/ 1089718 w 1432618"/>
                <a:gd name="connsiteY20-2666" fmla="*/ 1190812 h 3550128"/>
                <a:gd name="connsiteX21-2667" fmla="*/ 880168 w 1432618"/>
                <a:gd name="connsiteY21-2668" fmla="*/ 1495612 h 3550128"/>
                <a:gd name="connsiteX22-2669" fmla="*/ 823018 w 1432618"/>
                <a:gd name="connsiteY22-2670" fmla="*/ 1857562 h 3550128"/>
                <a:gd name="connsiteX23-2671" fmla="*/ 1003993 w 1432618"/>
                <a:gd name="connsiteY23-2672" fmla="*/ 2270312 h 3550128"/>
                <a:gd name="connsiteX24-2673" fmla="*/ 896043 w 1432618"/>
                <a:gd name="connsiteY24-2674" fmla="*/ 2540187 h 3550128"/>
                <a:gd name="connsiteX25-2675" fmla="*/ 1213543 w 1432618"/>
                <a:gd name="connsiteY25-2676" fmla="*/ 2495737 h 3550128"/>
                <a:gd name="connsiteX26-2677" fmla="*/ 1432618 w 1432618"/>
                <a:gd name="connsiteY26-2678" fmla="*/ 2588606 h 3550128"/>
                <a:gd name="connsiteX27-2679" fmla="*/ 1188143 w 1432618"/>
                <a:gd name="connsiteY27-2680" fmla="*/ 2552887 h 3550128"/>
                <a:gd name="connsiteX28-2681" fmla="*/ 832543 w 1432618"/>
                <a:gd name="connsiteY28-2682" fmla="*/ 2695762 h 3550128"/>
                <a:gd name="connsiteX29-2683" fmla="*/ 689668 w 1432618"/>
                <a:gd name="connsiteY29-2684" fmla="*/ 3048187 h 3550128"/>
                <a:gd name="connsiteX30-2685" fmla="*/ 918268 w 1432618"/>
                <a:gd name="connsiteY30-2686" fmla="*/ 3381562 h 3550128"/>
                <a:gd name="connsiteX31-2687" fmla="*/ 1016693 w 1432618"/>
                <a:gd name="connsiteY31-2688" fmla="*/ 3543487 h 3550128"/>
                <a:gd name="connsiteX0-2689" fmla="*/ 1016693 w 1432618"/>
                <a:gd name="connsiteY0-2690" fmla="*/ 3543487 h 3550128"/>
                <a:gd name="connsiteX1-2691" fmla="*/ 591243 w 1432618"/>
                <a:gd name="connsiteY1-2692" fmla="*/ 3549837 h 3550128"/>
                <a:gd name="connsiteX2-2693" fmla="*/ 394393 w 1432618"/>
                <a:gd name="connsiteY2-2694" fmla="*/ 3038662 h 3550128"/>
                <a:gd name="connsiteX3-2695" fmla="*/ 746818 w 1432618"/>
                <a:gd name="connsiteY3-2696" fmla="*/ 2343337 h 3550128"/>
                <a:gd name="connsiteX4-2697" fmla="*/ 560128 w 1432618"/>
                <a:gd name="connsiteY4-2698" fmla="*/ 1884232 h 3550128"/>
                <a:gd name="connsiteX5-2699" fmla="*/ 58 w 1432618"/>
                <a:gd name="connsiteY5-2700" fmla="*/ 1832797 h 3550128"/>
                <a:gd name="connsiteX6-2701" fmla="*/ 394393 w 1432618"/>
                <a:gd name="connsiteY6-2702" fmla="*/ 1705162 h 3550128"/>
                <a:gd name="connsiteX7-2703" fmla="*/ 642043 w 1432618"/>
                <a:gd name="connsiteY7-2704" fmla="*/ 1838512 h 3550128"/>
                <a:gd name="connsiteX8-2705" fmla="*/ 689668 w 1432618"/>
                <a:gd name="connsiteY8-2706" fmla="*/ 1609912 h 3550128"/>
                <a:gd name="connsiteX9-2707" fmla="*/ 823018 w 1432618"/>
                <a:gd name="connsiteY9-2708" fmla="*/ 1295587 h 3550128"/>
                <a:gd name="connsiteX10-2709" fmla="*/ 765868 w 1432618"/>
                <a:gd name="connsiteY10-2710" fmla="*/ 771712 h 3550128"/>
                <a:gd name="connsiteX11-2711" fmla="*/ 537268 w 1432618"/>
                <a:gd name="connsiteY11-2712" fmla="*/ 628837 h 3550128"/>
                <a:gd name="connsiteX12-2713" fmla="*/ 689668 w 1432618"/>
                <a:gd name="connsiteY12-2714" fmla="*/ 628837 h 3550128"/>
                <a:gd name="connsiteX13-2715" fmla="*/ 765868 w 1432618"/>
                <a:gd name="connsiteY13-2716" fmla="*/ 714562 h 3550128"/>
                <a:gd name="connsiteX14-2717" fmla="*/ 870643 w 1432618"/>
                <a:gd name="connsiteY14-2718" fmla="*/ 187 h 3550128"/>
                <a:gd name="connsiteX15-2719" fmla="*/ 832543 w 1432618"/>
                <a:gd name="connsiteY15-2720" fmla="*/ 647887 h 3550128"/>
                <a:gd name="connsiteX16-2721" fmla="*/ 908743 w 1432618"/>
                <a:gd name="connsiteY16-2722" fmla="*/ 1038412 h 3550128"/>
                <a:gd name="connsiteX17-2723" fmla="*/ 937318 w 1432618"/>
                <a:gd name="connsiteY17-2724" fmla="*/ 1286062 h 3550128"/>
                <a:gd name="connsiteX18-2725" fmla="*/ 1108768 w 1432618"/>
                <a:gd name="connsiteY18-2726" fmla="*/ 1152712 h 3550128"/>
                <a:gd name="connsiteX19-2727" fmla="*/ 1337368 w 1432618"/>
                <a:gd name="connsiteY19-2728" fmla="*/ 1133662 h 3550128"/>
                <a:gd name="connsiteX20-2729" fmla="*/ 1089718 w 1432618"/>
                <a:gd name="connsiteY20-2730" fmla="*/ 1190812 h 3550128"/>
                <a:gd name="connsiteX21-2731" fmla="*/ 880168 w 1432618"/>
                <a:gd name="connsiteY21-2732" fmla="*/ 1495612 h 3550128"/>
                <a:gd name="connsiteX22-2733" fmla="*/ 835718 w 1432618"/>
                <a:gd name="connsiteY22-2734" fmla="*/ 1857562 h 3550128"/>
                <a:gd name="connsiteX23-2735" fmla="*/ 1003993 w 1432618"/>
                <a:gd name="connsiteY23-2736" fmla="*/ 2270312 h 3550128"/>
                <a:gd name="connsiteX24-2737" fmla="*/ 896043 w 1432618"/>
                <a:gd name="connsiteY24-2738" fmla="*/ 2540187 h 3550128"/>
                <a:gd name="connsiteX25-2739" fmla="*/ 1213543 w 1432618"/>
                <a:gd name="connsiteY25-2740" fmla="*/ 2495737 h 3550128"/>
                <a:gd name="connsiteX26-2741" fmla="*/ 1432618 w 1432618"/>
                <a:gd name="connsiteY26-2742" fmla="*/ 2588606 h 3550128"/>
                <a:gd name="connsiteX27-2743" fmla="*/ 1188143 w 1432618"/>
                <a:gd name="connsiteY27-2744" fmla="*/ 2552887 h 3550128"/>
                <a:gd name="connsiteX28-2745" fmla="*/ 832543 w 1432618"/>
                <a:gd name="connsiteY28-2746" fmla="*/ 2695762 h 3550128"/>
                <a:gd name="connsiteX29-2747" fmla="*/ 689668 w 1432618"/>
                <a:gd name="connsiteY29-2748" fmla="*/ 3048187 h 3550128"/>
                <a:gd name="connsiteX30-2749" fmla="*/ 918268 w 1432618"/>
                <a:gd name="connsiteY30-2750" fmla="*/ 3381562 h 3550128"/>
                <a:gd name="connsiteX31-2751" fmla="*/ 1016693 w 1432618"/>
                <a:gd name="connsiteY31-2752" fmla="*/ 3543487 h 3550128"/>
                <a:gd name="connsiteX0-2753" fmla="*/ 1016693 w 1432618"/>
                <a:gd name="connsiteY0-2754" fmla="*/ 3543487 h 3550128"/>
                <a:gd name="connsiteX1-2755" fmla="*/ 591243 w 1432618"/>
                <a:gd name="connsiteY1-2756" fmla="*/ 3549837 h 3550128"/>
                <a:gd name="connsiteX2-2757" fmla="*/ 394393 w 1432618"/>
                <a:gd name="connsiteY2-2758" fmla="*/ 3038662 h 3550128"/>
                <a:gd name="connsiteX3-2759" fmla="*/ 746818 w 1432618"/>
                <a:gd name="connsiteY3-2760" fmla="*/ 2343337 h 3550128"/>
                <a:gd name="connsiteX4-2761" fmla="*/ 560128 w 1432618"/>
                <a:gd name="connsiteY4-2762" fmla="*/ 1884232 h 3550128"/>
                <a:gd name="connsiteX5-2763" fmla="*/ 58 w 1432618"/>
                <a:gd name="connsiteY5-2764" fmla="*/ 1832797 h 3550128"/>
                <a:gd name="connsiteX6-2765" fmla="*/ 394393 w 1432618"/>
                <a:gd name="connsiteY6-2766" fmla="*/ 1705162 h 3550128"/>
                <a:gd name="connsiteX7-2767" fmla="*/ 642043 w 1432618"/>
                <a:gd name="connsiteY7-2768" fmla="*/ 1838512 h 3550128"/>
                <a:gd name="connsiteX8-2769" fmla="*/ 689668 w 1432618"/>
                <a:gd name="connsiteY8-2770" fmla="*/ 1609912 h 3550128"/>
                <a:gd name="connsiteX9-2771" fmla="*/ 823018 w 1432618"/>
                <a:gd name="connsiteY9-2772" fmla="*/ 1295587 h 3550128"/>
                <a:gd name="connsiteX10-2773" fmla="*/ 765868 w 1432618"/>
                <a:gd name="connsiteY10-2774" fmla="*/ 771712 h 3550128"/>
                <a:gd name="connsiteX11-2775" fmla="*/ 537268 w 1432618"/>
                <a:gd name="connsiteY11-2776" fmla="*/ 628837 h 3550128"/>
                <a:gd name="connsiteX12-2777" fmla="*/ 689668 w 1432618"/>
                <a:gd name="connsiteY12-2778" fmla="*/ 628837 h 3550128"/>
                <a:gd name="connsiteX13-2779" fmla="*/ 765868 w 1432618"/>
                <a:gd name="connsiteY13-2780" fmla="*/ 714562 h 3550128"/>
                <a:gd name="connsiteX14-2781" fmla="*/ 870643 w 1432618"/>
                <a:gd name="connsiteY14-2782" fmla="*/ 187 h 3550128"/>
                <a:gd name="connsiteX15-2783" fmla="*/ 832543 w 1432618"/>
                <a:gd name="connsiteY15-2784" fmla="*/ 647887 h 3550128"/>
                <a:gd name="connsiteX16-2785" fmla="*/ 908743 w 1432618"/>
                <a:gd name="connsiteY16-2786" fmla="*/ 1038412 h 3550128"/>
                <a:gd name="connsiteX17-2787" fmla="*/ 937318 w 1432618"/>
                <a:gd name="connsiteY17-2788" fmla="*/ 1286062 h 3550128"/>
                <a:gd name="connsiteX18-2789" fmla="*/ 1108768 w 1432618"/>
                <a:gd name="connsiteY18-2790" fmla="*/ 1152712 h 3550128"/>
                <a:gd name="connsiteX19-2791" fmla="*/ 1337368 w 1432618"/>
                <a:gd name="connsiteY19-2792" fmla="*/ 1133662 h 3550128"/>
                <a:gd name="connsiteX20-2793" fmla="*/ 1089718 w 1432618"/>
                <a:gd name="connsiteY20-2794" fmla="*/ 1190812 h 3550128"/>
                <a:gd name="connsiteX21-2795" fmla="*/ 889693 w 1432618"/>
                <a:gd name="connsiteY21-2796" fmla="*/ 1489262 h 3550128"/>
                <a:gd name="connsiteX22-2797" fmla="*/ 835718 w 1432618"/>
                <a:gd name="connsiteY22-2798" fmla="*/ 1857562 h 3550128"/>
                <a:gd name="connsiteX23-2799" fmla="*/ 1003993 w 1432618"/>
                <a:gd name="connsiteY23-2800" fmla="*/ 2270312 h 3550128"/>
                <a:gd name="connsiteX24-2801" fmla="*/ 896043 w 1432618"/>
                <a:gd name="connsiteY24-2802" fmla="*/ 2540187 h 3550128"/>
                <a:gd name="connsiteX25-2803" fmla="*/ 1213543 w 1432618"/>
                <a:gd name="connsiteY25-2804" fmla="*/ 2495737 h 3550128"/>
                <a:gd name="connsiteX26-2805" fmla="*/ 1432618 w 1432618"/>
                <a:gd name="connsiteY26-2806" fmla="*/ 2588606 h 3550128"/>
                <a:gd name="connsiteX27-2807" fmla="*/ 1188143 w 1432618"/>
                <a:gd name="connsiteY27-2808" fmla="*/ 2552887 h 3550128"/>
                <a:gd name="connsiteX28-2809" fmla="*/ 832543 w 1432618"/>
                <a:gd name="connsiteY28-2810" fmla="*/ 2695762 h 3550128"/>
                <a:gd name="connsiteX29-2811" fmla="*/ 689668 w 1432618"/>
                <a:gd name="connsiteY29-2812" fmla="*/ 3048187 h 3550128"/>
                <a:gd name="connsiteX30-2813" fmla="*/ 918268 w 1432618"/>
                <a:gd name="connsiteY30-2814" fmla="*/ 3381562 h 3550128"/>
                <a:gd name="connsiteX31-2815" fmla="*/ 1016693 w 1432618"/>
                <a:gd name="connsiteY31-2816" fmla="*/ 3543487 h 3550128"/>
                <a:gd name="connsiteX0-2817" fmla="*/ 1016693 w 1432618"/>
                <a:gd name="connsiteY0-2818" fmla="*/ 3543487 h 3550128"/>
                <a:gd name="connsiteX1-2819" fmla="*/ 591243 w 1432618"/>
                <a:gd name="connsiteY1-2820" fmla="*/ 3549837 h 3550128"/>
                <a:gd name="connsiteX2-2821" fmla="*/ 394393 w 1432618"/>
                <a:gd name="connsiteY2-2822" fmla="*/ 3038662 h 3550128"/>
                <a:gd name="connsiteX3-2823" fmla="*/ 746818 w 1432618"/>
                <a:gd name="connsiteY3-2824" fmla="*/ 2343337 h 3550128"/>
                <a:gd name="connsiteX4-2825" fmla="*/ 560128 w 1432618"/>
                <a:gd name="connsiteY4-2826" fmla="*/ 1884232 h 3550128"/>
                <a:gd name="connsiteX5-2827" fmla="*/ 58 w 1432618"/>
                <a:gd name="connsiteY5-2828" fmla="*/ 1832797 h 3550128"/>
                <a:gd name="connsiteX6-2829" fmla="*/ 394393 w 1432618"/>
                <a:gd name="connsiteY6-2830" fmla="*/ 1705162 h 3550128"/>
                <a:gd name="connsiteX7-2831" fmla="*/ 642043 w 1432618"/>
                <a:gd name="connsiteY7-2832" fmla="*/ 1838512 h 3550128"/>
                <a:gd name="connsiteX8-2833" fmla="*/ 689668 w 1432618"/>
                <a:gd name="connsiteY8-2834" fmla="*/ 1609912 h 3550128"/>
                <a:gd name="connsiteX9-2835" fmla="*/ 823018 w 1432618"/>
                <a:gd name="connsiteY9-2836" fmla="*/ 1295587 h 3550128"/>
                <a:gd name="connsiteX10-2837" fmla="*/ 765868 w 1432618"/>
                <a:gd name="connsiteY10-2838" fmla="*/ 771712 h 3550128"/>
                <a:gd name="connsiteX11-2839" fmla="*/ 537268 w 1432618"/>
                <a:gd name="connsiteY11-2840" fmla="*/ 628837 h 3550128"/>
                <a:gd name="connsiteX12-2841" fmla="*/ 689668 w 1432618"/>
                <a:gd name="connsiteY12-2842" fmla="*/ 628837 h 3550128"/>
                <a:gd name="connsiteX13-2843" fmla="*/ 765868 w 1432618"/>
                <a:gd name="connsiteY13-2844" fmla="*/ 714562 h 3550128"/>
                <a:gd name="connsiteX14-2845" fmla="*/ 870643 w 1432618"/>
                <a:gd name="connsiteY14-2846" fmla="*/ 187 h 3550128"/>
                <a:gd name="connsiteX15-2847" fmla="*/ 832543 w 1432618"/>
                <a:gd name="connsiteY15-2848" fmla="*/ 647887 h 3550128"/>
                <a:gd name="connsiteX16-2849" fmla="*/ 908743 w 1432618"/>
                <a:gd name="connsiteY16-2850" fmla="*/ 1038412 h 3550128"/>
                <a:gd name="connsiteX17-2851" fmla="*/ 937318 w 1432618"/>
                <a:gd name="connsiteY17-2852" fmla="*/ 1286062 h 3550128"/>
                <a:gd name="connsiteX18-2853" fmla="*/ 1108768 w 1432618"/>
                <a:gd name="connsiteY18-2854" fmla="*/ 1152712 h 3550128"/>
                <a:gd name="connsiteX19-2855" fmla="*/ 1337368 w 1432618"/>
                <a:gd name="connsiteY19-2856" fmla="*/ 1133662 h 3550128"/>
                <a:gd name="connsiteX20-2857" fmla="*/ 1105593 w 1432618"/>
                <a:gd name="connsiteY20-2858" fmla="*/ 1197162 h 3550128"/>
                <a:gd name="connsiteX21-2859" fmla="*/ 889693 w 1432618"/>
                <a:gd name="connsiteY21-2860" fmla="*/ 1489262 h 3550128"/>
                <a:gd name="connsiteX22-2861" fmla="*/ 835718 w 1432618"/>
                <a:gd name="connsiteY22-2862" fmla="*/ 1857562 h 3550128"/>
                <a:gd name="connsiteX23-2863" fmla="*/ 1003993 w 1432618"/>
                <a:gd name="connsiteY23-2864" fmla="*/ 2270312 h 3550128"/>
                <a:gd name="connsiteX24-2865" fmla="*/ 896043 w 1432618"/>
                <a:gd name="connsiteY24-2866" fmla="*/ 2540187 h 3550128"/>
                <a:gd name="connsiteX25-2867" fmla="*/ 1213543 w 1432618"/>
                <a:gd name="connsiteY25-2868" fmla="*/ 2495737 h 3550128"/>
                <a:gd name="connsiteX26-2869" fmla="*/ 1432618 w 1432618"/>
                <a:gd name="connsiteY26-2870" fmla="*/ 2588606 h 3550128"/>
                <a:gd name="connsiteX27-2871" fmla="*/ 1188143 w 1432618"/>
                <a:gd name="connsiteY27-2872" fmla="*/ 2552887 h 3550128"/>
                <a:gd name="connsiteX28-2873" fmla="*/ 832543 w 1432618"/>
                <a:gd name="connsiteY28-2874" fmla="*/ 2695762 h 3550128"/>
                <a:gd name="connsiteX29-2875" fmla="*/ 689668 w 1432618"/>
                <a:gd name="connsiteY29-2876" fmla="*/ 3048187 h 3550128"/>
                <a:gd name="connsiteX30-2877" fmla="*/ 918268 w 1432618"/>
                <a:gd name="connsiteY30-2878" fmla="*/ 3381562 h 3550128"/>
                <a:gd name="connsiteX31-2879" fmla="*/ 1016693 w 1432618"/>
                <a:gd name="connsiteY31-2880" fmla="*/ 3543487 h 3550128"/>
                <a:gd name="connsiteX0-2881" fmla="*/ 1016693 w 1432618"/>
                <a:gd name="connsiteY0-2882" fmla="*/ 3543487 h 3550128"/>
                <a:gd name="connsiteX1-2883" fmla="*/ 591243 w 1432618"/>
                <a:gd name="connsiteY1-2884" fmla="*/ 3549837 h 3550128"/>
                <a:gd name="connsiteX2-2885" fmla="*/ 394393 w 1432618"/>
                <a:gd name="connsiteY2-2886" fmla="*/ 3038662 h 3550128"/>
                <a:gd name="connsiteX3-2887" fmla="*/ 746818 w 1432618"/>
                <a:gd name="connsiteY3-2888" fmla="*/ 2343337 h 3550128"/>
                <a:gd name="connsiteX4-2889" fmla="*/ 560128 w 1432618"/>
                <a:gd name="connsiteY4-2890" fmla="*/ 1884232 h 3550128"/>
                <a:gd name="connsiteX5-2891" fmla="*/ 58 w 1432618"/>
                <a:gd name="connsiteY5-2892" fmla="*/ 1832797 h 3550128"/>
                <a:gd name="connsiteX6-2893" fmla="*/ 394393 w 1432618"/>
                <a:gd name="connsiteY6-2894" fmla="*/ 1705162 h 3550128"/>
                <a:gd name="connsiteX7-2895" fmla="*/ 642043 w 1432618"/>
                <a:gd name="connsiteY7-2896" fmla="*/ 1838512 h 3550128"/>
                <a:gd name="connsiteX8-2897" fmla="*/ 689668 w 1432618"/>
                <a:gd name="connsiteY8-2898" fmla="*/ 1609912 h 3550128"/>
                <a:gd name="connsiteX9-2899" fmla="*/ 823018 w 1432618"/>
                <a:gd name="connsiteY9-2900" fmla="*/ 1295587 h 3550128"/>
                <a:gd name="connsiteX10-2901" fmla="*/ 765868 w 1432618"/>
                <a:gd name="connsiteY10-2902" fmla="*/ 771712 h 3550128"/>
                <a:gd name="connsiteX11-2903" fmla="*/ 537268 w 1432618"/>
                <a:gd name="connsiteY11-2904" fmla="*/ 628837 h 3550128"/>
                <a:gd name="connsiteX12-2905" fmla="*/ 689668 w 1432618"/>
                <a:gd name="connsiteY12-2906" fmla="*/ 628837 h 3550128"/>
                <a:gd name="connsiteX13-2907" fmla="*/ 765868 w 1432618"/>
                <a:gd name="connsiteY13-2908" fmla="*/ 714562 h 3550128"/>
                <a:gd name="connsiteX14-2909" fmla="*/ 870643 w 1432618"/>
                <a:gd name="connsiteY14-2910" fmla="*/ 187 h 3550128"/>
                <a:gd name="connsiteX15-2911" fmla="*/ 832543 w 1432618"/>
                <a:gd name="connsiteY15-2912" fmla="*/ 647887 h 3550128"/>
                <a:gd name="connsiteX16-2913" fmla="*/ 908743 w 1432618"/>
                <a:gd name="connsiteY16-2914" fmla="*/ 1038412 h 3550128"/>
                <a:gd name="connsiteX17-2915" fmla="*/ 937318 w 1432618"/>
                <a:gd name="connsiteY17-2916" fmla="*/ 1286062 h 3550128"/>
                <a:gd name="connsiteX18-2917" fmla="*/ 1108768 w 1432618"/>
                <a:gd name="connsiteY18-2918" fmla="*/ 1152712 h 3550128"/>
                <a:gd name="connsiteX19-2919" fmla="*/ 1337368 w 1432618"/>
                <a:gd name="connsiteY19-2920" fmla="*/ 1133662 h 3550128"/>
                <a:gd name="connsiteX20-2921" fmla="*/ 1108768 w 1432618"/>
                <a:gd name="connsiteY20-2922" fmla="*/ 1216212 h 3550128"/>
                <a:gd name="connsiteX21-2923" fmla="*/ 889693 w 1432618"/>
                <a:gd name="connsiteY21-2924" fmla="*/ 1489262 h 3550128"/>
                <a:gd name="connsiteX22-2925" fmla="*/ 835718 w 1432618"/>
                <a:gd name="connsiteY22-2926" fmla="*/ 1857562 h 3550128"/>
                <a:gd name="connsiteX23-2927" fmla="*/ 1003993 w 1432618"/>
                <a:gd name="connsiteY23-2928" fmla="*/ 2270312 h 3550128"/>
                <a:gd name="connsiteX24-2929" fmla="*/ 896043 w 1432618"/>
                <a:gd name="connsiteY24-2930" fmla="*/ 2540187 h 3550128"/>
                <a:gd name="connsiteX25-2931" fmla="*/ 1213543 w 1432618"/>
                <a:gd name="connsiteY25-2932" fmla="*/ 2495737 h 3550128"/>
                <a:gd name="connsiteX26-2933" fmla="*/ 1432618 w 1432618"/>
                <a:gd name="connsiteY26-2934" fmla="*/ 2588606 h 3550128"/>
                <a:gd name="connsiteX27-2935" fmla="*/ 1188143 w 1432618"/>
                <a:gd name="connsiteY27-2936" fmla="*/ 2552887 h 3550128"/>
                <a:gd name="connsiteX28-2937" fmla="*/ 832543 w 1432618"/>
                <a:gd name="connsiteY28-2938" fmla="*/ 2695762 h 3550128"/>
                <a:gd name="connsiteX29-2939" fmla="*/ 689668 w 1432618"/>
                <a:gd name="connsiteY29-2940" fmla="*/ 3048187 h 3550128"/>
                <a:gd name="connsiteX30-2941" fmla="*/ 918268 w 1432618"/>
                <a:gd name="connsiteY30-2942" fmla="*/ 3381562 h 3550128"/>
                <a:gd name="connsiteX31-2943" fmla="*/ 1016693 w 1432618"/>
                <a:gd name="connsiteY31-2944" fmla="*/ 3543487 h 3550128"/>
                <a:gd name="connsiteX0-2945" fmla="*/ 1016693 w 1432618"/>
                <a:gd name="connsiteY0-2946" fmla="*/ 3543487 h 3550128"/>
                <a:gd name="connsiteX1-2947" fmla="*/ 591243 w 1432618"/>
                <a:gd name="connsiteY1-2948" fmla="*/ 3549837 h 3550128"/>
                <a:gd name="connsiteX2-2949" fmla="*/ 394393 w 1432618"/>
                <a:gd name="connsiteY2-2950" fmla="*/ 3038662 h 3550128"/>
                <a:gd name="connsiteX3-2951" fmla="*/ 746818 w 1432618"/>
                <a:gd name="connsiteY3-2952" fmla="*/ 2343337 h 3550128"/>
                <a:gd name="connsiteX4-2953" fmla="*/ 560128 w 1432618"/>
                <a:gd name="connsiteY4-2954" fmla="*/ 1884232 h 3550128"/>
                <a:gd name="connsiteX5-2955" fmla="*/ 58 w 1432618"/>
                <a:gd name="connsiteY5-2956" fmla="*/ 1832797 h 3550128"/>
                <a:gd name="connsiteX6-2957" fmla="*/ 394393 w 1432618"/>
                <a:gd name="connsiteY6-2958" fmla="*/ 1705162 h 3550128"/>
                <a:gd name="connsiteX7-2959" fmla="*/ 642043 w 1432618"/>
                <a:gd name="connsiteY7-2960" fmla="*/ 1838512 h 3550128"/>
                <a:gd name="connsiteX8-2961" fmla="*/ 689668 w 1432618"/>
                <a:gd name="connsiteY8-2962" fmla="*/ 1609912 h 3550128"/>
                <a:gd name="connsiteX9-2963" fmla="*/ 823018 w 1432618"/>
                <a:gd name="connsiteY9-2964" fmla="*/ 1295587 h 3550128"/>
                <a:gd name="connsiteX10-2965" fmla="*/ 765868 w 1432618"/>
                <a:gd name="connsiteY10-2966" fmla="*/ 771712 h 3550128"/>
                <a:gd name="connsiteX11-2967" fmla="*/ 537268 w 1432618"/>
                <a:gd name="connsiteY11-2968" fmla="*/ 628837 h 3550128"/>
                <a:gd name="connsiteX12-2969" fmla="*/ 689668 w 1432618"/>
                <a:gd name="connsiteY12-2970" fmla="*/ 628837 h 3550128"/>
                <a:gd name="connsiteX13-2971" fmla="*/ 765868 w 1432618"/>
                <a:gd name="connsiteY13-2972" fmla="*/ 714562 h 3550128"/>
                <a:gd name="connsiteX14-2973" fmla="*/ 870643 w 1432618"/>
                <a:gd name="connsiteY14-2974" fmla="*/ 187 h 3550128"/>
                <a:gd name="connsiteX15-2975" fmla="*/ 832543 w 1432618"/>
                <a:gd name="connsiteY15-2976" fmla="*/ 647887 h 3550128"/>
                <a:gd name="connsiteX16-2977" fmla="*/ 908743 w 1432618"/>
                <a:gd name="connsiteY16-2978" fmla="*/ 1038412 h 3550128"/>
                <a:gd name="connsiteX17-2979" fmla="*/ 937318 w 1432618"/>
                <a:gd name="connsiteY17-2980" fmla="*/ 1286062 h 3550128"/>
                <a:gd name="connsiteX18-2981" fmla="*/ 1108768 w 1432618"/>
                <a:gd name="connsiteY18-2982" fmla="*/ 1152712 h 3550128"/>
                <a:gd name="connsiteX19-2983" fmla="*/ 1375468 w 1432618"/>
                <a:gd name="connsiteY19-2984" fmla="*/ 1133662 h 3550128"/>
                <a:gd name="connsiteX20-2985" fmla="*/ 1108768 w 1432618"/>
                <a:gd name="connsiteY20-2986" fmla="*/ 1216212 h 3550128"/>
                <a:gd name="connsiteX21-2987" fmla="*/ 889693 w 1432618"/>
                <a:gd name="connsiteY21-2988" fmla="*/ 1489262 h 3550128"/>
                <a:gd name="connsiteX22-2989" fmla="*/ 835718 w 1432618"/>
                <a:gd name="connsiteY22-2990" fmla="*/ 1857562 h 3550128"/>
                <a:gd name="connsiteX23-2991" fmla="*/ 1003993 w 1432618"/>
                <a:gd name="connsiteY23-2992" fmla="*/ 2270312 h 3550128"/>
                <a:gd name="connsiteX24-2993" fmla="*/ 896043 w 1432618"/>
                <a:gd name="connsiteY24-2994" fmla="*/ 2540187 h 3550128"/>
                <a:gd name="connsiteX25-2995" fmla="*/ 1213543 w 1432618"/>
                <a:gd name="connsiteY25-2996" fmla="*/ 2495737 h 3550128"/>
                <a:gd name="connsiteX26-2997" fmla="*/ 1432618 w 1432618"/>
                <a:gd name="connsiteY26-2998" fmla="*/ 2588606 h 3550128"/>
                <a:gd name="connsiteX27-2999" fmla="*/ 1188143 w 1432618"/>
                <a:gd name="connsiteY27-3000" fmla="*/ 2552887 h 3550128"/>
                <a:gd name="connsiteX28-3001" fmla="*/ 832543 w 1432618"/>
                <a:gd name="connsiteY28-3002" fmla="*/ 2695762 h 3550128"/>
                <a:gd name="connsiteX29-3003" fmla="*/ 689668 w 1432618"/>
                <a:gd name="connsiteY29-3004" fmla="*/ 3048187 h 3550128"/>
                <a:gd name="connsiteX30-3005" fmla="*/ 918268 w 1432618"/>
                <a:gd name="connsiteY30-3006" fmla="*/ 3381562 h 3550128"/>
                <a:gd name="connsiteX31-3007" fmla="*/ 1016693 w 1432618"/>
                <a:gd name="connsiteY31-3008" fmla="*/ 3543487 h 3550128"/>
                <a:gd name="connsiteX0-3009" fmla="*/ 1016693 w 1432618"/>
                <a:gd name="connsiteY0-3010" fmla="*/ 3543487 h 3550128"/>
                <a:gd name="connsiteX1-3011" fmla="*/ 591243 w 1432618"/>
                <a:gd name="connsiteY1-3012" fmla="*/ 3549837 h 3550128"/>
                <a:gd name="connsiteX2-3013" fmla="*/ 394393 w 1432618"/>
                <a:gd name="connsiteY2-3014" fmla="*/ 3038662 h 3550128"/>
                <a:gd name="connsiteX3-3015" fmla="*/ 746818 w 1432618"/>
                <a:gd name="connsiteY3-3016" fmla="*/ 2343337 h 3550128"/>
                <a:gd name="connsiteX4-3017" fmla="*/ 560128 w 1432618"/>
                <a:gd name="connsiteY4-3018" fmla="*/ 1884232 h 3550128"/>
                <a:gd name="connsiteX5-3019" fmla="*/ 58 w 1432618"/>
                <a:gd name="connsiteY5-3020" fmla="*/ 1832797 h 3550128"/>
                <a:gd name="connsiteX6-3021" fmla="*/ 394393 w 1432618"/>
                <a:gd name="connsiteY6-3022" fmla="*/ 1705162 h 3550128"/>
                <a:gd name="connsiteX7-3023" fmla="*/ 642043 w 1432618"/>
                <a:gd name="connsiteY7-3024" fmla="*/ 1838512 h 3550128"/>
                <a:gd name="connsiteX8-3025" fmla="*/ 689668 w 1432618"/>
                <a:gd name="connsiteY8-3026" fmla="*/ 1609912 h 3550128"/>
                <a:gd name="connsiteX9-3027" fmla="*/ 823018 w 1432618"/>
                <a:gd name="connsiteY9-3028" fmla="*/ 1295587 h 3550128"/>
                <a:gd name="connsiteX10-3029" fmla="*/ 765868 w 1432618"/>
                <a:gd name="connsiteY10-3030" fmla="*/ 771712 h 3550128"/>
                <a:gd name="connsiteX11-3031" fmla="*/ 537268 w 1432618"/>
                <a:gd name="connsiteY11-3032" fmla="*/ 628837 h 3550128"/>
                <a:gd name="connsiteX12-3033" fmla="*/ 689668 w 1432618"/>
                <a:gd name="connsiteY12-3034" fmla="*/ 628837 h 3550128"/>
                <a:gd name="connsiteX13-3035" fmla="*/ 765868 w 1432618"/>
                <a:gd name="connsiteY13-3036" fmla="*/ 714562 h 3550128"/>
                <a:gd name="connsiteX14-3037" fmla="*/ 870643 w 1432618"/>
                <a:gd name="connsiteY14-3038" fmla="*/ 187 h 3550128"/>
                <a:gd name="connsiteX15-3039" fmla="*/ 832543 w 1432618"/>
                <a:gd name="connsiteY15-3040" fmla="*/ 647887 h 3550128"/>
                <a:gd name="connsiteX16-3041" fmla="*/ 908743 w 1432618"/>
                <a:gd name="connsiteY16-3042" fmla="*/ 1038412 h 3550128"/>
                <a:gd name="connsiteX17-3043" fmla="*/ 937318 w 1432618"/>
                <a:gd name="connsiteY17-3044" fmla="*/ 1286062 h 3550128"/>
                <a:gd name="connsiteX18-3045" fmla="*/ 1108768 w 1432618"/>
                <a:gd name="connsiteY18-3046" fmla="*/ 1152712 h 3550128"/>
                <a:gd name="connsiteX19-3047" fmla="*/ 1375468 w 1432618"/>
                <a:gd name="connsiteY19-3048" fmla="*/ 1133662 h 3550128"/>
                <a:gd name="connsiteX20-3049" fmla="*/ 1108768 w 1432618"/>
                <a:gd name="connsiteY20-3050" fmla="*/ 1216212 h 3550128"/>
                <a:gd name="connsiteX21-3051" fmla="*/ 889693 w 1432618"/>
                <a:gd name="connsiteY21-3052" fmla="*/ 1489262 h 3550128"/>
                <a:gd name="connsiteX22-3053" fmla="*/ 835718 w 1432618"/>
                <a:gd name="connsiteY22-3054" fmla="*/ 1857562 h 3550128"/>
                <a:gd name="connsiteX23-3055" fmla="*/ 1003993 w 1432618"/>
                <a:gd name="connsiteY23-3056" fmla="*/ 2270312 h 3550128"/>
                <a:gd name="connsiteX24-3057" fmla="*/ 896043 w 1432618"/>
                <a:gd name="connsiteY24-3058" fmla="*/ 2540187 h 3550128"/>
                <a:gd name="connsiteX25-3059" fmla="*/ 1213543 w 1432618"/>
                <a:gd name="connsiteY25-3060" fmla="*/ 2495737 h 3550128"/>
                <a:gd name="connsiteX26-3061" fmla="*/ 1432618 w 1432618"/>
                <a:gd name="connsiteY26-3062" fmla="*/ 2588606 h 3550128"/>
                <a:gd name="connsiteX27-3063" fmla="*/ 1188143 w 1432618"/>
                <a:gd name="connsiteY27-3064" fmla="*/ 2552887 h 3550128"/>
                <a:gd name="connsiteX28-3065" fmla="*/ 832543 w 1432618"/>
                <a:gd name="connsiteY28-3066" fmla="*/ 2695762 h 3550128"/>
                <a:gd name="connsiteX29-3067" fmla="*/ 689668 w 1432618"/>
                <a:gd name="connsiteY29-3068" fmla="*/ 3048187 h 3550128"/>
                <a:gd name="connsiteX30-3069" fmla="*/ 918268 w 1432618"/>
                <a:gd name="connsiteY30-3070" fmla="*/ 3381562 h 3550128"/>
                <a:gd name="connsiteX31-3071" fmla="*/ 1016693 w 1432618"/>
                <a:gd name="connsiteY31-3072" fmla="*/ 3543487 h 3550128"/>
                <a:gd name="connsiteX0-3073" fmla="*/ 1016693 w 1432618"/>
                <a:gd name="connsiteY0-3074" fmla="*/ 3543487 h 3550128"/>
                <a:gd name="connsiteX1-3075" fmla="*/ 591243 w 1432618"/>
                <a:gd name="connsiteY1-3076" fmla="*/ 3549837 h 3550128"/>
                <a:gd name="connsiteX2-3077" fmla="*/ 394393 w 1432618"/>
                <a:gd name="connsiteY2-3078" fmla="*/ 3038662 h 3550128"/>
                <a:gd name="connsiteX3-3079" fmla="*/ 746818 w 1432618"/>
                <a:gd name="connsiteY3-3080" fmla="*/ 2343337 h 3550128"/>
                <a:gd name="connsiteX4-3081" fmla="*/ 560128 w 1432618"/>
                <a:gd name="connsiteY4-3082" fmla="*/ 1884232 h 3550128"/>
                <a:gd name="connsiteX5-3083" fmla="*/ 58 w 1432618"/>
                <a:gd name="connsiteY5-3084" fmla="*/ 1832797 h 3550128"/>
                <a:gd name="connsiteX6-3085" fmla="*/ 394393 w 1432618"/>
                <a:gd name="connsiteY6-3086" fmla="*/ 1705162 h 3550128"/>
                <a:gd name="connsiteX7-3087" fmla="*/ 642043 w 1432618"/>
                <a:gd name="connsiteY7-3088" fmla="*/ 1838512 h 3550128"/>
                <a:gd name="connsiteX8-3089" fmla="*/ 689668 w 1432618"/>
                <a:gd name="connsiteY8-3090" fmla="*/ 1609912 h 3550128"/>
                <a:gd name="connsiteX9-3091" fmla="*/ 823018 w 1432618"/>
                <a:gd name="connsiteY9-3092" fmla="*/ 1295587 h 3550128"/>
                <a:gd name="connsiteX10-3093" fmla="*/ 765868 w 1432618"/>
                <a:gd name="connsiteY10-3094" fmla="*/ 771712 h 3550128"/>
                <a:gd name="connsiteX11-3095" fmla="*/ 537268 w 1432618"/>
                <a:gd name="connsiteY11-3096" fmla="*/ 628837 h 3550128"/>
                <a:gd name="connsiteX12-3097" fmla="*/ 689668 w 1432618"/>
                <a:gd name="connsiteY12-3098" fmla="*/ 628837 h 3550128"/>
                <a:gd name="connsiteX13-3099" fmla="*/ 765868 w 1432618"/>
                <a:gd name="connsiteY13-3100" fmla="*/ 714562 h 3550128"/>
                <a:gd name="connsiteX14-3101" fmla="*/ 870643 w 1432618"/>
                <a:gd name="connsiteY14-3102" fmla="*/ 187 h 3550128"/>
                <a:gd name="connsiteX15-3103" fmla="*/ 832543 w 1432618"/>
                <a:gd name="connsiteY15-3104" fmla="*/ 647887 h 3550128"/>
                <a:gd name="connsiteX16-3105" fmla="*/ 908743 w 1432618"/>
                <a:gd name="connsiteY16-3106" fmla="*/ 1038412 h 3550128"/>
                <a:gd name="connsiteX17-3107" fmla="*/ 937318 w 1432618"/>
                <a:gd name="connsiteY17-3108" fmla="*/ 1286062 h 3550128"/>
                <a:gd name="connsiteX18-3109" fmla="*/ 1108768 w 1432618"/>
                <a:gd name="connsiteY18-3110" fmla="*/ 1152712 h 3550128"/>
                <a:gd name="connsiteX19-3111" fmla="*/ 1375468 w 1432618"/>
                <a:gd name="connsiteY19-3112" fmla="*/ 1133662 h 3550128"/>
                <a:gd name="connsiteX20-3113" fmla="*/ 1108768 w 1432618"/>
                <a:gd name="connsiteY20-3114" fmla="*/ 1216212 h 3550128"/>
                <a:gd name="connsiteX21-3115" fmla="*/ 889693 w 1432618"/>
                <a:gd name="connsiteY21-3116" fmla="*/ 1489262 h 3550128"/>
                <a:gd name="connsiteX22-3117" fmla="*/ 835718 w 1432618"/>
                <a:gd name="connsiteY22-3118" fmla="*/ 1857562 h 3550128"/>
                <a:gd name="connsiteX23-3119" fmla="*/ 1003993 w 1432618"/>
                <a:gd name="connsiteY23-3120" fmla="*/ 2270312 h 3550128"/>
                <a:gd name="connsiteX24-3121" fmla="*/ 896043 w 1432618"/>
                <a:gd name="connsiteY24-3122" fmla="*/ 2540187 h 3550128"/>
                <a:gd name="connsiteX25-3123" fmla="*/ 1213543 w 1432618"/>
                <a:gd name="connsiteY25-3124" fmla="*/ 2495737 h 3550128"/>
                <a:gd name="connsiteX26-3125" fmla="*/ 1432618 w 1432618"/>
                <a:gd name="connsiteY26-3126" fmla="*/ 2588606 h 3550128"/>
                <a:gd name="connsiteX27-3127" fmla="*/ 1188143 w 1432618"/>
                <a:gd name="connsiteY27-3128" fmla="*/ 2552887 h 3550128"/>
                <a:gd name="connsiteX28-3129" fmla="*/ 832543 w 1432618"/>
                <a:gd name="connsiteY28-3130" fmla="*/ 2695762 h 3550128"/>
                <a:gd name="connsiteX29-3131" fmla="*/ 689668 w 1432618"/>
                <a:gd name="connsiteY29-3132" fmla="*/ 3048187 h 3550128"/>
                <a:gd name="connsiteX30-3133" fmla="*/ 918268 w 1432618"/>
                <a:gd name="connsiteY30-3134" fmla="*/ 3381562 h 3550128"/>
                <a:gd name="connsiteX31-3135" fmla="*/ 1016693 w 1432618"/>
                <a:gd name="connsiteY31-3136" fmla="*/ 3543487 h 3550128"/>
                <a:gd name="connsiteX0-3137" fmla="*/ 1016693 w 1432618"/>
                <a:gd name="connsiteY0-3138" fmla="*/ 3543487 h 3550128"/>
                <a:gd name="connsiteX1-3139" fmla="*/ 591243 w 1432618"/>
                <a:gd name="connsiteY1-3140" fmla="*/ 3549837 h 3550128"/>
                <a:gd name="connsiteX2-3141" fmla="*/ 394393 w 1432618"/>
                <a:gd name="connsiteY2-3142" fmla="*/ 3038662 h 3550128"/>
                <a:gd name="connsiteX3-3143" fmla="*/ 746818 w 1432618"/>
                <a:gd name="connsiteY3-3144" fmla="*/ 2343337 h 3550128"/>
                <a:gd name="connsiteX4-3145" fmla="*/ 560128 w 1432618"/>
                <a:gd name="connsiteY4-3146" fmla="*/ 1884232 h 3550128"/>
                <a:gd name="connsiteX5-3147" fmla="*/ 58 w 1432618"/>
                <a:gd name="connsiteY5-3148" fmla="*/ 1832797 h 3550128"/>
                <a:gd name="connsiteX6-3149" fmla="*/ 394393 w 1432618"/>
                <a:gd name="connsiteY6-3150" fmla="*/ 1705162 h 3550128"/>
                <a:gd name="connsiteX7-3151" fmla="*/ 642043 w 1432618"/>
                <a:gd name="connsiteY7-3152" fmla="*/ 1838512 h 3550128"/>
                <a:gd name="connsiteX8-3153" fmla="*/ 689668 w 1432618"/>
                <a:gd name="connsiteY8-3154" fmla="*/ 1609912 h 3550128"/>
                <a:gd name="connsiteX9-3155" fmla="*/ 823018 w 1432618"/>
                <a:gd name="connsiteY9-3156" fmla="*/ 1295587 h 3550128"/>
                <a:gd name="connsiteX10-3157" fmla="*/ 765868 w 1432618"/>
                <a:gd name="connsiteY10-3158" fmla="*/ 771712 h 3550128"/>
                <a:gd name="connsiteX11-3159" fmla="*/ 537268 w 1432618"/>
                <a:gd name="connsiteY11-3160" fmla="*/ 628837 h 3550128"/>
                <a:gd name="connsiteX12-3161" fmla="*/ 689668 w 1432618"/>
                <a:gd name="connsiteY12-3162" fmla="*/ 628837 h 3550128"/>
                <a:gd name="connsiteX13-3163" fmla="*/ 765868 w 1432618"/>
                <a:gd name="connsiteY13-3164" fmla="*/ 714562 h 3550128"/>
                <a:gd name="connsiteX14-3165" fmla="*/ 870643 w 1432618"/>
                <a:gd name="connsiteY14-3166" fmla="*/ 187 h 3550128"/>
                <a:gd name="connsiteX15-3167" fmla="*/ 832543 w 1432618"/>
                <a:gd name="connsiteY15-3168" fmla="*/ 647887 h 3550128"/>
                <a:gd name="connsiteX16-3169" fmla="*/ 908743 w 1432618"/>
                <a:gd name="connsiteY16-3170" fmla="*/ 1038412 h 3550128"/>
                <a:gd name="connsiteX17-3171" fmla="*/ 937318 w 1432618"/>
                <a:gd name="connsiteY17-3172" fmla="*/ 1286062 h 3550128"/>
                <a:gd name="connsiteX18-3173" fmla="*/ 1108768 w 1432618"/>
                <a:gd name="connsiteY18-3174" fmla="*/ 1152712 h 3550128"/>
                <a:gd name="connsiteX19-3175" fmla="*/ 1375468 w 1432618"/>
                <a:gd name="connsiteY19-3176" fmla="*/ 1133662 h 3550128"/>
                <a:gd name="connsiteX20-3177" fmla="*/ 1108768 w 1432618"/>
                <a:gd name="connsiteY20-3178" fmla="*/ 1216212 h 3550128"/>
                <a:gd name="connsiteX21-3179" fmla="*/ 889693 w 1432618"/>
                <a:gd name="connsiteY21-3180" fmla="*/ 1489262 h 3550128"/>
                <a:gd name="connsiteX22-3181" fmla="*/ 835718 w 1432618"/>
                <a:gd name="connsiteY22-3182" fmla="*/ 1857562 h 3550128"/>
                <a:gd name="connsiteX23-3183" fmla="*/ 1003993 w 1432618"/>
                <a:gd name="connsiteY23-3184" fmla="*/ 2270312 h 3550128"/>
                <a:gd name="connsiteX24-3185" fmla="*/ 896043 w 1432618"/>
                <a:gd name="connsiteY24-3186" fmla="*/ 2540187 h 3550128"/>
                <a:gd name="connsiteX25-3187" fmla="*/ 1213543 w 1432618"/>
                <a:gd name="connsiteY25-3188" fmla="*/ 2495737 h 3550128"/>
                <a:gd name="connsiteX26-3189" fmla="*/ 1432618 w 1432618"/>
                <a:gd name="connsiteY26-3190" fmla="*/ 2588606 h 3550128"/>
                <a:gd name="connsiteX27-3191" fmla="*/ 1188143 w 1432618"/>
                <a:gd name="connsiteY27-3192" fmla="*/ 2552887 h 3550128"/>
                <a:gd name="connsiteX28-3193" fmla="*/ 832543 w 1432618"/>
                <a:gd name="connsiteY28-3194" fmla="*/ 2695762 h 3550128"/>
                <a:gd name="connsiteX29-3195" fmla="*/ 689668 w 1432618"/>
                <a:gd name="connsiteY29-3196" fmla="*/ 3048187 h 3550128"/>
                <a:gd name="connsiteX30-3197" fmla="*/ 918268 w 1432618"/>
                <a:gd name="connsiteY30-3198" fmla="*/ 3381562 h 3550128"/>
                <a:gd name="connsiteX31-3199" fmla="*/ 1016693 w 1432618"/>
                <a:gd name="connsiteY31-3200" fmla="*/ 3543487 h 3550128"/>
                <a:gd name="connsiteX0-3201" fmla="*/ 1016693 w 1432618"/>
                <a:gd name="connsiteY0-3202" fmla="*/ 3543487 h 3550128"/>
                <a:gd name="connsiteX1-3203" fmla="*/ 591243 w 1432618"/>
                <a:gd name="connsiteY1-3204" fmla="*/ 3549837 h 3550128"/>
                <a:gd name="connsiteX2-3205" fmla="*/ 394393 w 1432618"/>
                <a:gd name="connsiteY2-3206" fmla="*/ 3038662 h 3550128"/>
                <a:gd name="connsiteX3-3207" fmla="*/ 746818 w 1432618"/>
                <a:gd name="connsiteY3-3208" fmla="*/ 2343337 h 3550128"/>
                <a:gd name="connsiteX4-3209" fmla="*/ 560128 w 1432618"/>
                <a:gd name="connsiteY4-3210" fmla="*/ 1884232 h 3550128"/>
                <a:gd name="connsiteX5-3211" fmla="*/ 58 w 1432618"/>
                <a:gd name="connsiteY5-3212" fmla="*/ 1832797 h 3550128"/>
                <a:gd name="connsiteX6-3213" fmla="*/ 394393 w 1432618"/>
                <a:gd name="connsiteY6-3214" fmla="*/ 1705162 h 3550128"/>
                <a:gd name="connsiteX7-3215" fmla="*/ 642043 w 1432618"/>
                <a:gd name="connsiteY7-3216" fmla="*/ 1838512 h 3550128"/>
                <a:gd name="connsiteX8-3217" fmla="*/ 689668 w 1432618"/>
                <a:gd name="connsiteY8-3218" fmla="*/ 1609912 h 3550128"/>
                <a:gd name="connsiteX9-3219" fmla="*/ 823018 w 1432618"/>
                <a:gd name="connsiteY9-3220" fmla="*/ 1295587 h 3550128"/>
                <a:gd name="connsiteX10-3221" fmla="*/ 765868 w 1432618"/>
                <a:gd name="connsiteY10-3222" fmla="*/ 771712 h 3550128"/>
                <a:gd name="connsiteX11-3223" fmla="*/ 537268 w 1432618"/>
                <a:gd name="connsiteY11-3224" fmla="*/ 628837 h 3550128"/>
                <a:gd name="connsiteX12-3225" fmla="*/ 689668 w 1432618"/>
                <a:gd name="connsiteY12-3226" fmla="*/ 628837 h 3550128"/>
                <a:gd name="connsiteX13-3227" fmla="*/ 765868 w 1432618"/>
                <a:gd name="connsiteY13-3228" fmla="*/ 714562 h 3550128"/>
                <a:gd name="connsiteX14-3229" fmla="*/ 870643 w 1432618"/>
                <a:gd name="connsiteY14-3230" fmla="*/ 187 h 3550128"/>
                <a:gd name="connsiteX15-3231" fmla="*/ 832543 w 1432618"/>
                <a:gd name="connsiteY15-3232" fmla="*/ 647887 h 3550128"/>
                <a:gd name="connsiteX16-3233" fmla="*/ 908743 w 1432618"/>
                <a:gd name="connsiteY16-3234" fmla="*/ 1038412 h 3550128"/>
                <a:gd name="connsiteX17-3235" fmla="*/ 937318 w 1432618"/>
                <a:gd name="connsiteY17-3236" fmla="*/ 1286062 h 3550128"/>
                <a:gd name="connsiteX18-3237" fmla="*/ 1108768 w 1432618"/>
                <a:gd name="connsiteY18-3238" fmla="*/ 1152712 h 3550128"/>
                <a:gd name="connsiteX19-3239" fmla="*/ 1375468 w 1432618"/>
                <a:gd name="connsiteY19-3240" fmla="*/ 1133662 h 3550128"/>
                <a:gd name="connsiteX20-3241" fmla="*/ 1108768 w 1432618"/>
                <a:gd name="connsiteY20-3242" fmla="*/ 1216212 h 3550128"/>
                <a:gd name="connsiteX21-3243" fmla="*/ 889693 w 1432618"/>
                <a:gd name="connsiteY21-3244" fmla="*/ 1489262 h 3550128"/>
                <a:gd name="connsiteX22-3245" fmla="*/ 835718 w 1432618"/>
                <a:gd name="connsiteY22-3246" fmla="*/ 1857562 h 3550128"/>
                <a:gd name="connsiteX23-3247" fmla="*/ 1003993 w 1432618"/>
                <a:gd name="connsiteY23-3248" fmla="*/ 2270312 h 3550128"/>
                <a:gd name="connsiteX24-3249" fmla="*/ 896043 w 1432618"/>
                <a:gd name="connsiteY24-3250" fmla="*/ 2540187 h 3550128"/>
                <a:gd name="connsiteX25-3251" fmla="*/ 1213543 w 1432618"/>
                <a:gd name="connsiteY25-3252" fmla="*/ 2495737 h 3550128"/>
                <a:gd name="connsiteX26-3253" fmla="*/ 1432618 w 1432618"/>
                <a:gd name="connsiteY26-3254" fmla="*/ 2588606 h 3550128"/>
                <a:gd name="connsiteX27-3255" fmla="*/ 1188143 w 1432618"/>
                <a:gd name="connsiteY27-3256" fmla="*/ 2552887 h 3550128"/>
                <a:gd name="connsiteX28-3257" fmla="*/ 832543 w 1432618"/>
                <a:gd name="connsiteY28-3258" fmla="*/ 2695762 h 3550128"/>
                <a:gd name="connsiteX29-3259" fmla="*/ 689668 w 1432618"/>
                <a:gd name="connsiteY29-3260" fmla="*/ 3048187 h 3550128"/>
                <a:gd name="connsiteX30-3261" fmla="*/ 918268 w 1432618"/>
                <a:gd name="connsiteY30-3262" fmla="*/ 3381562 h 3550128"/>
                <a:gd name="connsiteX31-3263" fmla="*/ 1016693 w 1432618"/>
                <a:gd name="connsiteY31-3264" fmla="*/ 3543487 h 3550128"/>
                <a:gd name="connsiteX0-3265" fmla="*/ 1016693 w 1432618"/>
                <a:gd name="connsiteY0-3266" fmla="*/ 3543487 h 3550128"/>
                <a:gd name="connsiteX1-3267" fmla="*/ 591243 w 1432618"/>
                <a:gd name="connsiteY1-3268" fmla="*/ 3549837 h 3550128"/>
                <a:gd name="connsiteX2-3269" fmla="*/ 394393 w 1432618"/>
                <a:gd name="connsiteY2-3270" fmla="*/ 3038662 h 3550128"/>
                <a:gd name="connsiteX3-3271" fmla="*/ 746818 w 1432618"/>
                <a:gd name="connsiteY3-3272" fmla="*/ 2343337 h 3550128"/>
                <a:gd name="connsiteX4-3273" fmla="*/ 560128 w 1432618"/>
                <a:gd name="connsiteY4-3274" fmla="*/ 1884232 h 3550128"/>
                <a:gd name="connsiteX5-3275" fmla="*/ 58 w 1432618"/>
                <a:gd name="connsiteY5-3276" fmla="*/ 1832797 h 3550128"/>
                <a:gd name="connsiteX6-3277" fmla="*/ 394393 w 1432618"/>
                <a:gd name="connsiteY6-3278" fmla="*/ 1705162 h 3550128"/>
                <a:gd name="connsiteX7-3279" fmla="*/ 642043 w 1432618"/>
                <a:gd name="connsiteY7-3280" fmla="*/ 1838512 h 3550128"/>
                <a:gd name="connsiteX8-3281" fmla="*/ 689668 w 1432618"/>
                <a:gd name="connsiteY8-3282" fmla="*/ 1609912 h 3550128"/>
                <a:gd name="connsiteX9-3283" fmla="*/ 823018 w 1432618"/>
                <a:gd name="connsiteY9-3284" fmla="*/ 1295587 h 3550128"/>
                <a:gd name="connsiteX10-3285" fmla="*/ 765868 w 1432618"/>
                <a:gd name="connsiteY10-3286" fmla="*/ 771712 h 3550128"/>
                <a:gd name="connsiteX11-3287" fmla="*/ 537268 w 1432618"/>
                <a:gd name="connsiteY11-3288" fmla="*/ 628837 h 3550128"/>
                <a:gd name="connsiteX12-3289" fmla="*/ 689668 w 1432618"/>
                <a:gd name="connsiteY12-3290" fmla="*/ 628837 h 3550128"/>
                <a:gd name="connsiteX13-3291" fmla="*/ 765868 w 1432618"/>
                <a:gd name="connsiteY13-3292" fmla="*/ 714562 h 3550128"/>
                <a:gd name="connsiteX14-3293" fmla="*/ 870643 w 1432618"/>
                <a:gd name="connsiteY14-3294" fmla="*/ 187 h 3550128"/>
                <a:gd name="connsiteX15-3295" fmla="*/ 832543 w 1432618"/>
                <a:gd name="connsiteY15-3296" fmla="*/ 647887 h 3550128"/>
                <a:gd name="connsiteX16-3297" fmla="*/ 908743 w 1432618"/>
                <a:gd name="connsiteY16-3298" fmla="*/ 1038412 h 3550128"/>
                <a:gd name="connsiteX17-3299" fmla="*/ 937318 w 1432618"/>
                <a:gd name="connsiteY17-3300" fmla="*/ 1286062 h 3550128"/>
                <a:gd name="connsiteX18-3301" fmla="*/ 1099243 w 1432618"/>
                <a:gd name="connsiteY18-3302" fmla="*/ 1162237 h 3550128"/>
                <a:gd name="connsiteX19-3303" fmla="*/ 1375468 w 1432618"/>
                <a:gd name="connsiteY19-3304" fmla="*/ 1133662 h 3550128"/>
                <a:gd name="connsiteX20-3305" fmla="*/ 1108768 w 1432618"/>
                <a:gd name="connsiteY20-3306" fmla="*/ 1216212 h 3550128"/>
                <a:gd name="connsiteX21-3307" fmla="*/ 889693 w 1432618"/>
                <a:gd name="connsiteY21-3308" fmla="*/ 1489262 h 3550128"/>
                <a:gd name="connsiteX22-3309" fmla="*/ 835718 w 1432618"/>
                <a:gd name="connsiteY22-3310" fmla="*/ 1857562 h 3550128"/>
                <a:gd name="connsiteX23-3311" fmla="*/ 1003993 w 1432618"/>
                <a:gd name="connsiteY23-3312" fmla="*/ 2270312 h 3550128"/>
                <a:gd name="connsiteX24-3313" fmla="*/ 896043 w 1432618"/>
                <a:gd name="connsiteY24-3314" fmla="*/ 2540187 h 3550128"/>
                <a:gd name="connsiteX25-3315" fmla="*/ 1213543 w 1432618"/>
                <a:gd name="connsiteY25-3316" fmla="*/ 2495737 h 3550128"/>
                <a:gd name="connsiteX26-3317" fmla="*/ 1432618 w 1432618"/>
                <a:gd name="connsiteY26-3318" fmla="*/ 2588606 h 3550128"/>
                <a:gd name="connsiteX27-3319" fmla="*/ 1188143 w 1432618"/>
                <a:gd name="connsiteY27-3320" fmla="*/ 2552887 h 3550128"/>
                <a:gd name="connsiteX28-3321" fmla="*/ 832543 w 1432618"/>
                <a:gd name="connsiteY28-3322" fmla="*/ 2695762 h 3550128"/>
                <a:gd name="connsiteX29-3323" fmla="*/ 689668 w 1432618"/>
                <a:gd name="connsiteY29-3324" fmla="*/ 3048187 h 3550128"/>
                <a:gd name="connsiteX30-3325" fmla="*/ 918268 w 1432618"/>
                <a:gd name="connsiteY30-3326" fmla="*/ 3381562 h 3550128"/>
                <a:gd name="connsiteX31-3327" fmla="*/ 1016693 w 1432618"/>
                <a:gd name="connsiteY31-3328" fmla="*/ 3543487 h 3550128"/>
                <a:gd name="connsiteX0-3329" fmla="*/ 1016693 w 1432618"/>
                <a:gd name="connsiteY0-3330" fmla="*/ 3543487 h 3550128"/>
                <a:gd name="connsiteX1-3331" fmla="*/ 591243 w 1432618"/>
                <a:gd name="connsiteY1-3332" fmla="*/ 3549837 h 3550128"/>
                <a:gd name="connsiteX2-3333" fmla="*/ 394393 w 1432618"/>
                <a:gd name="connsiteY2-3334" fmla="*/ 3038662 h 3550128"/>
                <a:gd name="connsiteX3-3335" fmla="*/ 746818 w 1432618"/>
                <a:gd name="connsiteY3-3336" fmla="*/ 2343337 h 3550128"/>
                <a:gd name="connsiteX4-3337" fmla="*/ 560128 w 1432618"/>
                <a:gd name="connsiteY4-3338" fmla="*/ 1884232 h 3550128"/>
                <a:gd name="connsiteX5-3339" fmla="*/ 58 w 1432618"/>
                <a:gd name="connsiteY5-3340" fmla="*/ 1832797 h 3550128"/>
                <a:gd name="connsiteX6-3341" fmla="*/ 394393 w 1432618"/>
                <a:gd name="connsiteY6-3342" fmla="*/ 1705162 h 3550128"/>
                <a:gd name="connsiteX7-3343" fmla="*/ 642043 w 1432618"/>
                <a:gd name="connsiteY7-3344" fmla="*/ 1838512 h 3550128"/>
                <a:gd name="connsiteX8-3345" fmla="*/ 689668 w 1432618"/>
                <a:gd name="connsiteY8-3346" fmla="*/ 1609912 h 3550128"/>
                <a:gd name="connsiteX9-3347" fmla="*/ 823018 w 1432618"/>
                <a:gd name="connsiteY9-3348" fmla="*/ 1295587 h 3550128"/>
                <a:gd name="connsiteX10-3349" fmla="*/ 765868 w 1432618"/>
                <a:gd name="connsiteY10-3350" fmla="*/ 771712 h 3550128"/>
                <a:gd name="connsiteX11-3351" fmla="*/ 537268 w 1432618"/>
                <a:gd name="connsiteY11-3352" fmla="*/ 628837 h 3550128"/>
                <a:gd name="connsiteX12-3353" fmla="*/ 689668 w 1432618"/>
                <a:gd name="connsiteY12-3354" fmla="*/ 628837 h 3550128"/>
                <a:gd name="connsiteX13-3355" fmla="*/ 765868 w 1432618"/>
                <a:gd name="connsiteY13-3356" fmla="*/ 714562 h 3550128"/>
                <a:gd name="connsiteX14-3357" fmla="*/ 870643 w 1432618"/>
                <a:gd name="connsiteY14-3358" fmla="*/ 187 h 3550128"/>
                <a:gd name="connsiteX15-3359" fmla="*/ 832543 w 1432618"/>
                <a:gd name="connsiteY15-3360" fmla="*/ 647887 h 3550128"/>
                <a:gd name="connsiteX16-3361" fmla="*/ 908743 w 1432618"/>
                <a:gd name="connsiteY16-3362" fmla="*/ 1038412 h 3550128"/>
                <a:gd name="connsiteX17-3363" fmla="*/ 937318 w 1432618"/>
                <a:gd name="connsiteY17-3364" fmla="*/ 1286062 h 3550128"/>
                <a:gd name="connsiteX18-3365" fmla="*/ 1086543 w 1432618"/>
                <a:gd name="connsiteY18-3366" fmla="*/ 1149537 h 3550128"/>
                <a:gd name="connsiteX19-3367" fmla="*/ 1375468 w 1432618"/>
                <a:gd name="connsiteY19-3368" fmla="*/ 1133662 h 3550128"/>
                <a:gd name="connsiteX20-3369" fmla="*/ 1108768 w 1432618"/>
                <a:gd name="connsiteY20-3370" fmla="*/ 1216212 h 3550128"/>
                <a:gd name="connsiteX21-3371" fmla="*/ 889693 w 1432618"/>
                <a:gd name="connsiteY21-3372" fmla="*/ 1489262 h 3550128"/>
                <a:gd name="connsiteX22-3373" fmla="*/ 835718 w 1432618"/>
                <a:gd name="connsiteY22-3374" fmla="*/ 1857562 h 3550128"/>
                <a:gd name="connsiteX23-3375" fmla="*/ 1003993 w 1432618"/>
                <a:gd name="connsiteY23-3376" fmla="*/ 2270312 h 3550128"/>
                <a:gd name="connsiteX24-3377" fmla="*/ 896043 w 1432618"/>
                <a:gd name="connsiteY24-3378" fmla="*/ 2540187 h 3550128"/>
                <a:gd name="connsiteX25-3379" fmla="*/ 1213543 w 1432618"/>
                <a:gd name="connsiteY25-3380" fmla="*/ 2495737 h 3550128"/>
                <a:gd name="connsiteX26-3381" fmla="*/ 1432618 w 1432618"/>
                <a:gd name="connsiteY26-3382" fmla="*/ 2588606 h 3550128"/>
                <a:gd name="connsiteX27-3383" fmla="*/ 1188143 w 1432618"/>
                <a:gd name="connsiteY27-3384" fmla="*/ 2552887 h 3550128"/>
                <a:gd name="connsiteX28-3385" fmla="*/ 832543 w 1432618"/>
                <a:gd name="connsiteY28-3386" fmla="*/ 2695762 h 3550128"/>
                <a:gd name="connsiteX29-3387" fmla="*/ 689668 w 1432618"/>
                <a:gd name="connsiteY29-3388" fmla="*/ 3048187 h 3550128"/>
                <a:gd name="connsiteX30-3389" fmla="*/ 918268 w 1432618"/>
                <a:gd name="connsiteY30-3390" fmla="*/ 3381562 h 3550128"/>
                <a:gd name="connsiteX31-3391" fmla="*/ 1016693 w 1432618"/>
                <a:gd name="connsiteY31-3392" fmla="*/ 3543487 h 3550128"/>
                <a:gd name="connsiteX0-3393" fmla="*/ 1016693 w 1432618"/>
                <a:gd name="connsiteY0-3394" fmla="*/ 3543487 h 3550128"/>
                <a:gd name="connsiteX1-3395" fmla="*/ 591243 w 1432618"/>
                <a:gd name="connsiteY1-3396" fmla="*/ 3549837 h 3550128"/>
                <a:gd name="connsiteX2-3397" fmla="*/ 394393 w 1432618"/>
                <a:gd name="connsiteY2-3398" fmla="*/ 3038662 h 3550128"/>
                <a:gd name="connsiteX3-3399" fmla="*/ 746818 w 1432618"/>
                <a:gd name="connsiteY3-3400" fmla="*/ 2343337 h 3550128"/>
                <a:gd name="connsiteX4-3401" fmla="*/ 560128 w 1432618"/>
                <a:gd name="connsiteY4-3402" fmla="*/ 1884232 h 3550128"/>
                <a:gd name="connsiteX5-3403" fmla="*/ 58 w 1432618"/>
                <a:gd name="connsiteY5-3404" fmla="*/ 1832797 h 3550128"/>
                <a:gd name="connsiteX6-3405" fmla="*/ 394393 w 1432618"/>
                <a:gd name="connsiteY6-3406" fmla="*/ 1705162 h 3550128"/>
                <a:gd name="connsiteX7-3407" fmla="*/ 642043 w 1432618"/>
                <a:gd name="connsiteY7-3408" fmla="*/ 1838512 h 3550128"/>
                <a:gd name="connsiteX8-3409" fmla="*/ 689668 w 1432618"/>
                <a:gd name="connsiteY8-3410" fmla="*/ 1609912 h 3550128"/>
                <a:gd name="connsiteX9-3411" fmla="*/ 823018 w 1432618"/>
                <a:gd name="connsiteY9-3412" fmla="*/ 1295587 h 3550128"/>
                <a:gd name="connsiteX10-3413" fmla="*/ 765868 w 1432618"/>
                <a:gd name="connsiteY10-3414" fmla="*/ 771712 h 3550128"/>
                <a:gd name="connsiteX11-3415" fmla="*/ 537268 w 1432618"/>
                <a:gd name="connsiteY11-3416" fmla="*/ 628837 h 3550128"/>
                <a:gd name="connsiteX12-3417" fmla="*/ 689668 w 1432618"/>
                <a:gd name="connsiteY12-3418" fmla="*/ 628837 h 3550128"/>
                <a:gd name="connsiteX13-3419" fmla="*/ 765868 w 1432618"/>
                <a:gd name="connsiteY13-3420" fmla="*/ 714562 h 3550128"/>
                <a:gd name="connsiteX14-3421" fmla="*/ 870643 w 1432618"/>
                <a:gd name="connsiteY14-3422" fmla="*/ 187 h 3550128"/>
                <a:gd name="connsiteX15-3423" fmla="*/ 832543 w 1432618"/>
                <a:gd name="connsiteY15-3424" fmla="*/ 647887 h 3550128"/>
                <a:gd name="connsiteX16-3425" fmla="*/ 908743 w 1432618"/>
                <a:gd name="connsiteY16-3426" fmla="*/ 1038412 h 3550128"/>
                <a:gd name="connsiteX17-3427" fmla="*/ 937318 w 1432618"/>
                <a:gd name="connsiteY17-3428" fmla="*/ 1247962 h 3550128"/>
                <a:gd name="connsiteX18-3429" fmla="*/ 1086543 w 1432618"/>
                <a:gd name="connsiteY18-3430" fmla="*/ 1149537 h 3550128"/>
                <a:gd name="connsiteX19-3431" fmla="*/ 1375468 w 1432618"/>
                <a:gd name="connsiteY19-3432" fmla="*/ 1133662 h 3550128"/>
                <a:gd name="connsiteX20-3433" fmla="*/ 1108768 w 1432618"/>
                <a:gd name="connsiteY20-3434" fmla="*/ 1216212 h 3550128"/>
                <a:gd name="connsiteX21-3435" fmla="*/ 889693 w 1432618"/>
                <a:gd name="connsiteY21-3436" fmla="*/ 1489262 h 3550128"/>
                <a:gd name="connsiteX22-3437" fmla="*/ 835718 w 1432618"/>
                <a:gd name="connsiteY22-3438" fmla="*/ 1857562 h 3550128"/>
                <a:gd name="connsiteX23-3439" fmla="*/ 1003993 w 1432618"/>
                <a:gd name="connsiteY23-3440" fmla="*/ 2270312 h 3550128"/>
                <a:gd name="connsiteX24-3441" fmla="*/ 896043 w 1432618"/>
                <a:gd name="connsiteY24-3442" fmla="*/ 2540187 h 3550128"/>
                <a:gd name="connsiteX25-3443" fmla="*/ 1213543 w 1432618"/>
                <a:gd name="connsiteY25-3444" fmla="*/ 2495737 h 3550128"/>
                <a:gd name="connsiteX26-3445" fmla="*/ 1432618 w 1432618"/>
                <a:gd name="connsiteY26-3446" fmla="*/ 2588606 h 3550128"/>
                <a:gd name="connsiteX27-3447" fmla="*/ 1188143 w 1432618"/>
                <a:gd name="connsiteY27-3448" fmla="*/ 2552887 h 3550128"/>
                <a:gd name="connsiteX28-3449" fmla="*/ 832543 w 1432618"/>
                <a:gd name="connsiteY28-3450" fmla="*/ 2695762 h 3550128"/>
                <a:gd name="connsiteX29-3451" fmla="*/ 689668 w 1432618"/>
                <a:gd name="connsiteY29-3452" fmla="*/ 3048187 h 3550128"/>
                <a:gd name="connsiteX30-3453" fmla="*/ 918268 w 1432618"/>
                <a:gd name="connsiteY30-3454" fmla="*/ 3381562 h 3550128"/>
                <a:gd name="connsiteX31-3455" fmla="*/ 1016693 w 1432618"/>
                <a:gd name="connsiteY31-3456" fmla="*/ 3543487 h 3550128"/>
                <a:gd name="connsiteX0-3457" fmla="*/ 1016693 w 1432618"/>
                <a:gd name="connsiteY0-3458" fmla="*/ 3543487 h 3550128"/>
                <a:gd name="connsiteX1-3459" fmla="*/ 591243 w 1432618"/>
                <a:gd name="connsiteY1-3460" fmla="*/ 3549837 h 3550128"/>
                <a:gd name="connsiteX2-3461" fmla="*/ 394393 w 1432618"/>
                <a:gd name="connsiteY2-3462" fmla="*/ 3038662 h 3550128"/>
                <a:gd name="connsiteX3-3463" fmla="*/ 746818 w 1432618"/>
                <a:gd name="connsiteY3-3464" fmla="*/ 2343337 h 3550128"/>
                <a:gd name="connsiteX4-3465" fmla="*/ 560128 w 1432618"/>
                <a:gd name="connsiteY4-3466" fmla="*/ 1884232 h 3550128"/>
                <a:gd name="connsiteX5-3467" fmla="*/ 58 w 1432618"/>
                <a:gd name="connsiteY5-3468" fmla="*/ 1832797 h 3550128"/>
                <a:gd name="connsiteX6-3469" fmla="*/ 394393 w 1432618"/>
                <a:gd name="connsiteY6-3470" fmla="*/ 1705162 h 3550128"/>
                <a:gd name="connsiteX7-3471" fmla="*/ 642043 w 1432618"/>
                <a:gd name="connsiteY7-3472" fmla="*/ 1838512 h 3550128"/>
                <a:gd name="connsiteX8-3473" fmla="*/ 689668 w 1432618"/>
                <a:gd name="connsiteY8-3474" fmla="*/ 1609912 h 3550128"/>
                <a:gd name="connsiteX9-3475" fmla="*/ 823018 w 1432618"/>
                <a:gd name="connsiteY9-3476" fmla="*/ 1295587 h 3550128"/>
                <a:gd name="connsiteX10-3477" fmla="*/ 765868 w 1432618"/>
                <a:gd name="connsiteY10-3478" fmla="*/ 771712 h 3550128"/>
                <a:gd name="connsiteX11-3479" fmla="*/ 537268 w 1432618"/>
                <a:gd name="connsiteY11-3480" fmla="*/ 628837 h 3550128"/>
                <a:gd name="connsiteX12-3481" fmla="*/ 689668 w 1432618"/>
                <a:gd name="connsiteY12-3482" fmla="*/ 628837 h 3550128"/>
                <a:gd name="connsiteX13-3483" fmla="*/ 765868 w 1432618"/>
                <a:gd name="connsiteY13-3484" fmla="*/ 714562 h 3550128"/>
                <a:gd name="connsiteX14-3485" fmla="*/ 870643 w 1432618"/>
                <a:gd name="connsiteY14-3486" fmla="*/ 187 h 3550128"/>
                <a:gd name="connsiteX15-3487" fmla="*/ 832543 w 1432618"/>
                <a:gd name="connsiteY15-3488" fmla="*/ 647887 h 3550128"/>
                <a:gd name="connsiteX16-3489" fmla="*/ 908743 w 1432618"/>
                <a:gd name="connsiteY16-3490" fmla="*/ 1038412 h 3550128"/>
                <a:gd name="connsiteX17-3491" fmla="*/ 930968 w 1432618"/>
                <a:gd name="connsiteY17-3492" fmla="*/ 1257487 h 3550128"/>
                <a:gd name="connsiteX18-3493" fmla="*/ 1086543 w 1432618"/>
                <a:gd name="connsiteY18-3494" fmla="*/ 1149537 h 3550128"/>
                <a:gd name="connsiteX19-3495" fmla="*/ 1375468 w 1432618"/>
                <a:gd name="connsiteY19-3496" fmla="*/ 1133662 h 3550128"/>
                <a:gd name="connsiteX20-3497" fmla="*/ 1108768 w 1432618"/>
                <a:gd name="connsiteY20-3498" fmla="*/ 1216212 h 3550128"/>
                <a:gd name="connsiteX21-3499" fmla="*/ 889693 w 1432618"/>
                <a:gd name="connsiteY21-3500" fmla="*/ 1489262 h 3550128"/>
                <a:gd name="connsiteX22-3501" fmla="*/ 835718 w 1432618"/>
                <a:gd name="connsiteY22-3502" fmla="*/ 1857562 h 3550128"/>
                <a:gd name="connsiteX23-3503" fmla="*/ 1003993 w 1432618"/>
                <a:gd name="connsiteY23-3504" fmla="*/ 2270312 h 3550128"/>
                <a:gd name="connsiteX24-3505" fmla="*/ 896043 w 1432618"/>
                <a:gd name="connsiteY24-3506" fmla="*/ 2540187 h 3550128"/>
                <a:gd name="connsiteX25-3507" fmla="*/ 1213543 w 1432618"/>
                <a:gd name="connsiteY25-3508" fmla="*/ 2495737 h 3550128"/>
                <a:gd name="connsiteX26-3509" fmla="*/ 1432618 w 1432618"/>
                <a:gd name="connsiteY26-3510" fmla="*/ 2588606 h 3550128"/>
                <a:gd name="connsiteX27-3511" fmla="*/ 1188143 w 1432618"/>
                <a:gd name="connsiteY27-3512" fmla="*/ 2552887 h 3550128"/>
                <a:gd name="connsiteX28-3513" fmla="*/ 832543 w 1432618"/>
                <a:gd name="connsiteY28-3514" fmla="*/ 2695762 h 3550128"/>
                <a:gd name="connsiteX29-3515" fmla="*/ 689668 w 1432618"/>
                <a:gd name="connsiteY29-3516" fmla="*/ 3048187 h 3550128"/>
                <a:gd name="connsiteX30-3517" fmla="*/ 918268 w 1432618"/>
                <a:gd name="connsiteY30-3518" fmla="*/ 3381562 h 3550128"/>
                <a:gd name="connsiteX31-3519" fmla="*/ 1016693 w 1432618"/>
                <a:gd name="connsiteY31-3520" fmla="*/ 3543487 h 3550128"/>
                <a:gd name="connsiteX0-3521" fmla="*/ 1016693 w 1432618"/>
                <a:gd name="connsiteY0-3522" fmla="*/ 3543487 h 3550128"/>
                <a:gd name="connsiteX1-3523" fmla="*/ 591243 w 1432618"/>
                <a:gd name="connsiteY1-3524" fmla="*/ 3549837 h 3550128"/>
                <a:gd name="connsiteX2-3525" fmla="*/ 394393 w 1432618"/>
                <a:gd name="connsiteY2-3526" fmla="*/ 3038662 h 3550128"/>
                <a:gd name="connsiteX3-3527" fmla="*/ 746818 w 1432618"/>
                <a:gd name="connsiteY3-3528" fmla="*/ 2343337 h 3550128"/>
                <a:gd name="connsiteX4-3529" fmla="*/ 560128 w 1432618"/>
                <a:gd name="connsiteY4-3530" fmla="*/ 1884232 h 3550128"/>
                <a:gd name="connsiteX5-3531" fmla="*/ 58 w 1432618"/>
                <a:gd name="connsiteY5-3532" fmla="*/ 1832797 h 3550128"/>
                <a:gd name="connsiteX6-3533" fmla="*/ 394393 w 1432618"/>
                <a:gd name="connsiteY6-3534" fmla="*/ 1705162 h 3550128"/>
                <a:gd name="connsiteX7-3535" fmla="*/ 642043 w 1432618"/>
                <a:gd name="connsiteY7-3536" fmla="*/ 1838512 h 3550128"/>
                <a:gd name="connsiteX8-3537" fmla="*/ 689668 w 1432618"/>
                <a:gd name="connsiteY8-3538" fmla="*/ 1609912 h 3550128"/>
                <a:gd name="connsiteX9-3539" fmla="*/ 823018 w 1432618"/>
                <a:gd name="connsiteY9-3540" fmla="*/ 1295587 h 3550128"/>
                <a:gd name="connsiteX10-3541" fmla="*/ 765868 w 1432618"/>
                <a:gd name="connsiteY10-3542" fmla="*/ 771712 h 3550128"/>
                <a:gd name="connsiteX11-3543" fmla="*/ 537268 w 1432618"/>
                <a:gd name="connsiteY11-3544" fmla="*/ 628837 h 3550128"/>
                <a:gd name="connsiteX12-3545" fmla="*/ 689668 w 1432618"/>
                <a:gd name="connsiteY12-3546" fmla="*/ 628837 h 3550128"/>
                <a:gd name="connsiteX13-3547" fmla="*/ 765868 w 1432618"/>
                <a:gd name="connsiteY13-3548" fmla="*/ 714562 h 3550128"/>
                <a:gd name="connsiteX14-3549" fmla="*/ 870643 w 1432618"/>
                <a:gd name="connsiteY14-3550" fmla="*/ 187 h 3550128"/>
                <a:gd name="connsiteX15-3551" fmla="*/ 832543 w 1432618"/>
                <a:gd name="connsiteY15-3552" fmla="*/ 647887 h 3550128"/>
                <a:gd name="connsiteX16-3553" fmla="*/ 908743 w 1432618"/>
                <a:gd name="connsiteY16-3554" fmla="*/ 1038412 h 3550128"/>
                <a:gd name="connsiteX17-3555" fmla="*/ 930968 w 1432618"/>
                <a:gd name="connsiteY17-3556" fmla="*/ 1257487 h 3550128"/>
                <a:gd name="connsiteX18-3557" fmla="*/ 1086543 w 1432618"/>
                <a:gd name="connsiteY18-3558" fmla="*/ 1149537 h 3550128"/>
                <a:gd name="connsiteX19-3559" fmla="*/ 1375468 w 1432618"/>
                <a:gd name="connsiteY19-3560" fmla="*/ 1133662 h 3550128"/>
                <a:gd name="connsiteX20-3561" fmla="*/ 1108768 w 1432618"/>
                <a:gd name="connsiteY20-3562" fmla="*/ 1216212 h 3550128"/>
                <a:gd name="connsiteX21-3563" fmla="*/ 889693 w 1432618"/>
                <a:gd name="connsiteY21-3564" fmla="*/ 1489262 h 3550128"/>
                <a:gd name="connsiteX22-3565" fmla="*/ 835718 w 1432618"/>
                <a:gd name="connsiteY22-3566" fmla="*/ 1857562 h 3550128"/>
                <a:gd name="connsiteX23-3567" fmla="*/ 1003993 w 1432618"/>
                <a:gd name="connsiteY23-3568" fmla="*/ 2270312 h 3550128"/>
                <a:gd name="connsiteX24-3569" fmla="*/ 896043 w 1432618"/>
                <a:gd name="connsiteY24-3570" fmla="*/ 2540187 h 3550128"/>
                <a:gd name="connsiteX25-3571" fmla="*/ 1213543 w 1432618"/>
                <a:gd name="connsiteY25-3572" fmla="*/ 2495737 h 3550128"/>
                <a:gd name="connsiteX26-3573" fmla="*/ 1432618 w 1432618"/>
                <a:gd name="connsiteY26-3574" fmla="*/ 2588606 h 3550128"/>
                <a:gd name="connsiteX27-3575" fmla="*/ 1188143 w 1432618"/>
                <a:gd name="connsiteY27-3576" fmla="*/ 2552887 h 3550128"/>
                <a:gd name="connsiteX28-3577" fmla="*/ 832543 w 1432618"/>
                <a:gd name="connsiteY28-3578" fmla="*/ 2695762 h 3550128"/>
                <a:gd name="connsiteX29-3579" fmla="*/ 689668 w 1432618"/>
                <a:gd name="connsiteY29-3580" fmla="*/ 3048187 h 3550128"/>
                <a:gd name="connsiteX30-3581" fmla="*/ 918268 w 1432618"/>
                <a:gd name="connsiteY30-3582" fmla="*/ 3381562 h 3550128"/>
                <a:gd name="connsiteX31-3583" fmla="*/ 1016693 w 1432618"/>
                <a:gd name="connsiteY31-3584" fmla="*/ 3543487 h 3550128"/>
                <a:gd name="connsiteX0-3585" fmla="*/ 1016693 w 1432618"/>
                <a:gd name="connsiteY0-3586" fmla="*/ 3543487 h 3550128"/>
                <a:gd name="connsiteX1-3587" fmla="*/ 591243 w 1432618"/>
                <a:gd name="connsiteY1-3588" fmla="*/ 3549837 h 3550128"/>
                <a:gd name="connsiteX2-3589" fmla="*/ 394393 w 1432618"/>
                <a:gd name="connsiteY2-3590" fmla="*/ 3038662 h 3550128"/>
                <a:gd name="connsiteX3-3591" fmla="*/ 746818 w 1432618"/>
                <a:gd name="connsiteY3-3592" fmla="*/ 2343337 h 3550128"/>
                <a:gd name="connsiteX4-3593" fmla="*/ 560128 w 1432618"/>
                <a:gd name="connsiteY4-3594" fmla="*/ 1884232 h 3550128"/>
                <a:gd name="connsiteX5-3595" fmla="*/ 58 w 1432618"/>
                <a:gd name="connsiteY5-3596" fmla="*/ 1832797 h 3550128"/>
                <a:gd name="connsiteX6-3597" fmla="*/ 394393 w 1432618"/>
                <a:gd name="connsiteY6-3598" fmla="*/ 1705162 h 3550128"/>
                <a:gd name="connsiteX7-3599" fmla="*/ 642043 w 1432618"/>
                <a:gd name="connsiteY7-3600" fmla="*/ 1838512 h 3550128"/>
                <a:gd name="connsiteX8-3601" fmla="*/ 689668 w 1432618"/>
                <a:gd name="connsiteY8-3602" fmla="*/ 1609912 h 3550128"/>
                <a:gd name="connsiteX9-3603" fmla="*/ 823018 w 1432618"/>
                <a:gd name="connsiteY9-3604" fmla="*/ 1295587 h 3550128"/>
                <a:gd name="connsiteX10-3605" fmla="*/ 765868 w 1432618"/>
                <a:gd name="connsiteY10-3606" fmla="*/ 771712 h 3550128"/>
                <a:gd name="connsiteX11-3607" fmla="*/ 537268 w 1432618"/>
                <a:gd name="connsiteY11-3608" fmla="*/ 628837 h 3550128"/>
                <a:gd name="connsiteX12-3609" fmla="*/ 689668 w 1432618"/>
                <a:gd name="connsiteY12-3610" fmla="*/ 628837 h 3550128"/>
                <a:gd name="connsiteX13-3611" fmla="*/ 765868 w 1432618"/>
                <a:gd name="connsiteY13-3612" fmla="*/ 714562 h 3550128"/>
                <a:gd name="connsiteX14-3613" fmla="*/ 870643 w 1432618"/>
                <a:gd name="connsiteY14-3614" fmla="*/ 187 h 3550128"/>
                <a:gd name="connsiteX15-3615" fmla="*/ 832543 w 1432618"/>
                <a:gd name="connsiteY15-3616" fmla="*/ 647887 h 3550128"/>
                <a:gd name="connsiteX16-3617" fmla="*/ 908743 w 1432618"/>
                <a:gd name="connsiteY16-3618" fmla="*/ 1038412 h 3550128"/>
                <a:gd name="connsiteX17-3619" fmla="*/ 930968 w 1432618"/>
                <a:gd name="connsiteY17-3620" fmla="*/ 1257487 h 3550128"/>
                <a:gd name="connsiteX18-3621" fmla="*/ 1086543 w 1432618"/>
                <a:gd name="connsiteY18-3622" fmla="*/ 1149537 h 3550128"/>
                <a:gd name="connsiteX19-3623" fmla="*/ 1375468 w 1432618"/>
                <a:gd name="connsiteY19-3624" fmla="*/ 1133662 h 3550128"/>
                <a:gd name="connsiteX20-3625" fmla="*/ 1108768 w 1432618"/>
                <a:gd name="connsiteY20-3626" fmla="*/ 1216212 h 3550128"/>
                <a:gd name="connsiteX21-3627" fmla="*/ 889693 w 1432618"/>
                <a:gd name="connsiteY21-3628" fmla="*/ 1489262 h 3550128"/>
                <a:gd name="connsiteX22-3629" fmla="*/ 835718 w 1432618"/>
                <a:gd name="connsiteY22-3630" fmla="*/ 1857562 h 3550128"/>
                <a:gd name="connsiteX23-3631" fmla="*/ 1003993 w 1432618"/>
                <a:gd name="connsiteY23-3632" fmla="*/ 2270312 h 3550128"/>
                <a:gd name="connsiteX24-3633" fmla="*/ 896043 w 1432618"/>
                <a:gd name="connsiteY24-3634" fmla="*/ 2540187 h 3550128"/>
                <a:gd name="connsiteX25-3635" fmla="*/ 1213543 w 1432618"/>
                <a:gd name="connsiteY25-3636" fmla="*/ 2495737 h 3550128"/>
                <a:gd name="connsiteX26-3637" fmla="*/ 1432618 w 1432618"/>
                <a:gd name="connsiteY26-3638" fmla="*/ 2588606 h 3550128"/>
                <a:gd name="connsiteX27-3639" fmla="*/ 1188143 w 1432618"/>
                <a:gd name="connsiteY27-3640" fmla="*/ 2552887 h 3550128"/>
                <a:gd name="connsiteX28-3641" fmla="*/ 832543 w 1432618"/>
                <a:gd name="connsiteY28-3642" fmla="*/ 2695762 h 3550128"/>
                <a:gd name="connsiteX29-3643" fmla="*/ 689668 w 1432618"/>
                <a:gd name="connsiteY29-3644" fmla="*/ 3048187 h 3550128"/>
                <a:gd name="connsiteX30-3645" fmla="*/ 918268 w 1432618"/>
                <a:gd name="connsiteY30-3646" fmla="*/ 3381562 h 3550128"/>
                <a:gd name="connsiteX31-3647" fmla="*/ 1016693 w 1432618"/>
                <a:gd name="connsiteY31-3648" fmla="*/ 3543487 h 3550128"/>
                <a:gd name="connsiteX0-3649" fmla="*/ 1016693 w 1432618"/>
                <a:gd name="connsiteY0-3650" fmla="*/ 3543486 h 3550127"/>
                <a:gd name="connsiteX1-3651" fmla="*/ 591243 w 1432618"/>
                <a:gd name="connsiteY1-3652" fmla="*/ 3549836 h 3550127"/>
                <a:gd name="connsiteX2-3653" fmla="*/ 394393 w 1432618"/>
                <a:gd name="connsiteY2-3654" fmla="*/ 3038661 h 3550127"/>
                <a:gd name="connsiteX3-3655" fmla="*/ 746818 w 1432618"/>
                <a:gd name="connsiteY3-3656" fmla="*/ 2343336 h 3550127"/>
                <a:gd name="connsiteX4-3657" fmla="*/ 560128 w 1432618"/>
                <a:gd name="connsiteY4-3658" fmla="*/ 1884231 h 3550127"/>
                <a:gd name="connsiteX5-3659" fmla="*/ 58 w 1432618"/>
                <a:gd name="connsiteY5-3660" fmla="*/ 1832796 h 3550127"/>
                <a:gd name="connsiteX6-3661" fmla="*/ 394393 w 1432618"/>
                <a:gd name="connsiteY6-3662" fmla="*/ 1705161 h 3550127"/>
                <a:gd name="connsiteX7-3663" fmla="*/ 642043 w 1432618"/>
                <a:gd name="connsiteY7-3664" fmla="*/ 1838511 h 3550127"/>
                <a:gd name="connsiteX8-3665" fmla="*/ 689668 w 1432618"/>
                <a:gd name="connsiteY8-3666" fmla="*/ 1609911 h 3550127"/>
                <a:gd name="connsiteX9-3667" fmla="*/ 823018 w 1432618"/>
                <a:gd name="connsiteY9-3668" fmla="*/ 1295586 h 3550127"/>
                <a:gd name="connsiteX10-3669" fmla="*/ 765868 w 1432618"/>
                <a:gd name="connsiteY10-3670" fmla="*/ 771711 h 3550127"/>
                <a:gd name="connsiteX11-3671" fmla="*/ 537268 w 1432618"/>
                <a:gd name="connsiteY11-3672" fmla="*/ 628836 h 3550127"/>
                <a:gd name="connsiteX12-3673" fmla="*/ 689668 w 1432618"/>
                <a:gd name="connsiteY12-3674" fmla="*/ 628836 h 3550127"/>
                <a:gd name="connsiteX13-3675" fmla="*/ 765868 w 1432618"/>
                <a:gd name="connsiteY13-3676" fmla="*/ 714561 h 3550127"/>
                <a:gd name="connsiteX14-3677" fmla="*/ 870643 w 1432618"/>
                <a:gd name="connsiteY14-3678" fmla="*/ 186 h 3550127"/>
                <a:gd name="connsiteX15-3679" fmla="*/ 832543 w 1432618"/>
                <a:gd name="connsiteY15-3680" fmla="*/ 647886 h 3550127"/>
                <a:gd name="connsiteX16-3681" fmla="*/ 921443 w 1432618"/>
                <a:gd name="connsiteY16-3682" fmla="*/ 1009836 h 3550127"/>
                <a:gd name="connsiteX17-3683" fmla="*/ 930968 w 1432618"/>
                <a:gd name="connsiteY17-3684" fmla="*/ 1257486 h 3550127"/>
                <a:gd name="connsiteX18-3685" fmla="*/ 1086543 w 1432618"/>
                <a:gd name="connsiteY18-3686" fmla="*/ 1149536 h 3550127"/>
                <a:gd name="connsiteX19-3687" fmla="*/ 1375468 w 1432618"/>
                <a:gd name="connsiteY19-3688" fmla="*/ 1133661 h 3550127"/>
                <a:gd name="connsiteX20-3689" fmla="*/ 1108768 w 1432618"/>
                <a:gd name="connsiteY20-3690" fmla="*/ 1216211 h 3550127"/>
                <a:gd name="connsiteX21-3691" fmla="*/ 889693 w 1432618"/>
                <a:gd name="connsiteY21-3692" fmla="*/ 1489261 h 3550127"/>
                <a:gd name="connsiteX22-3693" fmla="*/ 835718 w 1432618"/>
                <a:gd name="connsiteY22-3694" fmla="*/ 1857561 h 3550127"/>
                <a:gd name="connsiteX23-3695" fmla="*/ 1003993 w 1432618"/>
                <a:gd name="connsiteY23-3696" fmla="*/ 2270311 h 3550127"/>
                <a:gd name="connsiteX24-3697" fmla="*/ 896043 w 1432618"/>
                <a:gd name="connsiteY24-3698" fmla="*/ 2540186 h 3550127"/>
                <a:gd name="connsiteX25-3699" fmla="*/ 1213543 w 1432618"/>
                <a:gd name="connsiteY25-3700" fmla="*/ 2495736 h 3550127"/>
                <a:gd name="connsiteX26-3701" fmla="*/ 1432618 w 1432618"/>
                <a:gd name="connsiteY26-3702" fmla="*/ 2588605 h 3550127"/>
                <a:gd name="connsiteX27-3703" fmla="*/ 1188143 w 1432618"/>
                <a:gd name="connsiteY27-3704" fmla="*/ 2552886 h 3550127"/>
                <a:gd name="connsiteX28-3705" fmla="*/ 832543 w 1432618"/>
                <a:gd name="connsiteY28-3706" fmla="*/ 2695761 h 3550127"/>
                <a:gd name="connsiteX29-3707" fmla="*/ 689668 w 1432618"/>
                <a:gd name="connsiteY29-3708" fmla="*/ 3048186 h 3550127"/>
                <a:gd name="connsiteX30-3709" fmla="*/ 918268 w 1432618"/>
                <a:gd name="connsiteY30-3710" fmla="*/ 3381561 h 3550127"/>
                <a:gd name="connsiteX31-3711" fmla="*/ 1016693 w 1432618"/>
                <a:gd name="connsiteY31-3712" fmla="*/ 3543486 h 3550127"/>
                <a:gd name="connsiteX0-3713" fmla="*/ 1016693 w 1432618"/>
                <a:gd name="connsiteY0-3714" fmla="*/ 3543524 h 3550165"/>
                <a:gd name="connsiteX1-3715" fmla="*/ 591243 w 1432618"/>
                <a:gd name="connsiteY1-3716" fmla="*/ 3549874 h 3550165"/>
                <a:gd name="connsiteX2-3717" fmla="*/ 394393 w 1432618"/>
                <a:gd name="connsiteY2-3718" fmla="*/ 3038699 h 3550165"/>
                <a:gd name="connsiteX3-3719" fmla="*/ 746818 w 1432618"/>
                <a:gd name="connsiteY3-3720" fmla="*/ 2343374 h 3550165"/>
                <a:gd name="connsiteX4-3721" fmla="*/ 560128 w 1432618"/>
                <a:gd name="connsiteY4-3722" fmla="*/ 1884269 h 3550165"/>
                <a:gd name="connsiteX5-3723" fmla="*/ 58 w 1432618"/>
                <a:gd name="connsiteY5-3724" fmla="*/ 1832834 h 3550165"/>
                <a:gd name="connsiteX6-3725" fmla="*/ 394393 w 1432618"/>
                <a:gd name="connsiteY6-3726" fmla="*/ 1705199 h 3550165"/>
                <a:gd name="connsiteX7-3727" fmla="*/ 642043 w 1432618"/>
                <a:gd name="connsiteY7-3728" fmla="*/ 1838549 h 3550165"/>
                <a:gd name="connsiteX8-3729" fmla="*/ 689668 w 1432618"/>
                <a:gd name="connsiteY8-3730" fmla="*/ 1609949 h 3550165"/>
                <a:gd name="connsiteX9-3731" fmla="*/ 823018 w 1432618"/>
                <a:gd name="connsiteY9-3732" fmla="*/ 1295624 h 3550165"/>
                <a:gd name="connsiteX10-3733" fmla="*/ 765868 w 1432618"/>
                <a:gd name="connsiteY10-3734" fmla="*/ 771749 h 3550165"/>
                <a:gd name="connsiteX11-3735" fmla="*/ 537268 w 1432618"/>
                <a:gd name="connsiteY11-3736" fmla="*/ 628874 h 3550165"/>
                <a:gd name="connsiteX12-3737" fmla="*/ 689668 w 1432618"/>
                <a:gd name="connsiteY12-3738" fmla="*/ 628874 h 3550165"/>
                <a:gd name="connsiteX13-3739" fmla="*/ 765868 w 1432618"/>
                <a:gd name="connsiteY13-3740" fmla="*/ 714599 h 3550165"/>
                <a:gd name="connsiteX14-3741" fmla="*/ 870643 w 1432618"/>
                <a:gd name="connsiteY14-3742" fmla="*/ 224 h 3550165"/>
                <a:gd name="connsiteX15-3743" fmla="*/ 857943 w 1432618"/>
                <a:gd name="connsiteY15-3744" fmla="*/ 641574 h 3550165"/>
                <a:gd name="connsiteX16-3745" fmla="*/ 921443 w 1432618"/>
                <a:gd name="connsiteY16-3746" fmla="*/ 1009874 h 3550165"/>
                <a:gd name="connsiteX17-3747" fmla="*/ 930968 w 1432618"/>
                <a:gd name="connsiteY17-3748" fmla="*/ 1257524 h 3550165"/>
                <a:gd name="connsiteX18-3749" fmla="*/ 1086543 w 1432618"/>
                <a:gd name="connsiteY18-3750" fmla="*/ 1149574 h 3550165"/>
                <a:gd name="connsiteX19-3751" fmla="*/ 1375468 w 1432618"/>
                <a:gd name="connsiteY19-3752" fmla="*/ 1133699 h 3550165"/>
                <a:gd name="connsiteX20-3753" fmla="*/ 1108768 w 1432618"/>
                <a:gd name="connsiteY20-3754" fmla="*/ 1216249 h 3550165"/>
                <a:gd name="connsiteX21-3755" fmla="*/ 889693 w 1432618"/>
                <a:gd name="connsiteY21-3756" fmla="*/ 1489299 h 3550165"/>
                <a:gd name="connsiteX22-3757" fmla="*/ 835718 w 1432618"/>
                <a:gd name="connsiteY22-3758" fmla="*/ 1857599 h 3550165"/>
                <a:gd name="connsiteX23-3759" fmla="*/ 1003993 w 1432618"/>
                <a:gd name="connsiteY23-3760" fmla="*/ 2270349 h 3550165"/>
                <a:gd name="connsiteX24-3761" fmla="*/ 896043 w 1432618"/>
                <a:gd name="connsiteY24-3762" fmla="*/ 2540224 h 3550165"/>
                <a:gd name="connsiteX25-3763" fmla="*/ 1213543 w 1432618"/>
                <a:gd name="connsiteY25-3764" fmla="*/ 2495774 h 3550165"/>
                <a:gd name="connsiteX26-3765" fmla="*/ 1432618 w 1432618"/>
                <a:gd name="connsiteY26-3766" fmla="*/ 2588643 h 3550165"/>
                <a:gd name="connsiteX27-3767" fmla="*/ 1188143 w 1432618"/>
                <a:gd name="connsiteY27-3768" fmla="*/ 2552924 h 3550165"/>
                <a:gd name="connsiteX28-3769" fmla="*/ 832543 w 1432618"/>
                <a:gd name="connsiteY28-3770" fmla="*/ 2695799 h 3550165"/>
                <a:gd name="connsiteX29-3771" fmla="*/ 689668 w 1432618"/>
                <a:gd name="connsiteY29-3772" fmla="*/ 3048224 h 3550165"/>
                <a:gd name="connsiteX30-3773" fmla="*/ 918268 w 1432618"/>
                <a:gd name="connsiteY30-3774" fmla="*/ 3381599 h 3550165"/>
                <a:gd name="connsiteX31-3775" fmla="*/ 1016693 w 1432618"/>
                <a:gd name="connsiteY31-3776" fmla="*/ 3543524 h 3550165"/>
                <a:gd name="connsiteX0-3777" fmla="*/ 1016693 w 1432618"/>
                <a:gd name="connsiteY0-3778" fmla="*/ 3543529 h 3550170"/>
                <a:gd name="connsiteX1-3779" fmla="*/ 591243 w 1432618"/>
                <a:gd name="connsiteY1-3780" fmla="*/ 3549879 h 3550170"/>
                <a:gd name="connsiteX2-3781" fmla="*/ 394393 w 1432618"/>
                <a:gd name="connsiteY2-3782" fmla="*/ 3038704 h 3550170"/>
                <a:gd name="connsiteX3-3783" fmla="*/ 746818 w 1432618"/>
                <a:gd name="connsiteY3-3784" fmla="*/ 2343379 h 3550170"/>
                <a:gd name="connsiteX4-3785" fmla="*/ 560128 w 1432618"/>
                <a:gd name="connsiteY4-3786" fmla="*/ 1884274 h 3550170"/>
                <a:gd name="connsiteX5-3787" fmla="*/ 58 w 1432618"/>
                <a:gd name="connsiteY5-3788" fmla="*/ 1832839 h 3550170"/>
                <a:gd name="connsiteX6-3789" fmla="*/ 394393 w 1432618"/>
                <a:gd name="connsiteY6-3790" fmla="*/ 1705204 h 3550170"/>
                <a:gd name="connsiteX7-3791" fmla="*/ 642043 w 1432618"/>
                <a:gd name="connsiteY7-3792" fmla="*/ 1838554 h 3550170"/>
                <a:gd name="connsiteX8-3793" fmla="*/ 689668 w 1432618"/>
                <a:gd name="connsiteY8-3794" fmla="*/ 1609954 h 3550170"/>
                <a:gd name="connsiteX9-3795" fmla="*/ 823018 w 1432618"/>
                <a:gd name="connsiteY9-3796" fmla="*/ 1295629 h 3550170"/>
                <a:gd name="connsiteX10-3797" fmla="*/ 765868 w 1432618"/>
                <a:gd name="connsiteY10-3798" fmla="*/ 771754 h 3550170"/>
                <a:gd name="connsiteX11-3799" fmla="*/ 537268 w 1432618"/>
                <a:gd name="connsiteY11-3800" fmla="*/ 628879 h 3550170"/>
                <a:gd name="connsiteX12-3801" fmla="*/ 689668 w 1432618"/>
                <a:gd name="connsiteY12-3802" fmla="*/ 628879 h 3550170"/>
                <a:gd name="connsiteX13-3803" fmla="*/ 765868 w 1432618"/>
                <a:gd name="connsiteY13-3804" fmla="*/ 714604 h 3550170"/>
                <a:gd name="connsiteX14-3805" fmla="*/ 870643 w 1432618"/>
                <a:gd name="connsiteY14-3806" fmla="*/ 229 h 3550170"/>
                <a:gd name="connsiteX15-3807" fmla="*/ 857943 w 1432618"/>
                <a:gd name="connsiteY15-3808" fmla="*/ 641579 h 3550170"/>
                <a:gd name="connsiteX16-3809" fmla="*/ 921443 w 1432618"/>
                <a:gd name="connsiteY16-3810" fmla="*/ 1009879 h 3550170"/>
                <a:gd name="connsiteX17-3811" fmla="*/ 930968 w 1432618"/>
                <a:gd name="connsiteY17-3812" fmla="*/ 1257529 h 3550170"/>
                <a:gd name="connsiteX18-3813" fmla="*/ 1086543 w 1432618"/>
                <a:gd name="connsiteY18-3814" fmla="*/ 1149579 h 3550170"/>
                <a:gd name="connsiteX19-3815" fmla="*/ 1375468 w 1432618"/>
                <a:gd name="connsiteY19-3816" fmla="*/ 1133704 h 3550170"/>
                <a:gd name="connsiteX20-3817" fmla="*/ 1108768 w 1432618"/>
                <a:gd name="connsiteY20-3818" fmla="*/ 1216254 h 3550170"/>
                <a:gd name="connsiteX21-3819" fmla="*/ 889693 w 1432618"/>
                <a:gd name="connsiteY21-3820" fmla="*/ 1489304 h 3550170"/>
                <a:gd name="connsiteX22-3821" fmla="*/ 835718 w 1432618"/>
                <a:gd name="connsiteY22-3822" fmla="*/ 1857604 h 3550170"/>
                <a:gd name="connsiteX23-3823" fmla="*/ 1003993 w 1432618"/>
                <a:gd name="connsiteY23-3824" fmla="*/ 2270354 h 3550170"/>
                <a:gd name="connsiteX24-3825" fmla="*/ 896043 w 1432618"/>
                <a:gd name="connsiteY24-3826" fmla="*/ 2540229 h 3550170"/>
                <a:gd name="connsiteX25-3827" fmla="*/ 1213543 w 1432618"/>
                <a:gd name="connsiteY25-3828" fmla="*/ 2495779 h 3550170"/>
                <a:gd name="connsiteX26-3829" fmla="*/ 1432618 w 1432618"/>
                <a:gd name="connsiteY26-3830" fmla="*/ 2588648 h 3550170"/>
                <a:gd name="connsiteX27-3831" fmla="*/ 1188143 w 1432618"/>
                <a:gd name="connsiteY27-3832" fmla="*/ 2552929 h 3550170"/>
                <a:gd name="connsiteX28-3833" fmla="*/ 832543 w 1432618"/>
                <a:gd name="connsiteY28-3834" fmla="*/ 2695804 h 3550170"/>
                <a:gd name="connsiteX29-3835" fmla="*/ 689668 w 1432618"/>
                <a:gd name="connsiteY29-3836" fmla="*/ 3048229 h 3550170"/>
                <a:gd name="connsiteX30-3837" fmla="*/ 918268 w 1432618"/>
                <a:gd name="connsiteY30-3838" fmla="*/ 3381604 h 3550170"/>
                <a:gd name="connsiteX31-3839" fmla="*/ 1016693 w 1432618"/>
                <a:gd name="connsiteY31-3840" fmla="*/ 3543529 h 3550170"/>
                <a:gd name="connsiteX0-3841" fmla="*/ 1016693 w 1432618"/>
                <a:gd name="connsiteY0-3842" fmla="*/ 3581611 h 3588252"/>
                <a:gd name="connsiteX1-3843" fmla="*/ 591243 w 1432618"/>
                <a:gd name="connsiteY1-3844" fmla="*/ 3587961 h 3588252"/>
                <a:gd name="connsiteX2-3845" fmla="*/ 394393 w 1432618"/>
                <a:gd name="connsiteY2-3846" fmla="*/ 3076786 h 3588252"/>
                <a:gd name="connsiteX3-3847" fmla="*/ 746818 w 1432618"/>
                <a:gd name="connsiteY3-3848" fmla="*/ 2381461 h 3588252"/>
                <a:gd name="connsiteX4-3849" fmla="*/ 560128 w 1432618"/>
                <a:gd name="connsiteY4-3850" fmla="*/ 1922356 h 3588252"/>
                <a:gd name="connsiteX5-3851" fmla="*/ 58 w 1432618"/>
                <a:gd name="connsiteY5-3852" fmla="*/ 1870921 h 3588252"/>
                <a:gd name="connsiteX6-3853" fmla="*/ 394393 w 1432618"/>
                <a:gd name="connsiteY6-3854" fmla="*/ 1743286 h 3588252"/>
                <a:gd name="connsiteX7-3855" fmla="*/ 642043 w 1432618"/>
                <a:gd name="connsiteY7-3856" fmla="*/ 1876636 h 3588252"/>
                <a:gd name="connsiteX8-3857" fmla="*/ 689668 w 1432618"/>
                <a:gd name="connsiteY8-3858" fmla="*/ 1648036 h 3588252"/>
                <a:gd name="connsiteX9-3859" fmla="*/ 823018 w 1432618"/>
                <a:gd name="connsiteY9-3860" fmla="*/ 1333711 h 3588252"/>
                <a:gd name="connsiteX10-3861" fmla="*/ 765868 w 1432618"/>
                <a:gd name="connsiteY10-3862" fmla="*/ 809836 h 3588252"/>
                <a:gd name="connsiteX11-3863" fmla="*/ 537268 w 1432618"/>
                <a:gd name="connsiteY11-3864" fmla="*/ 666961 h 3588252"/>
                <a:gd name="connsiteX12-3865" fmla="*/ 689668 w 1432618"/>
                <a:gd name="connsiteY12-3866" fmla="*/ 666961 h 3588252"/>
                <a:gd name="connsiteX13-3867" fmla="*/ 765868 w 1432618"/>
                <a:gd name="connsiteY13-3868" fmla="*/ 752686 h 3588252"/>
                <a:gd name="connsiteX14-3869" fmla="*/ 886518 w 1432618"/>
                <a:gd name="connsiteY14-3870" fmla="*/ 211 h 3588252"/>
                <a:gd name="connsiteX15-3871" fmla="*/ 857943 w 1432618"/>
                <a:gd name="connsiteY15-3872" fmla="*/ 679661 h 3588252"/>
                <a:gd name="connsiteX16-3873" fmla="*/ 921443 w 1432618"/>
                <a:gd name="connsiteY16-3874" fmla="*/ 1047961 h 3588252"/>
                <a:gd name="connsiteX17-3875" fmla="*/ 930968 w 1432618"/>
                <a:gd name="connsiteY17-3876" fmla="*/ 1295611 h 3588252"/>
                <a:gd name="connsiteX18-3877" fmla="*/ 1086543 w 1432618"/>
                <a:gd name="connsiteY18-3878" fmla="*/ 1187661 h 3588252"/>
                <a:gd name="connsiteX19-3879" fmla="*/ 1375468 w 1432618"/>
                <a:gd name="connsiteY19-3880" fmla="*/ 1171786 h 3588252"/>
                <a:gd name="connsiteX20-3881" fmla="*/ 1108768 w 1432618"/>
                <a:gd name="connsiteY20-3882" fmla="*/ 1254336 h 3588252"/>
                <a:gd name="connsiteX21-3883" fmla="*/ 889693 w 1432618"/>
                <a:gd name="connsiteY21-3884" fmla="*/ 1527386 h 3588252"/>
                <a:gd name="connsiteX22-3885" fmla="*/ 835718 w 1432618"/>
                <a:gd name="connsiteY22-3886" fmla="*/ 1895686 h 3588252"/>
                <a:gd name="connsiteX23-3887" fmla="*/ 1003993 w 1432618"/>
                <a:gd name="connsiteY23-3888" fmla="*/ 2308436 h 3588252"/>
                <a:gd name="connsiteX24-3889" fmla="*/ 896043 w 1432618"/>
                <a:gd name="connsiteY24-3890" fmla="*/ 2578311 h 3588252"/>
                <a:gd name="connsiteX25-3891" fmla="*/ 1213543 w 1432618"/>
                <a:gd name="connsiteY25-3892" fmla="*/ 2533861 h 3588252"/>
                <a:gd name="connsiteX26-3893" fmla="*/ 1432618 w 1432618"/>
                <a:gd name="connsiteY26-3894" fmla="*/ 2626730 h 3588252"/>
                <a:gd name="connsiteX27-3895" fmla="*/ 1188143 w 1432618"/>
                <a:gd name="connsiteY27-3896" fmla="*/ 2591011 h 3588252"/>
                <a:gd name="connsiteX28-3897" fmla="*/ 832543 w 1432618"/>
                <a:gd name="connsiteY28-3898" fmla="*/ 2733886 h 3588252"/>
                <a:gd name="connsiteX29-3899" fmla="*/ 689668 w 1432618"/>
                <a:gd name="connsiteY29-3900" fmla="*/ 3086311 h 3588252"/>
                <a:gd name="connsiteX30-3901" fmla="*/ 918268 w 1432618"/>
                <a:gd name="connsiteY30-3902" fmla="*/ 3419686 h 3588252"/>
                <a:gd name="connsiteX31-3903" fmla="*/ 1016693 w 1432618"/>
                <a:gd name="connsiteY31-3904" fmla="*/ 3581611 h 3588252"/>
                <a:gd name="connsiteX0-3905" fmla="*/ 1016693 w 1432618"/>
                <a:gd name="connsiteY0-3906" fmla="*/ 3581400 h 3588041"/>
                <a:gd name="connsiteX1-3907" fmla="*/ 591243 w 1432618"/>
                <a:gd name="connsiteY1-3908" fmla="*/ 3587750 h 3588041"/>
                <a:gd name="connsiteX2-3909" fmla="*/ 394393 w 1432618"/>
                <a:gd name="connsiteY2-3910" fmla="*/ 3076575 h 3588041"/>
                <a:gd name="connsiteX3-3911" fmla="*/ 746818 w 1432618"/>
                <a:gd name="connsiteY3-3912" fmla="*/ 2381250 h 3588041"/>
                <a:gd name="connsiteX4-3913" fmla="*/ 560128 w 1432618"/>
                <a:gd name="connsiteY4-3914" fmla="*/ 1922145 h 3588041"/>
                <a:gd name="connsiteX5-3915" fmla="*/ 58 w 1432618"/>
                <a:gd name="connsiteY5-3916" fmla="*/ 1870710 h 3588041"/>
                <a:gd name="connsiteX6-3917" fmla="*/ 394393 w 1432618"/>
                <a:gd name="connsiteY6-3918" fmla="*/ 1743075 h 3588041"/>
                <a:gd name="connsiteX7-3919" fmla="*/ 642043 w 1432618"/>
                <a:gd name="connsiteY7-3920" fmla="*/ 1876425 h 3588041"/>
                <a:gd name="connsiteX8-3921" fmla="*/ 689668 w 1432618"/>
                <a:gd name="connsiteY8-3922" fmla="*/ 1647825 h 3588041"/>
                <a:gd name="connsiteX9-3923" fmla="*/ 823018 w 1432618"/>
                <a:gd name="connsiteY9-3924" fmla="*/ 1333500 h 3588041"/>
                <a:gd name="connsiteX10-3925" fmla="*/ 765868 w 1432618"/>
                <a:gd name="connsiteY10-3926" fmla="*/ 809625 h 3588041"/>
                <a:gd name="connsiteX11-3927" fmla="*/ 537268 w 1432618"/>
                <a:gd name="connsiteY11-3928" fmla="*/ 666750 h 3588041"/>
                <a:gd name="connsiteX12-3929" fmla="*/ 689668 w 1432618"/>
                <a:gd name="connsiteY12-3930" fmla="*/ 666750 h 3588041"/>
                <a:gd name="connsiteX13-3931" fmla="*/ 765868 w 1432618"/>
                <a:gd name="connsiteY13-3932" fmla="*/ 752475 h 3588041"/>
                <a:gd name="connsiteX14-3933" fmla="*/ 886518 w 1432618"/>
                <a:gd name="connsiteY14-3934" fmla="*/ 0 h 3588041"/>
                <a:gd name="connsiteX15-3935" fmla="*/ 857943 w 1432618"/>
                <a:gd name="connsiteY15-3936" fmla="*/ 679450 h 3588041"/>
                <a:gd name="connsiteX16-3937" fmla="*/ 921443 w 1432618"/>
                <a:gd name="connsiteY16-3938" fmla="*/ 1047750 h 3588041"/>
                <a:gd name="connsiteX17-3939" fmla="*/ 930968 w 1432618"/>
                <a:gd name="connsiteY17-3940" fmla="*/ 1295400 h 3588041"/>
                <a:gd name="connsiteX18-3941" fmla="*/ 1086543 w 1432618"/>
                <a:gd name="connsiteY18-3942" fmla="*/ 1187450 h 3588041"/>
                <a:gd name="connsiteX19-3943" fmla="*/ 1375468 w 1432618"/>
                <a:gd name="connsiteY19-3944" fmla="*/ 1171575 h 3588041"/>
                <a:gd name="connsiteX20-3945" fmla="*/ 1108768 w 1432618"/>
                <a:gd name="connsiteY20-3946" fmla="*/ 1254125 h 3588041"/>
                <a:gd name="connsiteX21-3947" fmla="*/ 889693 w 1432618"/>
                <a:gd name="connsiteY21-3948" fmla="*/ 1527175 h 3588041"/>
                <a:gd name="connsiteX22-3949" fmla="*/ 835718 w 1432618"/>
                <a:gd name="connsiteY22-3950" fmla="*/ 1895475 h 3588041"/>
                <a:gd name="connsiteX23-3951" fmla="*/ 1003993 w 1432618"/>
                <a:gd name="connsiteY23-3952" fmla="*/ 2308225 h 3588041"/>
                <a:gd name="connsiteX24-3953" fmla="*/ 896043 w 1432618"/>
                <a:gd name="connsiteY24-3954" fmla="*/ 2578100 h 3588041"/>
                <a:gd name="connsiteX25-3955" fmla="*/ 1213543 w 1432618"/>
                <a:gd name="connsiteY25-3956" fmla="*/ 2533650 h 3588041"/>
                <a:gd name="connsiteX26-3957" fmla="*/ 1432618 w 1432618"/>
                <a:gd name="connsiteY26-3958" fmla="*/ 2626519 h 3588041"/>
                <a:gd name="connsiteX27-3959" fmla="*/ 1188143 w 1432618"/>
                <a:gd name="connsiteY27-3960" fmla="*/ 2590800 h 3588041"/>
                <a:gd name="connsiteX28-3961" fmla="*/ 832543 w 1432618"/>
                <a:gd name="connsiteY28-3962" fmla="*/ 2733675 h 3588041"/>
                <a:gd name="connsiteX29-3963" fmla="*/ 689668 w 1432618"/>
                <a:gd name="connsiteY29-3964" fmla="*/ 3086100 h 3588041"/>
                <a:gd name="connsiteX30-3965" fmla="*/ 918268 w 1432618"/>
                <a:gd name="connsiteY30-3966" fmla="*/ 3419475 h 3588041"/>
                <a:gd name="connsiteX31-3967" fmla="*/ 1016693 w 1432618"/>
                <a:gd name="connsiteY31-3968" fmla="*/ 3581400 h 3588041"/>
                <a:gd name="connsiteX0-3969" fmla="*/ 1016693 w 1432618"/>
                <a:gd name="connsiteY0-3970" fmla="*/ 3581400 h 3588041"/>
                <a:gd name="connsiteX1-3971" fmla="*/ 591243 w 1432618"/>
                <a:gd name="connsiteY1-3972" fmla="*/ 3587750 h 3588041"/>
                <a:gd name="connsiteX2-3973" fmla="*/ 394393 w 1432618"/>
                <a:gd name="connsiteY2-3974" fmla="*/ 3076575 h 3588041"/>
                <a:gd name="connsiteX3-3975" fmla="*/ 746818 w 1432618"/>
                <a:gd name="connsiteY3-3976" fmla="*/ 2381250 h 3588041"/>
                <a:gd name="connsiteX4-3977" fmla="*/ 560128 w 1432618"/>
                <a:gd name="connsiteY4-3978" fmla="*/ 1922145 h 3588041"/>
                <a:gd name="connsiteX5-3979" fmla="*/ 58 w 1432618"/>
                <a:gd name="connsiteY5-3980" fmla="*/ 1870710 h 3588041"/>
                <a:gd name="connsiteX6-3981" fmla="*/ 394393 w 1432618"/>
                <a:gd name="connsiteY6-3982" fmla="*/ 1743075 h 3588041"/>
                <a:gd name="connsiteX7-3983" fmla="*/ 642043 w 1432618"/>
                <a:gd name="connsiteY7-3984" fmla="*/ 1876425 h 3588041"/>
                <a:gd name="connsiteX8-3985" fmla="*/ 689668 w 1432618"/>
                <a:gd name="connsiteY8-3986" fmla="*/ 1647825 h 3588041"/>
                <a:gd name="connsiteX9-3987" fmla="*/ 823018 w 1432618"/>
                <a:gd name="connsiteY9-3988" fmla="*/ 1333500 h 3588041"/>
                <a:gd name="connsiteX10-3989" fmla="*/ 765868 w 1432618"/>
                <a:gd name="connsiteY10-3990" fmla="*/ 809625 h 3588041"/>
                <a:gd name="connsiteX11-3991" fmla="*/ 537268 w 1432618"/>
                <a:gd name="connsiteY11-3992" fmla="*/ 666750 h 3588041"/>
                <a:gd name="connsiteX12-3993" fmla="*/ 689668 w 1432618"/>
                <a:gd name="connsiteY12-3994" fmla="*/ 666750 h 3588041"/>
                <a:gd name="connsiteX13-3995" fmla="*/ 765868 w 1432618"/>
                <a:gd name="connsiteY13-3996" fmla="*/ 752475 h 3588041"/>
                <a:gd name="connsiteX14-3997" fmla="*/ 886518 w 1432618"/>
                <a:gd name="connsiteY14-3998" fmla="*/ 0 h 3588041"/>
                <a:gd name="connsiteX15-3999" fmla="*/ 857943 w 1432618"/>
                <a:gd name="connsiteY15-4000" fmla="*/ 679450 h 3588041"/>
                <a:gd name="connsiteX16-4001" fmla="*/ 921443 w 1432618"/>
                <a:gd name="connsiteY16-4002" fmla="*/ 1047750 h 3588041"/>
                <a:gd name="connsiteX17-4003" fmla="*/ 930968 w 1432618"/>
                <a:gd name="connsiteY17-4004" fmla="*/ 1295400 h 3588041"/>
                <a:gd name="connsiteX18-4005" fmla="*/ 1086543 w 1432618"/>
                <a:gd name="connsiteY18-4006" fmla="*/ 1187450 h 3588041"/>
                <a:gd name="connsiteX19-4007" fmla="*/ 1375468 w 1432618"/>
                <a:gd name="connsiteY19-4008" fmla="*/ 1171575 h 3588041"/>
                <a:gd name="connsiteX20-4009" fmla="*/ 1108768 w 1432618"/>
                <a:gd name="connsiteY20-4010" fmla="*/ 1254125 h 3588041"/>
                <a:gd name="connsiteX21-4011" fmla="*/ 889693 w 1432618"/>
                <a:gd name="connsiteY21-4012" fmla="*/ 1527175 h 3588041"/>
                <a:gd name="connsiteX22-4013" fmla="*/ 835718 w 1432618"/>
                <a:gd name="connsiteY22-4014" fmla="*/ 1895475 h 3588041"/>
                <a:gd name="connsiteX23-4015" fmla="*/ 1003993 w 1432618"/>
                <a:gd name="connsiteY23-4016" fmla="*/ 2308225 h 3588041"/>
                <a:gd name="connsiteX24-4017" fmla="*/ 896043 w 1432618"/>
                <a:gd name="connsiteY24-4018" fmla="*/ 2578100 h 3588041"/>
                <a:gd name="connsiteX25-4019" fmla="*/ 1213543 w 1432618"/>
                <a:gd name="connsiteY25-4020" fmla="*/ 2533650 h 3588041"/>
                <a:gd name="connsiteX26-4021" fmla="*/ 1432618 w 1432618"/>
                <a:gd name="connsiteY26-4022" fmla="*/ 2626519 h 3588041"/>
                <a:gd name="connsiteX27-4023" fmla="*/ 1188143 w 1432618"/>
                <a:gd name="connsiteY27-4024" fmla="*/ 2590800 h 3588041"/>
                <a:gd name="connsiteX28-4025" fmla="*/ 832543 w 1432618"/>
                <a:gd name="connsiteY28-4026" fmla="*/ 2733675 h 3588041"/>
                <a:gd name="connsiteX29-4027" fmla="*/ 689668 w 1432618"/>
                <a:gd name="connsiteY29-4028" fmla="*/ 3086100 h 3588041"/>
                <a:gd name="connsiteX30-4029" fmla="*/ 918268 w 1432618"/>
                <a:gd name="connsiteY30-4030" fmla="*/ 3419475 h 3588041"/>
                <a:gd name="connsiteX31-4031" fmla="*/ 1016693 w 1432618"/>
                <a:gd name="connsiteY31-4032" fmla="*/ 3581400 h 3588041"/>
                <a:gd name="connsiteX0-4033" fmla="*/ 1016693 w 1432618"/>
                <a:gd name="connsiteY0-4034" fmla="*/ 3581400 h 3588041"/>
                <a:gd name="connsiteX1-4035" fmla="*/ 591243 w 1432618"/>
                <a:gd name="connsiteY1-4036" fmla="*/ 3587750 h 3588041"/>
                <a:gd name="connsiteX2-4037" fmla="*/ 394393 w 1432618"/>
                <a:gd name="connsiteY2-4038" fmla="*/ 3076575 h 3588041"/>
                <a:gd name="connsiteX3-4039" fmla="*/ 746818 w 1432618"/>
                <a:gd name="connsiteY3-4040" fmla="*/ 2381250 h 3588041"/>
                <a:gd name="connsiteX4-4041" fmla="*/ 560128 w 1432618"/>
                <a:gd name="connsiteY4-4042" fmla="*/ 1922145 h 3588041"/>
                <a:gd name="connsiteX5-4043" fmla="*/ 58 w 1432618"/>
                <a:gd name="connsiteY5-4044" fmla="*/ 1870710 h 3588041"/>
                <a:gd name="connsiteX6-4045" fmla="*/ 394393 w 1432618"/>
                <a:gd name="connsiteY6-4046" fmla="*/ 1743075 h 3588041"/>
                <a:gd name="connsiteX7-4047" fmla="*/ 642043 w 1432618"/>
                <a:gd name="connsiteY7-4048" fmla="*/ 1876425 h 3588041"/>
                <a:gd name="connsiteX8-4049" fmla="*/ 689668 w 1432618"/>
                <a:gd name="connsiteY8-4050" fmla="*/ 1647825 h 3588041"/>
                <a:gd name="connsiteX9-4051" fmla="*/ 823018 w 1432618"/>
                <a:gd name="connsiteY9-4052" fmla="*/ 1333500 h 3588041"/>
                <a:gd name="connsiteX10-4053" fmla="*/ 765868 w 1432618"/>
                <a:gd name="connsiteY10-4054" fmla="*/ 809625 h 3588041"/>
                <a:gd name="connsiteX11-4055" fmla="*/ 388043 w 1432618"/>
                <a:gd name="connsiteY11-4056" fmla="*/ 695325 h 3588041"/>
                <a:gd name="connsiteX12-4057" fmla="*/ 689668 w 1432618"/>
                <a:gd name="connsiteY12-4058" fmla="*/ 666750 h 3588041"/>
                <a:gd name="connsiteX13-4059" fmla="*/ 765868 w 1432618"/>
                <a:gd name="connsiteY13-4060" fmla="*/ 752475 h 3588041"/>
                <a:gd name="connsiteX14-4061" fmla="*/ 886518 w 1432618"/>
                <a:gd name="connsiteY14-4062" fmla="*/ 0 h 3588041"/>
                <a:gd name="connsiteX15-4063" fmla="*/ 857943 w 1432618"/>
                <a:gd name="connsiteY15-4064" fmla="*/ 679450 h 3588041"/>
                <a:gd name="connsiteX16-4065" fmla="*/ 921443 w 1432618"/>
                <a:gd name="connsiteY16-4066" fmla="*/ 1047750 h 3588041"/>
                <a:gd name="connsiteX17-4067" fmla="*/ 930968 w 1432618"/>
                <a:gd name="connsiteY17-4068" fmla="*/ 1295400 h 3588041"/>
                <a:gd name="connsiteX18-4069" fmla="*/ 1086543 w 1432618"/>
                <a:gd name="connsiteY18-4070" fmla="*/ 1187450 h 3588041"/>
                <a:gd name="connsiteX19-4071" fmla="*/ 1375468 w 1432618"/>
                <a:gd name="connsiteY19-4072" fmla="*/ 1171575 h 3588041"/>
                <a:gd name="connsiteX20-4073" fmla="*/ 1108768 w 1432618"/>
                <a:gd name="connsiteY20-4074" fmla="*/ 1254125 h 3588041"/>
                <a:gd name="connsiteX21-4075" fmla="*/ 889693 w 1432618"/>
                <a:gd name="connsiteY21-4076" fmla="*/ 1527175 h 3588041"/>
                <a:gd name="connsiteX22-4077" fmla="*/ 835718 w 1432618"/>
                <a:gd name="connsiteY22-4078" fmla="*/ 1895475 h 3588041"/>
                <a:gd name="connsiteX23-4079" fmla="*/ 1003993 w 1432618"/>
                <a:gd name="connsiteY23-4080" fmla="*/ 2308225 h 3588041"/>
                <a:gd name="connsiteX24-4081" fmla="*/ 896043 w 1432618"/>
                <a:gd name="connsiteY24-4082" fmla="*/ 2578100 h 3588041"/>
                <a:gd name="connsiteX25-4083" fmla="*/ 1213543 w 1432618"/>
                <a:gd name="connsiteY25-4084" fmla="*/ 2533650 h 3588041"/>
                <a:gd name="connsiteX26-4085" fmla="*/ 1432618 w 1432618"/>
                <a:gd name="connsiteY26-4086" fmla="*/ 2626519 h 3588041"/>
                <a:gd name="connsiteX27-4087" fmla="*/ 1188143 w 1432618"/>
                <a:gd name="connsiteY27-4088" fmla="*/ 2590800 h 3588041"/>
                <a:gd name="connsiteX28-4089" fmla="*/ 832543 w 1432618"/>
                <a:gd name="connsiteY28-4090" fmla="*/ 2733675 h 3588041"/>
                <a:gd name="connsiteX29-4091" fmla="*/ 689668 w 1432618"/>
                <a:gd name="connsiteY29-4092" fmla="*/ 3086100 h 3588041"/>
                <a:gd name="connsiteX30-4093" fmla="*/ 918268 w 1432618"/>
                <a:gd name="connsiteY30-4094" fmla="*/ 3419475 h 3588041"/>
                <a:gd name="connsiteX31-4095" fmla="*/ 1016693 w 1432618"/>
                <a:gd name="connsiteY31-4096" fmla="*/ 3581400 h 3588041"/>
                <a:gd name="connsiteX0-4097" fmla="*/ 1016693 w 1432618"/>
                <a:gd name="connsiteY0-4098" fmla="*/ 3581400 h 3588041"/>
                <a:gd name="connsiteX1-4099" fmla="*/ 591243 w 1432618"/>
                <a:gd name="connsiteY1-4100" fmla="*/ 3587750 h 3588041"/>
                <a:gd name="connsiteX2-4101" fmla="*/ 394393 w 1432618"/>
                <a:gd name="connsiteY2-4102" fmla="*/ 3076575 h 3588041"/>
                <a:gd name="connsiteX3-4103" fmla="*/ 746818 w 1432618"/>
                <a:gd name="connsiteY3-4104" fmla="*/ 2381250 h 3588041"/>
                <a:gd name="connsiteX4-4105" fmla="*/ 560128 w 1432618"/>
                <a:gd name="connsiteY4-4106" fmla="*/ 1922145 h 3588041"/>
                <a:gd name="connsiteX5-4107" fmla="*/ 58 w 1432618"/>
                <a:gd name="connsiteY5-4108" fmla="*/ 1870710 h 3588041"/>
                <a:gd name="connsiteX6-4109" fmla="*/ 394393 w 1432618"/>
                <a:gd name="connsiteY6-4110" fmla="*/ 1743075 h 3588041"/>
                <a:gd name="connsiteX7-4111" fmla="*/ 642043 w 1432618"/>
                <a:gd name="connsiteY7-4112" fmla="*/ 1876425 h 3588041"/>
                <a:gd name="connsiteX8-4113" fmla="*/ 689668 w 1432618"/>
                <a:gd name="connsiteY8-4114" fmla="*/ 1647825 h 3588041"/>
                <a:gd name="connsiteX9-4115" fmla="*/ 823018 w 1432618"/>
                <a:gd name="connsiteY9-4116" fmla="*/ 1333500 h 3588041"/>
                <a:gd name="connsiteX10-4117" fmla="*/ 765868 w 1432618"/>
                <a:gd name="connsiteY10-4118" fmla="*/ 809625 h 3588041"/>
                <a:gd name="connsiteX11-4119" fmla="*/ 388043 w 1432618"/>
                <a:gd name="connsiteY11-4120" fmla="*/ 695325 h 3588041"/>
                <a:gd name="connsiteX12-4121" fmla="*/ 689668 w 1432618"/>
                <a:gd name="connsiteY12-4122" fmla="*/ 666750 h 3588041"/>
                <a:gd name="connsiteX13-4123" fmla="*/ 791268 w 1432618"/>
                <a:gd name="connsiteY13-4124" fmla="*/ 673100 h 3588041"/>
                <a:gd name="connsiteX14-4125" fmla="*/ 886518 w 1432618"/>
                <a:gd name="connsiteY14-4126" fmla="*/ 0 h 3588041"/>
                <a:gd name="connsiteX15-4127" fmla="*/ 857943 w 1432618"/>
                <a:gd name="connsiteY15-4128" fmla="*/ 679450 h 3588041"/>
                <a:gd name="connsiteX16-4129" fmla="*/ 921443 w 1432618"/>
                <a:gd name="connsiteY16-4130" fmla="*/ 1047750 h 3588041"/>
                <a:gd name="connsiteX17-4131" fmla="*/ 930968 w 1432618"/>
                <a:gd name="connsiteY17-4132" fmla="*/ 1295400 h 3588041"/>
                <a:gd name="connsiteX18-4133" fmla="*/ 1086543 w 1432618"/>
                <a:gd name="connsiteY18-4134" fmla="*/ 1187450 h 3588041"/>
                <a:gd name="connsiteX19-4135" fmla="*/ 1375468 w 1432618"/>
                <a:gd name="connsiteY19-4136" fmla="*/ 1171575 h 3588041"/>
                <a:gd name="connsiteX20-4137" fmla="*/ 1108768 w 1432618"/>
                <a:gd name="connsiteY20-4138" fmla="*/ 1254125 h 3588041"/>
                <a:gd name="connsiteX21-4139" fmla="*/ 889693 w 1432618"/>
                <a:gd name="connsiteY21-4140" fmla="*/ 1527175 h 3588041"/>
                <a:gd name="connsiteX22-4141" fmla="*/ 835718 w 1432618"/>
                <a:gd name="connsiteY22-4142" fmla="*/ 1895475 h 3588041"/>
                <a:gd name="connsiteX23-4143" fmla="*/ 1003993 w 1432618"/>
                <a:gd name="connsiteY23-4144" fmla="*/ 2308225 h 3588041"/>
                <a:gd name="connsiteX24-4145" fmla="*/ 896043 w 1432618"/>
                <a:gd name="connsiteY24-4146" fmla="*/ 2578100 h 3588041"/>
                <a:gd name="connsiteX25-4147" fmla="*/ 1213543 w 1432618"/>
                <a:gd name="connsiteY25-4148" fmla="*/ 2533650 h 3588041"/>
                <a:gd name="connsiteX26-4149" fmla="*/ 1432618 w 1432618"/>
                <a:gd name="connsiteY26-4150" fmla="*/ 2626519 h 3588041"/>
                <a:gd name="connsiteX27-4151" fmla="*/ 1188143 w 1432618"/>
                <a:gd name="connsiteY27-4152" fmla="*/ 2590800 h 3588041"/>
                <a:gd name="connsiteX28-4153" fmla="*/ 832543 w 1432618"/>
                <a:gd name="connsiteY28-4154" fmla="*/ 2733675 h 3588041"/>
                <a:gd name="connsiteX29-4155" fmla="*/ 689668 w 1432618"/>
                <a:gd name="connsiteY29-4156" fmla="*/ 3086100 h 3588041"/>
                <a:gd name="connsiteX30-4157" fmla="*/ 918268 w 1432618"/>
                <a:gd name="connsiteY30-4158" fmla="*/ 3419475 h 3588041"/>
                <a:gd name="connsiteX31-4159" fmla="*/ 1016693 w 1432618"/>
                <a:gd name="connsiteY31-4160" fmla="*/ 3581400 h 3588041"/>
                <a:gd name="connsiteX0-4161" fmla="*/ 1016693 w 1432618"/>
                <a:gd name="connsiteY0-4162" fmla="*/ 3581400 h 3588041"/>
                <a:gd name="connsiteX1-4163" fmla="*/ 591243 w 1432618"/>
                <a:gd name="connsiteY1-4164" fmla="*/ 3587750 h 3588041"/>
                <a:gd name="connsiteX2-4165" fmla="*/ 394393 w 1432618"/>
                <a:gd name="connsiteY2-4166" fmla="*/ 3076575 h 3588041"/>
                <a:gd name="connsiteX3-4167" fmla="*/ 746818 w 1432618"/>
                <a:gd name="connsiteY3-4168" fmla="*/ 2381250 h 3588041"/>
                <a:gd name="connsiteX4-4169" fmla="*/ 560128 w 1432618"/>
                <a:gd name="connsiteY4-4170" fmla="*/ 1922145 h 3588041"/>
                <a:gd name="connsiteX5-4171" fmla="*/ 58 w 1432618"/>
                <a:gd name="connsiteY5-4172" fmla="*/ 1870710 h 3588041"/>
                <a:gd name="connsiteX6-4173" fmla="*/ 394393 w 1432618"/>
                <a:gd name="connsiteY6-4174" fmla="*/ 1743075 h 3588041"/>
                <a:gd name="connsiteX7-4175" fmla="*/ 642043 w 1432618"/>
                <a:gd name="connsiteY7-4176" fmla="*/ 1876425 h 3588041"/>
                <a:gd name="connsiteX8-4177" fmla="*/ 689668 w 1432618"/>
                <a:gd name="connsiteY8-4178" fmla="*/ 1647825 h 3588041"/>
                <a:gd name="connsiteX9-4179" fmla="*/ 823018 w 1432618"/>
                <a:gd name="connsiteY9-4180" fmla="*/ 1333500 h 3588041"/>
                <a:gd name="connsiteX10-4181" fmla="*/ 765868 w 1432618"/>
                <a:gd name="connsiteY10-4182" fmla="*/ 809625 h 3588041"/>
                <a:gd name="connsiteX11-4183" fmla="*/ 388043 w 1432618"/>
                <a:gd name="connsiteY11-4184" fmla="*/ 695325 h 3588041"/>
                <a:gd name="connsiteX12-4185" fmla="*/ 689668 w 1432618"/>
                <a:gd name="connsiteY12-4186" fmla="*/ 666750 h 3588041"/>
                <a:gd name="connsiteX13-4187" fmla="*/ 794443 w 1432618"/>
                <a:gd name="connsiteY13-4188" fmla="*/ 565150 h 3588041"/>
                <a:gd name="connsiteX14-4189" fmla="*/ 886518 w 1432618"/>
                <a:gd name="connsiteY14-4190" fmla="*/ 0 h 3588041"/>
                <a:gd name="connsiteX15-4191" fmla="*/ 857943 w 1432618"/>
                <a:gd name="connsiteY15-4192" fmla="*/ 679450 h 3588041"/>
                <a:gd name="connsiteX16-4193" fmla="*/ 921443 w 1432618"/>
                <a:gd name="connsiteY16-4194" fmla="*/ 1047750 h 3588041"/>
                <a:gd name="connsiteX17-4195" fmla="*/ 930968 w 1432618"/>
                <a:gd name="connsiteY17-4196" fmla="*/ 1295400 h 3588041"/>
                <a:gd name="connsiteX18-4197" fmla="*/ 1086543 w 1432618"/>
                <a:gd name="connsiteY18-4198" fmla="*/ 1187450 h 3588041"/>
                <a:gd name="connsiteX19-4199" fmla="*/ 1375468 w 1432618"/>
                <a:gd name="connsiteY19-4200" fmla="*/ 1171575 h 3588041"/>
                <a:gd name="connsiteX20-4201" fmla="*/ 1108768 w 1432618"/>
                <a:gd name="connsiteY20-4202" fmla="*/ 1254125 h 3588041"/>
                <a:gd name="connsiteX21-4203" fmla="*/ 889693 w 1432618"/>
                <a:gd name="connsiteY21-4204" fmla="*/ 1527175 h 3588041"/>
                <a:gd name="connsiteX22-4205" fmla="*/ 835718 w 1432618"/>
                <a:gd name="connsiteY22-4206" fmla="*/ 1895475 h 3588041"/>
                <a:gd name="connsiteX23-4207" fmla="*/ 1003993 w 1432618"/>
                <a:gd name="connsiteY23-4208" fmla="*/ 2308225 h 3588041"/>
                <a:gd name="connsiteX24-4209" fmla="*/ 896043 w 1432618"/>
                <a:gd name="connsiteY24-4210" fmla="*/ 2578100 h 3588041"/>
                <a:gd name="connsiteX25-4211" fmla="*/ 1213543 w 1432618"/>
                <a:gd name="connsiteY25-4212" fmla="*/ 2533650 h 3588041"/>
                <a:gd name="connsiteX26-4213" fmla="*/ 1432618 w 1432618"/>
                <a:gd name="connsiteY26-4214" fmla="*/ 2626519 h 3588041"/>
                <a:gd name="connsiteX27-4215" fmla="*/ 1188143 w 1432618"/>
                <a:gd name="connsiteY27-4216" fmla="*/ 2590800 h 3588041"/>
                <a:gd name="connsiteX28-4217" fmla="*/ 832543 w 1432618"/>
                <a:gd name="connsiteY28-4218" fmla="*/ 2733675 h 3588041"/>
                <a:gd name="connsiteX29-4219" fmla="*/ 689668 w 1432618"/>
                <a:gd name="connsiteY29-4220" fmla="*/ 3086100 h 3588041"/>
                <a:gd name="connsiteX30-4221" fmla="*/ 918268 w 1432618"/>
                <a:gd name="connsiteY30-4222" fmla="*/ 3419475 h 3588041"/>
                <a:gd name="connsiteX31-4223" fmla="*/ 1016693 w 1432618"/>
                <a:gd name="connsiteY31-4224" fmla="*/ 3581400 h 3588041"/>
                <a:gd name="connsiteX0-4225" fmla="*/ 1016693 w 1432618"/>
                <a:gd name="connsiteY0-4226" fmla="*/ 3581400 h 3588041"/>
                <a:gd name="connsiteX1-4227" fmla="*/ 591243 w 1432618"/>
                <a:gd name="connsiteY1-4228" fmla="*/ 3587750 h 3588041"/>
                <a:gd name="connsiteX2-4229" fmla="*/ 394393 w 1432618"/>
                <a:gd name="connsiteY2-4230" fmla="*/ 3076575 h 3588041"/>
                <a:gd name="connsiteX3-4231" fmla="*/ 746818 w 1432618"/>
                <a:gd name="connsiteY3-4232" fmla="*/ 2381250 h 3588041"/>
                <a:gd name="connsiteX4-4233" fmla="*/ 560128 w 1432618"/>
                <a:gd name="connsiteY4-4234" fmla="*/ 1922145 h 3588041"/>
                <a:gd name="connsiteX5-4235" fmla="*/ 58 w 1432618"/>
                <a:gd name="connsiteY5-4236" fmla="*/ 1870710 h 3588041"/>
                <a:gd name="connsiteX6-4237" fmla="*/ 394393 w 1432618"/>
                <a:gd name="connsiteY6-4238" fmla="*/ 1743075 h 3588041"/>
                <a:gd name="connsiteX7-4239" fmla="*/ 642043 w 1432618"/>
                <a:gd name="connsiteY7-4240" fmla="*/ 1876425 h 3588041"/>
                <a:gd name="connsiteX8-4241" fmla="*/ 689668 w 1432618"/>
                <a:gd name="connsiteY8-4242" fmla="*/ 1647825 h 3588041"/>
                <a:gd name="connsiteX9-4243" fmla="*/ 823018 w 1432618"/>
                <a:gd name="connsiteY9-4244" fmla="*/ 1333500 h 3588041"/>
                <a:gd name="connsiteX10-4245" fmla="*/ 765868 w 1432618"/>
                <a:gd name="connsiteY10-4246" fmla="*/ 809625 h 3588041"/>
                <a:gd name="connsiteX11-4247" fmla="*/ 388043 w 1432618"/>
                <a:gd name="connsiteY11-4248" fmla="*/ 695325 h 3588041"/>
                <a:gd name="connsiteX12-4249" fmla="*/ 689668 w 1432618"/>
                <a:gd name="connsiteY12-4250" fmla="*/ 666750 h 3588041"/>
                <a:gd name="connsiteX13-4251" fmla="*/ 794443 w 1432618"/>
                <a:gd name="connsiteY13-4252" fmla="*/ 565150 h 3588041"/>
                <a:gd name="connsiteX14-4253" fmla="*/ 886518 w 1432618"/>
                <a:gd name="connsiteY14-4254" fmla="*/ 0 h 3588041"/>
                <a:gd name="connsiteX15-4255" fmla="*/ 857943 w 1432618"/>
                <a:gd name="connsiteY15-4256" fmla="*/ 679450 h 3588041"/>
                <a:gd name="connsiteX16-4257" fmla="*/ 921443 w 1432618"/>
                <a:gd name="connsiteY16-4258" fmla="*/ 1047750 h 3588041"/>
                <a:gd name="connsiteX17-4259" fmla="*/ 930968 w 1432618"/>
                <a:gd name="connsiteY17-4260" fmla="*/ 1295400 h 3588041"/>
                <a:gd name="connsiteX18-4261" fmla="*/ 1086543 w 1432618"/>
                <a:gd name="connsiteY18-4262" fmla="*/ 1187450 h 3588041"/>
                <a:gd name="connsiteX19-4263" fmla="*/ 1375468 w 1432618"/>
                <a:gd name="connsiteY19-4264" fmla="*/ 1171575 h 3588041"/>
                <a:gd name="connsiteX20-4265" fmla="*/ 1108768 w 1432618"/>
                <a:gd name="connsiteY20-4266" fmla="*/ 1254125 h 3588041"/>
                <a:gd name="connsiteX21-4267" fmla="*/ 889693 w 1432618"/>
                <a:gd name="connsiteY21-4268" fmla="*/ 1527175 h 3588041"/>
                <a:gd name="connsiteX22-4269" fmla="*/ 835718 w 1432618"/>
                <a:gd name="connsiteY22-4270" fmla="*/ 1895475 h 3588041"/>
                <a:gd name="connsiteX23-4271" fmla="*/ 1003993 w 1432618"/>
                <a:gd name="connsiteY23-4272" fmla="*/ 2308225 h 3588041"/>
                <a:gd name="connsiteX24-4273" fmla="*/ 896043 w 1432618"/>
                <a:gd name="connsiteY24-4274" fmla="*/ 2578100 h 3588041"/>
                <a:gd name="connsiteX25-4275" fmla="*/ 1213543 w 1432618"/>
                <a:gd name="connsiteY25-4276" fmla="*/ 2533650 h 3588041"/>
                <a:gd name="connsiteX26-4277" fmla="*/ 1432618 w 1432618"/>
                <a:gd name="connsiteY26-4278" fmla="*/ 2626519 h 3588041"/>
                <a:gd name="connsiteX27-4279" fmla="*/ 1188143 w 1432618"/>
                <a:gd name="connsiteY27-4280" fmla="*/ 2590800 h 3588041"/>
                <a:gd name="connsiteX28-4281" fmla="*/ 832543 w 1432618"/>
                <a:gd name="connsiteY28-4282" fmla="*/ 2733675 h 3588041"/>
                <a:gd name="connsiteX29-4283" fmla="*/ 689668 w 1432618"/>
                <a:gd name="connsiteY29-4284" fmla="*/ 3086100 h 3588041"/>
                <a:gd name="connsiteX30-4285" fmla="*/ 918268 w 1432618"/>
                <a:gd name="connsiteY30-4286" fmla="*/ 3419475 h 3588041"/>
                <a:gd name="connsiteX31-4287" fmla="*/ 1016693 w 1432618"/>
                <a:gd name="connsiteY31-4288" fmla="*/ 3581400 h 3588041"/>
                <a:gd name="connsiteX0-4289" fmla="*/ 1016693 w 1432618"/>
                <a:gd name="connsiteY0-4290" fmla="*/ 3581400 h 3588041"/>
                <a:gd name="connsiteX1-4291" fmla="*/ 591243 w 1432618"/>
                <a:gd name="connsiteY1-4292" fmla="*/ 3587750 h 3588041"/>
                <a:gd name="connsiteX2-4293" fmla="*/ 394393 w 1432618"/>
                <a:gd name="connsiteY2-4294" fmla="*/ 3076575 h 3588041"/>
                <a:gd name="connsiteX3-4295" fmla="*/ 746818 w 1432618"/>
                <a:gd name="connsiteY3-4296" fmla="*/ 2381250 h 3588041"/>
                <a:gd name="connsiteX4-4297" fmla="*/ 560128 w 1432618"/>
                <a:gd name="connsiteY4-4298" fmla="*/ 1922145 h 3588041"/>
                <a:gd name="connsiteX5-4299" fmla="*/ 58 w 1432618"/>
                <a:gd name="connsiteY5-4300" fmla="*/ 1870710 h 3588041"/>
                <a:gd name="connsiteX6-4301" fmla="*/ 394393 w 1432618"/>
                <a:gd name="connsiteY6-4302" fmla="*/ 1743075 h 3588041"/>
                <a:gd name="connsiteX7-4303" fmla="*/ 642043 w 1432618"/>
                <a:gd name="connsiteY7-4304" fmla="*/ 1876425 h 3588041"/>
                <a:gd name="connsiteX8-4305" fmla="*/ 689668 w 1432618"/>
                <a:gd name="connsiteY8-4306" fmla="*/ 1647825 h 3588041"/>
                <a:gd name="connsiteX9-4307" fmla="*/ 823018 w 1432618"/>
                <a:gd name="connsiteY9-4308" fmla="*/ 1333500 h 3588041"/>
                <a:gd name="connsiteX10-4309" fmla="*/ 765868 w 1432618"/>
                <a:gd name="connsiteY10-4310" fmla="*/ 809625 h 3588041"/>
                <a:gd name="connsiteX11-4311" fmla="*/ 388043 w 1432618"/>
                <a:gd name="connsiteY11-4312" fmla="*/ 695325 h 3588041"/>
                <a:gd name="connsiteX12-4313" fmla="*/ 724593 w 1432618"/>
                <a:gd name="connsiteY12-4314" fmla="*/ 688975 h 3588041"/>
                <a:gd name="connsiteX13-4315" fmla="*/ 794443 w 1432618"/>
                <a:gd name="connsiteY13-4316" fmla="*/ 565150 h 3588041"/>
                <a:gd name="connsiteX14-4317" fmla="*/ 886518 w 1432618"/>
                <a:gd name="connsiteY14-4318" fmla="*/ 0 h 3588041"/>
                <a:gd name="connsiteX15-4319" fmla="*/ 857943 w 1432618"/>
                <a:gd name="connsiteY15-4320" fmla="*/ 679450 h 3588041"/>
                <a:gd name="connsiteX16-4321" fmla="*/ 921443 w 1432618"/>
                <a:gd name="connsiteY16-4322" fmla="*/ 1047750 h 3588041"/>
                <a:gd name="connsiteX17-4323" fmla="*/ 930968 w 1432618"/>
                <a:gd name="connsiteY17-4324" fmla="*/ 1295400 h 3588041"/>
                <a:gd name="connsiteX18-4325" fmla="*/ 1086543 w 1432618"/>
                <a:gd name="connsiteY18-4326" fmla="*/ 1187450 h 3588041"/>
                <a:gd name="connsiteX19-4327" fmla="*/ 1375468 w 1432618"/>
                <a:gd name="connsiteY19-4328" fmla="*/ 1171575 h 3588041"/>
                <a:gd name="connsiteX20-4329" fmla="*/ 1108768 w 1432618"/>
                <a:gd name="connsiteY20-4330" fmla="*/ 1254125 h 3588041"/>
                <a:gd name="connsiteX21-4331" fmla="*/ 889693 w 1432618"/>
                <a:gd name="connsiteY21-4332" fmla="*/ 1527175 h 3588041"/>
                <a:gd name="connsiteX22-4333" fmla="*/ 835718 w 1432618"/>
                <a:gd name="connsiteY22-4334" fmla="*/ 1895475 h 3588041"/>
                <a:gd name="connsiteX23-4335" fmla="*/ 1003993 w 1432618"/>
                <a:gd name="connsiteY23-4336" fmla="*/ 2308225 h 3588041"/>
                <a:gd name="connsiteX24-4337" fmla="*/ 896043 w 1432618"/>
                <a:gd name="connsiteY24-4338" fmla="*/ 2578100 h 3588041"/>
                <a:gd name="connsiteX25-4339" fmla="*/ 1213543 w 1432618"/>
                <a:gd name="connsiteY25-4340" fmla="*/ 2533650 h 3588041"/>
                <a:gd name="connsiteX26-4341" fmla="*/ 1432618 w 1432618"/>
                <a:gd name="connsiteY26-4342" fmla="*/ 2626519 h 3588041"/>
                <a:gd name="connsiteX27-4343" fmla="*/ 1188143 w 1432618"/>
                <a:gd name="connsiteY27-4344" fmla="*/ 2590800 h 3588041"/>
                <a:gd name="connsiteX28-4345" fmla="*/ 832543 w 1432618"/>
                <a:gd name="connsiteY28-4346" fmla="*/ 2733675 h 3588041"/>
                <a:gd name="connsiteX29-4347" fmla="*/ 689668 w 1432618"/>
                <a:gd name="connsiteY29-4348" fmla="*/ 3086100 h 3588041"/>
                <a:gd name="connsiteX30-4349" fmla="*/ 918268 w 1432618"/>
                <a:gd name="connsiteY30-4350" fmla="*/ 3419475 h 3588041"/>
                <a:gd name="connsiteX31-4351" fmla="*/ 1016693 w 1432618"/>
                <a:gd name="connsiteY31-4352" fmla="*/ 3581400 h 3588041"/>
                <a:gd name="connsiteX0-4353" fmla="*/ 1016693 w 1432618"/>
                <a:gd name="connsiteY0-4354" fmla="*/ 3581400 h 3588041"/>
                <a:gd name="connsiteX1-4355" fmla="*/ 591243 w 1432618"/>
                <a:gd name="connsiteY1-4356" fmla="*/ 3587750 h 3588041"/>
                <a:gd name="connsiteX2-4357" fmla="*/ 394393 w 1432618"/>
                <a:gd name="connsiteY2-4358" fmla="*/ 3076575 h 3588041"/>
                <a:gd name="connsiteX3-4359" fmla="*/ 746818 w 1432618"/>
                <a:gd name="connsiteY3-4360" fmla="*/ 2381250 h 3588041"/>
                <a:gd name="connsiteX4-4361" fmla="*/ 560128 w 1432618"/>
                <a:gd name="connsiteY4-4362" fmla="*/ 1922145 h 3588041"/>
                <a:gd name="connsiteX5-4363" fmla="*/ 58 w 1432618"/>
                <a:gd name="connsiteY5-4364" fmla="*/ 1870710 h 3588041"/>
                <a:gd name="connsiteX6-4365" fmla="*/ 394393 w 1432618"/>
                <a:gd name="connsiteY6-4366" fmla="*/ 1743075 h 3588041"/>
                <a:gd name="connsiteX7-4367" fmla="*/ 642043 w 1432618"/>
                <a:gd name="connsiteY7-4368" fmla="*/ 1876425 h 3588041"/>
                <a:gd name="connsiteX8-4369" fmla="*/ 689668 w 1432618"/>
                <a:gd name="connsiteY8-4370" fmla="*/ 1647825 h 3588041"/>
                <a:gd name="connsiteX9-4371" fmla="*/ 823018 w 1432618"/>
                <a:gd name="connsiteY9-4372" fmla="*/ 1333500 h 3588041"/>
                <a:gd name="connsiteX10-4373" fmla="*/ 765868 w 1432618"/>
                <a:gd name="connsiteY10-4374" fmla="*/ 809625 h 3588041"/>
                <a:gd name="connsiteX11-4375" fmla="*/ 388043 w 1432618"/>
                <a:gd name="connsiteY11-4376" fmla="*/ 695325 h 3588041"/>
                <a:gd name="connsiteX12-4377" fmla="*/ 741262 w 1432618"/>
                <a:gd name="connsiteY12-4378" fmla="*/ 677068 h 3588041"/>
                <a:gd name="connsiteX13-4379" fmla="*/ 794443 w 1432618"/>
                <a:gd name="connsiteY13-4380" fmla="*/ 565150 h 3588041"/>
                <a:gd name="connsiteX14-4381" fmla="*/ 886518 w 1432618"/>
                <a:gd name="connsiteY14-4382" fmla="*/ 0 h 3588041"/>
                <a:gd name="connsiteX15-4383" fmla="*/ 857943 w 1432618"/>
                <a:gd name="connsiteY15-4384" fmla="*/ 679450 h 3588041"/>
                <a:gd name="connsiteX16-4385" fmla="*/ 921443 w 1432618"/>
                <a:gd name="connsiteY16-4386" fmla="*/ 1047750 h 3588041"/>
                <a:gd name="connsiteX17-4387" fmla="*/ 930968 w 1432618"/>
                <a:gd name="connsiteY17-4388" fmla="*/ 1295400 h 3588041"/>
                <a:gd name="connsiteX18-4389" fmla="*/ 1086543 w 1432618"/>
                <a:gd name="connsiteY18-4390" fmla="*/ 1187450 h 3588041"/>
                <a:gd name="connsiteX19-4391" fmla="*/ 1375468 w 1432618"/>
                <a:gd name="connsiteY19-4392" fmla="*/ 1171575 h 3588041"/>
                <a:gd name="connsiteX20-4393" fmla="*/ 1108768 w 1432618"/>
                <a:gd name="connsiteY20-4394" fmla="*/ 1254125 h 3588041"/>
                <a:gd name="connsiteX21-4395" fmla="*/ 889693 w 1432618"/>
                <a:gd name="connsiteY21-4396" fmla="*/ 1527175 h 3588041"/>
                <a:gd name="connsiteX22-4397" fmla="*/ 835718 w 1432618"/>
                <a:gd name="connsiteY22-4398" fmla="*/ 1895475 h 3588041"/>
                <a:gd name="connsiteX23-4399" fmla="*/ 1003993 w 1432618"/>
                <a:gd name="connsiteY23-4400" fmla="*/ 2308225 h 3588041"/>
                <a:gd name="connsiteX24-4401" fmla="*/ 896043 w 1432618"/>
                <a:gd name="connsiteY24-4402" fmla="*/ 2578100 h 3588041"/>
                <a:gd name="connsiteX25-4403" fmla="*/ 1213543 w 1432618"/>
                <a:gd name="connsiteY25-4404" fmla="*/ 2533650 h 3588041"/>
                <a:gd name="connsiteX26-4405" fmla="*/ 1432618 w 1432618"/>
                <a:gd name="connsiteY26-4406" fmla="*/ 2626519 h 3588041"/>
                <a:gd name="connsiteX27-4407" fmla="*/ 1188143 w 1432618"/>
                <a:gd name="connsiteY27-4408" fmla="*/ 2590800 h 3588041"/>
                <a:gd name="connsiteX28-4409" fmla="*/ 832543 w 1432618"/>
                <a:gd name="connsiteY28-4410" fmla="*/ 2733675 h 3588041"/>
                <a:gd name="connsiteX29-4411" fmla="*/ 689668 w 1432618"/>
                <a:gd name="connsiteY29-4412" fmla="*/ 3086100 h 3588041"/>
                <a:gd name="connsiteX30-4413" fmla="*/ 918268 w 1432618"/>
                <a:gd name="connsiteY30-4414" fmla="*/ 3419475 h 3588041"/>
                <a:gd name="connsiteX31-4415" fmla="*/ 1016693 w 1432618"/>
                <a:gd name="connsiteY31-4416" fmla="*/ 3581400 h 3588041"/>
                <a:gd name="connsiteX0-4417" fmla="*/ 1016693 w 1432618"/>
                <a:gd name="connsiteY0-4418" fmla="*/ 3581400 h 3588041"/>
                <a:gd name="connsiteX1-4419" fmla="*/ 591243 w 1432618"/>
                <a:gd name="connsiteY1-4420" fmla="*/ 3587750 h 3588041"/>
                <a:gd name="connsiteX2-4421" fmla="*/ 394393 w 1432618"/>
                <a:gd name="connsiteY2-4422" fmla="*/ 3076575 h 3588041"/>
                <a:gd name="connsiteX3-4423" fmla="*/ 746818 w 1432618"/>
                <a:gd name="connsiteY3-4424" fmla="*/ 2381250 h 3588041"/>
                <a:gd name="connsiteX4-4425" fmla="*/ 560128 w 1432618"/>
                <a:gd name="connsiteY4-4426" fmla="*/ 1922145 h 3588041"/>
                <a:gd name="connsiteX5-4427" fmla="*/ 58 w 1432618"/>
                <a:gd name="connsiteY5-4428" fmla="*/ 1870710 h 3588041"/>
                <a:gd name="connsiteX6-4429" fmla="*/ 394393 w 1432618"/>
                <a:gd name="connsiteY6-4430" fmla="*/ 1743075 h 3588041"/>
                <a:gd name="connsiteX7-4431" fmla="*/ 642043 w 1432618"/>
                <a:gd name="connsiteY7-4432" fmla="*/ 1876425 h 3588041"/>
                <a:gd name="connsiteX8-4433" fmla="*/ 689668 w 1432618"/>
                <a:gd name="connsiteY8-4434" fmla="*/ 1647825 h 3588041"/>
                <a:gd name="connsiteX9-4435" fmla="*/ 823018 w 1432618"/>
                <a:gd name="connsiteY9-4436" fmla="*/ 1333500 h 3588041"/>
                <a:gd name="connsiteX10-4437" fmla="*/ 765868 w 1432618"/>
                <a:gd name="connsiteY10-4438" fmla="*/ 809625 h 3588041"/>
                <a:gd name="connsiteX11-4439" fmla="*/ 388043 w 1432618"/>
                <a:gd name="connsiteY11-4440" fmla="*/ 695325 h 3588041"/>
                <a:gd name="connsiteX12-4441" fmla="*/ 741262 w 1432618"/>
                <a:gd name="connsiteY12-4442" fmla="*/ 677068 h 3588041"/>
                <a:gd name="connsiteX13-4443" fmla="*/ 794443 w 1432618"/>
                <a:gd name="connsiteY13-4444" fmla="*/ 565150 h 3588041"/>
                <a:gd name="connsiteX14-4445" fmla="*/ 886518 w 1432618"/>
                <a:gd name="connsiteY14-4446" fmla="*/ 0 h 3588041"/>
                <a:gd name="connsiteX15-4447" fmla="*/ 857943 w 1432618"/>
                <a:gd name="connsiteY15-4448" fmla="*/ 679450 h 3588041"/>
                <a:gd name="connsiteX16-4449" fmla="*/ 921443 w 1432618"/>
                <a:gd name="connsiteY16-4450" fmla="*/ 1047750 h 3588041"/>
                <a:gd name="connsiteX17-4451" fmla="*/ 930968 w 1432618"/>
                <a:gd name="connsiteY17-4452" fmla="*/ 1295400 h 3588041"/>
                <a:gd name="connsiteX18-4453" fmla="*/ 1086543 w 1432618"/>
                <a:gd name="connsiteY18-4454" fmla="*/ 1187450 h 3588041"/>
                <a:gd name="connsiteX19-4455" fmla="*/ 1375468 w 1432618"/>
                <a:gd name="connsiteY19-4456" fmla="*/ 1171575 h 3588041"/>
                <a:gd name="connsiteX20-4457" fmla="*/ 1108768 w 1432618"/>
                <a:gd name="connsiteY20-4458" fmla="*/ 1254125 h 3588041"/>
                <a:gd name="connsiteX21-4459" fmla="*/ 889693 w 1432618"/>
                <a:gd name="connsiteY21-4460" fmla="*/ 1527175 h 3588041"/>
                <a:gd name="connsiteX22-4461" fmla="*/ 835718 w 1432618"/>
                <a:gd name="connsiteY22-4462" fmla="*/ 1895475 h 3588041"/>
                <a:gd name="connsiteX23-4463" fmla="*/ 1003993 w 1432618"/>
                <a:gd name="connsiteY23-4464" fmla="*/ 2308225 h 3588041"/>
                <a:gd name="connsiteX24-4465" fmla="*/ 896043 w 1432618"/>
                <a:gd name="connsiteY24-4466" fmla="*/ 2578100 h 3588041"/>
                <a:gd name="connsiteX25-4467" fmla="*/ 1213543 w 1432618"/>
                <a:gd name="connsiteY25-4468" fmla="*/ 2533650 h 3588041"/>
                <a:gd name="connsiteX26-4469" fmla="*/ 1432618 w 1432618"/>
                <a:gd name="connsiteY26-4470" fmla="*/ 2626519 h 3588041"/>
                <a:gd name="connsiteX27-4471" fmla="*/ 1188143 w 1432618"/>
                <a:gd name="connsiteY27-4472" fmla="*/ 2590800 h 3588041"/>
                <a:gd name="connsiteX28-4473" fmla="*/ 832543 w 1432618"/>
                <a:gd name="connsiteY28-4474" fmla="*/ 2733675 h 3588041"/>
                <a:gd name="connsiteX29-4475" fmla="*/ 689668 w 1432618"/>
                <a:gd name="connsiteY29-4476" fmla="*/ 3086100 h 3588041"/>
                <a:gd name="connsiteX30-4477" fmla="*/ 918268 w 1432618"/>
                <a:gd name="connsiteY30-4478" fmla="*/ 3419475 h 3588041"/>
                <a:gd name="connsiteX31-4479" fmla="*/ 1016693 w 1432618"/>
                <a:gd name="connsiteY31-4480" fmla="*/ 3581400 h 3588041"/>
                <a:gd name="connsiteX0-4481" fmla="*/ 1016693 w 1432618"/>
                <a:gd name="connsiteY0-4482" fmla="*/ 3581400 h 3588041"/>
                <a:gd name="connsiteX1-4483" fmla="*/ 591243 w 1432618"/>
                <a:gd name="connsiteY1-4484" fmla="*/ 3587750 h 3588041"/>
                <a:gd name="connsiteX2-4485" fmla="*/ 394393 w 1432618"/>
                <a:gd name="connsiteY2-4486" fmla="*/ 3076575 h 3588041"/>
                <a:gd name="connsiteX3-4487" fmla="*/ 746818 w 1432618"/>
                <a:gd name="connsiteY3-4488" fmla="*/ 2381250 h 3588041"/>
                <a:gd name="connsiteX4-4489" fmla="*/ 560128 w 1432618"/>
                <a:gd name="connsiteY4-4490" fmla="*/ 1922145 h 3588041"/>
                <a:gd name="connsiteX5-4491" fmla="*/ 58 w 1432618"/>
                <a:gd name="connsiteY5-4492" fmla="*/ 1870710 h 3588041"/>
                <a:gd name="connsiteX6-4493" fmla="*/ 394393 w 1432618"/>
                <a:gd name="connsiteY6-4494" fmla="*/ 1743075 h 3588041"/>
                <a:gd name="connsiteX7-4495" fmla="*/ 642043 w 1432618"/>
                <a:gd name="connsiteY7-4496" fmla="*/ 1876425 h 3588041"/>
                <a:gd name="connsiteX8-4497" fmla="*/ 689668 w 1432618"/>
                <a:gd name="connsiteY8-4498" fmla="*/ 1647825 h 3588041"/>
                <a:gd name="connsiteX9-4499" fmla="*/ 823018 w 1432618"/>
                <a:gd name="connsiteY9-4500" fmla="*/ 1333500 h 3588041"/>
                <a:gd name="connsiteX10-4501" fmla="*/ 765868 w 1432618"/>
                <a:gd name="connsiteY10-4502" fmla="*/ 809625 h 3588041"/>
                <a:gd name="connsiteX11-4503" fmla="*/ 388043 w 1432618"/>
                <a:gd name="connsiteY11-4504" fmla="*/ 695325 h 3588041"/>
                <a:gd name="connsiteX12-4505" fmla="*/ 741262 w 1432618"/>
                <a:gd name="connsiteY12-4506" fmla="*/ 677068 h 3588041"/>
                <a:gd name="connsiteX13-4507" fmla="*/ 789681 w 1432618"/>
                <a:gd name="connsiteY13-4508" fmla="*/ 441325 h 3588041"/>
                <a:gd name="connsiteX14-4509" fmla="*/ 886518 w 1432618"/>
                <a:gd name="connsiteY14-4510" fmla="*/ 0 h 3588041"/>
                <a:gd name="connsiteX15-4511" fmla="*/ 857943 w 1432618"/>
                <a:gd name="connsiteY15-4512" fmla="*/ 679450 h 3588041"/>
                <a:gd name="connsiteX16-4513" fmla="*/ 921443 w 1432618"/>
                <a:gd name="connsiteY16-4514" fmla="*/ 1047750 h 3588041"/>
                <a:gd name="connsiteX17-4515" fmla="*/ 930968 w 1432618"/>
                <a:gd name="connsiteY17-4516" fmla="*/ 1295400 h 3588041"/>
                <a:gd name="connsiteX18-4517" fmla="*/ 1086543 w 1432618"/>
                <a:gd name="connsiteY18-4518" fmla="*/ 1187450 h 3588041"/>
                <a:gd name="connsiteX19-4519" fmla="*/ 1375468 w 1432618"/>
                <a:gd name="connsiteY19-4520" fmla="*/ 1171575 h 3588041"/>
                <a:gd name="connsiteX20-4521" fmla="*/ 1108768 w 1432618"/>
                <a:gd name="connsiteY20-4522" fmla="*/ 1254125 h 3588041"/>
                <a:gd name="connsiteX21-4523" fmla="*/ 889693 w 1432618"/>
                <a:gd name="connsiteY21-4524" fmla="*/ 1527175 h 3588041"/>
                <a:gd name="connsiteX22-4525" fmla="*/ 835718 w 1432618"/>
                <a:gd name="connsiteY22-4526" fmla="*/ 1895475 h 3588041"/>
                <a:gd name="connsiteX23-4527" fmla="*/ 1003993 w 1432618"/>
                <a:gd name="connsiteY23-4528" fmla="*/ 2308225 h 3588041"/>
                <a:gd name="connsiteX24-4529" fmla="*/ 896043 w 1432618"/>
                <a:gd name="connsiteY24-4530" fmla="*/ 2578100 h 3588041"/>
                <a:gd name="connsiteX25-4531" fmla="*/ 1213543 w 1432618"/>
                <a:gd name="connsiteY25-4532" fmla="*/ 2533650 h 3588041"/>
                <a:gd name="connsiteX26-4533" fmla="*/ 1432618 w 1432618"/>
                <a:gd name="connsiteY26-4534" fmla="*/ 2626519 h 3588041"/>
                <a:gd name="connsiteX27-4535" fmla="*/ 1188143 w 1432618"/>
                <a:gd name="connsiteY27-4536" fmla="*/ 2590800 h 3588041"/>
                <a:gd name="connsiteX28-4537" fmla="*/ 832543 w 1432618"/>
                <a:gd name="connsiteY28-4538" fmla="*/ 2733675 h 3588041"/>
                <a:gd name="connsiteX29-4539" fmla="*/ 689668 w 1432618"/>
                <a:gd name="connsiteY29-4540" fmla="*/ 3086100 h 3588041"/>
                <a:gd name="connsiteX30-4541" fmla="*/ 918268 w 1432618"/>
                <a:gd name="connsiteY30-4542" fmla="*/ 3419475 h 3588041"/>
                <a:gd name="connsiteX31-4543" fmla="*/ 1016693 w 1432618"/>
                <a:gd name="connsiteY31-4544" fmla="*/ 3581400 h 3588041"/>
                <a:gd name="connsiteX0-4545" fmla="*/ 1016693 w 1432618"/>
                <a:gd name="connsiteY0-4546" fmla="*/ 3581400 h 3588041"/>
                <a:gd name="connsiteX1-4547" fmla="*/ 591243 w 1432618"/>
                <a:gd name="connsiteY1-4548" fmla="*/ 3587750 h 3588041"/>
                <a:gd name="connsiteX2-4549" fmla="*/ 394393 w 1432618"/>
                <a:gd name="connsiteY2-4550" fmla="*/ 3076575 h 3588041"/>
                <a:gd name="connsiteX3-4551" fmla="*/ 746818 w 1432618"/>
                <a:gd name="connsiteY3-4552" fmla="*/ 2381250 h 3588041"/>
                <a:gd name="connsiteX4-4553" fmla="*/ 560128 w 1432618"/>
                <a:gd name="connsiteY4-4554" fmla="*/ 1922145 h 3588041"/>
                <a:gd name="connsiteX5-4555" fmla="*/ 58 w 1432618"/>
                <a:gd name="connsiteY5-4556" fmla="*/ 1870710 h 3588041"/>
                <a:gd name="connsiteX6-4557" fmla="*/ 394393 w 1432618"/>
                <a:gd name="connsiteY6-4558" fmla="*/ 1743075 h 3588041"/>
                <a:gd name="connsiteX7-4559" fmla="*/ 642043 w 1432618"/>
                <a:gd name="connsiteY7-4560" fmla="*/ 1876425 h 3588041"/>
                <a:gd name="connsiteX8-4561" fmla="*/ 689668 w 1432618"/>
                <a:gd name="connsiteY8-4562" fmla="*/ 1647825 h 3588041"/>
                <a:gd name="connsiteX9-4563" fmla="*/ 823018 w 1432618"/>
                <a:gd name="connsiteY9-4564" fmla="*/ 1333500 h 3588041"/>
                <a:gd name="connsiteX10-4565" fmla="*/ 765868 w 1432618"/>
                <a:gd name="connsiteY10-4566" fmla="*/ 809625 h 3588041"/>
                <a:gd name="connsiteX11-4567" fmla="*/ 388043 w 1432618"/>
                <a:gd name="connsiteY11-4568" fmla="*/ 695325 h 3588041"/>
                <a:gd name="connsiteX12-4569" fmla="*/ 762694 w 1432618"/>
                <a:gd name="connsiteY12-4570" fmla="*/ 703262 h 3588041"/>
                <a:gd name="connsiteX13-4571" fmla="*/ 789681 w 1432618"/>
                <a:gd name="connsiteY13-4572" fmla="*/ 441325 h 3588041"/>
                <a:gd name="connsiteX14-4573" fmla="*/ 886518 w 1432618"/>
                <a:gd name="connsiteY14-4574" fmla="*/ 0 h 3588041"/>
                <a:gd name="connsiteX15-4575" fmla="*/ 857943 w 1432618"/>
                <a:gd name="connsiteY15-4576" fmla="*/ 679450 h 3588041"/>
                <a:gd name="connsiteX16-4577" fmla="*/ 921443 w 1432618"/>
                <a:gd name="connsiteY16-4578" fmla="*/ 1047750 h 3588041"/>
                <a:gd name="connsiteX17-4579" fmla="*/ 930968 w 1432618"/>
                <a:gd name="connsiteY17-4580" fmla="*/ 1295400 h 3588041"/>
                <a:gd name="connsiteX18-4581" fmla="*/ 1086543 w 1432618"/>
                <a:gd name="connsiteY18-4582" fmla="*/ 1187450 h 3588041"/>
                <a:gd name="connsiteX19-4583" fmla="*/ 1375468 w 1432618"/>
                <a:gd name="connsiteY19-4584" fmla="*/ 1171575 h 3588041"/>
                <a:gd name="connsiteX20-4585" fmla="*/ 1108768 w 1432618"/>
                <a:gd name="connsiteY20-4586" fmla="*/ 1254125 h 3588041"/>
                <a:gd name="connsiteX21-4587" fmla="*/ 889693 w 1432618"/>
                <a:gd name="connsiteY21-4588" fmla="*/ 1527175 h 3588041"/>
                <a:gd name="connsiteX22-4589" fmla="*/ 835718 w 1432618"/>
                <a:gd name="connsiteY22-4590" fmla="*/ 1895475 h 3588041"/>
                <a:gd name="connsiteX23-4591" fmla="*/ 1003993 w 1432618"/>
                <a:gd name="connsiteY23-4592" fmla="*/ 2308225 h 3588041"/>
                <a:gd name="connsiteX24-4593" fmla="*/ 896043 w 1432618"/>
                <a:gd name="connsiteY24-4594" fmla="*/ 2578100 h 3588041"/>
                <a:gd name="connsiteX25-4595" fmla="*/ 1213543 w 1432618"/>
                <a:gd name="connsiteY25-4596" fmla="*/ 2533650 h 3588041"/>
                <a:gd name="connsiteX26-4597" fmla="*/ 1432618 w 1432618"/>
                <a:gd name="connsiteY26-4598" fmla="*/ 2626519 h 3588041"/>
                <a:gd name="connsiteX27-4599" fmla="*/ 1188143 w 1432618"/>
                <a:gd name="connsiteY27-4600" fmla="*/ 2590800 h 3588041"/>
                <a:gd name="connsiteX28-4601" fmla="*/ 832543 w 1432618"/>
                <a:gd name="connsiteY28-4602" fmla="*/ 2733675 h 3588041"/>
                <a:gd name="connsiteX29-4603" fmla="*/ 689668 w 1432618"/>
                <a:gd name="connsiteY29-4604" fmla="*/ 3086100 h 3588041"/>
                <a:gd name="connsiteX30-4605" fmla="*/ 918268 w 1432618"/>
                <a:gd name="connsiteY30-4606" fmla="*/ 3419475 h 3588041"/>
                <a:gd name="connsiteX31-4607" fmla="*/ 1016693 w 1432618"/>
                <a:gd name="connsiteY31-4608" fmla="*/ 3581400 h 3588041"/>
                <a:gd name="connsiteX0-4609" fmla="*/ 1016693 w 1432618"/>
                <a:gd name="connsiteY0-4610" fmla="*/ 3581400 h 3588041"/>
                <a:gd name="connsiteX1-4611" fmla="*/ 591243 w 1432618"/>
                <a:gd name="connsiteY1-4612" fmla="*/ 3587750 h 3588041"/>
                <a:gd name="connsiteX2-4613" fmla="*/ 394393 w 1432618"/>
                <a:gd name="connsiteY2-4614" fmla="*/ 3076575 h 3588041"/>
                <a:gd name="connsiteX3-4615" fmla="*/ 746818 w 1432618"/>
                <a:gd name="connsiteY3-4616" fmla="*/ 2381250 h 3588041"/>
                <a:gd name="connsiteX4-4617" fmla="*/ 560128 w 1432618"/>
                <a:gd name="connsiteY4-4618" fmla="*/ 1922145 h 3588041"/>
                <a:gd name="connsiteX5-4619" fmla="*/ 58 w 1432618"/>
                <a:gd name="connsiteY5-4620" fmla="*/ 1870710 h 3588041"/>
                <a:gd name="connsiteX6-4621" fmla="*/ 394393 w 1432618"/>
                <a:gd name="connsiteY6-4622" fmla="*/ 1743075 h 3588041"/>
                <a:gd name="connsiteX7-4623" fmla="*/ 642043 w 1432618"/>
                <a:gd name="connsiteY7-4624" fmla="*/ 1876425 h 3588041"/>
                <a:gd name="connsiteX8-4625" fmla="*/ 689668 w 1432618"/>
                <a:gd name="connsiteY8-4626" fmla="*/ 1647825 h 3588041"/>
                <a:gd name="connsiteX9-4627" fmla="*/ 823018 w 1432618"/>
                <a:gd name="connsiteY9-4628" fmla="*/ 1333500 h 3588041"/>
                <a:gd name="connsiteX10-4629" fmla="*/ 765868 w 1432618"/>
                <a:gd name="connsiteY10-4630" fmla="*/ 809625 h 3588041"/>
                <a:gd name="connsiteX11-4631" fmla="*/ 388043 w 1432618"/>
                <a:gd name="connsiteY11-4632" fmla="*/ 695325 h 3588041"/>
                <a:gd name="connsiteX12-4633" fmla="*/ 762694 w 1432618"/>
                <a:gd name="connsiteY12-4634" fmla="*/ 703262 h 3588041"/>
                <a:gd name="connsiteX13-4635" fmla="*/ 789681 w 1432618"/>
                <a:gd name="connsiteY13-4636" fmla="*/ 441325 h 3588041"/>
                <a:gd name="connsiteX14-4637" fmla="*/ 886518 w 1432618"/>
                <a:gd name="connsiteY14-4638" fmla="*/ 0 h 3588041"/>
                <a:gd name="connsiteX15-4639" fmla="*/ 857943 w 1432618"/>
                <a:gd name="connsiteY15-4640" fmla="*/ 679450 h 3588041"/>
                <a:gd name="connsiteX16-4641" fmla="*/ 921443 w 1432618"/>
                <a:gd name="connsiteY16-4642" fmla="*/ 1047750 h 3588041"/>
                <a:gd name="connsiteX17-4643" fmla="*/ 930968 w 1432618"/>
                <a:gd name="connsiteY17-4644" fmla="*/ 1295400 h 3588041"/>
                <a:gd name="connsiteX18-4645" fmla="*/ 1086543 w 1432618"/>
                <a:gd name="connsiteY18-4646" fmla="*/ 1187450 h 3588041"/>
                <a:gd name="connsiteX19-4647" fmla="*/ 1375468 w 1432618"/>
                <a:gd name="connsiteY19-4648" fmla="*/ 1171575 h 3588041"/>
                <a:gd name="connsiteX20-4649" fmla="*/ 1108768 w 1432618"/>
                <a:gd name="connsiteY20-4650" fmla="*/ 1254125 h 3588041"/>
                <a:gd name="connsiteX21-4651" fmla="*/ 889693 w 1432618"/>
                <a:gd name="connsiteY21-4652" fmla="*/ 1527175 h 3588041"/>
                <a:gd name="connsiteX22-4653" fmla="*/ 835718 w 1432618"/>
                <a:gd name="connsiteY22-4654" fmla="*/ 1895475 h 3588041"/>
                <a:gd name="connsiteX23-4655" fmla="*/ 1003993 w 1432618"/>
                <a:gd name="connsiteY23-4656" fmla="*/ 2308225 h 3588041"/>
                <a:gd name="connsiteX24-4657" fmla="*/ 896043 w 1432618"/>
                <a:gd name="connsiteY24-4658" fmla="*/ 2578100 h 3588041"/>
                <a:gd name="connsiteX25-4659" fmla="*/ 1213543 w 1432618"/>
                <a:gd name="connsiteY25-4660" fmla="*/ 2533650 h 3588041"/>
                <a:gd name="connsiteX26-4661" fmla="*/ 1432618 w 1432618"/>
                <a:gd name="connsiteY26-4662" fmla="*/ 2626519 h 3588041"/>
                <a:gd name="connsiteX27-4663" fmla="*/ 1188143 w 1432618"/>
                <a:gd name="connsiteY27-4664" fmla="*/ 2590800 h 3588041"/>
                <a:gd name="connsiteX28-4665" fmla="*/ 832543 w 1432618"/>
                <a:gd name="connsiteY28-4666" fmla="*/ 2733675 h 3588041"/>
                <a:gd name="connsiteX29-4667" fmla="*/ 689668 w 1432618"/>
                <a:gd name="connsiteY29-4668" fmla="*/ 3086100 h 3588041"/>
                <a:gd name="connsiteX30-4669" fmla="*/ 918268 w 1432618"/>
                <a:gd name="connsiteY30-4670" fmla="*/ 3419475 h 3588041"/>
                <a:gd name="connsiteX31-4671" fmla="*/ 1016693 w 1432618"/>
                <a:gd name="connsiteY31-4672" fmla="*/ 3581400 h 3588041"/>
                <a:gd name="connsiteX0-4673" fmla="*/ 1016693 w 1432618"/>
                <a:gd name="connsiteY0-4674" fmla="*/ 3581400 h 3588041"/>
                <a:gd name="connsiteX1-4675" fmla="*/ 591243 w 1432618"/>
                <a:gd name="connsiteY1-4676" fmla="*/ 3587750 h 3588041"/>
                <a:gd name="connsiteX2-4677" fmla="*/ 394393 w 1432618"/>
                <a:gd name="connsiteY2-4678" fmla="*/ 3076575 h 3588041"/>
                <a:gd name="connsiteX3-4679" fmla="*/ 746818 w 1432618"/>
                <a:gd name="connsiteY3-4680" fmla="*/ 2381250 h 3588041"/>
                <a:gd name="connsiteX4-4681" fmla="*/ 560128 w 1432618"/>
                <a:gd name="connsiteY4-4682" fmla="*/ 1922145 h 3588041"/>
                <a:gd name="connsiteX5-4683" fmla="*/ 58 w 1432618"/>
                <a:gd name="connsiteY5-4684" fmla="*/ 1870710 h 3588041"/>
                <a:gd name="connsiteX6-4685" fmla="*/ 394393 w 1432618"/>
                <a:gd name="connsiteY6-4686" fmla="*/ 1743075 h 3588041"/>
                <a:gd name="connsiteX7-4687" fmla="*/ 642043 w 1432618"/>
                <a:gd name="connsiteY7-4688" fmla="*/ 1876425 h 3588041"/>
                <a:gd name="connsiteX8-4689" fmla="*/ 689668 w 1432618"/>
                <a:gd name="connsiteY8-4690" fmla="*/ 1647825 h 3588041"/>
                <a:gd name="connsiteX9-4691" fmla="*/ 823018 w 1432618"/>
                <a:gd name="connsiteY9-4692" fmla="*/ 1333500 h 3588041"/>
                <a:gd name="connsiteX10-4693" fmla="*/ 765868 w 1432618"/>
                <a:gd name="connsiteY10-4694" fmla="*/ 809625 h 3588041"/>
                <a:gd name="connsiteX11-4695" fmla="*/ 388043 w 1432618"/>
                <a:gd name="connsiteY11-4696" fmla="*/ 695325 h 3588041"/>
                <a:gd name="connsiteX12-4697" fmla="*/ 762694 w 1432618"/>
                <a:gd name="connsiteY12-4698" fmla="*/ 703262 h 3588041"/>
                <a:gd name="connsiteX13-4699" fmla="*/ 789681 w 1432618"/>
                <a:gd name="connsiteY13-4700" fmla="*/ 441325 h 3588041"/>
                <a:gd name="connsiteX14-4701" fmla="*/ 886518 w 1432618"/>
                <a:gd name="connsiteY14-4702" fmla="*/ 0 h 3588041"/>
                <a:gd name="connsiteX15-4703" fmla="*/ 857943 w 1432618"/>
                <a:gd name="connsiteY15-4704" fmla="*/ 679450 h 3588041"/>
                <a:gd name="connsiteX16-4705" fmla="*/ 921443 w 1432618"/>
                <a:gd name="connsiteY16-4706" fmla="*/ 1047750 h 3588041"/>
                <a:gd name="connsiteX17-4707" fmla="*/ 930968 w 1432618"/>
                <a:gd name="connsiteY17-4708" fmla="*/ 1295400 h 3588041"/>
                <a:gd name="connsiteX18-4709" fmla="*/ 1086543 w 1432618"/>
                <a:gd name="connsiteY18-4710" fmla="*/ 1187450 h 3588041"/>
                <a:gd name="connsiteX19-4711" fmla="*/ 1375468 w 1432618"/>
                <a:gd name="connsiteY19-4712" fmla="*/ 1171575 h 3588041"/>
                <a:gd name="connsiteX20-4713" fmla="*/ 1108768 w 1432618"/>
                <a:gd name="connsiteY20-4714" fmla="*/ 1254125 h 3588041"/>
                <a:gd name="connsiteX21-4715" fmla="*/ 889693 w 1432618"/>
                <a:gd name="connsiteY21-4716" fmla="*/ 1527175 h 3588041"/>
                <a:gd name="connsiteX22-4717" fmla="*/ 835718 w 1432618"/>
                <a:gd name="connsiteY22-4718" fmla="*/ 1895475 h 3588041"/>
                <a:gd name="connsiteX23-4719" fmla="*/ 1003993 w 1432618"/>
                <a:gd name="connsiteY23-4720" fmla="*/ 2308225 h 3588041"/>
                <a:gd name="connsiteX24-4721" fmla="*/ 896043 w 1432618"/>
                <a:gd name="connsiteY24-4722" fmla="*/ 2578100 h 3588041"/>
                <a:gd name="connsiteX25-4723" fmla="*/ 1213543 w 1432618"/>
                <a:gd name="connsiteY25-4724" fmla="*/ 2533650 h 3588041"/>
                <a:gd name="connsiteX26-4725" fmla="*/ 1432618 w 1432618"/>
                <a:gd name="connsiteY26-4726" fmla="*/ 2626519 h 3588041"/>
                <a:gd name="connsiteX27-4727" fmla="*/ 1188143 w 1432618"/>
                <a:gd name="connsiteY27-4728" fmla="*/ 2590800 h 3588041"/>
                <a:gd name="connsiteX28-4729" fmla="*/ 832543 w 1432618"/>
                <a:gd name="connsiteY28-4730" fmla="*/ 2733675 h 3588041"/>
                <a:gd name="connsiteX29-4731" fmla="*/ 689668 w 1432618"/>
                <a:gd name="connsiteY29-4732" fmla="*/ 3086100 h 3588041"/>
                <a:gd name="connsiteX30-4733" fmla="*/ 918268 w 1432618"/>
                <a:gd name="connsiteY30-4734" fmla="*/ 3419475 h 3588041"/>
                <a:gd name="connsiteX31-4735" fmla="*/ 1016693 w 1432618"/>
                <a:gd name="connsiteY31-4736" fmla="*/ 3581400 h 3588041"/>
                <a:gd name="connsiteX0-4737" fmla="*/ 1016693 w 1432618"/>
                <a:gd name="connsiteY0-4738" fmla="*/ 3581400 h 3588041"/>
                <a:gd name="connsiteX1-4739" fmla="*/ 591243 w 1432618"/>
                <a:gd name="connsiteY1-4740" fmla="*/ 3587750 h 3588041"/>
                <a:gd name="connsiteX2-4741" fmla="*/ 394393 w 1432618"/>
                <a:gd name="connsiteY2-4742" fmla="*/ 3076575 h 3588041"/>
                <a:gd name="connsiteX3-4743" fmla="*/ 746818 w 1432618"/>
                <a:gd name="connsiteY3-4744" fmla="*/ 2381250 h 3588041"/>
                <a:gd name="connsiteX4-4745" fmla="*/ 560128 w 1432618"/>
                <a:gd name="connsiteY4-4746" fmla="*/ 1922145 h 3588041"/>
                <a:gd name="connsiteX5-4747" fmla="*/ 58 w 1432618"/>
                <a:gd name="connsiteY5-4748" fmla="*/ 1870710 h 3588041"/>
                <a:gd name="connsiteX6-4749" fmla="*/ 394393 w 1432618"/>
                <a:gd name="connsiteY6-4750" fmla="*/ 1743075 h 3588041"/>
                <a:gd name="connsiteX7-4751" fmla="*/ 642043 w 1432618"/>
                <a:gd name="connsiteY7-4752" fmla="*/ 1876425 h 3588041"/>
                <a:gd name="connsiteX8-4753" fmla="*/ 689668 w 1432618"/>
                <a:gd name="connsiteY8-4754" fmla="*/ 1647825 h 3588041"/>
                <a:gd name="connsiteX9-4755" fmla="*/ 823018 w 1432618"/>
                <a:gd name="connsiteY9-4756" fmla="*/ 1333500 h 3588041"/>
                <a:gd name="connsiteX10-4757" fmla="*/ 765868 w 1432618"/>
                <a:gd name="connsiteY10-4758" fmla="*/ 809625 h 3588041"/>
                <a:gd name="connsiteX11-4759" fmla="*/ 388043 w 1432618"/>
                <a:gd name="connsiteY11-4760" fmla="*/ 695325 h 3588041"/>
                <a:gd name="connsiteX12-4761" fmla="*/ 781744 w 1432618"/>
                <a:gd name="connsiteY12-4762" fmla="*/ 724693 h 3588041"/>
                <a:gd name="connsiteX13-4763" fmla="*/ 789681 w 1432618"/>
                <a:gd name="connsiteY13-4764" fmla="*/ 441325 h 3588041"/>
                <a:gd name="connsiteX14-4765" fmla="*/ 886518 w 1432618"/>
                <a:gd name="connsiteY14-4766" fmla="*/ 0 h 3588041"/>
                <a:gd name="connsiteX15-4767" fmla="*/ 857943 w 1432618"/>
                <a:gd name="connsiteY15-4768" fmla="*/ 679450 h 3588041"/>
                <a:gd name="connsiteX16-4769" fmla="*/ 921443 w 1432618"/>
                <a:gd name="connsiteY16-4770" fmla="*/ 1047750 h 3588041"/>
                <a:gd name="connsiteX17-4771" fmla="*/ 930968 w 1432618"/>
                <a:gd name="connsiteY17-4772" fmla="*/ 1295400 h 3588041"/>
                <a:gd name="connsiteX18-4773" fmla="*/ 1086543 w 1432618"/>
                <a:gd name="connsiteY18-4774" fmla="*/ 1187450 h 3588041"/>
                <a:gd name="connsiteX19-4775" fmla="*/ 1375468 w 1432618"/>
                <a:gd name="connsiteY19-4776" fmla="*/ 1171575 h 3588041"/>
                <a:gd name="connsiteX20-4777" fmla="*/ 1108768 w 1432618"/>
                <a:gd name="connsiteY20-4778" fmla="*/ 1254125 h 3588041"/>
                <a:gd name="connsiteX21-4779" fmla="*/ 889693 w 1432618"/>
                <a:gd name="connsiteY21-4780" fmla="*/ 1527175 h 3588041"/>
                <a:gd name="connsiteX22-4781" fmla="*/ 835718 w 1432618"/>
                <a:gd name="connsiteY22-4782" fmla="*/ 1895475 h 3588041"/>
                <a:gd name="connsiteX23-4783" fmla="*/ 1003993 w 1432618"/>
                <a:gd name="connsiteY23-4784" fmla="*/ 2308225 h 3588041"/>
                <a:gd name="connsiteX24-4785" fmla="*/ 896043 w 1432618"/>
                <a:gd name="connsiteY24-4786" fmla="*/ 2578100 h 3588041"/>
                <a:gd name="connsiteX25-4787" fmla="*/ 1213543 w 1432618"/>
                <a:gd name="connsiteY25-4788" fmla="*/ 2533650 h 3588041"/>
                <a:gd name="connsiteX26-4789" fmla="*/ 1432618 w 1432618"/>
                <a:gd name="connsiteY26-4790" fmla="*/ 2626519 h 3588041"/>
                <a:gd name="connsiteX27-4791" fmla="*/ 1188143 w 1432618"/>
                <a:gd name="connsiteY27-4792" fmla="*/ 2590800 h 3588041"/>
                <a:gd name="connsiteX28-4793" fmla="*/ 832543 w 1432618"/>
                <a:gd name="connsiteY28-4794" fmla="*/ 2733675 h 3588041"/>
                <a:gd name="connsiteX29-4795" fmla="*/ 689668 w 1432618"/>
                <a:gd name="connsiteY29-4796" fmla="*/ 3086100 h 3588041"/>
                <a:gd name="connsiteX30-4797" fmla="*/ 918268 w 1432618"/>
                <a:gd name="connsiteY30-4798" fmla="*/ 3419475 h 3588041"/>
                <a:gd name="connsiteX31-4799" fmla="*/ 1016693 w 1432618"/>
                <a:gd name="connsiteY31-4800" fmla="*/ 3581400 h 3588041"/>
                <a:gd name="connsiteX0-4801" fmla="*/ 1016693 w 1432618"/>
                <a:gd name="connsiteY0-4802" fmla="*/ 3581400 h 3588041"/>
                <a:gd name="connsiteX1-4803" fmla="*/ 591243 w 1432618"/>
                <a:gd name="connsiteY1-4804" fmla="*/ 3587750 h 3588041"/>
                <a:gd name="connsiteX2-4805" fmla="*/ 394393 w 1432618"/>
                <a:gd name="connsiteY2-4806" fmla="*/ 3076575 h 3588041"/>
                <a:gd name="connsiteX3-4807" fmla="*/ 746818 w 1432618"/>
                <a:gd name="connsiteY3-4808" fmla="*/ 2381250 h 3588041"/>
                <a:gd name="connsiteX4-4809" fmla="*/ 560128 w 1432618"/>
                <a:gd name="connsiteY4-4810" fmla="*/ 1922145 h 3588041"/>
                <a:gd name="connsiteX5-4811" fmla="*/ 58 w 1432618"/>
                <a:gd name="connsiteY5-4812" fmla="*/ 1870710 h 3588041"/>
                <a:gd name="connsiteX6-4813" fmla="*/ 394393 w 1432618"/>
                <a:gd name="connsiteY6-4814" fmla="*/ 1743075 h 3588041"/>
                <a:gd name="connsiteX7-4815" fmla="*/ 642043 w 1432618"/>
                <a:gd name="connsiteY7-4816" fmla="*/ 1876425 h 3588041"/>
                <a:gd name="connsiteX8-4817" fmla="*/ 689668 w 1432618"/>
                <a:gd name="connsiteY8-4818" fmla="*/ 1647825 h 3588041"/>
                <a:gd name="connsiteX9-4819" fmla="*/ 823018 w 1432618"/>
                <a:gd name="connsiteY9-4820" fmla="*/ 1333500 h 3588041"/>
                <a:gd name="connsiteX10-4821" fmla="*/ 765868 w 1432618"/>
                <a:gd name="connsiteY10-4822" fmla="*/ 809625 h 3588041"/>
                <a:gd name="connsiteX11-4823" fmla="*/ 388043 w 1432618"/>
                <a:gd name="connsiteY11-4824" fmla="*/ 695325 h 3588041"/>
                <a:gd name="connsiteX12-4825" fmla="*/ 781744 w 1432618"/>
                <a:gd name="connsiteY12-4826" fmla="*/ 724693 h 3588041"/>
                <a:gd name="connsiteX13-4827" fmla="*/ 789681 w 1432618"/>
                <a:gd name="connsiteY13-4828" fmla="*/ 441325 h 3588041"/>
                <a:gd name="connsiteX14-4829" fmla="*/ 886518 w 1432618"/>
                <a:gd name="connsiteY14-4830" fmla="*/ 0 h 3588041"/>
                <a:gd name="connsiteX15-4831" fmla="*/ 857943 w 1432618"/>
                <a:gd name="connsiteY15-4832" fmla="*/ 679450 h 3588041"/>
                <a:gd name="connsiteX16-4833" fmla="*/ 921443 w 1432618"/>
                <a:gd name="connsiteY16-4834" fmla="*/ 1047750 h 3588041"/>
                <a:gd name="connsiteX17-4835" fmla="*/ 930968 w 1432618"/>
                <a:gd name="connsiteY17-4836" fmla="*/ 1295400 h 3588041"/>
                <a:gd name="connsiteX18-4837" fmla="*/ 1086543 w 1432618"/>
                <a:gd name="connsiteY18-4838" fmla="*/ 1187450 h 3588041"/>
                <a:gd name="connsiteX19-4839" fmla="*/ 1375468 w 1432618"/>
                <a:gd name="connsiteY19-4840" fmla="*/ 1171575 h 3588041"/>
                <a:gd name="connsiteX20-4841" fmla="*/ 1108768 w 1432618"/>
                <a:gd name="connsiteY20-4842" fmla="*/ 1254125 h 3588041"/>
                <a:gd name="connsiteX21-4843" fmla="*/ 889693 w 1432618"/>
                <a:gd name="connsiteY21-4844" fmla="*/ 1527175 h 3588041"/>
                <a:gd name="connsiteX22-4845" fmla="*/ 835718 w 1432618"/>
                <a:gd name="connsiteY22-4846" fmla="*/ 1895475 h 3588041"/>
                <a:gd name="connsiteX23-4847" fmla="*/ 1003993 w 1432618"/>
                <a:gd name="connsiteY23-4848" fmla="*/ 2308225 h 3588041"/>
                <a:gd name="connsiteX24-4849" fmla="*/ 896043 w 1432618"/>
                <a:gd name="connsiteY24-4850" fmla="*/ 2578100 h 3588041"/>
                <a:gd name="connsiteX25-4851" fmla="*/ 1213543 w 1432618"/>
                <a:gd name="connsiteY25-4852" fmla="*/ 2533650 h 3588041"/>
                <a:gd name="connsiteX26-4853" fmla="*/ 1432618 w 1432618"/>
                <a:gd name="connsiteY26-4854" fmla="*/ 2626519 h 3588041"/>
                <a:gd name="connsiteX27-4855" fmla="*/ 1188143 w 1432618"/>
                <a:gd name="connsiteY27-4856" fmla="*/ 2590800 h 3588041"/>
                <a:gd name="connsiteX28-4857" fmla="*/ 832543 w 1432618"/>
                <a:gd name="connsiteY28-4858" fmla="*/ 2733675 h 3588041"/>
                <a:gd name="connsiteX29-4859" fmla="*/ 689668 w 1432618"/>
                <a:gd name="connsiteY29-4860" fmla="*/ 3086100 h 3588041"/>
                <a:gd name="connsiteX30-4861" fmla="*/ 918268 w 1432618"/>
                <a:gd name="connsiteY30-4862" fmla="*/ 3419475 h 3588041"/>
                <a:gd name="connsiteX31-4863" fmla="*/ 1016693 w 1432618"/>
                <a:gd name="connsiteY31-4864" fmla="*/ 3581400 h 3588041"/>
                <a:gd name="connsiteX0-4865" fmla="*/ 1016693 w 1432618"/>
                <a:gd name="connsiteY0-4866" fmla="*/ 3581400 h 3588041"/>
                <a:gd name="connsiteX1-4867" fmla="*/ 591243 w 1432618"/>
                <a:gd name="connsiteY1-4868" fmla="*/ 3587750 h 3588041"/>
                <a:gd name="connsiteX2-4869" fmla="*/ 394393 w 1432618"/>
                <a:gd name="connsiteY2-4870" fmla="*/ 3076575 h 3588041"/>
                <a:gd name="connsiteX3-4871" fmla="*/ 746818 w 1432618"/>
                <a:gd name="connsiteY3-4872" fmla="*/ 2381250 h 3588041"/>
                <a:gd name="connsiteX4-4873" fmla="*/ 560128 w 1432618"/>
                <a:gd name="connsiteY4-4874" fmla="*/ 1922145 h 3588041"/>
                <a:gd name="connsiteX5-4875" fmla="*/ 58 w 1432618"/>
                <a:gd name="connsiteY5-4876" fmla="*/ 1870710 h 3588041"/>
                <a:gd name="connsiteX6-4877" fmla="*/ 394393 w 1432618"/>
                <a:gd name="connsiteY6-4878" fmla="*/ 1743075 h 3588041"/>
                <a:gd name="connsiteX7-4879" fmla="*/ 642043 w 1432618"/>
                <a:gd name="connsiteY7-4880" fmla="*/ 1876425 h 3588041"/>
                <a:gd name="connsiteX8-4881" fmla="*/ 689668 w 1432618"/>
                <a:gd name="connsiteY8-4882" fmla="*/ 1647825 h 3588041"/>
                <a:gd name="connsiteX9-4883" fmla="*/ 823018 w 1432618"/>
                <a:gd name="connsiteY9-4884" fmla="*/ 1333500 h 3588041"/>
                <a:gd name="connsiteX10-4885" fmla="*/ 765868 w 1432618"/>
                <a:gd name="connsiteY10-4886" fmla="*/ 809625 h 3588041"/>
                <a:gd name="connsiteX11-4887" fmla="*/ 388043 w 1432618"/>
                <a:gd name="connsiteY11-4888" fmla="*/ 695325 h 3588041"/>
                <a:gd name="connsiteX12-4889" fmla="*/ 781744 w 1432618"/>
                <a:gd name="connsiteY12-4890" fmla="*/ 724693 h 3588041"/>
                <a:gd name="connsiteX13-4891" fmla="*/ 799206 w 1432618"/>
                <a:gd name="connsiteY13-4892" fmla="*/ 441325 h 3588041"/>
                <a:gd name="connsiteX14-4893" fmla="*/ 886518 w 1432618"/>
                <a:gd name="connsiteY14-4894" fmla="*/ 0 h 3588041"/>
                <a:gd name="connsiteX15-4895" fmla="*/ 857943 w 1432618"/>
                <a:gd name="connsiteY15-4896" fmla="*/ 679450 h 3588041"/>
                <a:gd name="connsiteX16-4897" fmla="*/ 921443 w 1432618"/>
                <a:gd name="connsiteY16-4898" fmla="*/ 1047750 h 3588041"/>
                <a:gd name="connsiteX17-4899" fmla="*/ 930968 w 1432618"/>
                <a:gd name="connsiteY17-4900" fmla="*/ 1295400 h 3588041"/>
                <a:gd name="connsiteX18-4901" fmla="*/ 1086543 w 1432618"/>
                <a:gd name="connsiteY18-4902" fmla="*/ 1187450 h 3588041"/>
                <a:gd name="connsiteX19-4903" fmla="*/ 1375468 w 1432618"/>
                <a:gd name="connsiteY19-4904" fmla="*/ 1171575 h 3588041"/>
                <a:gd name="connsiteX20-4905" fmla="*/ 1108768 w 1432618"/>
                <a:gd name="connsiteY20-4906" fmla="*/ 1254125 h 3588041"/>
                <a:gd name="connsiteX21-4907" fmla="*/ 889693 w 1432618"/>
                <a:gd name="connsiteY21-4908" fmla="*/ 1527175 h 3588041"/>
                <a:gd name="connsiteX22-4909" fmla="*/ 835718 w 1432618"/>
                <a:gd name="connsiteY22-4910" fmla="*/ 1895475 h 3588041"/>
                <a:gd name="connsiteX23-4911" fmla="*/ 1003993 w 1432618"/>
                <a:gd name="connsiteY23-4912" fmla="*/ 2308225 h 3588041"/>
                <a:gd name="connsiteX24-4913" fmla="*/ 896043 w 1432618"/>
                <a:gd name="connsiteY24-4914" fmla="*/ 2578100 h 3588041"/>
                <a:gd name="connsiteX25-4915" fmla="*/ 1213543 w 1432618"/>
                <a:gd name="connsiteY25-4916" fmla="*/ 2533650 h 3588041"/>
                <a:gd name="connsiteX26-4917" fmla="*/ 1432618 w 1432618"/>
                <a:gd name="connsiteY26-4918" fmla="*/ 2626519 h 3588041"/>
                <a:gd name="connsiteX27-4919" fmla="*/ 1188143 w 1432618"/>
                <a:gd name="connsiteY27-4920" fmla="*/ 2590800 h 3588041"/>
                <a:gd name="connsiteX28-4921" fmla="*/ 832543 w 1432618"/>
                <a:gd name="connsiteY28-4922" fmla="*/ 2733675 h 3588041"/>
                <a:gd name="connsiteX29-4923" fmla="*/ 689668 w 1432618"/>
                <a:gd name="connsiteY29-4924" fmla="*/ 3086100 h 3588041"/>
                <a:gd name="connsiteX30-4925" fmla="*/ 918268 w 1432618"/>
                <a:gd name="connsiteY30-4926" fmla="*/ 3419475 h 3588041"/>
                <a:gd name="connsiteX31-4927" fmla="*/ 1016693 w 1432618"/>
                <a:gd name="connsiteY31-4928" fmla="*/ 3581400 h 3588041"/>
                <a:gd name="connsiteX0-4929" fmla="*/ 1016693 w 1432618"/>
                <a:gd name="connsiteY0-4930" fmla="*/ 3581400 h 3588041"/>
                <a:gd name="connsiteX1-4931" fmla="*/ 591243 w 1432618"/>
                <a:gd name="connsiteY1-4932" fmla="*/ 3587750 h 3588041"/>
                <a:gd name="connsiteX2-4933" fmla="*/ 394393 w 1432618"/>
                <a:gd name="connsiteY2-4934" fmla="*/ 3076575 h 3588041"/>
                <a:gd name="connsiteX3-4935" fmla="*/ 746818 w 1432618"/>
                <a:gd name="connsiteY3-4936" fmla="*/ 2381250 h 3588041"/>
                <a:gd name="connsiteX4-4937" fmla="*/ 560128 w 1432618"/>
                <a:gd name="connsiteY4-4938" fmla="*/ 1922145 h 3588041"/>
                <a:gd name="connsiteX5-4939" fmla="*/ 58 w 1432618"/>
                <a:gd name="connsiteY5-4940" fmla="*/ 1870710 h 3588041"/>
                <a:gd name="connsiteX6-4941" fmla="*/ 394393 w 1432618"/>
                <a:gd name="connsiteY6-4942" fmla="*/ 1743075 h 3588041"/>
                <a:gd name="connsiteX7-4943" fmla="*/ 642043 w 1432618"/>
                <a:gd name="connsiteY7-4944" fmla="*/ 1876425 h 3588041"/>
                <a:gd name="connsiteX8-4945" fmla="*/ 689668 w 1432618"/>
                <a:gd name="connsiteY8-4946" fmla="*/ 1647825 h 3588041"/>
                <a:gd name="connsiteX9-4947" fmla="*/ 823018 w 1432618"/>
                <a:gd name="connsiteY9-4948" fmla="*/ 1333500 h 3588041"/>
                <a:gd name="connsiteX10-4949" fmla="*/ 765868 w 1432618"/>
                <a:gd name="connsiteY10-4950" fmla="*/ 809625 h 3588041"/>
                <a:gd name="connsiteX11-4951" fmla="*/ 388043 w 1432618"/>
                <a:gd name="connsiteY11-4952" fmla="*/ 695325 h 3588041"/>
                <a:gd name="connsiteX12-4953" fmla="*/ 781744 w 1432618"/>
                <a:gd name="connsiteY12-4954" fmla="*/ 724693 h 3588041"/>
                <a:gd name="connsiteX13-4955" fmla="*/ 799206 w 1432618"/>
                <a:gd name="connsiteY13-4956" fmla="*/ 441325 h 3588041"/>
                <a:gd name="connsiteX14-4957" fmla="*/ 886518 w 1432618"/>
                <a:gd name="connsiteY14-4958" fmla="*/ 0 h 3588041"/>
                <a:gd name="connsiteX15-4959" fmla="*/ 857943 w 1432618"/>
                <a:gd name="connsiteY15-4960" fmla="*/ 679450 h 3588041"/>
                <a:gd name="connsiteX16-4961" fmla="*/ 921443 w 1432618"/>
                <a:gd name="connsiteY16-4962" fmla="*/ 1047750 h 3588041"/>
                <a:gd name="connsiteX17-4963" fmla="*/ 930968 w 1432618"/>
                <a:gd name="connsiteY17-4964" fmla="*/ 1295400 h 3588041"/>
                <a:gd name="connsiteX18-4965" fmla="*/ 1086543 w 1432618"/>
                <a:gd name="connsiteY18-4966" fmla="*/ 1187450 h 3588041"/>
                <a:gd name="connsiteX19-4967" fmla="*/ 1375468 w 1432618"/>
                <a:gd name="connsiteY19-4968" fmla="*/ 1171575 h 3588041"/>
                <a:gd name="connsiteX20-4969" fmla="*/ 1108768 w 1432618"/>
                <a:gd name="connsiteY20-4970" fmla="*/ 1254125 h 3588041"/>
                <a:gd name="connsiteX21-4971" fmla="*/ 889693 w 1432618"/>
                <a:gd name="connsiteY21-4972" fmla="*/ 1527175 h 3588041"/>
                <a:gd name="connsiteX22-4973" fmla="*/ 835718 w 1432618"/>
                <a:gd name="connsiteY22-4974" fmla="*/ 1895475 h 3588041"/>
                <a:gd name="connsiteX23-4975" fmla="*/ 1003993 w 1432618"/>
                <a:gd name="connsiteY23-4976" fmla="*/ 2308225 h 3588041"/>
                <a:gd name="connsiteX24-4977" fmla="*/ 896043 w 1432618"/>
                <a:gd name="connsiteY24-4978" fmla="*/ 2578100 h 3588041"/>
                <a:gd name="connsiteX25-4979" fmla="*/ 1213543 w 1432618"/>
                <a:gd name="connsiteY25-4980" fmla="*/ 2533650 h 3588041"/>
                <a:gd name="connsiteX26-4981" fmla="*/ 1432618 w 1432618"/>
                <a:gd name="connsiteY26-4982" fmla="*/ 2626519 h 3588041"/>
                <a:gd name="connsiteX27-4983" fmla="*/ 1188143 w 1432618"/>
                <a:gd name="connsiteY27-4984" fmla="*/ 2590800 h 3588041"/>
                <a:gd name="connsiteX28-4985" fmla="*/ 832543 w 1432618"/>
                <a:gd name="connsiteY28-4986" fmla="*/ 2733675 h 3588041"/>
                <a:gd name="connsiteX29-4987" fmla="*/ 689668 w 1432618"/>
                <a:gd name="connsiteY29-4988" fmla="*/ 3086100 h 3588041"/>
                <a:gd name="connsiteX30-4989" fmla="*/ 918268 w 1432618"/>
                <a:gd name="connsiteY30-4990" fmla="*/ 3419475 h 3588041"/>
                <a:gd name="connsiteX31-4991" fmla="*/ 1016693 w 1432618"/>
                <a:gd name="connsiteY31-4992" fmla="*/ 3581400 h 3588041"/>
                <a:gd name="connsiteX0-4993" fmla="*/ 1016693 w 1432618"/>
                <a:gd name="connsiteY0-4994" fmla="*/ 3581400 h 3588041"/>
                <a:gd name="connsiteX1-4995" fmla="*/ 591243 w 1432618"/>
                <a:gd name="connsiteY1-4996" fmla="*/ 3587750 h 3588041"/>
                <a:gd name="connsiteX2-4997" fmla="*/ 394393 w 1432618"/>
                <a:gd name="connsiteY2-4998" fmla="*/ 3076575 h 3588041"/>
                <a:gd name="connsiteX3-4999" fmla="*/ 746818 w 1432618"/>
                <a:gd name="connsiteY3-5000" fmla="*/ 2381250 h 3588041"/>
                <a:gd name="connsiteX4-5001" fmla="*/ 560128 w 1432618"/>
                <a:gd name="connsiteY4-5002" fmla="*/ 1922145 h 3588041"/>
                <a:gd name="connsiteX5-5003" fmla="*/ 58 w 1432618"/>
                <a:gd name="connsiteY5-5004" fmla="*/ 1870710 h 3588041"/>
                <a:gd name="connsiteX6-5005" fmla="*/ 394393 w 1432618"/>
                <a:gd name="connsiteY6-5006" fmla="*/ 1743075 h 3588041"/>
                <a:gd name="connsiteX7-5007" fmla="*/ 642043 w 1432618"/>
                <a:gd name="connsiteY7-5008" fmla="*/ 1876425 h 3588041"/>
                <a:gd name="connsiteX8-5009" fmla="*/ 689668 w 1432618"/>
                <a:gd name="connsiteY8-5010" fmla="*/ 1647825 h 3588041"/>
                <a:gd name="connsiteX9-5011" fmla="*/ 823018 w 1432618"/>
                <a:gd name="connsiteY9-5012" fmla="*/ 1333500 h 3588041"/>
                <a:gd name="connsiteX10-5013" fmla="*/ 765868 w 1432618"/>
                <a:gd name="connsiteY10-5014" fmla="*/ 809625 h 3588041"/>
                <a:gd name="connsiteX11-5015" fmla="*/ 388043 w 1432618"/>
                <a:gd name="connsiteY11-5016" fmla="*/ 695325 h 3588041"/>
                <a:gd name="connsiteX12-5017" fmla="*/ 781744 w 1432618"/>
                <a:gd name="connsiteY12-5018" fmla="*/ 724693 h 3588041"/>
                <a:gd name="connsiteX13-5019" fmla="*/ 799206 w 1432618"/>
                <a:gd name="connsiteY13-5020" fmla="*/ 441325 h 3588041"/>
                <a:gd name="connsiteX14-5021" fmla="*/ 886518 w 1432618"/>
                <a:gd name="connsiteY14-5022" fmla="*/ 0 h 3588041"/>
                <a:gd name="connsiteX15-5023" fmla="*/ 857943 w 1432618"/>
                <a:gd name="connsiteY15-5024" fmla="*/ 679450 h 3588041"/>
                <a:gd name="connsiteX16-5025" fmla="*/ 921443 w 1432618"/>
                <a:gd name="connsiteY16-5026" fmla="*/ 1047750 h 3588041"/>
                <a:gd name="connsiteX17-5027" fmla="*/ 930968 w 1432618"/>
                <a:gd name="connsiteY17-5028" fmla="*/ 1295400 h 3588041"/>
                <a:gd name="connsiteX18-5029" fmla="*/ 1086543 w 1432618"/>
                <a:gd name="connsiteY18-5030" fmla="*/ 1187450 h 3588041"/>
                <a:gd name="connsiteX19-5031" fmla="*/ 1375468 w 1432618"/>
                <a:gd name="connsiteY19-5032" fmla="*/ 1171575 h 3588041"/>
                <a:gd name="connsiteX20-5033" fmla="*/ 1108768 w 1432618"/>
                <a:gd name="connsiteY20-5034" fmla="*/ 1254125 h 3588041"/>
                <a:gd name="connsiteX21-5035" fmla="*/ 889693 w 1432618"/>
                <a:gd name="connsiteY21-5036" fmla="*/ 1527175 h 3588041"/>
                <a:gd name="connsiteX22-5037" fmla="*/ 835718 w 1432618"/>
                <a:gd name="connsiteY22-5038" fmla="*/ 1895475 h 3588041"/>
                <a:gd name="connsiteX23-5039" fmla="*/ 1003993 w 1432618"/>
                <a:gd name="connsiteY23-5040" fmla="*/ 2308225 h 3588041"/>
                <a:gd name="connsiteX24-5041" fmla="*/ 896043 w 1432618"/>
                <a:gd name="connsiteY24-5042" fmla="*/ 2578100 h 3588041"/>
                <a:gd name="connsiteX25-5043" fmla="*/ 1213543 w 1432618"/>
                <a:gd name="connsiteY25-5044" fmla="*/ 2533650 h 3588041"/>
                <a:gd name="connsiteX26-5045" fmla="*/ 1432618 w 1432618"/>
                <a:gd name="connsiteY26-5046" fmla="*/ 2626519 h 3588041"/>
                <a:gd name="connsiteX27-5047" fmla="*/ 1188143 w 1432618"/>
                <a:gd name="connsiteY27-5048" fmla="*/ 2590800 h 3588041"/>
                <a:gd name="connsiteX28-5049" fmla="*/ 832543 w 1432618"/>
                <a:gd name="connsiteY28-5050" fmla="*/ 2733675 h 3588041"/>
                <a:gd name="connsiteX29-5051" fmla="*/ 689668 w 1432618"/>
                <a:gd name="connsiteY29-5052" fmla="*/ 3086100 h 3588041"/>
                <a:gd name="connsiteX30-5053" fmla="*/ 918268 w 1432618"/>
                <a:gd name="connsiteY30-5054" fmla="*/ 3419475 h 3588041"/>
                <a:gd name="connsiteX31-5055" fmla="*/ 1016693 w 1432618"/>
                <a:gd name="connsiteY31-5056" fmla="*/ 3581400 h 3588041"/>
                <a:gd name="connsiteX0-5057" fmla="*/ 1016693 w 1432618"/>
                <a:gd name="connsiteY0-5058" fmla="*/ 3581400 h 3588041"/>
                <a:gd name="connsiteX1-5059" fmla="*/ 591243 w 1432618"/>
                <a:gd name="connsiteY1-5060" fmla="*/ 3587750 h 3588041"/>
                <a:gd name="connsiteX2-5061" fmla="*/ 394393 w 1432618"/>
                <a:gd name="connsiteY2-5062" fmla="*/ 3076575 h 3588041"/>
                <a:gd name="connsiteX3-5063" fmla="*/ 746818 w 1432618"/>
                <a:gd name="connsiteY3-5064" fmla="*/ 2381250 h 3588041"/>
                <a:gd name="connsiteX4-5065" fmla="*/ 560128 w 1432618"/>
                <a:gd name="connsiteY4-5066" fmla="*/ 1922145 h 3588041"/>
                <a:gd name="connsiteX5-5067" fmla="*/ 58 w 1432618"/>
                <a:gd name="connsiteY5-5068" fmla="*/ 1870710 h 3588041"/>
                <a:gd name="connsiteX6-5069" fmla="*/ 394393 w 1432618"/>
                <a:gd name="connsiteY6-5070" fmla="*/ 1743075 h 3588041"/>
                <a:gd name="connsiteX7-5071" fmla="*/ 642043 w 1432618"/>
                <a:gd name="connsiteY7-5072" fmla="*/ 1876425 h 3588041"/>
                <a:gd name="connsiteX8-5073" fmla="*/ 689668 w 1432618"/>
                <a:gd name="connsiteY8-5074" fmla="*/ 1647825 h 3588041"/>
                <a:gd name="connsiteX9-5075" fmla="*/ 823018 w 1432618"/>
                <a:gd name="connsiteY9-5076" fmla="*/ 1333500 h 3588041"/>
                <a:gd name="connsiteX10-5077" fmla="*/ 763487 w 1432618"/>
                <a:gd name="connsiteY10-5078" fmla="*/ 823913 h 3588041"/>
                <a:gd name="connsiteX11-5079" fmla="*/ 388043 w 1432618"/>
                <a:gd name="connsiteY11-5080" fmla="*/ 695325 h 3588041"/>
                <a:gd name="connsiteX12-5081" fmla="*/ 781744 w 1432618"/>
                <a:gd name="connsiteY12-5082" fmla="*/ 724693 h 3588041"/>
                <a:gd name="connsiteX13-5083" fmla="*/ 799206 w 1432618"/>
                <a:gd name="connsiteY13-5084" fmla="*/ 441325 h 3588041"/>
                <a:gd name="connsiteX14-5085" fmla="*/ 886518 w 1432618"/>
                <a:gd name="connsiteY14-5086" fmla="*/ 0 h 3588041"/>
                <a:gd name="connsiteX15-5087" fmla="*/ 857943 w 1432618"/>
                <a:gd name="connsiteY15-5088" fmla="*/ 679450 h 3588041"/>
                <a:gd name="connsiteX16-5089" fmla="*/ 921443 w 1432618"/>
                <a:gd name="connsiteY16-5090" fmla="*/ 1047750 h 3588041"/>
                <a:gd name="connsiteX17-5091" fmla="*/ 930968 w 1432618"/>
                <a:gd name="connsiteY17-5092" fmla="*/ 1295400 h 3588041"/>
                <a:gd name="connsiteX18-5093" fmla="*/ 1086543 w 1432618"/>
                <a:gd name="connsiteY18-5094" fmla="*/ 1187450 h 3588041"/>
                <a:gd name="connsiteX19-5095" fmla="*/ 1375468 w 1432618"/>
                <a:gd name="connsiteY19-5096" fmla="*/ 1171575 h 3588041"/>
                <a:gd name="connsiteX20-5097" fmla="*/ 1108768 w 1432618"/>
                <a:gd name="connsiteY20-5098" fmla="*/ 1254125 h 3588041"/>
                <a:gd name="connsiteX21-5099" fmla="*/ 889693 w 1432618"/>
                <a:gd name="connsiteY21-5100" fmla="*/ 1527175 h 3588041"/>
                <a:gd name="connsiteX22-5101" fmla="*/ 835718 w 1432618"/>
                <a:gd name="connsiteY22-5102" fmla="*/ 1895475 h 3588041"/>
                <a:gd name="connsiteX23-5103" fmla="*/ 1003993 w 1432618"/>
                <a:gd name="connsiteY23-5104" fmla="*/ 2308225 h 3588041"/>
                <a:gd name="connsiteX24-5105" fmla="*/ 896043 w 1432618"/>
                <a:gd name="connsiteY24-5106" fmla="*/ 2578100 h 3588041"/>
                <a:gd name="connsiteX25-5107" fmla="*/ 1213543 w 1432618"/>
                <a:gd name="connsiteY25-5108" fmla="*/ 2533650 h 3588041"/>
                <a:gd name="connsiteX26-5109" fmla="*/ 1432618 w 1432618"/>
                <a:gd name="connsiteY26-5110" fmla="*/ 2626519 h 3588041"/>
                <a:gd name="connsiteX27-5111" fmla="*/ 1188143 w 1432618"/>
                <a:gd name="connsiteY27-5112" fmla="*/ 2590800 h 3588041"/>
                <a:gd name="connsiteX28-5113" fmla="*/ 832543 w 1432618"/>
                <a:gd name="connsiteY28-5114" fmla="*/ 2733675 h 3588041"/>
                <a:gd name="connsiteX29-5115" fmla="*/ 689668 w 1432618"/>
                <a:gd name="connsiteY29-5116" fmla="*/ 3086100 h 3588041"/>
                <a:gd name="connsiteX30-5117" fmla="*/ 918268 w 1432618"/>
                <a:gd name="connsiteY30-5118" fmla="*/ 3419475 h 3588041"/>
                <a:gd name="connsiteX31-5119" fmla="*/ 1016693 w 1432618"/>
                <a:gd name="connsiteY31-5120" fmla="*/ 3581400 h 3588041"/>
                <a:gd name="connsiteX0-5121" fmla="*/ 1016693 w 1432618"/>
                <a:gd name="connsiteY0-5122" fmla="*/ 3581400 h 3588041"/>
                <a:gd name="connsiteX1-5123" fmla="*/ 591243 w 1432618"/>
                <a:gd name="connsiteY1-5124" fmla="*/ 3587750 h 3588041"/>
                <a:gd name="connsiteX2-5125" fmla="*/ 394393 w 1432618"/>
                <a:gd name="connsiteY2-5126" fmla="*/ 3076575 h 3588041"/>
                <a:gd name="connsiteX3-5127" fmla="*/ 746818 w 1432618"/>
                <a:gd name="connsiteY3-5128" fmla="*/ 2381250 h 3588041"/>
                <a:gd name="connsiteX4-5129" fmla="*/ 560128 w 1432618"/>
                <a:gd name="connsiteY4-5130" fmla="*/ 1922145 h 3588041"/>
                <a:gd name="connsiteX5-5131" fmla="*/ 58 w 1432618"/>
                <a:gd name="connsiteY5-5132" fmla="*/ 1870710 h 3588041"/>
                <a:gd name="connsiteX6-5133" fmla="*/ 394393 w 1432618"/>
                <a:gd name="connsiteY6-5134" fmla="*/ 1743075 h 3588041"/>
                <a:gd name="connsiteX7-5135" fmla="*/ 642043 w 1432618"/>
                <a:gd name="connsiteY7-5136" fmla="*/ 1876425 h 3588041"/>
                <a:gd name="connsiteX8-5137" fmla="*/ 689668 w 1432618"/>
                <a:gd name="connsiteY8-5138" fmla="*/ 1647825 h 3588041"/>
                <a:gd name="connsiteX9-5139" fmla="*/ 823018 w 1432618"/>
                <a:gd name="connsiteY9-5140" fmla="*/ 1333500 h 3588041"/>
                <a:gd name="connsiteX10-5141" fmla="*/ 763487 w 1432618"/>
                <a:gd name="connsiteY10-5142" fmla="*/ 823913 h 3588041"/>
                <a:gd name="connsiteX11-5143" fmla="*/ 388043 w 1432618"/>
                <a:gd name="connsiteY11-5144" fmla="*/ 695325 h 3588041"/>
                <a:gd name="connsiteX12-5145" fmla="*/ 781744 w 1432618"/>
                <a:gd name="connsiteY12-5146" fmla="*/ 724693 h 3588041"/>
                <a:gd name="connsiteX13-5147" fmla="*/ 799206 w 1432618"/>
                <a:gd name="connsiteY13-5148" fmla="*/ 441325 h 3588041"/>
                <a:gd name="connsiteX14-5149" fmla="*/ 886518 w 1432618"/>
                <a:gd name="connsiteY14-5150" fmla="*/ 0 h 3588041"/>
                <a:gd name="connsiteX15-5151" fmla="*/ 857943 w 1432618"/>
                <a:gd name="connsiteY15-5152" fmla="*/ 679450 h 3588041"/>
                <a:gd name="connsiteX16-5153" fmla="*/ 921443 w 1432618"/>
                <a:gd name="connsiteY16-5154" fmla="*/ 1047750 h 3588041"/>
                <a:gd name="connsiteX17-5155" fmla="*/ 930968 w 1432618"/>
                <a:gd name="connsiteY17-5156" fmla="*/ 1295400 h 3588041"/>
                <a:gd name="connsiteX18-5157" fmla="*/ 1086543 w 1432618"/>
                <a:gd name="connsiteY18-5158" fmla="*/ 1187450 h 3588041"/>
                <a:gd name="connsiteX19-5159" fmla="*/ 1375468 w 1432618"/>
                <a:gd name="connsiteY19-5160" fmla="*/ 1171575 h 3588041"/>
                <a:gd name="connsiteX20-5161" fmla="*/ 1108768 w 1432618"/>
                <a:gd name="connsiteY20-5162" fmla="*/ 1254125 h 3588041"/>
                <a:gd name="connsiteX21-5163" fmla="*/ 889693 w 1432618"/>
                <a:gd name="connsiteY21-5164" fmla="*/ 1527175 h 3588041"/>
                <a:gd name="connsiteX22-5165" fmla="*/ 835718 w 1432618"/>
                <a:gd name="connsiteY22-5166" fmla="*/ 1895475 h 3588041"/>
                <a:gd name="connsiteX23-5167" fmla="*/ 1003993 w 1432618"/>
                <a:gd name="connsiteY23-5168" fmla="*/ 2308225 h 3588041"/>
                <a:gd name="connsiteX24-5169" fmla="*/ 896043 w 1432618"/>
                <a:gd name="connsiteY24-5170" fmla="*/ 2578100 h 3588041"/>
                <a:gd name="connsiteX25-5171" fmla="*/ 1213543 w 1432618"/>
                <a:gd name="connsiteY25-5172" fmla="*/ 2533650 h 3588041"/>
                <a:gd name="connsiteX26-5173" fmla="*/ 1432618 w 1432618"/>
                <a:gd name="connsiteY26-5174" fmla="*/ 2626519 h 3588041"/>
                <a:gd name="connsiteX27-5175" fmla="*/ 1188143 w 1432618"/>
                <a:gd name="connsiteY27-5176" fmla="*/ 2590800 h 3588041"/>
                <a:gd name="connsiteX28-5177" fmla="*/ 832543 w 1432618"/>
                <a:gd name="connsiteY28-5178" fmla="*/ 2733675 h 3588041"/>
                <a:gd name="connsiteX29-5179" fmla="*/ 689668 w 1432618"/>
                <a:gd name="connsiteY29-5180" fmla="*/ 3086100 h 3588041"/>
                <a:gd name="connsiteX30-5181" fmla="*/ 918268 w 1432618"/>
                <a:gd name="connsiteY30-5182" fmla="*/ 3419475 h 3588041"/>
                <a:gd name="connsiteX31-5183" fmla="*/ 1016693 w 1432618"/>
                <a:gd name="connsiteY31-5184" fmla="*/ 3581400 h 3588041"/>
                <a:gd name="connsiteX0-5185" fmla="*/ 1016693 w 1432618"/>
                <a:gd name="connsiteY0-5186" fmla="*/ 3581400 h 3588041"/>
                <a:gd name="connsiteX1-5187" fmla="*/ 591243 w 1432618"/>
                <a:gd name="connsiteY1-5188" fmla="*/ 3587750 h 3588041"/>
                <a:gd name="connsiteX2-5189" fmla="*/ 394393 w 1432618"/>
                <a:gd name="connsiteY2-5190" fmla="*/ 3076575 h 3588041"/>
                <a:gd name="connsiteX3-5191" fmla="*/ 746818 w 1432618"/>
                <a:gd name="connsiteY3-5192" fmla="*/ 2381250 h 3588041"/>
                <a:gd name="connsiteX4-5193" fmla="*/ 560128 w 1432618"/>
                <a:gd name="connsiteY4-5194" fmla="*/ 1922145 h 3588041"/>
                <a:gd name="connsiteX5-5195" fmla="*/ 58 w 1432618"/>
                <a:gd name="connsiteY5-5196" fmla="*/ 1870710 h 3588041"/>
                <a:gd name="connsiteX6-5197" fmla="*/ 394393 w 1432618"/>
                <a:gd name="connsiteY6-5198" fmla="*/ 1743075 h 3588041"/>
                <a:gd name="connsiteX7-5199" fmla="*/ 642043 w 1432618"/>
                <a:gd name="connsiteY7-5200" fmla="*/ 1876425 h 3588041"/>
                <a:gd name="connsiteX8-5201" fmla="*/ 689668 w 1432618"/>
                <a:gd name="connsiteY8-5202" fmla="*/ 1647825 h 3588041"/>
                <a:gd name="connsiteX9-5203" fmla="*/ 823018 w 1432618"/>
                <a:gd name="connsiteY9-5204" fmla="*/ 1333500 h 3588041"/>
                <a:gd name="connsiteX10-5205" fmla="*/ 763487 w 1432618"/>
                <a:gd name="connsiteY10-5206" fmla="*/ 823913 h 3588041"/>
                <a:gd name="connsiteX11-5207" fmla="*/ 388043 w 1432618"/>
                <a:gd name="connsiteY11-5208" fmla="*/ 695325 h 3588041"/>
                <a:gd name="connsiteX12-5209" fmla="*/ 781744 w 1432618"/>
                <a:gd name="connsiteY12-5210" fmla="*/ 724693 h 3588041"/>
                <a:gd name="connsiteX13-5211" fmla="*/ 799206 w 1432618"/>
                <a:gd name="connsiteY13-5212" fmla="*/ 441325 h 3588041"/>
                <a:gd name="connsiteX14-5213" fmla="*/ 886518 w 1432618"/>
                <a:gd name="connsiteY14-5214" fmla="*/ 0 h 3588041"/>
                <a:gd name="connsiteX15-5215" fmla="*/ 857943 w 1432618"/>
                <a:gd name="connsiteY15-5216" fmla="*/ 679450 h 3588041"/>
                <a:gd name="connsiteX16-5217" fmla="*/ 921443 w 1432618"/>
                <a:gd name="connsiteY16-5218" fmla="*/ 1047750 h 3588041"/>
                <a:gd name="connsiteX17-5219" fmla="*/ 930968 w 1432618"/>
                <a:gd name="connsiteY17-5220" fmla="*/ 1295400 h 3588041"/>
                <a:gd name="connsiteX18-5221" fmla="*/ 1099243 w 1432618"/>
                <a:gd name="connsiteY18-5222" fmla="*/ 1190625 h 3588041"/>
                <a:gd name="connsiteX19-5223" fmla="*/ 1375468 w 1432618"/>
                <a:gd name="connsiteY19-5224" fmla="*/ 1171575 h 3588041"/>
                <a:gd name="connsiteX20-5225" fmla="*/ 1108768 w 1432618"/>
                <a:gd name="connsiteY20-5226" fmla="*/ 1254125 h 3588041"/>
                <a:gd name="connsiteX21-5227" fmla="*/ 889693 w 1432618"/>
                <a:gd name="connsiteY21-5228" fmla="*/ 1527175 h 3588041"/>
                <a:gd name="connsiteX22-5229" fmla="*/ 835718 w 1432618"/>
                <a:gd name="connsiteY22-5230" fmla="*/ 1895475 h 3588041"/>
                <a:gd name="connsiteX23-5231" fmla="*/ 1003993 w 1432618"/>
                <a:gd name="connsiteY23-5232" fmla="*/ 2308225 h 3588041"/>
                <a:gd name="connsiteX24-5233" fmla="*/ 896043 w 1432618"/>
                <a:gd name="connsiteY24-5234" fmla="*/ 2578100 h 3588041"/>
                <a:gd name="connsiteX25-5235" fmla="*/ 1213543 w 1432618"/>
                <a:gd name="connsiteY25-5236" fmla="*/ 2533650 h 3588041"/>
                <a:gd name="connsiteX26-5237" fmla="*/ 1432618 w 1432618"/>
                <a:gd name="connsiteY26-5238" fmla="*/ 2626519 h 3588041"/>
                <a:gd name="connsiteX27-5239" fmla="*/ 1188143 w 1432618"/>
                <a:gd name="connsiteY27-5240" fmla="*/ 2590800 h 3588041"/>
                <a:gd name="connsiteX28-5241" fmla="*/ 832543 w 1432618"/>
                <a:gd name="connsiteY28-5242" fmla="*/ 2733675 h 3588041"/>
                <a:gd name="connsiteX29-5243" fmla="*/ 689668 w 1432618"/>
                <a:gd name="connsiteY29-5244" fmla="*/ 3086100 h 3588041"/>
                <a:gd name="connsiteX30-5245" fmla="*/ 918268 w 1432618"/>
                <a:gd name="connsiteY30-5246" fmla="*/ 3419475 h 3588041"/>
                <a:gd name="connsiteX31-5247" fmla="*/ 1016693 w 1432618"/>
                <a:gd name="connsiteY31-5248" fmla="*/ 3581400 h 3588041"/>
                <a:gd name="connsiteX0-5249" fmla="*/ 1016693 w 1432618"/>
                <a:gd name="connsiteY0-5250" fmla="*/ 3581400 h 3588041"/>
                <a:gd name="connsiteX1-5251" fmla="*/ 591243 w 1432618"/>
                <a:gd name="connsiteY1-5252" fmla="*/ 3587750 h 3588041"/>
                <a:gd name="connsiteX2-5253" fmla="*/ 394393 w 1432618"/>
                <a:gd name="connsiteY2-5254" fmla="*/ 3076575 h 3588041"/>
                <a:gd name="connsiteX3-5255" fmla="*/ 746818 w 1432618"/>
                <a:gd name="connsiteY3-5256" fmla="*/ 2381250 h 3588041"/>
                <a:gd name="connsiteX4-5257" fmla="*/ 560128 w 1432618"/>
                <a:gd name="connsiteY4-5258" fmla="*/ 1922145 h 3588041"/>
                <a:gd name="connsiteX5-5259" fmla="*/ 58 w 1432618"/>
                <a:gd name="connsiteY5-5260" fmla="*/ 1870710 h 3588041"/>
                <a:gd name="connsiteX6-5261" fmla="*/ 394393 w 1432618"/>
                <a:gd name="connsiteY6-5262" fmla="*/ 1743075 h 3588041"/>
                <a:gd name="connsiteX7-5263" fmla="*/ 642043 w 1432618"/>
                <a:gd name="connsiteY7-5264" fmla="*/ 1876425 h 3588041"/>
                <a:gd name="connsiteX8-5265" fmla="*/ 689668 w 1432618"/>
                <a:gd name="connsiteY8-5266" fmla="*/ 1647825 h 3588041"/>
                <a:gd name="connsiteX9-5267" fmla="*/ 823018 w 1432618"/>
                <a:gd name="connsiteY9-5268" fmla="*/ 1333500 h 3588041"/>
                <a:gd name="connsiteX10-5269" fmla="*/ 763487 w 1432618"/>
                <a:gd name="connsiteY10-5270" fmla="*/ 823913 h 3588041"/>
                <a:gd name="connsiteX11-5271" fmla="*/ 388043 w 1432618"/>
                <a:gd name="connsiteY11-5272" fmla="*/ 695325 h 3588041"/>
                <a:gd name="connsiteX12-5273" fmla="*/ 781744 w 1432618"/>
                <a:gd name="connsiteY12-5274" fmla="*/ 724693 h 3588041"/>
                <a:gd name="connsiteX13-5275" fmla="*/ 799206 w 1432618"/>
                <a:gd name="connsiteY13-5276" fmla="*/ 441325 h 3588041"/>
                <a:gd name="connsiteX14-5277" fmla="*/ 886518 w 1432618"/>
                <a:gd name="connsiteY14-5278" fmla="*/ 0 h 3588041"/>
                <a:gd name="connsiteX15-5279" fmla="*/ 857943 w 1432618"/>
                <a:gd name="connsiteY15-5280" fmla="*/ 679450 h 3588041"/>
                <a:gd name="connsiteX16-5281" fmla="*/ 921443 w 1432618"/>
                <a:gd name="connsiteY16-5282" fmla="*/ 1047750 h 3588041"/>
                <a:gd name="connsiteX17-5283" fmla="*/ 930968 w 1432618"/>
                <a:gd name="connsiteY17-5284" fmla="*/ 1295400 h 3588041"/>
                <a:gd name="connsiteX18-5285" fmla="*/ 1099243 w 1432618"/>
                <a:gd name="connsiteY18-5286" fmla="*/ 1190625 h 3588041"/>
                <a:gd name="connsiteX19-5287" fmla="*/ 1375468 w 1432618"/>
                <a:gd name="connsiteY19-5288" fmla="*/ 1171575 h 3588041"/>
                <a:gd name="connsiteX20-5289" fmla="*/ 1108768 w 1432618"/>
                <a:gd name="connsiteY20-5290" fmla="*/ 1254125 h 3588041"/>
                <a:gd name="connsiteX21-5291" fmla="*/ 889693 w 1432618"/>
                <a:gd name="connsiteY21-5292" fmla="*/ 1527175 h 3588041"/>
                <a:gd name="connsiteX22-5293" fmla="*/ 835718 w 1432618"/>
                <a:gd name="connsiteY22-5294" fmla="*/ 1895475 h 3588041"/>
                <a:gd name="connsiteX23-5295" fmla="*/ 1003993 w 1432618"/>
                <a:gd name="connsiteY23-5296" fmla="*/ 2308225 h 3588041"/>
                <a:gd name="connsiteX24-5297" fmla="*/ 896043 w 1432618"/>
                <a:gd name="connsiteY24-5298" fmla="*/ 2578100 h 3588041"/>
                <a:gd name="connsiteX25-5299" fmla="*/ 1213543 w 1432618"/>
                <a:gd name="connsiteY25-5300" fmla="*/ 2533650 h 3588041"/>
                <a:gd name="connsiteX26-5301" fmla="*/ 1432618 w 1432618"/>
                <a:gd name="connsiteY26-5302" fmla="*/ 2626519 h 3588041"/>
                <a:gd name="connsiteX27-5303" fmla="*/ 1188143 w 1432618"/>
                <a:gd name="connsiteY27-5304" fmla="*/ 2590800 h 3588041"/>
                <a:gd name="connsiteX28-5305" fmla="*/ 832543 w 1432618"/>
                <a:gd name="connsiteY28-5306" fmla="*/ 2733675 h 3588041"/>
                <a:gd name="connsiteX29-5307" fmla="*/ 689668 w 1432618"/>
                <a:gd name="connsiteY29-5308" fmla="*/ 3086100 h 3588041"/>
                <a:gd name="connsiteX30-5309" fmla="*/ 918268 w 1432618"/>
                <a:gd name="connsiteY30-5310" fmla="*/ 3419475 h 3588041"/>
                <a:gd name="connsiteX31-5311" fmla="*/ 1016693 w 1432618"/>
                <a:gd name="connsiteY31-5312" fmla="*/ 3581400 h 3588041"/>
                <a:gd name="connsiteX0-5313" fmla="*/ 1016693 w 1432618"/>
                <a:gd name="connsiteY0-5314" fmla="*/ 3581400 h 3588041"/>
                <a:gd name="connsiteX1-5315" fmla="*/ 591243 w 1432618"/>
                <a:gd name="connsiteY1-5316" fmla="*/ 3587750 h 3588041"/>
                <a:gd name="connsiteX2-5317" fmla="*/ 394393 w 1432618"/>
                <a:gd name="connsiteY2-5318" fmla="*/ 3076575 h 3588041"/>
                <a:gd name="connsiteX3-5319" fmla="*/ 746818 w 1432618"/>
                <a:gd name="connsiteY3-5320" fmla="*/ 2381250 h 3588041"/>
                <a:gd name="connsiteX4-5321" fmla="*/ 560128 w 1432618"/>
                <a:gd name="connsiteY4-5322" fmla="*/ 1922145 h 3588041"/>
                <a:gd name="connsiteX5-5323" fmla="*/ 58 w 1432618"/>
                <a:gd name="connsiteY5-5324" fmla="*/ 1870710 h 3588041"/>
                <a:gd name="connsiteX6-5325" fmla="*/ 394393 w 1432618"/>
                <a:gd name="connsiteY6-5326" fmla="*/ 1743075 h 3588041"/>
                <a:gd name="connsiteX7-5327" fmla="*/ 642043 w 1432618"/>
                <a:gd name="connsiteY7-5328" fmla="*/ 1876425 h 3588041"/>
                <a:gd name="connsiteX8-5329" fmla="*/ 689668 w 1432618"/>
                <a:gd name="connsiteY8-5330" fmla="*/ 1647825 h 3588041"/>
                <a:gd name="connsiteX9-5331" fmla="*/ 823018 w 1432618"/>
                <a:gd name="connsiteY9-5332" fmla="*/ 1333500 h 3588041"/>
                <a:gd name="connsiteX10-5333" fmla="*/ 763487 w 1432618"/>
                <a:gd name="connsiteY10-5334" fmla="*/ 823913 h 3588041"/>
                <a:gd name="connsiteX11-5335" fmla="*/ 388043 w 1432618"/>
                <a:gd name="connsiteY11-5336" fmla="*/ 695325 h 3588041"/>
                <a:gd name="connsiteX12-5337" fmla="*/ 781744 w 1432618"/>
                <a:gd name="connsiteY12-5338" fmla="*/ 724693 h 3588041"/>
                <a:gd name="connsiteX13-5339" fmla="*/ 799206 w 1432618"/>
                <a:gd name="connsiteY13-5340" fmla="*/ 441325 h 3588041"/>
                <a:gd name="connsiteX14-5341" fmla="*/ 886518 w 1432618"/>
                <a:gd name="connsiteY14-5342" fmla="*/ 0 h 3588041"/>
                <a:gd name="connsiteX15-5343" fmla="*/ 857943 w 1432618"/>
                <a:gd name="connsiteY15-5344" fmla="*/ 679450 h 3588041"/>
                <a:gd name="connsiteX16-5345" fmla="*/ 921443 w 1432618"/>
                <a:gd name="connsiteY16-5346" fmla="*/ 1047750 h 3588041"/>
                <a:gd name="connsiteX17-5347" fmla="*/ 930968 w 1432618"/>
                <a:gd name="connsiteY17-5348" fmla="*/ 1295400 h 3588041"/>
                <a:gd name="connsiteX18-5349" fmla="*/ 1099243 w 1432618"/>
                <a:gd name="connsiteY18-5350" fmla="*/ 1190625 h 3588041"/>
                <a:gd name="connsiteX19-5351" fmla="*/ 1375468 w 1432618"/>
                <a:gd name="connsiteY19-5352" fmla="*/ 1171575 h 3588041"/>
                <a:gd name="connsiteX20-5353" fmla="*/ 1108768 w 1432618"/>
                <a:gd name="connsiteY20-5354" fmla="*/ 1254125 h 3588041"/>
                <a:gd name="connsiteX21-5355" fmla="*/ 889693 w 1432618"/>
                <a:gd name="connsiteY21-5356" fmla="*/ 1527175 h 3588041"/>
                <a:gd name="connsiteX22-5357" fmla="*/ 835718 w 1432618"/>
                <a:gd name="connsiteY22-5358" fmla="*/ 1895475 h 3588041"/>
                <a:gd name="connsiteX23-5359" fmla="*/ 1003993 w 1432618"/>
                <a:gd name="connsiteY23-5360" fmla="*/ 2308225 h 3588041"/>
                <a:gd name="connsiteX24-5361" fmla="*/ 896043 w 1432618"/>
                <a:gd name="connsiteY24-5362" fmla="*/ 2578100 h 3588041"/>
                <a:gd name="connsiteX25-5363" fmla="*/ 1213543 w 1432618"/>
                <a:gd name="connsiteY25-5364" fmla="*/ 2533650 h 3588041"/>
                <a:gd name="connsiteX26-5365" fmla="*/ 1432618 w 1432618"/>
                <a:gd name="connsiteY26-5366" fmla="*/ 2626519 h 3588041"/>
                <a:gd name="connsiteX27-5367" fmla="*/ 1188143 w 1432618"/>
                <a:gd name="connsiteY27-5368" fmla="*/ 2590800 h 3588041"/>
                <a:gd name="connsiteX28-5369" fmla="*/ 832543 w 1432618"/>
                <a:gd name="connsiteY28-5370" fmla="*/ 2733675 h 3588041"/>
                <a:gd name="connsiteX29-5371" fmla="*/ 689668 w 1432618"/>
                <a:gd name="connsiteY29-5372" fmla="*/ 3086100 h 3588041"/>
                <a:gd name="connsiteX30-5373" fmla="*/ 918268 w 1432618"/>
                <a:gd name="connsiteY30-5374" fmla="*/ 3419475 h 3588041"/>
                <a:gd name="connsiteX31-5375" fmla="*/ 1016693 w 1432618"/>
                <a:gd name="connsiteY31-5376" fmla="*/ 3581400 h 3588041"/>
                <a:gd name="connsiteX0-5377" fmla="*/ 1016693 w 1432618"/>
                <a:gd name="connsiteY0-5378" fmla="*/ 3581400 h 3588041"/>
                <a:gd name="connsiteX1-5379" fmla="*/ 591243 w 1432618"/>
                <a:gd name="connsiteY1-5380" fmla="*/ 3587750 h 3588041"/>
                <a:gd name="connsiteX2-5381" fmla="*/ 394393 w 1432618"/>
                <a:gd name="connsiteY2-5382" fmla="*/ 3076575 h 3588041"/>
                <a:gd name="connsiteX3-5383" fmla="*/ 746818 w 1432618"/>
                <a:gd name="connsiteY3-5384" fmla="*/ 2381250 h 3588041"/>
                <a:gd name="connsiteX4-5385" fmla="*/ 560128 w 1432618"/>
                <a:gd name="connsiteY4-5386" fmla="*/ 1922145 h 3588041"/>
                <a:gd name="connsiteX5-5387" fmla="*/ 58 w 1432618"/>
                <a:gd name="connsiteY5-5388" fmla="*/ 1870710 h 3588041"/>
                <a:gd name="connsiteX6-5389" fmla="*/ 394393 w 1432618"/>
                <a:gd name="connsiteY6-5390" fmla="*/ 1743075 h 3588041"/>
                <a:gd name="connsiteX7-5391" fmla="*/ 642043 w 1432618"/>
                <a:gd name="connsiteY7-5392" fmla="*/ 1876425 h 3588041"/>
                <a:gd name="connsiteX8-5393" fmla="*/ 689668 w 1432618"/>
                <a:gd name="connsiteY8-5394" fmla="*/ 1647825 h 3588041"/>
                <a:gd name="connsiteX9-5395" fmla="*/ 823018 w 1432618"/>
                <a:gd name="connsiteY9-5396" fmla="*/ 1333500 h 3588041"/>
                <a:gd name="connsiteX10-5397" fmla="*/ 763487 w 1432618"/>
                <a:gd name="connsiteY10-5398" fmla="*/ 823913 h 3588041"/>
                <a:gd name="connsiteX11-5399" fmla="*/ 388043 w 1432618"/>
                <a:gd name="connsiteY11-5400" fmla="*/ 695325 h 3588041"/>
                <a:gd name="connsiteX12-5401" fmla="*/ 781744 w 1432618"/>
                <a:gd name="connsiteY12-5402" fmla="*/ 724693 h 3588041"/>
                <a:gd name="connsiteX13-5403" fmla="*/ 799206 w 1432618"/>
                <a:gd name="connsiteY13-5404" fmla="*/ 441325 h 3588041"/>
                <a:gd name="connsiteX14-5405" fmla="*/ 886518 w 1432618"/>
                <a:gd name="connsiteY14-5406" fmla="*/ 0 h 3588041"/>
                <a:gd name="connsiteX15-5407" fmla="*/ 857943 w 1432618"/>
                <a:gd name="connsiteY15-5408" fmla="*/ 679450 h 3588041"/>
                <a:gd name="connsiteX16-5409" fmla="*/ 921443 w 1432618"/>
                <a:gd name="connsiteY16-5410" fmla="*/ 1047750 h 3588041"/>
                <a:gd name="connsiteX17-5411" fmla="*/ 930968 w 1432618"/>
                <a:gd name="connsiteY17-5412" fmla="*/ 1295400 h 3588041"/>
                <a:gd name="connsiteX18-5413" fmla="*/ 1102418 w 1432618"/>
                <a:gd name="connsiteY18-5414" fmla="*/ 1187450 h 3588041"/>
                <a:gd name="connsiteX19-5415" fmla="*/ 1375468 w 1432618"/>
                <a:gd name="connsiteY19-5416" fmla="*/ 1171575 h 3588041"/>
                <a:gd name="connsiteX20-5417" fmla="*/ 1108768 w 1432618"/>
                <a:gd name="connsiteY20-5418" fmla="*/ 1254125 h 3588041"/>
                <a:gd name="connsiteX21-5419" fmla="*/ 889693 w 1432618"/>
                <a:gd name="connsiteY21-5420" fmla="*/ 1527175 h 3588041"/>
                <a:gd name="connsiteX22-5421" fmla="*/ 835718 w 1432618"/>
                <a:gd name="connsiteY22-5422" fmla="*/ 1895475 h 3588041"/>
                <a:gd name="connsiteX23-5423" fmla="*/ 1003993 w 1432618"/>
                <a:gd name="connsiteY23-5424" fmla="*/ 2308225 h 3588041"/>
                <a:gd name="connsiteX24-5425" fmla="*/ 896043 w 1432618"/>
                <a:gd name="connsiteY24-5426" fmla="*/ 2578100 h 3588041"/>
                <a:gd name="connsiteX25-5427" fmla="*/ 1213543 w 1432618"/>
                <a:gd name="connsiteY25-5428" fmla="*/ 2533650 h 3588041"/>
                <a:gd name="connsiteX26-5429" fmla="*/ 1432618 w 1432618"/>
                <a:gd name="connsiteY26-5430" fmla="*/ 2626519 h 3588041"/>
                <a:gd name="connsiteX27-5431" fmla="*/ 1188143 w 1432618"/>
                <a:gd name="connsiteY27-5432" fmla="*/ 2590800 h 3588041"/>
                <a:gd name="connsiteX28-5433" fmla="*/ 832543 w 1432618"/>
                <a:gd name="connsiteY28-5434" fmla="*/ 2733675 h 3588041"/>
                <a:gd name="connsiteX29-5435" fmla="*/ 689668 w 1432618"/>
                <a:gd name="connsiteY29-5436" fmla="*/ 3086100 h 3588041"/>
                <a:gd name="connsiteX30-5437" fmla="*/ 918268 w 1432618"/>
                <a:gd name="connsiteY30-5438" fmla="*/ 3419475 h 3588041"/>
                <a:gd name="connsiteX31-5439" fmla="*/ 1016693 w 1432618"/>
                <a:gd name="connsiteY31-5440" fmla="*/ 3581400 h 3588041"/>
                <a:gd name="connsiteX0-5441" fmla="*/ 1016693 w 1432618"/>
                <a:gd name="connsiteY0-5442" fmla="*/ 3581400 h 3588041"/>
                <a:gd name="connsiteX1-5443" fmla="*/ 591243 w 1432618"/>
                <a:gd name="connsiteY1-5444" fmla="*/ 3587750 h 3588041"/>
                <a:gd name="connsiteX2-5445" fmla="*/ 394393 w 1432618"/>
                <a:gd name="connsiteY2-5446" fmla="*/ 3076575 h 3588041"/>
                <a:gd name="connsiteX3-5447" fmla="*/ 746818 w 1432618"/>
                <a:gd name="connsiteY3-5448" fmla="*/ 2381250 h 3588041"/>
                <a:gd name="connsiteX4-5449" fmla="*/ 560128 w 1432618"/>
                <a:gd name="connsiteY4-5450" fmla="*/ 1922145 h 3588041"/>
                <a:gd name="connsiteX5-5451" fmla="*/ 58 w 1432618"/>
                <a:gd name="connsiteY5-5452" fmla="*/ 1870710 h 3588041"/>
                <a:gd name="connsiteX6-5453" fmla="*/ 394393 w 1432618"/>
                <a:gd name="connsiteY6-5454" fmla="*/ 1743075 h 3588041"/>
                <a:gd name="connsiteX7-5455" fmla="*/ 642043 w 1432618"/>
                <a:gd name="connsiteY7-5456" fmla="*/ 1876425 h 3588041"/>
                <a:gd name="connsiteX8-5457" fmla="*/ 689668 w 1432618"/>
                <a:gd name="connsiteY8-5458" fmla="*/ 1647825 h 3588041"/>
                <a:gd name="connsiteX9-5459" fmla="*/ 823018 w 1432618"/>
                <a:gd name="connsiteY9-5460" fmla="*/ 1333500 h 3588041"/>
                <a:gd name="connsiteX10-5461" fmla="*/ 763487 w 1432618"/>
                <a:gd name="connsiteY10-5462" fmla="*/ 823913 h 3588041"/>
                <a:gd name="connsiteX11-5463" fmla="*/ 388043 w 1432618"/>
                <a:gd name="connsiteY11-5464" fmla="*/ 695325 h 3588041"/>
                <a:gd name="connsiteX12-5465" fmla="*/ 781744 w 1432618"/>
                <a:gd name="connsiteY12-5466" fmla="*/ 724693 h 3588041"/>
                <a:gd name="connsiteX13-5467" fmla="*/ 799206 w 1432618"/>
                <a:gd name="connsiteY13-5468" fmla="*/ 441325 h 3588041"/>
                <a:gd name="connsiteX14-5469" fmla="*/ 886518 w 1432618"/>
                <a:gd name="connsiteY14-5470" fmla="*/ 0 h 3588041"/>
                <a:gd name="connsiteX15-5471" fmla="*/ 857943 w 1432618"/>
                <a:gd name="connsiteY15-5472" fmla="*/ 679450 h 3588041"/>
                <a:gd name="connsiteX16-5473" fmla="*/ 921443 w 1432618"/>
                <a:gd name="connsiteY16-5474" fmla="*/ 1047750 h 3588041"/>
                <a:gd name="connsiteX17-5475" fmla="*/ 930968 w 1432618"/>
                <a:gd name="connsiteY17-5476" fmla="*/ 1295400 h 3588041"/>
                <a:gd name="connsiteX18-5477" fmla="*/ 1102418 w 1432618"/>
                <a:gd name="connsiteY18-5478" fmla="*/ 1187450 h 3588041"/>
                <a:gd name="connsiteX19-5479" fmla="*/ 1375468 w 1432618"/>
                <a:gd name="connsiteY19-5480" fmla="*/ 1171575 h 3588041"/>
                <a:gd name="connsiteX20-5481" fmla="*/ 1108768 w 1432618"/>
                <a:gd name="connsiteY20-5482" fmla="*/ 1254125 h 3588041"/>
                <a:gd name="connsiteX21-5483" fmla="*/ 889693 w 1432618"/>
                <a:gd name="connsiteY21-5484" fmla="*/ 1527175 h 3588041"/>
                <a:gd name="connsiteX22-5485" fmla="*/ 835718 w 1432618"/>
                <a:gd name="connsiteY22-5486" fmla="*/ 1895475 h 3588041"/>
                <a:gd name="connsiteX23-5487" fmla="*/ 1003993 w 1432618"/>
                <a:gd name="connsiteY23-5488" fmla="*/ 2308225 h 3588041"/>
                <a:gd name="connsiteX24-5489" fmla="*/ 896043 w 1432618"/>
                <a:gd name="connsiteY24-5490" fmla="*/ 2578100 h 3588041"/>
                <a:gd name="connsiteX25-5491" fmla="*/ 1213543 w 1432618"/>
                <a:gd name="connsiteY25-5492" fmla="*/ 2533650 h 3588041"/>
                <a:gd name="connsiteX26-5493" fmla="*/ 1432618 w 1432618"/>
                <a:gd name="connsiteY26-5494" fmla="*/ 2626519 h 3588041"/>
                <a:gd name="connsiteX27-5495" fmla="*/ 1188143 w 1432618"/>
                <a:gd name="connsiteY27-5496" fmla="*/ 2590800 h 3588041"/>
                <a:gd name="connsiteX28-5497" fmla="*/ 832543 w 1432618"/>
                <a:gd name="connsiteY28-5498" fmla="*/ 2733675 h 3588041"/>
                <a:gd name="connsiteX29-5499" fmla="*/ 689668 w 1432618"/>
                <a:gd name="connsiteY29-5500" fmla="*/ 3086100 h 3588041"/>
                <a:gd name="connsiteX30-5501" fmla="*/ 918268 w 1432618"/>
                <a:gd name="connsiteY30-5502" fmla="*/ 3419475 h 3588041"/>
                <a:gd name="connsiteX31-5503" fmla="*/ 1016693 w 1432618"/>
                <a:gd name="connsiteY31-5504" fmla="*/ 3581400 h 3588041"/>
                <a:gd name="connsiteX0-5505" fmla="*/ 1016693 w 1432618"/>
                <a:gd name="connsiteY0-5506" fmla="*/ 3581400 h 3588041"/>
                <a:gd name="connsiteX1-5507" fmla="*/ 591243 w 1432618"/>
                <a:gd name="connsiteY1-5508" fmla="*/ 3587750 h 3588041"/>
                <a:gd name="connsiteX2-5509" fmla="*/ 394393 w 1432618"/>
                <a:gd name="connsiteY2-5510" fmla="*/ 3076575 h 3588041"/>
                <a:gd name="connsiteX3-5511" fmla="*/ 746818 w 1432618"/>
                <a:gd name="connsiteY3-5512" fmla="*/ 2381250 h 3588041"/>
                <a:gd name="connsiteX4-5513" fmla="*/ 560128 w 1432618"/>
                <a:gd name="connsiteY4-5514" fmla="*/ 1922145 h 3588041"/>
                <a:gd name="connsiteX5-5515" fmla="*/ 58 w 1432618"/>
                <a:gd name="connsiteY5-5516" fmla="*/ 1870710 h 3588041"/>
                <a:gd name="connsiteX6-5517" fmla="*/ 394393 w 1432618"/>
                <a:gd name="connsiteY6-5518" fmla="*/ 1743075 h 3588041"/>
                <a:gd name="connsiteX7-5519" fmla="*/ 642043 w 1432618"/>
                <a:gd name="connsiteY7-5520" fmla="*/ 1876425 h 3588041"/>
                <a:gd name="connsiteX8-5521" fmla="*/ 705543 w 1432618"/>
                <a:gd name="connsiteY8-5522" fmla="*/ 1647825 h 3588041"/>
                <a:gd name="connsiteX9-5523" fmla="*/ 823018 w 1432618"/>
                <a:gd name="connsiteY9-5524" fmla="*/ 1333500 h 3588041"/>
                <a:gd name="connsiteX10-5525" fmla="*/ 763487 w 1432618"/>
                <a:gd name="connsiteY10-5526" fmla="*/ 823913 h 3588041"/>
                <a:gd name="connsiteX11-5527" fmla="*/ 388043 w 1432618"/>
                <a:gd name="connsiteY11-5528" fmla="*/ 695325 h 3588041"/>
                <a:gd name="connsiteX12-5529" fmla="*/ 781744 w 1432618"/>
                <a:gd name="connsiteY12-5530" fmla="*/ 724693 h 3588041"/>
                <a:gd name="connsiteX13-5531" fmla="*/ 799206 w 1432618"/>
                <a:gd name="connsiteY13-5532" fmla="*/ 441325 h 3588041"/>
                <a:gd name="connsiteX14-5533" fmla="*/ 886518 w 1432618"/>
                <a:gd name="connsiteY14-5534" fmla="*/ 0 h 3588041"/>
                <a:gd name="connsiteX15-5535" fmla="*/ 857943 w 1432618"/>
                <a:gd name="connsiteY15-5536" fmla="*/ 679450 h 3588041"/>
                <a:gd name="connsiteX16-5537" fmla="*/ 921443 w 1432618"/>
                <a:gd name="connsiteY16-5538" fmla="*/ 1047750 h 3588041"/>
                <a:gd name="connsiteX17-5539" fmla="*/ 930968 w 1432618"/>
                <a:gd name="connsiteY17-5540" fmla="*/ 1295400 h 3588041"/>
                <a:gd name="connsiteX18-5541" fmla="*/ 1102418 w 1432618"/>
                <a:gd name="connsiteY18-5542" fmla="*/ 1187450 h 3588041"/>
                <a:gd name="connsiteX19-5543" fmla="*/ 1375468 w 1432618"/>
                <a:gd name="connsiteY19-5544" fmla="*/ 1171575 h 3588041"/>
                <a:gd name="connsiteX20-5545" fmla="*/ 1108768 w 1432618"/>
                <a:gd name="connsiteY20-5546" fmla="*/ 1254125 h 3588041"/>
                <a:gd name="connsiteX21-5547" fmla="*/ 889693 w 1432618"/>
                <a:gd name="connsiteY21-5548" fmla="*/ 1527175 h 3588041"/>
                <a:gd name="connsiteX22-5549" fmla="*/ 835718 w 1432618"/>
                <a:gd name="connsiteY22-5550" fmla="*/ 1895475 h 3588041"/>
                <a:gd name="connsiteX23-5551" fmla="*/ 1003993 w 1432618"/>
                <a:gd name="connsiteY23-5552" fmla="*/ 2308225 h 3588041"/>
                <a:gd name="connsiteX24-5553" fmla="*/ 896043 w 1432618"/>
                <a:gd name="connsiteY24-5554" fmla="*/ 2578100 h 3588041"/>
                <a:gd name="connsiteX25-5555" fmla="*/ 1213543 w 1432618"/>
                <a:gd name="connsiteY25-5556" fmla="*/ 2533650 h 3588041"/>
                <a:gd name="connsiteX26-5557" fmla="*/ 1432618 w 1432618"/>
                <a:gd name="connsiteY26-5558" fmla="*/ 2626519 h 3588041"/>
                <a:gd name="connsiteX27-5559" fmla="*/ 1188143 w 1432618"/>
                <a:gd name="connsiteY27-5560" fmla="*/ 2590800 h 3588041"/>
                <a:gd name="connsiteX28-5561" fmla="*/ 832543 w 1432618"/>
                <a:gd name="connsiteY28-5562" fmla="*/ 2733675 h 3588041"/>
                <a:gd name="connsiteX29-5563" fmla="*/ 689668 w 1432618"/>
                <a:gd name="connsiteY29-5564" fmla="*/ 3086100 h 3588041"/>
                <a:gd name="connsiteX30-5565" fmla="*/ 918268 w 1432618"/>
                <a:gd name="connsiteY30-5566" fmla="*/ 3419475 h 3588041"/>
                <a:gd name="connsiteX31-5567" fmla="*/ 1016693 w 1432618"/>
                <a:gd name="connsiteY31-5568" fmla="*/ 3581400 h 3588041"/>
                <a:gd name="connsiteX0-5569" fmla="*/ 1016693 w 1432618"/>
                <a:gd name="connsiteY0-5570" fmla="*/ 3581400 h 3588041"/>
                <a:gd name="connsiteX1-5571" fmla="*/ 591243 w 1432618"/>
                <a:gd name="connsiteY1-5572" fmla="*/ 3587750 h 3588041"/>
                <a:gd name="connsiteX2-5573" fmla="*/ 394393 w 1432618"/>
                <a:gd name="connsiteY2-5574" fmla="*/ 3076575 h 3588041"/>
                <a:gd name="connsiteX3-5575" fmla="*/ 746818 w 1432618"/>
                <a:gd name="connsiteY3-5576" fmla="*/ 2381250 h 3588041"/>
                <a:gd name="connsiteX4-5577" fmla="*/ 560128 w 1432618"/>
                <a:gd name="connsiteY4-5578" fmla="*/ 1922145 h 3588041"/>
                <a:gd name="connsiteX5-5579" fmla="*/ 58 w 1432618"/>
                <a:gd name="connsiteY5-5580" fmla="*/ 1870710 h 3588041"/>
                <a:gd name="connsiteX6-5581" fmla="*/ 394393 w 1432618"/>
                <a:gd name="connsiteY6-5582" fmla="*/ 1743075 h 3588041"/>
                <a:gd name="connsiteX7-5583" fmla="*/ 642043 w 1432618"/>
                <a:gd name="connsiteY7-5584" fmla="*/ 1876425 h 3588041"/>
                <a:gd name="connsiteX8-5585" fmla="*/ 705543 w 1432618"/>
                <a:gd name="connsiteY8-5586" fmla="*/ 1647825 h 3588041"/>
                <a:gd name="connsiteX9-5587" fmla="*/ 823018 w 1432618"/>
                <a:gd name="connsiteY9-5588" fmla="*/ 1333500 h 3588041"/>
                <a:gd name="connsiteX10-5589" fmla="*/ 763487 w 1432618"/>
                <a:gd name="connsiteY10-5590" fmla="*/ 823913 h 3588041"/>
                <a:gd name="connsiteX11-5591" fmla="*/ 388043 w 1432618"/>
                <a:gd name="connsiteY11-5592" fmla="*/ 695325 h 3588041"/>
                <a:gd name="connsiteX12-5593" fmla="*/ 781744 w 1432618"/>
                <a:gd name="connsiteY12-5594" fmla="*/ 724693 h 3588041"/>
                <a:gd name="connsiteX13-5595" fmla="*/ 799206 w 1432618"/>
                <a:gd name="connsiteY13-5596" fmla="*/ 441325 h 3588041"/>
                <a:gd name="connsiteX14-5597" fmla="*/ 886518 w 1432618"/>
                <a:gd name="connsiteY14-5598" fmla="*/ 0 h 3588041"/>
                <a:gd name="connsiteX15-5599" fmla="*/ 857943 w 1432618"/>
                <a:gd name="connsiteY15-5600" fmla="*/ 679450 h 3588041"/>
                <a:gd name="connsiteX16-5601" fmla="*/ 921443 w 1432618"/>
                <a:gd name="connsiteY16-5602" fmla="*/ 1047750 h 3588041"/>
                <a:gd name="connsiteX17-5603" fmla="*/ 930968 w 1432618"/>
                <a:gd name="connsiteY17-5604" fmla="*/ 1295400 h 3588041"/>
                <a:gd name="connsiteX18-5605" fmla="*/ 1102418 w 1432618"/>
                <a:gd name="connsiteY18-5606" fmla="*/ 1187450 h 3588041"/>
                <a:gd name="connsiteX19-5607" fmla="*/ 1375468 w 1432618"/>
                <a:gd name="connsiteY19-5608" fmla="*/ 1171575 h 3588041"/>
                <a:gd name="connsiteX20-5609" fmla="*/ 1108768 w 1432618"/>
                <a:gd name="connsiteY20-5610" fmla="*/ 1254125 h 3588041"/>
                <a:gd name="connsiteX21-5611" fmla="*/ 889693 w 1432618"/>
                <a:gd name="connsiteY21-5612" fmla="*/ 1527175 h 3588041"/>
                <a:gd name="connsiteX22-5613" fmla="*/ 835718 w 1432618"/>
                <a:gd name="connsiteY22-5614" fmla="*/ 1895475 h 3588041"/>
                <a:gd name="connsiteX23-5615" fmla="*/ 1003993 w 1432618"/>
                <a:gd name="connsiteY23-5616" fmla="*/ 2308225 h 3588041"/>
                <a:gd name="connsiteX24-5617" fmla="*/ 896043 w 1432618"/>
                <a:gd name="connsiteY24-5618" fmla="*/ 2578100 h 3588041"/>
                <a:gd name="connsiteX25-5619" fmla="*/ 1213543 w 1432618"/>
                <a:gd name="connsiteY25-5620" fmla="*/ 2533650 h 3588041"/>
                <a:gd name="connsiteX26-5621" fmla="*/ 1432618 w 1432618"/>
                <a:gd name="connsiteY26-5622" fmla="*/ 2626519 h 3588041"/>
                <a:gd name="connsiteX27-5623" fmla="*/ 1188143 w 1432618"/>
                <a:gd name="connsiteY27-5624" fmla="*/ 2590800 h 3588041"/>
                <a:gd name="connsiteX28-5625" fmla="*/ 832543 w 1432618"/>
                <a:gd name="connsiteY28-5626" fmla="*/ 2733675 h 3588041"/>
                <a:gd name="connsiteX29-5627" fmla="*/ 689668 w 1432618"/>
                <a:gd name="connsiteY29-5628" fmla="*/ 3086100 h 3588041"/>
                <a:gd name="connsiteX30-5629" fmla="*/ 918268 w 1432618"/>
                <a:gd name="connsiteY30-5630" fmla="*/ 3419475 h 3588041"/>
                <a:gd name="connsiteX31-5631" fmla="*/ 1016693 w 1432618"/>
                <a:gd name="connsiteY31-5632" fmla="*/ 3581400 h 3588041"/>
                <a:gd name="connsiteX0-5633" fmla="*/ 1016693 w 1432618"/>
                <a:gd name="connsiteY0-5634" fmla="*/ 3581400 h 3588041"/>
                <a:gd name="connsiteX1-5635" fmla="*/ 591243 w 1432618"/>
                <a:gd name="connsiteY1-5636" fmla="*/ 3587750 h 3588041"/>
                <a:gd name="connsiteX2-5637" fmla="*/ 394393 w 1432618"/>
                <a:gd name="connsiteY2-5638" fmla="*/ 3076575 h 3588041"/>
                <a:gd name="connsiteX3-5639" fmla="*/ 746818 w 1432618"/>
                <a:gd name="connsiteY3-5640" fmla="*/ 2381250 h 3588041"/>
                <a:gd name="connsiteX4-5641" fmla="*/ 560128 w 1432618"/>
                <a:gd name="connsiteY4-5642" fmla="*/ 1922145 h 3588041"/>
                <a:gd name="connsiteX5-5643" fmla="*/ 58 w 1432618"/>
                <a:gd name="connsiteY5-5644" fmla="*/ 1870710 h 3588041"/>
                <a:gd name="connsiteX6-5645" fmla="*/ 394393 w 1432618"/>
                <a:gd name="connsiteY6-5646" fmla="*/ 1743075 h 3588041"/>
                <a:gd name="connsiteX7-5647" fmla="*/ 642043 w 1432618"/>
                <a:gd name="connsiteY7-5648" fmla="*/ 1876425 h 3588041"/>
                <a:gd name="connsiteX8-5649" fmla="*/ 705543 w 1432618"/>
                <a:gd name="connsiteY8-5650" fmla="*/ 1647825 h 3588041"/>
                <a:gd name="connsiteX9-5651" fmla="*/ 823018 w 1432618"/>
                <a:gd name="connsiteY9-5652" fmla="*/ 1333500 h 3588041"/>
                <a:gd name="connsiteX10-5653" fmla="*/ 763487 w 1432618"/>
                <a:gd name="connsiteY10-5654" fmla="*/ 823913 h 3588041"/>
                <a:gd name="connsiteX11-5655" fmla="*/ 388043 w 1432618"/>
                <a:gd name="connsiteY11-5656" fmla="*/ 695325 h 3588041"/>
                <a:gd name="connsiteX12-5657" fmla="*/ 781744 w 1432618"/>
                <a:gd name="connsiteY12-5658" fmla="*/ 724693 h 3588041"/>
                <a:gd name="connsiteX13-5659" fmla="*/ 799206 w 1432618"/>
                <a:gd name="connsiteY13-5660" fmla="*/ 441325 h 3588041"/>
                <a:gd name="connsiteX14-5661" fmla="*/ 886518 w 1432618"/>
                <a:gd name="connsiteY14-5662" fmla="*/ 0 h 3588041"/>
                <a:gd name="connsiteX15-5663" fmla="*/ 857943 w 1432618"/>
                <a:gd name="connsiteY15-5664" fmla="*/ 679450 h 3588041"/>
                <a:gd name="connsiteX16-5665" fmla="*/ 921443 w 1432618"/>
                <a:gd name="connsiteY16-5666" fmla="*/ 1047750 h 3588041"/>
                <a:gd name="connsiteX17-5667" fmla="*/ 930968 w 1432618"/>
                <a:gd name="connsiteY17-5668" fmla="*/ 1295400 h 3588041"/>
                <a:gd name="connsiteX18-5669" fmla="*/ 1102418 w 1432618"/>
                <a:gd name="connsiteY18-5670" fmla="*/ 1187450 h 3588041"/>
                <a:gd name="connsiteX19-5671" fmla="*/ 1375468 w 1432618"/>
                <a:gd name="connsiteY19-5672" fmla="*/ 1171575 h 3588041"/>
                <a:gd name="connsiteX20-5673" fmla="*/ 1108768 w 1432618"/>
                <a:gd name="connsiteY20-5674" fmla="*/ 1254125 h 3588041"/>
                <a:gd name="connsiteX21-5675" fmla="*/ 889693 w 1432618"/>
                <a:gd name="connsiteY21-5676" fmla="*/ 1527175 h 3588041"/>
                <a:gd name="connsiteX22-5677" fmla="*/ 835718 w 1432618"/>
                <a:gd name="connsiteY22-5678" fmla="*/ 1895475 h 3588041"/>
                <a:gd name="connsiteX23-5679" fmla="*/ 1003993 w 1432618"/>
                <a:gd name="connsiteY23-5680" fmla="*/ 2308225 h 3588041"/>
                <a:gd name="connsiteX24-5681" fmla="*/ 896043 w 1432618"/>
                <a:gd name="connsiteY24-5682" fmla="*/ 2578100 h 3588041"/>
                <a:gd name="connsiteX25-5683" fmla="*/ 1213543 w 1432618"/>
                <a:gd name="connsiteY25-5684" fmla="*/ 2533650 h 3588041"/>
                <a:gd name="connsiteX26-5685" fmla="*/ 1432618 w 1432618"/>
                <a:gd name="connsiteY26-5686" fmla="*/ 2626519 h 3588041"/>
                <a:gd name="connsiteX27-5687" fmla="*/ 1188143 w 1432618"/>
                <a:gd name="connsiteY27-5688" fmla="*/ 2590800 h 3588041"/>
                <a:gd name="connsiteX28-5689" fmla="*/ 832543 w 1432618"/>
                <a:gd name="connsiteY28-5690" fmla="*/ 2733675 h 3588041"/>
                <a:gd name="connsiteX29-5691" fmla="*/ 689668 w 1432618"/>
                <a:gd name="connsiteY29-5692" fmla="*/ 3086100 h 3588041"/>
                <a:gd name="connsiteX30-5693" fmla="*/ 918268 w 1432618"/>
                <a:gd name="connsiteY30-5694" fmla="*/ 3419475 h 3588041"/>
                <a:gd name="connsiteX31-5695" fmla="*/ 1016693 w 1432618"/>
                <a:gd name="connsiteY31-5696" fmla="*/ 3581400 h 3588041"/>
                <a:gd name="connsiteX0-5697" fmla="*/ 1016693 w 1432618"/>
                <a:gd name="connsiteY0-5698" fmla="*/ 3581400 h 3588041"/>
                <a:gd name="connsiteX1-5699" fmla="*/ 591243 w 1432618"/>
                <a:gd name="connsiteY1-5700" fmla="*/ 3587750 h 3588041"/>
                <a:gd name="connsiteX2-5701" fmla="*/ 394393 w 1432618"/>
                <a:gd name="connsiteY2-5702" fmla="*/ 3076575 h 3588041"/>
                <a:gd name="connsiteX3-5703" fmla="*/ 746818 w 1432618"/>
                <a:gd name="connsiteY3-5704" fmla="*/ 2381250 h 3588041"/>
                <a:gd name="connsiteX4-5705" fmla="*/ 560128 w 1432618"/>
                <a:gd name="connsiteY4-5706" fmla="*/ 1922145 h 3588041"/>
                <a:gd name="connsiteX5-5707" fmla="*/ 58 w 1432618"/>
                <a:gd name="connsiteY5-5708" fmla="*/ 1870710 h 3588041"/>
                <a:gd name="connsiteX6-5709" fmla="*/ 394393 w 1432618"/>
                <a:gd name="connsiteY6-5710" fmla="*/ 1743075 h 3588041"/>
                <a:gd name="connsiteX7-5711" fmla="*/ 642043 w 1432618"/>
                <a:gd name="connsiteY7-5712" fmla="*/ 1876425 h 3588041"/>
                <a:gd name="connsiteX8-5713" fmla="*/ 823018 w 1432618"/>
                <a:gd name="connsiteY8-5714" fmla="*/ 1333500 h 3588041"/>
                <a:gd name="connsiteX9-5715" fmla="*/ 763487 w 1432618"/>
                <a:gd name="connsiteY9-5716" fmla="*/ 823913 h 3588041"/>
                <a:gd name="connsiteX10-5717" fmla="*/ 388043 w 1432618"/>
                <a:gd name="connsiteY10-5718" fmla="*/ 695325 h 3588041"/>
                <a:gd name="connsiteX11-5719" fmla="*/ 781744 w 1432618"/>
                <a:gd name="connsiteY11-5720" fmla="*/ 724693 h 3588041"/>
                <a:gd name="connsiteX12-5721" fmla="*/ 799206 w 1432618"/>
                <a:gd name="connsiteY12-5722" fmla="*/ 441325 h 3588041"/>
                <a:gd name="connsiteX13-5723" fmla="*/ 886518 w 1432618"/>
                <a:gd name="connsiteY13-5724" fmla="*/ 0 h 3588041"/>
                <a:gd name="connsiteX14-5725" fmla="*/ 857943 w 1432618"/>
                <a:gd name="connsiteY14-5726" fmla="*/ 679450 h 3588041"/>
                <a:gd name="connsiteX15-5727" fmla="*/ 921443 w 1432618"/>
                <a:gd name="connsiteY15-5728" fmla="*/ 1047750 h 3588041"/>
                <a:gd name="connsiteX16-5729" fmla="*/ 930968 w 1432618"/>
                <a:gd name="connsiteY16-5730" fmla="*/ 1295400 h 3588041"/>
                <a:gd name="connsiteX17-5731" fmla="*/ 1102418 w 1432618"/>
                <a:gd name="connsiteY17-5732" fmla="*/ 1187450 h 3588041"/>
                <a:gd name="connsiteX18-5733" fmla="*/ 1375468 w 1432618"/>
                <a:gd name="connsiteY18-5734" fmla="*/ 1171575 h 3588041"/>
                <a:gd name="connsiteX19-5735" fmla="*/ 1108768 w 1432618"/>
                <a:gd name="connsiteY19-5736" fmla="*/ 1254125 h 3588041"/>
                <a:gd name="connsiteX20-5737" fmla="*/ 889693 w 1432618"/>
                <a:gd name="connsiteY20-5738" fmla="*/ 1527175 h 3588041"/>
                <a:gd name="connsiteX21-5739" fmla="*/ 835718 w 1432618"/>
                <a:gd name="connsiteY21-5740" fmla="*/ 1895475 h 3588041"/>
                <a:gd name="connsiteX22-5741" fmla="*/ 1003993 w 1432618"/>
                <a:gd name="connsiteY22-5742" fmla="*/ 2308225 h 3588041"/>
                <a:gd name="connsiteX23-5743" fmla="*/ 896043 w 1432618"/>
                <a:gd name="connsiteY23-5744" fmla="*/ 2578100 h 3588041"/>
                <a:gd name="connsiteX24-5745" fmla="*/ 1213543 w 1432618"/>
                <a:gd name="connsiteY24-5746" fmla="*/ 2533650 h 3588041"/>
                <a:gd name="connsiteX25-5747" fmla="*/ 1432618 w 1432618"/>
                <a:gd name="connsiteY25-5748" fmla="*/ 2626519 h 3588041"/>
                <a:gd name="connsiteX26-5749" fmla="*/ 1188143 w 1432618"/>
                <a:gd name="connsiteY26-5750" fmla="*/ 2590800 h 3588041"/>
                <a:gd name="connsiteX27-5751" fmla="*/ 832543 w 1432618"/>
                <a:gd name="connsiteY27-5752" fmla="*/ 2733675 h 3588041"/>
                <a:gd name="connsiteX28-5753" fmla="*/ 689668 w 1432618"/>
                <a:gd name="connsiteY28-5754" fmla="*/ 3086100 h 3588041"/>
                <a:gd name="connsiteX29-5755" fmla="*/ 918268 w 1432618"/>
                <a:gd name="connsiteY29-5756" fmla="*/ 3419475 h 3588041"/>
                <a:gd name="connsiteX30-5757" fmla="*/ 1016693 w 1432618"/>
                <a:gd name="connsiteY30-5758" fmla="*/ 3581400 h 3588041"/>
                <a:gd name="connsiteX0-5759" fmla="*/ 1016693 w 1432618"/>
                <a:gd name="connsiteY0-5760" fmla="*/ 3581400 h 3588041"/>
                <a:gd name="connsiteX1-5761" fmla="*/ 591243 w 1432618"/>
                <a:gd name="connsiteY1-5762" fmla="*/ 3587750 h 3588041"/>
                <a:gd name="connsiteX2-5763" fmla="*/ 394393 w 1432618"/>
                <a:gd name="connsiteY2-5764" fmla="*/ 3076575 h 3588041"/>
                <a:gd name="connsiteX3-5765" fmla="*/ 746818 w 1432618"/>
                <a:gd name="connsiteY3-5766" fmla="*/ 2381250 h 3588041"/>
                <a:gd name="connsiteX4-5767" fmla="*/ 560128 w 1432618"/>
                <a:gd name="connsiteY4-5768" fmla="*/ 1922145 h 3588041"/>
                <a:gd name="connsiteX5-5769" fmla="*/ 58 w 1432618"/>
                <a:gd name="connsiteY5-5770" fmla="*/ 1870710 h 3588041"/>
                <a:gd name="connsiteX6-5771" fmla="*/ 394393 w 1432618"/>
                <a:gd name="connsiteY6-5772" fmla="*/ 1743075 h 3588041"/>
                <a:gd name="connsiteX7-5773" fmla="*/ 642043 w 1432618"/>
                <a:gd name="connsiteY7-5774" fmla="*/ 1876425 h 3588041"/>
                <a:gd name="connsiteX8-5775" fmla="*/ 823018 w 1432618"/>
                <a:gd name="connsiteY8-5776" fmla="*/ 1333500 h 3588041"/>
                <a:gd name="connsiteX9-5777" fmla="*/ 763487 w 1432618"/>
                <a:gd name="connsiteY9-5778" fmla="*/ 823913 h 3588041"/>
                <a:gd name="connsiteX10-5779" fmla="*/ 388043 w 1432618"/>
                <a:gd name="connsiteY10-5780" fmla="*/ 695325 h 3588041"/>
                <a:gd name="connsiteX11-5781" fmla="*/ 781744 w 1432618"/>
                <a:gd name="connsiteY11-5782" fmla="*/ 724693 h 3588041"/>
                <a:gd name="connsiteX12-5783" fmla="*/ 799206 w 1432618"/>
                <a:gd name="connsiteY12-5784" fmla="*/ 441325 h 3588041"/>
                <a:gd name="connsiteX13-5785" fmla="*/ 886518 w 1432618"/>
                <a:gd name="connsiteY13-5786" fmla="*/ 0 h 3588041"/>
                <a:gd name="connsiteX14-5787" fmla="*/ 857943 w 1432618"/>
                <a:gd name="connsiteY14-5788" fmla="*/ 679450 h 3588041"/>
                <a:gd name="connsiteX15-5789" fmla="*/ 921443 w 1432618"/>
                <a:gd name="connsiteY15-5790" fmla="*/ 1047750 h 3588041"/>
                <a:gd name="connsiteX16-5791" fmla="*/ 930968 w 1432618"/>
                <a:gd name="connsiteY16-5792" fmla="*/ 1295400 h 3588041"/>
                <a:gd name="connsiteX17-5793" fmla="*/ 1102418 w 1432618"/>
                <a:gd name="connsiteY17-5794" fmla="*/ 1187450 h 3588041"/>
                <a:gd name="connsiteX18-5795" fmla="*/ 1375468 w 1432618"/>
                <a:gd name="connsiteY18-5796" fmla="*/ 1171575 h 3588041"/>
                <a:gd name="connsiteX19-5797" fmla="*/ 1108768 w 1432618"/>
                <a:gd name="connsiteY19-5798" fmla="*/ 1254125 h 3588041"/>
                <a:gd name="connsiteX20-5799" fmla="*/ 889693 w 1432618"/>
                <a:gd name="connsiteY20-5800" fmla="*/ 1527175 h 3588041"/>
                <a:gd name="connsiteX21-5801" fmla="*/ 835718 w 1432618"/>
                <a:gd name="connsiteY21-5802" fmla="*/ 1895475 h 3588041"/>
                <a:gd name="connsiteX22-5803" fmla="*/ 1003993 w 1432618"/>
                <a:gd name="connsiteY22-5804" fmla="*/ 2308225 h 3588041"/>
                <a:gd name="connsiteX23-5805" fmla="*/ 896043 w 1432618"/>
                <a:gd name="connsiteY23-5806" fmla="*/ 2578100 h 3588041"/>
                <a:gd name="connsiteX24-5807" fmla="*/ 1213543 w 1432618"/>
                <a:gd name="connsiteY24-5808" fmla="*/ 2533650 h 3588041"/>
                <a:gd name="connsiteX25-5809" fmla="*/ 1432618 w 1432618"/>
                <a:gd name="connsiteY25-5810" fmla="*/ 2626519 h 3588041"/>
                <a:gd name="connsiteX26-5811" fmla="*/ 1188143 w 1432618"/>
                <a:gd name="connsiteY26-5812" fmla="*/ 2590800 h 3588041"/>
                <a:gd name="connsiteX27-5813" fmla="*/ 832543 w 1432618"/>
                <a:gd name="connsiteY27-5814" fmla="*/ 2733675 h 3588041"/>
                <a:gd name="connsiteX28-5815" fmla="*/ 689668 w 1432618"/>
                <a:gd name="connsiteY28-5816" fmla="*/ 3086100 h 3588041"/>
                <a:gd name="connsiteX29-5817" fmla="*/ 918268 w 1432618"/>
                <a:gd name="connsiteY29-5818" fmla="*/ 3419475 h 3588041"/>
                <a:gd name="connsiteX30-5819" fmla="*/ 1016693 w 1432618"/>
                <a:gd name="connsiteY30-5820" fmla="*/ 3581400 h 3588041"/>
                <a:gd name="connsiteX0-5821" fmla="*/ 1016693 w 1432618"/>
                <a:gd name="connsiteY0-5822" fmla="*/ 3581400 h 3588041"/>
                <a:gd name="connsiteX1-5823" fmla="*/ 591243 w 1432618"/>
                <a:gd name="connsiteY1-5824" fmla="*/ 3587750 h 3588041"/>
                <a:gd name="connsiteX2-5825" fmla="*/ 394393 w 1432618"/>
                <a:gd name="connsiteY2-5826" fmla="*/ 3076575 h 3588041"/>
                <a:gd name="connsiteX3-5827" fmla="*/ 746818 w 1432618"/>
                <a:gd name="connsiteY3-5828" fmla="*/ 2381250 h 3588041"/>
                <a:gd name="connsiteX4-5829" fmla="*/ 560128 w 1432618"/>
                <a:gd name="connsiteY4-5830" fmla="*/ 1922145 h 3588041"/>
                <a:gd name="connsiteX5-5831" fmla="*/ 58 w 1432618"/>
                <a:gd name="connsiteY5-5832" fmla="*/ 1870710 h 3588041"/>
                <a:gd name="connsiteX6-5833" fmla="*/ 394393 w 1432618"/>
                <a:gd name="connsiteY6-5834" fmla="*/ 1743075 h 3588041"/>
                <a:gd name="connsiteX7-5835" fmla="*/ 642043 w 1432618"/>
                <a:gd name="connsiteY7-5836" fmla="*/ 1876425 h 3588041"/>
                <a:gd name="connsiteX8-5837" fmla="*/ 823018 w 1432618"/>
                <a:gd name="connsiteY8-5838" fmla="*/ 1333500 h 3588041"/>
                <a:gd name="connsiteX9-5839" fmla="*/ 763487 w 1432618"/>
                <a:gd name="connsiteY9-5840" fmla="*/ 823913 h 3588041"/>
                <a:gd name="connsiteX10-5841" fmla="*/ 388043 w 1432618"/>
                <a:gd name="connsiteY10-5842" fmla="*/ 695325 h 3588041"/>
                <a:gd name="connsiteX11-5843" fmla="*/ 781744 w 1432618"/>
                <a:gd name="connsiteY11-5844" fmla="*/ 724693 h 3588041"/>
                <a:gd name="connsiteX12-5845" fmla="*/ 799206 w 1432618"/>
                <a:gd name="connsiteY12-5846" fmla="*/ 441325 h 3588041"/>
                <a:gd name="connsiteX13-5847" fmla="*/ 886518 w 1432618"/>
                <a:gd name="connsiteY13-5848" fmla="*/ 0 h 3588041"/>
                <a:gd name="connsiteX14-5849" fmla="*/ 857943 w 1432618"/>
                <a:gd name="connsiteY14-5850" fmla="*/ 679450 h 3588041"/>
                <a:gd name="connsiteX15-5851" fmla="*/ 921443 w 1432618"/>
                <a:gd name="connsiteY15-5852" fmla="*/ 1047750 h 3588041"/>
                <a:gd name="connsiteX16-5853" fmla="*/ 930968 w 1432618"/>
                <a:gd name="connsiteY16-5854" fmla="*/ 1295400 h 3588041"/>
                <a:gd name="connsiteX17-5855" fmla="*/ 1102418 w 1432618"/>
                <a:gd name="connsiteY17-5856" fmla="*/ 1187450 h 3588041"/>
                <a:gd name="connsiteX18-5857" fmla="*/ 1375468 w 1432618"/>
                <a:gd name="connsiteY18-5858" fmla="*/ 1171575 h 3588041"/>
                <a:gd name="connsiteX19-5859" fmla="*/ 1108768 w 1432618"/>
                <a:gd name="connsiteY19-5860" fmla="*/ 1254125 h 3588041"/>
                <a:gd name="connsiteX20-5861" fmla="*/ 889693 w 1432618"/>
                <a:gd name="connsiteY20-5862" fmla="*/ 1527175 h 3588041"/>
                <a:gd name="connsiteX21-5863" fmla="*/ 835718 w 1432618"/>
                <a:gd name="connsiteY21-5864" fmla="*/ 1895475 h 3588041"/>
                <a:gd name="connsiteX22-5865" fmla="*/ 1003993 w 1432618"/>
                <a:gd name="connsiteY22-5866" fmla="*/ 2308225 h 3588041"/>
                <a:gd name="connsiteX23-5867" fmla="*/ 896043 w 1432618"/>
                <a:gd name="connsiteY23-5868" fmla="*/ 2578100 h 3588041"/>
                <a:gd name="connsiteX24-5869" fmla="*/ 1213543 w 1432618"/>
                <a:gd name="connsiteY24-5870" fmla="*/ 2533650 h 3588041"/>
                <a:gd name="connsiteX25-5871" fmla="*/ 1432618 w 1432618"/>
                <a:gd name="connsiteY25-5872" fmla="*/ 2626519 h 3588041"/>
                <a:gd name="connsiteX26-5873" fmla="*/ 1188143 w 1432618"/>
                <a:gd name="connsiteY26-5874" fmla="*/ 2590800 h 3588041"/>
                <a:gd name="connsiteX27-5875" fmla="*/ 832543 w 1432618"/>
                <a:gd name="connsiteY27-5876" fmla="*/ 2733675 h 3588041"/>
                <a:gd name="connsiteX28-5877" fmla="*/ 689668 w 1432618"/>
                <a:gd name="connsiteY28-5878" fmla="*/ 3086100 h 3588041"/>
                <a:gd name="connsiteX29-5879" fmla="*/ 918268 w 1432618"/>
                <a:gd name="connsiteY29-5880" fmla="*/ 3419475 h 3588041"/>
                <a:gd name="connsiteX30-5881" fmla="*/ 1016693 w 1432618"/>
                <a:gd name="connsiteY30-5882" fmla="*/ 3581400 h 3588041"/>
                <a:gd name="connsiteX0-5883" fmla="*/ 1016693 w 1432618"/>
                <a:gd name="connsiteY0-5884" fmla="*/ 3581400 h 3588041"/>
                <a:gd name="connsiteX1-5885" fmla="*/ 591243 w 1432618"/>
                <a:gd name="connsiteY1-5886" fmla="*/ 3587750 h 3588041"/>
                <a:gd name="connsiteX2-5887" fmla="*/ 394393 w 1432618"/>
                <a:gd name="connsiteY2-5888" fmla="*/ 3076575 h 3588041"/>
                <a:gd name="connsiteX3-5889" fmla="*/ 746818 w 1432618"/>
                <a:gd name="connsiteY3-5890" fmla="*/ 2381250 h 3588041"/>
                <a:gd name="connsiteX4-5891" fmla="*/ 560128 w 1432618"/>
                <a:gd name="connsiteY4-5892" fmla="*/ 1922145 h 3588041"/>
                <a:gd name="connsiteX5-5893" fmla="*/ 58 w 1432618"/>
                <a:gd name="connsiteY5-5894" fmla="*/ 1870710 h 3588041"/>
                <a:gd name="connsiteX6-5895" fmla="*/ 394393 w 1432618"/>
                <a:gd name="connsiteY6-5896" fmla="*/ 1743075 h 3588041"/>
                <a:gd name="connsiteX7-5897" fmla="*/ 642043 w 1432618"/>
                <a:gd name="connsiteY7-5898" fmla="*/ 1876425 h 3588041"/>
                <a:gd name="connsiteX8-5899" fmla="*/ 823018 w 1432618"/>
                <a:gd name="connsiteY8-5900" fmla="*/ 1333500 h 3588041"/>
                <a:gd name="connsiteX9-5901" fmla="*/ 763487 w 1432618"/>
                <a:gd name="connsiteY9-5902" fmla="*/ 823913 h 3588041"/>
                <a:gd name="connsiteX10-5903" fmla="*/ 388043 w 1432618"/>
                <a:gd name="connsiteY10-5904" fmla="*/ 695325 h 3588041"/>
                <a:gd name="connsiteX11-5905" fmla="*/ 781744 w 1432618"/>
                <a:gd name="connsiteY11-5906" fmla="*/ 724693 h 3588041"/>
                <a:gd name="connsiteX12-5907" fmla="*/ 799206 w 1432618"/>
                <a:gd name="connsiteY12-5908" fmla="*/ 441325 h 3588041"/>
                <a:gd name="connsiteX13-5909" fmla="*/ 886518 w 1432618"/>
                <a:gd name="connsiteY13-5910" fmla="*/ 0 h 3588041"/>
                <a:gd name="connsiteX14-5911" fmla="*/ 857943 w 1432618"/>
                <a:gd name="connsiteY14-5912" fmla="*/ 679450 h 3588041"/>
                <a:gd name="connsiteX15-5913" fmla="*/ 921443 w 1432618"/>
                <a:gd name="connsiteY15-5914" fmla="*/ 1047750 h 3588041"/>
                <a:gd name="connsiteX16-5915" fmla="*/ 930968 w 1432618"/>
                <a:gd name="connsiteY16-5916" fmla="*/ 1295400 h 3588041"/>
                <a:gd name="connsiteX17-5917" fmla="*/ 1102418 w 1432618"/>
                <a:gd name="connsiteY17-5918" fmla="*/ 1187450 h 3588041"/>
                <a:gd name="connsiteX18-5919" fmla="*/ 1375468 w 1432618"/>
                <a:gd name="connsiteY18-5920" fmla="*/ 1171575 h 3588041"/>
                <a:gd name="connsiteX19-5921" fmla="*/ 1108768 w 1432618"/>
                <a:gd name="connsiteY19-5922" fmla="*/ 1254125 h 3588041"/>
                <a:gd name="connsiteX20-5923" fmla="*/ 889693 w 1432618"/>
                <a:gd name="connsiteY20-5924" fmla="*/ 1527175 h 3588041"/>
                <a:gd name="connsiteX21-5925" fmla="*/ 835718 w 1432618"/>
                <a:gd name="connsiteY21-5926" fmla="*/ 1895475 h 3588041"/>
                <a:gd name="connsiteX22-5927" fmla="*/ 1003993 w 1432618"/>
                <a:gd name="connsiteY22-5928" fmla="*/ 2308225 h 3588041"/>
                <a:gd name="connsiteX23-5929" fmla="*/ 896043 w 1432618"/>
                <a:gd name="connsiteY23-5930" fmla="*/ 2578100 h 3588041"/>
                <a:gd name="connsiteX24-5931" fmla="*/ 1213543 w 1432618"/>
                <a:gd name="connsiteY24-5932" fmla="*/ 2533650 h 3588041"/>
                <a:gd name="connsiteX25-5933" fmla="*/ 1432618 w 1432618"/>
                <a:gd name="connsiteY25-5934" fmla="*/ 2626519 h 3588041"/>
                <a:gd name="connsiteX26-5935" fmla="*/ 1188143 w 1432618"/>
                <a:gd name="connsiteY26-5936" fmla="*/ 2590800 h 3588041"/>
                <a:gd name="connsiteX27-5937" fmla="*/ 832543 w 1432618"/>
                <a:gd name="connsiteY27-5938" fmla="*/ 2733675 h 3588041"/>
                <a:gd name="connsiteX28-5939" fmla="*/ 689668 w 1432618"/>
                <a:gd name="connsiteY28-5940" fmla="*/ 3086100 h 3588041"/>
                <a:gd name="connsiteX29-5941" fmla="*/ 918268 w 1432618"/>
                <a:gd name="connsiteY29-5942" fmla="*/ 3419475 h 3588041"/>
                <a:gd name="connsiteX30-5943" fmla="*/ 1016693 w 1432618"/>
                <a:gd name="connsiteY30-5944" fmla="*/ 3581400 h 3588041"/>
                <a:gd name="connsiteX0-5945" fmla="*/ 1016635 w 1432560"/>
                <a:gd name="connsiteY0-5946" fmla="*/ 3581400 h 3588041"/>
                <a:gd name="connsiteX1-5947" fmla="*/ 591185 w 1432560"/>
                <a:gd name="connsiteY1-5948" fmla="*/ 3587750 h 3588041"/>
                <a:gd name="connsiteX2-5949" fmla="*/ 394335 w 1432560"/>
                <a:gd name="connsiteY2-5950" fmla="*/ 3076575 h 3588041"/>
                <a:gd name="connsiteX3-5951" fmla="*/ 746760 w 1432560"/>
                <a:gd name="connsiteY3-5952" fmla="*/ 2381250 h 3588041"/>
                <a:gd name="connsiteX4-5953" fmla="*/ 560070 w 1432560"/>
                <a:gd name="connsiteY4-5954" fmla="*/ 1922145 h 3588041"/>
                <a:gd name="connsiteX5-5955" fmla="*/ 0 w 1432560"/>
                <a:gd name="connsiteY5-5956" fmla="*/ 1870710 h 3588041"/>
                <a:gd name="connsiteX6-5957" fmla="*/ 394335 w 1432560"/>
                <a:gd name="connsiteY6-5958" fmla="*/ 1743075 h 3588041"/>
                <a:gd name="connsiteX7-5959" fmla="*/ 641985 w 1432560"/>
                <a:gd name="connsiteY7-5960" fmla="*/ 1876425 h 3588041"/>
                <a:gd name="connsiteX8-5961" fmla="*/ 822960 w 1432560"/>
                <a:gd name="connsiteY8-5962" fmla="*/ 1333500 h 3588041"/>
                <a:gd name="connsiteX9-5963" fmla="*/ 763429 w 1432560"/>
                <a:gd name="connsiteY9-5964" fmla="*/ 823913 h 3588041"/>
                <a:gd name="connsiteX10-5965" fmla="*/ 387985 w 1432560"/>
                <a:gd name="connsiteY10-5966" fmla="*/ 695325 h 3588041"/>
                <a:gd name="connsiteX11-5967" fmla="*/ 781686 w 1432560"/>
                <a:gd name="connsiteY11-5968" fmla="*/ 724693 h 3588041"/>
                <a:gd name="connsiteX12-5969" fmla="*/ 799148 w 1432560"/>
                <a:gd name="connsiteY12-5970" fmla="*/ 441325 h 3588041"/>
                <a:gd name="connsiteX13-5971" fmla="*/ 886460 w 1432560"/>
                <a:gd name="connsiteY13-5972" fmla="*/ 0 h 3588041"/>
                <a:gd name="connsiteX14-5973" fmla="*/ 857885 w 1432560"/>
                <a:gd name="connsiteY14-5974" fmla="*/ 679450 h 3588041"/>
                <a:gd name="connsiteX15-5975" fmla="*/ 921385 w 1432560"/>
                <a:gd name="connsiteY15-5976" fmla="*/ 1047750 h 3588041"/>
                <a:gd name="connsiteX16-5977" fmla="*/ 930910 w 1432560"/>
                <a:gd name="connsiteY16-5978" fmla="*/ 1295400 h 3588041"/>
                <a:gd name="connsiteX17-5979" fmla="*/ 1102360 w 1432560"/>
                <a:gd name="connsiteY17-5980" fmla="*/ 1187450 h 3588041"/>
                <a:gd name="connsiteX18-5981" fmla="*/ 1375410 w 1432560"/>
                <a:gd name="connsiteY18-5982" fmla="*/ 1171575 h 3588041"/>
                <a:gd name="connsiteX19-5983" fmla="*/ 1108710 w 1432560"/>
                <a:gd name="connsiteY19-5984" fmla="*/ 1254125 h 3588041"/>
                <a:gd name="connsiteX20-5985" fmla="*/ 889635 w 1432560"/>
                <a:gd name="connsiteY20-5986" fmla="*/ 1527175 h 3588041"/>
                <a:gd name="connsiteX21-5987" fmla="*/ 835660 w 1432560"/>
                <a:gd name="connsiteY21-5988" fmla="*/ 1895475 h 3588041"/>
                <a:gd name="connsiteX22-5989" fmla="*/ 1003935 w 1432560"/>
                <a:gd name="connsiteY22-5990" fmla="*/ 2308225 h 3588041"/>
                <a:gd name="connsiteX23-5991" fmla="*/ 895985 w 1432560"/>
                <a:gd name="connsiteY23-5992" fmla="*/ 2578100 h 3588041"/>
                <a:gd name="connsiteX24-5993" fmla="*/ 1213485 w 1432560"/>
                <a:gd name="connsiteY24-5994" fmla="*/ 2533650 h 3588041"/>
                <a:gd name="connsiteX25-5995" fmla="*/ 1432560 w 1432560"/>
                <a:gd name="connsiteY25-5996" fmla="*/ 2626519 h 3588041"/>
                <a:gd name="connsiteX26-5997" fmla="*/ 1188085 w 1432560"/>
                <a:gd name="connsiteY26-5998" fmla="*/ 2590800 h 3588041"/>
                <a:gd name="connsiteX27-5999" fmla="*/ 832485 w 1432560"/>
                <a:gd name="connsiteY27-6000" fmla="*/ 2733675 h 3588041"/>
                <a:gd name="connsiteX28-6001" fmla="*/ 689610 w 1432560"/>
                <a:gd name="connsiteY28-6002" fmla="*/ 3086100 h 3588041"/>
                <a:gd name="connsiteX29-6003" fmla="*/ 918210 w 1432560"/>
                <a:gd name="connsiteY29-6004" fmla="*/ 3419475 h 3588041"/>
                <a:gd name="connsiteX30-6005" fmla="*/ 1016635 w 1432560"/>
                <a:gd name="connsiteY30-6006" fmla="*/ 3581400 h 3588041"/>
                <a:gd name="connsiteX0-6007" fmla="*/ 1016635 w 1432560"/>
                <a:gd name="connsiteY0-6008" fmla="*/ 3581400 h 3588041"/>
                <a:gd name="connsiteX1-6009" fmla="*/ 591185 w 1432560"/>
                <a:gd name="connsiteY1-6010" fmla="*/ 3587750 h 3588041"/>
                <a:gd name="connsiteX2-6011" fmla="*/ 394335 w 1432560"/>
                <a:gd name="connsiteY2-6012" fmla="*/ 3076575 h 3588041"/>
                <a:gd name="connsiteX3-6013" fmla="*/ 746760 w 1432560"/>
                <a:gd name="connsiteY3-6014" fmla="*/ 2381250 h 3588041"/>
                <a:gd name="connsiteX4-6015" fmla="*/ 560070 w 1432560"/>
                <a:gd name="connsiteY4-6016" fmla="*/ 1922145 h 3588041"/>
                <a:gd name="connsiteX5-6017" fmla="*/ 0 w 1432560"/>
                <a:gd name="connsiteY5-6018" fmla="*/ 1870710 h 3588041"/>
                <a:gd name="connsiteX6-6019" fmla="*/ 394335 w 1432560"/>
                <a:gd name="connsiteY6-6020" fmla="*/ 1743075 h 3588041"/>
                <a:gd name="connsiteX7-6021" fmla="*/ 641985 w 1432560"/>
                <a:gd name="connsiteY7-6022" fmla="*/ 1876425 h 3588041"/>
                <a:gd name="connsiteX8-6023" fmla="*/ 822960 w 1432560"/>
                <a:gd name="connsiteY8-6024" fmla="*/ 1333500 h 3588041"/>
                <a:gd name="connsiteX9-6025" fmla="*/ 763429 w 1432560"/>
                <a:gd name="connsiteY9-6026" fmla="*/ 823913 h 3588041"/>
                <a:gd name="connsiteX10-6027" fmla="*/ 387985 w 1432560"/>
                <a:gd name="connsiteY10-6028" fmla="*/ 695325 h 3588041"/>
                <a:gd name="connsiteX11-6029" fmla="*/ 781686 w 1432560"/>
                <a:gd name="connsiteY11-6030" fmla="*/ 724693 h 3588041"/>
                <a:gd name="connsiteX12-6031" fmla="*/ 799148 w 1432560"/>
                <a:gd name="connsiteY12-6032" fmla="*/ 441325 h 3588041"/>
                <a:gd name="connsiteX13-6033" fmla="*/ 886460 w 1432560"/>
                <a:gd name="connsiteY13-6034" fmla="*/ 0 h 3588041"/>
                <a:gd name="connsiteX14-6035" fmla="*/ 857885 w 1432560"/>
                <a:gd name="connsiteY14-6036" fmla="*/ 679450 h 3588041"/>
                <a:gd name="connsiteX15-6037" fmla="*/ 921385 w 1432560"/>
                <a:gd name="connsiteY15-6038" fmla="*/ 1047750 h 3588041"/>
                <a:gd name="connsiteX16-6039" fmla="*/ 930910 w 1432560"/>
                <a:gd name="connsiteY16-6040" fmla="*/ 1295400 h 3588041"/>
                <a:gd name="connsiteX17-6041" fmla="*/ 1102360 w 1432560"/>
                <a:gd name="connsiteY17-6042" fmla="*/ 1187450 h 3588041"/>
                <a:gd name="connsiteX18-6043" fmla="*/ 1375410 w 1432560"/>
                <a:gd name="connsiteY18-6044" fmla="*/ 1171575 h 3588041"/>
                <a:gd name="connsiteX19-6045" fmla="*/ 1108710 w 1432560"/>
                <a:gd name="connsiteY19-6046" fmla="*/ 1254125 h 3588041"/>
                <a:gd name="connsiteX20-6047" fmla="*/ 889635 w 1432560"/>
                <a:gd name="connsiteY20-6048" fmla="*/ 1527175 h 3588041"/>
                <a:gd name="connsiteX21-6049" fmla="*/ 835660 w 1432560"/>
                <a:gd name="connsiteY21-6050" fmla="*/ 1895475 h 3588041"/>
                <a:gd name="connsiteX22-6051" fmla="*/ 1003935 w 1432560"/>
                <a:gd name="connsiteY22-6052" fmla="*/ 2308225 h 3588041"/>
                <a:gd name="connsiteX23-6053" fmla="*/ 895985 w 1432560"/>
                <a:gd name="connsiteY23-6054" fmla="*/ 2578100 h 3588041"/>
                <a:gd name="connsiteX24-6055" fmla="*/ 1213485 w 1432560"/>
                <a:gd name="connsiteY24-6056" fmla="*/ 2533650 h 3588041"/>
                <a:gd name="connsiteX25-6057" fmla="*/ 1432560 w 1432560"/>
                <a:gd name="connsiteY25-6058" fmla="*/ 2626519 h 3588041"/>
                <a:gd name="connsiteX26-6059" fmla="*/ 1188085 w 1432560"/>
                <a:gd name="connsiteY26-6060" fmla="*/ 2590800 h 3588041"/>
                <a:gd name="connsiteX27-6061" fmla="*/ 832485 w 1432560"/>
                <a:gd name="connsiteY27-6062" fmla="*/ 2733675 h 3588041"/>
                <a:gd name="connsiteX28-6063" fmla="*/ 689610 w 1432560"/>
                <a:gd name="connsiteY28-6064" fmla="*/ 3086100 h 3588041"/>
                <a:gd name="connsiteX29-6065" fmla="*/ 918210 w 1432560"/>
                <a:gd name="connsiteY29-6066" fmla="*/ 3419475 h 3588041"/>
                <a:gd name="connsiteX30-6067" fmla="*/ 1016635 w 1432560"/>
                <a:gd name="connsiteY30-6068" fmla="*/ 3581400 h 3588041"/>
                <a:gd name="connsiteX0-6069" fmla="*/ 1016635 w 1432560"/>
                <a:gd name="connsiteY0-6070" fmla="*/ 3581400 h 3588041"/>
                <a:gd name="connsiteX1-6071" fmla="*/ 591185 w 1432560"/>
                <a:gd name="connsiteY1-6072" fmla="*/ 3587750 h 3588041"/>
                <a:gd name="connsiteX2-6073" fmla="*/ 394335 w 1432560"/>
                <a:gd name="connsiteY2-6074" fmla="*/ 3076575 h 3588041"/>
                <a:gd name="connsiteX3-6075" fmla="*/ 746760 w 1432560"/>
                <a:gd name="connsiteY3-6076" fmla="*/ 2381250 h 3588041"/>
                <a:gd name="connsiteX4-6077" fmla="*/ 560070 w 1432560"/>
                <a:gd name="connsiteY4-6078" fmla="*/ 1922145 h 3588041"/>
                <a:gd name="connsiteX5-6079" fmla="*/ 0 w 1432560"/>
                <a:gd name="connsiteY5-6080" fmla="*/ 1870710 h 3588041"/>
                <a:gd name="connsiteX6-6081" fmla="*/ 394335 w 1432560"/>
                <a:gd name="connsiteY6-6082" fmla="*/ 1743075 h 3588041"/>
                <a:gd name="connsiteX7-6083" fmla="*/ 641985 w 1432560"/>
                <a:gd name="connsiteY7-6084" fmla="*/ 1876425 h 3588041"/>
                <a:gd name="connsiteX8-6085" fmla="*/ 822960 w 1432560"/>
                <a:gd name="connsiteY8-6086" fmla="*/ 1333500 h 3588041"/>
                <a:gd name="connsiteX9-6087" fmla="*/ 763429 w 1432560"/>
                <a:gd name="connsiteY9-6088" fmla="*/ 823913 h 3588041"/>
                <a:gd name="connsiteX10-6089" fmla="*/ 387985 w 1432560"/>
                <a:gd name="connsiteY10-6090" fmla="*/ 695325 h 3588041"/>
                <a:gd name="connsiteX11-6091" fmla="*/ 781686 w 1432560"/>
                <a:gd name="connsiteY11-6092" fmla="*/ 724693 h 3588041"/>
                <a:gd name="connsiteX12-6093" fmla="*/ 799148 w 1432560"/>
                <a:gd name="connsiteY12-6094" fmla="*/ 441325 h 3588041"/>
                <a:gd name="connsiteX13-6095" fmla="*/ 886460 w 1432560"/>
                <a:gd name="connsiteY13-6096" fmla="*/ 0 h 3588041"/>
                <a:gd name="connsiteX14-6097" fmla="*/ 857885 w 1432560"/>
                <a:gd name="connsiteY14-6098" fmla="*/ 679450 h 3588041"/>
                <a:gd name="connsiteX15-6099" fmla="*/ 921385 w 1432560"/>
                <a:gd name="connsiteY15-6100" fmla="*/ 1047750 h 3588041"/>
                <a:gd name="connsiteX16-6101" fmla="*/ 930910 w 1432560"/>
                <a:gd name="connsiteY16-6102" fmla="*/ 1295400 h 3588041"/>
                <a:gd name="connsiteX17-6103" fmla="*/ 1102360 w 1432560"/>
                <a:gd name="connsiteY17-6104" fmla="*/ 1187450 h 3588041"/>
                <a:gd name="connsiteX18-6105" fmla="*/ 1375410 w 1432560"/>
                <a:gd name="connsiteY18-6106" fmla="*/ 1171575 h 3588041"/>
                <a:gd name="connsiteX19-6107" fmla="*/ 1108710 w 1432560"/>
                <a:gd name="connsiteY19-6108" fmla="*/ 1254125 h 3588041"/>
                <a:gd name="connsiteX20-6109" fmla="*/ 889635 w 1432560"/>
                <a:gd name="connsiteY20-6110" fmla="*/ 1527175 h 3588041"/>
                <a:gd name="connsiteX21-6111" fmla="*/ 835660 w 1432560"/>
                <a:gd name="connsiteY21-6112" fmla="*/ 1895475 h 3588041"/>
                <a:gd name="connsiteX22-6113" fmla="*/ 1003935 w 1432560"/>
                <a:gd name="connsiteY22-6114" fmla="*/ 2308225 h 3588041"/>
                <a:gd name="connsiteX23-6115" fmla="*/ 895985 w 1432560"/>
                <a:gd name="connsiteY23-6116" fmla="*/ 2578100 h 3588041"/>
                <a:gd name="connsiteX24-6117" fmla="*/ 1213485 w 1432560"/>
                <a:gd name="connsiteY24-6118" fmla="*/ 2533650 h 3588041"/>
                <a:gd name="connsiteX25-6119" fmla="*/ 1432560 w 1432560"/>
                <a:gd name="connsiteY25-6120" fmla="*/ 2626519 h 3588041"/>
                <a:gd name="connsiteX26-6121" fmla="*/ 1188085 w 1432560"/>
                <a:gd name="connsiteY26-6122" fmla="*/ 2590800 h 3588041"/>
                <a:gd name="connsiteX27-6123" fmla="*/ 832485 w 1432560"/>
                <a:gd name="connsiteY27-6124" fmla="*/ 2733675 h 3588041"/>
                <a:gd name="connsiteX28-6125" fmla="*/ 689610 w 1432560"/>
                <a:gd name="connsiteY28-6126" fmla="*/ 3086100 h 3588041"/>
                <a:gd name="connsiteX29-6127" fmla="*/ 918210 w 1432560"/>
                <a:gd name="connsiteY29-6128" fmla="*/ 3419475 h 3588041"/>
                <a:gd name="connsiteX30-6129" fmla="*/ 1016635 w 1432560"/>
                <a:gd name="connsiteY30-6130" fmla="*/ 3581400 h 3588041"/>
                <a:gd name="connsiteX0-6131" fmla="*/ 1016635 w 1432560"/>
                <a:gd name="connsiteY0-6132" fmla="*/ 3581400 h 3588041"/>
                <a:gd name="connsiteX1-6133" fmla="*/ 591185 w 1432560"/>
                <a:gd name="connsiteY1-6134" fmla="*/ 3587750 h 3588041"/>
                <a:gd name="connsiteX2-6135" fmla="*/ 394335 w 1432560"/>
                <a:gd name="connsiteY2-6136" fmla="*/ 3076575 h 3588041"/>
                <a:gd name="connsiteX3-6137" fmla="*/ 746760 w 1432560"/>
                <a:gd name="connsiteY3-6138" fmla="*/ 2381250 h 3588041"/>
                <a:gd name="connsiteX4-6139" fmla="*/ 560070 w 1432560"/>
                <a:gd name="connsiteY4-6140" fmla="*/ 1922145 h 3588041"/>
                <a:gd name="connsiteX5-6141" fmla="*/ 0 w 1432560"/>
                <a:gd name="connsiteY5-6142" fmla="*/ 1870710 h 3588041"/>
                <a:gd name="connsiteX6-6143" fmla="*/ 394335 w 1432560"/>
                <a:gd name="connsiteY6-6144" fmla="*/ 1743075 h 3588041"/>
                <a:gd name="connsiteX7-6145" fmla="*/ 641985 w 1432560"/>
                <a:gd name="connsiteY7-6146" fmla="*/ 1876425 h 3588041"/>
                <a:gd name="connsiteX8-6147" fmla="*/ 822960 w 1432560"/>
                <a:gd name="connsiteY8-6148" fmla="*/ 1333500 h 3588041"/>
                <a:gd name="connsiteX9-6149" fmla="*/ 763429 w 1432560"/>
                <a:gd name="connsiteY9-6150" fmla="*/ 823913 h 3588041"/>
                <a:gd name="connsiteX10-6151" fmla="*/ 387985 w 1432560"/>
                <a:gd name="connsiteY10-6152" fmla="*/ 695325 h 3588041"/>
                <a:gd name="connsiteX11-6153" fmla="*/ 781686 w 1432560"/>
                <a:gd name="connsiteY11-6154" fmla="*/ 724693 h 3588041"/>
                <a:gd name="connsiteX12-6155" fmla="*/ 799148 w 1432560"/>
                <a:gd name="connsiteY12-6156" fmla="*/ 441325 h 3588041"/>
                <a:gd name="connsiteX13-6157" fmla="*/ 886460 w 1432560"/>
                <a:gd name="connsiteY13-6158" fmla="*/ 0 h 3588041"/>
                <a:gd name="connsiteX14-6159" fmla="*/ 857885 w 1432560"/>
                <a:gd name="connsiteY14-6160" fmla="*/ 679450 h 3588041"/>
                <a:gd name="connsiteX15-6161" fmla="*/ 921385 w 1432560"/>
                <a:gd name="connsiteY15-6162" fmla="*/ 1047750 h 3588041"/>
                <a:gd name="connsiteX16-6163" fmla="*/ 930910 w 1432560"/>
                <a:gd name="connsiteY16-6164" fmla="*/ 1295400 h 3588041"/>
                <a:gd name="connsiteX17-6165" fmla="*/ 1102360 w 1432560"/>
                <a:gd name="connsiteY17-6166" fmla="*/ 1187450 h 3588041"/>
                <a:gd name="connsiteX18-6167" fmla="*/ 1375410 w 1432560"/>
                <a:gd name="connsiteY18-6168" fmla="*/ 1171575 h 3588041"/>
                <a:gd name="connsiteX19-6169" fmla="*/ 1108710 w 1432560"/>
                <a:gd name="connsiteY19-6170" fmla="*/ 1254125 h 3588041"/>
                <a:gd name="connsiteX20-6171" fmla="*/ 889635 w 1432560"/>
                <a:gd name="connsiteY20-6172" fmla="*/ 1527175 h 3588041"/>
                <a:gd name="connsiteX21-6173" fmla="*/ 835660 w 1432560"/>
                <a:gd name="connsiteY21-6174" fmla="*/ 1895475 h 3588041"/>
                <a:gd name="connsiteX22-6175" fmla="*/ 1003935 w 1432560"/>
                <a:gd name="connsiteY22-6176" fmla="*/ 2308225 h 3588041"/>
                <a:gd name="connsiteX23-6177" fmla="*/ 895985 w 1432560"/>
                <a:gd name="connsiteY23-6178" fmla="*/ 2578100 h 3588041"/>
                <a:gd name="connsiteX24-6179" fmla="*/ 1213485 w 1432560"/>
                <a:gd name="connsiteY24-6180" fmla="*/ 2533650 h 3588041"/>
                <a:gd name="connsiteX25-6181" fmla="*/ 1432560 w 1432560"/>
                <a:gd name="connsiteY25-6182" fmla="*/ 2626519 h 3588041"/>
                <a:gd name="connsiteX26-6183" fmla="*/ 1188085 w 1432560"/>
                <a:gd name="connsiteY26-6184" fmla="*/ 2590800 h 3588041"/>
                <a:gd name="connsiteX27-6185" fmla="*/ 832485 w 1432560"/>
                <a:gd name="connsiteY27-6186" fmla="*/ 2733675 h 3588041"/>
                <a:gd name="connsiteX28-6187" fmla="*/ 689610 w 1432560"/>
                <a:gd name="connsiteY28-6188" fmla="*/ 3086100 h 3588041"/>
                <a:gd name="connsiteX29-6189" fmla="*/ 918210 w 1432560"/>
                <a:gd name="connsiteY29-6190" fmla="*/ 3419475 h 3588041"/>
                <a:gd name="connsiteX30-6191" fmla="*/ 1016635 w 1432560"/>
                <a:gd name="connsiteY30-6192" fmla="*/ 3581400 h 3588041"/>
                <a:gd name="connsiteX0-6193" fmla="*/ 1016635 w 1432560"/>
                <a:gd name="connsiteY0-6194" fmla="*/ 3581400 h 3588041"/>
                <a:gd name="connsiteX1-6195" fmla="*/ 591185 w 1432560"/>
                <a:gd name="connsiteY1-6196" fmla="*/ 3587750 h 3588041"/>
                <a:gd name="connsiteX2-6197" fmla="*/ 394335 w 1432560"/>
                <a:gd name="connsiteY2-6198" fmla="*/ 3076575 h 3588041"/>
                <a:gd name="connsiteX3-6199" fmla="*/ 746760 w 1432560"/>
                <a:gd name="connsiteY3-6200" fmla="*/ 2381250 h 3588041"/>
                <a:gd name="connsiteX4-6201" fmla="*/ 560070 w 1432560"/>
                <a:gd name="connsiteY4-6202" fmla="*/ 1922145 h 3588041"/>
                <a:gd name="connsiteX5-6203" fmla="*/ 0 w 1432560"/>
                <a:gd name="connsiteY5-6204" fmla="*/ 1870710 h 3588041"/>
                <a:gd name="connsiteX6-6205" fmla="*/ 394335 w 1432560"/>
                <a:gd name="connsiteY6-6206" fmla="*/ 1743075 h 3588041"/>
                <a:gd name="connsiteX7-6207" fmla="*/ 641985 w 1432560"/>
                <a:gd name="connsiteY7-6208" fmla="*/ 1876425 h 3588041"/>
                <a:gd name="connsiteX8-6209" fmla="*/ 822960 w 1432560"/>
                <a:gd name="connsiteY8-6210" fmla="*/ 1333500 h 3588041"/>
                <a:gd name="connsiteX9-6211" fmla="*/ 763429 w 1432560"/>
                <a:gd name="connsiteY9-6212" fmla="*/ 823913 h 3588041"/>
                <a:gd name="connsiteX10-6213" fmla="*/ 387985 w 1432560"/>
                <a:gd name="connsiteY10-6214" fmla="*/ 695325 h 3588041"/>
                <a:gd name="connsiteX11-6215" fmla="*/ 781686 w 1432560"/>
                <a:gd name="connsiteY11-6216" fmla="*/ 724693 h 3588041"/>
                <a:gd name="connsiteX12-6217" fmla="*/ 799148 w 1432560"/>
                <a:gd name="connsiteY12-6218" fmla="*/ 441325 h 3588041"/>
                <a:gd name="connsiteX13-6219" fmla="*/ 886460 w 1432560"/>
                <a:gd name="connsiteY13-6220" fmla="*/ 0 h 3588041"/>
                <a:gd name="connsiteX14-6221" fmla="*/ 857885 w 1432560"/>
                <a:gd name="connsiteY14-6222" fmla="*/ 679450 h 3588041"/>
                <a:gd name="connsiteX15-6223" fmla="*/ 921385 w 1432560"/>
                <a:gd name="connsiteY15-6224" fmla="*/ 1047750 h 3588041"/>
                <a:gd name="connsiteX16-6225" fmla="*/ 930910 w 1432560"/>
                <a:gd name="connsiteY16-6226" fmla="*/ 1295400 h 3588041"/>
                <a:gd name="connsiteX17-6227" fmla="*/ 1102360 w 1432560"/>
                <a:gd name="connsiteY17-6228" fmla="*/ 1187450 h 3588041"/>
                <a:gd name="connsiteX18-6229" fmla="*/ 1375410 w 1432560"/>
                <a:gd name="connsiteY18-6230" fmla="*/ 1171575 h 3588041"/>
                <a:gd name="connsiteX19-6231" fmla="*/ 1108710 w 1432560"/>
                <a:gd name="connsiteY19-6232" fmla="*/ 1254125 h 3588041"/>
                <a:gd name="connsiteX20-6233" fmla="*/ 889635 w 1432560"/>
                <a:gd name="connsiteY20-6234" fmla="*/ 1527175 h 3588041"/>
                <a:gd name="connsiteX21-6235" fmla="*/ 835660 w 1432560"/>
                <a:gd name="connsiteY21-6236" fmla="*/ 1895475 h 3588041"/>
                <a:gd name="connsiteX22-6237" fmla="*/ 1003935 w 1432560"/>
                <a:gd name="connsiteY22-6238" fmla="*/ 2308225 h 3588041"/>
                <a:gd name="connsiteX23-6239" fmla="*/ 895985 w 1432560"/>
                <a:gd name="connsiteY23-6240" fmla="*/ 2578100 h 3588041"/>
                <a:gd name="connsiteX24-6241" fmla="*/ 1213485 w 1432560"/>
                <a:gd name="connsiteY24-6242" fmla="*/ 2533650 h 3588041"/>
                <a:gd name="connsiteX25-6243" fmla="*/ 1432560 w 1432560"/>
                <a:gd name="connsiteY25-6244" fmla="*/ 2626519 h 3588041"/>
                <a:gd name="connsiteX26-6245" fmla="*/ 1188085 w 1432560"/>
                <a:gd name="connsiteY26-6246" fmla="*/ 2590800 h 3588041"/>
                <a:gd name="connsiteX27-6247" fmla="*/ 832485 w 1432560"/>
                <a:gd name="connsiteY27-6248" fmla="*/ 2733675 h 3588041"/>
                <a:gd name="connsiteX28-6249" fmla="*/ 689610 w 1432560"/>
                <a:gd name="connsiteY28-6250" fmla="*/ 3086100 h 3588041"/>
                <a:gd name="connsiteX29-6251" fmla="*/ 918210 w 1432560"/>
                <a:gd name="connsiteY29-6252" fmla="*/ 3419475 h 3588041"/>
                <a:gd name="connsiteX30-6253" fmla="*/ 1016635 w 1432560"/>
                <a:gd name="connsiteY30-6254" fmla="*/ 3581400 h 3588041"/>
                <a:gd name="connsiteX0-6255" fmla="*/ 1016635 w 1432560"/>
                <a:gd name="connsiteY0-6256" fmla="*/ 3581400 h 3588041"/>
                <a:gd name="connsiteX1-6257" fmla="*/ 591185 w 1432560"/>
                <a:gd name="connsiteY1-6258" fmla="*/ 3587750 h 3588041"/>
                <a:gd name="connsiteX2-6259" fmla="*/ 394335 w 1432560"/>
                <a:gd name="connsiteY2-6260" fmla="*/ 3076575 h 3588041"/>
                <a:gd name="connsiteX3-6261" fmla="*/ 746760 w 1432560"/>
                <a:gd name="connsiteY3-6262" fmla="*/ 2381250 h 3588041"/>
                <a:gd name="connsiteX4-6263" fmla="*/ 560070 w 1432560"/>
                <a:gd name="connsiteY4-6264" fmla="*/ 1922145 h 3588041"/>
                <a:gd name="connsiteX5-6265" fmla="*/ 0 w 1432560"/>
                <a:gd name="connsiteY5-6266" fmla="*/ 1870710 h 3588041"/>
                <a:gd name="connsiteX6-6267" fmla="*/ 400685 w 1432560"/>
                <a:gd name="connsiteY6-6268" fmla="*/ 1771650 h 3588041"/>
                <a:gd name="connsiteX7-6269" fmla="*/ 641985 w 1432560"/>
                <a:gd name="connsiteY7-6270" fmla="*/ 1876425 h 3588041"/>
                <a:gd name="connsiteX8-6271" fmla="*/ 822960 w 1432560"/>
                <a:gd name="connsiteY8-6272" fmla="*/ 1333500 h 3588041"/>
                <a:gd name="connsiteX9-6273" fmla="*/ 763429 w 1432560"/>
                <a:gd name="connsiteY9-6274" fmla="*/ 823913 h 3588041"/>
                <a:gd name="connsiteX10-6275" fmla="*/ 387985 w 1432560"/>
                <a:gd name="connsiteY10-6276" fmla="*/ 695325 h 3588041"/>
                <a:gd name="connsiteX11-6277" fmla="*/ 781686 w 1432560"/>
                <a:gd name="connsiteY11-6278" fmla="*/ 724693 h 3588041"/>
                <a:gd name="connsiteX12-6279" fmla="*/ 799148 w 1432560"/>
                <a:gd name="connsiteY12-6280" fmla="*/ 441325 h 3588041"/>
                <a:gd name="connsiteX13-6281" fmla="*/ 886460 w 1432560"/>
                <a:gd name="connsiteY13-6282" fmla="*/ 0 h 3588041"/>
                <a:gd name="connsiteX14-6283" fmla="*/ 857885 w 1432560"/>
                <a:gd name="connsiteY14-6284" fmla="*/ 679450 h 3588041"/>
                <a:gd name="connsiteX15-6285" fmla="*/ 921385 w 1432560"/>
                <a:gd name="connsiteY15-6286" fmla="*/ 1047750 h 3588041"/>
                <a:gd name="connsiteX16-6287" fmla="*/ 930910 w 1432560"/>
                <a:gd name="connsiteY16-6288" fmla="*/ 1295400 h 3588041"/>
                <a:gd name="connsiteX17-6289" fmla="*/ 1102360 w 1432560"/>
                <a:gd name="connsiteY17-6290" fmla="*/ 1187450 h 3588041"/>
                <a:gd name="connsiteX18-6291" fmla="*/ 1375410 w 1432560"/>
                <a:gd name="connsiteY18-6292" fmla="*/ 1171575 h 3588041"/>
                <a:gd name="connsiteX19-6293" fmla="*/ 1108710 w 1432560"/>
                <a:gd name="connsiteY19-6294" fmla="*/ 1254125 h 3588041"/>
                <a:gd name="connsiteX20-6295" fmla="*/ 889635 w 1432560"/>
                <a:gd name="connsiteY20-6296" fmla="*/ 1527175 h 3588041"/>
                <a:gd name="connsiteX21-6297" fmla="*/ 835660 w 1432560"/>
                <a:gd name="connsiteY21-6298" fmla="*/ 1895475 h 3588041"/>
                <a:gd name="connsiteX22-6299" fmla="*/ 1003935 w 1432560"/>
                <a:gd name="connsiteY22-6300" fmla="*/ 2308225 h 3588041"/>
                <a:gd name="connsiteX23-6301" fmla="*/ 895985 w 1432560"/>
                <a:gd name="connsiteY23-6302" fmla="*/ 2578100 h 3588041"/>
                <a:gd name="connsiteX24-6303" fmla="*/ 1213485 w 1432560"/>
                <a:gd name="connsiteY24-6304" fmla="*/ 2533650 h 3588041"/>
                <a:gd name="connsiteX25-6305" fmla="*/ 1432560 w 1432560"/>
                <a:gd name="connsiteY25-6306" fmla="*/ 2626519 h 3588041"/>
                <a:gd name="connsiteX26-6307" fmla="*/ 1188085 w 1432560"/>
                <a:gd name="connsiteY26-6308" fmla="*/ 2590800 h 3588041"/>
                <a:gd name="connsiteX27-6309" fmla="*/ 832485 w 1432560"/>
                <a:gd name="connsiteY27-6310" fmla="*/ 2733675 h 3588041"/>
                <a:gd name="connsiteX28-6311" fmla="*/ 689610 w 1432560"/>
                <a:gd name="connsiteY28-6312" fmla="*/ 3086100 h 3588041"/>
                <a:gd name="connsiteX29-6313" fmla="*/ 918210 w 1432560"/>
                <a:gd name="connsiteY29-6314" fmla="*/ 3419475 h 3588041"/>
                <a:gd name="connsiteX30-6315" fmla="*/ 1016635 w 1432560"/>
                <a:gd name="connsiteY30-6316" fmla="*/ 3581400 h 3588041"/>
                <a:gd name="connsiteX0-6317" fmla="*/ 1016635 w 1432560"/>
                <a:gd name="connsiteY0-6318" fmla="*/ 3581400 h 3588041"/>
                <a:gd name="connsiteX1-6319" fmla="*/ 591185 w 1432560"/>
                <a:gd name="connsiteY1-6320" fmla="*/ 3587750 h 3588041"/>
                <a:gd name="connsiteX2-6321" fmla="*/ 394335 w 1432560"/>
                <a:gd name="connsiteY2-6322" fmla="*/ 3076575 h 3588041"/>
                <a:gd name="connsiteX3-6323" fmla="*/ 746760 w 1432560"/>
                <a:gd name="connsiteY3-6324" fmla="*/ 2381250 h 3588041"/>
                <a:gd name="connsiteX4-6325" fmla="*/ 560070 w 1432560"/>
                <a:gd name="connsiteY4-6326" fmla="*/ 1922145 h 3588041"/>
                <a:gd name="connsiteX5-6327" fmla="*/ 0 w 1432560"/>
                <a:gd name="connsiteY5-6328" fmla="*/ 1870710 h 3588041"/>
                <a:gd name="connsiteX6-6329" fmla="*/ 400685 w 1432560"/>
                <a:gd name="connsiteY6-6330" fmla="*/ 1771650 h 3588041"/>
                <a:gd name="connsiteX7-6331" fmla="*/ 641985 w 1432560"/>
                <a:gd name="connsiteY7-6332" fmla="*/ 1876425 h 3588041"/>
                <a:gd name="connsiteX8-6333" fmla="*/ 822960 w 1432560"/>
                <a:gd name="connsiteY8-6334" fmla="*/ 1333500 h 3588041"/>
                <a:gd name="connsiteX9-6335" fmla="*/ 763429 w 1432560"/>
                <a:gd name="connsiteY9-6336" fmla="*/ 823913 h 3588041"/>
                <a:gd name="connsiteX10-6337" fmla="*/ 387985 w 1432560"/>
                <a:gd name="connsiteY10-6338" fmla="*/ 695325 h 3588041"/>
                <a:gd name="connsiteX11-6339" fmla="*/ 781686 w 1432560"/>
                <a:gd name="connsiteY11-6340" fmla="*/ 724693 h 3588041"/>
                <a:gd name="connsiteX12-6341" fmla="*/ 799148 w 1432560"/>
                <a:gd name="connsiteY12-6342" fmla="*/ 441325 h 3588041"/>
                <a:gd name="connsiteX13-6343" fmla="*/ 886460 w 1432560"/>
                <a:gd name="connsiteY13-6344" fmla="*/ 0 h 3588041"/>
                <a:gd name="connsiteX14-6345" fmla="*/ 857885 w 1432560"/>
                <a:gd name="connsiteY14-6346" fmla="*/ 679450 h 3588041"/>
                <a:gd name="connsiteX15-6347" fmla="*/ 921385 w 1432560"/>
                <a:gd name="connsiteY15-6348" fmla="*/ 1047750 h 3588041"/>
                <a:gd name="connsiteX16-6349" fmla="*/ 930910 w 1432560"/>
                <a:gd name="connsiteY16-6350" fmla="*/ 1295400 h 3588041"/>
                <a:gd name="connsiteX17-6351" fmla="*/ 1102360 w 1432560"/>
                <a:gd name="connsiteY17-6352" fmla="*/ 1187450 h 3588041"/>
                <a:gd name="connsiteX18-6353" fmla="*/ 1375410 w 1432560"/>
                <a:gd name="connsiteY18-6354" fmla="*/ 1171575 h 3588041"/>
                <a:gd name="connsiteX19-6355" fmla="*/ 1108710 w 1432560"/>
                <a:gd name="connsiteY19-6356" fmla="*/ 1254125 h 3588041"/>
                <a:gd name="connsiteX20-6357" fmla="*/ 889635 w 1432560"/>
                <a:gd name="connsiteY20-6358" fmla="*/ 1527175 h 3588041"/>
                <a:gd name="connsiteX21-6359" fmla="*/ 835660 w 1432560"/>
                <a:gd name="connsiteY21-6360" fmla="*/ 1895475 h 3588041"/>
                <a:gd name="connsiteX22-6361" fmla="*/ 1003935 w 1432560"/>
                <a:gd name="connsiteY22-6362" fmla="*/ 2308225 h 3588041"/>
                <a:gd name="connsiteX23-6363" fmla="*/ 895985 w 1432560"/>
                <a:gd name="connsiteY23-6364" fmla="*/ 2578100 h 3588041"/>
                <a:gd name="connsiteX24-6365" fmla="*/ 1213485 w 1432560"/>
                <a:gd name="connsiteY24-6366" fmla="*/ 2533650 h 3588041"/>
                <a:gd name="connsiteX25-6367" fmla="*/ 1432560 w 1432560"/>
                <a:gd name="connsiteY25-6368" fmla="*/ 2626519 h 3588041"/>
                <a:gd name="connsiteX26-6369" fmla="*/ 1188085 w 1432560"/>
                <a:gd name="connsiteY26-6370" fmla="*/ 2590800 h 3588041"/>
                <a:gd name="connsiteX27-6371" fmla="*/ 832485 w 1432560"/>
                <a:gd name="connsiteY27-6372" fmla="*/ 2733675 h 3588041"/>
                <a:gd name="connsiteX28-6373" fmla="*/ 689610 w 1432560"/>
                <a:gd name="connsiteY28-6374" fmla="*/ 3086100 h 3588041"/>
                <a:gd name="connsiteX29-6375" fmla="*/ 918210 w 1432560"/>
                <a:gd name="connsiteY29-6376" fmla="*/ 3419475 h 3588041"/>
                <a:gd name="connsiteX30-6377" fmla="*/ 1016635 w 1432560"/>
                <a:gd name="connsiteY30-6378" fmla="*/ 3581400 h 3588041"/>
                <a:gd name="connsiteX0-6379" fmla="*/ 1016635 w 1432560"/>
                <a:gd name="connsiteY0-6380" fmla="*/ 3581400 h 3588041"/>
                <a:gd name="connsiteX1-6381" fmla="*/ 591185 w 1432560"/>
                <a:gd name="connsiteY1-6382" fmla="*/ 3587750 h 3588041"/>
                <a:gd name="connsiteX2-6383" fmla="*/ 394335 w 1432560"/>
                <a:gd name="connsiteY2-6384" fmla="*/ 3076575 h 3588041"/>
                <a:gd name="connsiteX3-6385" fmla="*/ 746760 w 1432560"/>
                <a:gd name="connsiteY3-6386" fmla="*/ 2381250 h 3588041"/>
                <a:gd name="connsiteX4-6387" fmla="*/ 560070 w 1432560"/>
                <a:gd name="connsiteY4-6388" fmla="*/ 1922145 h 3588041"/>
                <a:gd name="connsiteX5-6389" fmla="*/ 0 w 1432560"/>
                <a:gd name="connsiteY5-6390" fmla="*/ 1870710 h 3588041"/>
                <a:gd name="connsiteX6-6391" fmla="*/ 422910 w 1432560"/>
                <a:gd name="connsiteY6-6392" fmla="*/ 1787525 h 3588041"/>
                <a:gd name="connsiteX7-6393" fmla="*/ 641985 w 1432560"/>
                <a:gd name="connsiteY7-6394" fmla="*/ 1876425 h 3588041"/>
                <a:gd name="connsiteX8-6395" fmla="*/ 822960 w 1432560"/>
                <a:gd name="connsiteY8-6396" fmla="*/ 1333500 h 3588041"/>
                <a:gd name="connsiteX9-6397" fmla="*/ 763429 w 1432560"/>
                <a:gd name="connsiteY9-6398" fmla="*/ 823913 h 3588041"/>
                <a:gd name="connsiteX10-6399" fmla="*/ 387985 w 1432560"/>
                <a:gd name="connsiteY10-6400" fmla="*/ 695325 h 3588041"/>
                <a:gd name="connsiteX11-6401" fmla="*/ 781686 w 1432560"/>
                <a:gd name="connsiteY11-6402" fmla="*/ 724693 h 3588041"/>
                <a:gd name="connsiteX12-6403" fmla="*/ 799148 w 1432560"/>
                <a:gd name="connsiteY12-6404" fmla="*/ 441325 h 3588041"/>
                <a:gd name="connsiteX13-6405" fmla="*/ 886460 w 1432560"/>
                <a:gd name="connsiteY13-6406" fmla="*/ 0 h 3588041"/>
                <a:gd name="connsiteX14-6407" fmla="*/ 857885 w 1432560"/>
                <a:gd name="connsiteY14-6408" fmla="*/ 679450 h 3588041"/>
                <a:gd name="connsiteX15-6409" fmla="*/ 921385 w 1432560"/>
                <a:gd name="connsiteY15-6410" fmla="*/ 1047750 h 3588041"/>
                <a:gd name="connsiteX16-6411" fmla="*/ 930910 w 1432560"/>
                <a:gd name="connsiteY16-6412" fmla="*/ 1295400 h 3588041"/>
                <a:gd name="connsiteX17-6413" fmla="*/ 1102360 w 1432560"/>
                <a:gd name="connsiteY17-6414" fmla="*/ 1187450 h 3588041"/>
                <a:gd name="connsiteX18-6415" fmla="*/ 1375410 w 1432560"/>
                <a:gd name="connsiteY18-6416" fmla="*/ 1171575 h 3588041"/>
                <a:gd name="connsiteX19-6417" fmla="*/ 1108710 w 1432560"/>
                <a:gd name="connsiteY19-6418" fmla="*/ 1254125 h 3588041"/>
                <a:gd name="connsiteX20-6419" fmla="*/ 889635 w 1432560"/>
                <a:gd name="connsiteY20-6420" fmla="*/ 1527175 h 3588041"/>
                <a:gd name="connsiteX21-6421" fmla="*/ 835660 w 1432560"/>
                <a:gd name="connsiteY21-6422" fmla="*/ 1895475 h 3588041"/>
                <a:gd name="connsiteX22-6423" fmla="*/ 1003935 w 1432560"/>
                <a:gd name="connsiteY22-6424" fmla="*/ 2308225 h 3588041"/>
                <a:gd name="connsiteX23-6425" fmla="*/ 895985 w 1432560"/>
                <a:gd name="connsiteY23-6426" fmla="*/ 2578100 h 3588041"/>
                <a:gd name="connsiteX24-6427" fmla="*/ 1213485 w 1432560"/>
                <a:gd name="connsiteY24-6428" fmla="*/ 2533650 h 3588041"/>
                <a:gd name="connsiteX25-6429" fmla="*/ 1432560 w 1432560"/>
                <a:gd name="connsiteY25-6430" fmla="*/ 2626519 h 3588041"/>
                <a:gd name="connsiteX26-6431" fmla="*/ 1188085 w 1432560"/>
                <a:gd name="connsiteY26-6432" fmla="*/ 2590800 h 3588041"/>
                <a:gd name="connsiteX27-6433" fmla="*/ 832485 w 1432560"/>
                <a:gd name="connsiteY27-6434" fmla="*/ 2733675 h 3588041"/>
                <a:gd name="connsiteX28-6435" fmla="*/ 689610 w 1432560"/>
                <a:gd name="connsiteY28-6436" fmla="*/ 3086100 h 3588041"/>
                <a:gd name="connsiteX29-6437" fmla="*/ 918210 w 1432560"/>
                <a:gd name="connsiteY29-6438" fmla="*/ 3419475 h 3588041"/>
                <a:gd name="connsiteX30-6439" fmla="*/ 1016635 w 1432560"/>
                <a:gd name="connsiteY30-6440" fmla="*/ 3581400 h 3588041"/>
                <a:gd name="connsiteX0-6441" fmla="*/ 1016635 w 1432560"/>
                <a:gd name="connsiteY0-6442" fmla="*/ 3581400 h 3588041"/>
                <a:gd name="connsiteX1-6443" fmla="*/ 591185 w 1432560"/>
                <a:gd name="connsiteY1-6444" fmla="*/ 3587750 h 3588041"/>
                <a:gd name="connsiteX2-6445" fmla="*/ 394335 w 1432560"/>
                <a:gd name="connsiteY2-6446" fmla="*/ 3076575 h 3588041"/>
                <a:gd name="connsiteX3-6447" fmla="*/ 746760 w 1432560"/>
                <a:gd name="connsiteY3-6448" fmla="*/ 2381250 h 3588041"/>
                <a:gd name="connsiteX4-6449" fmla="*/ 569595 w 1432560"/>
                <a:gd name="connsiteY4-6450" fmla="*/ 1925320 h 3588041"/>
                <a:gd name="connsiteX5-6451" fmla="*/ 0 w 1432560"/>
                <a:gd name="connsiteY5-6452" fmla="*/ 1870710 h 3588041"/>
                <a:gd name="connsiteX6-6453" fmla="*/ 422910 w 1432560"/>
                <a:gd name="connsiteY6-6454" fmla="*/ 1787525 h 3588041"/>
                <a:gd name="connsiteX7-6455" fmla="*/ 641985 w 1432560"/>
                <a:gd name="connsiteY7-6456" fmla="*/ 1876425 h 3588041"/>
                <a:gd name="connsiteX8-6457" fmla="*/ 822960 w 1432560"/>
                <a:gd name="connsiteY8-6458" fmla="*/ 1333500 h 3588041"/>
                <a:gd name="connsiteX9-6459" fmla="*/ 763429 w 1432560"/>
                <a:gd name="connsiteY9-6460" fmla="*/ 823913 h 3588041"/>
                <a:gd name="connsiteX10-6461" fmla="*/ 387985 w 1432560"/>
                <a:gd name="connsiteY10-6462" fmla="*/ 695325 h 3588041"/>
                <a:gd name="connsiteX11-6463" fmla="*/ 781686 w 1432560"/>
                <a:gd name="connsiteY11-6464" fmla="*/ 724693 h 3588041"/>
                <a:gd name="connsiteX12-6465" fmla="*/ 799148 w 1432560"/>
                <a:gd name="connsiteY12-6466" fmla="*/ 441325 h 3588041"/>
                <a:gd name="connsiteX13-6467" fmla="*/ 886460 w 1432560"/>
                <a:gd name="connsiteY13-6468" fmla="*/ 0 h 3588041"/>
                <a:gd name="connsiteX14-6469" fmla="*/ 857885 w 1432560"/>
                <a:gd name="connsiteY14-6470" fmla="*/ 679450 h 3588041"/>
                <a:gd name="connsiteX15-6471" fmla="*/ 921385 w 1432560"/>
                <a:gd name="connsiteY15-6472" fmla="*/ 1047750 h 3588041"/>
                <a:gd name="connsiteX16-6473" fmla="*/ 930910 w 1432560"/>
                <a:gd name="connsiteY16-6474" fmla="*/ 1295400 h 3588041"/>
                <a:gd name="connsiteX17-6475" fmla="*/ 1102360 w 1432560"/>
                <a:gd name="connsiteY17-6476" fmla="*/ 1187450 h 3588041"/>
                <a:gd name="connsiteX18-6477" fmla="*/ 1375410 w 1432560"/>
                <a:gd name="connsiteY18-6478" fmla="*/ 1171575 h 3588041"/>
                <a:gd name="connsiteX19-6479" fmla="*/ 1108710 w 1432560"/>
                <a:gd name="connsiteY19-6480" fmla="*/ 1254125 h 3588041"/>
                <a:gd name="connsiteX20-6481" fmla="*/ 889635 w 1432560"/>
                <a:gd name="connsiteY20-6482" fmla="*/ 1527175 h 3588041"/>
                <a:gd name="connsiteX21-6483" fmla="*/ 835660 w 1432560"/>
                <a:gd name="connsiteY21-6484" fmla="*/ 1895475 h 3588041"/>
                <a:gd name="connsiteX22-6485" fmla="*/ 1003935 w 1432560"/>
                <a:gd name="connsiteY22-6486" fmla="*/ 2308225 h 3588041"/>
                <a:gd name="connsiteX23-6487" fmla="*/ 895985 w 1432560"/>
                <a:gd name="connsiteY23-6488" fmla="*/ 2578100 h 3588041"/>
                <a:gd name="connsiteX24-6489" fmla="*/ 1213485 w 1432560"/>
                <a:gd name="connsiteY24-6490" fmla="*/ 2533650 h 3588041"/>
                <a:gd name="connsiteX25-6491" fmla="*/ 1432560 w 1432560"/>
                <a:gd name="connsiteY25-6492" fmla="*/ 2626519 h 3588041"/>
                <a:gd name="connsiteX26-6493" fmla="*/ 1188085 w 1432560"/>
                <a:gd name="connsiteY26-6494" fmla="*/ 2590800 h 3588041"/>
                <a:gd name="connsiteX27-6495" fmla="*/ 832485 w 1432560"/>
                <a:gd name="connsiteY27-6496" fmla="*/ 2733675 h 3588041"/>
                <a:gd name="connsiteX28-6497" fmla="*/ 689610 w 1432560"/>
                <a:gd name="connsiteY28-6498" fmla="*/ 3086100 h 3588041"/>
                <a:gd name="connsiteX29-6499" fmla="*/ 918210 w 1432560"/>
                <a:gd name="connsiteY29-6500" fmla="*/ 3419475 h 3588041"/>
                <a:gd name="connsiteX30-6501" fmla="*/ 1016635 w 1432560"/>
                <a:gd name="connsiteY30-6502" fmla="*/ 3581400 h 3588041"/>
                <a:gd name="connsiteX0-6503" fmla="*/ 1016635 w 1432560"/>
                <a:gd name="connsiteY0-6504" fmla="*/ 3581400 h 3588041"/>
                <a:gd name="connsiteX1-6505" fmla="*/ 591185 w 1432560"/>
                <a:gd name="connsiteY1-6506" fmla="*/ 3587750 h 3588041"/>
                <a:gd name="connsiteX2-6507" fmla="*/ 394335 w 1432560"/>
                <a:gd name="connsiteY2-6508" fmla="*/ 3076575 h 3588041"/>
                <a:gd name="connsiteX3-6509" fmla="*/ 746760 w 1432560"/>
                <a:gd name="connsiteY3-6510" fmla="*/ 2381250 h 3588041"/>
                <a:gd name="connsiteX4-6511" fmla="*/ 582295 w 1432560"/>
                <a:gd name="connsiteY4-6512" fmla="*/ 1953895 h 3588041"/>
                <a:gd name="connsiteX5-6513" fmla="*/ 0 w 1432560"/>
                <a:gd name="connsiteY5-6514" fmla="*/ 1870710 h 3588041"/>
                <a:gd name="connsiteX6-6515" fmla="*/ 422910 w 1432560"/>
                <a:gd name="connsiteY6-6516" fmla="*/ 1787525 h 3588041"/>
                <a:gd name="connsiteX7-6517" fmla="*/ 641985 w 1432560"/>
                <a:gd name="connsiteY7-6518" fmla="*/ 1876425 h 3588041"/>
                <a:gd name="connsiteX8-6519" fmla="*/ 822960 w 1432560"/>
                <a:gd name="connsiteY8-6520" fmla="*/ 1333500 h 3588041"/>
                <a:gd name="connsiteX9-6521" fmla="*/ 763429 w 1432560"/>
                <a:gd name="connsiteY9-6522" fmla="*/ 823913 h 3588041"/>
                <a:gd name="connsiteX10-6523" fmla="*/ 387985 w 1432560"/>
                <a:gd name="connsiteY10-6524" fmla="*/ 695325 h 3588041"/>
                <a:gd name="connsiteX11-6525" fmla="*/ 781686 w 1432560"/>
                <a:gd name="connsiteY11-6526" fmla="*/ 724693 h 3588041"/>
                <a:gd name="connsiteX12-6527" fmla="*/ 799148 w 1432560"/>
                <a:gd name="connsiteY12-6528" fmla="*/ 441325 h 3588041"/>
                <a:gd name="connsiteX13-6529" fmla="*/ 886460 w 1432560"/>
                <a:gd name="connsiteY13-6530" fmla="*/ 0 h 3588041"/>
                <a:gd name="connsiteX14-6531" fmla="*/ 857885 w 1432560"/>
                <a:gd name="connsiteY14-6532" fmla="*/ 679450 h 3588041"/>
                <a:gd name="connsiteX15-6533" fmla="*/ 921385 w 1432560"/>
                <a:gd name="connsiteY15-6534" fmla="*/ 1047750 h 3588041"/>
                <a:gd name="connsiteX16-6535" fmla="*/ 930910 w 1432560"/>
                <a:gd name="connsiteY16-6536" fmla="*/ 1295400 h 3588041"/>
                <a:gd name="connsiteX17-6537" fmla="*/ 1102360 w 1432560"/>
                <a:gd name="connsiteY17-6538" fmla="*/ 1187450 h 3588041"/>
                <a:gd name="connsiteX18-6539" fmla="*/ 1375410 w 1432560"/>
                <a:gd name="connsiteY18-6540" fmla="*/ 1171575 h 3588041"/>
                <a:gd name="connsiteX19-6541" fmla="*/ 1108710 w 1432560"/>
                <a:gd name="connsiteY19-6542" fmla="*/ 1254125 h 3588041"/>
                <a:gd name="connsiteX20-6543" fmla="*/ 889635 w 1432560"/>
                <a:gd name="connsiteY20-6544" fmla="*/ 1527175 h 3588041"/>
                <a:gd name="connsiteX21-6545" fmla="*/ 835660 w 1432560"/>
                <a:gd name="connsiteY21-6546" fmla="*/ 1895475 h 3588041"/>
                <a:gd name="connsiteX22-6547" fmla="*/ 1003935 w 1432560"/>
                <a:gd name="connsiteY22-6548" fmla="*/ 2308225 h 3588041"/>
                <a:gd name="connsiteX23-6549" fmla="*/ 895985 w 1432560"/>
                <a:gd name="connsiteY23-6550" fmla="*/ 2578100 h 3588041"/>
                <a:gd name="connsiteX24-6551" fmla="*/ 1213485 w 1432560"/>
                <a:gd name="connsiteY24-6552" fmla="*/ 2533650 h 3588041"/>
                <a:gd name="connsiteX25-6553" fmla="*/ 1432560 w 1432560"/>
                <a:gd name="connsiteY25-6554" fmla="*/ 2626519 h 3588041"/>
                <a:gd name="connsiteX26-6555" fmla="*/ 1188085 w 1432560"/>
                <a:gd name="connsiteY26-6556" fmla="*/ 2590800 h 3588041"/>
                <a:gd name="connsiteX27-6557" fmla="*/ 832485 w 1432560"/>
                <a:gd name="connsiteY27-6558" fmla="*/ 2733675 h 3588041"/>
                <a:gd name="connsiteX28-6559" fmla="*/ 689610 w 1432560"/>
                <a:gd name="connsiteY28-6560" fmla="*/ 3086100 h 3588041"/>
                <a:gd name="connsiteX29-6561" fmla="*/ 918210 w 1432560"/>
                <a:gd name="connsiteY29-6562" fmla="*/ 3419475 h 3588041"/>
                <a:gd name="connsiteX30-6563" fmla="*/ 1016635 w 1432560"/>
                <a:gd name="connsiteY30-6564" fmla="*/ 3581400 h 3588041"/>
                <a:gd name="connsiteX0-6565" fmla="*/ 1016635 w 1432560"/>
                <a:gd name="connsiteY0-6566" fmla="*/ 3581400 h 3588041"/>
                <a:gd name="connsiteX1-6567" fmla="*/ 591185 w 1432560"/>
                <a:gd name="connsiteY1-6568" fmla="*/ 3587750 h 3588041"/>
                <a:gd name="connsiteX2-6569" fmla="*/ 394335 w 1432560"/>
                <a:gd name="connsiteY2-6570" fmla="*/ 3076575 h 3588041"/>
                <a:gd name="connsiteX3-6571" fmla="*/ 746760 w 1432560"/>
                <a:gd name="connsiteY3-6572" fmla="*/ 2381250 h 3588041"/>
                <a:gd name="connsiteX4-6573" fmla="*/ 582295 w 1432560"/>
                <a:gd name="connsiteY4-6574" fmla="*/ 1953895 h 3588041"/>
                <a:gd name="connsiteX5-6575" fmla="*/ 0 w 1432560"/>
                <a:gd name="connsiteY5-6576" fmla="*/ 1870710 h 3588041"/>
                <a:gd name="connsiteX6-6577" fmla="*/ 422910 w 1432560"/>
                <a:gd name="connsiteY6-6578" fmla="*/ 1787525 h 3588041"/>
                <a:gd name="connsiteX7-6579" fmla="*/ 641985 w 1432560"/>
                <a:gd name="connsiteY7-6580" fmla="*/ 1876425 h 3588041"/>
                <a:gd name="connsiteX8-6581" fmla="*/ 822960 w 1432560"/>
                <a:gd name="connsiteY8-6582" fmla="*/ 1333500 h 3588041"/>
                <a:gd name="connsiteX9-6583" fmla="*/ 763429 w 1432560"/>
                <a:gd name="connsiteY9-6584" fmla="*/ 823913 h 3588041"/>
                <a:gd name="connsiteX10-6585" fmla="*/ 387985 w 1432560"/>
                <a:gd name="connsiteY10-6586" fmla="*/ 695325 h 3588041"/>
                <a:gd name="connsiteX11-6587" fmla="*/ 781686 w 1432560"/>
                <a:gd name="connsiteY11-6588" fmla="*/ 724693 h 3588041"/>
                <a:gd name="connsiteX12-6589" fmla="*/ 799148 w 1432560"/>
                <a:gd name="connsiteY12-6590" fmla="*/ 441325 h 3588041"/>
                <a:gd name="connsiteX13-6591" fmla="*/ 886460 w 1432560"/>
                <a:gd name="connsiteY13-6592" fmla="*/ 0 h 3588041"/>
                <a:gd name="connsiteX14-6593" fmla="*/ 857885 w 1432560"/>
                <a:gd name="connsiteY14-6594" fmla="*/ 679450 h 3588041"/>
                <a:gd name="connsiteX15-6595" fmla="*/ 921385 w 1432560"/>
                <a:gd name="connsiteY15-6596" fmla="*/ 1047750 h 3588041"/>
                <a:gd name="connsiteX16-6597" fmla="*/ 930910 w 1432560"/>
                <a:gd name="connsiteY16-6598" fmla="*/ 1295400 h 3588041"/>
                <a:gd name="connsiteX17-6599" fmla="*/ 1102360 w 1432560"/>
                <a:gd name="connsiteY17-6600" fmla="*/ 1187450 h 3588041"/>
                <a:gd name="connsiteX18-6601" fmla="*/ 1375410 w 1432560"/>
                <a:gd name="connsiteY18-6602" fmla="*/ 1171575 h 3588041"/>
                <a:gd name="connsiteX19-6603" fmla="*/ 1108710 w 1432560"/>
                <a:gd name="connsiteY19-6604" fmla="*/ 1254125 h 3588041"/>
                <a:gd name="connsiteX20-6605" fmla="*/ 889635 w 1432560"/>
                <a:gd name="connsiteY20-6606" fmla="*/ 1527175 h 3588041"/>
                <a:gd name="connsiteX21-6607" fmla="*/ 835660 w 1432560"/>
                <a:gd name="connsiteY21-6608" fmla="*/ 1895475 h 3588041"/>
                <a:gd name="connsiteX22-6609" fmla="*/ 1003935 w 1432560"/>
                <a:gd name="connsiteY22-6610" fmla="*/ 2308225 h 3588041"/>
                <a:gd name="connsiteX23-6611" fmla="*/ 895985 w 1432560"/>
                <a:gd name="connsiteY23-6612" fmla="*/ 2578100 h 3588041"/>
                <a:gd name="connsiteX24-6613" fmla="*/ 1165860 w 1432560"/>
                <a:gd name="connsiteY24-6614" fmla="*/ 2524125 h 3588041"/>
                <a:gd name="connsiteX25-6615" fmla="*/ 1432560 w 1432560"/>
                <a:gd name="connsiteY25-6616" fmla="*/ 2626519 h 3588041"/>
                <a:gd name="connsiteX26-6617" fmla="*/ 1188085 w 1432560"/>
                <a:gd name="connsiteY26-6618" fmla="*/ 2590800 h 3588041"/>
                <a:gd name="connsiteX27-6619" fmla="*/ 832485 w 1432560"/>
                <a:gd name="connsiteY27-6620" fmla="*/ 2733675 h 3588041"/>
                <a:gd name="connsiteX28-6621" fmla="*/ 689610 w 1432560"/>
                <a:gd name="connsiteY28-6622" fmla="*/ 3086100 h 3588041"/>
                <a:gd name="connsiteX29-6623" fmla="*/ 918210 w 1432560"/>
                <a:gd name="connsiteY29-6624" fmla="*/ 3419475 h 3588041"/>
                <a:gd name="connsiteX30-6625" fmla="*/ 1016635 w 1432560"/>
                <a:gd name="connsiteY30-6626" fmla="*/ 3581400 h 3588041"/>
                <a:gd name="connsiteX0-6627" fmla="*/ 1016635 w 1432560"/>
                <a:gd name="connsiteY0-6628" fmla="*/ 3581400 h 3588041"/>
                <a:gd name="connsiteX1-6629" fmla="*/ 591185 w 1432560"/>
                <a:gd name="connsiteY1-6630" fmla="*/ 3587750 h 3588041"/>
                <a:gd name="connsiteX2-6631" fmla="*/ 394335 w 1432560"/>
                <a:gd name="connsiteY2-6632" fmla="*/ 3076575 h 3588041"/>
                <a:gd name="connsiteX3-6633" fmla="*/ 746760 w 1432560"/>
                <a:gd name="connsiteY3-6634" fmla="*/ 2381250 h 3588041"/>
                <a:gd name="connsiteX4-6635" fmla="*/ 582295 w 1432560"/>
                <a:gd name="connsiteY4-6636" fmla="*/ 1953895 h 3588041"/>
                <a:gd name="connsiteX5-6637" fmla="*/ 0 w 1432560"/>
                <a:gd name="connsiteY5-6638" fmla="*/ 1870710 h 3588041"/>
                <a:gd name="connsiteX6-6639" fmla="*/ 422910 w 1432560"/>
                <a:gd name="connsiteY6-6640" fmla="*/ 1787525 h 3588041"/>
                <a:gd name="connsiteX7-6641" fmla="*/ 641985 w 1432560"/>
                <a:gd name="connsiteY7-6642" fmla="*/ 1876425 h 3588041"/>
                <a:gd name="connsiteX8-6643" fmla="*/ 822960 w 1432560"/>
                <a:gd name="connsiteY8-6644" fmla="*/ 1333500 h 3588041"/>
                <a:gd name="connsiteX9-6645" fmla="*/ 763429 w 1432560"/>
                <a:gd name="connsiteY9-6646" fmla="*/ 823913 h 3588041"/>
                <a:gd name="connsiteX10-6647" fmla="*/ 387985 w 1432560"/>
                <a:gd name="connsiteY10-6648" fmla="*/ 695325 h 3588041"/>
                <a:gd name="connsiteX11-6649" fmla="*/ 781686 w 1432560"/>
                <a:gd name="connsiteY11-6650" fmla="*/ 724693 h 3588041"/>
                <a:gd name="connsiteX12-6651" fmla="*/ 799148 w 1432560"/>
                <a:gd name="connsiteY12-6652" fmla="*/ 441325 h 3588041"/>
                <a:gd name="connsiteX13-6653" fmla="*/ 886460 w 1432560"/>
                <a:gd name="connsiteY13-6654" fmla="*/ 0 h 3588041"/>
                <a:gd name="connsiteX14-6655" fmla="*/ 857885 w 1432560"/>
                <a:gd name="connsiteY14-6656" fmla="*/ 679450 h 3588041"/>
                <a:gd name="connsiteX15-6657" fmla="*/ 921385 w 1432560"/>
                <a:gd name="connsiteY15-6658" fmla="*/ 1047750 h 3588041"/>
                <a:gd name="connsiteX16-6659" fmla="*/ 930910 w 1432560"/>
                <a:gd name="connsiteY16-6660" fmla="*/ 1295400 h 3588041"/>
                <a:gd name="connsiteX17-6661" fmla="*/ 1102360 w 1432560"/>
                <a:gd name="connsiteY17-6662" fmla="*/ 1187450 h 3588041"/>
                <a:gd name="connsiteX18-6663" fmla="*/ 1375410 w 1432560"/>
                <a:gd name="connsiteY18-6664" fmla="*/ 1171575 h 3588041"/>
                <a:gd name="connsiteX19-6665" fmla="*/ 1108710 w 1432560"/>
                <a:gd name="connsiteY19-6666" fmla="*/ 1254125 h 3588041"/>
                <a:gd name="connsiteX20-6667" fmla="*/ 889635 w 1432560"/>
                <a:gd name="connsiteY20-6668" fmla="*/ 1527175 h 3588041"/>
                <a:gd name="connsiteX21-6669" fmla="*/ 835660 w 1432560"/>
                <a:gd name="connsiteY21-6670" fmla="*/ 1895475 h 3588041"/>
                <a:gd name="connsiteX22-6671" fmla="*/ 1003935 w 1432560"/>
                <a:gd name="connsiteY22-6672" fmla="*/ 2308225 h 3588041"/>
                <a:gd name="connsiteX23-6673" fmla="*/ 895985 w 1432560"/>
                <a:gd name="connsiteY23-6674" fmla="*/ 2578100 h 3588041"/>
                <a:gd name="connsiteX24-6675" fmla="*/ 1165860 w 1432560"/>
                <a:gd name="connsiteY24-6676" fmla="*/ 2524125 h 3588041"/>
                <a:gd name="connsiteX25-6677" fmla="*/ 1432560 w 1432560"/>
                <a:gd name="connsiteY25-6678" fmla="*/ 2626519 h 3588041"/>
                <a:gd name="connsiteX26-6679" fmla="*/ 1188085 w 1432560"/>
                <a:gd name="connsiteY26-6680" fmla="*/ 2590800 h 3588041"/>
                <a:gd name="connsiteX27-6681" fmla="*/ 832485 w 1432560"/>
                <a:gd name="connsiteY27-6682" fmla="*/ 2733675 h 3588041"/>
                <a:gd name="connsiteX28-6683" fmla="*/ 689610 w 1432560"/>
                <a:gd name="connsiteY28-6684" fmla="*/ 3086100 h 3588041"/>
                <a:gd name="connsiteX29-6685" fmla="*/ 918210 w 1432560"/>
                <a:gd name="connsiteY29-6686" fmla="*/ 3419475 h 3588041"/>
                <a:gd name="connsiteX30-6687" fmla="*/ 1016635 w 1432560"/>
                <a:gd name="connsiteY30-6688" fmla="*/ 3581400 h 3588041"/>
                <a:gd name="connsiteX0-6689" fmla="*/ 1016635 w 1432560"/>
                <a:gd name="connsiteY0-6690" fmla="*/ 3581400 h 3588041"/>
                <a:gd name="connsiteX1-6691" fmla="*/ 591185 w 1432560"/>
                <a:gd name="connsiteY1-6692" fmla="*/ 3587750 h 3588041"/>
                <a:gd name="connsiteX2-6693" fmla="*/ 394335 w 1432560"/>
                <a:gd name="connsiteY2-6694" fmla="*/ 3076575 h 3588041"/>
                <a:gd name="connsiteX3-6695" fmla="*/ 746760 w 1432560"/>
                <a:gd name="connsiteY3-6696" fmla="*/ 2381250 h 3588041"/>
                <a:gd name="connsiteX4-6697" fmla="*/ 582295 w 1432560"/>
                <a:gd name="connsiteY4-6698" fmla="*/ 1953895 h 3588041"/>
                <a:gd name="connsiteX5-6699" fmla="*/ 0 w 1432560"/>
                <a:gd name="connsiteY5-6700" fmla="*/ 1870710 h 3588041"/>
                <a:gd name="connsiteX6-6701" fmla="*/ 422910 w 1432560"/>
                <a:gd name="connsiteY6-6702" fmla="*/ 1787525 h 3588041"/>
                <a:gd name="connsiteX7-6703" fmla="*/ 641985 w 1432560"/>
                <a:gd name="connsiteY7-6704" fmla="*/ 1876425 h 3588041"/>
                <a:gd name="connsiteX8-6705" fmla="*/ 822960 w 1432560"/>
                <a:gd name="connsiteY8-6706" fmla="*/ 1333500 h 3588041"/>
                <a:gd name="connsiteX9-6707" fmla="*/ 763429 w 1432560"/>
                <a:gd name="connsiteY9-6708" fmla="*/ 823913 h 3588041"/>
                <a:gd name="connsiteX10-6709" fmla="*/ 387985 w 1432560"/>
                <a:gd name="connsiteY10-6710" fmla="*/ 695325 h 3588041"/>
                <a:gd name="connsiteX11-6711" fmla="*/ 781686 w 1432560"/>
                <a:gd name="connsiteY11-6712" fmla="*/ 724693 h 3588041"/>
                <a:gd name="connsiteX12-6713" fmla="*/ 799148 w 1432560"/>
                <a:gd name="connsiteY12-6714" fmla="*/ 441325 h 3588041"/>
                <a:gd name="connsiteX13-6715" fmla="*/ 886460 w 1432560"/>
                <a:gd name="connsiteY13-6716" fmla="*/ 0 h 3588041"/>
                <a:gd name="connsiteX14-6717" fmla="*/ 857885 w 1432560"/>
                <a:gd name="connsiteY14-6718" fmla="*/ 679450 h 3588041"/>
                <a:gd name="connsiteX15-6719" fmla="*/ 921385 w 1432560"/>
                <a:gd name="connsiteY15-6720" fmla="*/ 1047750 h 3588041"/>
                <a:gd name="connsiteX16-6721" fmla="*/ 930910 w 1432560"/>
                <a:gd name="connsiteY16-6722" fmla="*/ 1295400 h 3588041"/>
                <a:gd name="connsiteX17-6723" fmla="*/ 1102360 w 1432560"/>
                <a:gd name="connsiteY17-6724" fmla="*/ 1187450 h 3588041"/>
                <a:gd name="connsiteX18-6725" fmla="*/ 1375410 w 1432560"/>
                <a:gd name="connsiteY18-6726" fmla="*/ 1171575 h 3588041"/>
                <a:gd name="connsiteX19-6727" fmla="*/ 1108710 w 1432560"/>
                <a:gd name="connsiteY19-6728" fmla="*/ 1254125 h 3588041"/>
                <a:gd name="connsiteX20-6729" fmla="*/ 889635 w 1432560"/>
                <a:gd name="connsiteY20-6730" fmla="*/ 1527175 h 3588041"/>
                <a:gd name="connsiteX21-6731" fmla="*/ 835660 w 1432560"/>
                <a:gd name="connsiteY21-6732" fmla="*/ 1895475 h 3588041"/>
                <a:gd name="connsiteX22-6733" fmla="*/ 1003935 w 1432560"/>
                <a:gd name="connsiteY22-6734" fmla="*/ 2308225 h 3588041"/>
                <a:gd name="connsiteX23-6735" fmla="*/ 895985 w 1432560"/>
                <a:gd name="connsiteY23-6736" fmla="*/ 2578100 h 3588041"/>
                <a:gd name="connsiteX24-6737" fmla="*/ 1165860 w 1432560"/>
                <a:gd name="connsiteY24-6738" fmla="*/ 2524125 h 3588041"/>
                <a:gd name="connsiteX25-6739" fmla="*/ 1432560 w 1432560"/>
                <a:gd name="connsiteY25-6740" fmla="*/ 2626519 h 3588041"/>
                <a:gd name="connsiteX26-6741" fmla="*/ 1188085 w 1432560"/>
                <a:gd name="connsiteY26-6742" fmla="*/ 2590800 h 3588041"/>
                <a:gd name="connsiteX27-6743" fmla="*/ 832485 w 1432560"/>
                <a:gd name="connsiteY27-6744" fmla="*/ 2733675 h 3588041"/>
                <a:gd name="connsiteX28-6745" fmla="*/ 689610 w 1432560"/>
                <a:gd name="connsiteY28-6746" fmla="*/ 3086100 h 3588041"/>
                <a:gd name="connsiteX29-6747" fmla="*/ 918210 w 1432560"/>
                <a:gd name="connsiteY29-6748" fmla="*/ 3419475 h 3588041"/>
                <a:gd name="connsiteX30-6749" fmla="*/ 1016635 w 1432560"/>
                <a:gd name="connsiteY30-6750" fmla="*/ 3581400 h 3588041"/>
                <a:gd name="connsiteX0-6751" fmla="*/ 1016635 w 1432560"/>
                <a:gd name="connsiteY0-6752" fmla="*/ 3581400 h 3588041"/>
                <a:gd name="connsiteX1-6753" fmla="*/ 591185 w 1432560"/>
                <a:gd name="connsiteY1-6754" fmla="*/ 3587750 h 3588041"/>
                <a:gd name="connsiteX2-6755" fmla="*/ 394335 w 1432560"/>
                <a:gd name="connsiteY2-6756" fmla="*/ 3076575 h 3588041"/>
                <a:gd name="connsiteX3-6757" fmla="*/ 746760 w 1432560"/>
                <a:gd name="connsiteY3-6758" fmla="*/ 2381250 h 3588041"/>
                <a:gd name="connsiteX4-6759" fmla="*/ 582295 w 1432560"/>
                <a:gd name="connsiteY4-6760" fmla="*/ 1953895 h 3588041"/>
                <a:gd name="connsiteX5-6761" fmla="*/ 0 w 1432560"/>
                <a:gd name="connsiteY5-6762" fmla="*/ 1870710 h 3588041"/>
                <a:gd name="connsiteX6-6763" fmla="*/ 422910 w 1432560"/>
                <a:gd name="connsiteY6-6764" fmla="*/ 1787525 h 3588041"/>
                <a:gd name="connsiteX7-6765" fmla="*/ 641985 w 1432560"/>
                <a:gd name="connsiteY7-6766" fmla="*/ 1876425 h 3588041"/>
                <a:gd name="connsiteX8-6767" fmla="*/ 822960 w 1432560"/>
                <a:gd name="connsiteY8-6768" fmla="*/ 1333500 h 3588041"/>
                <a:gd name="connsiteX9-6769" fmla="*/ 763429 w 1432560"/>
                <a:gd name="connsiteY9-6770" fmla="*/ 823913 h 3588041"/>
                <a:gd name="connsiteX10-6771" fmla="*/ 387985 w 1432560"/>
                <a:gd name="connsiteY10-6772" fmla="*/ 695325 h 3588041"/>
                <a:gd name="connsiteX11-6773" fmla="*/ 781686 w 1432560"/>
                <a:gd name="connsiteY11-6774" fmla="*/ 724693 h 3588041"/>
                <a:gd name="connsiteX12-6775" fmla="*/ 799148 w 1432560"/>
                <a:gd name="connsiteY12-6776" fmla="*/ 441325 h 3588041"/>
                <a:gd name="connsiteX13-6777" fmla="*/ 886460 w 1432560"/>
                <a:gd name="connsiteY13-6778" fmla="*/ 0 h 3588041"/>
                <a:gd name="connsiteX14-6779" fmla="*/ 857885 w 1432560"/>
                <a:gd name="connsiteY14-6780" fmla="*/ 679450 h 3588041"/>
                <a:gd name="connsiteX15-6781" fmla="*/ 921385 w 1432560"/>
                <a:gd name="connsiteY15-6782" fmla="*/ 1047750 h 3588041"/>
                <a:gd name="connsiteX16-6783" fmla="*/ 930910 w 1432560"/>
                <a:gd name="connsiteY16-6784" fmla="*/ 1295400 h 3588041"/>
                <a:gd name="connsiteX17-6785" fmla="*/ 1102360 w 1432560"/>
                <a:gd name="connsiteY17-6786" fmla="*/ 1187450 h 3588041"/>
                <a:gd name="connsiteX18-6787" fmla="*/ 1375410 w 1432560"/>
                <a:gd name="connsiteY18-6788" fmla="*/ 1171575 h 3588041"/>
                <a:gd name="connsiteX19-6789" fmla="*/ 1108710 w 1432560"/>
                <a:gd name="connsiteY19-6790" fmla="*/ 1254125 h 3588041"/>
                <a:gd name="connsiteX20-6791" fmla="*/ 889635 w 1432560"/>
                <a:gd name="connsiteY20-6792" fmla="*/ 1527175 h 3588041"/>
                <a:gd name="connsiteX21-6793" fmla="*/ 835660 w 1432560"/>
                <a:gd name="connsiteY21-6794" fmla="*/ 1895475 h 3588041"/>
                <a:gd name="connsiteX22-6795" fmla="*/ 1003935 w 1432560"/>
                <a:gd name="connsiteY22-6796" fmla="*/ 2308225 h 3588041"/>
                <a:gd name="connsiteX23-6797" fmla="*/ 895985 w 1432560"/>
                <a:gd name="connsiteY23-6798" fmla="*/ 2578100 h 3588041"/>
                <a:gd name="connsiteX24-6799" fmla="*/ 1165860 w 1432560"/>
                <a:gd name="connsiteY24-6800" fmla="*/ 2524125 h 3588041"/>
                <a:gd name="connsiteX25-6801" fmla="*/ 1432560 w 1432560"/>
                <a:gd name="connsiteY25-6802" fmla="*/ 2626519 h 3588041"/>
                <a:gd name="connsiteX26-6803" fmla="*/ 1188085 w 1432560"/>
                <a:gd name="connsiteY26-6804" fmla="*/ 2590800 h 3588041"/>
                <a:gd name="connsiteX27-6805" fmla="*/ 832485 w 1432560"/>
                <a:gd name="connsiteY27-6806" fmla="*/ 2733675 h 3588041"/>
                <a:gd name="connsiteX28-6807" fmla="*/ 689610 w 1432560"/>
                <a:gd name="connsiteY28-6808" fmla="*/ 3086100 h 3588041"/>
                <a:gd name="connsiteX29-6809" fmla="*/ 918210 w 1432560"/>
                <a:gd name="connsiteY29-6810" fmla="*/ 3419475 h 3588041"/>
                <a:gd name="connsiteX30-6811" fmla="*/ 1016635 w 1432560"/>
                <a:gd name="connsiteY30-6812" fmla="*/ 3581400 h 3588041"/>
                <a:gd name="connsiteX0-6813" fmla="*/ 1016635 w 1432560"/>
                <a:gd name="connsiteY0-6814" fmla="*/ 3581400 h 3588041"/>
                <a:gd name="connsiteX1-6815" fmla="*/ 591185 w 1432560"/>
                <a:gd name="connsiteY1-6816" fmla="*/ 3587750 h 3588041"/>
                <a:gd name="connsiteX2-6817" fmla="*/ 394335 w 1432560"/>
                <a:gd name="connsiteY2-6818" fmla="*/ 3076575 h 3588041"/>
                <a:gd name="connsiteX3-6819" fmla="*/ 746760 w 1432560"/>
                <a:gd name="connsiteY3-6820" fmla="*/ 2381250 h 3588041"/>
                <a:gd name="connsiteX4-6821" fmla="*/ 582295 w 1432560"/>
                <a:gd name="connsiteY4-6822" fmla="*/ 1953895 h 3588041"/>
                <a:gd name="connsiteX5-6823" fmla="*/ 0 w 1432560"/>
                <a:gd name="connsiteY5-6824" fmla="*/ 1870710 h 3588041"/>
                <a:gd name="connsiteX6-6825" fmla="*/ 422910 w 1432560"/>
                <a:gd name="connsiteY6-6826" fmla="*/ 1787525 h 3588041"/>
                <a:gd name="connsiteX7-6827" fmla="*/ 641985 w 1432560"/>
                <a:gd name="connsiteY7-6828" fmla="*/ 1876425 h 3588041"/>
                <a:gd name="connsiteX8-6829" fmla="*/ 822960 w 1432560"/>
                <a:gd name="connsiteY8-6830" fmla="*/ 1333500 h 3588041"/>
                <a:gd name="connsiteX9-6831" fmla="*/ 763429 w 1432560"/>
                <a:gd name="connsiteY9-6832" fmla="*/ 823913 h 3588041"/>
                <a:gd name="connsiteX10-6833" fmla="*/ 387985 w 1432560"/>
                <a:gd name="connsiteY10-6834" fmla="*/ 695325 h 3588041"/>
                <a:gd name="connsiteX11-6835" fmla="*/ 781686 w 1432560"/>
                <a:gd name="connsiteY11-6836" fmla="*/ 724693 h 3588041"/>
                <a:gd name="connsiteX12-6837" fmla="*/ 799148 w 1432560"/>
                <a:gd name="connsiteY12-6838" fmla="*/ 441325 h 3588041"/>
                <a:gd name="connsiteX13-6839" fmla="*/ 886460 w 1432560"/>
                <a:gd name="connsiteY13-6840" fmla="*/ 0 h 3588041"/>
                <a:gd name="connsiteX14-6841" fmla="*/ 857885 w 1432560"/>
                <a:gd name="connsiteY14-6842" fmla="*/ 679450 h 3588041"/>
                <a:gd name="connsiteX15-6843" fmla="*/ 921385 w 1432560"/>
                <a:gd name="connsiteY15-6844" fmla="*/ 1047750 h 3588041"/>
                <a:gd name="connsiteX16-6845" fmla="*/ 930910 w 1432560"/>
                <a:gd name="connsiteY16-6846" fmla="*/ 1295400 h 3588041"/>
                <a:gd name="connsiteX17-6847" fmla="*/ 1102360 w 1432560"/>
                <a:gd name="connsiteY17-6848" fmla="*/ 1187450 h 3588041"/>
                <a:gd name="connsiteX18-6849" fmla="*/ 1375410 w 1432560"/>
                <a:gd name="connsiteY18-6850" fmla="*/ 1171575 h 3588041"/>
                <a:gd name="connsiteX19-6851" fmla="*/ 1108710 w 1432560"/>
                <a:gd name="connsiteY19-6852" fmla="*/ 1254125 h 3588041"/>
                <a:gd name="connsiteX20-6853" fmla="*/ 889635 w 1432560"/>
                <a:gd name="connsiteY20-6854" fmla="*/ 1527175 h 3588041"/>
                <a:gd name="connsiteX21-6855" fmla="*/ 835660 w 1432560"/>
                <a:gd name="connsiteY21-6856" fmla="*/ 1895475 h 3588041"/>
                <a:gd name="connsiteX22-6857" fmla="*/ 1003935 w 1432560"/>
                <a:gd name="connsiteY22-6858" fmla="*/ 2308225 h 3588041"/>
                <a:gd name="connsiteX23-6859" fmla="*/ 895985 w 1432560"/>
                <a:gd name="connsiteY23-6860" fmla="*/ 2578100 h 3588041"/>
                <a:gd name="connsiteX24-6861" fmla="*/ 1165860 w 1432560"/>
                <a:gd name="connsiteY24-6862" fmla="*/ 2524125 h 3588041"/>
                <a:gd name="connsiteX25-6863" fmla="*/ 1432560 w 1432560"/>
                <a:gd name="connsiteY25-6864" fmla="*/ 2626519 h 3588041"/>
                <a:gd name="connsiteX26-6865" fmla="*/ 1188085 w 1432560"/>
                <a:gd name="connsiteY26-6866" fmla="*/ 2590800 h 3588041"/>
                <a:gd name="connsiteX27-6867" fmla="*/ 832485 w 1432560"/>
                <a:gd name="connsiteY27-6868" fmla="*/ 2733675 h 3588041"/>
                <a:gd name="connsiteX28-6869" fmla="*/ 689610 w 1432560"/>
                <a:gd name="connsiteY28-6870" fmla="*/ 3086100 h 3588041"/>
                <a:gd name="connsiteX29-6871" fmla="*/ 918210 w 1432560"/>
                <a:gd name="connsiteY29-6872" fmla="*/ 3419475 h 3588041"/>
                <a:gd name="connsiteX30-6873" fmla="*/ 1016635 w 1432560"/>
                <a:gd name="connsiteY30-6874" fmla="*/ 3581400 h 3588041"/>
                <a:gd name="connsiteX0-6875" fmla="*/ 1016635 w 1432560"/>
                <a:gd name="connsiteY0-6876" fmla="*/ 3581400 h 3588041"/>
                <a:gd name="connsiteX1-6877" fmla="*/ 591185 w 1432560"/>
                <a:gd name="connsiteY1-6878" fmla="*/ 3587750 h 3588041"/>
                <a:gd name="connsiteX2-6879" fmla="*/ 394335 w 1432560"/>
                <a:gd name="connsiteY2-6880" fmla="*/ 3076575 h 3588041"/>
                <a:gd name="connsiteX3-6881" fmla="*/ 746760 w 1432560"/>
                <a:gd name="connsiteY3-6882" fmla="*/ 2381250 h 3588041"/>
                <a:gd name="connsiteX4-6883" fmla="*/ 582295 w 1432560"/>
                <a:gd name="connsiteY4-6884" fmla="*/ 1953895 h 3588041"/>
                <a:gd name="connsiteX5-6885" fmla="*/ 0 w 1432560"/>
                <a:gd name="connsiteY5-6886" fmla="*/ 1870710 h 3588041"/>
                <a:gd name="connsiteX6-6887" fmla="*/ 422910 w 1432560"/>
                <a:gd name="connsiteY6-6888" fmla="*/ 1787525 h 3588041"/>
                <a:gd name="connsiteX7-6889" fmla="*/ 641985 w 1432560"/>
                <a:gd name="connsiteY7-6890" fmla="*/ 1876425 h 3588041"/>
                <a:gd name="connsiteX8-6891" fmla="*/ 822960 w 1432560"/>
                <a:gd name="connsiteY8-6892" fmla="*/ 1333500 h 3588041"/>
                <a:gd name="connsiteX9-6893" fmla="*/ 763429 w 1432560"/>
                <a:gd name="connsiteY9-6894" fmla="*/ 823913 h 3588041"/>
                <a:gd name="connsiteX10-6895" fmla="*/ 387985 w 1432560"/>
                <a:gd name="connsiteY10-6896" fmla="*/ 695325 h 3588041"/>
                <a:gd name="connsiteX11-6897" fmla="*/ 781686 w 1432560"/>
                <a:gd name="connsiteY11-6898" fmla="*/ 724693 h 3588041"/>
                <a:gd name="connsiteX12-6899" fmla="*/ 799148 w 1432560"/>
                <a:gd name="connsiteY12-6900" fmla="*/ 441325 h 3588041"/>
                <a:gd name="connsiteX13-6901" fmla="*/ 886460 w 1432560"/>
                <a:gd name="connsiteY13-6902" fmla="*/ 0 h 3588041"/>
                <a:gd name="connsiteX14-6903" fmla="*/ 857885 w 1432560"/>
                <a:gd name="connsiteY14-6904" fmla="*/ 679450 h 3588041"/>
                <a:gd name="connsiteX15-6905" fmla="*/ 921385 w 1432560"/>
                <a:gd name="connsiteY15-6906" fmla="*/ 1047750 h 3588041"/>
                <a:gd name="connsiteX16-6907" fmla="*/ 930910 w 1432560"/>
                <a:gd name="connsiteY16-6908" fmla="*/ 1295400 h 3588041"/>
                <a:gd name="connsiteX17-6909" fmla="*/ 1102360 w 1432560"/>
                <a:gd name="connsiteY17-6910" fmla="*/ 1187450 h 3588041"/>
                <a:gd name="connsiteX18-6911" fmla="*/ 1375410 w 1432560"/>
                <a:gd name="connsiteY18-6912" fmla="*/ 1171575 h 3588041"/>
                <a:gd name="connsiteX19-6913" fmla="*/ 1108710 w 1432560"/>
                <a:gd name="connsiteY19-6914" fmla="*/ 1254125 h 3588041"/>
                <a:gd name="connsiteX20-6915" fmla="*/ 889635 w 1432560"/>
                <a:gd name="connsiteY20-6916" fmla="*/ 1527175 h 3588041"/>
                <a:gd name="connsiteX21-6917" fmla="*/ 835660 w 1432560"/>
                <a:gd name="connsiteY21-6918" fmla="*/ 1895475 h 3588041"/>
                <a:gd name="connsiteX22-6919" fmla="*/ 1003935 w 1432560"/>
                <a:gd name="connsiteY22-6920" fmla="*/ 2308225 h 3588041"/>
                <a:gd name="connsiteX23-6921" fmla="*/ 895985 w 1432560"/>
                <a:gd name="connsiteY23-6922" fmla="*/ 2578100 h 3588041"/>
                <a:gd name="connsiteX24-6923" fmla="*/ 1165860 w 1432560"/>
                <a:gd name="connsiteY24-6924" fmla="*/ 2524125 h 3588041"/>
                <a:gd name="connsiteX25-6925" fmla="*/ 1432560 w 1432560"/>
                <a:gd name="connsiteY25-6926" fmla="*/ 2626519 h 3588041"/>
                <a:gd name="connsiteX26-6927" fmla="*/ 1188085 w 1432560"/>
                <a:gd name="connsiteY26-6928" fmla="*/ 2590800 h 3588041"/>
                <a:gd name="connsiteX27-6929" fmla="*/ 832485 w 1432560"/>
                <a:gd name="connsiteY27-6930" fmla="*/ 2733675 h 3588041"/>
                <a:gd name="connsiteX28-6931" fmla="*/ 689610 w 1432560"/>
                <a:gd name="connsiteY28-6932" fmla="*/ 3086100 h 3588041"/>
                <a:gd name="connsiteX29-6933" fmla="*/ 918210 w 1432560"/>
                <a:gd name="connsiteY29-6934" fmla="*/ 3419475 h 3588041"/>
                <a:gd name="connsiteX30-6935" fmla="*/ 1016635 w 1432560"/>
                <a:gd name="connsiteY30-6936" fmla="*/ 3581400 h 3588041"/>
                <a:gd name="connsiteX0-6937" fmla="*/ 1016635 w 1432560"/>
                <a:gd name="connsiteY0-6938" fmla="*/ 3581400 h 3588041"/>
                <a:gd name="connsiteX1-6939" fmla="*/ 591185 w 1432560"/>
                <a:gd name="connsiteY1-6940" fmla="*/ 3587750 h 3588041"/>
                <a:gd name="connsiteX2-6941" fmla="*/ 394335 w 1432560"/>
                <a:gd name="connsiteY2-6942" fmla="*/ 3076575 h 3588041"/>
                <a:gd name="connsiteX3-6943" fmla="*/ 746760 w 1432560"/>
                <a:gd name="connsiteY3-6944" fmla="*/ 2381250 h 3588041"/>
                <a:gd name="connsiteX4-6945" fmla="*/ 582295 w 1432560"/>
                <a:gd name="connsiteY4-6946" fmla="*/ 1953895 h 3588041"/>
                <a:gd name="connsiteX5-6947" fmla="*/ 0 w 1432560"/>
                <a:gd name="connsiteY5-6948" fmla="*/ 1870710 h 3588041"/>
                <a:gd name="connsiteX6-6949" fmla="*/ 422910 w 1432560"/>
                <a:gd name="connsiteY6-6950" fmla="*/ 1787525 h 3588041"/>
                <a:gd name="connsiteX7-6951" fmla="*/ 641985 w 1432560"/>
                <a:gd name="connsiteY7-6952" fmla="*/ 1876425 h 3588041"/>
                <a:gd name="connsiteX8-6953" fmla="*/ 822960 w 1432560"/>
                <a:gd name="connsiteY8-6954" fmla="*/ 1333500 h 3588041"/>
                <a:gd name="connsiteX9-6955" fmla="*/ 763429 w 1432560"/>
                <a:gd name="connsiteY9-6956" fmla="*/ 823913 h 3588041"/>
                <a:gd name="connsiteX10-6957" fmla="*/ 387985 w 1432560"/>
                <a:gd name="connsiteY10-6958" fmla="*/ 695325 h 3588041"/>
                <a:gd name="connsiteX11-6959" fmla="*/ 784067 w 1432560"/>
                <a:gd name="connsiteY11-6960" fmla="*/ 734218 h 3588041"/>
                <a:gd name="connsiteX12-6961" fmla="*/ 799148 w 1432560"/>
                <a:gd name="connsiteY12-6962" fmla="*/ 441325 h 3588041"/>
                <a:gd name="connsiteX13-6963" fmla="*/ 886460 w 1432560"/>
                <a:gd name="connsiteY13-6964" fmla="*/ 0 h 3588041"/>
                <a:gd name="connsiteX14-6965" fmla="*/ 857885 w 1432560"/>
                <a:gd name="connsiteY14-6966" fmla="*/ 679450 h 3588041"/>
                <a:gd name="connsiteX15-6967" fmla="*/ 921385 w 1432560"/>
                <a:gd name="connsiteY15-6968" fmla="*/ 1047750 h 3588041"/>
                <a:gd name="connsiteX16-6969" fmla="*/ 930910 w 1432560"/>
                <a:gd name="connsiteY16-6970" fmla="*/ 1295400 h 3588041"/>
                <a:gd name="connsiteX17-6971" fmla="*/ 1102360 w 1432560"/>
                <a:gd name="connsiteY17-6972" fmla="*/ 1187450 h 3588041"/>
                <a:gd name="connsiteX18-6973" fmla="*/ 1375410 w 1432560"/>
                <a:gd name="connsiteY18-6974" fmla="*/ 1171575 h 3588041"/>
                <a:gd name="connsiteX19-6975" fmla="*/ 1108710 w 1432560"/>
                <a:gd name="connsiteY19-6976" fmla="*/ 1254125 h 3588041"/>
                <a:gd name="connsiteX20-6977" fmla="*/ 889635 w 1432560"/>
                <a:gd name="connsiteY20-6978" fmla="*/ 1527175 h 3588041"/>
                <a:gd name="connsiteX21-6979" fmla="*/ 835660 w 1432560"/>
                <a:gd name="connsiteY21-6980" fmla="*/ 1895475 h 3588041"/>
                <a:gd name="connsiteX22-6981" fmla="*/ 1003935 w 1432560"/>
                <a:gd name="connsiteY22-6982" fmla="*/ 2308225 h 3588041"/>
                <a:gd name="connsiteX23-6983" fmla="*/ 895985 w 1432560"/>
                <a:gd name="connsiteY23-6984" fmla="*/ 2578100 h 3588041"/>
                <a:gd name="connsiteX24-6985" fmla="*/ 1165860 w 1432560"/>
                <a:gd name="connsiteY24-6986" fmla="*/ 2524125 h 3588041"/>
                <a:gd name="connsiteX25-6987" fmla="*/ 1432560 w 1432560"/>
                <a:gd name="connsiteY25-6988" fmla="*/ 2626519 h 3588041"/>
                <a:gd name="connsiteX26-6989" fmla="*/ 1188085 w 1432560"/>
                <a:gd name="connsiteY26-6990" fmla="*/ 2590800 h 3588041"/>
                <a:gd name="connsiteX27-6991" fmla="*/ 832485 w 1432560"/>
                <a:gd name="connsiteY27-6992" fmla="*/ 2733675 h 3588041"/>
                <a:gd name="connsiteX28-6993" fmla="*/ 689610 w 1432560"/>
                <a:gd name="connsiteY28-6994" fmla="*/ 3086100 h 3588041"/>
                <a:gd name="connsiteX29-6995" fmla="*/ 918210 w 1432560"/>
                <a:gd name="connsiteY29-6996" fmla="*/ 3419475 h 3588041"/>
                <a:gd name="connsiteX30-6997" fmla="*/ 1016635 w 1432560"/>
                <a:gd name="connsiteY30-6998" fmla="*/ 3581400 h 3588041"/>
                <a:gd name="connsiteX0-6999" fmla="*/ 1016635 w 1432560"/>
                <a:gd name="connsiteY0-7000" fmla="*/ 3581400 h 3588041"/>
                <a:gd name="connsiteX1-7001" fmla="*/ 591185 w 1432560"/>
                <a:gd name="connsiteY1-7002" fmla="*/ 3587750 h 3588041"/>
                <a:gd name="connsiteX2-7003" fmla="*/ 394335 w 1432560"/>
                <a:gd name="connsiteY2-7004" fmla="*/ 3076575 h 3588041"/>
                <a:gd name="connsiteX3-7005" fmla="*/ 746760 w 1432560"/>
                <a:gd name="connsiteY3-7006" fmla="*/ 2381250 h 3588041"/>
                <a:gd name="connsiteX4-7007" fmla="*/ 582295 w 1432560"/>
                <a:gd name="connsiteY4-7008" fmla="*/ 1953895 h 3588041"/>
                <a:gd name="connsiteX5-7009" fmla="*/ 0 w 1432560"/>
                <a:gd name="connsiteY5-7010" fmla="*/ 1870710 h 3588041"/>
                <a:gd name="connsiteX6-7011" fmla="*/ 422910 w 1432560"/>
                <a:gd name="connsiteY6-7012" fmla="*/ 1787525 h 3588041"/>
                <a:gd name="connsiteX7-7013" fmla="*/ 641985 w 1432560"/>
                <a:gd name="connsiteY7-7014" fmla="*/ 1876425 h 3588041"/>
                <a:gd name="connsiteX8-7015" fmla="*/ 822960 w 1432560"/>
                <a:gd name="connsiteY8-7016" fmla="*/ 1333500 h 3588041"/>
                <a:gd name="connsiteX9-7017" fmla="*/ 763429 w 1432560"/>
                <a:gd name="connsiteY9-7018" fmla="*/ 823913 h 3588041"/>
                <a:gd name="connsiteX10-7019" fmla="*/ 387985 w 1432560"/>
                <a:gd name="connsiteY10-7020" fmla="*/ 695325 h 3588041"/>
                <a:gd name="connsiteX11-7021" fmla="*/ 784067 w 1432560"/>
                <a:gd name="connsiteY11-7022" fmla="*/ 734218 h 3588041"/>
                <a:gd name="connsiteX12-7023" fmla="*/ 799148 w 1432560"/>
                <a:gd name="connsiteY12-7024" fmla="*/ 441325 h 3588041"/>
                <a:gd name="connsiteX13-7025" fmla="*/ 886460 w 1432560"/>
                <a:gd name="connsiteY13-7026" fmla="*/ 0 h 3588041"/>
                <a:gd name="connsiteX14-7027" fmla="*/ 857885 w 1432560"/>
                <a:gd name="connsiteY14-7028" fmla="*/ 679450 h 3588041"/>
                <a:gd name="connsiteX15-7029" fmla="*/ 921385 w 1432560"/>
                <a:gd name="connsiteY15-7030" fmla="*/ 1047750 h 3588041"/>
                <a:gd name="connsiteX16-7031" fmla="*/ 930910 w 1432560"/>
                <a:gd name="connsiteY16-7032" fmla="*/ 1295400 h 3588041"/>
                <a:gd name="connsiteX17-7033" fmla="*/ 1102360 w 1432560"/>
                <a:gd name="connsiteY17-7034" fmla="*/ 1187450 h 3588041"/>
                <a:gd name="connsiteX18-7035" fmla="*/ 1375410 w 1432560"/>
                <a:gd name="connsiteY18-7036" fmla="*/ 1171575 h 3588041"/>
                <a:gd name="connsiteX19-7037" fmla="*/ 1108710 w 1432560"/>
                <a:gd name="connsiteY19-7038" fmla="*/ 1254125 h 3588041"/>
                <a:gd name="connsiteX20-7039" fmla="*/ 889635 w 1432560"/>
                <a:gd name="connsiteY20-7040" fmla="*/ 1527175 h 3588041"/>
                <a:gd name="connsiteX21-7041" fmla="*/ 835660 w 1432560"/>
                <a:gd name="connsiteY21-7042" fmla="*/ 1895475 h 3588041"/>
                <a:gd name="connsiteX22-7043" fmla="*/ 1003935 w 1432560"/>
                <a:gd name="connsiteY22-7044" fmla="*/ 2308225 h 3588041"/>
                <a:gd name="connsiteX23-7045" fmla="*/ 895985 w 1432560"/>
                <a:gd name="connsiteY23-7046" fmla="*/ 2578100 h 3588041"/>
                <a:gd name="connsiteX24-7047" fmla="*/ 1165860 w 1432560"/>
                <a:gd name="connsiteY24-7048" fmla="*/ 2524125 h 3588041"/>
                <a:gd name="connsiteX25-7049" fmla="*/ 1432560 w 1432560"/>
                <a:gd name="connsiteY25-7050" fmla="*/ 2626519 h 3588041"/>
                <a:gd name="connsiteX26-7051" fmla="*/ 1188085 w 1432560"/>
                <a:gd name="connsiteY26-7052" fmla="*/ 2590800 h 3588041"/>
                <a:gd name="connsiteX27-7053" fmla="*/ 832485 w 1432560"/>
                <a:gd name="connsiteY27-7054" fmla="*/ 2733675 h 3588041"/>
                <a:gd name="connsiteX28-7055" fmla="*/ 689610 w 1432560"/>
                <a:gd name="connsiteY28-7056" fmla="*/ 3086100 h 3588041"/>
                <a:gd name="connsiteX29-7057" fmla="*/ 918210 w 1432560"/>
                <a:gd name="connsiteY29-7058" fmla="*/ 3419475 h 3588041"/>
                <a:gd name="connsiteX30-7059" fmla="*/ 1016635 w 1432560"/>
                <a:gd name="connsiteY30-7060" fmla="*/ 3581400 h 3588041"/>
                <a:gd name="connsiteX0-7061" fmla="*/ 1016635 w 1432560"/>
                <a:gd name="connsiteY0-7062" fmla="*/ 3581400 h 3588041"/>
                <a:gd name="connsiteX1-7063" fmla="*/ 591185 w 1432560"/>
                <a:gd name="connsiteY1-7064" fmla="*/ 3587750 h 3588041"/>
                <a:gd name="connsiteX2-7065" fmla="*/ 394335 w 1432560"/>
                <a:gd name="connsiteY2-7066" fmla="*/ 3076575 h 3588041"/>
                <a:gd name="connsiteX3-7067" fmla="*/ 746760 w 1432560"/>
                <a:gd name="connsiteY3-7068" fmla="*/ 2381250 h 3588041"/>
                <a:gd name="connsiteX4-7069" fmla="*/ 582295 w 1432560"/>
                <a:gd name="connsiteY4-7070" fmla="*/ 1953895 h 3588041"/>
                <a:gd name="connsiteX5-7071" fmla="*/ 0 w 1432560"/>
                <a:gd name="connsiteY5-7072" fmla="*/ 1870710 h 3588041"/>
                <a:gd name="connsiteX6-7073" fmla="*/ 422910 w 1432560"/>
                <a:gd name="connsiteY6-7074" fmla="*/ 1787525 h 3588041"/>
                <a:gd name="connsiteX7-7075" fmla="*/ 641985 w 1432560"/>
                <a:gd name="connsiteY7-7076" fmla="*/ 1876425 h 3588041"/>
                <a:gd name="connsiteX8-7077" fmla="*/ 822960 w 1432560"/>
                <a:gd name="connsiteY8-7078" fmla="*/ 1333500 h 3588041"/>
                <a:gd name="connsiteX9-7079" fmla="*/ 763429 w 1432560"/>
                <a:gd name="connsiteY9-7080" fmla="*/ 823913 h 3588041"/>
                <a:gd name="connsiteX10-7081" fmla="*/ 387985 w 1432560"/>
                <a:gd name="connsiteY10-7082" fmla="*/ 695325 h 3588041"/>
                <a:gd name="connsiteX11-7083" fmla="*/ 784067 w 1432560"/>
                <a:gd name="connsiteY11-7084" fmla="*/ 734218 h 3588041"/>
                <a:gd name="connsiteX12-7085" fmla="*/ 799148 w 1432560"/>
                <a:gd name="connsiteY12-7086" fmla="*/ 441325 h 3588041"/>
                <a:gd name="connsiteX13-7087" fmla="*/ 886460 w 1432560"/>
                <a:gd name="connsiteY13-7088" fmla="*/ 0 h 3588041"/>
                <a:gd name="connsiteX14-7089" fmla="*/ 857885 w 1432560"/>
                <a:gd name="connsiteY14-7090" fmla="*/ 679450 h 3588041"/>
                <a:gd name="connsiteX15-7091" fmla="*/ 921385 w 1432560"/>
                <a:gd name="connsiteY15-7092" fmla="*/ 1047750 h 3588041"/>
                <a:gd name="connsiteX16-7093" fmla="*/ 930910 w 1432560"/>
                <a:gd name="connsiteY16-7094" fmla="*/ 1295400 h 3588041"/>
                <a:gd name="connsiteX17-7095" fmla="*/ 1102360 w 1432560"/>
                <a:gd name="connsiteY17-7096" fmla="*/ 1187450 h 3588041"/>
                <a:gd name="connsiteX18-7097" fmla="*/ 1375410 w 1432560"/>
                <a:gd name="connsiteY18-7098" fmla="*/ 1171575 h 3588041"/>
                <a:gd name="connsiteX19-7099" fmla="*/ 1108710 w 1432560"/>
                <a:gd name="connsiteY19-7100" fmla="*/ 1254125 h 3588041"/>
                <a:gd name="connsiteX20-7101" fmla="*/ 889635 w 1432560"/>
                <a:gd name="connsiteY20-7102" fmla="*/ 1527175 h 3588041"/>
                <a:gd name="connsiteX21-7103" fmla="*/ 835660 w 1432560"/>
                <a:gd name="connsiteY21-7104" fmla="*/ 1895475 h 3588041"/>
                <a:gd name="connsiteX22-7105" fmla="*/ 1003935 w 1432560"/>
                <a:gd name="connsiteY22-7106" fmla="*/ 2308225 h 3588041"/>
                <a:gd name="connsiteX23-7107" fmla="*/ 895985 w 1432560"/>
                <a:gd name="connsiteY23-7108" fmla="*/ 2578100 h 3588041"/>
                <a:gd name="connsiteX24-7109" fmla="*/ 1165860 w 1432560"/>
                <a:gd name="connsiteY24-7110" fmla="*/ 2524125 h 3588041"/>
                <a:gd name="connsiteX25-7111" fmla="*/ 1432560 w 1432560"/>
                <a:gd name="connsiteY25-7112" fmla="*/ 2626519 h 3588041"/>
                <a:gd name="connsiteX26-7113" fmla="*/ 1188085 w 1432560"/>
                <a:gd name="connsiteY26-7114" fmla="*/ 2590800 h 3588041"/>
                <a:gd name="connsiteX27-7115" fmla="*/ 832485 w 1432560"/>
                <a:gd name="connsiteY27-7116" fmla="*/ 2733675 h 3588041"/>
                <a:gd name="connsiteX28-7117" fmla="*/ 689610 w 1432560"/>
                <a:gd name="connsiteY28-7118" fmla="*/ 3086100 h 3588041"/>
                <a:gd name="connsiteX29-7119" fmla="*/ 918210 w 1432560"/>
                <a:gd name="connsiteY29-7120" fmla="*/ 3419475 h 3588041"/>
                <a:gd name="connsiteX30-7121" fmla="*/ 1016635 w 1432560"/>
                <a:gd name="connsiteY30-7122" fmla="*/ 3581400 h 3588041"/>
                <a:gd name="connsiteX0-7123" fmla="*/ 1003935 w 1419860"/>
                <a:gd name="connsiteY0-7124" fmla="*/ 3581400 h 3588041"/>
                <a:gd name="connsiteX1-7125" fmla="*/ 578485 w 1419860"/>
                <a:gd name="connsiteY1-7126" fmla="*/ 3587750 h 3588041"/>
                <a:gd name="connsiteX2-7127" fmla="*/ 381635 w 1419860"/>
                <a:gd name="connsiteY2-7128" fmla="*/ 3076575 h 3588041"/>
                <a:gd name="connsiteX3-7129" fmla="*/ 734060 w 1419860"/>
                <a:gd name="connsiteY3-7130" fmla="*/ 2381250 h 3588041"/>
                <a:gd name="connsiteX4-7131" fmla="*/ 569595 w 1419860"/>
                <a:gd name="connsiteY4-7132" fmla="*/ 1953895 h 3588041"/>
                <a:gd name="connsiteX5-7133" fmla="*/ 0 w 1419860"/>
                <a:gd name="connsiteY5-7134" fmla="*/ 1902460 h 3588041"/>
                <a:gd name="connsiteX6-7135" fmla="*/ 410210 w 1419860"/>
                <a:gd name="connsiteY6-7136" fmla="*/ 1787525 h 3588041"/>
                <a:gd name="connsiteX7-7137" fmla="*/ 629285 w 1419860"/>
                <a:gd name="connsiteY7-7138" fmla="*/ 1876425 h 3588041"/>
                <a:gd name="connsiteX8-7139" fmla="*/ 810260 w 1419860"/>
                <a:gd name="connsiteY8-7140" fmla="*/ 1333500 h 3588041"/>
                <a:gd name="connsiteX9-7141" fmla="*/ 750729 w 1419860"/>
                <a:gd name="connsiteY9-7142" fmla="*/ 823913 h 3588041"/>
                <a:gd name="connsiteX10-7143" fmla="*/ 375285 w 1419860"/>
                <a:gd name="connsiteY10-7144" fmla="*/ 695325 h 3588041"/>
                <a:gd name="connsiteX11-7145" fmla="*/ 771367 w 1419860"/>
                <a:gd name="connsiteY11-7146" fmla="*/ 734218 h 3588041"/>
                <a:gd name="connsiteX12-7147" fmla="*/ 786448 w 1419860"/>
                <a:gd name="connsiteY12-7148" fmla="*/ 441325 h 3588041"/>
                <a:gd name="connsiteX13-7149" fmla="*/ 873760 w 1419860"/>
                <a:gd name="connsiteY13-7150" fmla="*/ 0 h 3588041"/>
                <a:gd name="connsiteX14-7151" fmla="*/ 845185 w 1419860"/>
                <a:gd name="connsiteY14-7152" fmla="*/ 679450 h 3588041"/>
                <a:gd name="connsiteX15-7153" fmla="*/ 908685 w 1419860"/>
                <a:gd name="connsiteY15-7154" fmla="*/ 1047750 h 3588041"/>
                <a:gd name="connsiteX16-7155" fmla="*/ 918210 w 1419860"/>
                <a:gd name="connsiteY16-7156" fmla="*/ 1295400 h 3588041"/>
                <a:gd name="connsiteX17-7157" fmla="*/ 1089660 w 1419860"/>
                <a:gd name="connsiteY17-7158" fmla="*/ 1187450 h 3588041"/>
                <a:gd name="connsiteX18-7159" fmla="*/ 1362710 w 1419860"/>
                <a:gd name="connsiteY18-7160" fmla="*/ 1171575 h 3588041"/>
                <a:gd name="connsiteX19-7161" fmla="*/ 1096010 w 1419860"/>
                <a:gd name="connsiteY19-7162" fmla="*/ 1254125 h 3588041"/>
                <a:gd name="connsiteX20-7163" fmla="*/ 876935 w 1419860"/>
                <a:gd name="connsiteY20-7164" fmla="*/ 1527175 h 3588041"/>
                <a:gd name="connsiteX21-7165" fmla="*/ 822960 w 1419860"/>
                <a:gd name="connsiteY21-7166" fmla="*/ 1895475 h 3588041"/>
                <a:gd name="connsiteX22-7167" fmla="*/ 991235 w 1419860"/>
                <a:gd name="connsiteY22-7168" fmla="*/ 2308225 h 3588041"/>
                <a:gd name="connsiteX23-7169" fmla="*/ 883285 w 1419860"/>
                <a:gd name="connsiteY23-7170" fmla="*/ 2578100 h 3588041"/>
                <a:gd name="connsiteX24-7171" fmla="*/ 1153160 w 1419860"/>
                <a:gd name="connsiteY24-7172" fmla="*/ 2524125 h 3588041"/>
                <a:gd name="connsiteX25-7173" fmla="*/ 1419860 w 1419860"/>
                <a:gd name="connsiteY25-7174" fmla="*/ 2626519 h 3588041"/>
                <a:gd name="connsiteX26-7175" fmla="*/ 1175385 w 1419860"/>
                <a:gd name="connsiteY26-7176" fmla="*/ 2590800 h 3588041"/>
                <a:gd name="connsiteX27-7177" fmla="*/ 819785 w 1419860"/>
                <a:gd name="connsiteY27-7178" fmla="*/ 2733675 h 3588041"/>
                <a:gd name="connsiteX28-7179" fmla="*/ 676910 w 1419860"/>
                <a:gd name="connsiteY28-7180" fmla="*/ 3086100 h 3588041"/>
                <a:gd name="connsiteX29-7181" fmla="*/ 905510 w 1419860"/>
                <a:gd name="connsiteY29-7182" fmla="*/ 3419475 h 3588041"/>
                <a:gd name="connsiteX30-7183" fmla="*/ 1003935 w 1419860"/>
                <a:gd name="connsiteY30-7184" fmla="*/ 3581400 h 3588041"/>
                <a:gd name="connsiteX0-7185" fmla="*/ 1003935 w 1419860"/>
                <a:gd name="connsiteY0-7186" fmla="*/ 3581400 h 3588041"/>
                <a:gd name="connsiteX1-7187" fmla="*/ 578485 w 1419860"/>
                <a:gd name="connsiteY1-7188" fmla="*/ 3587750 h 3588041"/>
                <a:gd name="connsiteX2-7189" fmla="*/ 381635 w 1419860"/>
                <a:gd name="connsiteY2-7190" fmla="*/ 3076575 h 3588041"/>
                <a:gd name="connsiteX3-7191" fmla="*/ 734060 w 1419860"/>
                <a:gd name="connsiteY3-7192" fmla="*/ 2381250 h 3588041"/>
                <a:gd name="connsiteX4-7193" fmla="*/ 569595 w 1419860"/>
                <a:gd name="connsiteY4-7194" fmla="*/ 1953895 h 3588041"/>
                <a:gd name="connsiteX5-7195" fmla="*/ 0 w 1419860"/>
                <a:gd name="connsiteY5-7196" fmla="*/ 1902460 h 3588041"/>
                <a:gd name="connsiteX6-7197" fmla="*/ 410210 w 1419860"/>
                <a:gd name="connsiteY6-7198" fmla="*/ 1787525 h 3588041"/>
                <a:gd name="connsiteX7-7199" fmla="*/ 629285 w 1419860"/>
                <a:gd name="connsiteY7-7200" fmla="*/ 1876425 h 3588041"/>
                <a:gd name="connsiteX8-7201" fmla="*/ 810260 w 1419860"/>
                <a:gd name="connsiteY8-7202" fmla="*/ 1333500 h 3588041"/>
                <a:gd name="connsiteX9-7203" fmla="*/ 750729 w 1419860"/>
                <a:gd name="connsiteY9-7204" fmla="*/ 823913 h 3588041"/>
                <a:gd name="connsiteX10-7205" fmla="*/ 375285 w 1419860"/>
                <a:gd name="connsiteY10-7206" fmla="*/ 695325 h 3588041"/>
                <a:gd name="connsiteX11-7207" fmla="*/ 771367 w 1419860"/>
                <a:gd name="connsiteY11-7208" fmla="*/ 734218 h 3588041"/>
                <a:gd name="connsiteX12-7209" fmla="*/ 786448 w 1419860"/>
                <a:gd name="connsiteY12-7210" fmla="*/ 441325 h 3588041"/>
                <a:gd name="connsiteX13-7211" fmla="*/ 873760 w 1419860"/>
                <a:gd name="connsiteY13-7212" fmla="*/ 0 h 3588041"/>
                <a:gd name="connsiteX14-7213" fmla="*/ 845185 w 1419860"/>
                <a:gd name="connsiteY14-7214" fmla="*/ 679450 h 3588041"/>
                <a:gd name="connsiteX15-7215" fmla="*/ 908685 w 1419860"/>
                <a:gd name="connsiteY15-7216" fmla="*/ 1047750 h 3588041"/>
                <a:gd name="connsiteX16-7217" fmla="*/ 918210 w 1419860"/>
                <a:gd name="connsiteY16-7218" fmla="*/ 1295400 h 3588041"/>
                <a:gd name="connsiteX17-7219" fmla="*/ 1089660 w 1419860"/>
                <a:gd name="connsiteY17-7220" fmla="*/ 1187450 h 3588041"/>
                <a:gd name="connsiteX18-7221" fmla="*/ 1362710 w 1419860"/>
                <a:gd name="connsiteY18-7222" fmla="*/ 1171575 h 3588041"/>
                <a:gd name="connsiteX19-7223" fmla="*/ 1096010 w 1419860"/>
                <a:gd name="connsiteY19-7224" fmla="*/ 1254125 h 3588041"/>
                <a:gd name="connsiteX20-7225" fmla="*/ 876935 w 1419860"/>
                <a:gd name="connsiteY20-7226" fmla="*/ 1527175 h 3588041"/>
                <a:gd name="connsiteX21-7227" fmla="*/ 822960 w 1419860"/>
                <a:gd name="connsiteY21-7228" fmla="*/ 1895475 h 3588041"/>
                <a:gd name="connsiteX22-7229" fmla="*/ 991235 w 1419860"/>
                <a:gd name="connsiteY22-7230" fmla="*/ 2308225 h 3588041"/>
                <a:gd name="connsiteX23-7231" fmla="*/ 883285 w 1419860"/>
                <a:gd name="connsiteY23-7232" fmla="*/ 2578100 h 3588041"/>
                <a:gd name="connsiteX24-7233" fmla="*/ 1153160 w 1419860"/>
                <a:gd name="connsiteY24-7234" fmla="*/ 2524125 h 3588041"/>
                <a:gd name="connsiteX25-7235" fmla="*/ 1419860 w 1419860"/>
                <a:gd name="connsiteY25-7236" fmla="*/ 2626519 h 3588041"/>
                <a:gd name="connsiteX26-7237" fmla="*/ 1175385 w 1419860"/>
                <a:gd name="connsiteY26-7238" fmla="*/ 2590800 h 3588041"/>
                <a:gd name="connsiteX27-7239" fmla="*/ 819785 w 1419860"/>
                <a:gd name="connsiteY27-7240" fmla="*/ 2733675 h 3588041"/>
                <a:gd name="connsiteX28-7241" fmla="*/ 676910 w 1419860"/>
                <a:gd name="connsiteY28-7242" fmla="*/ 3086100 h 3588041"/>
                <a:gd name="connsiteX29-7243" fmla="*/ 905510 w 1419860"/>
                <a:gd name="connsiteY29-7244" fmla="*/ 3419475 h 3588041"/>
                <a:gd name="connsiteX30-7245" fmla="*/ 1003935 w 1419860"/>
                <a:gd name="connsiteY30-7246" fmla="*/ 3581400 h 3588041"/>
                <a:gd name="connsiteX0-7247" fmla="*/ 1003935 w 1419860"/>
                <a:gd name="connsiteY0-7248" fmla="*/ 3581400 h 3588041"/>
                <a:gd name="connsiteX1-7249" fmla="*/ 578485 w 1419860"/>
                <a:gd name="connsiteY1-7250" fmla="*/ 3587750 h 3588041"/>
                <a:gd name="connsiteX2-7251" fmla="*/ 381635 w 1419860"/>
                <a:gd name="connsiteY2-7252" fmla="*/ 3076575 h 3588041"/>
                <a:gd name="connsiteX3-7253" fmla="*/ 734060 w 1419860"/>
                <a:gd name="connsiteY3-7254" fmla="*/ 2381250 h 3588041"/>
                <a:gd name="connsiteX4-7255" fmla="*/ 569595 w 1419860"/>
                <a:gd name="connsiteY4-7256" fmla="*/ 1953895 h 3588041"/>
                <a:gd name="connsiteX5-7257" fmla="*/ 0 w 1419860"/>
                <a:gd name="connsiteY5-7258" fmla="*/ 1902460 h 3588041"/>
                <a:gd name="connsiteX6-7259" fmla="*/ 410210 w 1419860"/>
                <a:gd name="connsiteY6-7260" fmla="*/ 1787525 h 3588041"/>
                <a:gd name="connsiteX7-7261" fmla="*/ 629285 w 1419860"/>
                <a:gd name="connsiteY7-7262" fmla="*/ 1876425 h 3588041"/>
                <a:gd name="connsiteX8-7263" fmla="*/ 810260 w 1419860"/>
                <a:gd name="connsiteY8-7264" fmla="*/ 1333500 h 3588041"/>
                <a:gd name="connsiteX9-7265" fmla="*/ 750729 w 1419860"/>
                <a:gd name="connsiteY9-7266" fmla="*/ 823913 h 3588041"/>
                <a:gd name="connsiteX10-7267" fmla="*/ 375285 w 1419860"/>
                <a:gd name="connsiteY10-7268" fmla="*/ 695325 h 3588041"/>
                <a:gd name="connsiteX11-7269" fmla="*/ 771367 w 1419860"/>
                <a:gd name="connsiteY11-7270" fmla="*/ 734218 h 3588041"/>
                <a:gd name="connsiteX12-7271" fmla="*/ 786448 w 1419860"/>
                <a:gd name="connsiteY12-7272" fmla="*/ 441325 h 3588041"/>
                <a:gd name="connsiteX13-7273" fmla="*/ 873760 w 1419860"/>
                <a:gd name="connsiteY13-7274" fmla="*/ 0 h 3588041"/>
                <a:gd name="connsiteX14-7275" fmla="*/ 845185 w 1419860"/>
                <a:gd name="connsiteY14-7276" fmla="*/ 679450 h 3588041"/>
                <a:gd name="connsiteX15-7277" fmla="*/ 908685 w 1419860"/>
                <a:gd name="connsiteY15-7278" fmla="*/ 1047750 h 3588041"/>
                <a:gd name="connsiteX16-7279" fmla="*/ 918210 w 1419860"/>
                <a:gd name="connsiteY16-7280" fmla="*/ 1295400 h 3588041"/>
                <a:gd name="connsiteX17-7281" fmla="*/ 1089660 w 1419860"/>
                <a:gd name="connsiteY17-7282" fmla="*/ 1187450 h 3588041"/>
                <a:gd name="connsiteX18-7283" fmla="*/ 1362710 w 1419860"/>
                <a:gd name="connsiteY18-7284" fmla="*/ 1171575 h 3588041"/>
                <a:gd name="connsiteX19-7285" fmla="*/ 1096010 w 1419860"/>
                <a:gd name="connsiteY19-7286" fmla="*/ 1254125 h 3588041"/>
                <a:gd name="connsiteX20-7287" fmla="*/ 876935 w 1419860"/>
                <a:gd name="connsiteY20-7288" fmla="*/ 1527175 h 3588041"/>
                <a:gd name="connsiteX21-7289" fmla="*/ 822960 w 1419860"/>
                <a:gd name="connsiteY21-7290" fmla="*/ 1895475 h 3588041"/>
                <a:gd name="connsiteX22-7291" fmla="*/ 991235 w 1419860"/>
                <a:gd name="connsiteY22-7292" fmla="*/ 2308225 h 3588041"/>
                <a:gd name="connsiteX23-7293" fmla="*/ 883285 w 1419860"/>
                <a:gd name="connsiteY23-7294" fmla="*/ 2578100 h 3588041"/>
                <a:gd name="connsiteX24-7295" fmla="*/ 1153160 w 1419860"/>
                <a:gd name="connsiteY24-7296" fmla="*/ 2524125 h 3588041"/>
                <a:gd name="connsiteX25-7297" fmla="*/ 1419860 w 1419860"/>
                <a:gd name="connsiteY25-7298" fmla="*/ 2626519 h 3588041"/>
                <a:gd name="connsiteX26-7299" fmla="*/ 1175385 w 1419860"/>
                <a:gd name="connsiteY26-7300" fmla="*/ 2590800 h 3588041"/>
                <a:gd name="connsiteX27-7301" fmla="*/ 819785 w 1419860"/>
                <a:gd name="connsiteY27-7302" fmla="*/ 2733675 h 3588041"/>
                <a:gd name="connsiteX28-7303" fmla="*/ 676910 w 1419860"/>
                <a:gd name="connsiteY28-7304" fmla="*/ 3086100 h 3588041"/>
                <a:gd name="connsiteX29-7305" fmla="*/ 905510 w 1419860"/>
                <a:gd name="connsiteY29-7306" fmla="*/ 3419475 h 3588041"/>
                <a:gd name="connsiteX30-7307" fmla="*/ 1003935 w 1419860"/>
                <a:gd name="connsiteY30-7308" fmla="*/ 3581400 h 3588041"/>
                <a:gd name="connsiteX0-7309" fmla="*/ 1003935 w 1419860"/>
                <a:gd name="connsiteY0-7310" fmla="*/ 3581400 h 3588041"/>
                <a:gd name="connsiteX1-7311" fmla="*/ 578485 w 1419860"/>
                <a:gd name="connsiteY1-7312" fmla="*/ 3587750 h 3588041"/>
                <a:gd name="connsiteX2-7313" fmla="*/ 381635 w 1419860"/>
                <a:gd name="connsiteY2-7314" fmla="*/ 3076575 h 3588041"/>
                <a:gd name="connsiteX3-7315" fmla="*/ 734060 w 1419860"/>
                <a:gd name="connsiteY3-7316" fmla="*/ 2381250 h 3588041"/>
                <a:gd name="connsiteX4-7317" fmla="*/ 569595 w 1419860"/>
                <a:gd name="connsiteY4-7318" fmla="*/ 1953895 h 3588041"/>
                <a:gd name="connsiteX5-7319" fmla="*/ 0 w 1419860"/>
                <a:gd name="connsiteY5-7320" fmla="*/ 1902460 h 3588041"/>
                <a:gd name="connsiteX6-7321" fmla="*/ 381635 w 1419860"/>
                <a:gd name="connsiteY6-7322" fmla="*/ 1784350 h 3588041"/>
                <a:gd name="connsiteX7-7323" fmla="*/ 629285 w 1419860"/>
                <a:gd name="connsiteY7-7324" fmla="*/ 1876425 h 3588041"/>
                <a:gd name="connsiteX8-7325" fmla="*/ 810260 w 1419860"/>
                <a:gd name="connsiteY8-7326" fmla="*/ 1333500 h 3588041"/>
                <a:gd name="connsiteX9-7327" fmla="*/ 750729 w 1419860"/>
                <a:gd name="connsiteY9-7328" fmla="*/ 823913 h 3588041"/>
                <a:gd name="connsiteX10-7329" fmla="*/ 375285 w 1419860"/>
                <a:gd name="connsiteY10-7330" fmla="*/ 695325 h 3588041"/>
                <a:gd name="connsiteX11-7331" fmla="*/ 771367 w 1419860"/>
                <a:gd name="connsiteY11-7332" fmla="*/ 734218 h 3588041"/>
                <a:gd name="connsiteX12-7333" fmla="*/ 786448 w 1419860"/>
                <a:gd name="connsiteY12-7334" fmla="*/ 441325 h 3588041"/>
                <a:gd name="connsiteX13-7335" fmla="*/ 873760 w 1419860"/>
                <a:gd name="connsiteY13-7336" fmla="*/ 0 h 3588041"/>
                <a:gd name="connsiteX14-7337" fmla="*/ 845185 w 1419860"/>
                <a:gd name="connsiteY14-7338" fmla="*/ 679450 h 3588041"/>
                <a:gd name="connsiteX15-7339" fmla="*/ 908685 w 1419860"/>
                <a:gd name="connsiteY15-7340" fmla="*/ 1047750 h 3588041"/>
                <a:gd name="connsiteX16-7341" fmla="*/ 918210 w 1419860"/>
                <a:gd name="connsiteY16-7342" fmla="*/ 1295400 h 3588041"/>
                <a:gd name="connsiteX17-7343" fmla="*/ 1089660 w 1419860"/>
                <a:gd name="connsiteY17-7344" fmla="*/ 1187450 h 3588041"/>
                <a:gd name="connsiteX18-7345" fmla="*/ 1362710 w 1419860"/>
                <a:gd name="connsiteY18-7346" fmla="*/ 1171575 h 3588041"/>
                <a:gd name="connsiteX19-7347" fmla="*/ 1096010 w 1419860"/>
                <a:gd name="connsiteY19-7348" fmla="*/ 1254125 h 3588041"/>
                <a:gd name="connsiteX20-7349" fmla="*/ 876935 w 1419860"/>
                <a:gd name="connsiteY20-7350" fmla="*/ 1527175 h 3588041"/>
                <a:gd name="connsiteX21-7351" fmla="*/ 822960 w 1419860"/>
                <a:gd name="connsiteY21-7352" fmla="*/ 1895475 h 3588041"/>
                <a:gd name="connsiteX22-7353" fmla="*/ 991235 w 1419860"/>
                <a:gd name="connsiteY22-7354" fmla="*/ 2308225 h 3588041"/>
                <a:gd name="connsiteX23-7355" fmla="*/ 883285 w 1419860"/>
                <a:gd name="connsiteY23-7356" fmla="*/ 2578100 h 3588041"/>
                <a:gd name="connsiteX24-7357" fmla="*/ 1153160 w 1419860"/>
                <a:gd name="connsiteY24-7358" fmla="*/ 2524125 h 3588041"/>
                <a:gd name="connsiteX25-7359" fmla="*/ 1419860 w 1419860"/>
                <a:gd name="connsiteY25-7360" fmla="*/ 2626519 h 3588041"/>
                <a:gd name="connsiteX26-7361" fmla="*/ 1175385 w 1419860"/>
                <a:gd name="connsiteY26-7362" fmla="*/ 2590800 h 3588041"/>
                <a:gd name="connsiteX27-7363" fmla="*/ 819785 w 1419860"/>
                <a:gd name="connsiteY27-7364" fmla="*/ 2733675 h 3588041"/>
                <a:gd name="connsiteX28-7365" fmla="*/ 676910 w 1419860"/>
                <a:gd name="connsiteY28-7366" fmla="*/ 3086100 h 3588041"/>
                <a:gd name="connsiteX29-7367" fmla="*/ 905510 w 1419860"/>
                <a:gd name="connsiteY29-7368" fmla="*/ 3419475 h 3588041"/>
                <a:gd name="connsiteX30-7369" fmla="*/ 1003935 w 1419860"/>
                <a:gd name="connsiteY30-7370" fmla="*/ 3581400 h 3588041"/>
                <a:gd name="connsiteX0-7371" fmla="*/ 1003935 w 1419860"/>
                <a:gd name="connsiteY0-7372" fmla="*/ 3581400 h 3588041"/>
                <a:gd name="connsiteX1-7373" fmla="*/ 578485 w 1419860"/>
                <a:gd name="connsiteY1-7374" fmla="*/ 3587750 h 3588041"/>
                <a:gd name="connsiteX2-7375" fmla="*/ 381635 w 1419860"/>
                <a:gd name="connsiteY2-7376" fmla="*/ 3076575 h 3588041"/>
                <a:gd name="connsiteX3-7377" fmla="*/ 734060 w 1419860"/>
                <a:gd name="connsiteY3-7378" fmla="*/ 2381250 h 3588041"/>
                <a:gd name="connsiteX4-7379" fmla="*/ 569595 w 1419860"/>
                <a:gd name="connsiteY4-7380" fmla="*/ 1953895 h 3588041"/>
                <a:gd name="connsiteX5-7381" fmla="*/ 0 w 1419860"/>
                <a:gd name="connsiteY5-7382" fmla="*/ 1902460 h 3588041"/>
                <a:gd name="connsiteX6-7383" fmla="*/ 381635 w 1419860"/>
                <a:gd name="connsiteY6-7384" fmla="*/ 1784350 h 3588041"/>
                <a:gd name="connsiteX7-7385" fmla="*/ 629285 w 1419860"/>
                <a:gd name="connsiteY7-7386" fmla="*/ 1876425 h 3588041"/>
                <a:gd name="connsiteX8-7387" fmla="*/ 810260 w 1419860"/>
                <a:gd name="connsiteY8-7388" fmla="*/ 1333500 h 3588041"/>
                <a:gd name="connsiteX9-7389" fmla="*/ 750729 w 1419860"/>
                <a:gd name="connsiteY9-7390" fmla="*/ 823913 h 3588041"/>
                <a:gd name="connsiteX10-7391" fmla="*/ 375285 w 1419860"/>
                <a:gd name="connsiteY10-7392" fmla="*/ 695325 h 3588041"/>
                <a:gd name="connsiteX11-7393" fmla="*/ 771367 w 1419860"/>
                <a:gd name="connsiteY11-7394" fmla="*/ 734218 h 3588041"/>
                <a:gd name="connsiteX12-7395" fmla="*/ 786448 w 1419860"/>
                <a:gd name="connsiteY12-7396" fmla="*/ 441325 h 3588041"/>
                <a:gd name="connsiteX13-7397" fmla="*/ 873760 w 1419860"/>
                <a:gd name="connsiteY13-7398" fmla="*/ 0 h 3588041"/>
                <a:gd name="connsiteX14-7399" fmla="*/ 845185 w 1419860"/>
                <a:gd name="connsiteY14-7400" fmla="*/ 679450 h 3588041"/>
                <a:gd name="connsiteX15-7401" fmla="*/ 908685 w 1419860"/>
                <a:gd name="connsiteY15-7402" fmla="*/ 1047750 h 3588041"/>
                <a:gd name="connsiteX16-7403" fmla="*/ 918210 w 1419860"/>
                <a:gd name="connsiteY16-7404" fmla="*/ 1295400 h 3588041"/>
                <a:gd name="connsiteX17-7405" fmla="*/ 1089660 w 1419860"/>
                <a:gd name="connsiteY17-7406" fmla="*/ 1187450 h 3588041"/>
                <a:gd name="connsiteX18-7407" fmla="*/ 1362710 w 1419860"/>
                <a:gd name="connsiteY18-7408" fmla="*/ 1171575 h 3588041"/>
                <a:gd name="connsiteX19-7409" fmla="*/ 1096010 w 1419860"/>
                <a:gd name="connsiteY19-7410" fmla="*/ 1254125 h 3588041"/>
                <a:gd name="connsiteX20-7411" fmla="*/ 876935 w 1419860"/>
                <a:gd name="connsiteY20-7412" fmla="*/ 1527175 h 3588041"/>
                <a:gd name="connsiteX21-7413" fmla="*/ 822960 w 1419860"/>
                <a:gd name="connsiteY21-7414" fmla="*/ 1895475 h 3588041"/>
                <a:gd name="connsiteX22-7415" fmla="*/ 991235 w 1419860"/>
                <a:gd name="connsiteY22-7416" fmla="*/ 2308225 h 3588041"/>
                <a:gd name="connsiteX23-7417" fmla="*/ 883285 w 1419860"/>
                <a:gd name="connsiteY23-7418" fmla="*/ 2578100 h 3588041"/>
                <a:gd name="connsiteX24-7419" fmla="*/ 1153160 w 1419860"/>
                <a:gd name="connsiteY24-7420" fmla="*/ 2524125 h 3588041"/>
                <a:gd name="connsiteX25-7421" fmla="*/ 1419860 w 1419860"/>
                <a:gd name="connsiteY25-7422" fmla="*/ 2626519 h 3588041"/>
                <a:gd name="connsiteX26-7423" fmla="*/ 1175385 w 1419860"/>
                <a:gd name="connsiteY26-7424" fmla="*/ 2590800 h 3588041"/>
                <a:gd name="connsiteX27-7425" fmla="*/ 819785 w 1419860"/>
                <a:gd name="connsiteY27-7426" fmla="*/ 2733675 h 3588041"/>
                <a:gd name="connsiteX28-7427" fmla="*/ 676910 w 1419860"/>
                <a:gd name="connsiteY28-7428" fmla="*/ 3086100 h 3588041"/>
                <a:gd name="connsiteX29-7429" fmla="*/ 905510 w 1419860"/>
                <a:gd name="connsiteY29-7430" fmla="*/ 3419475 h 3588041"/>
                <a:gd name="connsiteX30-7431" fmla="*/ 1003935 w 1419860"/>
                <a:gd name="connsiteY30-7432" fmla="*/ 3581400 h 3588041"/>
                <a:gd name="connsiteX0-7433" fmla="*/ 1003935 w 1419860"/>
                <a:gd name="connsiteY0-7434" fmla="*/ 3581400 h 3588041"/>
                <a:gd name="connsiteX1-7435" fmla="*/ 578485 w 1419860"/>
                <a:gd name="connsiteY1-7436" fmla="*/ 3587750 h 3588041"/>
                <a:gd name="connsiteX2-7437" fmla="*/ 381635 w 1419860"/>
                <a:gd name="connsiteY2-7438" fmla="*/ 3076575 h 3588041"/>
                <a:gd name="connsiteX3-7439" fmla="*/ 734060 w 1419860"/>
                <a:gd name="connsiteY3-7440" fmla="*/ 2381250 h 3588041"/>
                <a:gd name="connsiteX4-7441" fmla="*/ 569595 w 1419860"/>
                <a:gd name="connsiteY4-7442" fmla="*/ 1953895 h 3588041"/>
                <a:gd name="connsiteX5-7443" fmla="*/ 0 w 1419860"/>
                <a:gd name="connsiteY5-7444" fmla="*/ 1902460 h 3588041"/>
                <a:gd name="connsiteX6-7445" fmla="*/ 359410 w 1419860"/>
                <a:gd name="connsiteY6-7446" fmla="*/ 1806575 h 3588041"/>
                <a:gd name="connsiteX7-7447" fmla="*/ 629285 w 1419860"/>
                <a:gd name="connsiteY7-7448" fmla="*/ 1876425 h 3588041"/>
                <a:gd name="connsiteX8-7449" fmla="*/ 810260 w 1419860"/>
                <a:gd name="connsiteY8-7450" fmla="*/ 1333500 h 3588041"/>
                <a:gd name="connsiteX9-7451" fmla="*/ 750729 w 1419860"/>
                <a:gd name="connsiteY9-7452" fmla="*/ 823913 h 3588041"/>
                <a:gd name="connsiteX10-7453" fmla="*/ 375285 w 1419860"/>
                <a:gd name="connsiteY10-7454" fmla="*/ 695325 h 3588041"/>
                <a:gd name="connsiteX11-7455" fmla="*/ 771367 w 1419860"/>
                <a:gd name="connsiteY11-7456" fmla="*/ 734218 h 3588041"/>
                <a:gd name="connsiteX12-7457" fmla="*/ 786448 w 1419860"/>
                <a:gd name="connsiteY12-7458" fmla="*/ 441325 h 3588041"/>
                <a:gd name="connsiteX13-7459" fmla="*/ 873760 w 1419860"/>
                <a:gd name="connsiteY13-7460" fmla="*/ 0 h 3588041"/>
                <a:gd name="connsiteX14-7461" fmla="*/ 845185 w 1419860"/>
                <a:gd name="connsiteY14-7462" fmla="*/ 679450 h 3588041"/>
                <a:gd name="connsiteX15-7463" fmla="*/ 908685 w 1419860"/>
                <a:gd name="connsiteY15-7464" fmla="*/ 1047750 h 3588041"/>
                <a:gd name="connsiteX16-7465" fmla="*/ 918210 w 1419860"/>
                <a:gd name="connsiteY16-7466" fmla="*/ 1295400 h 3588041"/>
                <a:gd name="connsiteX17-7467" fmla="*/ 1089660 w 1419860"/>
                <a:gd name="connsiteY17-7468" fmla="*/ 1187450 h 3588041"/>
                <a:gd name="connsiteX18-7469" fmla="*/ 1362710 w 1419860"/>
                <a:gd name="connsiteY18-7470" fmla="*/ 1171575 h 3588041"/>
                <a:gd name="connsiteX19-7471" fmla="*/ 1096010 w 1419860"/>
                <a:gd name="connsiteY19-7472" fmla="*/ 1254125 h 3588041"/>
                <a:gd name="connsiteX20-7473" fmla="*/ 876935 w 1419860"/>
                <a:gd name="connsiteY20-7474" fmla="*/ 1527175 h 3588041"/>
                <a:gd name="connsiteX21-7475" fmla="*/ 822960 w 1419860"/>
                <a:gd name="connsiteY21-7476" fmla="*/ 1895475 h 3588041"/>
                <a:gd name="connsiteX22-7477" fmla="*/ 991235 w 1419860"/>
                <a:gd name="connsiteY22-7478" fmla="*/ 2308225 h 3588041"/>
                <a:gd name="connsiteX23-7479" fmla="*/ 883285 w 1419860"/>
                <a:gd name="connsiteY23-7480" fmla="*/ 2578100 h 3588041"/>
                <a:gd name="connsiteX24-7481" fmla="*/ 1153160 w 1419860"/>
                <a:gd name="connsiteY24-7482" fmla="*/ 2524125 h 3588041"/>
                <a:gd name="connsiteX25-7483" fmla="*/ 1419860 w 1419860"/>
                <a:gd name="connsiteY25-7484" fmla="*/ 2626519 h 3588041"/>
                <a:gd name="connsiteX26-7485" fmla="*/ 1175385 w 1419860"/>
                <a:gd name="connsiteY26-7486" fmla="*/ 2590800 h 3588041"/>
                <a:gd name="connsiteX27-7487" fmla="*/ 819785 w 1419860"/>
                <a:gd name="connsiteY27-7488" fmla="*/ 2733675 h 3588041"/>
                <a:gd name="connsiteX28-7489" fmla="*/ 676910 w 1419860"/>
                <a:gd name="connsiteY28-7490" fmla="*/ 3086100 h 3588041"/>
                <a:gd name="connsiteX29-7491" fmla="*/ 905510 w 1419860"/>
                <a:gd name="connsiteY29-7492" fmla="*/ 3419475 h 3588041"/>
                <a:gd name="connsiteX30-7493" fmla="*/ 1003935 w 1419860"/>
                <a:gd name="connsiteY30-7494" fmla="*/ 3581400 h 3588041"/>
                <a:gd name="connsiteX0-7495" fmla="*/ 1003935 w 1419860"/>
                <a:gd name="connsiteY0-7496" fmla="*/ 3581400 h 3588041"/>
                <a:gd name="connsiteX1-7497" fmla="*/ 578485 w 1419860"/>
                <a:gd name="connsiteY1-7498" fmla="*/ 3587750 h 3588041"/>
                <a:gd name="connsiteX2-7499" fmla="*/ 381635 w 1419860"/>
                <a:gd name="connsiteY2-7500" fmla="*/ 3076575 h 3588041"/>
                <a:gd name="connsiteX3-7501" fmla="*/ 734060 w 1419860"/>
                <a:gd name="connsiteY3-7502" fmla="*/ 2381250 h 3588041"/>
                <a:gd name="connsiteX4-7503" fmla="*/ 569595 w 1419860"/>
                <a:gd name="connsiteY4-7504" fmla="*/ 1953895 h 3588041"/>
                <a:gd name="connsiteX5-7505" fmla="*/ 0 w 1419860"/>
                <a:gd name="connsiteY5-7506" fmla="*/ 1902460 h 3588041"/>
                <a:gd name="connsiteX6-7507" fmla="*/ 359410 w 1419860"/>
                <a:gd name="connsiteY6-7508" fmla="*/ 1806575 h 3588041"/>
                <a:gd name="connsiteX7-7509" fmla="*/ 629285 w 1419860"/>
                <a:gd name="connsiteY7-7510" fmla="*/ 1876425 h 3588041"/>
                <a:gd name="connsiteX8-7511" fmla="*/ 810260 w 1419860"/>
                <a:gd name="connsiteY8-7512" fmla="*/ 1333500 h 3588041"/>
                <a:gd name="connsiteX9-7513" fmla="*/ 750729 w 1419860"/>
                <a:gd name="connsiteY9-7514" fmla="*/ 823913 h 3588041"/>
                <a:gd name="connsiteX10-7515" fmla="*/ 375285 w 1419860"/>
                <a:gd name="connsiteY10-7516" fmla="*/ 695325 h 3588041"/>
                <a:gd name="connsiteX11-7517" fmla="*/ 771367 w 1419860"/>
                <a:gd name="connsiteY11-7518" fmla="*/ 734218 h 3588041"/>
                <a:gd name="connsiteX12-7519" fmla="*/ 786448 w 1419860"/>
                <a:gd name="connsiteY12-7520" fmla="*/ 441325 h 3588041"/>
                <a:gd name="connsiteX13-7521" fmla="*/ 873760 w 1419860"/>
                <a:gd name="connsiteY13-7522" fmla="*/ 0 h 3588041"/>
                <a:gd name="connsiteX14-7523" fmla="*/ 845185 w 1419860"/>
                <a:gd name="connsiteY14-7524" fmla="*/ 679450 h 3588041"/>
                <a:gd name="connsiteX15-7525" fmla="*/ 908685 w 1419860"/>
                <a:gd name="connsiteY15-7526" fmla="*/ 1047750 h 3588041"/>
                <a:gd name="connsiteX16-7527" fmla="*/ 918210 w 1419860"/>
                <a:gd name="connsiteY16-7528" fmla="*/ 1295400 h 3588041"/>
                <a:gd name="connsiteX17-7529" fmla="*/ 1089660 w 1419860"/>
                <a:gd name="connsiteY17-7530" fmla="*/ 1187450 h 3588041"/>
                <a:gd name="connsiteX18-7531" fmla="*/ 1362710 w 1419860"/>
                <a:gd name="connsiteY18-7532" fmla="*/ 1171575 h 3588041"/>
                <a:gd name="connsiteX19-7533" fmla="*/ 1096010 w 1419860"/>
                <a:gd name="connsiteY19-7534" fmla="*/ 1254125 h 3588041"/>
                <a:gd name="connsiteX20-7535" fmla="*/ 876935 w 1419860"/>
                <a:gd name="connsiteY20-7536" fmla="*/ 1527175 h 3588041"/>
                <a:gd name="connsiteX21-7537" fmla="*/ 822960 w 1419860"/>
                <a:gd name="connsiteY21-7538" fmla="*/ 1895475 h 3588041"/>
                <a:gd name="connsiteX22-7539" fmla="*/ 991235 w 1419860"/>
                <a:gd name="connsiteY22-7540" fmla="*/ 2308225 h 3588041"/>
                <a:gd name="connsiteX23-7541" fmla="*/ 883285 w 1419860"/>
                <a:gd name="connsiteY23-7542" fmla="*/ 2578100 h 3588041"/>
                <a:gd name="connsiteX24-7543" fmla="*/ 1153160 w 1419860"/>
                <a:gd name="connsiteY24-7544" fmla="*/ 2524125 h 3588041"/>
                <a:gd name="connsiteX25-7545" fmla="*/ 1419860 w 1419860"/>
                <a:gd name="connsiteY25-7546" fmla="*/ 2626519 h 3588041"/>
                <a:gd name="connsiteX26-7547" fmla="*/ 1175385 w 1419860"/>
                <a:gd name="connsiteY26-7548" fmla="*/ 2590800 h 3588041"/>
                <a:gd name="connsiteX27-7549" fmla="*/ 819785 w 1419860"/>
                <a:gd name="connsiteY27-7550" fmla="*/ 2733675 h 3588041"/>
                <a:gd name="connsiteX28-7551" fmla="*/ 676910 w 1419860"/>
                <a:gd name="connsiteY28-7552" fmla="*/ 3086100 h 3588041"/>
                <a:gd name="connsiteX29-7553" fmla="*/ 905510 w 1419860"/>
                <a:gd name="connsiteY29-7554" fmla="*/ 3419475 h 3588041"/>
                <a:gd name="connsiteX30-7555" fmla="*/ 1003935 w 1419860"/>
                <a:gd name="connsiteY30-7556" fmla="*/ 3581400 h 3588041"/>
                <a:gd name="connsiteX0-7557" fmla="*/ 1003935 w 1419860"/>
                <a:gd name="connsiteY0-7558" fmla="*/ 3581400 h 3588041"/>
                <a:gd name="connsiteX1-7559" fmla="*/ 578485 w 1419860"/>
                <a:gd name="connsiteY1-7560" fmla="*/ 3587750 h 3588041"/>
                <a:gd name="connsiteX2-7561" fmla="*/ 381635 w 1419860"/>
                <a:gd name="connsiteY2-7562" fmla="*/ 3076575 h 3588041"/>
                <a:gd name="connsiteX3-7563" fmla="*/ 734060 w 1419860"/>
                <a:gd name="connsiteY3-7564" fmla="*/ 2381250 h 3588041"/>
                <a:gd name="connsiteX4-7565" fmla="*/ 569595 w 1419860"/>
                <a:gd name="connsiteY4-7566" fmla="*/ 1953895 h 3588041"/>
                <a:gd name="connsiteX5-7567" fmla="*/ 0 w 1419860"/>
                <a:gd name="connsiteY5-7568" fmla="*/ 1902460 h 3588041"/>
                <a:gd name="connsiteX6-7569" fmla="*/ 359410 w 1419860"/>
                <a:gd name="connsiteY6-7570" fmla="*/ 1806575 h 3588041"/>
                <a:gd name="connsiteX7-7571" fmla="*/ 622935 w 1419860"/>
                <a:gd name="connsiteY7-7572" fmla="*/ 1879600 h 3588041"/>
                <a:gd name="connsiteX8-7573" fmla="*/ 810260 w 1419860"/>
                <a:gd name="connsiteY8-7574" fmla="*/ 1333500 h 3588041"/>
                <a:gd name="connsiteX9-7575" fmla="*/ 750729 w 1419860"/>
                <a:gd name="connsiteY9-7576" fmla="*/ 823913 h 3588041"/>
                <a:gd name="connsiteX10-7577" fmla="*/ 375285 w 1419860"/>
                <a:gd name="connsiteY10-7578" fmla="*/ 695325 h 3588041"/>
                <a:gd name="connsiteX11-7579" fmla="*/ 771367 w 1419860"/>
                <a:gd name="connsiteY11-7580" fmla="*/ 734218 h 3588041"/>
                <a:gd name="connsiteX12-7581" fmla="*/ 786448 w 1419860"/>
                <a:gd name="connsiteY12-7582" fmla="*/ 441325 h 3588041"/>
                <a:gd name="connsiteX13-7583" fmla="*/ 873760 w 1419860"/>
                <a:gd name="connsiteY13-7584" fmla="*/ 0 h 3588041"/>
                <a:gd name="connsiteX14-7585" fmla="*/ 845185 w 1419860"/>
                <a:gd name="connsiteY14-7586" fmla="*/ 679450 h 3588041"/>
                <a:gd name="connsiteX15-7587" fmla="*/ 908685 w 1419860"/>
                <a:gd name="connsiteY15-7588" fmla="*/ 1047750 h 3588041"/>
                <a:gd name="connsiteX16-7589" fmla="*/ 918210 w 1419860"/>
                <a:gd name="connsiteY16-7590" fmla="*/ 1295400 h 3588041"/>
                <a:gd name="connsiteX17-7591" fmla="*/ 1089660 w 1419860"/>
                <a:gd name="connsiteY17-7592" fmla="*/ 1187450 h 3588041"/>
                <a:gd name="connsiteX18-7593" fmla="*/ 1362710 w 1419860"/>
                <a:gd name="connsiteY18-7594" fmla="*/ 1171575 h 3588041"/>
                <a:gd name="connsiteX19-7595" fmla="*/ 1096010 w 1419860"/>
                <a:gd name="connsiteY19-7596" fmla="*/ 1254125 h 3588041"/>
                <a:gd name="connsiteX20-7597" fmla="*/ 876935 w 1419860"/>
                <a:gd name="connsiteY20-7598" fmla="*/ 1527175 h 3588041"/>
                <a:gd name="connsiteX21-7599" fmla="*/ 822960 w 1419860"/>
                <a:gd name="connsiteY21-7600" fmla="*/ 1895475 h 3588041"/>
                <a:gd name="connsiteX22-7601" fmla="*/ 991235 w 1419860"/>
                <a:gd name="connsiteY22-7602" fmla="*/ 2308225 h 3588041"/>
                <a:gd name="connsiteX23-7603" fmla="*/ 883285 w 1419860"/>
                <a:gd name="connsiteY23-7604" fmla="*/ 2578100 h 3588041"/>
                <a:gd name="connsiteX24-7605" fmla="*/ 1153160 w 1419860"/>
                <a:gd name="connsiteY24-7606" fmla="*/ 2524125 h 3588041"/>
                <a:gd name="connsiteX25-7607" fmla="*/ 1419860 w 1419860"/>
                <a:gd name="connsiteY25-7608" fmla="*/ 2626519 h 3588041"/>
                <a:gd name="connsiteX26-7609" fmla="*/ 1175385 w 1419860"/>
                <a:gd name="connsiteY26-7610" fmla="*/ 2590800 h 3588041"/>
                <a:gd name="connsiteX27-7611" fmla="*/ 819785 w 1419860"/>
                <a:gd name="connsiteY27-7612" fmla="*/ 2733675 h 3588041"/>
                <a:gd name="connsiteX28-7613" fmla="*/ 676910 w 1419860"/>
                <a:gd name="connsiteY28-7614" fmla="*/ 3086100 h 3588041"/>
                <a:gd name="connsiteX29-7615" fmla="*/ 905510 w 1419860"/>
                <a:gd name="connsiteY29-7616" fmla="*/ 3419475 h 3588041"/>
                <a:gd name="connsiteX30-7617" fmla="*/ 1003935 w 1419860"/>
                <a:gd name="connsiteY30-7618" fmla="*/ 3581400 h 3588041"/>
                <a:gd name="connsiteX0-7619" fmla="*/ 1003935 w 1419860"/>
                <a:gd name="connsiteY0-7620" fmla="*/ 3581400 h 3588041"/>
                <a:gd name="connsiteX1-7621" fmla="*/ 578485 w 1419860"/>
                <a:gd name="connsiteY1-7622" fmla="*/ 3587750 h 3588041"/>
                <a:gd name="connsiteX2-7623" fmla="*/ 381635 w 1419860"/>
                <a:gd name="connsiteY2-7624" fmla="*/ 3076575 h 3588041"/>
                <a:gd name="connsiteX3-7625" fmla="*/ 734060 w 1419860"/>
                <a:gd name="connsiteY3-7626" fmla="*/ 2381250 h 3588041"/>
                <a:gd name="connsiteX4-7627" fmla="*/ 569595 w 1419860"/>
                <a:gd name="connsiteY4-7628" fmla="*/ 1953895 h 3588041"/>
                <a:gd name="connsiteX5-7629" fmla="*/ 0 w 1419860"/>
                <a:gd name="connsiteY5-7630" fmla="*/ 1902460 h 3588041"/>
                <a:gd name="connsiteX6-7631" fmla="*/ 318135 w 1419860"/>
                <a:gd name="connsiteY6-7632" fmla="*/ 1812925 h 3588041"/>
                <a:gd name="connsiteX7-7633" fmla="*/ 622935 w 1419860"/>
                <a:gd name="connsiteY7-7634" fmla="*/ 1879600 h 3588041"/>
                <a:gd name="connsiteX8-7635" fmla="*/ 810260 w 1419860"/>
                <a:gd name="connsiteY8-7636" fmla="*/ 1333500 h 3588041"/>
                <a:gd name="connsiteX9-7637" fmla="*/ 750729 w 1419860"/>
                <a:gd name="connsiteY9-7638" fmla="*/ 823913 h 3588041"/>
                <a:gd name="connsiteX10-7639" fmla="*/ 375285 w 1419860"/>
                <a:gd name="connsiteY10-7640" fmla="*/ 695325 h 3588041"/>
                <a:gd name="connsiteX11-7641" fmla="*/ 771367 w 1419860"/>
                <a:gd name="connsiteY11-7642" fmla="*/ 734218 h 3588041"/>
                <a:gd name="connsiteX12-7643" fmla="*/ 786448 w 1419860"/>
                <a:gd name="connsiteY12-7644" fmla="*/ 441325 h 3588041"/>
                <a:gd name="connsiteX13-7645" fmla="*/ 873760 w 1419860"/>
                <a:gd name="connsiteY13-7646" fmla="*/ 0 h 3588041"/>
                <a:gd name="connsiteX14-7647" fmla="*/ 845185 w 1419860"/>
                <a:gd name="connsiteY14-7648" fmla="*/ 679450 h 3588041"/>
                <a:gd name="connsiteX15-7649" fmla="*/ 908685 w 1419860"/>
                <a:gd name="connsiteY15-7650" fmla="*/ 1047750 h 3588041"/>
                <a:gd name="connsiteX16-7651" fmla="*/ 918210 w 1419860"/>
                <a:gd name="connsiteY16-7652" fmla="*/ 1295400 h 3588041"/>
                <a:gd name="connsiteX17-7653" fmla="*/ 1089660 w 1419860"/>
                <a:gd name="connsiteY17-7654" fmla="*/ 1187450 h 3588041"/>
                <a:gd name="connsiteX18-7655" fmla="*/ 1362710 w 1419860"/>
                <a:gd name="connsiteY18-7656" fmla="*/ 1171575 h 3588041"/>
                <a:gd name="connsiteX19-7657" fmla="*/ 1096010 w 1419860"/>
                <a:gd name="connsiteY19-7658" fmla="*/ 1254125 h 3588041"/>
                <a:gd name="connsiteX20-7659" fmla="*/ 876935 w 1419860"/>
                <a:gd name="connsiteY20-7660" fmla="*/ 1527175 h 3588041"/>
                <a:gd name="connsiteX21-7661" fmla="*/ 822960 w 1419860"/>
                <a:gd name="connsiteY21-7662" fmla="*/ 1895475 h 3588041"/>
                <a:gd name="connsiteX22-7663" fmla="*/ 991235 w 1419860"/>
                <a:gd name="connsiteY22-7664" fmla="*/ 2308225 h 3588041"/>
                <a:gd name="connsiteX23-7665" fmla="*/ 883285 w 1419860"/>
                <a:gd name="connsiteY23-7666" fmla="*/ 2578100 h 3588041"/>
                <a:gd name="connsiteX24-7667" fmla="*/ 1153160 w 1419860"/>
                <a:gd name="connsiteY24-7668" fmla="*/ 2524125 h 3588041"/>
                <a:gd name="connsiteX25-7669" fmla="*/ 1419860 w 1419860"/>
                <a:gd name="connsiteY25-7670" fmla="*/ 2626519 h 3588041"/>
                <a:gd name="connsiteX26-7671" fmla="*/ 1175385 w 1419860"/>
                <a:gd name="connsiteY26-7672" fmla="*/ 2590800 h 3588041"/>
                <a:gd name="connsiteX27-7673" fmla="*/ 819785 w 1419860"/>
                <a:gd name="connsiteY27-7674" fmla="*/ 2733675 h 3588041"/>
                <a:gd name="connsiteX28-7675" fmla="*/ 676910 w 1419860"/>
                <a:gd name="connsiteY28-7676" fmla="*/ 3086100 h 3588041"/>
                <a:gd name="connsiteX29-7677" fmla="*/ 905510 w 1419860"/>
                <a:gd name="connsiteY29-7678" fmla="*/ 3419475 h 3588041"/>
                <a:gd name="connsiteX30-7679" fmla="*/ 1003935 w 1419860"/>
                <a:gd name="connsiteY30-7680" fmla="*/ 3581400 h 3588041"/>
                <a:gd name="connsiteX0-7681" fmla="*/ 1003935 w 1419860"/>
                <a:gd name="connsiteY0-7682" fmla="*/ 3581400 h 3588041"/>
                <a:gd name="connsiteX1-7683" fmla="*/ 578485 w 1419860"/>
                <a:gd name="connsiteY1-7684" fmla="*/ 3587750 h 3588041"/>
                <a:gd name="connsiteX2-7685" fmla="*/ 381635 w 1419860"/>
                <a:gd name="connsiteY2-7686" fmla="*/ 3076575 h 3588041"/>
                <a:gd name="connsiteX3-7687" fmla="*/ 734060 w 1419860"/>
                <a:gd name="connsiteY3-7688" fmla="*/ 2381250 h 3588041"/>
                <a:gd name="connsiteX4-7689" fmla="*/ 569595 w 1419860"/>
                <a:gd name="connsiteY4-7690" fmla="*/ 1953895 h 3588041"/>
                <a:gd name="connsiteX5-7691" fmla="*/ 0 w 1419860"/>
                <a:gd name="connsiteY5-7692" fmla="*/ 1902460 h 3588041"/>
                <a:gd name="connsiteX6-7693" fmla="*/ 318135 w 1419860"/>
                <a:gd name="connsiteY6-7694" fmla="*/ 1812925 h 3588041"/>
                <a:gd name="connsiteX7-7695" fmla="*/ 622935 w 1419860"/>
                <a:gd name="connsiteY7-7696" fmla="*/ 1879600 h 3588041"/>
                <a:gd name="connsiteX8-7697" fmla="*/ 810260 w 1419860"/>
                <a:gd name="connsiteY8-7698" fmla="*/ 1333500 h 3588041"/>
                <a:gd name="connsiteX9-7699" fmla="*/ 750729 w 1419860"/>
                <a:gd name="connsiteY9-7700" fmla="*/ 823913 h 3588041"/>
                <a:gd name="connsiteX10-7701" fmla="*/ 375285 w 1419860"/>
                <a:gd name="connsiteY10-7702" fmla="*/ 695325 h 3588041"/>
                <a:gd name="connsiteX11-7703" fmla="*/ 771367 w 1419860"/>
                <a:gd name="connsiteY11-7704" fmla="*/ 734218 h 3588041"/>
                <a:gd name="connsiteX12-7705" fmla="*/ 786448 w 1419860"/>
                <a:gd name="connsiteY12-7706" fmla="*/ 441325 h 3588041"/>
                <a:gd name="connsiteX13-7707" fmla="*/ 873760 w 1419860"/>
                <a:gd name="connsiteY13-7708" fmla="*/ 0 h 3588041"/>
                <a:gd name="connsiteX14-7709" fmla="*/ 845185 w 1419860"/>
                <a:gd name="connsiteY14-7710" fmla="*/ 679450 h 3588041"/>
                <a:gd name="connsiteX15-7711" fmla="*/ 908685 w 1419860"/>
                <a:gd name="connsiteY15-7712" fmla="*/ 1047750 h 3588041"/>
                <a:gd name="connsiteX16-7713" fmla="*/ 918210 w 1419860"/>
                <a:gd name="connsiteY16-7714" fmla="*/ 1295400 h 3588041"/>
                <a:gd name="connsiteX17-7715" fmla="*/ 1089660 w 1419860"/>
                <a:gd name="connsiteY17-7716" fmla="*/ 1187450 h 3588041"/>
                <a:gd name="connsiteX18-7717" fmla="*/ 1362710 w 1419860"/>
                <a:gd name="connsiteY18-7718" fmla="*/ 1171575 h 3588041"/>
                <a:gd name="connsiteX19-7719" fmla="*/ 1096010 w 1419860"/>
                <a:gd name="connsiteY19-7720" fmla="*/ 1254125 h 3588041"/>
                <a:gd name="connsiteX20-7721" fmla="*/ 876935 w 1419860"/>
                <a:gd name="connsiteY20-7722" fmla="*/ 1527175 h 3588041"/>
                <a:gd name="connsiteX21-7723" fmla="*/ 822960 w 1419860"/>
                <a:gd name="connsiteY21-7724" fmla="*/ 1895475 h 3588041"/>
                <a:gd name="connsiteX22-7725" fmla="*/ 991235 w 1419860"/>
                <a:gd name="connsiteY22-7726" fmla="*/ 2308225 h 3588041"/>
                <a:gd name="connsiteX23-7727" fmla="*/ 883285 w 1419860"/>
                <a:gd name="connsiteY23-7728" fmla="*/ 2578100 h 3588041"/>
                <a:gd name="connsiteX24-7729" fmla="*/ 1153160 w 1419860"/>
                <a:gd name="connsiteY24-7730" fmla="*/ 2524125 h 3588041"/>
                <a:gd name="connsiteX25-7731" fmla="*/ 1419860 w 1419860"/>
                <a:gd name="connsiteY25-7732" fmla="*/ 2626519 h 3588041"/>
                <a:gd name="connsiteX26-7733" fmla="*/ 1175385 w 1419860"/>
                <a:gd name="connsiteY26-7734" fmla="*/ 2590800 h 3588041"/>
                <a:gd name="connsiteX27-7735" fmla="*/ 819785 w 1419860"/>
                <a:gd name="connsiteY27-7736" fmla="*/ 2733675 h 3588041"/>
                <a:gd name="connsiteX28-7737" fmla="*/ 676910 w 1419860"/>
                <a:gd name="connsiteY28-7738" fmla="*/ 3086100 h 3588041"/>
                <a:gd name="connsiteX29-7739" fmla="*/ 905510 w 1419860"/>
                <a:gd name="connsiteY29-7740" fmla="*/ 3419475 h 3588041"/>
                <a:gd name="connsiteX30-7741" fmla="*/ 1003935 w 1419860"/>
                <a:gd name="connsiteY30-7742" fmla="*/ 3581400 h 3588041"/>
                <a:gd name="connsiteX0-7743" fmla="*/ 1003935 w 1419860"/>
                <a:gd name="connsiteY0-7744" fmla="*/ 3581400 h 3588041"/>
                <a:gd name="connsiteX1-7745" fmla="*/ 578485 w 1419860"/>
                <a:gd name="connsiteY1-7746" fmla="*/ 3587750 h 3588041"/>
                <a:gd name="connsiteX2-7747" fmla="*/ 381635 w 1419860"/>
                <a:gd name="connsiteY2-7748" fmla="*/ 3076575 h 3588041"/>
                <a:gd name="connsiteX3-7749" fmla="*/ 734060 w 1419860"/>
                <a:gd name="connsiteY3-7750" fmla="*/ 2381250 h 3588041"/>
                <a:gd name="connsiteX4-7751" fmla="*/ 569595 w 1419860"/>
                <a:gd name="connsiteY4-7752" fmla="*/ 1953895 h 3588041"/>
                <a:gd name="connsiteX5-7753" fmla="*/ 0 w 1419860"/>
                <a:gd name="connsiteY5-7754" fmla="*/ 1902460 h 3588041"/>
                <a:gd name="connsiteX6-7755" fmla="*/ 318135 w 1419860"/>
                <a:gd name="connsiteY6-7756" fmla="*/ 1812925 h 3588041"/>
                <a:gd name="connsiteX7-7757" fmla="*/ 622935 w 1419860"/>
                <a:gd name="connsiteY7-7758" fmla="*/ 1879600 h 3588041"/>
                <a:gd name="connsiteX8-7759" fmla="*/ 810260 w 1419860"/>
                <a:gd name="connsiteY8-7760" fmla="*/ 1333500 h 3588041"/>
                <a:gd name="connsiteX9-7761" fmla="*/ 750729 w 1419860"/>
                <a:gd name="connsiteY9-7762" fmla="*/ 823913 h 3588041"/>
                <a:gd name="connsiteX10-7763" fmla="*/ 375285 w 1419860"/>
                <a:gd name="connsiteY10-7764" fmla="*/ 695325 h 3588041"/>
                <a:gd name="connsiteX11-7765" fmla="*/ 771367 w 1419860"/>
                <a:gd name="connsiteY11-7766" fmla="*/ 734218 h 3588041"/>
                <a:gd name="connsiteX12-7767" fmla="*/ 786448 w 1419860"/>
                <a:gd name="connsiteY12-7768" fmla="*/ 441325 h 3588041"/>
                <a:gd name="connsiteX13-7769" fmla="*/ 873760 w 1419860"/>
                <a:gd name="connsiteY13-7770" fmla="*/ 0 h 3588041"/>
                <a:gd name="connsiteX14-7771" fmla="*/ 845185 w 1419860"/>
                <a:gd name="connsiteY14-7772" fmla="*/ 679450 h 3588041"/>
                <a:gd name="connsiteX15-7773" fmla="*/ 908685 w 1419860"/>
                <a:gd name="connsiteY15-7774" fmla="*/ 1047750 h 3588041"/>
                <a:gd name="connsiteX16-7775" fmla="*/ 918210 w 1419860"/>
                <a:gd name="connsiteY16-7776" fmla="*/ 1295400 h 3588041"/>
                <a:gd name="connsiteX17-7777" fmla="*/ 1089660 w 1419860"/>
                <a:gd name="connsiteY17-7778" fmla="*/ 1187450 h 3588041"/>
                <a:gd name="connsiteX18-7779" fmla="*/ 1362710 w 1419860"/>
                <a:gd name="connsiteY18-7780" fmla="*/ 1171575 h 3588041"/>
                <a:gd name="connsiteX19-7781" fmla="*/ 1096010 w 1419860"/>
                <a:gd name="connsiteY19-7782" fmla="*/ 1254125 h 3588041"/>
                <a:gd name="connsiteX20-7783" fmla="*/ 876935 w 1419860"/>
                <a:gd name="connsiteY20-7784" fmla="*/ 1527175 h 3588041"/>
                <a:gd name="connsiteX21-7785" fmla="*/ 822960 w 1419860"/>
                <a:gd name="connsiteY21-7786" fmla="*/ 1895475 h 3588041"/>
                <a:gd name="connsiteX22-7787" fmla="*/ 991235 w 1419860"/>
                <a:gd name="connsiteY22-7788" fmla="*/ 2308225 h 3588041"/>
                <a:gd name="connsiteX23-7789" fmla="*/ 883285 w 1419860"/>
                <a:gd name="connsiteY23-7790" fmla="*/ 2578100 h 3588041"/>
                <a:gd name="connsiteX24-7791" fmla="*/ 1153160 w 1419860"/>
                <a:gd name="connsiteY24-7792" fmla="*/ 2524125 h 3588041"/>
                <a:gd name="connsiteX25-7793" fmla="*/ 1419860 w 1419860"/>
                <a:gd name="connsiteY25-7794" fmla="*/ 2626519 h 3588041"/>
                <a:gd name="connsiteX26-7795" fmla="*/ 1175385 w 1419860"/>
                <a:gd name="connsiteY26-7796" fmla="*/ 2590800 h 3588041"/>
                <a:gd name="connsiteX27-7797" fmla="*/ 819785 w 1419860"/>
                <a:gd name="connsiteY27-7798" fmla="*/ 2733675 h 3588041"/>
                <a:gd name="connsiteX28-7799" fmla="*/ 676910 w 1419860"/>
                <a:gd name="connsiteY28-7800" fmla="*/ 3086100 h 3588041"/>
                <a:gd name="connsiteX29-7801" fmla="*/ 905510 w 1419860"/>
                <a:gd name="connsiteY29-7802" fmla="*/ 3419475 h 3588041"/>
                <a:gd name="connsiteX30-7803" fmla="*/ 1003935 w 1419860"/>
                <a:gd name="connsiteY30-7804" fmla="*/ 3581400 h 3588041"/>
                <a:gd name="connsiteX0-7805" fmla="*/ 1003935 w 1419860"/>
                <a:gd name="connsiteY0-7806" fmla="*/ 3581400 h 3588041"/>
                <a:gd name="connsiteX1-7807" fmla="*/ 578485 w 1419860"/>
                <a:gd name="connsiteY1-7808" fmla="*/ 3587750 h 3588041"/>
                <a:gd name="connsiteX2-7809" fmla="*/ 381635 w 1419860"/>
                <a:gd name="connsiteY2-7810" fmla="*/ 3076575 h 3588041"/>
                <a:gd name="connsiteX3-7811" fmla="*/ 734060 w 1419860"/>
                <a:gd name="connsiteY3-7812" fmla="*/ 2381250 h 3588041"/>
                <a:gd name="connsiteX4-7813" fmla="*/ 569595 w 1419860"/>
                <a:gd name="connsiteY4-7814" fmla="*/ 1953895 h 3588041"/>
                <a:gd name="connsiteX5-7815" fmla="*/ 0 w 1419860"/>
                <a:gd name="connsiteY5-7816" fmla="*/ 1902460 h 3588041"/>
                <a:gd name="connsiteX6-7817" fmla="*/ 318135 w 1419860"/>
                <a:gd name="connsiteY6-7818" fmla="*/ 1812925 h 3588041"/>
                <a:gd name="connsiteX7-7819" fmla="*/ 622935 w 1419860"/>
                <a:gd name="connsiteY7-7820" fmla="*/ 1879600 h 3588041"/>
                <a:gd name="connsiteX8-7821" fmla="*/ 810260 w 1419860"/>
                <a:gd name="connsiteY8-7822" fmla="*/ 1333500 h 3588041"/>
                <a:gd name="connsiteX9-7823" fmla="*/ 750729 w 1419860"/>
                <a:gd name="connsiteY9-7824" fmla="*/ 823913 h 3588041"/>
                <a:gd name="connsiteX10-7825" fmla="*/ 375285 w 1419860"/>
                <a:gd name="connsiteY10-7826" fmla="*/ 695325 h 3588041"/>
                <a:gd name="connsiteX11-7827" fmla="*/ 771367 w 1419860"/>
                <a:gd name="connsiteY11-7828" fmla="*/ 734218 h 3588041"/>
                <a:gd name="connsiteX12-7829" fmla="*/ 786448 w 1419860"/>
                <a:gd name="connsiteY12-7830" fmla="*/ 441325 h 3588041"/>
                <a:gd name="connsiteX13-7831" fmla="*/ 873760 w 1419860"/>
                <a:gd name="connsiteY13-7832" fmla="*/ 0 h 3588041"/>
                <a:gd name="connsiteX14-7833" fmla="*/ 845185 w 1419860"/>
                <a:gd name="connsiteY14-7834" fmla="*/ 679450 h 3588041"/>
                <a:gd name="connsiteX15-7835" fmla="*/ 908685 w 1419860"/>
                <a:gd name="connsiteY15-7836" fmla="*/ 1047750 h 3588041"/>
                <a:gd name="connsiteX16-7837" fmla="*/ 918210 w 1419860"/>
                <a:gd name="connsiteY16-7838" fmla="*/ 1295400 h 3588041"/>
                <a:gd name="connsiteX17-7839" fmla="*/ 1089660 w 1419860"/>
                <a:gd name="connsiteY17-7840" fmla="*/ 1187450 h 3588041"/>
                <a:gd name="connsiteX18-7841" fmla="*/ 1362710 w 1419860"/>
                <a:gd name="connsiteY18-7842" fmla="*/ 1171575 h 3588041"/>
                <a:gd name="connsiteX19-7843" fmla="*/ 1096010 w 1419860"/>
                <a:gd name="connsiteY19-7844" fmla="*/ 1254125 h 3588041"/>
                <a:gd name="connsiteX20-7845" fmla="*/ 876935 w 1419860"/>
                <a:gd name="connsiteY20-7846" fmla="*/ 1527175 h 3588041"/>
                <a:gd name="connsiteX21-7847" fmla="*/ 822960 w 1419860"/>
                <a:gd name="connsiteY21-7848" fmla="*/ 1895475 h 3588041"/>
                <a:gd name="connsiteX22-7849" fmla="*/ 991235 w 1419860"/>
                <a:gd name="connsiteY22-7850" fmla="*/ 2308225 h 3588041"/>
                <a:gd name="connsiteX23-7851" fmla="*/ 883285 w 1419860"/>
                <a:gd name="connsiteY23-7852" fmla="*/ 2578100 h 3588041"/>
                <a:gd name="connsiteX24-7853" fmla="*/ 1153160 w 1419860"/>
                <a:gd name="connsiteY24-7854" fmla="*/ 2524125 h 3588041"/>
                <a:gd name="connsiteX25-7855" fmla="*/ 1419860 w 1419860"/>
                <a:gd name="connsiteY25-7856" fmla="*/ 2626519 h 3588041"/>
                <a:gd name="connsiteX26-7857" fmla="*/ 1175385 w 1419860"/>
                <a:gd name="connsiteY26-7858" fmla="*/ 2590800 h 3588041"/>
                <a:gd name="connsiteX27-7859" fmla="*/ 819785 w 1419860"/>
                <a:gd name="connsiteY27-7860" fmla="*/ 2733675 h 3588041"/>
                <a:gd name="connsiteX28-7861" fmla="*/ 676910 w 1419860"/>
                <a:gd name="connsiteY28-7862" fmla="*/ 3086100 h 3588041"/>
                <a:gd name="connsiteX29-7863" fmla="*/ 905510 w 1419860"/>
                <a:gd name="connsiteY29-7864" fmla="*/ 3419475 h 3588041"/>
                <a:gd name="connsiteX30-7865" fmla="*/ 1003935 w 1419860"/>
                <a:gd name="connsiteY30-7866" fmla="*/ 3581400 h 3588041"/>
                <a:gd name="connsiteX0-7867" fmla="*/ 1003935 w 1419860"/>
                <a:gd name="connsiteY0-7868" fmla="*/ 3581400 h 3588041"/>
                <a:gd name="connsiteX1-7869" fmla="*/ 578485 w 1419860"/>
                <a:gd name="connsiteY1-7870" fmla="*/ 3587750 h 3588041"/>
                <a:gd name="connsiteX2-7871" fmla="*/ 381635 w 1419860"/>
                <a:gd name="connsiteY2-7872" fmla="*/ 3076575 h 3588041"/>
                <a:gd name="connsiteX3-7873" fmla="*/ 734060 w 1419860"/>
                <a:gd name="connsiteY3-7874" fmla="*/ 2381250 h 3588041"/>
                <a:gd name="connsiteX4-7875" fmla="*/ 569595 w 1419860"/>
                <a:gd name="connsiteY4-7876" fmla="*/ 1953895 h 3588041"/>
                <a:gd name="connsiteX5-7877" fmla="*/ 0 w 1419860"/>
                <a:gd name="connsiteY5-7878" fmla="*/ 1902460 h 3588041"/>
                <a:gd name="connsiteX6-7879" fmla="*/ 318135 w 1419860"/>
                <a:gd name="connsiteY6-7880" fmla="*/ 1812925 h 3588041"/>
                <a:gd name="connsiteX7-7881" fmla="*/ 622935 w 1419860"/>
                <a:gd name="connsiteY7-7882" fmla="*/ 1879600 h 3588041"/>
                <a:gd name="connsiteX8-7883" fmla="*/ 810260 w 1419860"/>
                <a:gd name="connsiteY8-7884" fmla="*/ 1333500 h 3588041"/>
                <a:gd name="connsiteX9-7885" fmla="*/ 750729 w 1419860"/>
                <a:gd name="connsiteY9-7886" fmla="*/ 823913 h 3588041"/>
                <a:gd name="connsiteX10-7887" fmla="*/ 375285 w 1419860"/>
                <a:gd name="connsiteY10-7888" fmla="*/ 695325 h 3588041"/>
                <a:gd name="connsiteX11-7889" fmla="*/ 771367 w 1419860"/>
                <a:gd name="connsiteY11-7890" fmla="*/ 734218 h 3588041"/>
                <a:gd name="connsiteX12-7891" fmla="*/ 786448 w 1419860"/>
                <a:gd name="connsiteY12-7892" fmla="*/ 441325 h 3588041"/>
                <a:gd name="connsiteX13-7893" fmla="*/ 873760 w 1419860"/>
                <a:gd name="connsiteY13-7894" fmla="*/ 0 h 3588041"/>
                <a:gd name="connsiteX14-7895" fmla="*/ 845185 w 1419860"/>
                <a:gd name="connsiteY14-7896" fmla="*/ 679450 h 3588041"/>
                <a:gd name="connsiteX15-7897" fmla="*/ 908685 w 1419860"/>
                <a:gd name="connsiteY15-7898" fmla="*/ 1047750 h 3588041"/>
                <a:gd name="connsiteX16-7899" fmla="*/ 918210 w 1419860"/>
                <a:gd name="connsiteY16-7900" fmla="*/ 1295400 h 3588041"/>
                <a:gd name="connsiteX17-7901" fmla="*/ 1089660 w 1419860"/>
                <a:gd name="connsiteY17-7902" fmla="*/ 1187450 h 3588041"/>
                <a:gd name="connsiteX18-7903" fmla="*/ 1362710 w 1419860"/>
                <a:gd name="connsiteY18-7904" fmla="*/ 1171575 h 3588041"/>
                <a:gd name="connsiteX19-7905" fmla="*/ 1096010 w 1419860"/>
                <a:gd name="connsiteY19-7906" fmla="*/ 1254125 h 3588041"/>
                <a:gd name="connsiteX20-7907" fmla="*/ 876935 w 1419860"/>
                <a:gd name="connsiteY20-7908" fmla="*/ 1527175 h 3588041"/>
                <a:gd name="connsiteX21-7909" fmla="*/ 822960 w 1419860"/>
                <a:gd name="connsiteY21-7910" fmla="*/ 1895475 h 3588041"/>
                <a:gd name="connsiteX22-7911" fmla="*/ 991235 w 1419860"/>
                <a:gd name="connsiteY22-7912" fmla="*/ 2308225 h 3588041"/>
                <a:gd name="connsiteX23-7913" fmla="*/ 883285 w 1419860"/>
                <a:gd name="connsiteY23-7914" fmla="*/ 2578100 h 3588041"/>
                <a:gd name="connsiteX24-7915" fmla="*/ 1153160 w 1419860"/>
                <a:gd name="connsiteY24-7916" fmla="*/ 2524125 h 3588041"/>
                <a:gd name="connsiteX25-7917" fmla="*/ 1419860 w 1419860"/>
                <a:gd name="connsiteY25-7918" fmla="*/ 2626519 h 3588041"/>
                <a:gd name="connsiteX26-7919" fmla="*/ 1175385 w 1419860"/>
                <a:gd name="connsiteY26-7920" fmla="*/ 2590800 h 3588041"/>
                <a:gd name="connsiteX27-7921" fmla="*/ 819785 w 1419860"/>
                <a:gd name="connsiteY27-7922" fmla="*/ 2733675 h 3588041"/>
                <a:gd name="connsiteX28-7923" fmla="*/ 676910 w 1419860"/>
                <a:gd name="connsiteY28-7924" fmla="*/ 3086100 h 3588041"/>
                <a:gd name="connsiteX29-7925" fmla="*/ 905510 w 1419860"/>
                <a:gd name="connsiteY29-7926" fmla="*/ 3419475 h 3588041"/>
                <a:gd name="connsiteX30-7927" fmla="*/ 1003935 w 1419860"/>
                <a:gd name="connsiteY30-7928" fmla="*/ 3581400 h 3588041"/>
                <a:gd name="connsiteX0-7929" fmla="*/ 1010285 w 1426210"/>
                <a:gd name="connsiteY0-7930" fmla="*/ 3581400 h 3588041"/>
                <a:gd name="connsiteX1-7931" fmla="*/ 584835 w 1426210"/>
                <a:gd name="connsiteY1-7932" fmla="*/ 3587750 h 3588041"/>
                <a:gd name="connsiteX2-7933" fmla="*/ 387985 w 1426210"/>
                <a:gd name="connsiteY2-7934" fmla="*/ 3076575 h 3588041"/>
                <a:gd name="connsiteX3-7935" fmla="*/ 740410 w 1426210"/>
                <a:gd name="connsiteY3-7936" fmla="*/ 2381250 h 3588041"/>
                <a:gd name="connsiteX4-7937" fmla="*/ 575945 w 1426210"/>
                <a:gd name="connsiteY4-7938" fmla="*/ 1953895 h 3588041"/>
                <a:gd name="connsiteX5-7939" fmla="*/ 0 w 1426210"/>
                <a:gd name="connsiteY5-7940" fmla="*/ 1937385 h 3588041"/>
                <a:gd name="connsiteX6-7941" fmla="*/ 324485 w 1426210"/>
                <a:gd name="connsiteY6-7942" fmla="*/ 1812925 h 3588041"/>
                <a:gd name="connsiteX7-7943" fmla="*/ 629285 w 1426210"/>
                <a:gd name="connsiteY7-7944" fmla="*/ 1879600 h 3588041"/>
                <a:gd name="connsiteX8-7945" fmla="*/ 816610 w 1426210"/>
                <a:gd name="connsiteY8-7946" fmla="*/ 1333500 h 3588041"/>
                <a:gd name="connsiteX9-7947" fmla="*/ 757079 w 1426210"/>
                <a:gd name="connsiteY9-7948" fmla="*/ 823913 h 3588041"/>
                <a:gd name="connsiteX10-7949" fmla="*/ 381635 w 1426210"/>
                <a:gd name="connsiteY10-7950" fmla="*/ 695325 h 3588041"/>
                <a:gd name="connsiteX11-7951" fmla="*/ 777717 w 1426210"/>
                <a:gd name="connsiteY11-7952" fmla="*/ 734218 h 3588041"/>
                <a:gd name="connsiteX12-7953" fmla="*/ 792798 w 1426210"/>
                <a:gd name="connsiteY12-7954" fmla="*/ 441325 h 3588041"/>
                <a:gd name="connsiteX13-7955" fmla="*/ 880110 w 1426210"/>
                <a:gd name="connsiteY13-7956" fmla="*/ 0 h 3588041"/>
                <a:gd name="connsiteX14-7957" fmla="*/ 851535 w 1426210"/>
                <a:gd name="connsiteY14-7958" fmla="*/ 679450 h 3588041"/>
                <a:gd name="connsiteX15-7959" fmla="*/ 915035 w 1426210"/>
                <a:gd name="connsiteY15-7960" fmla="*/ 1047750 h 3588041"/>
                <a:gd name="connsiteX16-7961" fmla="*/ 924560 w 1426210"/>
                <a:gd name="connsiteY16-7962" fmla="*/ 1295400 h 3588041"/>
                <a:gd name="connsiteX17-7963" fmla="*/ 1096010 w 1426210"/>
                <a:gd name="connsiteY17-7964" fmla="*/ 1187450 h 3588041"/>
                <a:gd name="connsiteX18-7965" fmla="*/ 1369060 w 1426210"/>
                <a:gd name="connsiteY18-7966" fmla="*/ 1171575 h 3588041"/>
                <a:gd name="connsiteX19-7967" fmla="*/ 1102360 w 1426210"/>
                <a:gd name="connsiteY19-7968" fmla="*/ 1254125 h 3588041"/>
                <a:gd name="connsiteX20-7969" fmla="*/ 883285 w 1426210"/>
                <a:gd name="connsiteY20-7970" fmla="*/ 1527175 h 3588041"/>
                <a:gd name="connsiteX21-7971" fmla="*/ 829310 w 1426210"/>
                <a:gd name="connsiteY21-7972" fmla="*/ 1895475 h 3588041"/>
                <a:gd name="connsiteX22-7973" fmla="*/ 997585 w 1426210"/>
                <a:gd name="connsiteY22-7974" fmla="*/ 2308225 h 3588041"/>
                <a:gd name="connsiteX23-7975" fmla="*/ 889635 w 1426210"/>
                <a:gd name="connsiteY23-7976" fmla="*/ 2578100 h 3588041"/>
                <a:gd name="connsiteX24-7977" fmla="*/ 1159510 w 1426210"/>
                <a:gd name="connsiteY24-7978" fmla="*/ 2524125 h 3588041"/>
                <a:gd name="connsiteX25-7979" fmla="*/ 1426210 w 1426210"/>
                <a:gd name="connsiteY25-7980" fmla="*/ 2626519 h 3588041"/>
                <a:gd name="connsiteX26-7981" fmla="*/ 1181735 w 1426210"/>
                <a:gd name="connsiteY26-7982" fmla="*/ 2590800 h 3588041"/>
                <a:gd name="connsiteX27-7983" fmla="*/ 826135 w 1426210"/>
                <a:gd name="connsiteY27-7984" fmla="*/ 2733675 h 3588041"/>
                <a:gd name="connsiteX28-7985" fmla="*/ 683260 w 1426210"/>
                <a:gd name="connsiteY28-7986" fmla="*/ 3086100 h 3588041"/>
                <a:gd name="connsiteX29-7987" fmla="*/ 911860 w 1426210"/>
                <a:gd name="connsiteY29-7988" fmla="*/ 3419475 h 3588041"/>
                <a:gd name="connsiteX30-7989" fmla="*/ 1010285 w 1426210"/>
                <a:gd name="connsiteY30-7990" fmla="*/ 3581400 h 3588041"/>
                <a:gd name="connsiteX0-7991" fmla="*/ 1010285 w 1426210"/>
                <a:gd name="connsiteY0-7992" fmla="*/ 3581400 h 3588041"/>
                <a:gd name="connsiteX1-7993" fmla="*/ 584835 w 1426210"/>
                <a:gd name="connsiteY1-7994" fmla="*/ 3587750 h 3588041"/>
                <a:gd name="connsiteX2-7995" fmla="*/ 387985 w 1426210"/>
                <a:gd name="connsiteY2-7996" fmla="*/ 3076575 h 3588041"/>
                <a:gd name="connsiteX3-7997" fmla="*/ 740410 w 1426210"/>
                <a:gd name="connsiteY3-7998" fmla="*/ 2381250 h 3588041"/>
                <a:gd name="connsiteX4-7999" fmla="*/ 575945 w 1426210"/>
                <a:gd name="connsiteY4-8000" fmla="*/ 1953895 h 3588041"/>
                <a:gd name="connsiteX5-8001" fmla="*/ 0 w 1426210"/>
                <a:gd name="connsiteY5-8002" fmla="*/ 1937385 h 3588041"/>
                <a:gd name="connsiteX6-8003" fmla="*/ 324485 w 1426210"/>
                <a:gd name="connsiteY6-8004" fmla="*/ 1812925 h 3588041"/>
                <a:gd name="connsiteX7-8005" fmla="*/ 629285 w 1426210"/>
                <a:gd name="connsiteY7-8006" fmla="*/ 1879600 h 3588041"/>
                <a:gd name="connsiteX8-8007" fmla="*/ 816610 w 1426210"/>
                <a:gd name="connsiteY8-8008" fmla="*/ 1333500 h 3588041"/>
                <a:gd name="connsiteX9-8009" fmla="*/ 757079 w 1426210"/>
                <a:gd name="connsiteY9-8010" fmla="*/ 823913 h 3588041"/>
                <a:gd name="connsiteX10-8011" fmla="*/ 381635 w 1426210"/>
                <a:gd name="connsiteY10-8012" fmla="*/ 695325 h 3588041"/>
                <a:gd name="connsiteX11-8013" fmla="*/ 777717 w 1426210"/>
                <a:gd name="connsiteY11-8014" fmla="*/ 734218 h 3588041"/>
                <a:gd name="connsiteX12-8015" fmla="*/ 792798 w 1426210"/>
                <a:gd name="connsiteY12-8016" fmla="*/ 441325 h 3588041"/>
                <a:gd name="connsiteX13-8017" fmla="*/ 880110 w 1426210"/>
                <a:gd name="connsiteY13-8018" fmla="*/ 0 h 3588041"/>
                <a:gd name="connsiteX14-8019" fmla="*/ 851535 w 1426210"/>
                <a:gd name="connsiteY14-8020" fmla="*/ 679450 h 3588041"/>
                <a:gd name="connsiteX15-8021" fmla="*/ 915035 w 1426210"/>
                <a:gd name="connsiteY15-8022" fmla="*/ 1047750 h 3588041"/>
                <a:gd name="connsiteX16-8023" fmla="*/ 924560 w 1426210"/>
                <a:gd name="connsiteY16-8024" fmla="*/ 1295400 h 3588041"/>
                <a:gd name="connsiteX17-8025" fmla="*/ 1096010 w 1426210"/>
                <a:gd name="connsiteY17-8026" fmla="*/ 1187450 h 3588041"/>
                <a:gd name="connsiteX18-8027" fmla="*/ 1369060 w 1426210"/>
                <a:gd name="connsiteY18-8028" fmla="*/ 1171575 h 3588041"/>
                <a:gd name="connsiteX19-8029" fmla="*/ 1102360 w 1426210"/>
                <a:gd name="connsiteY19-8030" fmla="*/ 1254125 h 3588041"/>
                <a:gd name="connsiteX20-8031" fmla="*/ 883285 w 1426210"/>
                <a:gd name="connsiteY20-8032" fmla="*/ 1527175 h 3588041"/>
                <a:gd name="connsiteX21-8033" fmla="*/ 829310 w 1426210"/>
                <a:gd name="connsiteY21-8034" fmla="*/ 1895475 h 3588041"/>
                <a:gd name="connsiteX22-8035" fmla="*/ 997585 w 1426210"/>
                <a:gd name="connsiteY22-8036" fmla="*/ 2308225 h 3588041"/>
                <a:gd name="connsiteX23-8037" fmla="*/ 889635 w 1426210"/>
                <a:gd name="connsiteY23-8038" fmla="*/ 2578100 h 3588041"/>
                <a:gd name="connsiteX24-8039" fmla="*/ 1159510 w 1426210"/>
                <a:gd name="connsiteY24-8040" fmla="*/ 2524125 h 3588041"/>
                <a:gd name="connsiteX25-8041" fmla="*/ 1426210 w 1426210"/>
                <a:gd name="connsiteY25-8042" fmla="*/ 2626519 h 3588041"/>
                <a:gd name="connsiteX26-8043" fmla="*/ 1181735 w 1426210"/>
                <a:gd name="connsiteY26-8044" fmla="*/ 2590800 h 3588041"/>
                <a:gd name="connsiteX27-8045" fmla="*/ 826135 w 1426210"/>
                <a:gd name="connsiteY27-8046" fmla="*/ 2733675 h 3588041"/>
                <a:gd name="connsiteX28-8047" fmla="*/ 683260 w 1426210"/>
                <a:gd name="connsiteY28-8048" fmla="*/ 3086100 h 3588041"/>
                <a:gd name="connsiteX29-8049" fmla="*/ 911860 w 1426210"/>
                <a:gd name="connsiteY29-8050" fmla="*/ 3419475 h 3588041"/>
                <a:gd name="connsiteX30-8051" fmla="*/ 1010285 w 1426210"/>
                <a:gd name="connsiteY30-8052" fmla="*/ 3581400 h 3588041"/>
                <a:gd name="connsiteX0-8053" fmla="*/ 1010285 w 1426210"/>
                <a:gd name="connsiteY0-8054" fmla="*/ 3581400 h 3588041"/>
                <a:gd name="connsiteX1-8055" fmla="*/ 584835 w 1426210"/>
                <a:gd name="connsiteY1-8056" fmla="*/ 3587750 h 3588041"/>
                <a:gd name="connsiteX2-8057" fmla="*/ 387985 w 1426210"/>
                <a:gd name="connsiteY2-8058" fmla="*/ 3076575 h 3588041"/>
                <a:gd name="connsiteX3-8059" fmla="*/ 740410 w 1426210"/>
                <a:gd name="connsiteY3-8060" fmla="*/ 2381250 h 3588041"/>
                <a:gd name="connsiteX4-8061" fmla="*/ 575945 w 1426210"/>
                <a:gd name="connsiteY4-8062" fmla="*/ 1953895 h 3588041"/>
                <a:gd name="connsiteX5-8063" fmla="*/ 0 w 1426210"/>
                <a:gd name="connsiteY5-8064" fmla="*/ 1937385 h 3588041"/>
                <a:gd name="connsiteX6-8065" fmla="*/ 280035 w 1426210"/>
                <a:gd name="connsiteY6-8066" fmla="*/ 1822450 h 3588041"/>
                <a:gd name="connsiteX7-8067" fmla="*/ 629285 w 1426210"/>
                <a:gd name="connsiteY7-8068" fmla="*/ 1879600 h 3588041"/>
                <a:gd name="connsiteX8-8069" fmla="*/ 816610 w 1426210"/>
                <a:gd name="connsiteY8-8070" fmla="*/ 1333500 h 3588041"/>
                <a:gd name="connsiteX9-8071" fmla="*/ 757079 w 1426210"/>
                <a:gd name="connsiteY9-8072" fmla="*/ 823913 h 3588041"/>
                <a:gd name="connsiteX10-8073" fmla="*/ 381635 w 1426210"/>
                <a:gd name="connsiteY10-8074" fmla="*/ 695325 h 3588041"/>
                <a:gd name="connsiteX11-8075" fmla="*/ 777717 w 1426210"/>
                <a:gd name="connsiteY11-8076" fmla="*/ 734218 h 3588041"/>
                <a:gd name="connsiteX12-8077" fmla="*/ 792798 w 1426210"/>
                <a:gd name="connsiteY12-8078" fmla="*/ 441325 h 3588041"/>
                <a:gd name="connsiteX13-8079" fmla="*/ 880110 w 1426210"/>
                <a:gd name="connsiteY13-8080" fmla="*/ 0 h 3588041"/>
                <a:gd name="connsiteX14-8081" fmla="*/ 851535 w 1426210"/>
                <a:gd name="connsiteY14-8082" fmla="*/ 679450 h 3588041"/>
                <a:gd name="connsiteX15-8083" fmla="*/ 915035 w 1426210"/>
                <a:gd name="connsiteY15-8084" fmla="*/ 1047750 h 3588041"/>
                <a:gd name="connsiteX16-8085" fmla="*/ 924560 w 1426210"/>
                <a:gd name="connsiteY16-8086" fmla="*/ 1295400 h 3588041"/>
                <a:gd name="connsiteX17-8087" fmla="*/ 1096010 w 1426210"/>
                <a:gd name="connsiteY17-8088" fmla="*/ 1187450 h 3588041"/>
                <a:gd name="connsiteX18-8089" fmla="*/ 1369060 w 1426210"/>
                <a:gd name="connsiteY18-8090" fmla="*/ 1171575 h 3588041"/>
                <a:gd name="connsiteX19-8091" fmla="*/ 1102360 w 1426210"/>
                <a:gd name="connsiteY19-8092" fmla="*/ 1254125 h 3588041"/>
                <a:gd name="connsiteX20-8093" fmla="*/ 883285 w 1426210"/>
                <a:gd name="connsiteY20-8094" fmla="*/ 1527175 h 3588041"/>
                <a:gd name="connsiteX21-8095" fmla="*/ 829310 w 1426210"/>
                <a:gd name="connsiteY21-8096" fmla="*/ 1895475 h 3588041"/>
                <a:gd name="connsiteX22-8097" fmla="*/ 997585 w 1426210"/>
                <a:gd name="connsiteY22-8098" fmla="*/ 2308225 h 3588041"/>
                <a:gd name="connsiteX23-8099" fmla="*/ 889635 w 1426210"/>
                <a:gd name="connsiteY23-8100" fmla="*/ 2578100 h 3588041"/>
                <a:gd name="connsiteX24-8101" fmla="*/ 1159510 w 1426210"/>
                <a:gd name="connsiteY24-8102" fmla="*/ 2524125 h 3588041"/>
                <a:gd name="connsiteX25-8103" fmla="*/ 1426210 w 1426210"/>
                <a:gd name="connsiteY25-8104" fmla="*/ 2626519 h 3588041"/>
                <a:gd name="connsiteX26-8105" fmla="*/ 1181735 w 1426210"/>
                <a:gd name="connsiteY26-8106" fmla="*/ 2590800 h 3588041"/>
                <a:gd name="connsiteX27-8107" fmla="*/ 826135 w 1426210"/>
                <a:gd name="connsiteY27-8108" fmla="*/ 2733675 h 3588041"/>
                <a:gd name="connsiteX28-8109" fmla="*/ 683260 w 1426210"/>
                <a:gd name="connsiteY28-8110" fmla="*/ 3086100 h 3588041"/>
                <a:gd name="connsiteX29-8111" fmla="*/ 911860 w 1426210"/>
                <a:gd name="connsiteY29-8112" fmla="*/ 3419475 h 3588041"/>
                <a:gd name="connsiteX30-8113" fmla="*/ 1010285 w 1426210"/>
                <a:gd name="connsiteY30-8114" fmla="*/ 3581400 h 3588041"/>
                <a:gd name="connsiteX0-8115" fmla="*/ 1010285 w 1426210"/>
                <a:gd name="connsiteY0-8116" fmla="*/ 3581400 h 3588041"/>
                <a:gd name="connsiteX1-8117" fmla="*/ 584835 w 1426210"/>
                <a:gd name="connsiteY1-8118" fmla="*/ 3587750 h 3588041"/>
                <a:gd name="connsiteX2-8119" fmla="*/ 387985 w 1426210"/>
                <a:gd name="connsiteY2-8120" fmla="*/ 3076575 h 3588041"/>
                <a:gd name="connsiteX3-8121" fmla="*/ 740410 w 1426210"/>
                <a:gd name="connsiteY3-8122" fmla="*/ 2381250 h 3588041"/>
                <a:gd name="connsiteX4-8123" fmla="*/ 575945 w 1426210"/>
                <a:gd name="connsiteY4-8124" fmla="*/ 1953895 h 3588041"/>
                <a:gd name="connsiteX5-8125" fmla="*/ 0 w 1426210"/>
                <a:gd name="connsiteY5-8126" fmla="*/ 1937385 h 3588041"/>
                <a:gd name="connsiteX6-8127" fmla="*/ 308610 w 1426210"/>
                <a:gd name="connsiteY6-8128" fmla="*/ 1828800 h 3588041"/>
                <a:gd name="connsiteX7-8129" fmla="*/ 629285 w 1426210"/>
                <a:gd name="connsiteY7-8130" fmla="*/ 1879600 h 3588041"/>
                <a:gd name="connsiteX8-8131" fmla="*/ 816610 w 1426210"/>
                <a:gd name="connsiteY8-8132" fmla="*/ 1333500 h 3588041"/>
                <a:gd name="connsiteX9-8133" fmla="*/ 757079 w 1426210"/>
                <a:gd name="connsiteY9-8134" fmla="*/ 823913 h 3588041"/>
                <a:gd name="connsiteX10-8135" fmla="*/ 381635 w 1426210"/>
                <a:gd name="connsiteY10-8136" fmla="*/ 695325 h 3588041"/>
                <a:gd name="connsiteX11-8137" fmla="*/ 777717 w 1426210"/>
                <a:gd name="connsiteY11-8138" fmla="*/ 734218 h 3588041"/>
                <a:gd name="connsiteX12-8139" fmla="*/ 792798 w 1426210"/>
                <a:gd name="connsiteY12-8140" fmla="*/ 441325 h 3588041"/>
                <a:gd name="connsiteX13-8141" fmla="*/ 880110 w 1426210"/>
                <a:gd name="connsiteY13-8142" fmla="*/ 0 h 3588041"/>
                <a:gd name="connsiteX14-8143" fmla="*/ 851535 w 1426210"/>
                <a:gd name="connsiteY14-8144" fmla="*/ 679450 h 3588041"/>
                <a:gd name="connsiteX15-8145" fmla="*/ 915035 w 1426210"/>
                <a:gd name="connsiteY15-8146" fmla="*/ 1047750 h 3588041"/>
                <a:gd name="connsiteX16-8147" fmla="*/ 924560 w 1426210"/>
                <a:gd name="connsiteY16-8148" fmla="*/ 1295400 h 3588041"/>
                <a:gd name="connsiteX17-8149" fmla="*/ 1096010 w 1426210"/>
                <a:gd name="connsiteY17-8150" fmla="*/ 1187450 h 3588041"/>
                <a:gd name="connsiteX18-8151" fmla="*/ 1369060 w 1426210"/>
                <a:gd name="connsiteY18-8152" fmla="*/ 1171575 h 3588041"/>
                <a:gd name="connsiteX19-8153" fmla="*/ 1102360 w 1426210"/>
                <a:gd name="connsiteY19-8154" fmla="*/ 1254125 h 3588041"/>
                <a:gd name="connsiteX20-8155" fmla="*/ 883285 w 1426210"/>
                <a:gd name="connsiteY20-8156" fmla="*/ 1527175 h 3588041"/>
                <a:gd name="connsiteX21-8157" fmla="*/ 829310 w 1426210"/>
                <a:gd name="connsiteY21-8158" fmla="*/ 1895475 h 3588041"/>
                <a:gd name="connsiteX22-8159" fmla="*/ 997585 w 1426210"/>
                <a:gd name="connsiteY22-8160" fmla="*/ 2308225 h 3588041"/>
                <a:gd name="connsiteX23-8161" fmla="*/ 889635 w 1426210"/>
                <a:gd name="connsiteY23-8162" fmla="*/ 2578100 h 3588041"/>
                <a:gd name="connsiteX24-8163" fmla="*/ 1159510 w 1426210"/>
                <a:gd name="connsiteY24-8164" fmla="*/ 2524125 h 3588041"/>
                <a:gd name="connsiteX25-8165" fmla="*/ 1426210 w 1426210"/>
                <a:gd name="connsiteY25-8166" fmla="*/ 2626519 h 3588041"/>
                <a:gd name="connsiteX26-8167" fmla="*/ 1181735 w 1426210"/>
                <a:gd name="connsiteY26-8168" fmla="*/ 2590800 h 3588041"/>
                <a:gd name="connsiteX27-8169" fmla="*/ 826135 w 1426210"/>
                <a:gd name="connsiteY27-8170" fmla="*/ 2733675 h 3588041"/>
                <a:gd name="connsiteX28-8171" fmla="*/ 683260 w 1426210"/>
                <a:gd name="connsiteY28-8172" fmla="*/ 3086100 h 3588041"/>
                <a:gd name="connsiteX29-8173" fmla="*/ 911860 w 1426210"/>
                <a:gd name="connsiteY29-8174" fmla="*/ 3419475 h 3588041"/>
                <a:gd name="connsiteX30-8175" fmla="*/ 1010285 w 1426210"/>
                <a:gd name="connsiteY30-8176" fmla="*/ 3581400 h 3588041"/>
                <a:gd name="connsiteX0-8177" fmla="*/ 1010285 w 1426210"/>
                <a:gd name="connsiteY0-8178" fmla="*/ 3581400 h 3588041"/>
                <a:gd name="connsiteX1-8179" fmla="*/ 584835 w 1426210"/>
                <a:gd name="connsiteY1-8180" fmla="*/ 3587750 h 3588041"/>
                <a:gd name="connsiteX2-8181" fmla="*/ 387985 w 1426210"/>
                <a:gd name="connsiteY2-8182" fmla="*/ 3076575 h 3588041"/>
                <a:gd name="connsiteX3-8183" fmla="*/ 740410 w 1426210"/>
                <a:gd name="connsiteY3-8184" fmla="*/ 2381250 h 3588041"/>
                <a:gd name="connsiteX4-8185" fmla="*/ 575945 w 1426210"/>
                <a:gd name="connsiteY4-8186" fmla="*/ 1953895 h 3588041"/>
                <a:gd name="connsiteX5-8187" fmla="*/ 0 w 1426210"/>
                <a:gd name="connsiteY5-8188" fmla="*/ 1937385 h 3588041"/>
                <a:gd name="connsiteX6-8189" fmla="*/ 308610 w 1426210"/>
                <a:gd name="connsiteY6-8190" fmla="*/ 1828800 h 3588041"/>
                <a:gd name="connsiteX7-8191" fmla="*/ 629285 w 1426210"/>
                <a:gd name="connsiteY7-8192" fmla="*/ 1879600 h 3588041"/>
                <a:gd name="connsiteX8-8193" fmla="*/ 816610 w 1426210"/>
                <a:gd name="connsiteY8-8194" fmla="*/ 1333500 h 3588041"/>
                <a:gd name="connsiteX9-8195" fmla="*/ 757079 w 1426210"/>
                <a:gd name="connsiteY9-8196" fmla="*/ 823913 h 3588041"/>
                <a:gd name="connsiteX10-8197" fmla="*/ 381635 w 1426210"/>
                <a:gd name="connsiteY10-8198" fmla="*/ 695325 h 3588041"/>
                <a:gd name="connsiteX11-8199" fmla="*/ 777717 w 1426210"/>
                <a:gd name="connsiteY11-8200" fmla="*/ 734218 h 3588041"/>
                <a:gd name="connsiteX12-8201" fmla="*/ 792798 w 1426210"/>
                <a:gd name="connsiteY12-8202" fmla="*/ 441325 h 3588041"/>
                <a:gd name="connsiteX13-8203" fmla="*/ 880110 w 1426210"/>
                <a:gd name="connsiteY13-8204" fmla="*/ 0 h 3588041"/>
                <a:gd name="connsiteX14-8205" fmla="*/ 851535 w 1426210"/>
                <a:gd name="connsiteY14-8206" fmla="*/ 679450 h 3588041"/>
                <a:gd name="connsiteX15-8207" fmla="*/ 915035 w 1426210"/>
                <a:gd name="connsiteY15-8208" fmla="*/ 1047750 h 3588041"/>
                <a:gd name="connsiteX16-8209" fmla="*/ 924560 w 1426210"/>
                <a:gd name="connsiteY16-8210" fmla="*/ 1295400 h 3588041"/>
                <a:gd name="connsiteX17-8211" fmla="*/ 1096010 w 1426210"/>
                <a:gd name="connsiteY17-8212" fmla="*/ 1187450 h 3588041"/>
                <a:gd name="connsiteX18-8213" fmla="*/ 1369060 w 1426210"/>
                <a:gd name="connsiteY18-8214" fmla="*/ 1171575 h 3588041"/>
                <a:gd name="connsiteX19-8215" fmla="*/ 1102360 w 1426210"/>
                <a:gd name="connsiteY19-8216" fmla="*/ 1254125 h 3588041"/>
                <a:gd name="connsiteX20-8217" fmla="*/ 883285 w 1426210"/>
                <a:gd name="connsiteY20-8218" fmla="*/ 1527175 h 3588041"/>
                <a:gd name="connsiteX21-8219" fmla="*/ 829310 w 1426210"/>
                <a:gd name="connsiteY21-8220" fmla="*/ 1895475 h 3588041"/>
                <a:gd name="connsiteX22-8221" fmla="*/ 997585 w 1426210"/>
                <a:gd name="connsiteY22-8222" fmla="*/ 2308225 h 3588041"/>
                <a:gd name="connsiteX23-8223" fmla="*/ 889635 w 1426210"/>
                <a:gd name="connsiteY23-8224" fmla="*/ 2578100 h 3588041"/>
                <a:gd name="connsiteX24-8225" fmla="*/ 1159510 w 1426210"/>
                <a:gd name="connsiteY24-8226" fmla="*/ 2524125 h 3588041"/>
                <a:gd name="connsiteX25-8227" fmla="*/ 1426210 w 1426210"/>
                <a:gd name="connsiteY25-8228" fmla="*/ 2626519 h 3588041"/>
                <a:gd name="connsiteX26-8229" fmla="*/ 1181735 w 1426210"/>
                <a:gd name="connsiteY26-8230" fmla="*/ 2590800 h 3588041"/>
                <a:gd name="connsiteX27-8231" fmla="*/ 826135 w 1426210"/>
                <a:gd name="connsiteY27-8232" fmla="*/ 2733675 h 3588041"/>
                <a:gd name="connsiteX28-8233" fmla="*/ 683260 w 1426210"/>
                <a:gd name="connsiteY28-8234" fmla="*/ 3086100 h 3588041"/>
                <a:gd name="connsiteX29-8235" fmla="*/ 911860 w 1426210"/>
                <a:gd name="connsiteY29-8236" fmla="*/ 3419475 h 3588041"/>
                <a:gd name="connsiteX30-8237" fmla="*/ 1010285 w 1426210"/>
                <a:gd name="connsiteY30-8238" fmla="*/ 3581400 h 3588041"/>
                <a:gd name="connsiteX0-8239" fmla="*/ 1010285 w 1426210"/>
                <a:gd name="connsiteY0-8240" fmla="*/ 3581400 h 3588041"/>
                <a:gd name="connsiteX1-8241" fmla="*/ 584835 w 1426210"/>
                <a:gd name="connsiteY1-8242" fmla="*/ 3587750 h 3588041"/>
                <a:gd name="connsiteX2-8243" fmla="*/ 387985 w 1426210"/>
                <a:gd name="connsiteY2-8244" fmla="*/ 3076575 h 3588041"/>
                <a:gd name="connsiteX3-8245" fmla="*/ 740410 w 1426210"/>
                <a:gd name="connsiteY3-8246" fmla="*/ 2381250 h 3588041"/>
                <a:gd name="connsiteX4-8247" fmla="*/ 575945 w 1426210"/>
                <a:gd name="connsiteY4-8248" fmla="*/ 1953895 h 3588041"/>
                <a:gd name="connsiteX5-8249" fmla="*/ 0 w 1426210"/>
                <a:gd name="connsiteY5-8250" fmla="*/ 1937385 h 3588041"/>
                <a:gd name="connsiteX6-8251" fmla="*/ 308610 w 1426210"/>
                <a:gd name="connsiteY6-8252" fmla="*/ 1828800 h 3588041"/>
                <a:gd name="connsiteX7-8253" fmla="*/ 629285 w 1426210"/>
                <a:gd name="connsiteY7-8254" fmla="*/ 1879600 h 3588041"/>
                <a:gd name="connsiteX8-8255" fmla="*/ 816610 w 1426210"/>
                <a:gd name="connsiteY8-8256" fmla="*/ 1333500 h 3588041"/>
                <a:gd name="connsiteX9-8257" fmla="*/ 757079 w 1426210"/>
                <a:gd name="connsiteY9-8258" fmla="*/ 823913 h 3588041"/>
                <a:gd name="connsiteX10-8259" fmla="*/ 381635 w 1426210"/>
                <a:gd name="connsiteY10-8260" fmla="*/ 695325 h 3588041"/>
                <a:gd name="connsiteX11-8261" fmla="*/ 777717 w 1426210"/>
                <a:gd name="connsiteY11-8262" fmla="*/ 734218 h 3588041"/>
                <a:gd name="connsiteX12-8263" fmla="*/ 792798 w 1426210"/>
                <a:gd name="connsiteY12-8264" fmla="*/ 441325 h 3588041"/>
                <a:gd name="connsiteX13-8265" fmla="*/ 880110 w 1426210"/>
                <a:gd name="connsiteY13-8266" fmla="*/ 0 h 3588041"/>
                <a:gd name="connsiteX14-8267" fmla="*/ 851535 w 1426210"/>
                <a:gd name="connsiteY14-8268" fmla="*/ 679450 h 3588041"/>
                <a:gd name="connsiteX15-8269" fmla="*/ 915035 w 1426210"/>
                <a:gd name="connsiteY15-8270" fmla="*/ 1047750 h 3588041"/>
                <a:gd name="connsiteX16-8271" fmla="*/ 924560 w 1426210"/>
                <a:gd name="connsiteY16-8272" fmla="*/ 1295400 h 3588041"/>
                <a:gd name="connsiteX17-8273" fmla="*/ 1096010 w 1426210"/>
                <a:gd name="connsiteY17-8274" fmla="*/ 1187450 h 3588041"/>
                <a:gd name="connsiteX18-8275" fmla="*/ 1369060 w 1426210"/>
                <a:gd name="connsiteY18-8276" fmla="*/ 1171575 h 3588041"/>
                <a:gd name="connsiteX19-8277" fmla="*/ 1102360 w 1426210"/>
                <a:gd name="connsiteY19-8278" fmla="*/ 1254125 h 3588041"/>
                <a:gd name="connsiteX20-8279" fmla="*/ 883285 w 1426210"/>
                <a:gd name="connsiteY20-8280" fmla="*/ 1527175 h 3588041"/>
                <a:gd name="connsiteX21-8281" fmla="*/ 829310 w 1426210"/>
                <a:gd name="connsiteY21-8282" fmla="*/ 1895475 h 3588041"/>
                <a:gd name="connsiteX22-8283" fmla="*/ 997585 w 1426210"/>
                <a:gd name="connsiteY22-8284" fmla="*/ 2308225 h 3588041"/>
                <a:gd name="connsiteX23-8285" fmla="*/ 889635 w 1426210"/>
                <a:gd name="connsiteY23-8286" fmla="*/ 2578100 h 3588041"/>
                <a:gd name="connsiteX24-8287" fmla="*/ 1159510 w 1426210"/>
                <a:gd name="connsiteY24-8288" fmla="*/ 2524125 h 3588041"/>
                <a:gd name="connsiteX25-8289" fmla="*/ 1426210 w 1426210"/>
                <a:gd name="connsiteY25-8290" fmla="*/ 2626519 h 3588041"/>
                <a:gd name="connsiteX26-8291" fmla="*/ 1181735 w 1426210"/>
                <a:gd name="connsiteY26-8292" fmla="*/ 2590800 h 3588041"/>
                <a:gd name="connsiteX27-8293" fmla="*/ 826135 w 1426210"/>
                <a:gd name="connsiteY27-8294" fmla="*/ 2733675 h 3588041"/>
                <a:gd name="connsiteX28-8295" fmla="*/ 683260 w 1426210"/>
                <a:gd name="connsiteY28-8296" fmla="*/ 3086100 h 3588041"/>
                <a:gd name="connsiteX29-8297" fmla="*/ 911860 w 1426210"/>
                <a:gd name="connsiteY29-8298" fmla="*/ 3419475 h 3588041"/>
                <a:gd name="connsiteX30-8299" fmla="*/ 1010285 w 1426210"/>
                <a:gd name="connsiteY30-8300" fmla="*/ 3581400 h 358804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Lst>
              <a:rect l="l" t="t" r="r" b="b"/>
              <a:pathLst>
                <a:path w="1426210" h="3588041">
                  <a:moveTo>
                    <a:pt x="1010285" y="3581400"/>
                  </a:moveTo>
                  <a:cubicBezTo>
                    <a:pt x="949431" y="3584046"/>
                    <a:pt x="774277" y="3589337"/>
                    <a:pt x="584835" y="3587750"/>
                  </a:cubicBezTo>
                  <a:cubicBezTo>
                    <a:pt x="395393" y="3586163"/>
                    <a:pt x="346181" y="3245908"/>
                    <a:pt x="387985" y="3076575"/>
                  </a:cubicBezTo>
                  <a:cubicBezTo>
                    <a:pt x="429789" y="2907242"/>
                    <a:pt x="709083" y="2568363"/>
                    <a:pt x="740410" y="2381250"/>
                  </a:cubicBezTo>
                  <a:cubicBezTo>
                    <a:pt x="771737" y="2194137"/>
                    <a:pt x="699347" y="2027873"/>
                    <a:pt x="575945" y="1953895"/>
                  </a:cubicBezTo>
                  <a:cubicBezTo>
                    <a:pt x="452543" y="1879918"/>
                    <a:pt x="246062" y="1906270"/>
                    <a:pt x="0" y="1937385"/>
                  </a:cubicBezTo>
                  <a:cubicBezTo>
                    <a:pt x="176213" y="1860550"/>
                    <a:pt x="191029" y="1847956"/>
                    <a:pt x="308610" y="1828800"/>
                  </a:cubicBezTo>
                  <a:cubicBezTo>
                    <a:pt x="426191" y="1809644"/>
                    <a:pt x="531390" y="1839912"/>
                    <a:pt x="629285" y="1879600"/>
                  </a:cubicBezTo>
                  <a:cubicBezTo>
                    <a:pt x="628492" y="1689101"/>
                    <a:pt x="795311" y="1509448"/>
                    <a:pt x="816610" y="1333500"/>
                  </a:cubicBezTo>
                  <a:cubicBezTo>
                    <a:pt x="837909" y="1157552"/>
                    <a:pt x="829575" y="930275"/>
                    <a:pt x="757079" y="823913"/>
                  </a:cubicBezTo>
                  <a:cubicBezTo>
                    <a:pt x="684583" y="717551"/>
                    <a:pt x="502814" y="711861"/>
                    <a:pt x="381635" y="695325"/>
                  </a:cubicBezTo>
                  <a:cubicBezTo>
                    <a:pt x="496200" y="695457"/>
                    <a:pt x="688553" y="665427"/>
                    <a:pt x="777717" y="734218"/>
                  </a:cubicBezTo>
                  <a:cubicBezTo>
                    <a:pt x="771631" y="617272"/>
                    <a:pt x="775733" y="563695"/>
                    <a:pt x="792798" y="441325"/>
                  </a:cubicBezTo>
                  <a:cubicBezTo>
                    <a:pt x="809864" y="318955"/>
                    <a:pt x="839364" y="250296"/>
                    <a:pt x="880110" y="0"/>
                  </a:cubicBezTo>
                  <a:cubicBezTo>
                    <a:pt x="876406" y="171979"/>
                    <a:pt x="845714" y="504825"/>
                    <a:pt x="851535" y="679450"/>
                  </a:cubicBezTo>
                  <a:cubicBezTo>
                    <a:pt x="857356" y="854075"/>
                    <a:pt x="902864" y="945092"/>
                    <a:pt x="915035" y="1047750"/>
                  </a:cubicBezTo>
                  <a:cubicBezTo>
                    <a:pt x="927206" y="1150408"/>
                    <a:pt x="929852" y="1162579"/>
                    <a:pt x="924560" y="1295400"/>
                  </a:cubicBezTo>
                  <a:cubicBezTo>
                    <a:pt x="989118" y="1225021"/>
                    <a:pt x="1040977" y="1204912"/>
                    <a:pt x="1096010" y="1187450"/>
                  </a:cubicBezTo>
                  <a:cubicBezTo>
                    <a:pt x="1151043" y="1169988"/>
                    <a:pt x="1235710" y="1164167"/>
                    <a:pt x="1369060" y="1171575"/>
                  </a:cubicBezTo>
                  <a:cubicBezTo>
                    <a:pt x="1276985" y="1188508"/>
                    <a:pt x="1183322" y="1194858"/>
                    <a:pt x="1102360" y="1254125"/>
                  </a:cubicBezTo>
                  <a:cubicBezTo>
                    <a:pt x="1021398" y="1313392"/>
                    <a:pt x="928793" y="1420283"/>
                    <a:pt x="883285" y="1527175"/>
                  </a:cubicBezTo>
                  <a:cubicBezTo>
                    <a:pt x="837777" y="1634067"/>
                    <a:pt x="810260" y="1765300"/>
                    <a:pt x="829310" y="1895475"/>
                  </a:cubicBezTo>
                  <a:cubicBezTo>
                    <a:pt x="848360" y="2025650"/>
                    <a:pt x="987531" y="2194454"/>
                    <a:pt x="997585" y="2308225"/>
                  </a:cubicBezTo>
                  <a:cubicBezTo>
                    <a:pt x="1007639" y="2421996"/>
                    <a:pt x="957898" y="2484438"/>
                    <a:pt x="889635" y="2578100"/>
                  </a:cubicBezTo>
                  <a:cubicBezTo>
                    <a:pt x="997584" y="2532062"/>
                    <a:pt x="1072462" y="2520817"/>
                    <a:pt x="1159510" y="2524125"/>
                  </a:cubicBezTo>
                  <a:cubicBezTo>
                    <a:pt x="1246558" y="2527433"/>
                    <a:pt x="1354242" y="2576512"/>
                    <a:pt x="1426210" y="2626519"/>
                  </a:cubicBezTo>
                  <a:cubicBezTo>
                    <a:pt x="1360066" y="2600325"/>
                    <a:pt x="1281747" y="2572941"/>
                    <a:pt x="1181735" y="2590800"/>
                  </a:cubicBezTo>
                  <a:cubicBezTo>
                    <a:pt x="1081723" y="2608659"/>
                    <a:pt x="909214" y="2651125"/>
                    <a:pt x="826135" y="2733675"/>
                  </a:cubicBezTo>
                  <a:cubicBezTo>
                    <a:pt x="743056" y="2816225"/>
                    <a:pt x="688022" y="2917825"/>
                    <a:pt x="683260" y="3086100"/>
                  </a:cubicBezTo>
                  <a:cubicBezTo>
                    <a:pt x="684848" y="3232150"/>
                    <a:pt x="851006" y="3349625"/>
                    <a:pt x="911860" y="3419475"/>
                  </a:cubicBezTo>
                  <a:cubicBezTo>
                    <a:pt x="972714" y="3489325"/>
                    <a:pt x="1071139" y="3578754"/>
                    <a:pt x="1010285" y="3581400"/>
                  </a:cubicBezTo>
                  <a:close/>
                </a:path>
              </a:pathLst>
            </a:custGeom>
            <a:solidFill>
              <a:schemeClr val="accent2"/>
            </a:solidFill>
            <a:ln>
              <a:noFill/>
            </a:ln>
            <a:effectLst>
              <a:outerShdw blurRad="203200" dist="381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13" name="组合 12"/>
            <p:cNvGrpSpPr/>
            <p:nvPr/>
          </p:nvGrpSpPr>
          <p:grpSpPr>
            <a:xfrm>
              <a:off x="4687714" y="4114800"/>
              <a:ext cx="698500" cy="698500"/>
              <a:chOff x="4687714" y="4114800"/>
              <a:chExt cx="698500" cy="698500"/>
            </a:xfrm>
          </p:grpSpPr>
          <p:sp>
            <p:nvSpPr>
              <p:cNvPr id="32" name="椭圆 31"/>
              <p:cNvSpPr/>
              <p:nvPr/>
            </p:nvSpPr>
            <p:spPr>
              <a:xfrm>
                <a:off x="4687714" y="4114800"/>
                <a:ext cx="698500" cy="698500"/>
              </a:xfrm>
              <a:prstGeom prst="ellipse">
                <a:avLst/>
              </a:prstGeom>
              <a:solidFill>
                <a:schemeClr val="accent1"/>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172"/>
              <p:cNvSpPr>
                <a:spLocks noChangeAspect="1" noEditPoints="1"/>
              </p:cNvSpPr>
              <p:nvPr/>
            </p:nvSpPr>
            <p:spPr bwMode="auto">
              <a:xfrm>
                <a:off x="4916679" y="4322993"/>
                <a:ext cx="240570" cy="255605"/>
              </a:xfrm>
              <a:custGeom>
                <a:avLst/>
                <a:gdLst>
                  <a:gd name="T0" fmla="*/ 75 w 89"/>
                  <a:gd name="T1" fmla="*/ 22 h 95"/>
                  <a:gd name="T2" fmla="*/ 89 w 89"/>
                  <a:gd name="T3" fmla="*/ 53 h 95"/>
                  <a:gd name="T4" fmla="*/ 78 w 89"/>
                  <a:gd name="T5" fmla="*/ 80 h 95"/>
                  <a:gd name="T6" fmla="*/ 47 w 89"/>
                  <a:gd name="T7" fmla="*/ 53 h 95"/>
                  <a:gd name="T8" fmla="*/ 75 w 89"/>
                  <a:gd name="T9" fmla="*/ 22 h 95"/>
                  <a:gd name="T10" fmla="*/ 76 w 89"/>
                  <a:gd name="T11" fmla="*/ 83 h 95"/>
                  <a:gd name="T12" fmla="*/ 69 w 89"/>
                  <a:gd name="T13" fmla="*/ 88 h 95"/>
                  <a:gd name="T14" fmla="*/ 74 w 89"/>
                  <a:gd name="T15" fmla="*/ 81 h 95"/>
                  <a:gd name="T16" fmla="*/ 76 w 89"/>
                  <a:gd name="T17" fmla="*/ 83 h 95"/>
                  <a:gd name="T18" fmla="*/ 64 w 89"/>
                  <a:gd name="T19" fmla="*/ 92 h 95"/>
                  <a:gd name="T20" fmla="*/ 72 w 89"/>
                  <a:gd name="T21" fmla="*/ 79 h 95"/>
                  <a:gd name="T22" fmla="*/ 70 w 89"/>
                  <a:gd name="T23" fmla="*/ 77 h 95"/>
                  <a:gd name="T24" fmla="*/ 60 w 89"/>
                  <a:gd name="T25" fmla="*/ 94 h 95"/>
                  <a:gd name="T26" fmla="*/ 64 w 89"/>
                  <a:gd name="T27" fmla="*/ 92 h 95"/>
                  <a:gd name="T28" fmla="*/ 58 w 89"/>
                  <a:gd name="T29" fmla="*/ 91 h 95"/>
                  <a:gd name="T30" fmla="*/ 67 w 89"/>
                  <a:gd name="T31" fmla="*/ 75 h 95"/>
                  <a:gd name="T32" fmla="*/ 65 w 89"/>
                  <a:gd name="T33" fmla="*/ 74 h 95"/>
                  <a:gd name="T34" fmla="*/ 57 w 89"/>
                  <a:gd name="T35" fmla="*/ 88 h 95"/>
                  <a:gd name="T36" fmla="*/ 58 w 89"/>
                  <a:gd name="T37" fmla="*/ 91 h 95"/>
                  <a:gd name="T38" fmla="*/ 56 w 89"/>
                  <a:gd name="T39" fmla="*/ 84 h 95"/>
                  <a:gd name="T40" fmla="*/ 63 w 89"/>
                  <a:gd name="T41" fmla="*/ 72 h 95"/>
                  <a:gd name="T42" fmla="*/ 61 w 89"/>
                  <a:gd name="T43" fmla="*/ 70 h 95"/>
                  <a:gd name="T44" fmla="*/ 55 w 89"/>
                  <a:gd name="T45" fmla="*/ 81 h 95"/>
                  <a:gd name="T46" fmla="*/ 56 w 89"/>
                  <a:gd name="T47" fmla="*/ 84 h 95"/>
                  <a:gd name="T48" fmla="*/ 53 w 89"/>
                  <a:gd name="T49" fmla="*/ 78 h 95"/>
                  <a:gd name="T50" fmla="*/ 59 w 89"/>
                  <a:gd name="T51" fmla="*/ 68 h 95"/>
                  <a:gd name="T52" fmla="*/ 57 w 89"/>
                  <a:gd name="T53" fmla="*/ 66 h 95"/>
                  <a:gd name="T54" fmla="*/ 52 w 89"/>
                  <a:gd name="T55" fmla="*/ 75 h 95"/>
                  <a:gd name="T56" fmla="*/ 53 w 89"/>
                  <a:gd name="T57" fmla="*/ 78 h 95"/>
                  <a:gd name="T58" fmla="*/ 51 w 89"/>
                  <a:gd name="T59" fmla="*/ 71 h 95"/>
                  <a:gd name="T60" fmla="*/ 55 w 89"/>
                  <a:gd name="T61" fmla="*/ 64 h 95"/>
                  <a:gd name="T62" fmla="*/ 53 w 89"/>
                  <a:gd name="T63" fmla="*/ 62 h 95"/>
                  <a:gd name="T64" fmla="*/ 50 w 89"/>
                  <a:gd name="T65" fmla="*/ 68 h 95"/>
                  <a:gd name="T66" fmla="*/ 51 w 89"/>
                  <a:gd name="T67" fmla="*/ 71 h 95"/>
                  <a:gd name="T68" fmla="*/ 48 w 89"/>
                  <a:gd name="T69" fmla="*/ 65 h 95"/>
                  <a:gd name="T70" fmla="*/ 51 w 89"/>
                  <a:gd name="T71" fmla="*/ 61 h 95"/>
                  <a:gd name="T72" fmla="*/ 49 w 89"/>
                  <a:gd name="T73" fmla="*/ 59 h 95"/>
                  <a:gd name="T74" fmla="*/ 47 w 89"/>
                  <a:gd name="T75" fmla="*/ 61 h 95"/>
                  <a:gd name="T76" fmla="*/ 48 w 89"/>
                  <a:gd name="T77" fmla="*/ 65 h 95"/>
                  <a:gd name="T78" fmla="*/ 46 w 89"/>
                  <a:gd name="T79" fmla="*/ 58 h 95"/>
                  <a:gd name="T80" fmla="*/ 45 w 89"/>
                  <a:gd name="T81" fmla="*/ 55 h 95"/>
                  <a:gd name="T82" fmla="*/ 47 w 89"/>
                  <a:gd name="T83" fmla="*/ 57 h 95"/>
                  <a:gd name="T84" fmla="*/ 46 w 89"/>
                  <a:gd name="T85" fmla="*/ 58 h 95"/>
                  <a:gd name="T86" fmla="*/ 59 w 89"/>
                  <a:gd name="T87" fmla="*/ 17 h 95"/>
                  <a:gd name="T88" fmla="*/ 41 w 89"/>
                  <a:gd name="T89" fmla="*/ 54 h 95"/>
                  <a:gd name="T90" fmla="*/ 36 w 89"/>
                  <a:gd name="T91" fmla="*/ 13 h 95"/>
                  <a:gd name="T92" fmla="*/ 0 w 89"/>
                  <a:gd name="T93" fmla="*/ 54 h 95"/>
                  <a:gd name="T94" fmla="*/ 41 w 89"/>
                  <a:gd name="T95" fmla="*/ 95 h 95"/>
                  <a:gd name="T96" fmla="*/ 55 w 89"/>
                  <a:gd name="T97" fmla="*/ 93 h 95"/>
                  <a:gd name="T98" fmla="*/ 41 w 89"/>
                  <a:gd name="T99" fmla="*/ 54 h 95"/>
                  <a:gd name="T100" fmla="*/ 68 w 89"/>
                  <a:gd name="T101" fmla="*/ 23 h 95"/>
                  <a:gd name="T102" fmla="*/ 59 w 89"/>
                  <a:gd name="T103" fmla="*/ 17 h 95"/>
                  <a:gd name="T104" fmla="*/ 43 w 89"/>
                  <a:gd name="T105" fmla="*/ 0 h 95"/>
                  <a:gd name="T106" fmla="*/ 38 w 89"/>
                  <a:gd name="T107" fmla="*/ 0 h 95"/>
                  <a:gd name="T108" fmla="*/ 43 w 89"/>
                  <a:gd name="T109" fmla="*/ 41 h 95"/>
                  <a:gd name="T110" fmla="*/ 61 w 89"/>
                  <a:gd name="T111" fmla="*/ 4 h 95"/>
                  <a:gd name="T112" fmla="*/ 43 w 89"/>
                  <a:gd name="T11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 h="95">
                    <a:moveTo>
                      <a:pt x="75" y="22"/>
                    </a:moveTo>
                    <a:cubicBezTo>
                      <a:pt x="83" y="29"/>
                      <a:pt x="89" y="40"/>
                      <a:pt x="89" y="53"/>
                    </a:cubicBezTo>
                    <a:cubicBezTo>
                      <a:pt x="89" y="63"/>
                      <a:pt x="85" y="73"/>
                      <a:pt x="78" y="80"/>
                    </a:cubicBezTo>
                    <a:cubicBezTo>
                      <a:pt x="47" y="53"/>
                      <a:pt x="47" y="53"/>
                      <a:pt x="47" y="53"/>
                    </a:cubicBezTo>
                    <a:cubicBezTo>
                      <a:pt x="75" y="22"/>
                      <a:pt x="75" y="22"/>
                      <a:pt x="75" y="22"/>
                    </a:cubicBezTo>
                    <a:close/>
                    <a:moveTo>
                      <a:pt x="76" y="83"/>
                    </a:moveTo>
                    <a:cubicBezTo>
                      <a:pt x="74" y="85"/>
                      <a:pt x="72" y="87"/>
                      <a:pt x="69" y="88"/>
                    </a:cubicBezTo>
                    <a:cubicBezTo>
                      <a:pt x="74" y="81"/>
                      <a:pt x="74" y="81"/>
                      <a:pt x="74" y="81"/>
                    </a:cubicBezTo>
                    <a:cubicBezTo>
                      <a:pt x="76" y="83"/>
                      <a:pt x="76" y="83"/>
                      <a:pt x="76" y="83"/>
                    </a:cubicBezTo>
                    <a:close/>
                    <a:moveTo>
                      <a:pt x="64" y="92"/>
                    </a:moveTo>
                    <a:cubicBezTo>
                      <a:pt x="72" y="79"/>
                      <a:pt x="72" y="79"/>
                      <a:pt x="72" y="79"/>
                    </a:cubicBezTo>
                    <a:cubicBezTo>
                      <a:pt x="70" y="77"/>
                      <a:pt x="70" y="77"/>
                      <a:pt x="70" y="77"/>
                    </a:cubicBezTo>
                    <a:cubicBezTo>
                      <a:pt x="60" y="94"/>
                      <a:pt x="60" y="94"/>
                      <a:pt x="60" y="94"/>
                    </a:cubicBezTo>
                    <a:cubicBezTo>
                      <a:pt x="61" y="93"/>
                      <a:pt x="63" y="92"/>
                      <a:pt x="64" y="92"/>
                    </a:cubicBezTo>
                    <a:close/>
                    <a:moveTo>
                      <a:pt x="58" y="91"/>
                    </a:moveTo>
                    <a:cubicBezTo>
                      <a:pt x="67" y="75"/>
                      <a:pt x="67" y="75"/>
                      <a:pt x="67" y="75"/>
                    </a:cubicBezTo>
                    <a:cubicBezTo>
                      <a:pt x="65" y="74"/>
                      <a:pt x="65" y="74"/>
                      <a:pt x="65" y="74"/>
                    </a:cubicBezTo>
                    <a:cubicBezTo>
                      <a:pt x="57" y="88"/>
                      <a:pt x="57" y="88"/>
                      <a:pt x="57" y="88"/>
                    </a:cubicBezTo>
                    <a:cubicBezTo>
                      <a:pt x="58" y="91"/>
                      <a:pt x="58" y="91"/>
                      <a:pt x="58" y="91"/>
                    </a:cubicBezTo>
                    <a:close/>
                    <a:moveTo>
                      <a:pt x="56" y="84"/>
                    </a:moveTo>
                    <a:cubicBezTo>
                      <a:pt x="63" y="72"/>
                      <a:pt x="63" y="72"/>
                      <a:pt x="63" y="72"/>
                    </a:cubicBezTo>
                    <a:cubicBezTo>
                      <a:pt x="61" y="70"/>
                      <a:pt x="61" y="70"/>
                      <a:pt x="61" y="70"/>
                    </a:cubicBezTo>
                    <a:cubicBezTo>
                      <a:pt x="55" y="81"/>
                      <a:pt x="55" y="81"/>
                      <a:pt x="55" y="81"/>
                    </a:cubicBezTo>
                    <a:cubicBezTo>
                      <a:pt x="56" y="84"/>
                      <a:pt x="56" y="84"/>
                      <a:pt x="56" y="84"/>
                    </a:cubicBezTo>
                    <a:close/>
                    <a:moveTo>
                      <a:pt x="53" y="78"/>
                    </a:moveTo>
                    <a:cubicBezTo>
                      <a:pt x="59" y="68"/>
                      <a:pt x="59" y="68"/>
                      <a:pt x="59" y="68"/>
                    </a:cubicBezTo>
                    <a:cubicBezTo>
                      <a:pt x="57" y="66"/>
                      <a:pt x="57" y="66"/>
                      <a:pt x="57" y="66"/>
                    </a:cubicBezTo>
                    <a:cubicBezTo>
                      <a:pt x="52" y="75"/>
                      <a:pt x="52" y="75"/>
                      <a:pt x="52" y="75"/>
                    </a:cubicBezTo>
                    <a:cubicBezTo>
                      <a:pt x="53" y="78"/>
                      <a:pt x="53" y="78"/>
                      <a:pt x="53" y="78"/>
                    </a:cubicBezTo>
                    <a:close/>
                    <a:moveTo>
                      <a:pt x="51" y="71"/>
                    </a:moveTo>
                    <a:cubicBezTo>
                      <a:pt x="55" y="64"/>
                      <a:pt x="55" y="64"/>
                      <a:pt x="55" y="64"/>
                    </a:cubicBezTo>
                    <a:cubicBezTo>
                      <a:pt x="53" y="62"/>
                      <a:pt x="53" y="62"/>
                      <a:pt x="53" y="62"/>
                    </a:cubicBezTo>
                    <a:cubicBezTo>
                      <a:pt x="50" y="68"/>
                      <a:pt x="50" y="68"/>
                      <a:pt x="50" y="68"/>
                    </a:cubicBezTo>
                    <a:cubicBezTo>
                      <a:pt x="51" y="71"/>
                      <a:pt x="51" y="71"/>
                      <a:pt x="51" y="71"/>
                    </a:cubicBezTo>
                    <a:close/>
                    <a:moveTo>
                      <a:pt x="48" y="65"/>
                    </a:moveTo>
                    <a:cubicBezTo>
                      <a:pt x="51" y="61"/>
                      <a:pt x="51" y="61"/>
                      <a:pt x="51" y="61"/>
                    </a:cubicBezTo>
                    <a:cubicBezTo>
                      <a:pt x="49" y="59"/>
                      <a:pt x="49" y="59"/>
                      <a:pt x="49" y="59"/>
                    </a:cubicBezTo>
                    <a:cubicBezTo>
                      <a:pt x="47" y="61"/>
                      <a:pt x="47" y="61"/>
                      <a:pt x="47" y="61"/>
                    </a:cubicBezTo>
                    <a:cubicBezTo>
                      <a:pt x="48" y="65"/>
                      <a:pt x="48" y="65"/>
                      <a:pt x="48" y="65"/>
                    </a:cubicBezTo>
                    <a:close/>
                    <a:moveTo>
                      <a:pt x="46" y="58"/>
                    </a:moveTo>
                    <a:cubicBezTo>
                      <a:pt x="45" y="55"/>
                      <a:pt x="45" y="55"/>
                      <a:pt x="45" y="55"/>
                    </a:cubicBezTo>
                    <a:cubicBezTo>
                      <a:pt x="47" y="57"/>
                      <a:pt x="47" y="57"/>
                      <a:pt x="47" y="57"/>
                    </a:cubicBezTo>
                    <a:cubicBezTo>
                      <a:pt x="46" y="58"/>
                      <a:pt x="46" y="58"/>
                      <a:pt x="46" y="58"/>
                    </a:cubicBezTo>
                    <a:close/>
                    <a:moveTo>
                      <a:pt x="59" y="17"/>
                    </a:moveTo>
                    <a:cubicBezTo>
                      <a:pt x="41" y="54"/>
                      <a:pt x="41" y="54"/>
                      <a:pt x="41" y="54"/>
                    </a:cubicBezTo>
                    <a:cubicBezTo>
                      <a:pt x="41" y="54"/>
                      <a:pt x="38" y="28"/>
                      <a:pt x="36" y="13"/>
                    </a:cubicBezTo>
                    <a:cubicBezTo>
                      <a:pt x="16" y="15"/>
                      <a:pt x="0" y="33"/>
                      <a:pt x="0" y="54"/>
                    </a:cubicBezTo>
                    <a:cubicBezTo>
                      <a:pt x="0" y="77"/>
                      <a:pt x="18" y="95"/>
                      <a:pt x="41" y="95"/>
                    </a:cubicBezTo>
                    <a:cubicBezTo>
                      <a:pt x="46" y="95"/>
                      <a:pt x="51" y="94"/>
                      <a:pt x="55" y="93"/>
                    </a:cubicBezTo>
                    <a:cubicBezTo>
                      <a:pt x="41" y="54"/>
                      <a:pt x="41" y="54"/>
                      <a:pt x="41" y="54"/>
                    </a:cubicBezTo>
                    <a:cubicBezTo>
                      <a:pt x="68" y="23"/>
                      <a:pt x="68" y="23"/>
                      <a:pt x="68" y="23"/>
                    </a:cubicBezTo>
                    <a:cubicBezTo>
                      <a:pt x="66" y="20"/>
                      <a:pt x="63" y="18"/>
                      <a:pt x="59" y="17"/>
                    </a:cubicBezTo>
                    <a:close/>
                    <a:moveTo>
                      <a:pt x="43" y="0"/>
                    </a:moveTo>
                    <a:cubicBezTo>
                      <a:pt x="41" y="0"/>
                      <a:pt x="40" y="0"/>
                      <a:pt x="38" y="0"/>
                    </a:cubicBezTo>
                    <a:cubicBezTo>
                      <a:pt x="40" y="15"/>
                      <a:pt x="43" y="41"/>
                      <a:pt x="43" y="41"/>
                    </a:cubicBezTo>
                    <a:cubicBezTo>
                      <a:pt x="61" y="4"/>
                      <a:pt x="61" y="4"/>
                      <a:pt x="61" y="4"/>
                    </a:cubicBezTo>
                    <a:cubicBezTo>
                      <a:pt x="56" y="1"/>
                      <a:pt x="49" y="0"/>
                      <a:pt x="43" y="0"/>
                    </a:cubicBezTo>
                    <a:close/>
                  </a:path>
                </a:pathLst>
              </a:custGeom>
              <a:solidFill>
                <a:schemeClr val="bg1"/>
              </a:solidFill>
              <a:ln>
                <a:noFill/>
              </a:ln>
              <a:effectLst/>
            </p:spPr>
            <p:txBody>
              <a:bodyPr vert="horz" wrap="square" lIns="91440" tIns="45720" rIns="91440" bIns="45720" numCol="1" anchor="t" anchorCtr="0" compatLnSpc="1"/>
              <a:lstStyle/>
              <a:p>
                <a:endParaRPr lang="zh-CN" altLang="en-US"/>
              </a:p>
            </p:txBody>
          </p:sp>
        </p:grpSp>
        <p:grpSp>
          <p:nvGrpSpPr>
            <p:cNvPr id="14" name="组合 13"/>
            <p:cNvGrpSpPr/>
            <p:nvPr/>
          </p:nvGrpSpPr>
          <p:grpSpPr>
            <a:xfrm>
              <a:off x="6854334" y="5018405"/>
              <a:ext cx="698500" cy="698500"/>
              <a:chOff x="6854334" y="5018405"/>
              <a:chExt cx="698500" cy="698500"/>
            </a:xfrm>
          </p:grpSpPr>
          <p:sp>
            <p:nvSpPr>
              <p:cNvPr id="27" name="椭圆 26"/>
              <p:cNvSpPr/>
              <p:nvPr/>
            </p:nvSpPr>
            <p:spPr>
              <a:xfrm>
                <a:off x="6854334" y="5018405"/>
                <a:ext cx="698500" cy="698500"/>
              </a:xfrm>
              <a:prstGeom prst="ellipse">
                <a:avLst/>
              </a:prstGeom>
              <a:solidFill>
                <a:schemeClr val="accent1"/>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p:cNvGrpSpPr>
                <a:grpSpLocks noChangeAspect="1"/>
              </p:cNvGrpSpPr>
              <p:nvPr/>
            </p:nvGrpSpPr>
            <p:grpSpPr>
              <a:xfrm>
                <a:off x="7054558" y="5245034"/>
                <a:ext cx="312886" cy="311751"/>
                <a:chOff x="3618897" y="2279040"/>
                <a:chExt cx="706229" cy="703668"/>
              </a:xfrm>
              <a:solidFill>
                <a:schemeClr val="bg1"/>
              </a:solidFill>
            </p:grpSpPr>
            <p:sp>
              <p:nvSpPr>
                <p:cNvPr id="29" name="Freeform 9"/>
                <p:cNvSpPr>
                  <a:spLocks noEditPoints="1"/>
                </p:cNvSpPr>
                <p:nvPr/>
              </p:nvSpPr>
              <p:spPr bwMode="auto">
                <a:xfrm>
                  <a:off x="3713987" y="2279040"/>
                  <a:ext cx="516048" cy="703668"/>
                </a:xfrm>
                <a:custGeom>
                  <a:avLst/>
                  <a:gdLst>
                    <a:gd name="T0" fmla="*/ 222 w 597"/>
                    <a:gd name="T1" fmla="*/ 575 h 814"/>
                    <a:gd name="T2" fmla="*/ 253 w 597"/>
                    <a:gd name="T3" fmla="*/ 598 h 814"/>
                    <a:gd name="T4" fmla="*/ 344 w 597"/>
                    <a:gd name="T5" fmla="*/ 598 h 814"/>
                    <a:gd name="T6" fmla="*/ 375 w 597"/>
                    <a:gd name="T7" fmla="*/ 575 h 814"/>
                    <a:gd name="T8" fmla="*/ 414 w 597"/>
                    <a:gd name="T9" fmla="*/ 509 h 814"/>
                    <a:gd name="T10" fmla="*/ 539 w 597"/>
                    <a:gd name="T11" fmla="*/ 298 h 814"/>
                    <a:gd name="T12" fmla="*/ 298 w 597"/>
                    <a:gd name="T13" fmla="*/ 57 h 814"/>
                    <a:gd name="T14" fmla="*/ 57 w 597"/>
                    <a:gd name="T15" fmla="*/ 298 h 814"/>
                    <a:gd name="T16" fmla="*/ 183 w 597"/>
                    <a:gd name="T17" fmla="*/ 509 h 814"/>
                    <a:gd name="T18" fmla="*/ 222 w 597"/>
                    <a:gd name="T19" fmla="*/ 575 h 814"/>
                    <a:gd name="T20" fmla="*/ 354 w 597"/>
                    <a:gd name="T21" fmla="*/ 782 h 814"/>
                    <a:gd name="T22" fmla="*/ 314 w 597"/>
                    <a:gd name="T23" fmla="*/ 814 h 814"/>
                    <a:gd name="T24" fmla="*/ 282 w 597"/>
                    <a:gd name="T25" fmla="*/ 814 h 814"/>
                    <a:gd name="T26" fmla="*/ 242 w 597"/>
                    <a:gd name="T27" fmla="*/ 782 h 814"/>
                    <a:gd name="T28" fmla="*/ 226 w 597"/>
                    <a:gd name="T29" fmla="*/ 782 h 814"/>
                    <a:gd name="T30" fmla="*/ 165 w 597"/>
                    <a:gd name="T31" fmla="*/ 722 h 814"/>
                    <a:gd name="T32" fmla="*/ 165 w 597"/>
                    <a:gd name="T33" fmla="*/ 576 h 814"/>
                    <a:gd name="T34" fmla="*/ 155 w 597"/>
                    <a:gd name="T35" fmla="*/ 559 h 814"/>
                    <a:gd name="T36" fmla="*/ 0 w 597"/>
                    <a:gd name="T37" fmla="*/ 298 h 814"/>
                    <a:gd name="T38" fmla="*/ 298 w 597"/>
                    <a:gd name="T39" fmla="*/ 0 h 814"/>
                    <a:gd name="T40" fmla="*/ 597 w 597"/>
                    <a:gd name="T41" fmla="*/ 298 h 814"/>
                    <a:gd name="T42" fmla="*/ 441 w 597"/>
                    <a:gd name="T43" fmla="*/ 559 h 814"/>
                    <a:gd name="T44" fmla="*/ 431 w 597"/>
                    <a:gd name="T45" fmla="*/ 576 h 814"/>
                    <a:gd name="T46" fmla="*/ 432 w 597"/>
                    <a:gd name="T47" fmla="*/ 722 h 814"/>
                    <a:gd name="T48" fmla="*/ 371 w 597"/>
                    <a:gd name="T49" fmla="*/ 782 h 814"/>
                    <a:gd name="T50" fmla="*/ 354 w 597"/>
                    <a:gd name="T51" fmla="*/ 782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97" h="814">
                      <a:moveTo>
                        <a:pt x="222" y="575"/>
                      </a:moveTo>
                      <a:cubicBezTo>
                        <a:pt x="224" y="589"/>
                        <a:pt x="238" y="598"/>
                        <a:pt x="253" y="598"/>
                      </a:cubicBezTo>
                      <a:cubicBezTo>
                        <a:pt x="344" y="598"/>
                        <a:pt x="344" y="598"/>
                        <a:pt x="344" y="598"/>
                      </a:cubicBezTo>
                      <a:cubicBezTo>
                        <a:pt x="358" y="598"/>
                        <a:pt x="373" y="589"/>
                        <a:pt x="375" y="575"/>
                      </a:cubicBezTo>
                      <a:cubicBezTo>
                        <a:pt x="377" y="547"/>
                        <a:pt x="390" y="523"/>
                        <a:pt x="414" y="509"/>
                      </a:cubicBezTo>
                      <a:cubicBezTo>
                        <a:pt x="491" y="467"/>
                        <a:pt x="539" y="386"/>
                        <a:pt x="539" y="298"/>
                      </a:cubicBezTo>
                      <a:cubicBezTo>
                        <a:pt x="539" y="165"/>
                        <a:pt x="431" y="57"/>
                        <a:pt x="298" y="57"/>
                      </a:cubicBezTo>
                      <a:cubicBezTo>
                        <a:pt x="165" y="57"/>
                        <a:pt x="57" y="165"/>
                        <a:pt x="57" y="298"/>
                      </a:cubicBezTo>
                      <a:cubicBezTo>
                        <a:pt x="57" y="386"/>
                        <a:pt x="105" y="467"/>
                        <a:pt x="183" y="509"/>
                      </a:cubicBezTo>
                      <a:cubicBezTo>
                        <a:pt x="207" y="523"/>
                        <a:pt x="219" y="547"/>
                        <a:pt x="222" y="575"/>
                      </a:cubicBezTo>
                      <a:close/>
                      <a:moveTo>
                        <a:pt x="354" y="782"/>
                      </a:moveTo>
                      <a:cubicBezTo>
                        <a:pt x="350" y="800"/>
                        <a:pt x="334" y="814"/>
                        <a:pt x="314" y="814"/>
                      </a:cubicBezTo>
                      <a:cubicBezTo>
                        <a:pt x="282" y="814"/>
                        <a:pt x="282" y="814"/>
                        <a:pt x="282" y="814"/>
                      </a:cubicBezTo>
                      <a:cubicBezTo>
                        <a:pt x="263" y="814"/>
                        <a:pt x="247" y="800"/>
                        <a:pt x="242" y="782"/>
                      </a:cubicBezTo>
                      <a:cubicBezTo>
                        <a:pt x="226" y="782"/>
                        <a:pt x="226" y="782"/>
                        <a:pt x="226" y="782"/>
                      </a:cubicBezTo>
                      <a:cubicBezTo>
                        <a:pt x="193" y="782"/>
                        <a:pt x="165" y="755"/>
                        <a:pt x="165" y="722"/>
                      </a:cubicBezTo>
                      <a:cubicBezTo>
                        <a:pt x="165" y="576"/>
                        <a:pt x="165" y="576"/>
                        <a:pt x="165" y="576"/>
                      </a:cubicBezTo>
                      <a:cubicBezTo>
                        <a:pt x="165" y="569"/>
                        <a:pt x="162" y="563"/>
                        <a:pt x="155" y="559"/>
                      </a:cubicBezTo>
                      <a:cubicBezTo>
                        <a:pt x="60" y="507"/>
                        <a:pt x="0" y="407"/>
                        <a:pt x="0" y="298"/>
                      </a:cubicBezTo>
                      <a:cubicBezTo>
                        <a:pt x="0" y="133"/>
                        <a:pt x="134" y="0"/>
                        <a:pt x="298" y="0"/>
                      </a:cubicBezTo>
                      <a:cubicBezTo>
                        <a:pt x="463" y="0"/>
                        <a:pt x="597" y="133"/>
                        <a:pt x="597" y="298"/>
                      </a:cubicBezTo>
                      <a:cubicBezTo>
                        <a:pt x="597" y="407"/>
                        <a:pt x="537" y="507"/>
                        <a:pt x="441" y="559"/>
                      </a:cubicBezTo>
                      <a:cubicBezTo>
                        <a:pt x="435" y="563"/>
                        <a:pt x="431" y="569"/>
                        <a:pt x="431" y="576"/>
                      </a:cubicBezTo>
                      <a:cubicBezTo>
                        <a:pt x="432" y="722"/>
                        <a:pt x="432" y="722"/>
                        <a:pt x="432" y="722"/>
                      </a:cubicBezTo>
                      <a:cubicBezTo>
                        <a:pt x="432" y="755"/>
                        <a:pt x="404" y="782"/>
                        <a:pt x="371" y="782"/>
                      </a:cubicBezTo>
                      <a:cubicBezTo>
                        <a:pt x="354" y="782"/>
                        <a:pt x="354" y="782"/>
                        <a:pt x="354" y="7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10"/>
                <p:cNvSpPr>
                  <a:spLocks noEditPoints="1"/>
                </p:cNvSpPr>
                <p:nvPr/>
              </p:nvSpPr>
              <p:spPr bwMode="auto">
                <a:xfrm>
                  <a:off x="3618897" y="2347432"/>
                  <a:ext cx="706229" cy="373412"/>
                </a:xfrm>
                <a:custGeom>
                  <a:avLst/>
                  <a:gdLst>
                    <a:gd name="T0" fmla="*/ 699 w 817"/>
                    <a:gd name="T1" fmla="*/ 406 h 432"/>
                    <a:gd name="T2" fmla="*/ 692 w 817"/>
                    <a:gd name="T3" fmla="*/ 380 h 432"/>
                    <a:gd name="T4" fmla="*/ 718 w 817"/>
                    <a:gd name="T5" fmla="*/ 373 h 432"/>
                    <a:gd name="T6" fmla="*/ 755 w 817"/>
                    <a:gd name="T7" fmla="*/ 394 h 432"/>
                    <a:gd name="T8" fmla="*/ 762 w 817"/>
                    <a:gd name="T9" fmla="*/ 420 h 432"/>
                    <a:gd name="T10" fmla="*/ 736 w 817"/>
                    <a:gd name="T11" fmla="*/ 427 h 432"/>
                    <a:gd name="T12" fmla="*/ 699 w 817"/>
                    <a:gd name="T13" fmla="*/ 406 h 432"/>
                    <a:gd name="T14" fmla="*/ 718 w 817"/>
                    <a:gd name="T15" fmla="*/ 59 h 432"/>
                    <a:gd name="T16" fmla="*/ 692 w 817"/>
                    <a:gd name="T17" fmla="*/ 52 h 432"/>
                    <a:gd name="T18" fmla="*/ 699 w 817"/>
                    <a:gd name="T19" fmla="*/ 26 h 432"/>
                    <a:gd name="T20" fmla="*/ 736 w 817"/>
                    <a:gd name="T21" fmla="*/ 5 h 432"/>
                    <a:gd name="T22" fmla="*/ 762 w 817"/>
                    <a:gd name="T23" fmla="*/ 12 h 432"/>
                    <a:gd name="T24" fmla="*/ 755 w 817"/>
                    <a:gd name="T25" fmla="*/ 38 h 432"/>
                    <a:gd name="T26" fmla="*/ 718 w 817"/>
                    <a:gd name="T27" fmla="*/ 59 h 432"/>
                    <a:gd name="T28" fmla="*/ 755 w 817"/>
                    <a:gd name="T29" fmla="*/ 235 h 432"/>
                    <a:gd name="T30" fmla="*/ 736 w 817"/>
                    <a:gd name="T31" fmla="*/ 216 h 432"/>
                    <a:gd name="T32" fmla="*/ 755 w 817"/>
                    <a:gd name="T33" fmla="*/ 197 h 432"/>
                    <a:gd name="T34" fmla="*/ 798 w 817"/>
                    <a:gd name="T35" fmla="*/ 197 h 432"/>
                    <a:gd name="T36" fmla="*/ 817 w 817"/>
                    <a:gd name="T37" fmla="*/ 216 h 432"/>
                    <a:gd name="T38" fmla="*/ 798 w 817"/>
                    <a:gd name="T39" fmla="*/ 235 h 432"/>
                    <a:gd name="T40" fmla="*/ 755 w 817"/>
                    <a:gd name="T41" fmla="*/ 235 h 432"/>
                    <a:gd name="T42" fmla="*/ 118 w 817"/>
                    <a:gd name="T43" fmla="*/ 26 h 432"/>
                    <a:gd name="T44" fmla="*/ 124 w 817"/>
                    <a:gd name="T45" fmla="*/ 52 h 432"/>
                    <a:gd name="T46" fmla="*/ 98 w 817"/>
                    <a:gd name="T47" fmla="*/ 59 h 432"/>
                    <a:gd name="T48" fmla="*/ 62 w 817"/>
                    <a:gd name="T49" fmla="*/ 38 h 432"/>
                    <a:gd name="T50" fmla="*/ 55 w 817"/>
                    <a:gd name="T51" fmla="*/ 12 h 432"/>
                    <a:gd name="T52" fmla="*/ 81 w 817"/>
                    <a:gd name="T53" fmla="*/ 5 h 432"/>
                    <a:gd name="T54" fmla="*/ 118 w 817"/>
                    <a:gd name="T55" fmla="*/ 26 h 432"/>
                    <a:gd name="T56" fmla="*/ 98 w 817"/>
                    <a:gd name="T57" fmla="*/ 373 h 432"/>
                    <a:gd name="T58" fmla="*/ 124 w 817"/>
                    <a:gd name="T59" fmla="*/ 380 h 432"/>
                    <a:gd name="T60" fmla="*/ 118 w 817"/>
                    <a:gd name="T61" fmla="*/ 406 h 432"/>
                    <a:gd name="T62" fmla="*/ 81 w 817"/>
                    <a:gd name="T63" fmla="*/ 427 h 432"/>
                    <a:gd name="T64" fmla="*/ 55 w 817"/>
                    <a:gd name="T65" fmla="*/ 420 h 432"/>
                    <a:gd name="T66" fmla="*/ 62 w 817"/>
                    <a:gd name="T67" fmla="*/ 394 h 432"/>
                    <a:gd name="T68" fmla="*/ 98 w 817"/>
                    <a:gd name="T69" fmla="*/ 373 h 432"/>
                    <a:gd name="T70" fmla="*/ 62 w 817"/>
                    <a:gd name="T71" fmla="*/ 197 h 432"/>
                    <a:gd name="T72" fmla="*/ 81 w 817"/>
                    <a:gd name="T73" fmla="*/ 216 h 432"/>
                    <a:gd name="T74" fmla="*/ 62 w 817"/>
                    <a:gd name="T75" fmla="*/ 235 h 432"/>
                    <a:gd name="T76" fmla="*/ 19 w 817"/>
                    <a:gd name="T77" fmla="*/ 235 h 432"/>
                    <a:gd name="T78" fmla="*/ 0 w 817"/>
                    <a:gd name="T79" fmla="*/ 216 h 432"/>
                    <a:gd name="T80" fmla="*/ 19 w 817"/>
                    <a:gd name="T81" fmla="*/ 197 h 432"/>
                    <a:gd name="T82" fmla="*/ 62 w 817"/>
                    <a:gd name="T83" fmla="*/ 197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7" h="432">
                      <a:moveTo>
                        <a:pt x="699" y="406"/>
                      </a:moveTo>
                      <a:cubicBezTo>
                        <a:pt x="690" y="401"/>
                        <a:pt x="687" y="389"/>
                        <a:pt x="692" y="380"/>
                      </a:cubicBezTo>
                      <a:cubicBezTo>
                        <a:pt x="698" y="371"/>
                        <a:pt x="709" y="368"/>
                        <a:pt x="718" y="373"/>
                      </a:cubicBezTo>
                      <a:cubicBezTo>
                        <a:pt x="755" y="394"/>
                        <a:pt x="755" y="394"/>
                        <a:pt x="755" y="394"/>
                      </a:cubicBezTo>
                      <a:cubicBezTo>
                        <a:pt x="764" y="399"/>
                        <a:pt x="767" y="411"/>
                        <a:pt x="762" y="420"/>
                      </a:cubicBezTo>
                      <a:cubicBezTo>
                        <a:pt x="757" y="429"/>
                        <a:pt x="745" y="432"/>
                        <a:pt x="736" y="427"/>
                      </a:cubicBezTo>
                      <a:cubicBezTo>
                        <a:pt x="699" y="406"/>
                        <a:pt x="699" y="406"/>
                        <a:pt x="699" y="406"/>
                      </a:cubicBezTo>
                      <a:close/>
                      <a:moveTo>
                        <a:pt x="718" y="59"/>
                      </a:moveTo>
                      <a:cubicBezTo>
                        <a:pt x="709" y="64"/>
                        <a:pt x="698" y="61"/>
                        <a:pt x="692" y="52"/>
                      </a:cubicBezTo>
                      <a:cubicBezTo>
                        <a:pt x="687" y="43"/>
                        <a:pt x="690" y="31"/>
                        <a:pt x="699" y="26"/>
                      </a:cubicBezTo>
                      <a:cubicBezTo>
                        <a:pt x="736" y="5"/>
                        <a:pt x="736" y="5"/>
                        <a:pt x="736" y="5"/>
                      </a:cubicBezTo>
                      <a:cubicBezTo>
                        <a:pt x="745" y="0"/>
                        <a:pt x="757" y="3"/>
                        <a:pt x="762" y="12"/>
                      </a:cubicBezTo>
                      <a:cubicBezTo>
                        <a:pt x="767" y="21"/>
                        <a:pt x="764" y="32"/>
                        <a:pt x="755" y="38"/>
                      </a:cubicBezTo>
                      <a:cubicBezTo>
                        <a:pt x="718" y="59"/>
                        <a:pt x="718" y="59"/>
                        <a:pt x="718" y="59"/>
                      </a:cubicBezTo>
                      <a:close/>
                      <a:moveTo>
                        <a:pt x="755" y="235"/>
                      </a:moveTo>
                      <a:cubicBezTo>
                        <a:pt x="745" y="235"/>
                        <a:pt x="736" y="226"/>
                        <a:pt x="736" y="216"/>
                      </a:cubicBezTo>
                      <a:cubicBezTo>
                        <a:pt x="736" y="205"/>
                        <a:pt x="745" y="197"/>
                        <a:pt x="755" y="197"/>
                      </a:cubicBezTo>
                      <a:cubicBezTo>
                        <a:pt x="798" y="197"/>
                        <a:pt x="798" y="197"/>
                        <a:pt x="798" y="197"/>
                      </a:cubicBezTo>
                      <a:cubicBezTo>
                        <a:pt x="808" y="197"/>
                        <a:pt x="817" y="205"/>
                        <a:pt x="817" y="216"/>
                      </a:cubicBezTo>
                      <a:cubicBezTo>
                        <a:pt x="817" y="226"/>
                        <a:pt x="808" y="235"/>
                        <a:pt x="798" y="235"/>
                      </a:cubicBezTo>
                      <a:cubicBezTo>
                        <a:pt x="755" y="235"/>
                        <a:pt x="755" y="235"/>
                        <a:pt x="755" y="235"/>
                      </a:cubicBezTo>
                      <a:close/>
                      <a:moveTo>
                        <a:pt x="118" y="26"/>
                      </a:moveTo>
                      <a:cubicBezTo>
                        <a:pt x="127" y="31"/>
                        <a:pt x="130" y="43"/>
                        <a:pt x="124" y="52"/>
                      </a:cubicBezTo>
                      <a:cubicBezTo>
                        <a:pt x="119" y="61"/>
                        <a:pt x="108" y="64"/>
                        <a:pt x="98" y="59"/>
                      </a:cubicBezTo>
                      <a:cubicBezTo>
                        <a:pt x="62" y="38"/>
                        <a:pt x="62" y="38"/>
                        <a:pt x="62" y="38"/>
                      </a:cubicBezTo>
                      <a:cubicBezTo>
                        <a:pt x="53" y="32"/>
                        <a:pt x="49" y="21"/>
                        <a:pt x="55" y="12"/>
                      </a:cubicBezTo>
                      <a:cubicBezTo>
                        <a:pt x="60" y="3"/>
                        <a:pt x="72" y="0"/>
                        <a:pt x="81" y="5"/>
                      </a:cubicBezTo>
                      <a:cubicBezTo>
                        <a:pt x="118" y="26"/>
                        <a:pt x="118" y="26"/>
                        <a:pt x="118" y="26"/>
                      </a:cubicBezTo>
                      <a:close/>
                      <a:moveTo>
                        <a:pt x="98" y="373"/>
                      </a:moveTo>
                      <a:cubicBezTo>
                        <a:pt x="108" y="368"/>
                        <a:pt x="119" y="371"/>
                        <a:pt x="124" y="380"/>
                      </a:cubicBezTo>
                      <a:cubicBezTo>
                        <a:pt x="130" y="389"/>
                        <a:pt x="127" y="401"/>
                        <a:pt x="118" y="406"/>
                      </a:cubicBezTo>
                      <a:cubicBezTo>
                        <a:pt x="81" y="427"/>
                        <a:pt x="81" y="427"/>
                        <a:pt x="81" y="427"/>
                      </a:cubicBezTo>
                      <a:cubicBezTo>
                        <a:pt x="72" y="432"/>
                        <a:pt x="60" y="429"/>
                        <a:pt x="55" y="420"/>
                      </a:cubicBezTo>
                      <a:cubicBezTo>
                        <a:pt x="49" y="411"/>
                        <a:pt x="53" y="399"/>
                        <a:pt x="62" y="394"/>
                      </a:cubicBezTo>
                      <a:cubicBezTo>
                        <a:pt x="98" y="373"/>
                        <a:pt x="98" y="373"/>
                        <a:pt x="98" y="373"/>
                      </a:cubicBezTo>
                      <a:close/>
                      <a:moveTo>
                        <a:pt x="62" y="197"/>
                      </a:moveTo>
                      <a:cubicBezTo>
                        <a:pt x="72" y="197"/>
                        <a:pt x="81" y="205"/>
                        <a:pt x="81" y="216"/>
                      </a:cubicBezTo>
                      <a:cubicBezTo>
                        <a:pt x="81" y="226"/>
                        <a:pt x="72" y="235"/>
                        <a:pt x="62" y="235"/>
                      </a:cubicBezTo>
                      <a:cubicBezTo>
                        <a:pt x="19" y="235"/>
                        <a:pt x="19" y="235"/>
                        <a:pt x="19" y="235"/>
                      </a:cubicBezTo>
                      <a:cubicBezTo>
                        <a:pt x="9" y="235"/>
                        <a:pt x="0" y="226"/>
                        <a:pt x="0" y="216"/>
                      </a:cubicBezTo>
                      <a:cubicBezTo>
                        <a:pt x="0" y="205"/>
                        <a:pt x="9" y="197"/>
                        <a:pt x="19" y="197"/>
                      </a:cubicBezTo>
                      <a:cubicBezTo>
                        <a:pt x="62" y="197"/>
                        <a:pt x="62" y="197"/>
                        <a:pt x="62"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1"/>
                <p:cNvSpPr/>
                <p:nvPr/>
              </p:nvSpPr>
              <p:spPr bwMode="auto">
                <a:xfrm>
                  <a:off x="3845651" y="2427528"/>
                  <a:ext cx="253087" cy="253452"/>
                </a:xfrm>
                <a:custGeom>
                  <a:avLst/>
                  <a:gdLst>
                    <a:gd name="T0" fmla="*/ 3 w 293"/>
                    <a:gd name="T1" fmla="*/ 38 h 293"/>
                    <a:gd name="T2" fmla="*/ 16 w 293"/>
                    <a:gd name="T3" fmla="*/ 15 h 293"/>
                    <a:gd name="T4" fmla="*/ 39 w 293"/>
                    <a:gd name="T5" fmla="*/ 28 h 293"/>
                    <a:gd name="T6" fmla="*/ 50 w 293"/>
                    <a:gd name="T7" fmla="*/ 65 h 293"/>
                    <a:gd name="T8" fmla="*/ 91 w 293"/>
                    <a:gd name="T9" fmla="*/ 53 h 293"/>
                    <a:gd name="T10" fmla="*/ 91 w 293"/>
                    <a:gd name="T11" fmla="*/ 53 h 293"/>
                    <a:gd name="T12" fmla="*/ 127 w 293"/>
                    <a:gd name="T13" fmla="*/ 48 h 293"/>
                    <a:gd name="T14" fmla="*/ 127 w 293"/>
                    <a:gd name="T15" fmla="*/ 19 h 293"/>
                    <a:gd name="T16" fmla="*/ 146 w 293"/>
                    <a:gd name="T17" fmla="*/ 0 h 293"/>
                    <a:gd name="T18" fmla="*/ 165 w 293"/>
                    <a:gd name="T19" fmla="*/ 19 h 293"/>
                    <a:gd name="T20" fmla="*/ 165 w 293"/>
                    <a:gd name="T21" fmla="*/ 48 h 293"/>
                    <a:gd name="T22" fmla="*/ 202 w 293"/>
                    <a:gd name="T23" fmla="*/ 53 h 293"/>
                    <a:gd name="T24" fmla="*/ 202 w 293"/>
                    <a:gd name="T25" fmla="*/ 53 h 293"/>
                    <a:gd name="T26" fmla="*/ 202 w 293"/>
                    <a:gd name="T27" fmla="*/ 53 h 293"/>
                    <a:gd name="T28" fmla="*/ 242 w 293"/>
                    <a:gd name="T29" fmla="*/ 65 h 293"/>
                    <a:gd name="T30" fmla="*/ 253 w 293"/>
                    <a:gd name="T31" fmla="*/ 28 h 293"/>
                    <a:gd name="T32" fmla="*/ 277 w 293"/>
                    <a:gd name="T33" fmla="*/ 15 h 293"/>
                    <a:gd name="T34" fmla="*/ 290 w 293"/>
                    <a:gd name="T35" fmla="*/ 38 h 293"/>
                    <a:gd name="T36" fmla="*/ 220 w 293"/>
                    <a:gd name="T37" fmla="*/ 278 h 293"/>
                    <a:gd name="T38" fmla="*/ 196 w 293"/>
                    <a:gd name="T39" fmla="*/ 290 h 293"/>
                    <a:gd name="T40" fmla="*/ 183 w 293"/>
                    <a:gd name="T41" fmla="*/ 267 h 293"/>
                    <a:gd name="T42" fmla="*/ 232 w 293"/>
                    <a:gd name="T43" fmla="*/ 102 h 293"/>
                    <a:gd name="T44" fmla="*/ 194 w 293"/>
                    <a:gd name="T45" fmla="*/ 90 h 293"/>
                    <a:gd name="T46" fmla="*/ 194 w 293"/>
                    <a:gd name="T47" fmla="*/ 90 h 293"/>
                    <a:gd name="T48" fmla="*/ 165 w 293"/>
                    <a:gd name="T49" fmla="*/ 86 h 293"/>
                    <a:gd name="T50" fmla="*/ 165 w 293"/>
                    <a:gd name="T51" fmla="*/ 132 h 293"/>
                    <a:gd name="T52" fmla="*/ 146 w 293"/>
                    <a:gd name="T53" fmla="*/ 151 h 293"/>
                    <a:gd name="T54" fmla="*/ 127 w 293"/>
                    <a:gd name="T55" fmla="*/ 132 h 293"/>
                    <a:gd name="T56" fmla="*/ 127 w 293"/>
                    <a:gd name="T57" fmla="*/ 86 h 293"/>
                    <a:gd name="T58" fmla="*/ 99 w 293"/>
                    <a:gd name="T59" fmla="*/ 90 h 293"/>
                    <a:gd name="T60" fmla="*/ 99 w 293"/>
                    <a:gd name="T61" fmla="*/ 90 h 293"/>
                    <a:gd name="T62" fmla="*/ 61 w 293"/>
                    <a:gd name="T63" fmla="*/ 102 h 293"/>
                    <a:gd name="T64" fmla="*/ 109 w 293"/>
                    <a:gd name="T65" fmla="*/ 267 h 293"/>
                    <a:gd name="T66" fmla="*/ 96 w 293"/>
                    <a:gd name="T67" fmla="*/ 290 h 293"/>
                    <a:gd name="T68" fmla="*/ 73 w 293"/>
                    <a:gd name="T69" fmla="*/ 278 h 293"/>
                    <a:gd name="T70" fmla="*/ 3 w 293"/>
                    <a:gd name="T71" fmla="*/ 38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3" h="293">
                      <a:moveTo>
                        <a:pt x="3" y="38"/>
                      </a:moveTo>
                      <a:cubicBezTo>
                        <a:pt x="0" y="28"/>
                        <a:pt x="6" y="18"/>
                        <a:pt x="16" y="15"/>
                      </a:cubicBezTo>
                      <a:cubicBezTo>
                        <a:pt x="26" y="12"/>
                        <a:pt x="37" y="18"/>
                        <a:pt x="39" y="28"/>
                      </a:cubicBezTo>
                      <a:cubicBezTo>
                        <a:pt x="50" y="65"/>
                        <a:pt x="50" y="65"/>
                        <a:pt x="50" y="65"/>
                      </a:cubicBezTo>
                      <a:cubicBezTo>
                        <a:pt x="63" y="60"/>
                        <a:pt x="77" y="56"/>
                        <a:pt x="91" y="53"/>
                      </a:cubicBezTo>
                      <a:cubicBezTo>
                        <a:pt x="91" y="53"/>
                        <a:pt x="91" y="53"/>
                        <a:pt x="91" y="53"/>
                      </a:cubicBezTo>
                      <a:cubicBezTo>
                        <a:pt x="103" y="50"/>
                        <a:pt x="115" y="49"/>
                        <a:pt x="127" y="48"/>
                      </a:cubicBezTo>
                      <a:cubicBezTo>
                        <a:pt x="127" y="19"/>
                        <a:pt x="127" y="19"/>
                        <a:pt x="127" y="19"/>
                      </a:cubicBezTo>
                      <a:cubicBezTo>
                        <a:pt x="127" y="8"/>
                        <a:pt x="136" y="0"/>
                        <a:pt x="146" y="0"/>
                      </a:cubicBezTo>
                      <a:cubicBezTo>
                        <a:pt x="157" y="0"/>
                        <a:pt x="165" y="8"/>
                        <a:pt x="165" y="19"/>
                      </a:cubicBezTo>
                      <a:cubicBezTo>
                        <a:pt x="165" y="48"/>
                        <a:pt x="165" y="48"/>
                        <a:pt x="165" y="48"/>
                      </a:cubicBezTo>
                      <a:cubicBezTo>
                        <a:pt x="178" y="49"/>
                        <a:pt x="190" y="50"/>
                        <a:pt x="202" y="53"/>
                      </a:cubicBezTo>
                      <a:cubicBezTo>
                        <a:pt x="202" y="53"/>
                        <a:pt x="202" y="53"/>
                        <a:pt x="202" y="53"/>
                      </a:cubicBezTo>
                      <a:cubicBezTo>
                        <a:pt x="202" y="53"/>
                        <a:pt x="202" y="53"/>
                        <a:pt x="202" y="53"/>
                      </a:cubicBezTo>
                      <a:cubicBezTo>
                        <a:pt x="216" y="56"/>
                        <a:pt x="229" y="60"/>
                        <a:pt x="242" y="65"/>
                      </a:cubicBezTo>
                      <a:cubicBezTo>
                        <a:pt x="253" y="28"/>
                        <a:pt x="253" y="28"/>
                        <a:pt x="253" y="28"/>
                      </a:cubicBezTo>
                      <a:cubicBezTo>
                        <a:pt x="256" y="18"/>
                        <a:pt x="267" y="12"/>
                        <a:pt x="277" y="15"/>
                      </a:cubicBezTo>
                      <a:cubicBezTo>
                        <a:pt x="287" y="18"/>
                        <a:pt x="293" y="28"/>
                        <a:pt x="290" y="38"/>
                      </a:cubicBezTo>
                      <a:cubicBezTo>
                        <a:pt x="220" y="278"/>
                        <a:pt x="220" y="278"/>
                        <a:pt x="220" y="278"/>
                      </a:cubicBezTo>
                      <a:cubicBezTo>
                        <a:pt x="217" y="288"/>
                        <a:pt x="206" y="293"/>
                        <a:pt x="196" y="290"/>
                      </a:cubicBezTo>
                      <a:cubicBezTo>
                        <a:pt x="186" y="288"/>
                        <a:pt x="180" y="277"/>
                        <a:pt x="183" y="267"/>
                      </a:cubicBezTo>
                      <a:cubicBezTo>
                        <a:pt x="232" y="102"/>
                        <a:pt x="232" y="102"/>
                        <a:pt x="232" y="102"/>
                      </a:cubicBezTo>
                      <a:cubicBezTo>
                        <a:pt x="220" y="97"/>
                        <a:pt x="207" y="93"/>
                        <a:pt x="194" y="90"/>
                      </a:cubicBezTo>
                      <a:cubicBezTo>
                        <a:pt x="194" y="90"/>
                        <a:pt x="194" y="90"/>
                        <a:pt x="194" y="90"/>
                      </a:cubicBezTo>
                      <a:cubicBezTo>
                        <a:pt x="185" y="88"/>
                        <a:pt x="175" y="87"/>
                        <a:pt x="165" y="86"/>
                      </a:cubicBezTo>
                      <a:cubicBezTo>
                        <a:pt x="165" y="132"/>
                        <a:pt x="165" y="132"/>
                        <a:pt x="165" y="132"/>
                      </a:cubicBezTo>
                      <a:cubicBezTo>
                        <a:pt x="165" y="143"/>
                        <a:pt x="157" y="151"/>
                        <a:pt x="146" y="151"/>
                      </a:cubicBezTo>
                      <a:cubicBezTo>
                        <a:pt x="136" y="151"/>
                        <a:pt x="127" y="143"/>
                        <a:pt x="127" y="132"/>
                      </a:cubicBezTo>
                      <a:cubicBezTo>
                        <a:pt x="127" y="86"/>
                        <a:pt x="127" y="86"/>
                        <a:pt x="127" y="86"/>
                      </a:cubicBezTo>
                      <a:cubicBezTo>
                        <a:pt x="118" y="87"/>
                        <a:pt x="108" y="88"/>
                        <a:pt x="99" y="90"/>
                      </a:cubicBezTo>
                      <a:cubicBezTo>
                        <a:pt x="99" y="90"/>
                        <a:pt x="99" y="90"/>
                        <a:pt x="99" y="90"/>
                      </a:cubicBezTo>
                      <a:cubicBezTo>
                        <a:pt x="85" y="93"/>
                        <a:pt x="73" y="97"/>
                        <a:pt x="61" y="102"/>
                      </a:cubicBezTo>
                      <a:cubicBezTo>
                        <a:pt x="109" y="267"/>
                        <a:pt x="109" y="267"/>
                        <a:pt x="109" y="267"/>
                      </a:cubicBezTo>
                      <a:cubicBezTo>
                        <a:pt x="112" y="277"/>
                        <a:pt x="106" y="288"/>
                        <a:pt x="96" y="290"/>
                      </a:cubicBezTo>
                      <a:cubicBezTo>
                        <a:pt x="86" y="293"/>
                        <a:pt x="76" y="288"/>
                        <a:pt x="73" y="278"/>
                      </a:cubicBezTo>
                      <a:cubicBezTo>
                        <a:pt x="3" y="38"/>
                        <a:pt x="3" y="38"/>
                        <a:pt x="3"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5" name="组合 14"/>
            <p:cNvGrpSpPr/>
            <p:nvPr/>
          </p:nvGrpSpPr>
          <p:grpSpPr>
            <a:xfrm>
              <a:off x="6865573" y="3028204"/>
              <a:ext cx="698500" cy="698500"/>
              <a:chOff x="6865573" y="3028204"/>
              <a:chExt cx="698500" cy="698500"/>
            </a:xfrm>
          </p:grpSpPr>
          <p:sp>
            <p:nvSpPr>
              <p:cNvPr id="23" name="椭圆 22"/>
              <p:cNvSpPr/>
              <p:nvPr/>
            </p:nvSpPr>
            <p:spPr>
              <a:xfrm>
                <a:off x="6865573" y="3028204"/>
                <a:ext cx="698500" cy="698500"/>
              </a:xfrm>
              <a:prstGeom prst="ellipse">
                <a:avLst/>
              </a:prstGeom>
              <a:solidFill>
                <a:schemeClr val="accent1"/>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a:grpSpLocks noChangeAspect="1"/>
              </p:cNvGrpSpPr>
              <p:nvPr/>
            </p:nvGrpSpPr>
            <p:grpSpPr>
              <a:xfrm>
                <a:off x="7057703" y="3257268"/>
                <a:ext cx="312886" cy="266228"/>
                <a:chOff x="7909299" y="3772690"/>
                <a:chExt cx="667095" cy="567616"/>
              </a:xfrm>
              <a:solidFill>
                <a:schemeClr val="bg1"/>
              </a:solidFill>
            </p:grpSpPr>
            <p:sp>
              <p:nvSpPr>
                <p:cNvPr id="25" name="Freeform 16"/>
                <p:cNvSpPr>
                  <a:spLocks noEditPoints="1"/>
                </p:cNvSpPr>
                <p:nvPr/>
              </p:nvSpPr>
              <p:spPr bwMode="auto">
                <a:xfrm>
                  <a:off x="7909299" y="3772690"/>
                  <a:ext cx="623207" cy="567616"/>
                </a:xfrm>
                <a:custGeom>
                  <a:avLst/>
                  <a:gdLst>
                    <a:gd name="T0" fmla="*/ 499 w 721"/>
                    <a:gd name="T1" fmla="*/ 196 h 657"/>
                    <a:gd name="T2" fmla="*/ 637 w 721"/>
                    <a:gd name="T3" fmla="*/ 322 h 657"/>
                    <a:gd name="T4" fmla="*/ 646 w 721"/>
                    <a:gd name="T5" fmla="*/ 329 h 657"/>
                    <a:gd name="T6" fmla="*/ 672 w 721"/>
                    <a:gd name="T7" fmla="*/ 353 h 657"/>
                    <a:gd name="T8" fmla="*/ 686 w 721"/>
                    <a:gd name="T9" fmla="*/ 367 h 657"/>
                    <a:gd name="T10" fmla="*/ 669 w 721"/>
                    <a:gd name="T11" fmla="*/ 472 h 657"/>
                    <a:gd name="T12" fmla="*/ 611 w 721"/>
                    <a:gd name="T13" fmla="*/ 550 h 657"/>
                    <a:gd name="T14" fmla="*/ 539 w 721"/>
                    <a:gd name="T15" fmla="*/ 598 h 657"/>
                    <a:gd name="T16" fmla="*/ 439 w 721"/>
                    <a:gd name="T17" fmla="*/ 633 h 657"/>
                    <a:gd name="T18" fmla="*/ 433 w 721"/>
                    <a:gd name="T19" fmla="*/ 629 h 657"/>
                    <a:gd name="T20" fmla="*/ 449 w 721"/>
                    <a:gd name="T21" fmla="*/ 594 h 657"/>
                    <a:gd name="T22" fmla="*/ 481 w 721"/>
                    <a:gd name="T23" fmla="*/ 606 h 657"/>
                    <a:gd name="T24" fmla="*/ 501 w 721"/>
                    <a:gd name="T25" fmla="*/ 591 h 657"/>
                    <a:gd name="T26" fmla="*/ 501 w 721"/>
                    <a:gd name="T27" fmla="*/ 577 h 657"/>
                    <a:gd name="T28" fmla="*/ 452 w 721"/>
                    <a:gd name="T29" fmla="*/ 538 h 657"/>
                    <a:gd name="T30" fmla="*/ 449 w 721"/>
                    <a:gd name="T31" fmla="*/ 511 h 657"/>
                    <a:gd name="T32" fmla="*/ 475 w 721"/>
                    <a:gd name="T33" fmla="*/ 508 h 657"/>
                    <a:gd name="T34" fmla="*/ 530 w 721"/>
                    <a:gd name="T35" fmla="*/ 551 h 657"/>
                    <a:gd name="T36" fmla="*/ 567 w 721"/>
                    <a:gd name="T37" fmla="*/ 557 h 657"/>
                    <a:gd name="T38" fmla="*/ 572 w 721"/>
                    <a:gd name="T39" fmla="*/ 549 h 657"/>
                    <a:gd name="T40" fmla="*/ 570 w 721"/>
                    <a:gd name="T41" fmla="*/ 532 h 657"/>
                    <a:gd name="T42" fmla="*/ 506 w 721"/>
                    <a:gd name="T43" fmla="*/ 481 h 657"/>
                    <a:gd name="T44" fmla="*/ 503 w 721"/>
                    <a:gd name="T45" fmla="*/ 455 h 657"/>
                    <a:gd name="T46" fmla="*/ 529 w 721"/>
                    <a:gd name="T47" fmla="*/ 451 h 657"/>
                    <a:gd name="T48" fmla="*/ 596 w 721"/>
                    <a:gd name="T49" fmla="*/ 504 h 657"/>
                    <a:gd name="T50" fmla="*/ 598 w 721"/>
                    <a:gd name="T51" fmla="*/ 505 h 657"/>
                    <a:gd name="T52" fmla="*/ 620 w 721"/>
                    <a:gd name="T53" fmla="*/ 467 h 657"/>
                    <a:gd name="T54" fmla="*/ 549 w 721"/>
                    <a:gd name="T55" fmla="*/ 414 h 657"/>
                    <a:gd name="T56" fmla="*/ 546 w 721"/>
                    <a:gd name="T57" fmla="*/ 388 h 657"/>
                    <a:gd name="T58" fmla="*/ 572 w 721"/>
                    <a:gd name="T59" fmla="*/ 384 h 657"/>
                    <a:gd name="T60" fmla="*/ 642 w 721"/>
                    <a:gd name="T61" fmla="*/ 437 h 657"/>
                    <a:gd name="T62" fmla="*/ 663 w 721"/>
                    <a:gd name="T63" fmla="*/ 429 h 657"/>
                    <a:gd name="T64" fmla="*/ 659 w 721"/>
                    <a:gd name="T65" fmla="*/ 394 h 657"/>
                    <a:gd name="T66" fmla="*/ 645 w 721"/>
                    <a:gd name="T67" fmla="*/ 379 h 657"/>
                    <a:gd name="T68" fmla="*/ 457 w 721"/>
                    <a:gd name="T69" fmla="*/ 209 h 657"/>
                    <a:gd name="T70" fmla="*/ 462 w 721"/>
                    <a:gd name="T71" fmla="*/ 198 h 657"/>
                    <a:gd name="T72" fmla="*/ 496 w 721"/>
                    <a:gd name="T73" fmla="*/ 196 h 657"/>
                    <a:gd name="T74" fmla="*/ 499 w 721"/>
                    <a:gd name="T75" fmla="*/ 196 h 657"/>
                    <a:gd name="T76" fmla="*/ 86 w 721"/>
                    <a:gd name="T77" fmla="*/ 355 h 657"/>
                    <a:gd name="T78" fmla="*/ 59 w 721"/>
                    <a:gd name="T79" fmla="*/ 262 h 657"/>
                    <a:gd name="T80" fmla="*/ 35 w 721"/>
                    <a:gd name="T81" fmla="*/ 239 h 657"/>
                    <a:gd name="T82" fmla="*/ 0 w 721"/>
                    <a:gd name="T83" fmla="*/ 176 h 657"/>
                    <a:gd name="T84" fmla="*/ 16 w 721"/>
                    <a:gd name="T85" fmla="*/ 135 h 657"/>
                    <a:gd name="T86" fmla="*/ 116 w 721"/>
                    <a:gd name="T87" fmla="*/ 27 h 657"/>
                    <a:gd name="T88" fmla="*/ 199 w 721"/>
                    <a:gd name="T89" fmla="*/ 20 h 657"/>
                    <a:gd name="T90" fmla="*/ 242 w 721"/>
                    <a:gd name="T91" fmla="*/ 46 h 657"/>
                    <a:gd name="T92" fmla="*/ 254 w 721"/>
                    <a:gd name="T93" fmla="*/ 50 h 657"/>
                    <a:gd name="T94" fmla="*/ 350 w 721"/>
                    <a:gd name="T95" fmla="*/ 33 h 657"/>
                    <a:gd name="T96" fmla="*/ 284 w 721"/>
                    <a:gd name="T97" fmla="*/ 82 h 657"/>
                    <a:gd name="T98" fmla="*/ 260 w 721"/>
                    <a:gd name="T99" fmla="*/ 87 h 657"/>
                    <a:gd name="T100" fmla="*/ 195 w 721"/>
                    <a:gd name="T101" fmla="*/ 64 h 657"/>
                    <a:gd name="T102" fmla="*/ 176 w 721"/>
                    <a:gd name="T103" fmla="*/ 50 h 657"/>
                    <a:gd name="T104" fmla="*/ 144 w 721"/>
                    <a:gd name="T105" fmla="*/ 53 h 657"/>
                    <a:gd name="T106" fmla="*/ 44 w 721"/>
                    <a:gd name="T107" fmla="*/ 161 h 657"/>
                    <a:gd name="T108" fmla="*/ 44 w 721"/>
                    <a:gd name="T109" fmla="*/ 193 h 657"/>
                    <a:gd name="T110" fmla="*/ 69 w 721"/>
                    <a:gd name="T111" fmla="*/ 220 h 657"/>
                    <a:gd name="T112" fmla="*/ 97 w 721"/>
                    <a:gd name="T113" fmla="*/ 257 h 657"/>
                    <a:gd name="T114" fmla="*/ 115 w 721"/>
                    <a:gd name="T115" fmla="*/ 330 h 657"/>
                    <a:gd name="T116" fmla="*/ 86 w 721"/>
                    <a:gd name="T117" fmla="*/ 355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21" h="657">
                      <a:moveTo>
                        <a:pt x="499" y="196"/>
                      </a:moveTo>
                      <a:cubicBezTo>
                        <a:pt x="545" y="237"/>
                        <a:pt x="592" y="279"/>
                        <a:pt x="637" y="322"/>
                      </a:cubicBezTo>
                      <a:cubicBezTo>
                        <a:pt x="640" y="325"/>
                        <a:pt x="643" y="327"/>
                        <a:pt x="646" y="329"/>
                      </a:cubicBezTo>
                      <a:cubicBezTo>
                        <a:pt x="672" y="353"/>
                        <a:pt x="672" y="353"/>
                        <a:pt x="672" y="353"/>
                      </a:cubicBezTo>
                      <a:cubicBezTo>
                        <a:pt x="686" y="367"/>
                        <a:pt x="686" y="367"/>
                        <a:pt x="686" y="367"/>
                      </a:cubicBezTo>
                      <a:cubicBezTo>
                        <a:pt x="721" y="403"/>
                        <a:pt x="707" y="456"/>
                        <a:pt x="669" y="472"/>
                      </a:cubicBezTo>
                      <a:cubicBezTo>
                        <a:pt x="685" y="513"/>
                        <a:pt x="652" y="552"/>
                        <a:pt x="611" y="550"/>
                      </a:cubicBezTo>
                      <a:cubicBezTo>
                        <a:pt x="606" y="584"/>
                        <a:pt x="574" y="607"/>
                        <a:pt x="539" y="598"/>
                      </a:cubicBezTo>
                      <a:cubicBezTo>
                        <a:pt x="529" y="641"/>
                        <a:pt x="479" y="657"/>
                        <a:pt x="439" y="633"/>
                      </a:cubicBezTo>
                      <a:cubicBezTo>
                        <a:pt x="433" y="629"/>
                        <a:pt x="433" y="629"/>
                        <a:pt x="433" y="629"/>
                      </a:cubicBezTo>
                      <a:cubicBezTo>
                        <a:pt x="441" y="619"/>
                        <a:pt x="446" y="607"/>
                        <a:pt x="449" y="594"/>
                      </a:cubicBezTo>
                      <a:cubicBezTo>
                        <a:pt x="460" y="601"/>
                        <a:pt x="468" y="607"/>
                        <a:pt x="481" y="606"/>
                      </a:cubicBezTo>
                      <a:cubicBezTo>
                        <a:pt x="490" y="605"/>
                        <a:pt x="499" y="600"/>
                        <a:pt x="501" y="591"/>
                      </a:cubicBezTo>
                      <a:cubicBezTo>
                        <a:pt x="502" y="587"/>
                        <a:pt x="502" y="583"/>
                        <a:pt x="501" y="577"/>
                      </a:cubicBezTo>
                      <a:cubicBezTo>
                        <a:pt x="452" y="538"/>
                        <a:pt x="452" y="538"/>
                        <a:pt x="452" y="538"/>
                      </a:cubicBezTo>
                      <a:cubicBezTo>
                        <a:pt x="444" y="531"/>
                        <a:pt x="442" y="519"/>
                        <a:pt x="449" y="511"/>
                      </a:cubicBezTo>
                      <a:cubicBezTo>
                        <a:pt x="455" y="503"/>
                        <a:pt x="467" y="502"/>
                        <a:pt x="475" y="508"/>
                      </a:cubicBezTo>
                      <a:cubicBezTo>
                        <a:pt x="530" y="551"/>
                        <a:pt x="530" y="551"/>
                        <a:pt x="530" y="551"/>
                      </a:cubicBezTo>
                      <a:cubicBezTo>
                        <a:pt x="543" y="562"/>
                        <a:pt x="556" y="566"/>
                        <a:pt x="567" y="557"/>
                      </a:cubicBezTo>
                      <a:cubicBezTo>
                        <a:pt x="569" y="555"/>
                        <a:pt x="571" y="552"/>
                        <a:pt x="572" y="549"/>
                      </a:cubicBezTo>
                      <a:cubicBezTo>
                        <a:pt x="574" y="544"/>
                        <a:pt x="576" y="536"/>
                        <a:pt x="570" y="532"/>
                      </a:cubicBezTo>
                      <a:cubicBezTo>
                        <a:pt x="506" y="481"/>
                        <a:pt x="506" y="481"/>
                        <a:pt x="506" y="481"/>
                      </a:cubicBezTo>
                      <a:cubicBezTo>
                        <a:pt x="498" y="475"/>
                        <a:pt x="496" y="463"/>
                        <a:pt x="503" y="455"/>
                      </a:cubicBezTo>
                      <a:cubicBezTo>
                        <a:pt x="509" y="446"/>
                        <a:pt x="521" y="445"/>
                        <a:pt x="529" y="451"/>
                      </a:cubicBezTo>
                      <a:cubicBezTo>
                        <a:pt x="596" y="504"/>
                        <a:pt x="596" y="504"/>
                        <a:pt x="596" y="504"/>
                      </a:cubicBezTo>
                      <a:cubicBezTo>
                        <a:pt x="597" y="504"/>
                        <a:pt x="597" y="505"/>
                        <a:pt x="598" y="505"/>
                      </a:cubicBezTo>
                      <a:cubicBezTo>
                        <a:pt x="620" y="525"/>
                        <a:pt x="656" y="496"/>
                        <a:pt x="620" y="467"/>
                      </a:cubicBezTo>
                      <a:cubicBezTo>
                        <a:pt x="549" y="414"/>
                        <a:pt x="549" y="414"/>
                        <a:pt x="549" y="414"/>
                      </a:cubicBezTo>
                      <a:cubicBezTo>
                        <a:pt x="541" y="408"/>
                        <a:pt x="539" y="396"/>
                        <a:pt x="546" y="388"/>
                      </a:cubicBezTo>
                      <a:cubicBezTo>
                        <a:pt x="552" y="379"/>
                        <a:pt x="564" y="378"/>
                        <a:pt x="572" y="384"/>
                      </a:cubicBezTo>
                      <a:cubicBezTo>
                        <a:pt x="642" y="437"/>
                        <a:pt x="642" y="437"/>
                        <a:pt x="642" y="437"/>
                      </a:cubicBezTo>
                      <a:cubicBezTo>
                        <a:pt x="649" y="441"/>
                        <a:pt x="659" y="436"/>
                        <a:pt x="663" y="429"/>
                      </a:cubicBezTo>
                      <a:cubicBezTo>
                        <a:pt x="671" y="419"/>
                        <a:pt x="670" y="405"/>
                        <a:pt x="659" y="394"/>
                      </a:cubicBezTo>
                      <a:cubicBezTo>
                        <a:pt x="645" y="379"/>
                        <a:pt x="645" y="379"/>
                        <a:pt x="645" y="379"/>
                      </a:cubicBezTo>
                      <a:cubicBezTo>
                        <a:pt x="457" y="209"/>
                        <a:pt x="457" y="209"/>
                        <a:pt x="457" y="209"/>
                      </a:cubicBezTo>
                      <a:cubicBezTo>
                        <a:pt x="453" y="205"/>
                        <a:pt x="456" y="198"/>
                        <a:pt x="462" y="198"/>
                      </a:cubicBezTo>
                      <a:cubicBezTo>
                        <a:pt x="473" y="198"/>
                        <a:pt x="485" y="198"/>
                        <a:pt x="496" y="196"/>
                      </a:cubicBezTo>
                      <a:cubicBezTo>
                        <a:pt x="497" y="196"/>
                        <a:pt x="498" y="196"/>
                        <a:pt x="499" y="196"/>
                      </a:cubicBezTo>
                      <a:close/>
                      <a:moveTo>
                        <a:pt x="86" y="355"/>
                      </a:moveTo>
                      <a:cubicBezTo>
                        <a:pt x="66" y="330"/>
                        <a:pt x="64" y="295"/>
                        <a:pt x="59" y="262"/>
                      </a:cubicBezTo>
                      <a:cubicBezTo>
                        <a:pt x="35" y="239"/>
                        <a:pt x="35" y="239"/>
                        <a:pt x="35" y="239"/>
                      </a:cubicBezTo>
                      <a:cubicBezTo>
                        <a:pt x="17" y="219"/>
                        <a:pt x="0" y="205"/>
                        <a:pt x="0" y="176"/>
                      </a:cubicBezTo>
                      <a:cubicBezTo>
                        <a:pt x="0" y="161"/>
                        <a:pt x="6" y="147"/>
                        <a:pt x="16" y="135"/>
                      </a:cubicBezTo>
                      <a:cubicBezTo>
                        <a:pt x="116" y="27"/>
                        <a:pt x="116" y="27"/>
                        <a:pt x="116" y="27"/>
                      </a:cubicBezTo>
                      <a:cubicBezTo>
                        <a:pt x="138" y="3"/>
                        <a:pt x="174" y="0"/>
                        <a:pt x="199" y="20"/>
                      </a:cubicBezTo>
                      <a:cubicBezTo>
                        <a:pt x="215" y="31"/>
                        <a:pt x="221" y="38"/>
                        <a:pt x="242" y="46"/>
                      </a:cubicBezTo>
                      <a:cubicBezTo>
                        <a:pt x="248" y="48"/>
                        <a:pt x="253" y="50"/>
                        <a:pt x="254" y="50"/>
                      </a:cubicBezTo>
                      <a:cubicBezTo>
                        <a:pt x="284" y="46"/>
                        <a:pt x="316" y="32"/>
                        <a:pt x="350" y="33"/>
                      </a:cubicBezTo>
                      <a:cubicBezTo>
                        <a:pt x="337" y="42"/>
                        <a:pt x="286" y="82"/>
                        <a:pt x="284" y="82"/>
                      </a:cubicBezTo>
                      <a:cubicBezTo>
                        <a:pt x="276" y="84"/>
                        <a:pt x="268" y="86"/>
                        <a:pt x="260" y="87"/>
                      </a:cubicBezTo>
                      <a:cubicBezTo>
                        <a:pt x="241" y="90"/>
                        <a:pt x="208" y="74"/>
                        <a:pt x="195" y="64"/>
                      </a:cubicBezTo>
                      <a:cubicBezTo>
                        <a:pt x="176" y="50"/>
                        <a:pt x="176" y="50"/>
                        <a:pt x="176" y="50"/>
                      </a:cubicBezTo>
                      <a:cubicBezTo>
                        <a:pt x="166" y="42"/>
                        <a:pt x="152" y="44"/>
                        <a:pt x="144" y="53"/>
                      </a:cubicBezTo>
                      <a:cubicBezTo>
                        <a:pt x="44" y="161"/>
                        <a:pt x="44" y="161"/>
                        <a:pt x="44" y="161"/>
                      </a:cubicBezTo>
                      <a:cubicBezTo>
                        <a:pt x="36" y="170"/>
                        <a:pt x="36" y="184"/>
                        <a:pt x="44" y="193"/>
                      </a:cubicBezTo>
                      <a:cubicBezTo>
                        <a:pt x="53" y="203"/>
                        <a:pt x="59" y="210"/>
                        <a:pt x="69" y="220"/>
                      </a:cubicBezTo>
                      <a:cubicBezTo>
                        <a:pt x="80" y="230"/>
                        <a:pt x="95" y="244"/>
                        <a:pt x="97" y="257"/>
                      </a:cubicBezTo>
                      <a:cubicBezTo>
                        <a:pt x="100" y="280"/>
                        <a:pt x="102" y="313"/>
                        <a:pt x="115" y="330"/>
                      </a:cubicBezTo>
                      <a:cubicBezTo>
                        <a:pt x="102" y="337"/>
                        <a:pt x="95" y="344"/>
                        <a:pt x="86" y="3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7"/>
                <p:cNvSpPr>
                  <a:spLocks noEditPoints="1"/>
                </p:cNvSpPr>
                <p:nvPr/>
              </p:nvSpPr>
              <p:spPr bwMode="auto">
                <a:xfrm>
                  <a:off x="7980982" y="3772690"/>
                  <a:ext cx="595412" cy="551158"/>
                </a:xfrm>
                <a:custGeom>
                  <a:avLst/>
                  <a:gdLst>
                    <a:gd name="T0" fmla="*/ 319 w 689"/>
                    <a:gd name="T1" fmla="*/ 543 h 638"/>
                    <a:gd name="T2" fmla="*/ 262 w 689"/>
                    <a:gd name="T3" fmla="*/ 538 h 638"/>
                    <a:gd name="T4" fmla="*/ 258 w 689"/>
                    <a:gd name="T5" fmla="*/ 538 h 638"/>
                    <a:gd name="T6" fmla="*/ 257 w 689"/>
                    <a:gd name="T7" fmla="*/ 535 h 638"/>
                    <a:gd name="T8" fmla="*/ 241 w 689"/>
                    <a:gd name="T9" fmla="*/ 489 h 638"/>
                    <a:gd name="T10" fmla="*/ 241 w 689"/>
                    <a:gd name="T11" fmla="*/ 489 h 638"/>
                    <a:gd name="T12" fmla="*/ 185 w 689"/>
                    <a:gd name="T13" fmla="*/ 484 h 638"/>
                    <a:gd name="T14" fmla="*/ 181 w 689"/>
                    <a:gd name="T15" fmla="*/ 484 h 638"/>
                    <a:gd name="T16" fmla="*/ 180 w 689"/>
                    <a:gd name="T17" fmla="*/ 481 h 638"/>
                    <a:gd name="T18" fmla="*/ 164 w 689"/>
                    <a:gd name="T19" fmla="*/ 435 h 638"/>
                    <a:gd name="T20" fmla="*/ 164 w 689"/>
                    <a:gd name="T21" fmla="*/ 435 h 638"/>
                    <a:gd name="T22" fmla="*/ 117 w 689"/>
                    <a:gd name="T23" fmla="*/ 425 h 638"/>
                    <a:gd name="T24" fmla="*/ 113 w 689"/>
                    <a:gd name="T25" fmla="*/ 425 h 638"/>
                    <a:gd name="T26" fmla="*/ 113 w 689"/>
                    <a:gd name="T27" fmla="*/ 421 h 638"/>
                    <a:gd name="T28" fmla="*/ 100 w 689"/>
                    <a:gd name="T29" fmla="*/ 365 h 638"/>
                    <a:gd name="T30" fmla="*/ 100 w 689"/>
                    <a:gd name="T31" fmla="*/ 365 h 638"/>
                    <a:gd name="T32" fmla="*/ 32 w 689"/>
                    <a:gd name="T33" fmla="*/ 370 h 638"/>
                    <a:gd name="T34" fmla="*/ 18 w 689"/>
                    <a:gd name="T35" fmla="*/ 386 h 638"/>
                    <a:gd name="T36" fmla="*/ 23 w 689"/>
                    <a:gd name="T37" fmla="*/ 455 h 638"/>
                    <a:gd name="T38" fmla="*/ 23 w 689"/>
                    <a:gd name="T39" fmla="*/ 455 h 638"/>
                    <a:gd name="T40" fmla="*/ 66 w 689"/>
                    <a:gd name="T41" fmla="*/ 465 h 638"/>
                    <a:gd name="T42" fmla="*/ 70 w 689"/>
                    <a:gd name="T43" fmla="*/ 466 h 638"/>
                    <a:gd name="T44" fmla="*/ 69 w 689"/>
                    <a:gd name="T45" fmla="*/ 470 h 638"/>
                    <a:gd name="T46" fmla="*/ 76 w 689"/>
                    <a:gd name="T47" fmla="*/ 536 h 638"/>
                    <a:gd name="T48" fmla="*/ 76 w 689"/>
                    <a:gd name="T49" fmla="*/ 536 h 638"/>
                    <a:gd name="T50" fmla="*/ 142 w 689"/>
                    <a:gd name="T51" fmla="*/ 534 h 638"/>
                    <a:gd name="T52" fmla="*/ 145 w 689"/>
                    <a:gd name="T53" fmla="*/ 534 h 638"/>
                    <a:gd name="T54" fmla="*/ 147 w 689"/>
                    <a:gd name="T55" fmla="*/ 537 h 638"/>
                    <a:gd name="T56" fmla="*/ 164 w 689"/>
                    <a:gd name="T57" fmla="*/ 578 h 638"/>
                    <a:gd name="T58" fmla="*/ 164 w 689"/>
                    <a:gd name="T59" fmla="*/ 578 h 638"/>
                    <a:gd name="T60" fmla="*/ 230 w 689"/>
                    <a:gd name="T61" fmla="*/ 576 h 638"/>
                    <a:gd name="T62" fmla="*/ 233 w 689"/>
                    <a:gd name="T63" fmla="*/ 576 h 638"/>
                    <a:gd name="T64" fmla="*/ 235 w 689"/>
                    <a:gd name="T65" fmla="*/ 579 h 638"/>
                    <a:gd name="T66" fmla="*/ 252 w 689"/>
                    <a:gd name="T67" fmla="*/ 621 h 638"/>
                    <a:gd name="T68" fmla="*/ 320 w 689"/>
                    <a:gd name="T69" fmla="*/ 615 h 638"/>
                    <a:gd name="T70" fmla="*/ 324 w 689"/>
                    <a:gd name="T71" fmla="*/ 611 h 638"/>
                    <a:gd name="T72" fmla="*/ 319 w 689"/>
                    <a:gd name="T73" fmla="*/ 543 h 638"/>
                    <a:gd name="T74" fmla="*/ 449 w 689"/>
                    <a:gd name="T75" fmla="*/ 177 h 638"/>
                    <a:gd name="T76" fmla="*/ 576 w 689"/>
                    <a:gd name="T77" fmla="*/ 299 h 638"/>
                    <a:gd name="T78" fmla="*/ 597 w 689"/>
                    <a:gd name="T79" fmla="*/ 306 h 638"/>
                    <a:gd name="T80" fmla="*/ 616 w 689"/>
                    <a:gd name="T81" fmla="*/ 293 h 638"/>
                    <a:gd name="T82" fmla="*/ 636 w 689"/>
                    <a:gd name="T83" fmla="*/ 234 h 638"/>
                    <a:gd name="T84" fmla="*/ 649 w 689"/>
                    <a:gd name="T85" fmla="*/ 209 h 638"/>
                    <a:gd name="T86" fmla="*/ 671 w 689"/>
                    <a:gd name="T87" fmla="*/ 186 h 638"/>
                    <a:gd name="T88" fmla="*/ 672 w 689"/>
                    <a:gd name="T89" fmla="*/ 121 h 638"/>
                    <a:gd name="T90" fmla="*/ 580 w 689"/>
                    <a:gd name="T91" fmla="*/ 21 h 638"/>
                    <a:gd name="T92" fmla="*/ 515 w 689"/>
                    <a:gd name="T93" fmla="*/ 16 h 638"/>
                    <a:gd name="T94" fmla="*/ 493 w 689"/>
                    <a:gd name="T95" fmla="*/ 34 h 638"/>
                    <a:gd name="T96" fmla="*/ 457 w 689"/>
                    <a:gd name="T97" fmla="*/ 44 h 638"/>
                    <a:gd name="T98" fmla="*/ 390 w 689"/>
                    <a:gd name="T99" fmla="*/ 36 h 638"/>
                    <a:gd name="T100" fmla="*/ 274 w 689"/>
                    <a:gd name="T101" fmla="*/ 67 h 638"/>
                    <a:gd name="T102" fmla="*/ 139 w 689"/>
                    <a:gd name="T103" fmla="*/ 171 h 638"/>
                    <a:gd name="T104" fmla="*/ 203 w 689"/>
                    <a:gd name="T105" fmla="*/ 222 h 638"/>
                    <a:gd name="T106" fmla="*/ 301 w 689"/>
                    <a:gd name="T107" fmla="*/ 161 h 638"/>
                    <a:gd name="T108" fmla="*/ 346 w 689"/>
                    <a:gd name="T109" fmla="*/ 158 h 638"/>
                    <a:gd name="T110" fmla="*/ 408 w 689"/>
                    <a:gd name="T111" fmla="*/ 165 h 638"/>
                    <a:gd name="T112" fmla="*/ 449 w 689"/>
                    <a:gd name="T113" fmla="*/ 177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89" h="638">
                      <a:moveTo>
                        <a:pt x="319" y="543"/>
                      </a:moveTo>
                      <a:cubicBezTo>
                        <a:pt x="302" y="529"/>
                        <a:pt x="279" y="528"/>
                        <a:pt x="262" y="538"/>
                      </a:cubicBezTo>
                      <a:cubicBezTo>
                        <a:pt x="261" y="539"/>
                        <a:pt x="259" y="539"/>
                        <a:pt x="258" y="538"/>
                      </a:cubicBezTo>
                      <a:cubicBezTo>
                        <a:pt x="257" y="537"/>
                        <a:pt x="257" y="536"/>
                        <a:pt x="257" y="535"/>
                      </a:cubicBezTo>
                      <a:cubicBezTo>
                        <a:pt x="260" y="518"/>
                        <a:pt x="255" y="500"/>
                        <a:pt x="241" y="489"/>
                      </a:cubicBezTo>
                      <a:cubicBezTo>
                        <a:pt x="241" y="489"/>
                        <a:pt x="241" y="489"/>
                        <a:pt x="241" y="489"/>
                      </a:cubicBezTo>
                      <a:cubicBezTo>
                        <a:pt x="225" y="475"/>
                        <a:pt x="202" y="473"/>
                        <a:pt x="185" y="484"/>
                      </a:cubicBezTo>
                      <a:cubicBezTo>
                        <a:pt x="183" y="485"/>
                        <a:pt x="182" y="484"/>
                        <a:pt x="181" y="484"/>
                      </a:cubicBezTo>
                      <a:cubicBezTo>
                        <a:pt x="180" y="483"/>
                        <a:pt x="180" y="482"/>
                        <a:pt x="180" y="481"/>
                      </a:cubicBezTo>
                      <a:cubicBezTo>
                        <a:pt x="183" y="464"/>
                        <a:pt x="177" y="446"/>
                        <a:pt x="164" y="435"/>
                      </a:cubicBezTo>
                      <a:cubicBezTo>
                        <a:pt x="164" y="435"/>
                        <a:pt x="164" y="435"/>
                        <a:pt x="164" y="435"/>
                      </a:cubicBezTo>
                      <a:cubicBezTo>
                        <a:pt x="150" y="423"/>
                        <a:pt x="132" y="420"/>
                        <a:pt x="117" y="425"/>
                      </a:cubicBezTo>
                      <a:cubicBezTo>
                        <a:pt x="115" y="426"/>
                        <a:pt x="114" y="425"/>
                        <a:pt x="113" y="425"/>
                      </a:cubicBezTo>
                      <a:cubicBezTo>
                        <a:pt x="112" y="424"/>
                        <a:pt x="112" y="422"/>
                        <a:pt x="113" y="421"/>
                      </a:cubicBezTo>
                      <a:cubicBezTo>
                        <a:pt x="121" y="402"/>
                        <a:pt x="116" y="379"/>
                        <a:pt x="100" y="365"/>
                      </a:cubicBezTo>
                      <a:cubicBezTo>
                        <a:pt x="100" y="365"/>
                        <a:pt x="100" y="365"/>
                        <a:pt x="100" y="365"/>
                      </a:cubicBezTo>
                      <a:cubicBezTo>
                        <a:pt x="80" y="347"/>
                        <a:pt x="49" y="350"/>
                        <a:pt x="32" y="370"/>
                      </a:cubicBezTo>
                      <a:cubicBezTo>
                        <a:pt x="18" y="386"/>
                        <a:pt x="18" y="386"/>
                        <a:pt x="18" y="386"/>
                      </a:cubicBezTo>
                      <a:cubicBezTo>
                        <a:pt x="0" y="406"/>
                        <a:pt x="2" y="437"/>
                        <a:pt x="23" y="455"/>
                      </a:cubicBezTo>
                      <a:cubicBezTo>
                        <a:pt x="23" y="455"/>
                        <a:pt x="23" y="455"/>
                        <a:pt x="23" y="455"/>
                      </a:cubicBezTo>
                      <a:cubicBezTo>
                        <a:pt x="35" y="465"/>
                        <a:pt x="51" y="469"/>
                        <a:pt x="66" y="465"/>
                      </a:cubicBezTo>
                      <a:cubicBezTo>
                        <a:pt x="68" y="465"/>
                        <a:pt x="69" y="465"/>
                        <a:pt x="70" y="466"/>
                      </a:cubicBezTo>
                      <a:cubicBezTo>
                        <a:pt x="70" y="467"/>
                        <a:pt x="70" y="469"/>
                        <a:pt x="69" y="470"/>
                      </a:cubicBezTo>
                      <a:cubicBezTo>
                        <a:pt x="54" y="490"/>
                        <a:pt x="57" y="519"/>
                        <a:pt x="76" y="536"/>
                      </a:cubicBezTo>
                      <a:cubicBezTo>
                        <a:pt x="76" y="536"/>
                        <a:pt x="76" y="536"/>
                        <a:pt x="76" y="536"/>
                      </a:cubicBezTo>
                      <a:cubicBezTo>
                        <a:pt x="95" y="553"/>
                        <a:pt x="124" y="552"/>
                        <a:pt x="142" y="534"/>
                      </a:cubicBezTo>
                      <a:cubicBezTo>
                        <a:pt x="143" y="533"/>
                        <a:pt x="144" y="533"/>
                        <a:pt x="145" y="534"/>
                      </a:cubicBezTo>
                      <a:cubicBezTo>
                        <a:pt x="147" y="534"/>
                        <a:pt x="147" y="535"/>
                        <a:pt x="147" y="537"/>
                      </a:cubicBezTo>
                      <a:cubicBezTo>
                        <a:pt x="146" y="552"/>
                        <a:pt x="151" y="568"/>
                        <a:pt x="164" y="578"/>
                      </a:cubicBezTo>
                      <a:cubicBezTo>
                        <a:pt x="164" y="578"/>
                        <a:pt x="164" y="578"/>
                        <a:pt x="164" y="578"/>
                      </a:cubicBezTo>
                      <a:cubicBezTo>
                        <a:pt x="183" y="595"/>
                        <a:pt x="212" y="594"/>
                        <a:pt x="230" y="576"/>
                      </a:cubicBezTo>
                      <a:cubicBezTo>
                        <a:pt x="231" y="575"/>
                        <a:pt x="232" y="575"/>
                        <a:pt x="233" y="576"/>
                      </a:cubicBezTo>
                      <a:cubicBezTo>
                        <a:pt x="234" y="576"/>
                        <a:pt x="235" y="577"/>
                        <a:pt x="235" y="579"/>
                      </a:cubicBezTo>
                      <a:cubicBezTo>
                        <a:pt x="233" y="594"/>
                        <a:pt x="239" y="610"/>
                        <a:pt x="252" y="621"/>
                      </a:cubicBezTo>
                      <a:cubicBezTo>
                        <a:pt x="272" y="638"/>
                        <a:pt x="303" y="636"/>
                        <a:pt x="320" y="615"/>
                      </a:cubicBezTo>
                      <a:cubicBezTo>
                        <a:pt x="324" y="611"/>
                        <a:pt x="324" y="611"/>
                        <a:pt x="324" y="611"/>
                      </a:cubicBezTo>
                      <a:cubicBezTo>
                        <a:pt x="341" y="591"/>
                        <a:pt x="339" y="560"/>
                        <a:pt x="319" y="543"/>
                      </a:cubicBezTo>
                      <a:close/>
                      <a:moveTo>
                        <a:pt x="449" y="177"/>
                      </a:moveTo>
                      <a:cubicBezTo>
                        <a:pt x="489" y="216"/>
                        <a:pt x="535" y="260"/>
                        <a:pt x="576" y="299"/>
                      </a:cubicBezTo>
                      <a:cubicBezTo>
                        <a:pt x="582" y="305"/>
                        <a:pt x="589" y="307"/>
                        <a:pt x="597" y="306"/>
                      </a:cubicBezTo>
                      <a:cubicBezTo>
                        <a:pt x="605" y="305"/>
                        <a:pt x="612" y="300"/>
                        <a:pt x="616" y="293"/>
                      </a:cubicBezTo>
                      <a:cubicBezTo>
                        <a:pt x="626" y="275"/>
                        <a:pt x="632" y="256"/>
                        <a:pt x="636" y="234"/>
                      </a:cubicBezTo>
                      <a:cubicBezTo>
                        <a:pt x="638" y="224"/>
                        <a:pt x="642" y="216"/>
                        <a:pt x="649" y="209"/>
                      </a:cubicBezTo>
                      <a:cubicBezTo>
                        <a:pt x="671" y="186"/>
                        <a:pt x="671" y="186"/>
                        <a:pt x="671" y="186"/>
                      </a:cubicBezTo>
                      <a:cubicBezTo>
                        <a:pt x="688" y="168"/>
                        <a:pt x="689" y="139"/>
                        <a:pt x="672" y="121"/>
                      </a:cubicBezTo>
                      <a:cubicBezTo>
                        <a:pt x="580" y="21"/>
                        <a:pt x="580" y="21"/>
                        <a:pt x="580" y="21"/>
                      </a:cubicBezTo>
                      <a:cubicBezTo>
                        <a:pt x="563" y="3"/>
                        <a:pt x="534" y="0"/>
                        <a:pt x="515" y="16"/>
                      </a:cubicBezTo>
                      <a:cubicBezTo>
                        <a:pt x="493" y="34"/>
                        <a:pt x="493" y="34"/>
                        <a:pt x="493" y="34"/>
                      </a:cubicBezTo>
                      <a:cubicBezTo>
                        <a:pt x="483" y="42"/>
                        <a:pt x="471" y="45"/>
                        <a:pt x="457" y="44"/>
                      </a:cubicBezTo>
                      <a:cubicBezTo>
                        <a:pt x="435" y="41"/>
                        <a:pt x="412" y="38"/>
                        <a:pt x="390" y="36"/>
                      </a:cubicBezTo>
                      <a:cubicBezTo>
                        <a:pt x="347" y="30"/>
                        <a:pt x="308" y="41"/>
                        <a:pt x="274" y="67"/>
                      </a:cubicBezTo>
                      <a:cubicBezTo>
                        <a:pt x="229" y="101"/>
                        <a:pt x="184" y="136"/>
                        <a:pt x="139" y="171"/>
                      </a:cubicBezTo>
                      <a:cubicBezTo>
                        <a:pt x="95" y="207"/>
                        <a:pt x="151" y="255"/>
                        <a:pt x="203" y="222"/>
                      </a:cubicBezTo>
                      <a:cubicBezTo>
                        <a:pt x="301" y="161"/>
                        <a:pt x="301" y="161"/>
                        <a:pt x="301" y="161"/>
                      </a:cubicBezTo>
                      <a:cubicBezTo>
                        <a:pt x="315" y="153"/>
                        <a:pt x="331" y="152"/>
                        <a:pt x="346" y="158"/>
                      </a:cubicBezTo>
                      <a:cubicBezTo>
                        <a:pt x="364" y="167"/>
                        <a:pt x="388" y="168"/>
                        <a:pt x="408" y="165"/>
                      </a:cubicBezTo>
                      <a:cubicBezTo>
                        <a:pt x="423" y="162"/>
                        <a:pt x="437" y="166"/>
                        <a:pt x="449" y="1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6" name="组合 15"/>
            <p:cNvGrpSpPr/>
            <p:nvPr/>
          </p:nvGrpSpPr>
          <p:grpSpPr>
            <a:xfrm>
              <a:off x="5309728" y="2329704"/>
              <a:ext cx="698500" cy="698500"/>
              <a:chOff x="5309728" y="2329704"/>
              <a:chExt cx="698500" cy="698500"/>
            </a:xfrm>
          </p:grpSpPr>
          <p:sp>
            <p:nvSpPr>
              <p:cNvPr id="17" name="椭圆 16"/>
              <p:cNvSpPr/>
              <p:nvPr/>
            </p:nvSpPr>
            <p:spPr>
              <a:xfrm>
                <a:off x="5309728" y="2329704"/>
                <a:ext cx="698500" cy="698500"/>
              </a:xfrm>
              <a:prstGeom prst="ellipse">
                <a:avLst/>
              </a:prstGeom>
              <a:solidFill>
                <a:schemeClr val="accent1"/>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5510169" y="2533542"/>
                <a:ext cx="295624" cy="295912"/>
                <a:chOff x="5240338" y="2657475"/>
                <a:chExt cx="1630363" cy="1631951"/>
              </a:xfrm>
              <a:solidFill>
                <a:schemeClr val="bg1"/>
              </a:solidFill>
            </p:grpSpPr>
            <p:sp>
              <p:nvSpPr>
                <p:cNvPr id="19" name="Freeform 5"/>
                <p:cNvSpPr/>
                <p:nvPr/>
              </p:nvSpPr>
              <p:spPr bwMode="auto">
                <a:xfrm>
                  <a:off x="5240338" y="2735263"/>
                  <a:ext cx="1552575" cy="1554163"/>
                </a:xfrm>
                <a:custGeom>
                  <a:avLst/>
                  <a:gdLst>
                    <a:gd name="T0" fmla="*/ 391 w 517"/>
                    <a:gd name="T1" fmla="*/ 73 h 519"/>
                    <a:gd name="T2" fmla="*/ 346 w 517"/>
                    <a:gd name="T3" fmla="*/ 101 h 519"/>
                    <a:gd name="T4" fmla="*/ 325 w 517"/>
                    <a:gd name="T5" fmla="*/ 98 h 519"/>
                    <a:gd name="T6" fmla="*/ 122 w 517"/>
                    <a:gd name="T7" fmla="*/ 151 h 519"/>
                    <a:gd name="T8" fmla="*/ 125 w 517"/>
                    <a:gd name="T9" fmla="*/ 369 h 519"/>
                    <a:gd name="T10" fmla="*/ 332 w 517"/>
                    <a:gd name="T11" fmla="*/ 416 h 519"/>
                    <a:gd name="T12" fmla="*/ 421 w 517"/>
                    <a:gd name="T13" fmla="*/ 197 h 519"/>
                    <a:gd name="T14" fmla="*/ 425 w 517"/>
                    <a:gd name="T15" fmla="*/ 155 h 519"/>
                    <a:gd name="T16" fmla="*/ 443 w 517"/>
                    <a:gd name="T17" fmla="*/ 127 h 519"/>
                    <a:gd name="T18" fmla="*/ 444 w 517"/>
                    <a:gd name="T19" fmla="*/ 398 h 519"/>
                    <a:gd name="T20" fmla="*/ 113 w 517"/>
                    <a:gd name="T21" fmla="*/ 438 h 519"/>
                    <a:gd name="T22" fmla="*/ 88 w 517"/>
                    <a:gd name="T23" fmla="*/ 101 h 519"/>
                    <a:gd name="T24" fmla="*/ 391 w 517"/>
                    <a:gd name="T25" fmla="*/ 73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7" h="519">
                      <a:moveTo>
                        <a:pt x="391" y="73"/>
                      </a:moveTo>
                      <a:cubicBezTo>
                        <a:pt x="376" y="83"/>
                        <a:pt x="361" y="93"/>
                        <a:pt x="346" y="101"/>
                      </a:cubicBezTo>
                      <a:cubicBezTo>
                        <a:pt x="340" y="103"/>
                        <a:pt x="331" y="100"/>
                        <a:pt x="325" y="98"/>
                      </a:cubicBezTo>
                      <a:cubicBezTo>
                        <a:pt x="252" y="68"/>
                        <a:pt x="166" y="91"/>
                        <a:pt x="122" y="151"/>
                      </a:cubicBezTo>
                      <a:cubicBezTo>
                        <a:pt x="72" y="219"/>
                        <a:pt x="73" y="305"/>
                        <a:pt x="125" y="369"/>
                      </a:cubicBezTo>
                      <a:cubicBezTo>
                        <a:pt x="174" y="429"/>
                        <a:pt x="261" y="449"/>
                        <a:pt x="332" y="416"/>
                      </a:cubicBezTo>
                      <a:cubicBezTo>
                        <a:pt x="413" y="379"/>
                        <a:pt x="454" y="279"/>
                        <a:pt x="421" y="197"/>
                      </a:cubicBezTo>
                      <a:cubicBezTo>
                        <a:pt x="414" y="181"/>
                        <a:pt x="415" y="169"/>
                        <a:pt x="425" y="155"/>
                      </a:cubicBezTo>
                      <a:cubicBezTo>
                        <a:pt x="432" y="146"/>
                        <a:pt x="437" y="136"/>
                        <a:pt x="443" y="127"/>
                      </a:cubicBezTo>
                      <a:cubicBezTo>
                        <a:pt x="491" y="165"/>
                        <a:pt x="517" y="302"/>
                        <a:pt x="444" y="398"/>
                      </a:cubicBezTo>
                      <a:cubicBezTo>
                        <a:pt x="366" y="501"/>
                        <a:pt x="209" y="519"/>
                        <a:pt x="113" y="438"/>
                      </a:cubicBezTo>
                      <a:cubicBezTo>
                        <a:pt x="0" y="343"/>
                        <a:pt x="9" y="187"/>
                        <a:pt x="88" y="101"/>
                      </a:cubicBezTo>
                      <a:cubicBezTo>
                        <a:pt x="181" y="0"/>
                        <a:pt x="336" y="17"/>
                        <a:pt x="391"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6"/>
                <p:cNvSpPr/>
                <p:nvPr/>
              </p:nvSpPr>
              <p:spPr bwMode="auto">
                <a:xfrm>
                  <a:off x="5618163" y="3103563"/>
                  <a:ext cx="793750" cy="793750"/>
                </a:xfrm>
                <a:custGeom>
                  <a:avLst/>
                  <a:gdLst>
                    <a:gd name="T0" fmla="*/ 132 w 264"/>
                    <a:gd name="T1" fmla="*/ 265 h 265"/>
                    <a:gd name="T2" fmla="*/ 3 w 264"/>
                    <a:gd name="T3" fmla="*/ 128 h 265"/>
                    <a:gd name="T4" fmla="*/ 141 w 264"/>
                    <a:gd name="T5" fmla="*/ 5 h 265"/>
                    <a:gd name="T6" fmla="*/ 161 w 264"/>
                    <a:gd name="T7" fmla="*/ 8 h 265"/>
                    <a:gd name="T8" fmla="*/ 168 w 264"/>
                    <a:gd name="T9" fmla="*/ 27 h 265"/>
                    <a:gd name="T10" fmla="*/ 156 w 264"/>
                    <a:gd name="T11" fmla="*/ 50 h 265"/>
                    <a:gd name="T12" fmla="*/ 135 w 264"/>
                    <a:gd name="T13" fmla="*/ 63 h 265"/>
                    <a:gd name="T14" fmla="*/ 60 w 264"/>
                    <a:gd name="T15" fmla="*/ 131 h 265"/>
                    <a:gd name="T16" fmla="*/ 124 w 264"/>
                    <a:gd name="T17" fmla="*/ 207 h 265"/>
                    <a:gd name="T18" fmla="*/ 205 w 264"/>
                    <a:gd name="T19" fmla="*/ 136 h 265"/>
                    <a:gd name="T20" fmla="*/ 224 w 264"/>
                    <a:gd name="T21" fmla="*/ 110 h 265"/>
                    <a:gd name="T22" fmla="*/ 226 w 264"/>
                    <a:gd name="T23" fmla="*/ 109 h 265"/>
                    <a:gd name="T24" fmla="*/ 254 w 264"/>
                    <a:gd name="T25" fmla="*/ 97 h 265"/>
                    <a:gd name="T26" fmla="*/ 263 w 264"/>
                    <a:gd name="T27" fmla="*/ 135 h 265"/>
                    <a:gd name="T28" fmla="*/ 132 w 264"/>
                    <a:gd name="T29" fmla="*/ 26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4" h="265">
                      <a:moveTo>
                        <a:pt x="132" y="265"/>
                      </a:moveTo>
                      <a:cubicBezTo>
                        <a:pt x="57" y="265"/>
                        <a:pt x="0" y="205"/>
                        <a:pt x="3" y="128"/>
                      </a:cubicBezTo>
                      <a:cubicBezTo>
                        <a:pt x="5" y="58"/>
                        <a:pt x="70" y="0"/>
                        <a:pt x="141" y="5"/>
                      </a:cubicBezTo>
                      <a:cubicBezTo>
                        <a:pt x="148" y="6"/>
                        <a:pt x="155" y="7"/>
                        <a:pt x="161" y="8"/>
                      </a:cubicBezTo>
                      <a:cubicBezTo>
                        <a:pt x="173" y="11"/>
                        <a:pt x="175" y="17"/>
                        <a:pt x="168" y="27"/>
                      </a:cubicBezTo>
                      <a:cubicBezTo>
                        <a:pt x="164" y="34"/>
                        <a:pt x="159" y="42"/>
                        <a:pt x="156" y="50"/>
                      </a:cubicBezTo>
                      <a:cubicBezTo>
                        <a:pt x="152" y="60"/>
                        <a:pt x="147" y="63"/>
                        <a:pt x="135" y="63"/>
                      </a:cubicBezTo>
                      <a:cubicBezTo>
                        <a:pt x="94" y="63"/>
                        <a:pt x="63" y="92"/>
                        <a:pt x="60" y="131"/>
                      </a:cubicBezTo>
                      <a:cubicBezTo>
                        <a:pt x="57" y="167"/>
                        <a:pt x="85" y="200"/>
                        <a:pt x="124" y="207"/>
                      </a:cubicBezTo>
                      <a:cubicBezTo>
                        <a:pt x="164" y="214"/>
                        <a:pt x="204" y="180"/>
                        <a:pt x="205" y="136"/>
                      </a:cubicBezTo>
                      <a:cubicBezTo>
                        <a:pt x="205" y="120"/>
                        <a:pt x="209" y="113"/>
                        <a:pt x="224" y="110"/>
                      </a:cubicBezTo>
                      <a:cubicBezTo>
                        <a:pt x="225" y="110"/>
                        <a:pt x="225" y="109"/>
                        <a:pt x="226" y="109"/>
                      </a:cubicBezTo>
                      <a:cubicBezTo>
                        <a:pt x="235" y="105"/>
                        <a:pt x="244" y="101"/>
                        <a:pt x="254" y="97"/>
                      </a:cubicBezTo>
                      <a:cubicBezTo>
                        <a:pt x="257" y="109"/>
                        <a:pt x="263" y="122"/>
                        <a:pt x="263" y="135"/>
                      </a:cubicBezTo>
                      <a:cubicBezTo>
                        <a:pt x="264" y="207"/>
                        <a:pt x="205" y="265"/>
                        <a:pt x="132" y="2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7"/>
                <p:cNvSpPr/>
                <p:nvPr/>
              </p:nvSpPr>
              <p:spPr bwMode="auto">
                <a:xfrm>
                  <a:off x="6018213" y="2657475"/>
                  <a:ext cx="852488" cy="850900"/>
                </a:xfrm>
                <a:custGeom>
                  <a:avLst/>
                  <a:gdLst>
                    <a:gd name="T0" fmla="*/ 0 w 284"/>
                    <a:gd name="T1" fmla="*/ 280 h 284"/>
                    <a:gd name="T2" fmla="*/ 10 w 284"/>
                    <a:gd name="T3" fmla="*/ 266 h 284"/>
                    <a:gd name="T4" fmla="*/ 31 w 284"/>
                    <a:gd name="T5" fmla="*/ 214 h 284"/>
                    <a:gd name="T6" fmla="*/ 68 w 284"/>
                    <a:gd name="T7" fmla="*/ 156 h 284"/>
                    <a:gd name="T8" fmla="*/ 165 w 284"/>
                    <a:gd name="T9" fmla="*/ 97 h 284"/>
                    <a:gd name="T10" fmla="*/ 186 w 284"/>
                    <a:gd name="T11" fmla="*/ 62 h 284"/>
                    <a:gd name="T12" fmla="*/ 186 w 284"/>
                    <a:gd name="T13" fmla="*/ 41 h 284"/>
                    <a:gd name="T14" fmla="*/ 216 w 284"/>
                    <a:gd name="T15" fmla="*/ 2 h 284"/>
                    <a:gd name="T16" fmla="*/ 249 w 284"/>
                    <a:gd name="T17" fmla="*/ 34 h 284"/>
                    <a:gd name="T18" fmla="*/ 282 w 284"/>
                    <a:gd name="T19" fmla="*/ 68 h 284"/>
                    <a:gd name="T20" fmla="*/ 243 w 284"/>
                    <a:gd name="T21" fmla="*/ 97 h 284"/>
                    <a:gd name="T22" fmla="*/ 175 w 284"/>
                    <a:gd name="T23" fmla="*/ 142 h 284"/>
                    <a:gd name="T24" fmla="*/ 102 w 284"/>
                    <a:gd name="T25" fmla="*/ 240 h 284"/>
                    <a:gd name="T26" fmla="*/ 69 w 284"/>
                    <a:gd name="T27" fmla="*/ 253 h 284"/>
                    <a:gd name="T28" fmla="*/ 19 w 284"/>
                    <a:gd name="T29" fmla="*/ 273 h 284"/>
                    <a:gd name="T30" fmla="*/ 4 w 284"/>
                    <a:gd name="T31" fmla="*/ 284 h 284"/>
                    <a:gd name="T32" fmla="*/ 0 w 284"/>
                    <a:gd name="T33" fmla="*/ 28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4" h="284">
                      <a:moveTo>
                        <a:pt x="0" y="280"/>
                      </a:moveTo>
                      <a:cubicBezTo>
                        <a:pt x="4" y="275"/>
                        <a:pt x="6" y="270"/>
                        <a:pt x="10" y="266"/>
                      </a:cubicBezTo>
                      <a:cubicBezTo>
                        <a:pt x="23" y="251"/>
                        <a:pt x="31" y="236"/>
                        <a:pt x="31" y="214"/>
                      </a:cubicBezTo>
                      <a:cubicBezTo>
                        <a:pt x="31" y="189"/>
                        <a:pt x="48" y="169"/>
                        <a:pt x="68" y="156"/>
                      </a:cubicBezTo>
                      <a:cubicBezTo>
                        <a:pt x="100" y="134"/>
                        <a:pt x="132" y="115"/>
                        <a:pt x="165" y="97"/>
                      </a:cubicBezTo>
                      <a:cubicBezTo>
                        <a:pt x="180" y="89"/>
                        <a:pt x="188" y="79"/>
                        <a:pt x="186" y="62"/>
                      </a:cubicBezTo>
                      <a:cubicBezTo>
                        <a:pt x="185" y="55"/>
                        <a:pt x="185" y="48"/>
                        <a:pt x="186" y="41"/>
                      </a:cubicBezTo>
                      <a:cubicBezTo>
                        <a:pt x="187" y="17"/>
                        <a:pt x="198" y="4"/>
                        <a:pt x="216" y="2"/>
                      </a:cubicBezTo>
                      <a:cubicBezTo>
                        <a:pt x="234" y="0"/>
                        <a:pt x="243" y="9"/>
                        <a:pt x="249" y="34"/>
                      </a:cubicBezTo>
                      <a:cubicBezTo>
                        <a:pt x="274" y="40"/>
                        <a:pt x="284" y="50"/>
                        <a:pt x="282" y="68"/>
                      </a:cubicBezTo>
                      <a:cubicBezTo>
                        <a:pt x="280" y="86"/>
                        <a:pt x="266" y="100"/>
                        <a:pt x="243" y="97"/>
                      </a:cubicBezTo>
                      <a:cubicBezTo>
                        <a:pt x="205" y="92"/>
                        <a:pt x="189" y="111"/>
                        <a:pt x="175" y="142"/>
                      </a:cubicBezTo>
                      <a:cubicBezTo>
                        <a:pt x="159" y="181"/>
                        <a:pt x="137" y="215"/>
                        <a:pt x="102" y="240"/>
                      </a:cubicBezTo>
                      <a:cubicBezTo>
                        <a:pt x="92" y="246"/>
                        <a:pt x="80" y="253"/>
                        <a:pt x="69" y="253"/>
                      </a:cubicBezTo>
                      <a:cubicBezTo>
                        <a:pt x="49" y="252"/>
                        <a:pt x="33" y="259"/>
                        <a:pt x="19" y="273"/>
                      </a:cubicBezTo>
                      <a:cubicBezTo>
                        <a:pt x="15" y="277"/>
                        <a:pt x="9" y="280"/>
                        <a:pt x="4" y="284"/>
                      </a:cubicBezTo>
                      <a:cubicBezTo>
                        <a:pt x="3" y="283"/>
                        <a:pt x="1" y="281"/>
                        <a:pt x="0" y="2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8"/>
                <p:cNvSpPr/>
                <p:nvPr/>
              </p:nvSpPr>
              <p:spPr bwMode="auto">
                <a:xfrm>
                  <a:off x="5907088" y="3403600"/>
                  <a:ext cx="222250" cy="219075"/>
                </a:xfrm>
                <a:custGeom>
                  <a:avLst/>
                  <a:gdLst>
                    <a:gd name="T0" fmla="*/ 39 w 74"/>
                    <a:gd name="T1" fmla="*/ 3 h 73"/>
                    <a:gd name="T2" fmla="*/ 30 w 74"/>
                    <a:gd name="T3" fmla="*/ 43 h 73"/>
                    <a:gd name="T4" fmla="*/ 69 w 74"/>
                    <a:gd name="T5" fmla="*/ 35 h 73"/>
                    <a:gd name="T6" fmla="*/ 58 w 74"/>
                    <a:gd name="T7" fmla="*/ 62 h 73"/>
                    <a:gd name="T8" fmla="*/ 15 w 74"/>
                    <a:gd name="T9" fmla="*/ 63 h 73"/>
                    <a:gd name="T10" fmla="*/ 6 w 74"/>
                    <a:gd name="T11" fmla="*/ 21 h 73"/>
                    <a:gd name="T12" fmla="*/ 39 w 74"/>
                    <a:gd name="T13" fmla="*/ 3 h 73"/>
                  </a:gdLst>
                  <a:ahLst/>
                  <a:cxnLst>
                    <a:cxn ang="0">
                      <a:pos x="T0" y="T1"/>
                    </a:cxn>
                    <a:cxn ang="0">
                      <a:pos x="T2" y="T3"/>
                    </a:cxn>
                    <a:cxn ang="0">
                      <a:pos x="T4" y="T5"/>
                    </a:cxn>
                    <a:cxn ang="0">
                      <a:pos x="T6" y="T7"/>
                    </a:cxn>
                    <a:cxn ang="0">
                      <a:pos x="T8" y="T9"/>
                    </a:cxn>
                    <a:cxn ang="0">
                      <a:pos x="T10" y="T11"/>
                    </a:cxn>
                    <a:cxn ang="0">
                      <a:pos x="T12" y="T13"/>
                    </a:cxn>
                  </a:cxnLst>
                  <a:rect l="0" t="0" r="r" b="b"/>
                  <a:pathLst>
                    <a:path w="74" h="73">
                      <a:moveTo>
                        <a:pt x="39" y="3"/>
                      </a:moveTo>
                      <a:cubicBezTo>
                        <a:pt x="40" y="19"/>
                        <a:pt x="14" y="29"/>
                        <a:pt x="30" y="43"/>
                      </a:cubicBezTo>
                      <a:cubicBezTo>
                        <a:pt x="37" y="48"/>
                        <a:pt x="54" y="38"/>
                        <a:pt x="69" y="35"/>
                      </a:cubicBezTo>
                      <a:cubicBezTo>
                        <a:pt x="74" y="46"/>
                        <a:pt x="68" y="56"/>
                        <a:pt x="58" y="62"/>
                      </a:cubicBezTo>
                      <a:cubicBezTo>
                        <a:pt x="44" y="72"/>
                        <a:pt x="29" y="73"/>
                        <a:pt x="15" y="63"/>
                      </a:cubicBezTo>
                      <a:cubicBezTo>
                        <a:pt x="1" y="52"/>
                        <a:pt x="0" y="36"/>
                        <a:pt x="6" y="21"/>
                      </a:cubicBezTo>
                      <a:cubicBezTo>
                        <a:pt x="11" y="7"/>
                        <a:pt x="22" y="0"/>
                        <a:pt x="3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sp>
        <p:nvSpPr>
          <p:cNvPr id="42" name="文本框 41"/>
          <p:cNvSpPr txBox="1"/>
          <p:nvPr/>
        </p:nvSpPr>
        <p:spPr>
          <a:xfrm>
            <a:off x="225819" y="1665681"/>
            <a:ext cx="3425834" cy="134267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en-US" altLang="zh-CN" sz="1800" dirty="0">
                <a:latin typeface="+mn-lt"/>
              </a:rPr>
              <a:t>         Raptor</a:t>
            </a:r>
            <a:r>
              <a:rPr lang="zh-CN" altLang="en-US" sz="1800" dirty="0">
                <a:latin typeface="+mn-lt"/>
              </a:rPr>
              <a:t>码的</a:t>
            </a:r>
            <a:r>
              <a:rPr lang="zh-CN" altLang="en-US" sz="1800" dirty="0">
                <a:solidFill>
                  <a:srgbClr val="FF0000"/>
                </a:solidFill>
                <a:latin typeface="+mn-lt"/>
              </a:rPr>
              <a:t>编码和译码均需</a:t>
            </a:r>
            <a:r>
              <a:rPr lang="en-US" altLang="zh-CN" sz="1800" dirty="0">
                <a:solidFill>
                  <a:srgbClr val="FF0000"/>
                </a:solidFill>
                <a:latin typeface="+mn-lt"/>
              </a:rPr>
              <a:t>O(</a:t>
            </a:r>
            <a:r>
              <a:rPr lang="en-US" altLang="zh-CN" sz="1800" i="1" dirty="0" err="1">
                <a:solidFill>
                  <a:srgbClr val="FF0000"/>
                </a:solidFill>
                <a:latin typeface="+mn-lt"/>
              </a:rPr>
              <a:t>kln</a:t>
            </a:r>
            <a:r>
              <a:rPr lang="en-US" altLang="zh-CN" sz="1800" dirty="0">
                <a:solidFill>
                  <a:srgbClr val="FF0000"/>
                </a:solidFill>
                <a:latin typeface="+mn-lt"/>
              </a:rPr>
              <a:t>(1/</a:t>
            </a:r>
            <a:r>
              <a:rPr lang="en-US" altLang="zh-CN" sz="1800" i="1" dirty="0">
                <a:solidFill>
                  <a:srgbClr val="FF0000"/>
                </a:solidFill>
                <a:latin typeface="+mn-lt"/>
              </a:rPr>
              <a:t>ε</a:t>
            </a:r>
            <a:r>
              <a:rPr lang="en-US" altLang="zh-CN" sz="1800" dirty="0">
                <a:solidFill>
                  <a:srgbClr val="FF0000"/>
                </a:solidFill>
                <a:latin typeface="+mn-lt"/>
              </a:rPr>
              <a:t>))</a:t>
            </a:r>
            <a:r>
              <a:rPr lang="zh-CN" altLang="en-US" sz="1800" dirty="0">
                <a:solidFill>
                  <a:srgbClr val="FF0000"/>
                </a:solidFill>
                <a:latin typeface="+mn-lt"/>
              </a:rPr>
              <a:t>次包“异或操作”</a:t>
            </a:r>
            <a:r>
              <a:rPr lang="zh-CN" altLang="en-US" sz="1800" dirty="0">
                <a:latin typeface="+mn-lt"/>
              </a:rPr>
              <a:t>，其中</a:t>
            </a:r>
            <a:r>
              <a:rPr lang="en-US" altLang="zh-CN" sz="1800" i="1" dirty="0">
                <a:latin typeface="+mn-lt"/>
              </a:rPr>
              <a:t>ε</a:t>
            </a:r>
            <a:r>
              <a:rPr lang="zh-CN" altLang="en-US" sz="1800" dirty="0">
                <a:latin typeface="+mn-lt"/>
              </a:rPr>
              <a:t>是译码开销。</a:t>
            </a:r>
            <a:endParaRPr lang="en-US" altLang="zh-CN" sz="1800" dirty="0">
              <a:latin typeface="+mn-lt"/>
            </a:endParaRPr>
          </a:p>
        </p:txBody>
      </p:sp>
      <p:sp>
        <p:nvSpPr>
          <p:cNvPr id="43" name="文本框 42"/>
          <p:cNvSpPr txBox="1"/>
          <p:nvPr/>
        </p:nvSpPr>
        <p:spPr>
          <a:xfrm>
            <a:off x="225819" y="4559100"/>
            <a:ext cx="3425834" cy="134267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en-US" altLang="zh-CN" sz="1800" dirty="0">
                <a:latin typeface="+mn-lt"/>
              </a:rPr>
              <a:t>         Raptor</a:t>
            </a:r>
            <a:r>
              <a:rPr lang="zh-CN" altLang="en-US" sz="1800" dirty="0">
                <a:latin typeface="+mn-lt"/>
              </a:rPr>
              <a:t>码的</a:t>
            </a:r>
            <a:r>
              <a:rPr lang="zh-CN" altLang="en-US" sz="1800" dirty="0">
                <a:solidFill>
                  <a:srgbClr val="FF0000"/>
                </a:solidFill>
                <a:latin typeface="+mn-lt"/>
              </a:rPr>
              <a:t>编译码复杂度与码长成线性关系</a:t>
            </a:r>
            <a:r>
              <a:rPr lang="zh-CN" altLang="en-US" sz="1800" dirty="0">
                <a:latin typeface="+mn-lt"/>
              </a:rPr>
              <a:t>，优于</a:t>
            </a:r>
            <a:r>
              <a:rPr lang="en-US" altLang="zh-CN" sz="1800" dirty="0">
                <a:latin typeface="+mn-lt"/>
              </a:rPr>
              <a:t>LT</a:t>
            </a:r>
            <a:r>
              <a:rPr lang="zh-CN" altLang="en-US" sz="1800" dirty="0">
                <a:latin typeface="+mn-lt"/>
              </a:rPr>
              <a:t>码的对数关系。</a:t>
            </a:r>
            <a:endParaRPr lang="en-US" altLang="zh-CN" sz="1800" dirty="0">
              <a:latin typeface="+mn-lt"/>
            </a:endParaRPr>
          </a:p>
        </p:txBody>
      </p:sp>
      <p:sp>
        <p:nvSpPr>
          <p:cNvPr id="44" name="文本框 43"/>
          <p:cNvSpPr txBox="1"/>
          <p:nvPr/>
        </p:nvSpPr>
        <p:spPr>
          <a:xfrm>
            <a:off x="5740324" y="1252468"/>
            <a:ext cx="3238357" cy="134267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en-US" altLang="zh-CN" sz="1800" dirty="0">
                <a:latin typeface="+mn-lt"/>
              </a:rPr>
              <a:t>        Raptor </a:t>
            </a:r>
            <a:r>
              <a:rPr lang="zh-CN" altLang="en-US" sz="1800" dirty="0">
                <a:latin typeface="+mn-lt"/>
              </a:rPr>
              <a:t>使用联合优化弱化</a:t>
            </a:r>
            <a:r>
              <a:rPr lang="en-US" altLang="zh-CN" sz="1800" dirty="0">
                <a:latin typeface="+mn-lt"/>
              </a:rPr>
              <a:t>LT</a:t>
            </a:r>
            <a:r>
              <a:rPr lang="zh-CN" altLang="en-US" sz="1800" dirty="0">
                <a:latin typeface="+mn-lt"/>
              </a:rPr>
              <a:t>码和预编码的码率和参数可以获得</a:t>
            </a:r>
            <a:r>
              <a:rPr lang="zh-CN" altLang="en-US" sz="1800" dirty="0">
                <a:solidFill>
                  <a:srgbClr val="FF0000"/>
                </a:solidFill>
                <a:latin typeface="+mn-lt"/>
              </a:rPr>
              <a:t>更低的编译码复杂度</a:t>
            </a:r>
            <a:r>
              <a:rPr lang="zh-CN" altLang="en-US" sz="1800" dirty="0">
                <a:latin typeface="+mn-lt"/>
              </a:rPr>
              <a:t>。</a:t>
            </a:r>
            <a:endParaRPr lang="en-US" altLang="zh-CN" sz="1800" dirty="0">
              <a:latin typeface="+mn-lt"/>
            </a:endParaRPr>
          </a:p>
        </p:txBody>
      </p:sp>
      <p:sp>
        <p:nvSpPr>
          <p:cNvPr id="45" name="文本框 44"/>
          <p:cNvSpPr txBox="1"/>
          <p:nvPr/>
        </p:nvSpPr>
        <p:spPr>
          <a:xfrm>
            <a:off x="5835413" y="3162664"/>
            <a:ext cx="3238357" cy="177869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en-US" altLang="zh-CN" sz="1800" dirty="0">
                <a:latin typeface="+mn-lt"/>
              </a:rPr>
              <a:t>        Raptor </a:t>
            </a:r>
            <a:r>
              <a:rPr lang="zh-CN" altLang="en-US" sz="1800" dirty="0">
                <a:latin typeface="+mn-lt"/>
              </a:rPr>
              <a:t>使用联合优化弱化</a:t>
            </a:r>
            <a:r>
              <a:rPr lang="en-US" altLang="zh-CN" sz="1800" dirty="0">
                <a:latin typeface="+mn-lt"/>
              </a:rPr>
              <a:t>LT</a:t>
            </a:r>
            <a:r>
              <a:rPr lang="zh-CN" altLang="en-US" sz="1800" dirty="0">
                <a:latin typeface="+mn-lt"/>
              </a:rPr>
              <a:t>码和预编码的码率和参数可以</a:t>
            </a:r>
            <a:r>
              <a:rPr lang="zh-CN" altLang="en-US" sz="1800" dirty="0">
                <a:solidFill>
                  <a:srgbClr val="FF0000"/>
                </a:solidFill>
                <a:latin typeface="+mn-lt"/>
              </a:rPr>
              <a:t>在相同译码开销下获得更高的译码成功率</a:t>
            </a:r>
            <a:r>
              <a:rPr lang="zh-CN" altLang="en-US" sz="1800" dirty="0">
                <a:latin typeface="+mn-lt"/>
              </a:rPr>
              <a:t>。</a:t>
            </a:r>
            <a:endParaRPr lang="en-US" altLang="zh-CN" sz="1800" dirty="0">
              <a:latin typeface="+mn-lt"/>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652578" y="104775"/>
            <a:ext cx="2300287" cy="685800"/>
          </a:xfrm>
        </p:spPr>
        <p:txBody>
          <a:bodyPr vert="horz" wrap="square" lIns="91440" tIns="45720" rIns="91440" bIns="45720" anchor="ctr"/>
          <a:lstStyle/>
          <a:p>
            <a:r>
              <a:rPr lang="zh-CN" altLang="en-US" sz="2400" dirty="0"/>
              <a:t>内容提要</a:t>
            </a:r>
            <a:endParaRPr lang="zh-CN" altLang="en-US" sz="24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8198" name="AutoShape 49"/>
          <p:cNvSpPr/>
          <p:nvPr/>
        </p:nvSpPr>
        <p:spPr>
          <a:xfrm>
            <a:off x="2193994" y="5085823"/>
            <a:ext cx="5864112" cy="647065"/>
          </a:xfrm>
          <a:prstGeom prst="roundRect">
            <a:avLst>
              <a:gd name="adj" fmla="val 50000"/>
            </a:avLst>
          </a:prstGeom>
          <a:noFill/>
          <a:ln w="28575" cap="flat" cmpd="sng">
            <a:solidFill>
              <a:srgbClr val="C0C0C0"/>
            </a:solidFill>
            <a:prstDash val="solid"/>
            <a:headEnd type="none" w="med" len="med"/>
            <a:tailEnd type="none" w="med" len="med"/>
          </a:ln>
        </p:spPr>
        <p:txBody>
          <a:bodyPr wrap="none" anchor="ctr"/>
          <a:lstStyle/>
          <a:p>
            <a:pPr rtl="0">
              <a:defRPr/>
            </a:pPr>
            <a:r>
              <a:rPr lang="zh-CN" altLang="en-US" sz="2800" b="1" kern="0" dirty="0">
                <a:solidFill>
                  <a:srgbClr val="000000"/>
                </a:solidFill>
                <a:cs typeface="+mn-cs"/>
                <a:sym typeface="+mn-ea"/>
              </a:rPr>
              <a:t>纠删码的拓展</a:t>
            </a:r>
            <a:endParaRPr lang="zh-CN" altLang="en-US" sz="2800" b="1" kern="0" dirty="0">
              <a:solidFill>
                <a:srgbClr val="000000"/>
              </a:solidFill>
              <a:cs typeface="+mn-cs"/>
              <a:sym typeface="+mn-ea"/>
            </a:endParaRPr>
          </a:p>
        </p:txBody>
      </p:sp>
      <p:sp>
        <p:nvSpPr>
          <p:cNvPr id="9" name="AutoShape 50"/>
          <p:cNvSpPr>
            <a:spLocks noChangeArrowheads="1"/>
          </p:cNvSpPr>
          <p:nvPr/>
        </p:nvSpPr>
        <p:spPr bwMode="gray">
          <a:xfrm>
            <a:off x="2571706" y="4070659"/>
            <a:ext cx="5486400" cy="647065"/>
          </a:xfrm>
          <a:prstGeom prst="roundRect">
            <a:avLst>
              <a:gd name="adj" fmla="val 50000"/>
            </a:avLst>
          </a:prstGeom>
          <a:noFill/>
          <a:ln w="28575" algn="ctr">
            <a:solidFill>
              <a:srgbClr val="C0C0C0"/>
            </a:solidFill>
            <a:round/>
          </a:ln>
          <a:effectLst/>
        </p:spPr>
        <p:txBody>
          <a:bodyPr wrap="none" anchor="ctr"/>
          <a:lstStyle/>
          <a:p>
            <a:pPr marR="0" lvl="0" rtl="0">
              <a:buClrTx/>
              <a:buSzTx/>
              <a:defRPr/>
            </a:pPr>
            <a:r>
              <a:rPr lang="zh-CN" altLang="en-US" sz="2800" b="1" kern="0" dirty="0">
                <a:solidFill>
                  <a:schemeClr val="bg1">
                    <a:lumMod val="75000"/>
                  </a:schemeClr>
                </a:solidFill>
                <a:cs typeface="+mn-cs"/>
                <a:sym typeface="+mn-ea"/>
              </a:rPr>
              <a:t>纠删码的分类及其编解码原理</a:t>
            </a:r>
            <a:endParaRPr lang="zh-CN" altLang="en-US" sz="2800" b="1" kern="0" dirty="0">
              <a:solidFill>
                <a:schemeClr val="bg1">
                  <a:lumMod val="75000"/>
                </a:schemeClr>
              </a:solidFill>
              <a:cs typeface="+mn-cs"/>
              <a:sym typeface="+mn-ea"/>
            </a:endParaRPr>
          </a:p>
        </p:txBody>
      </p:sp>
      <p:sp>
        <p:nvSpPr>
          <p:cNvPr id="10" name="AutoShape 51"/>
          <p:cNvSpPr>
            <a:spLocks noChangeArrowheads="1"/>
          </p:cNvSpPr>
          <p:nvPr/>
        </p:nvSpPr>
        <p:spPr bwMode="gray">
          <a:xfrm>
            <a:off x="2574072" y="2959374"/>
            <a:ext cx="5486400" cy="698500"/>
          </a:xfrm>
          <a:prstGeom prst="roundRect">
            <a:avLst>
              <a:gd name="adj" fmla="val 50000"/>
            </a:avLst>
          </a:prstGeom>
          <a:noFill/>
          <a:ln w="28575" algn="ctr">
            <a:solidFill>
              <a:srgbClr val="C0C0C0"/>
            </a:solidFill>
            <a:round/>
          </a:ln>
          <a:effectLst/>
        </p:spPr>
        <p:txBody>
          <a:bodyPr wrap="none" anchor="ctr"/>
          <a:lstStyle/>
          <a:p>
            <a:pPr rtl="0">
              <a:defRPr/>
            </a:pPr>
            <a:r>
              <a:rPr lang="zh-CN" altLang="en-US" sz="2800" b="1" kern="0" dirty="0">
                <a:solidFill>
                  <a:schemeClr val="bg1">
                    <a:lumMod val="75000"/>
                  </a:schemeClr>
                </a:solidFill>
                <a:cs typeface="+mn-cs"/>
              </a:rPr>
              <a:t>纠删码的基础知识介绍</a:t>
            </a:r>
            <a:endParaRPr lang="zh-CN" altLang="en-US" sz="2800" b="1" kern="0" dirty="0">
              <a:solidFill>
                <a:schemeClr val="bg1">
                  <a:lumMod val="75000"/>
                </a:schemeClr>
              </a:solidFill>
              <a:cs typeface="+mn-cs"/>
            </a:endParaRPr>
          </a:p>
        </p:txBody>
      </p:sp>
      <p:sp>
        <p:nvSpPr>
          <p:cNvPr id="11" name="AutoShape 52"/>
          <p:cNvSpPr>
            <a:spLocks noChangeArrowheads="1"/>
          </p:cNvSpPr>
          <p:nvPr/>
        </p:nvSpPr>
        <p:spPr bwMode="gray">
          <a:xfrm>
            <a:off x="2193994" y="1947269"/>
            <a:ext cx="5866478" cy="67500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lang="zh-CN" altLang="en-US" sz="2800" b="1" kern="0" dirty="0">
                <a:solidFill>
                  <a:schemeClr val="bg1">
                    <a:lumMod val="75000"/>
                  </a:schemeClr>
                </a:solidFill>
                <a:cs typeface="+mn-cs"/>
              </a:rPr>
              <a:t>纠删码技术的介绍</a:t>
            </a:r>
            <a:endParaRPr lang="zh-CN" altLang="en-US" sz="2800" b="1" kern="0" dirty="0">
              <a:solidFill>
                <a:schemeClr val="bg1">
                  <a:lumMod val="75000"/>
                </a:schemeClr>
              </a:solidFill>
              <a:cs typeface="+mn-cs"/>
            </a:endParaRPr>
          </a:p>
        </p:txBody>
      </p:sp>
      <p:grpSp>
        <p:nvGrpSpPr>
          <p:cNvPr id="8202" name="Group 53"/>
          <p:cNvGrpSpPr/>
          <p:nvPr/>
        </p:nvGrpSpPr>
        <p:grpSpPr>
          <a:xfrm>
            <a:off x="1597819" y="2133624"/>
            <a:ext cx="381000" cy="381000"/>
            <a:chOff x="2078" y="1680"/>
            <a:chExt cx="1615" cy="1615"/>
          </a:xfrm>
        </p:grpSpPr>
        <p:sp>
          <p:nvSpPr>
            <p:cNvPr id="1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3" name="Group 60"/>
          <p:cNvGrpSpPr/>
          <p:nvPr/>
        </p:nvGrpSpPr>
        <p:grpSpPr>
          <a:xfrm>
            <a:off x="2078405" y="3106678"/>
            <a:ext cx="381000" cy="381000"/>
            <a:chOff x="2078" y="1680"/>
            <a:chExt cx="1615" cy="1615"/>
          </a:xfrm>
        </p:grpSpPr>
        <p:sp>
          <p:nvSpPr>
            <p:cNvPr id="20" name="Oval 61"/>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1" name="Oval 62"/>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2" name="Oval 63"/>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3" name="Oval 64"/>
            <p:cNvSpPr>
              <a:spLocks noChangeArrowheads="1"/>
            </p:cNvSpPr>
            <p:nvPr/>
          </p:nvSpPr>
          <p:spPr bwMode="gray">
            <a:xfrm>
              <a:off x="2253" y="1855"/>
              <a:ext cx="1265" cy="1265"/>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4" name="Oval 65"/>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5" name="Oval 66"/>
            <p:cNvSpPr>
              <a:spLocks noChangeArrowheads="1"/>
            </p:cNvSpPr>
            <p:nvPr/>
          </p:nvSpPr>
          <p:spPr bwMode="gray">
            <a:xfrm>
              <a:off x="2334" y="1936"/>
              <a:ext cx="1097" cy="1104"/>
            </a:xfrm>
            <a:prstGeom prst="ellipse">
              <a:avLst/>
            </a:prstGeom>
            <a:gradFill rotWithShape="1">
              <a:gsLst>
                <a:gs pos="0">
                  <a:srgbClr val="48BE67"/>
                </a:gs>
                <a:gs pos="100000">
                  <a:srgbClr val="48BE67">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4" name="Group 67"/>
          <p:cNvGrpSpPr/>
          <p:nvPr/>
        </p:nvGrpSpPr>
        <p:grpSpPr>
          <a:xfrm>
            <a:off x="2089257" y="4189911"/>
            <a:ext cx="381000" cy="381000"/>
            <a:chOff x="2078" y="1680"/>
            <a:chExt cx="1615" cy="1615"/>
          </a:xfrm>
        </p:grpSpPr>
        <p:sp>
          <p:nvSpPr>
            <p:cNvPr id="2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5" name="Group 74"/>
          <p:cNvGrpSpPr/>
          <p:nvPr/>
        </p:nvGrpSpPr>
        <p:grpSpPr>
          <a:xfrm>
            <a:off x="1597819" y="5218855"/>
            <a:ext cx="381000" cy="381000"/>
            <a:chOff x="2078" y="1680"/>
            <a:chExt cx="1615" cy="1615"/>
          </a:xfrm>
        </p:grpSpPr>
        <p:sp>
          <p:nvSpPr>
            <p:cNvPr id="34" name="Oval 75"/>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5" name="Oval 76"/>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6" name="Oval 77"/>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7" name="Oval 78"/>
            <p:cNvSpPr>
              <a:spLocks noChangeArrowheads="1"/>
            </p:cNvSpPr>
            <p:nvPr/>
          </p:nvSpPr>
          <p:spPr bwMode="gray">
            <a:xfrm>
              <a:off x="2253" y="1855"/>
              <a:ext cx="1265" cy="1265"/>
            </a:xfrm>
            <a:prstGeom prst="ellipse">
              <a:avLst/>
            </a:prstGeom>
            <a:gradFill rotWithShape="1">
              <a:gsLst>
                <a:gs pos="0">
                  <a:srgbClr val="8D67E1">
                    <a:gamma/>
                    <a:shade val="0"/>
                    <a:invGamma/>
                  </a:srgbClr>
                </a:gs>
                <a:gs pos="100000">
                  <a:srgbClr val="8D67E1"/>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8" name="Oval 79"/>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9" name="Oval 80"/>
            <p:cNvSpPr>
              <a:spLocks noChangeArrowheads="1"/>
            </p:cNvSpPr>
            <p:nvPr/>
          </p:nvSpPr>
          <p:spPr bwMode="gray">
            <a:xfrm>
              <a:off x="2334" y="1936"/>
              <a:ext cx="1097" cy="1104"/>
            </a:xfrm>
            <a:prstGeom prst="ellipse">
              <a:avLst/>
            </a:prstGeom>
            <a:gradFill rotWithShape="1">
              <a:gsLst>
                <a:gs pos="0">
                  <a:srgbClr val="8D67E1"/>
                </a:gs>
                <a:gs pos="100000">
                  <a:srgbClr val="8D67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EC</a:t>
            </a:r>
            <a:r>
              <a:rPr lang="zh-CN" altLang="en-US" sz="2400" dirty="0">
                <a:sym typeface="+mn-ea"/>
              </a:rPr>
              <a:t>码的应用</a:t>
            </a:r>
            <a:endParaRPr lang="zh-CN" altLang="en-US" sz="2400" dirty="0">
              <a:sym typeface="+mn-ea"/>
            </a:endParaRPr>
          </a:p>
        </p:txBody>
      </p:sp>
      <p:grpSp>
        <p:nvGrpSpPr>
          <p:cNvPr id="15" name="组合 14"/>
          <p:cNvGrpSpPr/>
          <p:nvPr/>
        </p:nvGrpSpPr>
        <p:grpSpPr>
          <a:xfrm>
            <a:off x="4810929" y="935251"/>
            <a:ext cx="4333069" cy="571018"/>
            <a:chOff x="4804945" y="1360397"/>
            <a:chExt cx="4333069" cy="691283"/>
          </a:xfrm>
        </p:grpSpPr>
        <p:sp>
          <p:nvSpPr>
            <p:cNvPr id="4" name="Pentagon 25"/>
            <p:cNvSpPr/>
            <p:nvPr/>
          </p:nvSpPr>
          <p:spPr>
            <a:xfrm flipH="1">
              <a:off x="4804945" y="1360397"/>
              <a:ext cx="4333069" cy="691283"/>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555" dirty="0">
                <a:cs typeface="+mn-ea"/>
                <a:sym typeface="+mn-lt"/>
              </a:endParaRPr>
            </a:p>
          </p:txBody>
        </p:sp>
        <p:sp>
          <p:nvSpPr>
            <p:cNvPr id="5" name="TextBox 26"/>
            <p:cNvSpPr txBox="1"/>
            <p:nvPr/>
          </p:nvSpPr>
          <p:spPr>
            <a:xfrm flipH="1">
              <a:off x="5059656" y="1410268"/>
              <a:ext cx="1716102" cy="461657"/>
            </a:xfrm>
            <a:prstGeom prst="rect">
              <a:avLst/>
            </a:prstGeom>
          </p:spPr>
          <p:txBody>
            <a:bodyPr wrap="square" lIns="91431" tIns="45716" rIns="91431" bIns="45716">
              <a:spAutoFit/>
            </a:bodyPr>
            <a:lstStyle>
              <a:defPPr>
                <a:defRPr lang="zh-CN"/>
              </a:defPPr>
              <a:lvl1pPr>
                <a:defRPr sz="2200" b="1">
                  <a:solidFill>
                    <a:schemeClr val="tx1">
                      <a:lumMod val="65000"/>
                      <a:lumOff val="35000"/>
                    </a:schemeClr>
                  </a:solidFill>
                  <a:latin typeface="微软雅黑" panose="020B0503020204020204" charset="-122"/>
                  <a:ea typeface="微软雅黑" panose="020B0503020204020204" charset="-122"/>
                </a:defRPr>
              </a:lvl1pPr>
            </a:lstStyle>
            <a:p>
              <a:pPr lvl="0" algn="ctr"/>
              <a:r>
                <a:rPr lang="zh-CN" altLang="en-US" sz="2400" b="0" dirty="0">
                  <a:solidFill>
                    <a:schemeClr val="bg1"/>
                  </a:solidFill>
                  <a:latin typeface="+mn-lt"/>
                  <a:ea typeface="黑体" panose="02010609060101010101" pitchFamily="49" charset="-122"/>
                </a:rPr>
                <a:t>替代</a:t>
              </a:r>
              <a:r>
                <a:rPr lang="en-US" altLang="zh-CN" sz="2400" b="0" dirty="0">
                  <a:solidFill>
                    <a:schemeClr val="bg1"/>
                  </a:solidFill>
                  <a:latin typeface="+mn-lt"/>
                  <a:ea typeface="黑体" panose="02010609060101010101" pitchFamily="49" charset="-122"/>
                </a:rPr>
                <a:t>RAID</a:t>
              </a:r>
              <a:endParaRPr lang="zh-CN" altLang="en-US" sz="2400" b="0" dirty="0">
                <a:solidFill>
                  <a:schemeClr val="bg1"/>
                </a:solidFill>
                <a:latin typeface="+mn-lt"/>
                <a:ea typeface="黑体" panose="02010609060101010101" pitchFamily="49" charset="-122"/>
              </a:endParaRPr>
            </a:p>
          </p:txBody>
        </p:sp>
      </p:grpSp>
      <p:grpSp>
        <p:nvGrpSpPr>
          <p:cNvPr id="14" name="组合 13"/>
          <p:cNvGrpSpPr/>
          <p:nvPr/>
        </p:nvGrpSpPr>
        <p:grpSpPr>
          <a:xfrm>
            <a:off x="4810930" y="3454759"/>
            <a:ext cx="4333070" cy="571019"/>
            <a:chOff x="4810930" y="3454759"/>
            <a:chExt cx="4333070" cy="691284"/>
          </a:xfrm>
        </p:grpSpPr>
        <p:sp>
          <p:nvSpPr>
            <p:cNvPr id="6" name="Pentagon 28"/>
            <p:cNvSpPr/>
            <p:nvPr/>
          </p:nvSpPr>
          <p:spPr>
            <a:xfrm flipH="1">
              <a:off x="4810930" y="3454759"/>
              <a:ext cx="4333070" cy="691284"/>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555" dirty="0">
                <a:cs typeface="+mn-ea"/>
                <a:sym typeface="+mn-lt"/>
              </a:endParaRPr>
            </a:p>
          </p:txBody>
        </p:sp>
        <p:sp>
          <p:nvSpPr>
            <p:cNvPr id="7" name="TextBox 29"/>
            <p:cNvSpPr txBox="1"/>
            <p:nvPr/>
          </p:nvSpPr>
          <p:spPr>
            <a:xfrm flipH="1">
              <a:off x="5026943" y="3511565"/>
              <a:ext cx="3925922" cy="461657"/>
            </a:xfrm>
            <a:prstGeom prst="rect">
              <a:avLst/>
            </a:prstGeom>
          </p:spPr>
          <p:txBody>
            <a:bodyPr wrap="square" lIns="91431" tIns="45716" rIns="91431" bIns="45716">
              <a:spAutoFit/>
            </a:bodyPr>
            <a:lstStyle>
              <a:defPPr>
                <a:defRPr lang="zh-CN"/>
              </a:defPPr>
              <a:lvl1pPr>
                <a:defRPr sz="2000" b="1">
                  <a:solidFill>
                    <a:schemeClr val="bg1">
                      <a:lumMod val="95000"/>
                    </a:schemeClr>
                  </a:solidFill>
                  <a:latin typeface="微软雅黑" panose="020B0503020204020204" charset="-122"/>
                  <a:ea typeface="微软雅黑" panose="020B0503020204020204" charset="-122"/>
                </a:defRPr>
              </a:lvl1pPr>
            </a:lstStyle>
            <a:p>
              <a:pPr lvl="0" algn="ctr"/>
              <a:r>
                <a:rPr lang="zh-CN" altLang="en-US" sz="2400" b="0" dirty="0">
                  <a:solidFill>
                    <a:srgbClr val="FFFFFF"/>
                  </a:solidFill>
                  <a:latin typeface="黑体" panose="02010609060101010101" pitchFamily="49" charset="-122"/>
                  <a:ea typeface="黑体" panose="02010609060101010101" pitchFamily="49" charset="-122"/>
                </a:rPr>
                <a:t>各大互联网公司的存储服务</a:t>
              </a:r>
              <a:endParaRPr lang="zh-CN" altLang="en-US" sz="2400" b="0" dirty="0">
                <a:solidFill>
                  <a:srgbClr val="FFFFFF"/>
                </a:solidFill>
                <a:latin typeface="黑体" panose="02010609060101010101" pitchFamily="49" charset="-122"/>
                <a:ea typeface="黑体" panose="02010609060101010101" pitchFamily="49" charset="-122"/>
              </a:endParaRPr>
            </a:p>
          </p:txBody>
        </p:sp>
      </p:grpSp>
      <p:grpSp>
        <p:nvGrpSpPr>
          <p:cNvPr id="3" name="组合 2"/>
          <p:cNvGrpSpPr/>
          <p:nvPr/>
        </p:nvGrpSpPr>
        <p:grpSpPr>
          <a:xfrm>
            <a:off x="4810929" y="5283607"/>
            <a:ext cx="4333071" cy="571018"/>
            <a:chOff x="4810929" y="3978248"/>
            <a:chExt cx="4333071" cy="691284"/>
          </a:xfrm>
        </p:grpSpPr>
        <p:sp>
          <p:nvSpPr>
            <p:cNvPr id="8" name="Pentagon 31"/>
            <p:cNvSpPr/>
            <p:nvPr/>
          </p:nvSpPr>
          <p:spPr>
            <a:xfrm flipH="1">
              <a:off x="4810929" y="3978248"/>
              <a:ext cx="4333071" cy="691284"/>
            </a:xfrm>
            <a:prstGeom prst="homePlate">
              <a:avLst/>
            </a:prstGeom>
            <a:solidFill>
              <a:srgbClr val="F3A5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555" dirty="0">
                <a:cs typeface="+mn-ea"/>
                <a:sym typeface="+mn-lt"/>
              </a:endParaRPr>
            </a:p>
          </p:txBody>
        </p:sp>
        <p:sp>
          <p:nvSpPr>
            <p:cNvPr id="10" name="TextBox 32"/>
            <p:cNvSpPr txBox="1"/>
            <p:nvPr/>
          </p:nvSpPr>
          <p:spPr>
            <a:xfrm flipH="1">
              <a:off x="5172372" y="4039194"/>
              <a:ext cx="2752340" cy="558890"/>
            </a:xfrm>
            <a:prstGeom prst="rect">
              <a:avLst/>
            </a:prstGeom>
          </p:spPr>
          <p:txBody>
            <a:bodyPr wrap="square" lIns="91431" tIns="45716" rIns="91431" bIns="45716">
              <a:spAutoFit/>
            </a:bodyPr>
            <a:lstStyle>
              <a:defPPr>
                <a:defRPr lang="zh-CN"/>
              </a:defPPr>
              <a:lvl1pPr>
                <a:defRPr sz="2000" b="1">
                  <a:solidFill>
                    <a:schemeClr val="bg1">
                      <a:lumMod val="95000"/>
                    </a:schemeClr>
                  </a:solidFill>
                  <a:latin typeface="微软雅黑" panose="020B0503020204020204" charset="-122"/>
                  <a:ea typeface="微软雅黑" panose="020B0503020204020204" charset="-122"/>
                </a:defRPr>
              </a:lvl1pPr>
            </a:lstStyle>
            <a:p>
              <a:pPr lvl="0"/>
              <a:r>
                <a:rPr lang="zh-CN" altLang="en-US" sz="2400" b="0" dirty="0">
                  <a:solidFill>
                    <a:srgbClr val="FFFFFF"/>
                  </a:solidFill>
                  <a:latin typeface="+mn-lt"/>
                  <a:ea typeface="黑体" panose="02010609060101010101" pitchFamily="49" charset="-122"/>
                </a:rPr>
                <a:t>应用在</a:t>
              </a:r>
              <a:r>
                <a:rPr lang="en-US" altLang="zh-CN" sz="2400" b="0" dirty="0" err="1">
                  <a:solidFill>
                    <a:srgbClr val="FFFFFF"/>
                  </a:solidFill>
                  <a:latin typeface="+mn-lt"/>
                  <a:ea typeface="黑体" panose="02010609060101010101" pitchFamily="49" charset="-122"/>
                </a:rPr>
                <a:t>AWCloud</a:t>
              </a:r>
              <a:r>
                <a:rPr lang="zh-CN" altLang="en-US" sz="2400" b="0" dirty="0">
                  <a:solidFill>
                    <a:srgbClr val="FFFFFF"/>
                  </a:solidFill>
                  <a:latin typeface="+mn-lt"/>
                  <a:ea typeface="黑体" panose="02010609060101010101" pitchFamily="49" charset="-122"/>
                </a:rPr>
                <a:t>中</a:t>
              </a:r>
              <a:endParaRPr lang="zh-CN" altLang="en-US" sz="2400" b="0" dirty="0">
                <a:solidFill>
                  <a:srgbClr val="FFFFFF"/>
                </a:solidFill>
                <a:latin typeface="+mn-lt"/>
                <a:ea typeface="黑体" panose="02010609060101010101" pitchFamily="49" charset="-122"/>
              </a:endParaRPr>
            </a:p>
          </p:txBody>
        </p:sp>
      </p:grpSp>
      <p:sp>
        <p:nvSpPr>
          <p:cNvPr id="13" name="文本框 12"/>
          <p:cNvSpPr txBox="1"/>
          <p:nvPr/>
        </p:nvSpPr>
        <p:spPr>
          <a:xfrm>
            <a:off x="424921" y="1519852"/>
            <a:ext cx="8294158" cy="222041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en-US" altLang="zh-CN" dirty="0">
                <a:latin typeface="+mn-lt"/>
              </a:rPr>
              <a:t>         RAID</a:t>
            </a:r>
            <a:r>
              <a:rPr lang="zh-CN" altLang="en-US" dirty="0">
                <a:latin typeface="+mn-lt"/>
              </a:rPr>
              <a:t>的目的是在硬盘驱动器</a:t>
            </a:r>
            <a:r>
              <a:rPr lang="en-US" altLang="zh-CN" dirty="0">
                <a:latin typeface="+mn-lt"/>
              </a:rPr>
              <a:t>(HDD)</a:t>
            </a:r>
            <a:r>
              <a:rPr lang="zh-CN" altLang="en-US" dirty="0">
                <a:latin typeface="+mn-lt"/>
              </a:rPr>
              <a:t>失效时保护数据，它里面的数据可通过奇偶校验或镜像副本重新创建，但电子机械式硬盘发生故障的几率很高。</a:t>
            </a:r>
            <a:r>
              <a:rPr lang="en-US" altLang="zh-CN" dirty="0">
                <a:latin typeface="+mn-lt"/>
              </a:rPr>
              <a:t>Erasure code </a:t>
            </a:r>
            <a:r>
              <a:rPr lang="zh-CN" altLang="en-US" dirty="0">
                <a:latin typeface="+mn-lt"/>
              </a:rPr>
              <a:t>存储消除了所有</a:t>
            </a:r>
            <a:r>
              <a:rPr lang="en-US" altLang="zh-CN" dirty="0">
                <a:latin typeface="+mn-lt"/>
              </a:rPr>
              <a:t>RAID</a:t>
            </a:r>
            <a:r>
              <a:rPr lang="zh-CN" altLang="en-US" dirty="0">
                <a:latin typeface="+mn-lt"/>
              </a:rPr>
              <a:t>问题。</a:t>
            </a:r>
            <a:r>
              <a:rPr lang="en-US" altLang="zh-CN" dirty="0">
                <a:latin typeface="+mn-lt"/>
              </a:rPr>
              <a:t>2009</a:t>
            </a:r>
            <a:r>
              <a:rPr lang="zh-CN" altLang="en-US" dirty="0">
                <a:latin typeface="+mn-lt"/>
              </a:rPr>
              <a:t>年</a:t>
            </a:r>
            <a:r>
              <a:rPr lang="en-US" altLang="zh-CN" dirty="0">
                <a:latin typeface="+mn-lt"/>
              </a:rPr>
              <a:t>Google</a:t>
            </a:r>
            <a:r>
              <a:rPr lang="zh-CN" altLang="en-US" dirty="0">
                <a:latin typeface="+mn-lt"/>
              </a:rPr>
              <a:t>在第二代</a:t>
            </a:r>
            <a:r>
              <a:rPr lang="en-US" altLang="zh-CN" dirty="0">
                <a:latin typeface="+mn-lt"/>
              </a:rPr>
              <a:t>GFS</a:t>
            </a:r>
            <a:r>
              <a:rPr lang="zh-CN" altLang="en-US" dirty="0">
                <a:latin typeface="+mn-lt"/>
              </a:rPr>
              <a:t>中使用了</a:t>
            </a:r>
            <a:r>
              <a:rPr lang="en-US" altLang="zh-CN" dirty="0">
                <a:latin typeface="+mn-lt"/>
              </a:rPr>
              <a:t>RS(6,3)</a:t>
            </a:r>
            <a:r>
              <a:rPr lang="zh-CN" altLang="en-US" dirty="0">
                <a:latin typeface="+mn-lt"/>
              </a:rPr>
              <a:t>编码，</a:t>
            </a:r>
            <a:r>
              <a:rPr lang="en-US" altLang="zh-CN" dirty="0">
                <a:latin typeface="+mn-lt"/>
              </a:rPr>
              <a:t>Facebook</a:t>
            </a:r>
            <a:r>
              <a:rPr lang="zh-CN" altLang="en-US" dirty="0">
                <a:latin typeface="+mn-lt"/>
              </a:rPr>
              <a:t>早期也在</a:t>
            </a:r>
            <a:r>
              <a:rPr lang="en-US" altLang="zh-CN" dirty="0">
                <a:latin typeface="+mn-lt"/>
              </a:rPr>
              <a:t>HDFS</a:t>
            </a:r>
            <a:r>
              <a:rPr lang="zh-CN" altLang="en-US" dirty="0">
                <a:latin typeface="+mn-lt"/>
              </a:rPr>
              <a:t>中使用了</a:t>
            </a:r>
            <a:r>
              <a:rPr lang="en-US" altLang="zh-CN" dirty="0">
                <a:latin typeface="+mn-lt"/>
              </a:rPr>
              <a:t>RS(10,4)</a:t>
            </a:r>
            <a:r>
              <a:rPr lang="zh-CN" altLang="en-US" dirty="0">
                <a:latin typeface="+mn-lt"/>
              </a:rPr>
              <a:t>编码。</a:t>
            </a:r>
            <a:endParaRPr lang="en-US" altLang="zh-CN" dirty="0">
              <a:latin typeface="+mn-lt"/>
              <a:sym typeface="+mn-ea"/>
            </a:endParaRPr>
          </a:p>
        </p:txBody>
      </p:sp>
      <p:sp>
        <p:nvSpPr>
          <p:cNvPr id="16" name="文本框 15"/>
          <p:cNvSpPr txBox="1"/>
          <p:nvPr/>
        </p:nvSpPr>
        <p:spPr>
          <a:xfrm>
            <a:off x="623489" y="3985568"/>
            <a:ext cx="8294158" cy="134838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dirty="0">
                <a:latin typeface="+mn-lt"/>
              </a:rPr>
              <a:t>       例如</a:t>
            </a:r>
            <a:r>
              <a:rPr lang="en-US" altLang="zh-CN" dirty="0">
                <a:latin typeface="+mn-lt"/>
              </a:rPr>
              <a:t>Google</a:t>
            </a:r>
            <a:r>
              <a:rPr lang="zh-CN" altLang="en-US" dirty="0">
                <a:latin typeface="+mn-lt"/>
              </a:rPr>
              <a:t>在</a:t>
            </a:r>
            <a:r>
              <a:rPr lang="en-US" altLang="zh-CN" dirty="0">
                <a:latin typeface="+mn-lt"/>
              </a:rPr>
              <a:t>GFS</a:t>
            </a:r>
            <a:r>
              <a:rPr lang="zh-CN" altLang="en-US" dirty="0">
                <a:latin typeface="+mn-lt"/>
              </a:rPr>
              <a:t>中使用了</a:t>
            </a:r>
            <a:r>
              <a:rPr lang="en-US" altLang="zh-CN" dirty="0">
                <a:latin typeface="+mn-lt"/>
              </a:rPr>
              <a:t>RS(6,3)</a:t>
            </a:r>
            <a:r>
              <a:rPr lang="zh-CN" altLang="en-US" dirty="0">
                <a:latin typeface="+mn-lt"/>
              </a:rPr>
              <a:t>编码，</a:t>
            </a:r>
            <a:r>
              <a:rPr lang="en-US" altLang="zh-CN" dirty="0">
                <a:latin typeface="+mn-lt"/>
              </a:rPr>
              <a:t>Facebook</a:t>
            </a:r>
            <a:r>
              <a:rPr lang="zh-CN" altLang="en-US" dirty="0">
                <a:latin typeface="+mn-lt"/>
              </a:rPr>
              <a:t>在</a:t>
            </a:r>
            <a:r>
              <a:rPr lang="en-US" altLang="zh-CN" dirty="0">
                <a:latin typeface="+mn-lt"/>
              </a:rPr>
              <a:t>HDFS</a:t>
            </a:r>
            <a:r>
              <a:rPr lang="zh-CN" altLang="en-US" dirty="0">
                <a:latin typeface="+mn-lt"/>
              </a:rPr>
              <a:t>中使用了</a:t>
            </a:r>
            <a:r>
              <a:rPr lang="en-US" altLang="zh-CN" dirty="0">
                <a:latin typeface="+mn-lt"/>
              </a:rPr>
              <a:t>RS(10,4)</a:t>
            </a:r>
            <a:r>
              <a:rPr lang="zh-CN" altLang="en-US" dirty="0">
                <a:latin typeface="+mn-lt"/>
              </a:rPr>
              <a:t>编码，</a:t>
            </a:r>
            <a:r>
              <a:rPr lang="en-US" altLang="zh-CN" dirty="0">
                <a:latin typeface="+mn-lt"/>
              </a:rPr>
              <a:t>Microsoft</a:t>
            </a:r>
            <a:r>
              <a:rPr lang="zh-CN" altLang="en-US" dirty="0">
                <a:latin typeface="+mn-lt"/>
              </a:rPr>
              <a:t>在</a:t>
            </a:r>
            <a:r>
              <a:rPr lang="en-US" altLang="zh-CN" dirty="0">
                <a:latin typeface="+mn-lt"/>
              </a:rPr>
              <a:t>Azure</a:t>
            </a:r>
            <a:r>
              <a:rPr lang="zh-CN" altLang="en-US" dirty="0">
                <a:latin typeface="+mn-lt"/>
              </a:rPr>
              <a:t>中使用了</a:t>
            </a:r>
            <a:r>
              <a:rPr lang="en-US" altLang="zh-CN" dirty="0">
                <a:latin typeface="+mn-lt"/>
              </a:rPr>
              <a:t>LRC(12,2,2)</a:t>
            </a:r>
            <a:r>
              <a:rPr lang="zh-CN" altLang="en-US" dirty="0">
                <a:latin typeface="+mn-lt"/>
              </a:rPr>
              <a:t>编码，阿里云在盘古中使用了</a:t>
            </a:r>
            <a:r>
              <a:rPr lang="en-US" altLang="zh-CN" dirty="0">
                <a:latin typeface="+mn-lt"/>
              </a:rPr>
              <a:t>RS(8,3)</a:t>
            </a:r>
            <a:r>
              <a:rPr lang="zh-CN" altLang="en-US" dirty="0">
                <a:latin typeface="+mn-lt"/>
              </a:rPr>
              <a:t>编码。</a:t>
            </a:r>
            <a:endParaRPr lang="en-US" altLang="zh-CN" dirty="0">
              <a:latin typeface="+mn-lt"/>
              <a:sym typeface="+mn-ea"/>
            </a:endParaRPr>
          </a:p>
        </p:txBody>
      </p:sp>
      <p:sp>
        <p:nvSpPr>
          <p:cNvPr id="17" name="文本框 16"/>
          <p:cNvSpPr txBox="1"/>
          <p:nvPr/>
        </p:nvSpPr>
        <p:spPr>
          <a:xfrm>
            <a:off x="610096" y="5940247"/>
            <a:ext cx="8294158" cy="479427"/>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dirty="0">
                <a:latin typeface="+mn-lt"/>
              </a:rPr>
              <a:t>       </a:t>
            </a:r>
            <a:r>
              <a:rPr lang="en-US" altLang="zh-CN" dirty="0" err="1">
                <a:latin typeface="+mn-lt"/>
              </a:rPr>
              <a:t>AWCloud</a:t>
            </a:r>
            <a:r>
              <a:rPr lang="zh-CN" altLang="en-US" dirty="0">
                <a:latin typeface="+mn-lt"/>
              </a:rPr>
              <a:t>中利用</a:t>
            </a:r>
            <a:r>
              <a:rPr lang="en-US" altLang="zh-CN" dirty="0">
                <a:latin typeface="+mn-lt"/>
              </a:rPr>
              <a:t>FPGA</a:t>
            </a:r>
            <a:r>
              <a:rPr lang="zh-CN" altLang="en-US" dirty="0">
                <a:latin typeface="+mn-lt"/>
              </a:rPr>
              <a:t>技术提高了纠删码的性能。</a:t>
            </a:r>
            <a:endParaRPr lang="en-US" altLang="zh-CN" dirty="0">
              <a:latin typeface="+mn-lt"/>
              <a:sym typeface="+mn-ea"/>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400752" y="104775"/>
            <a:ext cx="2552113" cy="685800"/>
          </a:xfrm>
        </p:spPr>
        <p:txBody>
          <a:bodyPr vert="horz" wrap="square" lIns="91440" tIns="45720" rIns="91440" bIns="45720" anchor="ctr"/>
          <a:lstStyle/>
          <a:p>
            <a:r>
              <a:rPr lang="en-US" altLang="zh-CN" sz="2400" dirty="0"/>
              <a:t>EC</a:t>
            </a:r>
            <a:r>
              <a:rPr lang="zh-CN" altLang="en-US" sz="2400" dirty="0"/>
              <a:t>码的问题探讨</a:t>
            </a:r>
            <a:endParaRPr lang="zh-CN" altLang="en-US" sz="24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9" name="AutoShape 50"/>
          <p:cNvSpPr>
            <a:spLocks noChangeArrowheads="1"/>
          </p:cNvSpPr>
          <p:nvPr/>
        </p:nvSpPr>
        <p:spPr bwMode="gray">
          <a:xfrm>
            <a:off x="2467346" y="5086667"/>
            <a:ext cx="5486400" cy="647065"/>
          </a:xfrm>
          <a:prstGeom prst="roundRect">
            <a:avLst>
              <a:gd name="adj" fmla="val 50000"/>
            </a:avLst>
          </a:prstGeom>
          <a:noFill/>
          <a:ln w="28575" algn="ctr">
            <a:solidFill>
              <a:srgbClr val="C0C0C0"/>
            </a:solidFill>
            <a:round/>
          </a:ln>
          <a:effectLst/>
        </p:spPr>
        <p:txBody>
          <a:bodyPr wrap="none" anchor="ctr"/>
          <a:lstStyle/>
          <a:p>
            <a:pPr marR="0" lvl="0" rtl="0">
              <a:buClrTx/>
              <a:buSzTx/>
              <a:defRPr/>
            </a:pPr>
            <a:r>
              <a:rPr lang="zh-CN" altLang="en-US" sz="2800" b="1" kern="0" dirty="0">
                <a:solidFill>
                  <a:srgbClr val="000000"/>
                </a:solidFill>
                <a:cs typeface="+mn-cs"/>
                <a:sym typeface="+mn-ea"/>
              </a:rPr>
              <a:t>纠删码会在未来掀起浪潮吗？</a:t>
            </a:r>
            <a:endParaRPr lang="zh-CN" altLang="en-US" sz="2800" b="1" kern="0" dirty="0">
              <a:solidFill>
                <a:srgbClr val="000000"/>
              </a:solidFill>
              <a:cs typeface="+mn-cs"/>
              <a:sym typeface="+mn-ea"/>
            </a:endParaRPr>
          </a:p>
        </p:txBody>
      </p:sp>
      <p:sp>
        <p:nvSpPr>
          <p:cNvPr id="10" name="AutoShape 51"/>
          <p:cNvSpPr>
            <a:spLocks noChangeArrowheads="1"/>
          </p:cNvSpPr>
          <p:nvPr/>
        </p:nvSpPr>
        <p:spPr bwMode="gray">
          <a:xfrm>
            <a:off x="2805113" y="3429718"/>
            <a:ext cx="5486400" cy="698500"/>
          </a:xfrm>
          <a:prstGeom prst="roundRect">
            <a:avLst>
              <a:gd name="adj" fmla="val 50000"/>
            </a:avLst>
          </a:prstGeom>
          <a:noFill/>
          <a:ln w="28575" algn="ctr">
            <a:solidFill>
              <a:srgbClr val="C0C0C0"/>
            </a:solidFill>
            <a:round/>
          </a:ln>
          <a:effectLst/>
        </p:spPr>
        <p:txBody>
          <a:bodyPr wrap="none" anchor="ctr"/>
          <a:lstStyle/>
          <a:p>
            <a:pPr rtl="0">
              <a:defRPr/>
            </a:pPr>
            <a:r>
              <a:rPr lang="zh-CN" altLang="en-US" sz="2800" b="1" kern="0" dirty="0">
                <a:solidFill>
                  <a:srgbClr val="000000"/>
                </a:solidFill>
                <a:cs typeface="+mn-cs"/>
              </a:rPr>
              <a:t>如何评判不同产品的纠删码？</a:t>
            </a:r>
            <a:endParaRPr lang="zh-CN" altLang="en-US" sz="2800" b="1" kern="0" dirty="0">
              <a:solidFill>
                <a:srgbClr val="000000"/>
              </a:solidFill>
              <a:cs typeface="+mn-cs"/>
            </a:endParaRPr>
          </a:p>
        </p:txBody>
      </p:sp>
      <p:sp>
        <p:nvSpPr>
          <p:cNvPr id="11" name="AutoShape 52"/>
          <p:cNvSpPr>
            <a:spLocks noChangeArrowheads="1"/>
          </p:cNvSpPr>
          <p:nvPr/>
        </p:nvSpPr>
        <p:spPr bwMode="gray">
          <a:xfrm>
            <a:off x="2337947" y="1986621"/>
            <a:ext cx="5866478" cy="67500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zh-CN" altLang="en-US" sz="2800" b="1" kern="0" dirty="0">
                <a:solidFill>
                  <a:srgbClr val="000000"/>
                </a:solidFill>
                <a:cs typeface="+mn-cs"/>
              </a:rPr>
              <a:t>什么适合使用纠删码？</a:t>
            </a:r>
            <a:endParaRPr lang="zh-CN" altLang="en-US" sz="2800" b="1" kern="0" dirty="0">
              <a:solidFill>
                <a:srgbClr val="000000"/>
              </a:solidFill>
              <a:cs typeface="+mn-cs"/>
            </a:endParaRPr>
          </a:p>
        </p:txBody>
      </p:sp>
      <p:grpSp>
        <p:nvGrpSpPr>
          <p:cNvPr id="8202" name="Group 53"/>
          <p:cNvGrpSpPr/>
          <p:nvPr/>
        </p:nvGrpSpPr>
        <p:grpSpPr>
          <a:xfrm>
            <a:off x="1597819" y="2133624"/>
            <a:ext cx="381000" cy="381000"/>
            <a:chOff x="2078" y="1680"/>
            <a:chExt cx="1615" cy="1615"/>
          </a:xfrm>
        </p:grpSpPr>
        <p:sp>
          <p:nvSpPr>
            <p:cNvPr id="1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3" name="Group 60"/>
          <p:cNvGrpSpPr/>
          <p:nvPr/>
        </p:nvGrpSpPr>
        <p:grpSpPr>
          <a:xfrm>
            <a:off x="2148155" y="3669507"/>
            <a:ext cx="381000" cy="381000"/>
            <a:chOff x="2078" y="1680"/>
            <a:chExt cx="1615" cy="1615"/>
          </a:xfrm>
        </p:grpSpPr>
        <p:sp>
          <p:nvSpPr>
            <p:cNvPr id="20" name="Oval 61"/>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1" name="Oval 62"/>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2" name="Oval 63"/>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3" name="Oval 64"/>
            <p:cNvSpPr>
              <a:spLocks noChangeArrowheads="1"/>
            </p:cNvSpPr>
            <p:nvPr/>
          </p:nvSpPr>
          <p:spPr bwMode="gray">
            <a:xfrm>
              <a:off x="2253" y="1855"/>
              <a:ext cx="1265" cy="1265"/>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4" name="Oval 65"/>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5" name="Oval 66"/>
            <p:cNvSpPr>
              <a:spLocks noChangeArrowheads="1"/>
            </p:cNvSpPr>
            <p:nvPr/>
          </p:nvSpPr>
          <p:spPr bwMode="gray">
            <a:xfrm>
              <a:off x="2334" y="1936"/>
              <a:ext cx="1097" cy="1104"/>
            </a:xfrm>
            <a:prstGeom prst="ellipse">
              <a:avLst/>
            </a:prstGeom>
            <a:gradFill rotWithShape="1">
              <a:gsLst>
                <a:gs pos="0">
                  <a:srgbClr val="48BE67"/>
                </a:gs>
                <a:gs pos="100000">
                  <a:srgbClr val="48BE67">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4" name="Group 67"/>
          <p:cNvGrpSpPr/>
          <p:nvPr/>
        </p:nvGrpSpPr>
        <p:grpSpPr>
          <a:xfrm>
            <a:off x="1616846" y="5219700"/>
            <a:ext cx="381000" cy="381000"/>
            <a:chOff x="2078" y="1680"/>
            <a:chExt cx="1615" cy="1615"/>
          </a:xfrm>
        </p:grpSpPr>
        <p:sp>
          <p:nvSpPr>
            <p:cNvPr id="2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什么适合使用纠删码</a:t>
            </a:r>
            <a:endParaRPr lang="zh-CN" altLang="en-US" sz="2400" dirty="0">
              <a:sym typeface="+mn-ea"/>
            </a:endParaRPr>
          </a:p>
        </p:txBody>
      </p:sp>
      <p:sp>
        <p:nvSpPr>
          <p:cNvPr id="9" name="文本框 8"/>
          <p:cNvSpPr txBox="1"/>
          <p:nvPr/>
        </p:nvSpPr>
        <p:spPr>
          <a:xfrm>
            <a:off x="324221" y="1524050"/>
            <a:ext cx="8495557" cy="414472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marL="285750" indent="-285750" algn="l">
              <a:lnSpc>
                <a:spcPts val="3200"/>
              </a:lnSpc>
              <a:buFont typeface="Wingdings" panose="05000000000000000000" pitchFamily="2" charset="2"/>
              <a:buChar char="l"/>
            </a:pPr>
            <a:r>
              <a:rPr lang="en-US" altLang="zh-CN" sz="1800" dirty="0">
                <a:latin typeface="+mn-lt"/>
              </a:rPr>
              <a:t>        </a:t>
            </a:r>
            <a:r>
              <a:rPr lang="zh-CN" altLang="en-US" sz="1800" dirty="0">
                <a:latin typeface="+mn-lt"/>
              </a:rPr>
              <a:t>从数据类型的角度而言，</a:t>
            </a:r>
            <a:r>
              <a:rPr lang="zh-CN" altLang="en-US" sz="1800" dirty="0">
                <a:solidFill>
                  <a:srgbClr val="FF0000"/>
                </a:solidFill>
                <a:latin typeface="+mn-lt"/>
              </a:rPr>
              <a:t>归档数据适合使用纠删码</a:t>
            </a:r>
            <a:r>
              <a:rPr lang="zh-CN" altLang="en-US" sz="1800" dirty="0">
                <a:latin typeface="+mn-lt"/>
              </a:rPr>
              <a:t>。首先，归档数据需要保存相当长的一段时间，一份、两份或多份数据出现问题的可能性会急剧上升；其次，归档数据的写入操作很少，使得纠删码可以很轻易的恢复数据，并且纠删码的额外开销很少，如果没有故障发生，纠删码对读取操作通常不会有任何影响。</a:t>
            </a:r>
            <a:endParaRPr lang="en-US" altLang="zh-CN" sz="1800" dirty="0">
              <a:latin typeface="+mn-lt"/>
            </a:endParaRPr>
          </a:p>
          <a:p>
            <a:pPr marL="285750" indent="-285750" algn="l">
              <a:lnSpc>
                <a:spcPts val="3200"/>
              </a:lnSpc>
              <a:buFont typeface="Wingdings" panose="05000000000000000000" pitchFamily="2" charset="2"/>
              <a:buChar char="l"/>
            </a:pPr>
            <a:r>
              <a:rPr lang="en-US" altLang="zh-CN" sz="1800" dirty="0">
                <a:latin typeface="+mn-lt"/>
              </a:rPr>
              <a:t>        </a:t>
            </a:r>
            <a:r>
              <a:rPr lang="zh-CN" altLang="en-US" sz="1800" dirty="0">
                <a:latin typeface="+mn-lt"/>
              </a:rPr>
              <a:t>从应用的角度来看，对于读写都很繁忙的应用，使用纠删码并不是一个很好的选择。但对于</a:t>
            </a:r>
            <a:r>
              <a:rPr lang="zh-CN" altLang="en-US" sz="1800" dirty="0">
                <a:solidFill>
                  <a:srgbClr val="FF0000"/>
                </a:solidFill>
                <a:latin typeface="+mn-lt"/>
              </a:rPr>
              <a:t>只有大量读取的应用</a:t>
            </a:r>
            <a:r>
              <a:rPr lang="zh-CN" altLang="en-US" sz="1800" dirty="0">
                <a:latin typeface="+mn-lt"/>
              </a:rPr>
              <a:t>，纠删码可以提供强大的可靠性，并且在恢复数据的时候只产生很小的额外开销，因为纠删码的额外开销主要来自写操作。</a:t>
            </a:r>
            <a:endParaRPr lang="en-US" altLang="zh-CN" sz="1800" dirty="0">
              <a:latin typeface="+mn-lt"/>
            </a:endParaRPr>
          </a:p>
          <a:p>
            <a:pPr algn="r">
              <a:lnSpc>
                <a:spcPts val="3200"/>
              </a:lnSpc>
            </a:pPr>
            <a:endParaRPr lang="en-US" altLang="zh-CN" sz="1800" dirty="0">
              <a:latin typeface="+mn-lt"/>
            </a:endParaRPr>
          </a:p>
          <a:p>
            <a:pPr algn="r">
              <a:lnSpc>
                <a:spcPts val="3200"/>
              </a:lnSpc>
            </a:pPr>
            <a:endParaRPr lang="en-US" altLang="zh-CN" sz="1800" dirty="0">
              <a:latin typeface="+mn-lt"/>
            </a:endParaRPr>
          </a:p>
          <a:p>
            <a:pPr algn="r">
              <a:lnSpc>
                <a:spcPts val="3200"/>
              </a:lnSpc>
            </a:pPr>
            <a:r>
              <a:rPr lang="en-US" altLang="zh-CN" sz="1800" dirty="0">
                <a:latin typeface="+mn-lt"/>
              </a:rPr>
              <a:t>——</a:t>
            </a:r>
            <a:r>
              <a:rPr lang="zh-CN" altLang="en-US" sz="1800" dirty="0">
                <a:latin typeface="+mn-lt"/>
              </a:rPr>
              <a:t>来自</a:t>
            </a:r>
            <a:r>
              <a:rPr lang="en-US" altLang="zh-CN" sz="1800" dirty="0">
                <a:latin typeface="+mn-lt"/>
              </a:rPr>
              <a:t>TechTarget</a:t>
            </a:r>
            <a:r>
              <a:rPr lang="zh-CN" altLang="en-US" sz="1800" dirty="0">
                <a:latin typeface="+mn-lt"/>
              </a:rPr>
              <a:t>中国原创内容中</a:t>
            </a:r>
            <a:r>
              <a:rPr lang="en-US" altLang="zh-CN" sz="1800" dirty="0">
                <a:latin typeface="+mn-lt"/>
              </a:rPr>
              <a:t>Miller</a:t>
            </a:r>
            <a:r>
              <a:rPr lang="zh-CN" altLang="en-US" sz="1800" dirty="0">
                <a:latin typeface="+mn-lt"/>
              </a:rPr>
              <a:t>的回答</a:t>
            </a:r>
            <a:endParaRPr lang="zh-CN" altLang="en-US" sz="1800" dirty="0">
              <a:latin typeface="+mn-lt"/>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如何评判不同产品的纠删码</a:t>
            </a:r>
            <a:endParaRPr lang="zh-CN" altLang="en-US" sz="2400" dirty="0">
              <a:sym typeface="+mn-ea"/>
            </a:endParaRPr>
          </a:p>
        </p:txBody>
      </p:sp>
      <p:sp>
        <p:nvSpPr>
          <p:cNvPr id="9" name="文本框 8"/>
          <p:cNvSpPr txBox="1"/>
          <p:nvPr/>
        </p:nvSpPr>
        <p:spPr>
          <a:xfrm>
            <a:off x="302949" y="1219258"/>
            <a:ext cx="8538102" cy="4830810"/>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marL="285750" indent="-285750">
              <a:lnSpc>
                <a:spcPts val="3400"/>
              </a:lnSpc>
              <a:buFont typeface="Wingdings" panose="05000000000000000000" pitchFamily="2" charset="2"/>
              <a:buChar char="l"/>
            </a:pPr>
            <a:r>
              <a:rPr lang="zh-CN" altLang="en-US" sz="1800" dirty="0">
                <a:latin typeface="+mn-lt"/>
              </a:rPr>
              <a:t>        评判纠删码的</a:t>
            </a:r>
            <a:r>
              <a:rPr lang="zh-CN" altLang="en-US" sz="1800" dirty="0">
                <a:solidFill>
                  <a:srgbClr val="FF0000"/>
                </a:solidFill>
                <a:latin typeface="+mn-lt"/>
              </a:rPr>
              <a:t>第一条标准是性能</a:t>
            </a:r>
            <a:r>
              <a:rPr lang="zh-CN" altLang="en-US" sz="1800" dirty="0">
                <a:latin typeface="+mn-lt"/>
              </a:rPr>
              <a:t>：即部署了一种纠删码后写入速度有多快，进行数据恢复时的读取速度有多快。 </a:t>
            </a:r>
            <a:endParaRPr lang="en-US" altLang="zh-CN" sz="1800" dirty="0">
              <a:latin typeface="+mn-lt"/>
            </a:endParaRPr>
          </a:p>
          <a:p>
            <a:pPr marL="285750" indent="-285750">
              <a:lnSpc>
                <a:spcPts val="3400"/>
              </a:lnSpc>
              <a:buFont typeface="Wingdings" panose="05000000000000000000" pitchFamily="2" charset="2"/>
              <a:buChar char="l"/>
            </a:pPr>
            <a:r>
              <a:rPr lang="zh-CN" altLang="en-US" sz="1800" dirty="0">
                <a:latin typeface="+mn-lt"/>
              </a:rPr>
              <a:t>        另一个标准是</a:t>
            </a:r>
            <a:r>
              <a:rPr lang="zh-CN" altLang="en-US" sz="1800" dirty="0">
                <a:solidFill>
                  <a:srgbClr val="FF0000"/>
                </a:solidFill>
                <a:latin typeface="+mn-lt"/>
              </a:rPr>
              <a:t>纠删码如何将数据单元分割</a:t>
            </a:r>
            <a:r>
              <a:rPr lang="zh-CN" altLang="en-US" sz="1800" dirty="0">
                <a:latin typeface="+mn-lt"/>
              </a:rPr>
              <a:t>：可以是整盘的分割，可以是卷级的分割，也可以是部分盘或部分卷的分割等等。</a:t>
            </a:r>
            <a:r>
              <a:rPr lang="zh-CN" altLang="en-US" sz="1800" dirty="0">
                <a:solidFill>
                  <a:srgbClr val="FF0000"/>
                </a:solidFill>
                <a:latin typeface="+mn-lt"/>
              </a:rPr>
              <a:t>分割时还会遇到的一个问题是纠删码单元的数量有多少</a:t>
            </a:r>
            <a:r>
              <a:rPr lang="zh-CN" altLang="en-US" sz="1800" dirty="0">
                <a:latin typeface="+mn-lt"/>
              </a:rPr>
              <a:t>，有</a:t>
            </a:r>
            <a:r>
              <a:rPr lang="en-US" altLang="zh-CN" sz="1800" dirty="0">
                <a:latin typeface="+mn-lt"/>
              </a:rPr>
              <a:t>10</a:t>
            </a:r>
            <a:r>
              <a:rPr lang="zh-CN" altLang="en-US" sz="1800" dirty="0">
                <a:latin typeface="+mn-lt"/>
              </a:rPr>
              <a:t>个数据单元和</a:t>
            </a:r>
            <a:r>
              <a:rPr lang="en-US" altLang="zh-CN" sz="1800" dirty="0">
                <a:latin typeface="+mn-lt"/>
              </a:rPr>
              <a:t>5</a:t>
            </a:r>
            <a:r>
              <a:rPr lang="zh-CN" altLang="en-US" sz="1800" dirty="0">
                <a:latin typeface="+mn-lt"/>
              </a:rPr>
              <a:t>个纠删码单元组成的纠删码系统，也有</a:t>
            </a:r>
            <a:r>
              <a:rPr lang="en-US" altLang="zh-CN" sz="1800" dirty="0">
                <a:latin typeface="+mn-lt"/>
              </a:rPr>
              <a:t>12</a:t>
            </a:r>
            <a:r>
              <a:rPr lang="zh-CN" altLang="en-US" sz="1800" dirty="0">
                <a:latin typeface="+mn-lt"/>
              </a:rPr>
              <a:t>个数据单元和</a:t>
            </a:r>
            <a:r>
              <a:rPr lang="en-US" altLang="zh-CN" sz="1800" dirty="0">
                <a:latin typeface="+mn-lt"/>
              </a:rPr>
              <a:t>4</a:t>
            </a:r>
            <a:r>
              <a:rPr lang="zh-CN" altLang="en-US" sz="1800" dirty="0">
                <a:latin typeface="+mn-lt"/>
              </a:rPr>
              <a:t>个纠删码单元组成的纠删码系统。但大部分纠删码产品都能配置数据单元和纠删码单元的个数。 </a:t>
            </a:r>
            <a:endParaRPr lang="en-US" altLang="zh-CN" sz="1800" dirty="0">
              <a:latin typeface="+mn-lt"/>
            </a:endParaRPr>
          </a:p>
          <a:p>
            <a:pPr marL="342900" indent="-342900">
              <a:lnSpc>
                <a:spcPts val="3400"/>
              </a:lnSpc>
              <a:buFont typeface="Wingdings" panose="05000000000000000000" pitchFamily="2" charset="2"/>
              <a:buChar char="l"/>
            </a:pPr>
            <a:r>
              <a:rPr lang="zh-CN" altLang="en-US" sz="1800" dirty="0">
                <a:latin typeface="+mn-lt"/>
              </a:rPr>
              <a:t>       最后需要考虑的是</a:t>
            </a:r>
            <a:r>
              <a:rPr lang="zh-CN" altLang="en-US" sz="1800" dirty="0">
                <a:solidFill>
                  <a:srgbClr val="FF0000"/>
                </a:solidFill>
                <a:latin typeface="+mn-lt"/>
              </a:rPr>
              <a:t>某些纠删码类型会带来一些问题</a:t>
            </a:r>
            <a:r>
              <a:rPr lang="zh-CN" altLang="en-US" sz="1800" dirty="0">
                <a:latin typeface="+mn-lt"/>
              </a:rPr>
              <a:t>：比如在部署之前需要了解每个厂商的纠删码是如何工作的，它们能在什么样的场景恢复数据故障。</a:t>
            </a:r>
            <a:endParaRPr lang="en-US" altLang="zh-CN" sz="1800" dirty="0">
              <a:latin typeface="+mn-lt"/>
            </a:endParaRPr>
          </a:p>
          <a:p>
            <a:pPr algn="r">
              <a:lnSpc>
                <a:spcPts val="3400"/>
              </a:lnSpc>
            </a:pPr>
            <a:endParaRPr lang="en-US" altLang="zh-CN" sz="1800" dirty="0">
              <a:latin typeface="+mn-lt"/>
            </a:endParaRPr>
          </a:p>
          <a:p>
            <a:pPr algn="r">
              <a:lnSpc>
                <a:spcPts val="3400"/>
              </a:lnSpc>
            </a:pPr>
            <a:r>
              <a:rPr lang="en-US" altLang="zh-CN" sz="1800" dirty="0">
                <a:latin typeface="+mn-lt"/>
              </a:rPr>
              <a:t>——</a:t>
            </a:r>
            <a:r>
              <a:rPr lang="zh-CN" altLang="en-US" sz="1800" dirty="0">
                <a:latin typeface="+mn-lt"/>
              </a:rPr>
              <a:t>来自</a:t>
            </a:r>
            <a:r>
              <a:rPr lang="en-US" altLang="zh-CN" sz="1800" dirty="0">
                <a:latin typeface="+mn-lt"/>
              </a:rPr>
              <a:t>TechTarget</a:t>
            </a:r>
            <a:r>
              <a:rPr lang="zh-CN" altLang="en-US" sz="1800" dirty="0">
                <a:latin typeface="+mn-lt"/>
              </a:rPr>
              <a:t>中国原创内容中</a:t>
            </a:r>
            <a:r>
              <a:rPr lang="en-US" altLang="zh-CN" sz="1800" dirty="0">
                <a:latin typeface="+mn-lt"/>
              </a:rPr>
              <a:t>Miller</a:t>
            </a:r>
            <a:r>
              <a:rPr lang="zh-CN" altLang="en-US" sz="1800" dirty="0">
                <a:latin typeface="+mn-lt"/>
              </a:rPr>
              <a:t>的回答 </a:t>
            </a:r>
            <a:endParaRPr lang="zh-CN" altLang="en-US" sz="1800" dirty="0">
              <a:latin typeface="+mn-lt"/>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纠删码会在未来掀起浪潮吗</a:t>
            </a:r>
            <a:endParaRPr lang="zh-CN" altLang="en-US" sz="2400" dirty="0">
              <a:sym typeface="+mn-ea"/>
            </a:endParaRPr>
          </a:p>
        </p:txBody>
      </p:sp>
      <p:sp>
        <p:nvSpPr>
          <p:cNvPr id="9" name="文本框 8"/>
          <p:cNvSpPr txBox="1"/>
          <p:nvPr/>
        </p:nvSpPr>
        <p:spPr>
          <a:xfrm>
            <a:off x="454158" y="1371654"/>
            <a:ext cx="7971523" cy="439479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marL="285750" indent="-285750">
              <a:lnSpc>
                <a:spcPts val="3400"/>
              </a:lnSpc>
              <a:buFont typeface="Wingdings" panose="05000000000000000000" pitchFamily="2" charset="2"/>
              <a:buChar char="l"/>
            </a:pPr>
            <a:r>
              <a:rPr lang="zh-CN" altLang="en-US" sz="1800" dirty="0">
                <a:latin typeface="+mn-lt"/>
              </a:rPr>
              <a:t>        在某些领域，纠删码会在未来掀起一波浪潮，特别是在</a:t>
            </a:r>
            <a:r>
              <a:rPr lang="zh-CN" altLang="en-US" sz="1800" dirty="0">
                <a:solidFill>
                  <a:srgbClr val="FF0000"/>
                </a:solidFill>
                <a:latin typeface="+mn-lt"/>
              </a:rPr>
              <a:t>存储归档领域纠删码是必备的</a:t>
            </a:r>
            <a:r>
              <a:rPr lang="zh-CN" altLang="en-US" sz="1800" dirty="0">
                <a:latin typeface="+mn-lt"/>
              </a:rPr>
              <a:t>。因为当把数据保存</a:t>
            </a:r>
            <a:r>
              <a:rPr lang="en-US" altLang="zh-CN" sz="1800" dirty="0">
                <a:latin typeface="+mn-lt"/>
              </a:rPr>
              <a:t>10</a:t>
            </a:r>
            <a:r>
              <a:rPr lang="zh-CN" altLang="en-US" sz="1800" dirty="0">
                <a:latin typeface="+mn-lt"/>
              </a:rPr>
              <a:t>年甚至</a:t>
            </a:r>
            <a:r>
              <a:rPr lang="en-US" altLang="zh-CN" sz="1800" dirty="0">
                <a:latin typeface="+mn-lt"/>
              </a:rPr>
              <a:t>20</a:t>
            </a:r>
            <a:r>
              <a:rPr lang="zh-CN" altLang="en-US" sz="1800" dirty="0">
                <a:latin typeface="+mn-lt"/>
              </a:rPr>
              <a:t>年时会经历各种故障并将它们恢复，并且在数据归档中，需要经常读取数据，但不会产生额外的性能开销。</a:t>
            </a:r>
            <a:endParaRPr lang="en-US" altLang="zh-CN" sz="1800" dirty="0">
              <a:latin typeface="+mn-lt"/>
            </a:endParaRPr>
          </a:p>
          <a:p>
            <a:pPr marL="285750" indent="-285750">
              <a:lnSpc>
                <a:spcPts val="3400"/>
              </a:lnSpc>
              <a:buFont typeface="Wingdings" panose="05000000000000000000" pitchFamily="2" charset="2"/>
              <a:buChar char="l"/>
            </a:pPr>
            <a:r>
              <a:rPr lang="zh-CN" altLang="en-US" sz="1800" dirty="0">
                <a:latin typeface="+mn-lt"/>
              </a:rPr>
              <a:t>        此外，未来纠删码是否会成为潮流</a:t>
            </a:r>
            <a:r>
              <a:rPr lang="zh-CN" altLang="en-US" sz="1800" dirty="0">
                <a:solidFill>
                  <a:srgbClr val="FF0000"/>
                </a:solidFill>
                <a:latin typeface="+mn-lt"/>
              </a:rPr>
              <a:t>取决于设备容量大小和读写速率的相对速度提升差异</a:t>
            </a:r>
            <a:r>
              <a:rPr lang="zh-CN" altLang="en-US" sz="1800" dirty="0">
                <a:latin typeface="+mn-lt"/>
              </a:rPr>
              <a:t>。当存储容量的增速大于读写速率的增速时，纠删码的作用就更能够体现，这就是为什么从</a:t>
            </a:r>
            <a:r>
              <a:rPr lang="en-US" altLang="zh-CN" sz="1800" dirty="0">
                <a:latin typeface="+mn-lt"/>
              </a:rPr>
              <a:t>90</a:t>
            </a:r>
            <a:r>
              <a:rPr lang="zh-CN" altLang="en-US" sz="1800" dirty="0">
                <a:latin typeface="+mn-lt"/>
              </a:rPr>
              <a:t>年代中期的</a:t>
            </a:r>
            <a:r>
              <a:rPr lang="en-US" altLang="zh-CN" sz="1800" dirty="0">
                <a:latin typeface="+mn-lt"/>
              </a:rPr>
              <a:t>RAID5</a:t>
            </a:r>
            <a:r>
              <a:rPr lang="zh-CN" altLang="en-US" sz="1800" dirty="0">
                <a:latin typeface="+mn-lt"/>
              </a:rPr>
              <a:t>走到了今天的</a:t>
            </a:r>
            <a:r>
              <a:rPr lang="en-US" altLang="zh-CN" sz="1800" dirty="0">
                <a:latin typeface="+mn-lt"/>
              </a:rPr>
              <a:t>RAID6</a:t>
            </a:r>
            <a:r>
              <a:rPr lang="zh-CN" altLang="en-US" sz="1800" dirty="0">
                <a:latin typeface="+mn-lt"/>
              </a:rPr>
              <a:t>。</a:t>
            </a:r>
            <a:endParaRPr lang="en-US" altLang="zh-CN" sz="1800" dirty="0">
              <a:latin typeface="+mn-lt"/>
            </a:endParaRPr>
          </a:p>
          <a:p>
            <a:pPr algn="r">
              <a:lnSpc>
                <a:spcPts val="3400"/>
              </a:lnSpc>
            </a:pPr>
            <a:endParaRPr lang="en-US" altLang="zh-CN" sz="1800" dirty="0">
              <a:latin typeface="+mn-lt"/>
            </a:endParaRPr>
          </a:p>
          <a:p>
            <a:pPr algn="r">
              <a:lnSpc>
                <a:spcPts val="3400"/>
              </a:lnSpc>
            </a:pPr>
            <a:r>
              <a:rPr lang="en-US" altLang="zh-CN" sz="1800" dirty="0">
                <a:latin typeface="+mn-lt"/>
              </a:rPr>
              <a:t>——</a:t>
            </a:r>
            <a:r>
              <a:rPr lang="zh-CN" altLang="en-US" sz="1800" dirty="0">
                <a:latin typeface="+mn-lt"/>
              </a:rPr>
              <a:t>来自</a:t>
            </a:r>
            <a:r>
              <a:rPr lang="en-US" altLang="zh-CN" sz="1800" dirty="0">
                <a:latin typeface="+mn-lt"/>
              </a:rPr>
              <a:t>TechTarget</a:t>
            </a:r>
            <a:r>
              <a:rPr lang="zh-CN" altLang="en-US" sz="1800" dirty="0">
                <a:latin typeface="+mn-lt"/>
              </a:rPr>
              <a:t>中国原创内容中</a:t>
            </a:r>
            <a:r>
              <a:rPr lang="en-US" altLang="zh-CN" sz="1800" dirty="0">
                <a:latin typeface="+mn-lt"/>
              </a:rPr>
              <a:t>Miller</a:t>
            </a:r>
            <a:r>
              <a:rPr lang="zh-CN" altLang="en-US" sz="1800" dirty="0">
                <a:latin typeface="+mn-lt"/>
              </a:rPr>
              <a:t>的回答 </a:t>
            </a:r>
            <a:endParaRPr lang="zh-CN" altLang="en-US" sz="1800" dirty="0">
              <a:latin typeface="+mn-lt"/>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EC</a:t>
            </a:r>
            <a:r>
              <a:rPr lang="zh-CN" altLang="en-US" sz="2400" dirty="0">
                <a:sym typeface="+mn-ea"/>
              </a:rPr>
              <a:t>码的优点</a:t>
            </a:r>
            <a:endParaRPr lang="zh-CN" altLang="en-US" sz="2400" dirty="0">
              <a:sym typeface="+mn-ea"/>
            </a:endParaRPr>
          </a:p>
        </p:txBody>
      </p:sp>
      <p:sp>
        <p:nvSpPr>
          <p:cNvPr id="9" name="文本框 8"/>
          <p:cNvSpPr txBox="1"/>
          <p:nvPr/>
        </p:nvSpPr>
        <p:spPr>
          <a:xfrm>
            <a:off x="203290" y="922509"/>
            <a:ext cx="3987715" cy="2092881"/>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zh-CN" altLang="en-US" sz="1800" dirty="0">
                <a:solidFill>
                  <a:srgbClr val="FF0000"/>
                </a:solidFill>
                <a:latin typeface="+mn-lt"/>
              </a:rPr>
              <a:t>         灵活的设定副本数量</a:t>
            </a:r>
            <a:r>
              <a:rPr lang="zh-CN" altLang="en-US" sz="1800" dirty="0">
                <a:latin typeface="+mn-lt"/>
              </a:rPr>
              <a:t>，从而在数据持久性和成本间做出权衡，满足不同的应用场景。比如储存冷数据时，可将副本数缩小至</a:t>
            </a:r>
            <a:r>
              <a:rPr lang="en-US" altLang="zh-CN" sz="1800" dirty="0">
                <a:latin typeface="+mn-lt"/>
              </a:rPr>
              <a:t>1.2</a:t>
            </a:r>
            <a:r>
              <a:rPr lang="zh-CN" altLang="en-US" sz="1800" dirty="0">
                <a:latin typeface="+mn-lt"/>
              </a:rPr>
              <a:t>，即冗余数据是有</a:t>
            </a:r>
            <a:r>
              <a:rPr lang="en-US" altLang="zh-CN" sz="1800" dirty="0">
                <a:latin typeface="+mn-lt"/>
              </a:rPr>
              <a:t>0.2</a:t>
            </a:r>
            <a:r>
              <a:rPr lang="zh-CN" altLang="en-US" sz="1800" dirty="0">
                <a:latin typeface="+mn-lt"/>
              </a:rPr>
              <a:t>。</a:t>
            </a:r>
            <a:endParaRPr lang="en-US" altLang="zh-CN" sz="1800" dirty="0">
              <a:latin typeface="+mn-lt"/>
            </a:endParaRPr>
          </a:p>
        </p:txBody>
      </p:sp>
      <p:pic>
        <p:nvPicPr>
          <p:cNvPr id="4" name="图片 3"/>
          <p:cNvPicPr>
            <a:picLocks noChangeAspect="1"/>
          </p:cNvPicPr>
          <p:nvPr/>
        </p:nvPicPr>
        <p:blipFill>
          <a:blip r:embed="rId1" cstate="screen"/>
          <a:stretch>
            <a:fillRect/>
          </a:stretch>
        </p:blipFill>
        <p:spPr>
          <a:xfrm>
            <a:off x="3149589" y="2514624"/>
            <a:ext cx="2844822" cy="2844822"/>
          </a:xfrm>
          <a:prstGeom prst="rect">
            <a:avLst/>
          </a:prstGeom>
        </p:spPr>
      </p:pic>
      <p:grpSp>
        <p:nvGrpSpPr>
          <p:cNvPr id="17" name="组合 16"/>
          <p:cNvGrpSpPr/>
          <p:nvPr/>
        </p:nvGrpSpPr>
        <p:grpSpPr>
          <a:xfrm>
            <a:off x="4398208" y="1592250"/>
            <a:ext cx="647666" cy="1423140"/>
            <a:chOff x="3924334" y="1409771"/>
            <a:chExt cx="647666" cy="1423140"/>
          </a:xfrm>
        </p:grpSpPr>
        <p:grpSp>
          <p:nvGrpSpPr>
            <p:cNvPr id="14" name="组合 13"/>
            <p:cNvGrpSpPr/>
            <p:nvPr/>
          </p:nvGrpSpPr>
          <p:grpSpPr>
            <a:xfrm>
              <a:off x="4038614" y="1524050"/>
              <a:ext cx="533386" cy="1308861"/>
              <a:chOff x="4038614" y="1524050"/>
              <a:chExt cx="533386" cy="1308861"/>
            </a:xfrm>
          </p:grpSpPr>
          <p:cxnSp>
            <p:nvCxnSpPr>
              <p:cNvPr id="5" name="直接连接符 4"/>
              <p:cNvCxnSpPr/>
              <p:nvPr/>
            </p:nvCxnSpPr>
            <p:spPr bwMode="auto">
              <a:xfrm>
                <a:off x="4038614" y="1524050"/>
                <a:ext cx="533386" cy="716152"/>
              </a:xfrm>
              <a:prstGeom prst="line">
                <a:avLst/>
              </a:prstGeom>
              <a:ln w="28575">
                <a:solidFill>
                  <a:srgbClr val="A0D2D7"/>
                </a:solidFill>
              </a:ln>
            </p:spPr>
            <p:style>
              <a:lnRef idx="1">
                <a:schemeClr val="dk1"/>
              </a:lnRef>
              <a:fillRef idx="0">
                <a:schemeClr val="dk1"/>
              </a:fillRef>
              <a:effectRef idx="0">
                <a:schemeClr val="dk1"/>
              </a:effectRef>
              <a:fontRef idx="minor">
                <a:schemeClr val="tx1"/>
              </a:fontRef>
            </p:style>
          </p:cxnSp>
          <p:cxnSp>
            <p:nvCxnSpPr>
              <p:cNvPr id="7" name="直接连接符 6"/>
              <p:cNvCxnSpPr/>
              <p:nvPr/>
            </p:nvCxnSpPr>
            <p:spPr bwMode="auto">
              <a:xfrm flipH="1">
                <a:off x="4152892" y="2240202"/>
                <a:ext cx="419108" cy="592709"/>
              </a:xfrm>
              <a:prstGeom prst="line">
                <a:avLst/>
              </a:prstGeom>
              <a:ln w="28575">
                <a:solidFill>
                  <a:srgbClr val="A0D2D7"/>
                </a:solidFill>
              </a:ln>
            </p:spPr>
            <p:style>
              <a:lnRef idx="1">
                <a:schemeClr val="dk1"/>
              </a:lnRef>
              <a:fillRef idx="0">
                <a:schemeClr val="dk1"/>
              </a:fillRef>
              <a:effectRef idx="0">
                <a:schemeClr val="dk1"/>
              </a:effectRef>
              <a:fontRef idx="minor">
                <a:schemeClr val="tx1"/>
              </a:fontRef>
            </p:style>
          </p:cxnSp>
        </p:grpSp>
        <p:sp>
          <p:nvSpPr>
            <p:cNvPr id="16" name="椭圆 15"/>
            <p:cNvSpPr/>
            <p:nvPr/>
          </p:nvSpPr>
          <p:spPr>
            <a:xfrm>
              <a:off x="3924334" y="1409771"/>
              <a:ext cx="228558" cy="228558"/>
            </a:xfrm>
            <a:prstGeom prst="ellipse">
              <a:avLst/>
            </a:prstGeom>
            <a:solidFill>
              <a:srgbClr val="A0D2D7"/>
            </a:solidFill>
            <a:ln>
              <a:solidFill>
                <a:srgbClr val="A0D2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15919017">
            <a:off x="2683919" y="3133102"/>
            <a:ext cx="647666" cy="1607868"/>
            <a:chOff x="3924334" y="1409771"/>
            <a:chExt cx="647666" cy="1607868"/>
          </a:xfrm>
          <a:solidFill>
            <a:srgbClr val="FCB2BC"/>
          </a:solidFill>
        </p:grpSpPr>
        <p:grpSp>
          <p:nvGrpSpPr>
            <p:cNvPr id="19" name="组合 18"/>
            <p:cNvGrpSpPr/>
            <p:nvPr/>
          </p:nvGrpSpPr>
          <p:grpSpPr>
            <a:xfrm>
              <a:off x="4038614" y="1524050"/>
              <a:ext cx="533386" cy="1493589"/>
              <a:chOff x="4038614" y="1524050"/>
              <a:chExt cx="533386" cy="1493589"/>
            </a:xfrm>
            <a:grpFill/>
          </p:grpSpPr>
          <p:cxnSp>
            <p:nvCxnSpPr>
              <p:cNvPr id="21" name="直接连接符 20"/>
              <p:cNvCxnSpPr/>
              <p:nvPr/>
            </p:nvCxnSpPr>
            <p:spPr bwMode="auto">
              <a:xfrm>
                <a:off x="4038614" y="1524050"/>
                <a:ext cx="533386" cy="716152"/>
              </a:xfrm>
              <a:prstGeom prst="line">
                <a:avLst/>
              </a:prstGeom>
              <a:grpFill/>
              <a:ln w="28575">
                <a:solidFill>
                  <a:srgbClr val="FCB2BC"/>
                </a:solidFill>
              </a:ln>
            </p:spPr>
            <p:style>
              <a:lnRef idx="1">
                <a:schemeClr val="dk1"/>
              </a:lnRef>
              <a:fillRef idx="0">
                <a:schemeClr val="dk1"/>
              </a:fillRef>
              <a:effectRef idx="0">
                <a:schemeClr val="dk1"/>
              </a:effectRef>
              <a:fontRef idx="minor">
                <a:schemeClr val="tx1"/>
              </a:fontRef>
            </p:style>
          </p:cxnSp>
          <p:cxnSp>
            <p:nvCxnSpPr>
              <p:cNvPr id="22" name="直接连接符 21"/>
              <p:cNvCxnSpPr/>
              <p:nvPr/>
            </p:nvCxnSpPr>
            <p:spPr bwMode="auto">
              <a:xfrm>
                <a:off x="4572000" y="2240202"/>
                <a:ext cx="0" cy="777437"/>
              </a:xfrm>
              <a:prstGeom prst="line">
                <a:avLst/>
              </a:prstGeom>
              <a:grpFill/>
              <a:ln w="28575">
                <a:solidFill>
                  <a:srgbClr val="FCB2BC"/>
                </a:solidFill>
              </a:ln>
            </p:spPr>
            <p:style>
              <a:lnRef idx="1">
                <a:schemeClr val="dk1"/>
              </a:lnRef>
              <a:fillRef idx="0">
                <a:schemeClr val="dk1"/>
              </a:fillRef>
              <a:effectRef idx="0">
                <a:schemeClr val="dk1"/>
              </a:effectRef>
              <a:fontRef idx="minor">
                <a:schemeClr val="tx1"/>
              </a:fontRef>
            </p:style>
          </p:cxnSp>
        </p:grpSp>
        <p:sp>
          <p:nvSpPr>
            <p:cNvPr id="20" name="椭圆 19"/>
            <p:cNvSpPr/>
            <p:nvPr/>
          </p:nvSpPr>
          <p:spPr>
            <a:xfrm>
              <a:off x="3924334" y="1409771"/>
              <a:ext cx="228558" cy="228558"/>
            </a:xfrm>
            <a:prstGeom prst="ellipse">
              <a:avLst/>
            </a:prstGeom>
            <a:grpFill/>
            <a:ln>
              <a:solidFill>
                <a:srgbClr val="FCB2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文本框 22"/>
          <p:cNvSpPr txBox="1"/>
          <p:nvPr/>
        </p:nvSpPr>
        <p:spPr>
          <a:xfrm>
            <a:off x="125060" y="4325424"/>
            <a:ext cx="3227772" cy="2092881"/>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zh-CN" altLang="en-US" sz="1800" dirty="0">
                <a:solidFill>
                  <a:srgbClr val="FF0000"/>
                </a:solidFill>
                <a:latin typeface="+mn-lt"/>
              </a:rPr>
              <a:t>        </a:t>
            </a:r>
            <a:r>
              <a:rPr lang="en-US" altLang="zh-CN" sz="1800" dirty="0">
                <a:latin typeface="+mn-lt"/>
              </a:rPr>
              <a:t>Erasure code</a:t>
            </a:r>
            <a:r>
              <a:rPr lang="zh-CN" altLang="en-US" sz="1800" dirty="0">
                <a:solidFill>
                  <a:srgbClr val="FF0000"/>
                </a:solidFill>
                <a:latin typeface="+mn-lt"/>
              </a:rPr>
              <a:t>有内置的数据安全性</a:t>
            </a:r>
            <a:r>
              <a:rPr lang="zh-CN" altLang="en-US" sz="1800" dirty="0">
                <a:latin typeface="+mn-lt"/>
              </a:rPr>
              <a:t>。</a:t>
            </a:r>
            <a:r>
              <a:rPr lang="en-US" altLang="zh-CN" sz="1800" dirty="0">
                <a:latin typeface="+mn-lt"/>
              </a:rPr>
              <a:t>Erasure code</a:t>
            </a:r>
            <a:r>
              <a:rPr lang="zh-CN" altLang="en-US" sz="1800" dirty="0">
                <a:latin typeface="+mn-lt"/>
              </a:rPr>
              <a:t>使用的</a:t>
            </a:r>
            <a:r>
              <a:rPr lang="zh-CN" altLang="en-US" sz="1800" dirty="0">
                <a:solidFill>
                  <a:srgbClr val="FF0000"/>
                </a:solidFill>
                <a:latin typeface="+mn-lt"/>
              </a:rPr>
              <a:t>数据块可以分布在</a:t>
            </a:r>
            <a:r>
              <a:rPr lang="zh-CN" altLang="en-US" sz="1800" dirty="0">
                <a:latin typeface="+mn-lt"/>
              </a:rPr>
              <a:t>城市、地区、一个数据中心或全球</a:t>
            </a:r>
            <a:r>
              <a:rPr lang="zh-CN" altLang="en-US" sz="1800" dirty="0">
                <a:solidFill>
                  <a:srgbClr val="FF0000"/>
                </a:solidFill>
                <a:latin typeface="+mn-lt"/>
              </a:rPr>
              <a:t>任何地方的不同存储位置</a:t>
            </a:r>
            <a:r>
              <a:rPr lang="zh-CN" altLang="en-US" sz="1800" dirty="0">
                <a:latin typeface="+mn-lt"/>
              </a:rPr>
              <a:t>。</a:t>
            </a:r>
            <a:endParaRPr lang="en-US" altLang="zh-CN" sz="1800" dirty="0">
              <a:latin typeface="+mn-lt"/>
            </a:endParaRPr>
          </a:p>
        </p:txBody>
      </p:sp>
      <p:grpSp>
        <p:nvGrpSpPr>
          <p:cNvPr id="24" name="组合 23"/>
          <p:cNvGrpSpPr/>
          <p:nvPr/>
        </p:nvGrpSpPr>
        <p:grpSpPr>
          <a:xfrm rot="5400000">
            <a:off x="5768897" y="3845323"/>
            <a:ext cx="647666" cy="1607868"/>
            <a:chOff x="3924334" y="1409771"/>
            <a:chExt cx="647666" cy="1607868"/>
          </a:xfrm>
          <a:solidFill>
            <a:srgbClr val="FFD6BB"/>
          </a:solidFill>
        </p:grpSpPr>
        <p:grpSp>
          <p:nvGrpSpPr>
            <p:cNvPr id="25" name="组合 24"/>
            <p:cNvGrpSpPr/>
            <p:nvPr/>
          </p:nvGrpSpPr>
          <p:grpSpPr>
            <a:xfrm>
              <a:off x="4038614" y="1524050"/>
              <a:ext cx="533386" cy="1493589"/>
              <a:chOff x="4038614" y="1524050"/>
              <a:chExt cx="533386" cy="1493589"/>
            </a:xfrm>
            <a:grpFill/>
          </p:grpSpPr>
          <p:cxnSp>
            <p:nvCxnSpPr>
              <p:cNvPr id="27" name="直接连接符 26"/>
              <p:cNvCxnSpPr/>
              <p:nvPr/>
            </p:nvCxnSpPr>
            <p:spPr bwMode="auto">
              <a:xfrm>
                <a:off x="4038614" y="1524050"/>
                <a:ext cx="533386" cy="716152"/>
              </a:xfrm>
              <a:prstGeom prst="line">
                <a:avLst/>
              </a:prstGeom>
              <a:grpFill/>
              <a:ln w="28575">
                <a:solidFill>
                  <a:srgbClr val="FFD9C0"/>
                </a:solidFill>
              </a:ln>
            </p:spPr>
            <p:style>
              <a:lnRef idx="1">
                <a:schemeClr val="dk1"/>
              </a:lnRef>
              <a:fillRef idx="0">
                <a:schemeClr val="dk1"/>
              </a:fillRef>
              <a:effectRef idx="0">
                <a:schemeClr val="dk1"/>
              </a:effectRef>
              <a:fontRef idx="minor">
                <a:schemeClr val="tx1"/>
              </a:fontRef>
            </p:style>
          </p:cxnSp>
          <p:cxnSp>
            <p:nvCxnSpPr>
              <p:cNvPr id="28" name="直接连接符 27"/>
              <p:cNvCxnSpPr/>
              <p:nvPr/>
            </p:nvCxnSpPr>
            <p:spPr bwMode="auto">
              <a:xfrm>
                <a:off x="4572000" y="2240202"/>
                <a:ext cx="0" cy="777437"/>
              </a:xfrm>
              <a:prstGeom prst="line">
                <a:avLst/>
              </a:prstGeom>
              <a:grpFill/>
              <a:ln w="28575">
                <a:solidFill>
                  <a:srgbClr val="FFD9C0"/>
                </a:solidFill>
              </a:ln>
            </p:spPr>
            <p:style>
              <a:lnRef idx="1">
                <a:schemeClr val="dk1"/>
              </a:lnRef>
              <a:fillRef idx="0">
                <a:schemeClr val="dk1"/>
              </a:fillRef>
              <a:effectRef idx="0">
                <a:schemeClr val="dk1"/>
              </a:effectRef>
              <a:fontRef idx="minor">
                <a:schemeClr val="tx1"/>
              </a:fontRef>
            </p:style>
          </p:cxnSp>
        </p:grpSp>
        <p:sp>
          <p:nvSpPr>
            <p:cNvPr id="26" name="椭圆 25"/>
            <p:cNvSpPr/>
            <p:nvPr/>
          </p:nvSpPr>
          <p:spPr>
            <a:xfrm>
              <a:off x="3924334" y="1409771"/>
              <a:ext cx="228558" cy="228558"/>
            </a:xfrm>
            <a:prstGeom prst="ellipse">
              <a:avLst/>
            </a:prstGeom>
            <a:grpFill/>
            <a:ln>
              <a:solidFill>
                <a:srgbClr val="FFD9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文本框 28"/>
          <p:cNvSpPr txBox="1"/>
          <p:nvPr/>
        </p:nvSpPr>
        <p:spPr>
          <a:xfrm>
            <a:off x="5802936" y="2277743"/>
            <a:ext cx="3227772" cy="1682512"/>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200"/>
              </a:lnSpc>
            </a:pPr>
            <a:r>
              <a:rPr lang="zh-CN" altLang="en-US" sz="1800" dirty="0">
                <a:solidFill>
                  <a:srgbClr val="FF0000"/>
                </a:solidFill>
                <a:latin typeface="+mn-lt"/>
              </a:rPr>
              <a:t>        </a:t>
            </a:r>
            <a:r>
              <a:rPr lang="en-US" altLang="zh-CN" sz="1800" dirty="0">
                <a:latin typeface="+mn-lt"/>
              </a:rPr>
              <a:t>Erasure code</a:t>
            </a:r>
            <a:r>
              <a:rPr lang="zh-CN" altLang="en-US" sz="1800" dirty="0">
                <a:solidFill>
                  <a:srgbClr val="FF0000"/>
                </a:solidFill>
                <a:latin typeface="+mn-lt"/>
              </a:rPr>
              <a:t>在面对自然灾难或技术故障时具有很好的恢复能力</a:t>
            </a:r>
            <a:r>
              <a:rPr lang="zh-CN" altLang="en-US" sz="1800" dirty="0">
                <a:latin typeface="+mn-lt"/>
              </a:rPr>
              <a:t>。另外，</a:t>
            </a:r>
            <a:r>
              <a:rPr lang="en-US" altLang="zh-CN" sz="1800" dirty="0">
                <a:latin typeface="+mn-lt"/>
              </a:rPr>
              <a:t>Erasure code</a:t>
            </a:r>
            <a:r>
              <a:rPr lang="zh-CN" altLang="en-US" sz="1800" dirty="0">
                <a:latin typeface="+mn-lt"/>
              </a:rPr>
              <a:t>允许同时发生多种故障。</a:t>
            </a:r>
            <a:endParaRPr lang="en-US" altLang="zh-CN" sz="1800" dirty="0">
              <a:latin typeface="+mn-lt"/>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EC</a:t>
            </a:r>
            <a:r>
              <a:rPr lang="zh-CN" altLang="en-US" sz="2400" dirty="0">
                <a:sym typeface="+mn-ea"/>
              </a:rPr>
              <a:t>码的代价</a:t>
            </a:r>
            <a:endParaRPr lang="zh-CN" altLang="en-US" sz="2400" dirty="0">
              <a:sym typeface="+mn-ea"/>
            </a:endParaRPr>
          </a:p>
        </p:txBody>
      </p:sp>
      <p:grpSp>
        <p:nvGrpSpPr>
          <p:cNvPr id="27" name="组合 26"/>
          <p:cNvGrpSpPr/>
          <p:nvPr/>
        </p:nvGrpSpPr>
        <p:grpSpPr>
          <a:xfrm>
            <a:off x="2848164" y="1981238"/>
            <a:ext cx="3447672" cy="3447672"/>
            <a:chOff x="2724486" y="1828842"/>
            <a:chExt cx="3695028" cy="3695028"/>
          </a:xfrm>
        </p:grpSpPr>
        <p:grpSp>
          <p:nvGrpSpPr>
            <p:cNvPr id="4" name="Group 11"/>
            <p:cNvGrpSpPr/>
            <p:nvPr/>
          </p:nvGrpSpPr>
          <p:grpSpPr>
            <a:xfrm>
              <a:off x="2724486" y="1828842"/>
              <a:ext cx="3695028" cy="3695028"/>
              <a:chOff x="6240781" y="1363135"/>
              <a:chExt cx="4963584" cy="4963584"/>
            </a:xfrm>
          </p:grpSpPr>
          <p:grpSp>
            <p:nvGrpSpPr>
              <p:cNvPr id="5" name="Group 12"/>
              <p:cNvGrpSpPr/>
              <p:nvPr userDrawn="1"/>
            </p:nvGrpSpPr>
            <p:grpSpPr>
              <a:xfrm>
                <a:off x="6240781" y="1363135"/>
                <a:ext cx="3255433" cy="2434167"/>
                <a:chOff x="4657725" y="946151"/>
                <a:chExt cx="2441575" cy="1825625"/>
              </a:xfrm>
            </p:grpSpPr>
            <p:sp>
              <p:nvSpPr>
                <p:cNvPr id="20" name="Freeform 26"/>
                <p:cNvSpPr/>
                <p:nvPr/>
              </p:nvSpPr>
              <p:spPr bwMode="auto">
                <a:xfrm>
                  <a:off x="5953125" y="2046288"/>
                  <a:ext cx="1146175" cy="593725"/>
                </a:xfrm>
                <a:custGeom>
                  <a:avLst/>
                  <a:gdLst>
                    <a:gd name="T0" fmla="*/ 849 w 904"/>
                    <a:gd name="T1" fmla="*/ 0 h 468"/>
                    <a:gd name="T2" fmla="*/ 873 w 904"/>
                    <a:gd name="T3" fmla="*/ 58 h 468"/>
                    <a:gd name="T4" fmla="*/ 507 w 904"/>
                    <a:gd name="T5" fmla="*/ 436 h 468"/>
                    <a:gd name="T6" fmla="*/ 396 w 904"/>
                    <a:gd name="T7" fmla="*/ 436 h 468"/>
                    <a:gd name="T8" fmla="*/ 30 w 904"/>
                    <a:gd name="T9" fmla="*/ 58 h 468"/>
                    <a:gd name="T10" fmla="*/ 55 w 904"/>
                    <a:gd name="T11" fmla="*/ 0 h 468"/>
                    <a:gd name="T12" fmla="*/ 849 w 90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904" h="468">
                      <a:moveTo>
                        <a:pt x="849" y="0"/>
                      </a:moveTo>
                      <a:cubicBezTo>
                        <a:pt x="893" y="0"/>
                        <a:pt x="904" y="26"/>
                        <a:pt x="873" y="58"/>
                      </a:cubicBezTo>
                      <a:cubicBezTo>
                        <a:pt x="507" y="436"/>
                        <a:pt x="507" y="436"/>
                        <a:pt x="507" y="436"/>
                      </a:cubicBezTo>
                      <a:cubicBezTo>
                        <a:pt x="477" y="468"/>
                        <a:pt x="427" y="468"/>
                        <a:pt x="396" y="436"/>
                      </a:cubicBezTo>
                      <a:cubicBezTo>
                        <a:pt x="30" y="58"/>
                        <a:pt x="30" y="58"/>
                        <a:pt x="30" y="58"/>
                      </a:cubicBezTo>
                      <a:cubicBezTo>
                        <a:pt x="0" y="26"/>
                        <a:pt x="11" y="0"/>
                        <a:pt x="55" y="0"/>
                      </a:cubicBezTo>
                      <a:lnTo>
                        <a:pt x="849" y="0"/>
                      </a:lnTo>
                      <a:close/>
                    </a:path>
                  </a:pathLst>
                </a:custGeom>
                <a:solidFill>
                  <a:schemeClr val="accent1"/>
                </a:solidFill>
                <a:ln>
                  <a:noFill/>
                </a:ln>
              </p:spPr>
              <p:txBody>
                <a:bodyPr vert="horz" wrap="square" lIns="55827" tIns="27914" rIns="55827" bIns="27914" numCol="1" anchor="t" anchorCtr="0" compatLnSpc="1"/>
                <a:lstStyle/>
                <a:p>
                  <a:pPr algn="just">
                    <a:lnSpc>
                      <a:spcPct val="120000"/>
                    </a:lnSpc>
                  </a:pPr>
                  <a:endParaRPr lang="en-US" sz="1735"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21" name="Freeform 27"/>
                <p:cNvSpPr/>
                <p:nvPr/>
              </p:nvSpPr>
              <p:spPr bwMode="auto">
                <a:xfrm>
                  <a:off x="4657725" y="946151"/>
                  <a:ext cx="2151063" cy="1825625"/>
                </a:xfrm>
                <a:custGeom>
                  <a:avLst/>
                  <a:gdLst>
                    <a:gd name="T0" fmla="*/ 848 w 1696"/>
                    <a:gd name="T1" fmla="*/ 0 h 1440"/>
                    <a:gd name="T2" fmla="*/ 0 w 1696"/>
                    <a:gd name="T3" fmla="*/ 848 h 1440"/>
                    <a:gd name="T4" fmla="*/ 241 w 1696"/>
                    <a:gd name="T5" fmla="*/ 1440 h 1440"/>
                    <a:gd name="T6" fmla="*/ 718 w 1696"/>
                    <a:gd name="T7" fmla="*/ 1209 h 1440"/>
                    <a:gd name="T8" fmla="*/ 464 w 1696"/>
                    <a:gd name="T9" fmla="*/ 848 h 1440"/>
                    <a:gd name="T10" fmla="*/ 848 w 1696"/>
                    <a:gd name="T11" fmla="*/ 464 h 1440"/>
                    <a:gd name="T12" fmla="*/ 1232 w 1696"/>
                    <a:gd name="T13" fmla="*/ 848 h 1440"/>
                    <a:gd name="T14" fmla="*/ 1213 w 1696"/>
                    <a:gd name="T15" fmla="*/ 966 h 1440"/>
                    <a:gd name="T16" fmla="*/ 1293 w 1696"/>
                    <a:gd name="T17" fmla="*/ 966 h 1440"/>
                    <a:gd name="T18" fmla="*/ 1293 w 1696"/>
                    <a:gd name="T19" fmla="*/ 1062 h 1440"/>
                    <a:gd name="T20" fmla="*/ 1669 w 1696"/>
                    <a:gd name="T21" fmla="*/ 1062 h 1440"/>
                    <a:gd name="T22" fmla="*/ 1696 w 1696"/>
                    <a:gd name="T23" fmla="*/ 848 h 1440"/>
                    <a:gd name="T24" fmla="*/ 848 w 1696"/>
                    <a:gd name="T25" fmla="*/ 0 h 1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6" h="1440">
                      <a:moveTo>
                        <a:pt x="848" y="0"/>
                      </a:moveTo>
                      <a:cubicBezTo>
                        <a:pt x="380" y="0"/>
                        <a:pt x="0" y="380"/>
                        <a:pt x="0" y="848"/>
                      </a:cubicBezTo>
                      <a:cubicBezTo>
                        <a:pt x="0" y="1078"/>
                        <a:pt x="92" y="1287"/>
                        <a:pt x="241" y="1440"/>
                      </a:cubicBezTo>
                      <a:cubicBezTo>
                        <a:pt x="374" y="1315"/>
                        <a:pt x="540" y="1235"/>
                        <a:pt x="718" y="1209"/>
                      </a:cubicBezTo>
                      <a:cubicBezTo>
                        <a:pt x="570" y="1156"/>
                        <a:pt x="464" y="1014"/>
                        <a:pt x="464" y="848"/>
                      </a:cubicBezTo>
                      <a:cubicBezTo>
                        <a:pt x="464" y="636"/>
                        <a:pt x="636" y="464"/>
                        <a:pt x="848" y="464"/>
                      </a:cubicBezTo>
                      <a:cubicBezTo>
                        <a:pt x="1060" y="464"/>
                        <a:pt x="1232" y="636"/>
                        <a:pt x="1232" y="848"/>
                      </a:cubicBezTo>
                      <a:cubicBezTo>
                        <a:pt x="1232" y="889"/>
                        <a:pt x="1225" y="929"/>
                        <a:pt x="1213" y="966"/>
                      </a:cubicBezTo>
                      <a:cubicBezTo>
                        <a:pt x="1293" y="966"/>
                        <a:pt x="1293" y="966"/>
                        <a:pt x="1293" y="966"/>
                      </a:cubicBezTo>
                      <a:cubicBezTo>
                        <a:pt x="1293" y="1062"/>
                        <a:pt x="1293" y="1062"/>
                        <a:pt x="1293" y="1062"/>
                      </a:cubicBezTo>
                      <a:cubicBezTo>
                        <a:pt x="1669" y="1062"/>
                        <a:pt x="1669" y="1062"/>
                        <a:pt x="1669" y="1062"/>
                      </a:cubicBezTo>
                      <a:cubicBezTo>
                        <a:pt x="1687" y="994"/>
                        <a:pt x="1696" y="922"/>
                        <a:pt x="1696" y="848"/>
                      </a:cubicBezTo>
                      <a:cubicBezTo>
                        <a:pt x="1696" y="380"/>
                        <a:pt x="1316" y="0"/>
                        <a:pt x="848" y="0"/>
                      </a:cubicBezTo>
                      <a:close/>
                    </a:path>
                  </a:pathLst>
                </a:custGeom>
                <a:solidFill>
                  <a:schemeClr val="accent1"/>
                </a:solidFill>
                <a:ln>
                  <a:noFill/>
                </a:ln>
              </p:spPr>
              <p:txBody>
                <a:bodyPr vert="horz" wrap="square" lIns="55827" tIns="27914" rIns="55827" bIns="27914" numCol="1" anchor="t" anchorCtr="0" compatLnSpc="1"/>
                <a:lstStyle/>
                <a:p>
                  <a:pPr algn="just">
                    <a:lnSpc>
                      <a:spcPct val="120000"/>
                    </a:lnSpc>
                  </a:pPr>
                  <a:endParaRPr lang="en-US" sz="1735"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grpSp>
          <p:grpSp>
            <p:nvGrpSpPr>
              <p:cNvPr id="6" name="Group 13"/>
              <p:cNvGrpSpPr/>
              <p:nvPr userDrawn="1"/>
            </p:nvGrpSpPr>
            <p:grpSpPr>
              <a:xfrm>
                <a:off x="6240781" y="3111502"/>
                <a:ext cx="2434167" cy="3215217"/>
                <a:chOff x="4657725" y="2257426"/>
                <a:chExt cx="1825625" cy="2411413"/>
              </a:xfrm>
            </p:grpSpPr>
            <p:sp>
              <p:nvSpPr>
                <p:cNvPr id="18" name="Freeform 24"/>
                <p:cNvSpPr/>
                <p:nvPr/>
              </p:nvSpPr>
              <p:spPr bwMode="auto">
                <a:xfrm>
                  <a:off x="5753100" y="2257426"/>
                  <a:ext cx="593725" cy="1146175"/>
                </a:xfrm>
                <a:custGeom>
                  <a:avLst/>
                  <a:gdLst>
                    <a:gd name="T0" fmla="*/ 0 w 468"/>
                    <a:gd name="T1" fmla="*/ 55 h 904"/>
                    <a:gd name="T2" fmla="*/ 57 w 468"/>
                    <a:gd name="T3" fmla="*/ 30 h 904"/>
                    <a:gd name="T4" fmla="*/ 436 w 468"/>
                    <a:gd name="T5" fmla="*/ 397 h 904"/>
                    <a:gd name="T6" fmla="*/ 436 w 468"/>
                    <a:gd name="T7" fmla="*/ 508 h 904"/>
                    <a:gd name="T8" fmla="*/ 57 w 468"/>
                    <a:gd name="T9" fmla="*/ 874 h 904"/>
                    <a:gd name="T10" fmla="*/ 0 w 468"/>
                    <a:gd name="T11" fmla="*/ 849 h 904"/>
                    <a:gd name="T12" fmla="*/ 0 w 468"/>
                    <a:gd name="T13" fmla="*/ 55 h 904"/>
                  </a:gdLst>
                  <a:ahLst/>
                  <a:cxnLst>
                    <a:cxn ang="0">
                      <a:pos x="T0" y="T1"/>
                    </a:cxn>
                    <a:cxn ang="0">
                      <a:pos x="T2" y="T3"/>
                    </a:cxn>
                    <a:cxn ang="0">
                      <a:pos x="T4" y="T5"/>
                    </a:cxn>
                    <a:cxn ang="0">
                      <a:pos x="T6" y="T7"/>
                    </a:cxn>
                    <a:cxn ang="0">
                      <a:pos x="T8" y="T9"/>
                    </a:cxn>
                    <a:cxn ang="0">
                      <a:pos x="T10" y="T11"/>
                    </a:cxn>
                    <a:cxn ang="0">
                      <a:pos x="T12" y="T13"/>
                    </a:cxn>
                  </a:cxnLst>
                  <a:rect l="0" t="0" r="r" b="b"/>
                  <a:pathLst>
                    <a:path w="468" h="904">
                      <a:moveTo>
                        <a:pt x="0" y="55"/>
                      </a:moveTo>
                      <a:cubicBezTo>
                        <a:pt x="0" y="11"/>
                        <a:pt x="26" y="0"/>
                        <a:pt x="57" y="30"/>
                      </a:cubicBezTo>
                      <a:cubicBezTo>
                        <a:pt x="436" y="397"/>
                        <a:pt x="436" y="397"/>
                        <a:pt x="436" y="397"/>
                      </a:cubicBezTo>
                      <a:cubicBezTo>
                        <a:pt x="468" y="427"/>
                        <a:pt x="468" y="477"/>
                        <a:pt x="436" y="508"/>
                      </a:cubicBezTo>
                      <a:cubicBezTo>
                        <a:pt x="57" y="874"/>
                        <a:pt x="57" y="874"/>
                        <a:pt x="57" y="874"/>
                      </a:cubicBezTo>
                      <a:cubicBezTo>
                        <a:pt x="26" y="904"/>
                        <a:pt x="0" y="893"/>
                        <a:pt x="0" y="849"/>
                      </a:cubicBezTo>
                      <a:lnTo>
                        <a:pt x="0" y="55"/>
                      </a:lnTo>
                      <a:close/>
                    </a:path>
                  </a:pathLst>
                </a:custGeom>
                <a:solidFill>
                  <a:srgbClr val="F3A5FA"/>
                </a:solidFill>
                <a:ln>
                  <a:solidFill>
                    <a:srgbClr val="F3A5FA"/>
                  </a:solidFill>
                </a:ln>
              </p:spPr>
              <p:txBody>
                <a:bodyPr vert="horz" wrap="square" lIns="55827" tIns="27914" rIns="55827" bIns="27914" numCol="1" anchor="t" anchorCtr="0" compatLnSpc="1"/>
                <a:lstStyle/>
                <a:p>
                  <a:pPr algn="just">
                    <a:lnSpc>
                      <a:spcPct val="120000"/>
                    </a:lnSpc>
                  </a:pPr>
                  <a:endParaRPr lang="en-US" sz="1735"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9" name="Freeform 25"/>
                <p:cNvSpPr/>
                <p:nvPr/>
              </p:nvSpPr>
              <p:spPr bwMode="auto">
                <a:xfrm>
                  <a:off x="4657725" y="2517776"/>
                  <a:ext cx="1825625" cy="2151063"/>
                </a:xfrm>
                <a:custGeom>
                  <a:avLst/>
                  <a:gdLst>
                    <a:gd name="T0" fmla="*/ 1209 w 1440"/>
                    <a:gd name="T1" fmla="*/ 978 h 1696"/>
                    <a:gd name="T2" fmla="*/ 848 w 1440"/>
                    <a:gd name="T3" fmla="*/ 1232 h 1696"/>
                    <a:gd name="T4" fmla="*/ 464 w 1440"/>
                    <a:gd name="T5" fmla="*/ 848 h 1696"/>
                    <a:gd name="T6" fmla="*/ 848 w 1440"/>
                    <a:gd name="T7" fmla="*/ 464 h 1696"/>
                    <a:gd name="T8" fmla="*/ 969 w 1440"/>
                    <a:gd name="T9" fmla="*/ 483 h 1696"/>
                    <a:gd name="T10" fmla="*/ 969 w 1440"/>
                    <a:gd name="T11" fmla="*/ 9 h 1696"/>
                    <a:gd name="T12" fmla="*/ 848 w 1440"/>
                    <a:gd name="T13" fmla="*/ 0 h 1696"/>
                    <a:gd name="T14" fmla="*/ 0 w 1440"/>
                    <a:gd name="T15" fmla="*/ 848 h 1696"/>
                    <a:gd name="T16" fmla="*/ 848 w 1440"/>
                    <a:gd name="T17" fmla="*/ 1696 h 1696"/>
                    <a:gd name="T18" fmla="*/ 1440 w 1440"/>
                    <a:gd name="T19" fmla="*/ 1455 h 1696"/>
                    <a:gd name="T20" fmla="*/ 1209 w 1440"/>
                    <a:gd name="T21" fmla="*/ 978 h 1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0" h="1696">
                      <a:moveTo>
                        <a:pt x="1209" y="978"/>
                      </a:moveTo>
                      <a:cubicBezTo>
                        <a:pt x="1156" y="1126"/>
                        <a:pt x="1014" y="1232"/>
                        <a:pt x="848" y="1232"/>
                      </a:cubicBezTo>
                      <a:cubicBezTo>
                        <a:pt x="636" y="1232"/>
                        <a:pt x="464" y="1060"/>
                        <a:pt x="464" y="848"/>
                      </a:cubicBezTo>
                      <a:cubicBezTo>
                        <a:pt x="464" y="636"/>
                        <a:pt x="636" y="464"/>
                        <a:pt x="848" y="464"/>
                      </a:cubicBezTo>
                      <a:cubicBezTo>
                        <a:pt x="890" y="464"/>
                        <a:pt x="931" y="471"/>
                        <a:pt x="969" y="483"/>
                      </a:cubicBezTo>
                      <a:cubicBezTo>
                        <a:pt x="969" y="9"/>
                        <a:pt x="969" y="9"/>
                        <a:pt x="969" y="9"/>
                      </a:cubicBezTo>
                      <a:cubicBezTo>
                        <a:pt x="929" y="3"/>
                        <a:pt x="889" y="0"/>
                        <a:pt x="848" y="0"/>
                      </a:cubicBezTo>
                      <a:cubicBezTo>
                        <a:pt x="380" y="0"/>
                        <a:pt x="0" y="380"/>
                        <a:pt x="0" y="848"/>
                      </a:cubicBezTo>
                      <a:cubicBezTo>
                        <a:pt x="0" y="1316"/>
                        <a:pt x="380" y="1696"/>
                        <a:pt x="848" y="1696"/>
                      </a:cubicBezTo>
                      <a:cubicBezTo>
                        <a:pt x="1078" y="1696"/>
                        <a:pt x="1287" y="1604"/>
                        <a:pt x="1440" y="1455"/>
                      </a:cubicBezTo>
                      <a:cubicBezTo>
                        <a:pt x="1315" y="1322"/>
                        <a:pt x="1235" y="1156"/>
                        <a:pt x="1209" y="978"/>
                      </a:cubicBezTo>
                      <a:close/>
                    </a:path>
                  </a:pathLst>
                </a:custGeom>
                <a:solidFill>
                  <a:srgbClr val="F3A5FA"/>
                </a:solidFill>
                <a:ln>
                  <a:solidFill>
                    <a:srgbClr val="F3A5FA"/>
                  </a:solidFill>
                </a:ln>
              </p:spPr>
              <p:txBody>
                <a:bodyPr vert="horz" wrap="square" lIns="55827" tIns="27914" rIns="55827" bIns="27914" numCol="1" anchor="t" anchorCtr="0" compatLnSpc="1"/>
                <a:lstStyle/>
                <a:p>
                  <a:pPr algn="just">
                    <a:lnSpc>
                      <a:spcPct val="120000"/>
                    </a:lnSpc>
                  </a:pPr>
                  <a:endParaRPr lang="en-US" sz="1735"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grpSp>
          <p:grpSp>
            <p:nvGrpSpPr>
              <p:cNvPr id="7" name="Group 14"/>
              <p:cNvGrpSpPr/>
              <p:nvPr userDrawn="1"/>
            </p:nvGrpSpPr>
            <p:grpSpPr>
              <a:xfrm>
                <a:off x="7967980" y="3892551"/>
                <a:ext cx="3236384" cy="2434167"/>
                <a:chOff x="5953125" y="2843213"/>
                <a:chExt cx="2427288" cy="1825625"/>
              </a:xfrm>
            </p:grpSpPr>
            <p:sp>
              <p:nvSpPr>
                <p:cNvPr id="16" name="Freeform 22"/>
                <p:cNvSpPr/>
                <p:nvPr/>
              </p:nvSpPr>
              <p:spPr bwMode="auto">
                <a:xfrm>
                  <a:off x="5953125" y="2989263"/>
                  <a:ext cx="1146175" cy="593725"/>
                </a:xfrm>
                <a:custGeom>
                  <a:avLst/>
                  <a:gdLst>
                    <a:gd name="T0" fmla="*/ 55 w 904"/>
                    <a:gd name="T1" fmla="*/ 468 h 468"/>
                    <a:gd name="T2" fmla="*/ 30 w 904"/>
                    <a:gd name="T3" fmla="*/ 411 h 468"/>
                    <a:gd name="T4" fmla="*/ 396 w 904"/>
                    <a:gd name="T5" fmla="*/ 32 h 468"/>
                    <a:gd name="T6" fmla="*/ 507 w 904"/>
                    <a:gd name="T7" fmla="*/ 32 h 468"/>
                    <a:gd name="T8" fmla="*/ 873 w 904"/>
                    <a:gd name="T9" fmla="*/ 411 h 468"/>
                    <a:gd name="T10" fmla="*/ 849 w 904"/>
                    <a:gd name="T11" fmla="*/ 468 h 468"/>
                    <a:gd name="T12" fmla="*/ 55 w 904"/>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904" h="468">
                      <a:moveTo>
                        <a:pt x="55" y="468"/>
                      </a:moveTo>
                      <a:cubicBezTo>
                        <a:pt x="11" y="468"/>
                        <a:pt x="0" y="442"/>
                        <a:pt x="30" y="411"/>
                      </a:cubicBezTo>
                      <a:cubicBezTo>
                        <a:pt x="396" y="32"/>
                        <a:pt x="396" y="32"/>
                        <a:pt x="396" y="32"/>
                      </a:cubicBezTo>
                      <a:cubicBezTo>
                        <a:pt x="427" y="0"/>
                        <a:pt x="477" y="0"/>
                        <a:pt x="507" y="32"/>
                      </a:cubicBezTo>
                      <a:cubicBezTo>
                        <a:pt x="873" y="411"/>
                        <a:pt x="873" y="411"/>
                        <a:pt x="873" y="411"/>
                      </a:cubicBezTo>
                      <a:cubicBezTo>
                        <a:pt x="904" y="442"/>
                        <a:pt x="893" y="468"/>
                        <a:pt x="849" y="468"/>
                      </a:cubicBezTo>
                      <a:lnTo>
                        <a:pt x="55" y="468"/>
                      </a:lnTo>
                      <a:close/>
                    </a:path>
                  </a:pathLst>
                </a:custGeom>
                <a:solidFill>
                  <a:schemeClr val="accent4"/>
                </a:solidFill>
                <a:ln>
                  <a:noFill/>
                </a:ln>
              </p:spPr>
              <p:txBody>
                <a:bodyPr vert="horz" wrap="square" lIns="55827" tIns="27914" rIns="55827" bIns="27914" numCol="1" anchor="t" anchorCtr="0" compatLnSpc="1"/>
                <a:lstStyle/>
                <a:p>
                  <a:pPr algn="just">
                    <a:lnSpc>
                      <a:spcPct val="120000"/>
                    </a:lnSpc>
                  </a:pPr>
                  <a:endParaRPr lang="en-US" sz="1735"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7" name="Freeform 23"/>
                <p:cNvSpPr/>
                <p:nvPr/>
              </p:nvSpPr>
              <p:spPr bwMode="auto">
                <a:xfrm>
                  <a:off x="6230938" y="2843213"/>
                  <a:ext cx="2149475" cy="1825625"/>
                </a:xfrm>
                <a:custGeom>
                  <a:avLst/>
                  <a:gdLst>
                    <a:gd name="T0" fmla="*/ 978 w 1696"/>
                    <a:gd name="T1" fmla="*/ 231 h 1440"/>
                    <a:gd name="T2" fmla="*/ 1232 w 1696"/>
                    <a:gd name="T3" fmla="*/ 592 h 1440"/>
                    <a:gd name="T4" fmla="*/ 848 w 1696"/>
                    <a:gd name="T5" fmla="*/ 976 h 1440"/>
                    <a:gd name="T6" fmla="*/ 464 w 1696"/>
                    <a:gd name="T7" fmla="*/ 592 h 1440"/>
                    <a:gd name="T8" fmla="*/ 487 w 1696"/>
                    <a:gd name="T9" fmla="*/ 462 h 1440"/>
                    <a:gd name="T10" fmla="*/ 10 w 1696"/>
                    <a:gd name="T11" fmla="*/ 462 h 1440"/>
                    <a:gd name="T12" fmla="*/ 0 w 1696"/>
                    <a:gd name="T13" fmla="*/ 592 h 1440"/>
                    <a:gd name="T14" fmla="*/ 848 w 1696"/>
                    <a:gd name="T15" fmla="*/ 1440 h 1440"/>
                    <a:gd name="T16" fmla="*/ 1696 w 1696"/>
                    <a:gd name="T17" fmla="*/ 592 h 1440"/>
                    <a:gd name="T18" fmla="*/ 1455 w 1696"/>
                    <a:gd name="T19" fmla="*/ 0 h 1440"/>
                    <a:gd name="T20" fmla="*/ 978 w 1696"/>
                    <a:gd name="T21" fmla="*/ 231 h 1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96" h="1440">
                      <a:moveTo>
                        <a:pt x="978" y="231"/>
                      </a:moveTo>
                      <a:cubicBezTo>
                        <a:pt x="1126" y="284"/>
                        <a:pt x="1232" y="426"/>
                        <a:pt x="1232" y="592"/>
                      </a:cubicBezTo>
                      <a:cubicBezTo>
                        <a:pt x="1232" y="804"/>
                        <a:pt x="1060" y="976"/>
                        <a:pt x="848" y="976"/>
                      </a:cubicBezTo>
                      <a:cubicBezTo>
                        <a:pt x="636" y="976"/>
                        <a:pt x="464" y="804"/>
                        <a:pt x="464" y="592"/>
                      </a:cubicBezTo>
                      <a:cubicBezTo>
                        <a:pt x="464" y="546"/>
                        <a:pt x="472" y="503"/>
                        <a:pt x="487" y="462"/>
                      </a:cubicBezTo>
                      <a:cubicBezTo>
                        <a:pt x="10" y="462"/>
                        <a:pt x="10" y="462"/>
                        <a:pt x="10" y="462"/>
                      </a:cubicBezTo>
                      <a:cubicBezTo>
                        <a:pt x="3" y="504"/>
                        <a:pt x="0" y="548"/>
                        <a:pt x="0" y="592"/>
                      </a:cubicBezTo>
                      <a:cubicBezTo>
                        <a:pt x="0" y="1060"/>
                        <a:pt x="380" y="1440"/>
                        <a:pt x="848" y="1440"/>
                      </a:cubicBezTo>
                      <a:cubicBezTo>
                        <a:pt x="1316" y="1440"/>
                        <a:pt x="1696" y="1060"/>
                        <a:pt x="1696" y="592"/>
                      </a:cubicBezTo>
                      <a:cubicBezTo>
                        <a:pt x="1696" y="362"/>
                        <a:pt x="1604" y="153"/>
                        <a:pt x="1455" y="0"/>
                      </a:cubicBezTo>
                      <a:cubicBezTo>
                        <a:pt x="1322" y="125"/>
                        <a:pt x="1156" y="205"/>
                        <a:pt x="978" y="231"/>
                      </a:cubicBezTo>
                      <a:close/>
                    </a:path>
                  </a:pathLst>
                </a:custGeom>
                <a:solidFill>
                  <a:schemeClr val="accent4"/>
                </a:solidFill>
                <a:ln>
                  <a:noFill/>
                </a:ln>
              </p:spPr>
              <p:txBody>
                <a:bodyPr vert="horz" wrap="square" lIns="55827" tIns="27914" rIns="55827" bIns="27914" numCol="1" anchor="t" anchorCtr="0" compatLnSpc="1"/>
                <a:lstStyle/>
                <a:p>
                  <a:pPr algn="just">
                    <a:lnSpc>
                      <a:spcPct val="120000"/>
                    </a:lnSpc>
                  </a:pPr>
                  <a:endParaRPr lang="en-US" sz="1735"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grpSp>
          <p:grpSp>
            <p:nvGrpSpPr>
              <p:cNvPr id="8" name="Group 15"/>
              <p:cNvGrpSpPr/>
              <p:nvPr userDrawn="1"/>
            </p:nvGrpSpPr>
            <p:grpSpPr>
              <a:xfrm>
                <a:off x="8770198" y="1363135"/>
                <a:ext cx="2434167" cy="3276600"/>
                <a:chOff x="6554788" y="946151"/>
                <a:chExt cx="1825625" cy="2457450"/>
              </a:xfrm>
            </p:grpSpPr>
            <p:sp>
              <p:nvSpPr>
                <p:cNvPr id="14" name="Freeform 20"/>
                <p:cNvSpPr/>
                <p:nvPr/>
              </p:nvSpPr>
              <p:spPr bwMode="auto">
                <a:xfrm>
                  <a:off x="6691313" y="2257426"/>
                  <a:ext cx="593725" cy="1146175"/>
                </a:xfrm>
                <a:custGeom>
                  <a:avLst/>
                  <a:gdLst>
                    <a:gd name="T0" fmla="*/ 468 w 468"/>
                    <a:gd name="T1" fmla="*/ 849 h 904"/>
                    <a:gd name="T2" fmla="*/ 410 w 468"/>
                    <a:gd name="T3" fmla="*/ 874 h 904"/>
                    <a:gd name="T4" fmla="*/ 32 w 468"/>
                    <a:gd name="T5" fmla="*/ 508 h 904"/>
                    <a:gd name="T6" fmla="*/ 32 w 468"/>
                    <a:gd name="T7" fmla="*/ 397 h 904"/>
                    <a:gd name="T8" fmla="*/ 410 w 468"/>
                    <a:gd name="T9" fmla="*/ 30 h 904"/>
                    <a:gd name="T10" fmla="*/ 468 w 468"/>
                    <a:gd name="T11" fmla="*/ 55 h 904"/>
                    <a:gd name="T12" fmla="*/ 468 w 468"/>
                    <a:gd name="T13" fmla="*/ 849 h 904"/>
                  </a:gdLst>
                  <a:ahLst/>
                  <a:cxnLst>
                    <a:cxn ang="0">
                      <a:pos x="T0" y="T1"/>
                    </a:cxn>
                    <a:cxn ang="0">
                      <a:pos x="T2" y="T3"/>
                    </a:cxn>
                    <a:cxn ang="0">
                      <a:pos x="T4" y="T5"/>
                    </a:cxn>
                    <a:cxn ang="0">
                      <a:pos x="T6" y="T7"/>
                    </a:cxn>
                    <a:cxn ang="0">
                      <a:pos x="T8" y="T9"/>
                    </a:cxn>
                    <a:cxn ang="0">
                      <a:pos x="T10" y="T11"/>
                    </a:cxn>
                    <a:cxn ang="0">
                      <a:pos x="T12" y="T13"/>
                    </a:cxn>
                  </a:cxnLst>
                  <a:rect l="0" t="0" r="r" b="b"/>
                  <a:pathLst>
                    <a:path w="468" h="904">
                      <a:moveTo>
                        <a:pt x="468" y="849"/>
                      </a:moveTo>
                      <a:cubicBezTo>
                        <a:pt x="468" y="893"/>
                        <a:pt x="442" y="904"/>
                        <a:pt x="410" y="874"/>
                      </a:cubicBezTo>
                      <a:cubicBezTo>
                        <a:pt x="32" y="508"/>
                        <a:pt x="32" y="508"/>
                        <a:pt x="32" y="508"/>
                      </a:cubicBezTo>
                      <a:cubicBezTo>
                        <a:pt x="0" y="477"/>
                        <a:pt x="0" y="427"/>
                        <a:pt x="32" y="397"/>
                      </a:cubicBezTo>
                      <a:cubicBezTo>
                        <a:pt x="410" y="30"/>
                        <a:pt x="410" y="30"/>
                        <a:pt x="410" y="30"/>
                      </a:cubicBezTo>
                      <a:cubicBezTo>
                        <a:pt x="442" y="0"/>
                        <a:pt x="468" y="11"/>
                        <a:pt x="468" y="55"/>
                      </a:cubicBezTo>
                      <a:lnTo>
                        <a:pt x="468" y="849"/>
                      </a:lnTo>
                      <a:close/>
                    </a:path>
                  </a:pathLst>
                </a:custGeom>
                <a:solidFill>
                  <a:schemeClr val="accent2"/>
                </a:solidFill>
                <a:ln>
                  <a:noFill/>
                </a:ln>
              </p:spPr>
              <p:txBody>
                <a:bodyPr vert="horz" wrap="square" lIns="55827" tIns="27914" rIns="55827" bIns="27914" numCol="1" anchor="t" anchorCtr="0" compatLnSpc="1"/>
                <a:lstStyle/>
                <a:p>
                  <a:pPr algn="just">
                    <a:lnSpc>
                      <a:spcPct val="120000"/>
                    </a:lnSpc>
                  </a:pPr>
                  <a:endParaRPr lang="en-US" sz="1735"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5" name="Freeform 21"/>
                <p:cNvSpPr/>
                <p:nvPr/>
              </p:nvSpPr>
              <p:spPr bwMode="auto">
                <a:xfrm>
                  <a:off x="6554788" y="946151"/>
                  <a:ext cx="1825625" cy="2151063"/>
                </a:xfrm>
                <a:custGeom>
                  <a:avLst/>
                  <a:gdLst>
                    <a:gd name="T0" fmla="*/ 592 w 1440"/>
                    <a:gd name="T1" fmla="*/ 0 h 1696"/>
                    <a:gd name="T2" fmla="*/ 0 w 1440"/>
                    <a:gd name="T3" fmla="*/ 241 h 1696"/>
                    <a:gd name="T4" fmla="*/ 231 w 1440"/>
                    <a:gd name="T5" fmla="*/ 718 h 1696"/>
                    <a:gd name="T6" fmla="*/ 592 w 1440"/>
                    <a:gd name="T7" fmla="*/ 464 h 1696"/>
                    <a:gd name="T8" fmla="*/ 976 w 1440"/>
                    <a:gd name="T9" fmla="*/ 848 h 1696"/>
                    <a:gd name="T10" fmla="*/ 592 w 1440"/>
                    <a:gd name="T11" fmla="*/ 1232 h 1696"/>
                    <a:gd name="T12" fmla="*/ 452 w 1440"/>
                    <a:gd name="T13" fmla="*/ 1206 h 1696"/>
                    <a:gd name="T14" fmla="*/ 452 w 1440"/>
                    <a:gd name="T15" fmla="*/ 1300 h 1696"/>
                    <a:gd name="T16" fmla="*/ 389 w 1440"/>
                    <a:gd name="T17" fmla="*/ 1300 h 1696"/>
                    <a:gd name="T18" fmla="*/ 389 w 1440"/>
                    <a:gd name="T19" fmla="*/ 1671 h 1696"/>
                    <a:gd name="T20" fmla="*/ 592 w 1440"/>
                    <a:gd name="T21" fmla="*/ 1696 h 1696"/>
                    <a:gd name="T22" fmla="*/ 1440 w 1440"/>
                    <a:gd name="T23" fmla="*/ 848 h 1696"/>
                    <a:gd name="T24" fmla="*/ 592 w 1440"/>
                    <a:gd name="T25" fmla="*/ 0 h 1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40" h="1696">
                      <a:moveTo>
                        <a:pt x="592" y="0"/>
                      </a:moveTo>
                      <a:cubicBezTo>
                        <a:pt x="362" y="0"/>
                        <a:pt x="153" y="92"/>
                        <a:pt x="0" y="241"/>
                      </a:cubicBezTo>
                      <a:cubicBezTo>
                        <a:pt x="125" y="374"/>
                        <a:pt x="205" y="540"/>
                        <a:pt x="231" y="718"/>
                      </a:cubicBezTo>
                      <a:cubicBezTo>
                        <a:pt x="284" y="570"/>
                        <a:pt x="426" y="464"/>
                        <a:pt x="592" y="464"/>
                      </a:cubicBezTo>
                      <a:cubicBezTo>
                        <a:pt x="804" y="464"/>
                        <a:pt x="976" y="636"/>
                        <a:pt x="976" y="848"/>
                      </a:cubicBezTo>
                      <a:cubicBezTo>
                        <a:pt x="976" y="1060"/>
                        <a:pt x="804" y="1232"/>
                        <a:pt x="592" y="1232"/>
                      </a:cubicBezTo>
                      <a:cubicBezTo>
                        <a:pt x="543" y="1232"/>
                        <a:pt x="495" y="1223"/>
                        <a:pt x="452" y="1206"/>
                      </a:cubicBezTo>
                      <a:cubicBezTo>
                        <a:pt x="452" y="1300"/>
                        <a:pt x="452" y="1300"/>
                        <a:pt x="452" y="1300"/>
                      </a:cubicBezTo>
                      <a:cubicBezTo>
                        <a:pt x="389" y="1300"/>
                        <a:pt x="389" y="1300"/>
                        <a:pt x="389" y="1300"/>
                      </a:cubicBezTo>
                      <a:cubicBezTo>
                        <a:pt x="389" y="1671"/>
                        <a:pt x="389" y="1671"/>
                        <a:pt x="389" y="1671"/>
                      </a:cubicBezTo>
                      <a:cubicBezTo>
                        <a:pt x="454" y="1687"/>
                        <a:pt x="522" y="1696"/>
                        <a:pt x="592" y="1696"/>
                      </a:cubicBezTo>
                      <a:cubicBezTo>
                        <a:pt x="1060" y="1696"/>
                        <a:pt x="1440" y="1316"/>
                        <a:pt x="1440" y="848"/>
                      </a:cubicBezTo>
                      <a:cubicBezTo>
                        <a:pt x="1440" y="380"/>
                        <a:pt x="1060" y="0"/>
                        <a:pt x="592" y="0"/>
                      </a:cubicBezTo>
                      <a:close/>
                    </a:path>
                  </a:pathLst>
                </a:custGeom>
                <a:solidFill>
                  <a:schemeClr val="accent2"/>
                </a:solidFill>
                <a:ln>
                  <a:noFill/>
                </a:ln>
              </p:spPr>
              <p:txBody>
                <a:bodyPr vert="horz" wrap="square" lIns="55827" tIns="27914" rIns="55827" bIns="27914" numCol="1" anchor="t" anchorCtr="0" compatLnSpc="1"/>
                <a:lstStyle/>
                <a:p>
                  <a:pPr algn="just">
                    <a:lnSpc>
                      <a:spcPct val="120000"/>
                    </a:lnSpc>
                  </a:pPr>
                  <a:endParaRPr lang="en-US" sz="1735"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grpSp>
          <p:sp>
            <p:nvSpPr>
              <p:cNvPr id="10" name="TextBox 16"/>
              <p:cNvSpPr txBox="1"/>
              <p:nvPr userDrawn="1"/>
            </p:nvSpPr>
            <p:spPr>
              <a:xfrm rot="18920653">
                <a:off x="6614389" y="1959675"/>
                <a:ext cx="1084827" cy="451405"/>
              </a:xfrm>
              <a:prstGeom prst="rect">
                <a:avLst/>
              </a:prstGeom>
              <a:noFill/>
            </p:spPr>
            <p:txBody>
              <a:bodyPr wrap="none" rtlCol="0" anchor="ctr">
                <a:prstTxWarp prst="textArchUp">
                  <a:avLst/>
                </a:prstTxWarp>
                <a:spAutoFit/>
              </a:bodyPr>
              <a:lstStyle/>
              <a:p>
                <a:pPr algn="just">
                  <a:lnSpc>
                    <a:spcPct val="120000"/>
                  </a:lnSpc>
                </a:pPr>
                <a:endParaRPr lang="id-ID" sz="2400" b="1" dirty="0">
                  <a:solidFill>
                    <a:schemeClr val="bg1"/>
                  </a:solidFill>
                  <a:latin typeface="黑体" panose="02010609060101010101" pitchFamily="49" charset="-122"/>
                  <a:ea typeface="黑体" panose="02010609060101010101" pitchFamily="49" charset="-122"/>
                  <a:cs typeface="+mn-ea"/>
                  <a:sym typeface="Arial" panose="020B0604020202020204" pitchFamily="34" charset="0"/>
                </a:endParaRPr>
              </a:p>
            </p:txBody>
          </p:sp>
          <p:sp>
            <p:nvSpPr>
              <p:cNvPr id="11" name="TextBox 17"/>
              <p:cNvSpPr txBox="1"/>
              <p:nvPr userDrawn="1"/>
            </p:nvSpPr>
            <p:spPr>
              <a:xfrm rot="2904439">
                <a:off x="9713530" y="2071950"/>
                <a:ext cx="1348425" cy="451405"/>
              </a:xfrm>
              <a:prstGeom prst="rect">
                <a:avLst/>
              </a:prstGeom>
              <a:noFill/>
            </p:spPr>
            <p:txBody>
              <a:bodyPr wrap="none" rtlCol="0" anchor="ctr">
                <a:prstTxWarp prst="textArchUp">
                  <a:avLst/>
                </a:prstTxWarp>
                <a:spAutoFit/>
              </a:bodyPr>
              <a:lstStyle/>
              <a:p>
                <a:pPr algn="just">
                  <a:lnSpc>
                    <a:spcPct val="120000"/>
                  </a:lnSpc>
                </a:pPr>
                <a:endParaRPr lang="id-ID" sz="1735" b="1"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2" name="TextBox 18"/>
              <p:cNvSpPr txBox="1"/>
              <p:nvPr userDrawn="1"/>
            </p:nvSpPr>
            <p:spPr>
              <a:xfrm rot="3328205">
                <a:off x="6381839" y="5171931"/>
                <a:ext cx="1276620" cy="451405"/>
              </a:xfrm>
              <a:prstGeom prst="rect">
                <a:avLst/>
              </a:prstGeom>
              <a:noFill/>
            </p:spPr>
            <p:txBody>
              <a:bodyPr wrap="none" rtlCol="0" anchor="ctr">
                <a:prstTxWarp prst="textArchDown">
                  <a:avLst/>
                </a:prstTxWarp>
                <a:spAutoFit/>
              </a:bodyPr>
              <a:lstStyle/>
              <a:p>
                <a:pPr algn="just">
                  <a:lnSpc>
                    <a:spcPct val="120000"/>
                  </a:lnSpc>
                </a:pPr>
                <a:endParaRPr lang="id-ID" sz="1735" b="1"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3" name="TextBox 19"/>
              <p:cNvSpPr txBox="1"/>
              <p:nvPr userDrawn="1"/>
            </p:nvSpPr>
            <p:spPr>
              <a:xfrm rot="18872992">
                <a:off x="9524091" y="5259067"/>
                <a:ext cx="1436559" cy="451405"/>
              </a:xfrm>
              <a:prstGeom prst="rect">
                <a:avLst/>
              </a:prstGeom>
              <a:noFill/>
            </p:spPr>
            <p:txBody>
              <a:bodyPr wrap="none" rtlCol="0" anchor="ctr">
                <a:prstTxWarp prst="textArchDown">
                  <a:avLst/>
                </a:prstTxWarp>
                <a:spAutoFit/>
              </a:bodyPr>
              <a:lstStyle/>
              <a:p>
                <a:pPr algn="just">
                  <a:lnSpc>
                    <a:spcPct val="120000"/>
                  </a:lnSpc>
                </a:pPr>
                <a:endParaRPr lang="id-ID" sz="1735" b="1"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grpSp>
        <p:sp>
          <p:nvSpPr>
            <p:cNvPr id="3" name="文本框 2"/>
            <p:cNvSpPr txBox="1"/>
            <p:nvPr/>
          </p:nvSpPr>
          <p:spPr>
            <a:xfrm>
              <a:off x="3493191" y="1892216"/>
              <a:ext cx="692660" cy="570431"/>
            </a:xfrm>
            <a:prstGeom prst="rect">
              <a:avLst/>
            </a:prstGeom>
            <a:noFill/>
          </p:spPr>
          <p:txBody>
            <a:bodyPr wrap="square" rtlCol="0" anchor="t">
              <a:spAutoFit/>
            </a:bodyPr>
            <a:lstStyle/>
            <a:p>
              <a:r>
                <a:rPr lang="en-US" altLang="zh-CN" sz="2400" b="1" dirty="0">
                  <a:latin typeface="+mn-lt"/>
                  <a:ea typeface="黑体" panose="02010609060101010101" pitchFamily="49" charset="-122"/>
                  <a:sym typeface="+mn-ea"/>
                </a:rPr>
                <a:t>01</a:t>
              </a:r>
              <a:endParaRPr lang="zh-CN" altLang="en-US" b="1" dirty="0">
                <a:latin typeface="+mn-lt"/>
                <a:ea typeface="黑体" panose="02010609060101010101" pitchFamily="49" charset="-122"/>
                <a:sym typeface="+mn-ea"/>
              </a:endParaRPr>
            </a:p>
          </p:txBody>
        </p:sp>
        <p:sp>
          <p:nvSpPr>
            <p:cNvPr id="22" name="文本框 21"/>
            <p:cNvSpPr txBox="1"/>
            <p:nvPr/>
          </p:nvSpPr>
          <p:spPr>
            <a:xfrm>
              <a:off x="3495785" y="4936191"/>
              <a:ext cx="690065" cy="570431"/>
            </a:xfrm>
            <a:prstGeom prst="rect">
              <a:avLst/>
            </a:prstGeom>
            <a:noFill/>
          </p:spPr>
          <p:txBody>
            <a:bodyPr wrap="square" rtlCol="0" anchor="t">
              <a:spAutoFit/>
            </a:bodyPr>
            <a:lstStyle/>
            <a:p>
              <a:r>
                <a:rPr lang="en-US" altLang="zh-CN" sz="2400" b="1" dirty="0">
                  <a:latin typeface="+mn-lt"/>
                  <a:ea typeface="黑体" panose="02010609060101010101" pitchFamily="49" charset="-122"/>
                  <a:sym typeface="+mn-ea"/>
                </a:rPr>
                <a:t>03</a:t>
              </a:r>
              <a:endParaRPr lang="zh-CN" altLang="en-US" b="1" dirty="0">
                <a:latin typeface="+mn-lt"/>
                <a:ea typeface="黑体" panose="02010609060101010101" pitchFamily="49" charset="-122"/>
                <a:sym typeface="+mn-ea"/>
              </a:endParaRPr>
            </a:p>
          </p:txBody>
        </p:sp>
        <p:sp>
          <p:nvSpPr>
            <p:cNvPr id="23" name="文本框 22"/>
            <p:cNvSpPr txBox="1"/>
            <p:nvPr/>
          </p:nvSpPr>
          <p:spPr>
            <a:xfrm>
              <a:off x="5329371" y="1921029"/>
              <a:ext cx="739447" cy="570431"/>
            </a:xfrm>
            <a:prstGeom prst="rect">
              <a:avLst/>
            </a:prstGeom>
            <a:noFill/>
          </p:spPr>
          <p:txBody>
            <a:bodyPr wrap="square" rtlCol="0" anchor="t">
              <a:spAutoFit/>
            </a:bodyPr>
            <a:lstStyle/>
            <a:p>
              <a:r>
                <a:rPr lang="en-US" altLang="zh-CN" sz="2400" b="1" dirty="0">
                  <a:latin typeface="+mn-lt"/>
                  <a:ea typeface="黑体" panose="02010609060101010101" pitchFamily="49" charset="-122"/>
                  <a:sym typeface="+mn-ea"/>
                </a:rPr>
                <a:t>02</a:t>
              </a:r>
              <a:endParaRPr lang="zh-CN" altLang="en-US" b="1" dirty="0">
                <a:latin typeface="+mn-lt"/>
                <a:ea typeface="黑体" panose="02010609060101010101" pitchFamily="49" charset="-122"/>
                <a:sym typeface="+mn-ea"/>
              </a:endParaRPr>
            </a:p>
          </p:txBody>
        </p:sp>
        <p:sp>
          <p:nvSpPr>
            <p:cNvPr id="24" name="文本框 23"/>
            <p:cNvSpPr txBox="1"/>
            <p:nvPr/>
          </p:nvSpPr>
          <p:spPr>
            <a:xfrm>
              <a:off x="5352762" y="4934360"/>
              <a:ext cx="745309" cy="570431"/>
            </a:xfrm>
            <a:prstGeom prst="rect">
              <a:avLst/>
            </a:prstGeom>
            <a:noFill/>
          </p:spPr>
          <p:txBody>
            <a:bodyPr wrap="square" rtlCol="0" anchor="t">
              <a:spAutoFit/>
            </a:bodyPr>
            <a:lstStyle/>
            <a:p>
              <a:r>
                <a:rPr lang="en-US" altLang="zh-CN" sz="2400" b="1" dirty="0">
                  <a:solidFill>
                    <a:schemeClr val="bg1"/>
                  </a:solidFill>
                  <a:latin typeface="+mn-lt"/>
                  <a:ea typeface="黑体" panose="02010609060101010101" pitchFamily="49" charset="-122"/>
                  <a:sym typeface="+mn-ea"/>
                </a:rPr>
                <a:t>04</a:t>
              </a:r>
              <a:endParaRPr lang="zh-CN" altLang="en-US" b="1" dirty="0">
                <a:solidFill>
                  <a:schemeClr val="bg1"/>
                </a:solidFill>
                <a:latin typeface="+mn-lt"/>
                <a:ea typeface="黑体" panose="02010609060101010101" pitchFamily="49" charset="-122"/>
                <a:sym typeface="+mn-ea"/>
              </a:endParaRPr>
            </a:p>
          </p:txBody>
        </p:sp>
      </p:grpSp>
      <p:sp>
        <p:nvSpPr>
          <p:cNvPr id="25" name="文本框 24"/>
          <p:cNvSpPr txBox="1"/>
          <p:nvPr/>
        </p:nvSpPr>
        <p:spPr>
          <a:xfrm>
            <a:off x="299731" y="1139119"/>
            <a:ext cx="2805502" cy="135408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gn="l">
              <a:lnSpc>
                <a:spcPts val="3400"/>
              </a:lnSpc>
            </a:pPr>
            <a:r>
              <a:rPr lang="zh-CN" altLang="en-US" b="0" i="0" dirty="0">
                <a:solidFill>
                  <a:srgbClr val="121212"/>
                </a:solidFill>
                <a:effectLst/>
                <a:latin typeface="Marlett" charset="0"/>
              </a:rPr>
              <a:t>纠删码技术提高存储资源利用率的表现</a:t>
            </a:r>
            <a:r>
              <a:rPr lang="en-US" altLang="zh-CN" b="0" i="0" dirty="0">
                <a:solidFill>
                  <a:srgbClr val="121212"/>
                </a:solidFill>
                <a:effectLst/>
                <a:latin typeface="Marlett" charset="0"/>
              </a:rPr>
              <a:t>1</a:t>
            </a:r>
            <a:r>
              <a:rPr lang="zh-CN" altLang="en-US" b="0" i="0" dirty="0">
                <a:solidFill>
                  <a:srgbClr val="121212"/>
                </a:solidFill>
                <a:effectLst/>
                <a:latin typeface="Marlett" charset="0"/>
              </a:rPr>
              <a:t>：提供近似三副本的可靠性</a:t>
            </a:r>
            <a:endParaRPr lang="zh-CN" altLang="en-US" b="0" i="0" dirty="0">
              <a:solidFill>
                <a:srgbClr val="121212"/>
              </a:solidFill>
              <a:effectLst/>
              <a:latin typeface="Marlett" charset="0"/>
            </a:endParaRPr>
          </a:p>
        </p:txBody>
      </p:sp>
      <p:sp>
        <p:nvSpPr>
          <p:cNvPr id="26" name="文本框 25"/>
          <p:cNvSpPr txBox="1"/>
          <p:nvPr/>
        </p:nvSpPr>
        <p:spPr>
          <a:xfrm>
            <a:off x="6396844" y="1139118"/>
            <a:ext cx="2693014" cy="1354089"/>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gn="l">
              <a:lnSpc>
                <a:spcPts val="3400"/>
              </a:lnSpc>
            </a:pPr>
            <a:r>
              <a:rPr lang="zh-CN" altLang="en-US" b="0" i="0" dirty="0">
                <a:solidFill>
                  <a:srgbClr val="121212"/>
                </a:solidFill>
                <a:effectLst/>
                <a:latin typeface="Marlett" charset="0"/>
              </a:rPr>
              <a:t>纠删码技术提高存储资源利用率的表现</a:t>
            </a:r>
            <a:r>
              <a:rPr lang="en-US" altLang="zh-CN" dirty="0">
                <a:solidFill>
                  <a:srgbClr val="121212"/>
                </a:solidFill>
                <a:latin typeface="Marlett" charset="0"/>
              </a:rPr>
              <a:t>2</a:t>
            </a:r>
            <a:r>
              <a:rPr lang="zh-CN" altLang="en-US" b="0" i="0" dirty="0">
                <a:solidFill>
                  <a:srgbClr val="121212"/>
                </a:solidFill>
                <a:effectLst/>
                <a:latin typeface="Marlett" charset="0"/>
              </a:rPr>
              <a:t>：减小冗余存储</a:t>
            </a:r>
            <a:endParaRPr lang="zh-CN" altLang="en-US" b="0" i="0" dirty="0">
              <a:solidFill>
                <a:srgbClr val="121212"/>
              </a:solidFill>
              <a:effectLst/>
              <a:latin typeface="Marlett" charset="0"/>
            </a:endParaRPr>
          </a:p>
        </p:txBody>
      </p:sp>
      <p:sp>
        <p:nvSpPr>
          <p:cNvPr id="28" name="文本框 27"/>
          <p:cNvSpPr txBox="1"/>
          <p:nvPr/>
        </p:nvSpPr>
        <p:spPr>
          <a:xfrm>
            <a:off x="293103" y="5041836"/>
            <a:ext cx="2866257" cy="92307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gn="l">
              <a:lnSpc>
                <a:spcPts val="3400"/>
              </a:lnSpc>
            </a:pPr>
            <a:r>
              <a:rPr lang="zh-CN" altLang="en-US" b="0" i="0" dirty="0">
                <a:solidFill>
                  <a:srgbClr val="121212"/>
                </a:solidFill>
                <a:effectLst/>
                <a:latin typeface="Marlett" charset="0"/>
              </a:rPr>
              <a:t>纠删码技术的代价</a:t>
            </a:r>
            <a:r>
              <a:rPr lang="en-US" altLang="zh-CN" b="0" i="0" dirty="0">
                <a:solidFill>
                  <a:srgbClr val="121212"/>
                </a:solidFill>
                <a:effectLst/>
                <a:latin typeface="+mn-lt"/>
              </a:rPr>
              <a:t>1</a:t>
            </a:r>
            <a:r>
              <a:rPr lang="zh-CN" altLang="en-US" b="0" i="0" dirty="0">
                <a:solidFill>
                  <a:srgbClr val="121212"/>
                </a:solidFill>
                <a:effectLst/>
                <a:latin typeface="Marlett" charset="0"/>
              </a:rPr>
              <a:t>：</a:t>
            </a:r>
            <a:r>
              <a:rPr lang="en-US" altLang="zh-CN" b="0" i="0" dirty="0">
                <a:solidFill>
                  <a:srgbClr val="121212"/>
                </a:solidFill>
                <a:effectLst/>
                <a:latin typeface="Marlett" charset="0"/>
              </a:rPr>
              <a:t>CPU</a:t>
            </a:r>
            <a:r>
              <a:rPr lang="zh-CN" altLang="en-US" b="0" i="0" dirty="0">
                <a:solidFill>
                  <a:srgbClr val="121212"/>
                </a:solidFill>
                <a:effectLst/>
                <a:latin typeface="Marlett" charset="0"/>
              </a:rPr>
              <a:t>计算量</a:t>
            </a:r>
            <a:endParaRPr lang="zh-CN" altLang="en-US" b="0" i="0" dirty="0">
              <a:solidFill>
                <a:srgbClr val="121212"/>
              </a:solidFill>
              <a:effectLst/>
              <a:latin typeface="Marlett" charset="0"/>
            </a:endParaRPr>
          </a:p>
        </p:txBody>
      </p:sp>
      <p:sp>
        <p:nvSpPr>
          <p:cNvPr id="29" name="文本框 28"/>
          <p:cNvSpPr txBox="1"/>
          <p:nvPr/>
        </p:nvSpPr>
        <p:spPr>
          <a:xfrm>
            <a:off x="6450987" y="4861610"/>
            <a:ext cx="2693014" cy="92307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gn="l">
              <a:lnSpc>
                <a:spcPts val="3400"/>
              </a:lnSpc>
            </a:pPr>
            <a:r>
              <a:rPr lang="zh-CN" altLang="en-US" b="0" i="0" dirty="0">
                <a:solidFill>
                  <a:srgbClr val="121212"/>
                </a:solidFill>
                <a:effectLst/>
                <a:latin typeface="Marlett" charset="0"/>
              </a:rPr>
              <a:t>纠删码技术的代价</a:t>
            </a:r>
            <a:r>
              <a:rPr lang="en-US" altLang="zh-CN" dirty="0">
                <a:solidFill>
                  <a:srgbClr val="121212"/>
                </a:solidFill>
                <a:latin typeface="Marlett" charset="0"/>
              </a:rPr>
              <a:t>2</a:t>
            </a:r>
            <a:r>
              <a:rPr lang="zh-CN" altLang="en-US" b="0" i="0" dirty="0">
                <a:solidFill>
                  <a:srgbClr val="121212"/>
                </a:solidFill>
                <a:effectLst/>
                <a:latin typeface="Marlett" charset="0"/>
              </a:rPr>
              <a:t>：网络负载</a:t>
            </a:r>
            <a:endParaRPr lang="zh-CN" altLang="en-US" b="0" i="0" dirty="0">
              <a:solidFill>
                <a:srgbClr val="121212"/>
              </a:solidFill>
              <a:effectLst/>
              <a:latin typeface="Marlett"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EC</a:t>
            </a:r>
            <a:r>
              <a:rPr lang="zh-CN" altLang="en-US" sz="2400" dirty="0">
                <a:sym typeface="+mn-ea"/>
              </a:rPr>
              <a:t>码的优化</a:t>
            </a:r>
            <a:r>
              <a:rPr lang="en-US" altLang="zh-CN" sz="2400" dirty="0">
                <a:sym typeface="+mn-ea"/>
              </a:rPr>
              <a:t>——LRC</a:t>
            </a:r>
            <a:endParaRPr lang="zh-CN" altLang="en-US" sz="2400" dirty="0">
              <a:sym typeface="+mn-ea"/>
            </a:endParaRPr>
          </a:p>
        </p:txBody>
      </p:sp>
      <p:sp>
        <p:nvSpPr>
          <p:cNvPr id="9" name="文本框 8"/>
          <p:cNvSpPr txBox="1"/>
          <p:nvPr/>
        </p:nvSpPr>
        <p:spPr>
          <a:xfrm>
            <a:off x="2830959" y="985616"/>
            <a:ext cx="6121906" cy="221983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gn="l">
              <a:lnSpc>
                <a:spcPts val="3400"/>
              </a:lnSpc>
            </a:pPr>
            <a:r>
              <a:rPr lang="zh-CN" altLang="en-US" b="0" i="0" dirty="0">
                <a:solidFill>
                  <a:srgbClr val="FF0000"/>
                </a:solidFill>
                <a:effectLst/>
                <a:latin typeface="Marlett" charset="0"/>
              </a:rPr>
              <a:t>分析故障特征</a:t>
            </a:r>
            <a:r>
              <a:rPr lang="zh-CN" altLang="en-US" b="0" i="0" dirty="0">
                <a:solidFill>
                  <a:srgbClr val="121212"/>
                </a:solidFill>
                <a:effectLst/>
                <a:latin typeface="Marlett" charset="0"/>
              </a:rPr>
              <a:t>：</a:t>
            </a:r>
            <a:endParaRPr lang="zh-CN" altLang="en-US" b="0" i="0" dirty="0">
              <a:solidFill>
                <a:srgbClr val="121212"/>
              </a:solidFill>
              <a:effectLst/>
              <a:latin typeface="Marlett" charset="0"/>
            </a:endParaRPr>
          </a:p>
          <a:p>
            <a:pPr marL="285750" indent="-285750" algn="l">
              <a:lnSpc>
                <a:spcPts val="3400"/>
              </a:lnSpc>
              <a:buFont typeface="Wingdings" panose="05000000000000000000" pitchFamily="2" charset="2"/>
              <a:buChar char="u"/>
            </a:pPr>
            <a:r>
              <a:rPr lang="en-US" altLang="zh-CN" dirty="0">
                <a:solidFill>
                  <a:srgbClr val="121212"/>
                </a:solidFill>
                <a:latin typeface="Marlett" charset="0"/>
              </a:rPr>
              <a:t>         </a:t>
            </a:r>
            <a:r>
              <a:rPr lang="zh-CN" altLang="en-US" b="0" i="0" dirty="0">
                <a:solidFill>
                  <a:srgbClr val="121212"/>
                </a:solidFill>
                <a:effectLst/>
                <a:latin typeface="Marlett" charset="0"/>
              </a:rPr>
              <a:t>所有的故障都将导致同样的重建代价，无论是一个盘，还是</a:t>
            </a:r>
            <a:r>
              <a:rPr lang="en-US" altLang="zh-CN" b="0" i="0" dirty="0">
                <a:solidFill>
                  <a:srgbClr val="121212"/>
                </a:solidFill>
                <a:effectLst/>
                <a:latin typeface="Marlett" charset="0"/>
              </a:rPr>
              <a:t>M</a:t>
            </a:r>
            <a:r>
              <a:rPr lang="zh-CN" altLang="en-US" b="0" i="0" dirty="0">
                <a:solidFill>
                  <a:srgbClr val="121212"/>
                </a:solidFill>
                <a:effectLst/>
                <a:latin typeface="Marlett" charset="0"/>
              </a:rPr>
              <a:t>个盘。</a:t>
            </a:r>
            <a:endParaRPr lang="zh-CN" altLang="en-US" b="0" i="0" dirty="0">
              <a:solidFill>
                <a:srgbClr val="121212"/>
              </a:solidFill>
              <a:effectLst/>
              <a:latin typeface="Marlett" charset="0"/>
            </a:endParaRPr>
          </a:p>
          <a:p>
            <a:pPr marL="285750" indent="-285750" algn="l">
              <a:lnSpc>
                <a:spcPts val="3400"/>
              </a:lnSpc>
              <a:buFont typeface="Wingdings" panose="05000000000000000000" pitchFamily="2" charset="2"/>
              <a:buChar char="u"/>
            </a:pPr>
            <a:r>
              <a:rPr lang="zh-CN" altLang="en-US" b="0" i="0" dirty="0">
                <a:solidFill>
                  <a:srgbClr val="121212"/>
                </a:solidFill>
                <a:effectLst/>
                <a:latin typeface="Marlett" charset="0"/>
              </a:rPr>
              <a:t>        单个磁盘故障的几率远远大于多个磁盘同时故障的几率，通常在</a:t>
            </a:r>
            <a:r>
              <a:rPr lang="en-US" altLang="zh-CN" b="0" i="0" dirty="0">
                <a:solidFill>
                  <a:srgbClr val="121212"/>
                </a:solidFill>
                <a:effectLst/>
                <a:latin typeface="Marlett" charset="0"/>
              </a:rPr>
              <a:t>90%</a:t>
            </a:r>
            <a:r>
              <a:rPr lang="zh-CN" altLang="en-US" b="0" i="0" dirty="0">
                <a:solidFill>
                  <a:srgbClr val="121212"/>
                </a:solidFill>
                <a:effectLst/>
                <a:latin typeface="Marlett" charset="0"/>
              </a:rPr>
              <a:t>以上。</a:t>
            </a:r>
            <a:endParaRPr lang="zh-CN" altLang="en-US" b="0" i="0" dirty="0">
              <a:solidFill>
                <a:srgbClr val="121212"/>
              </a:solidFill>
              <a:effectLst/>
              <a:latin typeface="Marlett" charset="0"/>
            </a:endParaRPr>
          </a:p>
        </p:txBody>
      </p:sp>
      <p:grpSp>
        <p:nvGrpSpPr>
          <p:cNvPr id="3" name="组合 2"/>
          <p:cNvGrpSpPr/>
          <p:nvPr/>
        </p:nvGrpSpPr>
        <p:grpSpPr>
          <a:xfrm>
            <a:off x="410377" y="1295456"/>
            <a:ext cx="2170731" cy="1600158"/>
            <a:chOff x="533506" y="1828842"/>
            <a:chExt cx="1980282" cy="1459768"/>
          </a:xfrm>
        </p:grpSpPr>
        <p:sp>
          <p:nvSpPr>
            <p:cNvPr id="11" name="Freeform 24"/>
            <p:cNvSpPr/>
            <p:nvPr/>
          </p:nvSpPr>
          <p:spPr bwMode="auto">
            <a:xfrm rot="5400000">
              <a:off x="793763" y="1568585"/>
              <a:ext cx="1459768" cy="1980282"/>
            </a:xfrm>
            <a:custGeom>
              <a:avLst/>
              <a:gdLst/>
              <a:ahLst/>
              <a:cxnLst>
                <a:cxn ang="0">
                  <a:pos x="452" y="426"/>
                </a:cxn>
                <a:cxn ang="0">
                  <a:pos x="478" y="432"/>
                </a:cxn>
                <a:cxn ang="0">
                  <a:pos x="500" y="444"/>
                </a:cxn>
                <a:cxn ang="0">
                  <a:pos x="524" y="464"/>
                </a:cxn>
                <a:cxn ang="0">
                  <a:pos x="530" y="468"/>
                </a:cxn>
                <a:cxn ang="0">
                  <a:pos x="586" y="468"/>
                </a:cxn>
                <a:cxn ang="0">
                  <a:pos x="590" y="468"/>
                </a:cxn>
                <a:cxn ang="0">
                  <a:pos x="594" y="464"/>
                </a:cxn>
                <a:cxn ang="0">
                  <a:pos x="594" y="220"/>
                </a:cxn>
                <a:cxn ang="0">
                  <a:pos x="594" y="216"/>
                </a:cxn>
                <a:cxn ang="0">
                  <a:pos x="590" y="212"/>
                </a:cxn>
                <a:cxn ang="0">
                  <a:pos x="346" y="212"/>
                </a:cxn>
                <a:cxn ang="0">
                  <a:pos x="338" y="212"/>
                </a:cxn>
                <a:cxn ang="0">
                  <a:pos x="338" y="202"/>
                </a:cxn>
                <a:cxn ang="0">
                  <a:pos x="338" y="166"/>
                </a:cxn>
                <a:cxn ang="0">
                  <a:pos x="344" y="152"/>
                </a:cxn>
                <a:cxn ang="0">
                  <a:pos x="350" y="146"/>
                </a:cxn>
                <a:cxn ang="0">
                  <a:pos x="370" y="120"/>
                </a:cxn>
                <a:cxn ang="0">
                  <a:pos x="380" y="96"/>
                </a:cxn>
                <a:cxn ang="0">
                  <a:pos x="382" y="84"/>
                </a:cxn>
                <a:cxn ang="0">
                  <a:pos x="376" y="50"/>
                </a:cxn>
                <a:cxn ang="0">
                  <a:pos x="358" y="24"/>
                </a:cxn>
                <a:cxn ang="0">
                  <a:pos x="330" y="6"/>
                </a:cxn>
                <a:cxn ang="0">
                  <a:pos x="298" y="0"/>
                </a:cxn>
                <a:cxn ang="0">
                  <a:pos x="280" y="0"/>
                </a:cxn>
                <a:cxn ang="0">
                  <a:pos x="250" y="14"/>
                </a:cxn>
                <a:cxn ang="0">
                  <a:pos x="228" y="36"/>
                </a:cxn>
                <a:cxn ang="0">
                  <a:pos x="214" y="66"/>
                </a:cxn>
                <a:cxn ang="0">
                  <a:pos x="212" y="84"/>
                </a:cxn>
                <a:cxn ang="0">
                  <a:pos x="218" y="108"/>
                </a:cxn>
                <a:cxn ang="0">
                  <a:pos x="232" y="130"/>
                </a:cxn>
                <a:cxn ang="0">
                  <a:pos x="250" y="152"/>
                </a:cxn>
                <a:cxn ang="0">
                  <a:pos x="254" y="158"/>
                </a:cxn>
                <a:cxn ang="0">
                  <a:pos x="256" y="202"/>
                </a:cxn>
                <a:cxn ang="0">
                  <a:pos x="256" y="212"/>
                </a:cxn>
                <a:cxn ang="0">
                  <a:pos x="248" y="212"/>
                </a:cxn>
                <a:cxn ang="0">
                  <a:pos x="8" y="212"/>
                </a:cxn>
                <a:cxn ang="0">
                  <a:pos x="2" y="214"/>
                </a:cxn>
                <a:cxn ang="0">
                  <a:pos x="0" y="220"/>
                </a:cxn>
                <a:cxn ang="0">
                  <a:pos x="0" y="798"/>
                </a:cxn>
                <a:cxn ang="0">
                  <a:pos x="2" y="804"/>
                </a:cxn>
                <a:cxn ang="0">
                  <a:pos x="8" y="806"/>
                </a:cxn>
                <a:cxn ang="0">
                  <a:pos x="586" y="806"/>
                </a:cxn>
                <a:cxn ang="0">
                  <a:pos x="592" y="804"/>
                </a:cxn>
                <a:cxn ang="0">
                  <a:pos x="594" y="798"/>
                </a:cxn>
                <a:cxn ang="0">
                  <a:pos x="594" y="558"/>
                </a:cxn>
                <a:cxn ang="0">
                  <a:pos x="592" y="554"/>
                </a:cxn>
                <a:cxn ang="0">
                  <a:pos x="586" y="550"/>
                </a:cxn>
                <a:cxn ang="0">
                  <a:pos x="538" y="550"/>
                </a:cxn>
                <a:cxn ang="0">
                  <a:pos x="524" y="556"/>
                </a:cxn>
                <a:cxn ang="0">
                  <a:pos x="518" y="562"/>
                </a:cxn>
                <a:cxn ang="0">
                  <a:pos x="490" y="582"/>
                </a:cxn>
                <a:cxn ang="0">
                  <a:pos x="466" y="592"/>
                </a:cxn>
                <a:cxn ang="0">
                  <a:pos x="452" y="594"/>
                </a:cxn>
                <a:cxn ang="0">
                  <a:pos x="418" y="588"/>
                </a:cxn>
                <a:cxn ang="0">
                  <a:pos x="390" y="570"/>
                </a:cxn>
                <a:cxn ang="0">
                  <a:pos x="370" y="542"/>
                </a:cxn>
                <a:cxn ang="0">
                  <a:pos x="364" y="510"/>
                </a:cxn>
                <a:cxn ang="0">
                  <a:pos x="366" y="492"/>
                </a:cxn>
                <a:cxn ang="0">
                  <a:pos x="380" y="462"/>
                </a:cxn>
                <a:cxn ang="0">
                  <a:pos x="404" y="440"/>
                </a:cxn>
                <a:cxn ang="0">
                  <a:pos x="434" y="426"/>
                </a:cxn>
                <a:cxn ang="0">
                  <a:pos x="452" y="426"/>
                </a:cxn>
              </a:cxnLst>
              <a:rect l="0" t="0" r="r" b="b"/>
              <a:pathLst>
                <a:path w="594" h="806">
                  <a:moveTo>
                    <a:pt x="452" y="426"/>
                  </a:moveTo>
                  <a:lnTo>
                    <a:pt x="452" y="426"/>
                  </a:lnTo>
                  <a:lnTo>
                    <a:pt x="466" y="426"/>
                  </a:lnTo>
                  <a:lnTo>
                    <a:pt x="478" y="432"/>
                  </a:lnTo>
                  <a:lnTo>
                    <a:pt x="490" y="438"/>
                  </a:lnTo>
                  <a:lnTo>
                    <a:pt x="500" y="444"/>
                  </a:lnTo>
                  <a:lnTo>
                    <a:pt x="518" y="458"/>
                  </a:lnTo>
                  <a:lnTo>
                    <a:pt x="524" y="464"/>
                  </a:lnTo>
                  <a:lnTo>
                    <a:pt x="524" y="464"/>
                  </a:lnTo>
                  <a:lnTo>
                    <a:pt x="530" y="468"/>
                  </a:lnTo>
                  <a:lnTo>
                    <a:pt x="538" y="468"/>
                  </a:lnTo>
                  <a:lnTo>
                    <a:pt x="586" y="468"/>
                  </a:lnTo>
                  <a:lnTo>
                    <a:pt x="586" y="468"/>
                  </a:lnTo>
                  <a:lnTo>
                    <a:pt x="590" y="468"/>
                  </a:lnTo>
                  <a:lnTo>
                    <a:pt x="592" y="466"/>
                  </a:lnTo>
                  <a:lnTo>
                    <a:pt x="594" y="464"/>
                  </a:lnTo>
                  <a:lnTo>
                    <a:pt x="594" y="460"/>
                  </a:lnTo>
                  <a:lnTo>
                    <a:pt x="594" y="220"/>
                  </a:lnTo>
                  <a:lnTo>
                    <a:pt x="594" y="220"/>
                  </a:lnTo>
                  <a:lnTo>
                    <a:pt x="594" y="216"/>
                  </a:lnTo>
                  <a:lnTo>
                    <a:pt x="592" y="214"/>
                  </a:lnTo>
                  <a:lnTo>
                    <a:pt x="590" y="212"/>
                  </a:lnTo>
                  <a:lnTo>
                    <a:pt x="586" y="212"/>
                  </a:lnTo>
                  <a:lnTo>
                    <a:pt x="346" y="212"/>
                  </a:lnTo>
                  <a:lnTo>
                    <a:pt x="346" y="212"/>
                  </a:lnTo>
                  <a:lnTo>
                    <a:pt x="338" y="212"/>
                  </a:lnTo>
                  <a:lnTo>
                    <a:pt x="338" y="212"/>
                  </a:lnTo>
                  <a:lnTo>
                    <a:pt x="338" y="202"/>
                  </a:lnTo>
                  <a:lnTo>
                    <a:pt x="338" y="166"/>
                  </a:lnTo>
                  <a:lnTo>
                    <a:pt x="338" y="166"/>
                  </a:lnTo>
                  <a:lnTo>
                    <a:pt x="340" y="158"/>
                  </a:lnTo>
                  <a:lnTo>
                    <a:pt x="344" y="152"/>
                  </a:lnTo>
                  <a:lnTo>
                    <a:pt x="344" y="152"/>
                  </a:lnTo>
                  <a:lnTo>
                    <a:pt x="350" y="146"/>
                  </a:lnTo>
                  <a:lnTo>
                    <a:pt x="364" y="130"/>
                  </a:lnTo>
                  <a:lnTo>
                    <a:pt x="370" y="120"/>
                  </a:lnTo>
                  <a:lnTo>
                    <a:pt x="376" y="108"/>
                  </a:lnTo>
                  <a:lnTo>
                    <a:pt x="380" y="96"/>
                  </a:lnTo>
                  <a:lnTo>
                    <a:pt x="382" y="84"/>
                  </a:lnTo>
                  <a:lnTo>
                    <a:pt x="382" y="84"/>
                  </a:lnTo>
                  <a:lnTo>
                    <a:pt x="380" y="66"/>
                  </a:lnTo>
                  <a:lnTo>
                    <a:pt x="376" y="50"/>
                  </a:lnTo>
                  <a:lnTo>
                    <a:pt x="368" y="36"/>
                  </a:lnTo>
                  <a:lnTo>
                    <a:pt x="358" y="24"/>
                  </a:lnTo>
                  <a:lnTo>
                    <a:pt x="344" y="14"/>
                  </a:lnTo>
                  <a:lnTo>
                    <a:pt x="330" y="6"/>
                  </a:lnTo>
                  <a:lnTo>
                    <a:pt x="314" y="0"/>
                  </a:lnTo>
                  <a:lnTo>
                    <a:pt x="298" y="0"/>
                  </a:lnTo>
                  <a:lnTo>
                    <a:pt x="298" y="0"/>
                  </a:lnTo>
                  <a:lnTo>
                    <a:pt x="280" y="0"/>
                  </a:lnTo>
                  <a:lnTo>
                    <a:pt x="264" y="6"/>
                  </a:lnTo>
                  <a:lnTo>
                    <a:pt x="250" y="14"/>
                  </a:lnTo>
                  <a:lnTo>
                    <a:pt x="238" y="24"/>
                  </a:lnTo>
                  <a:lnTo>
                    <a:pt x="228" y="36"/>
                  </a:lnTo>
                  <a:lnTo>
                    <a:pt x="220" y="50"/>
                  </a:lnTo>
                  <a:lnTo>
                    <a:pt x="214" y="66"/>
                  </a:lnTo>
                  <a:lnTo>
                    <a:pt x="212" y="84"/>
                  </a:lnTo>
                  <a:lnTo>
                    <a:pt x="212" y="84"/>
                  </a:lnTo>
                  <a:lnTo>
                    <a:pt x="214" y="96"/>
                  </a:lnTo>
                  <a:lnTo>
                    <a:pt x="218" y="108"/>
                  </a:lnTo>
                  <a:lnTo>
                    <a:pt x="224" y="120"/>
                  </a:lnTo>
                  <a:lnTo>
                    <a:pt x="232" y="130"/>
                  </a:lnTo>
                  <a:lnTo>
                    <a:pt x="244" y="146"/>
                  </a:lnTo>
                  <a:lnTo>
                    <a:pt x="250" y="152"/>
                  </a:lnTo>
                  <a:lnTo>
                    <a:pt x="250" y="152"/>
                  </a:lnTo>
                  <a:lnTo>
                    <a:pt x="254" y="158"/>
                  </a:lnTo>
                  <a:lnTo>
                    <a:pt x="256" y="166"/>
                  </a:lnTo>
                  <a:lnTo>
                    <a:pt x="256" y="202"/>
                  </a:lnTo>
                  <a:lnTo>
                    <a:pt x="256" y="202"/>
                  </a:lnTo>
                  <a:lnTo>
                    <a:pt x="256" y="212"/>
                  </a:lnTo>
                  <a:lnTo>
                    <a:pt x="256" y="212"/>
                  </a:lnTo>
                  <a:lnTo>
                    <a:pt x="248" y="212"/>
                  </a:lnTo>
                  <a:lnTo>
                    <a:pt x="8" y="212"/>
                  </a:lnTo>
                  <a:lnTo>
                    <a:pt x="8" y="212"/>
                  </a:lnTo>
                  <a:lnTo>
                    <a:pt x="6" y="212"/>
                  </a:lnTo>
                  <a:lnTo>
                    <a:pt x="2" y="214"/>
                  </a:lnTo>
                  <a:lnTo>
                    <a:pt x="0" y="216"/>
                  </a:lnTo>
                  <a:lnTo>
                    <a:pt x="0" y="220"/>
                  </a:lnTo>
                  <a:lnTo>
                    <a:pt x="0" y="798"/>
                  </a:lnTo>
                  <a:lnTo>
                    <a:pt x="0" y="798"/>
                  </a:lnTo>
                  <a:lnTo>
                    <a:pt x="0" y="802"/>
                  </a:lnTo>
                  <a:lnTo>
                    <a:pt x="2" y="804"/>
                  </a:lnTo>
                  <a:lnTo>
                    <a:pt x="6" y="806"/>
                  </a:lnTo>
                  <a:lnTo>
                    <a:pt x="8" y="806"/>
                  </a:lnTo>
                  <a:lnTo>
                    <a:pt x="586" y="806"/>
                  </a:lnTo>
                  <a:lnTo>
                    <a:pt x="586" y="806"/>
                  </a:lnTo>
                  <a:lnTo>
                    <a:pt x="590" y="806"/>
                  </a:lnTo>
                  <a:lnTo>
                    <a:pt x="592" y="804"/>
                  </a:lnTo>
                  <a:lnTo>
                    <a:pt x="594" y="802"/>
                  </a:lnTo>
                  <a:lnTo>
                    <a:pt x="594" y="798"/>
                  </a:lnTo>
                  <a:lnTo>
                    <a:pt x="594" y="558"/>
                  </a:lnTo>
                  <a:lnTo>
                    <a:pt x="594" y="558"/>
                  </a:lnTo>
                  <a:lnTo>
                    <a:pt x="594" y="556"/>
                  </a:lnTo>
                  <a:lnTo>
                    <a:pt x="592" y="554"/>
                  </a:lnTo>
                  <a:lnTo>
                    <a:pt x="590" y="552"/>
                  </a:lnTo>
                  <a:lnTo>
                    <a:pt x="586" y="550"/>
                  </a:lnTo>
                  <a:lnTo>
                    <a:pt x="538" y="550"/>
                  </a:lnTo>
                  <a:lnTo>
                    <a:pt x="538" y="550"/>
                  </a:lnTo>
                  <a:lnTo>
                    <a:pt x="530" y="552"/>
                  </a:lnTo>
                  <a:lnTo>
                    <a:pt x="524" y="556"/>
                  </a:lnTo>
                  <a:lnTo>
                    <a:pt x="524" y="556"/>
                  </a:lnTo>
                  <a:lnTo>
                    <a:pt x="518" y="562"/>
                  </a:lnTo>
                  <a:lnTo>
                    <a:pt x="500" y="576"/>
                  </a:lnTo>
                  <a:lnTo>
                    <a:pt x="490" y="582"/>
                  </a:lnTo>
                  <a:lnTo>
                    <a:pt x="478" y="588"/>
                  </a:lnTo>
                  <a:lnTo>
                    <a:pt x="466" y="592"/>
                  </a:lnTo>
                  <a:lnTo>
                    <a:pt x="452" y="594"/>
                  </a:lnTo>
                  <a:lnTo>
                    <a:pt x="452" y="594"/>
                  </a:lnTo>
                  <a:lnTo>
                    <a:pt x="434" y="592"/>
                  </a:lnTo>
                  <a:lnTo>
                    <a:pt x="418" y="588"/>
                  </a:lnTo>
                  <a:lnTo>
                    <a:pt x="404" y="580"/>
                  </a:lnTo>
                  <a:lnTo>
                    <a:pt x="390" y="570"/>
                  </a:lnTo>
                  <a:lnTo>
                    <a:pt x="380" y="558"/>
                  </a:lnTo>
                  <a:lnTo>
                    <a:pt x="370" y="542"/>
                  </a:lnTo>
                  <a:lnTo>
                    <a:pt x="366" y="526"/>
                  </a:lnTo>
                  <a:lnTo>
                    <a:pt x="364" y="510"/>
                  </a:lnTo>
                  <a:lnTo>
                    <a:pt x="364" y="510"/>
                  </a:lnTo>
                  <a:lnTo>
                    <a:pt x="366" y="492"/>
                  </a:lnTo>
                  <a:lnTo>
                    <a:pt x="370" y="476"/>
                  </a:lnTo>
                  <a:lnTo>
                    <a:pt x="380" y="462"/>
                  </a:lnTo>
                  <a:lnTo>
                    <a:pt x="390" y="450"/>
                  </a:lnTo>
                  <a:lnTo>
                    <a:pt x="404" y="440"/>
                  </a:lnTo>
                  <a:lnTo>
                    <a:pt x="418" y="432"/>
                  </a:lnTo>
                  <a:lnTo>
                    <a:pt x="434" y="426"/>
                  </a:lnTo>
                  <a:lnTo>
                    <a:pt x="452" y="426"/>
                  </a:lnTo>
                  <a:lnTo>
                    <a:pt x="452" y="426"/>
                  </a:lnTo>
                  <a:close/>
                </a:path>
              </a:pathLst>
            </a:custGeom>
            <a:solidFill>
              <a:schemeClr val="accent1"/>
            </a:solidFill>
            <a:ln w="19050" cap="flat" cmpd="sng">
              <a:noFill/>
              <a:prstDash val="solid"/>
              <a:round/>
              <a:headEnd type="none" w="med" len="med"/>
              <a:tailEnd type="none" w="med" len="med"/>
            </a:ln>
            <a:effectLst/>
          </p:spPr>
          <p:txBody>
            <a:bodyPr/>
            <a:lstStyle/>
            <a:p>
              <a:pPr algn="just">
                <a:lnSpc>
                  <a:spcPct val="120000"/>
                </a:lnSpc>
                <a:defRPr/>
              </a:pPr>
              <a:endParaRPr lang="da-DK" sz="800" kern="0">
                <a:solidFill>
                  <a:schemeClr val="tx1">
                    <a:lumMod val="95000"/>
                    <a:lumOff val="5000"/>
                  </a:schemeClr>
                </a:solidFill>
                <a:latin typeface="Arial" panose="020B0604020202020204" pitchFamily="34" charset="0"/>
                <a:ea typeface="微软雅黑" panose="020B0503020204020204" charset="-122"/>
                <a:cs typeface="+mn-ea"/>
                <a:sym typeface="Arial" panose="020B0604020202020204" pitchFamily="34" charset="0"/>
              </a:endParaRPr>
            </a:p>
          </p:txBody>
        </p:sp>
        <p:grpSp>
          <p:nvGrpSpPr>
            <p:cNvPr id="12" name="Group 128"/>
            <p:cNvGrpSpPr/>
            <p:nvPr/>
          </p:nvGrpSpPr>
          <p:grpSpPr>
            <a:xfrm>
              <a:off x="938781" y="1972673"/>
              <a:ext cx="626459" cy="626459"/>
              <a:chOff x="1316879" y="4254550"/>
              <a:chExt cx="684000" cy="684000"/>
            </a:xfrm>
          </p:grpSpPr>
          <p:sp>
            <p:nvSpPr>
              <p:cNvPr id="13" name="Freeform 49"/>
              <p:cNvSpPr>
                <a:spLocks noChangeAspect="1" noEditPoints="1"/>
              </p:cNvSpPr>
              <p:nvPr/>
            </p:nvSpPr>
            <p:spPr bwMode="auto">
              <a:xfrm>
                <a:off x="1467830" y="4412272"/>
                <a:ext cx="407999" cy="347492"/>
              </a:xfrm>
              <a:custGeom>
                <a:avLst/>
                <a:gdLst>
                  <a:gd name="T0" fmla="*/ 182 w 400"/>
                  <a:gd name="T1" fmla="*/ 180 h 340"/>
                  <a:gd name="T2" fmla="*/ 218 w 400"/>
                  <a:gd name="T3" fmla="*/ 180 h 340"/>
                  <a:gd name="T4" fmla="*/ 218 w 400"/>
                  <a:gd name="T5" fmla="*/ 220 h 340"/>
                  <a:gd name="T6" fmla="*/ 400 w 400"/>
                  <a:gd name="T7" fmla="*/ 220 h 340"/>
                  <a:gd name="T8" fmla="*/ 396 w 400"/>
                  <a:gd name="T9" fmla="*/ 103 h 340"/>
                  <a:gd name="T10" fmla="*/ 356 w 400"/>
                  <a:gd name="T11" fmla="*/ 60 h 340"/>
                  <a:gd name="T12" fmla="*/ 292 w 400"/>
                  <a:gd name="T13" fmla="*/ 60 h 340"/>
                  <a:gd name="T14" fmla="*/ 268 w 400"/>
                  <a:gd name="T15" fmla="*/ 15 h 340"/>
                  <a:gd name="T16" fmla="*/ 244 w 400"/>
                  <a:gd name="T17" fmla="*/ 0 h 340"/>
                  <a:gd name="T18" fmla="*/ 155 w 400"/>
                  <a:gd name="T19" fmla="*/ 0 h 340"/>
                  <a:gd name="T20" fmla="*/ 132 w 400"/>
                  <a:gd name="T21" fmla="*/ 15 h 340"/>
                  <a:gd name="T22" fmla="*/ 108 w 400"/>
                  <a:gd name="T23" fmla="*/ 60 h 340"/>
                  <a:gd name="T24" fmla="*/ 44 w 400"/>
                  <a:gd name="T25" fmla="*/ 60 h 340"/>
                  <a:gd name="T26" fmla="*/ 4 w 400"/>
                  <a:gd name="T27" fmla="*/ 103 h 340"/>
                  <a:gd name="T28" fmla="*/ 0 w 400"/>
                  <a:gd name="T29" fmla="*/ 220 h 340"/>
                  <a:gd name="T30" fmla="*/ 182 w 400"/>
                  <a:gd name="T31" fmla="*/ 220 h 340"/>
                  <a:gd name="T32" fmla="*/ 182 w 400"/>
                  <a:gd name="T33" fmla="*/ 180 h 340"/>
                  <a:gd name="T34" fmla="*/ 153 w 400"/>
                  <a:gd name="T35" fmla="*/ 38 h 340"/>
                  <a:gd name="T36" fmla="*/ 169 w 400"/>
                  <a:gd name="T37" fmla="*/ 28 h 340"/>
                  <a:gd name="T38" fmla="*/ 230 w 400"/>
                  <a:gd name="T39" fmla="*/ 28 h 340"/>
                  <a:gd name="T40" fmla="*/ 247 w 400"/>
                  <a:gd name="T41" fmla="*/ 38 h 340"/>
                  <a:gd name="T42" fmla="*/ 258 w 400"/>
                  <a:gd name="T43" fmla="*/ 60 h 340"/>
                  <a:gd name="T44" fmla="*/ 141 w 400"/>
                  <a:gd name="T45" fmla="*/ 60 h 340"/>
                  <a:gd name="T46" fmla="*/ 153 w 400"/>
                  <a:gd name="T47" fmla="*/ 38 h 340"/>
                  <a:gd name="T48" fmla="*/ 218 w 400"/>
                  <a:gd name="T49" fmla="*/ 280 h 340"/>
                  <a:gd name="T50" fmla="*/ 182 w 400"/>
                  <a:gd name="T51" fmla="*/ 280 h 340"/>
                  <a:gd name="T52" fmla="*/ 182 w 400"/>
                  <a:gd name="T53" fmla="*/ 240 h 340"/>
                  <a:gd name="T54" fmla="*/ 10 w 400"/>
                  <a:gd name="T55" fmla="*/ 240 h 340"/>
                  <a:gd name="T56" fmla="*/ 14 w 400"/>
                  <a:gd name="T57" fmla="*/ 306 h 340"/>
                  <a:gd name="T58" fmla="*/ 50 w 400"/>
                  <a:gd name="T59" fmla="*/ 340 h 340"/>
                  <a:gd name="T60" fmla="*/ 350 w 400"/>
                  <a:gd name="T61" fmla="*/ 340 h 340"/>
                  <a:gd name="T62" fmla="*/ 386 w 400"/>
                  <a:gd name="T63" fmla="*/ 306 h 340"/>
                  <a:gd name="T64" fmla="*/ 390 w 400"/>
                  <a:gd name="T65" fmla="*/ 240 h 340"/>
                  <a:gd name="T66" fmla="*/ 218 w 400"/>
                  <a:gd name="T67" fmla="*/ 240 h 340"/>
                  <a:gd name="T68" fmla="*/ 218 w 400"/>
                  <a:gd name="T69" fmla="*/ 28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0" h="340">
                    <a:moveTo>
                      <a:pt x="182" y="180"/>
                    </a:moveTo>
                    <a:cubicBezTo>
                      <a:pt x="218" y="180"/>
                      <a:pt x="218" y="180"/>
                      <a:pt x="218" y="180"/>
                    </a:cubicBezTo>
                    <a:cubicBezTo>
                      <a:pt x="218" y="220"/>
                      <a:pt x="218" y="220"/>
                      <a:pt x="218" y="220"/>
                    </a:cubicBezTo>
                    <a:cubicBezTo>
                      <a:pt x="400" y="220"/>
                      <a:pt x="400" y="220"/>
                      <a:pt x="400" y="220"/>
                    </a:cubicBezTo>
                    <a:cubicBezTo>
                      <a:pt x="400" y="220"/>
                      <a:pt x="397" y="131"/>
                      <a:pt x="396" y="103"/>
                    </a:cubicBezTo>
                    <a:cubicBezTo>
                      <a:pt x="395" y="76"/>
                      <a:pt x="385" y="60"/>
                      <a:pt x="356" y="60"/>
                    </a:cubicBezTo>
                    <a:cubicBezTo>
                      <a:pt x="292" y="60"/>
                      <a:pt x="292" y="60"/>
                      <a:pt x="292" y="60"/>
                    </a:cubicBezTo>
                    <a:cubicBezTo>
                      <a:pt x="282" y="41"/>
                      <a:pt x="271" y="21"/>
                      <a:pt x="268" y="15"/>
                    </a:cubicBezTo>
                    <a:cubicBezTo>
                      <a:pt x="261" y="2"/>
                      <a:pt x="259" y="0"/>
                      <a:pt x="244" y="0"/>
                    </a:cubicBezTo>
                    <a:cubicBezTo>
                      <a:pt x="155" y="0"/>
                      <a:pt x="155" y="0"/>
                      <a:pt x="155" y="0"/>
                    </a:cubicBezTo>
                    <a:cubicBezTo>
                      <a:pt x="141" y="0"/>
                      <a:pt x="138" y="2"/>
                      <a:pt x="132" y="15"/>
                    </a:cubicBezTo>
                    <a:cubicBezTo>
                      <a:pt x="129" y="21"/>
                      <a:pt x="118" y="41"/>
                      <a:pt x="108" y="60"/>
                    </a:cubicBezTo>
                    <a:cubicBezTo>
                      <a:pt x="44" y="60"/>
                      <a:pt x="44" y="60"/>
                      <a:pt x="44" y="60"/>
                    </a:cubicBezTo>
                    <a:cubicBezTo>
                      <a:pt x="14" y="60"/>
                      <a:pt x="5" y="76"/>
                      <a:pt x="4" y="103"/>
                    </a:cubicBezTo>
                    <a:cubicBezTo>
                      <a:pt x="3" y="129"/>
                      <a:pt x="0" y="220"/>
                      <a:pt x="0" y="220"/>
                    </a:cubicBezTo>
                    <a:cubicBezTo>
                      <a:pt x="182" y="220"/>
                      <a:pt x="182" y="220"/>
                      <a:pt x="182" y="220"/>
                    </a:cubicBezTo>
                    <a:lnTo>
                      <a:pt x="182" y="180"/>
                    </a:lnTo>
                    <a:close/>
                    <a:moveTo>
                      <a:pt x="153" y="38"/>
                    </a:moveTo>
                    <a:cubicBezTo>
                      <a:pt x="157" y="30"/>
                      <a:pt x="159" y="28"/>
                      <a:pt x="169" y="28"/>
                    </a:cubicBezTo>
                    <a:cubicBezTo>
                      <a:pt x="230" y="28"/>
                      <a:pt x="230" y="28"/>
                      <a:pt x="230" y="28"/>
                    </a:cubicBezTo>
                    <a:cubicBezTo>
                      <a:pt x="241" y="28"/>
                      <a:pt x="242" y="30"/>
                      <a:pt x="247" y="38"/>
                    </a:cubicBezTo>
                    <a:cubicBezTo>
                      <a:pt x="248" y="41"/>
                      <a:pt x="253" y="50"/>
                      <a:pt x="258" y="60"/>
                    </a:cubicBezTo>
                    <a:cubicBezTo>
                      <a:pt x="141" y="60"/>
                      <a:pt x="141" y="60"/>
                      <a:pt x="141" y="60"/>
                    </a:cubicBezTo>
                    <a:cubicBezTo>
                      <a:pt x="146" y="50"/>
                      <a:pt x="151" y="41"/>
                      <a:pt x="153" y="38"/>
                    </a:cubicBezTo>
                    <a:close/>
                    <a:moveTo>
                      <a:pt x="218" y="280"/>
                    </a:moveTo>
                    <a:cubicBezTo>
                      <a:pt x="182" y="280"/>
                      <a:pt x="182" y="280"/>
                      <a:pt x="182" y="280"/>
                    </a:cubicBezTo>
                    <a:cubicBezTo>
                      <a:pt x="182" y="240"/>
                      <a:pt x="182" y="240"/>
                      <a:pt x="182" y="240"/>
                    </a:cubicBezTo>
                    <a:cubicBezTo>
                      <a:pt x="10" y="240"/>
                      <a:pt x="10" y="240"/>
                      <a:pt x="10" y="240"/>
                    </a:cubicBezTo>
                    <a:cubicBezTo>
                      <a:pt x="10" y="240"/>
                      <a:pt x="12" y="276"/>
                      <a:pt x="14" y="306"/>
                    </a:cubicBezTo>
                    <a:cubicBezTo>
                      <a:pt x="14" y="319"/>
                      <a:pt x="18" y="340"/>
                      <a:pt x="50" y="340"/>
                    </a:cubicBezTo>
                    <a:cubicBezTo>
                      <a:pt x="350" y="340"/>
                      <a:pt x="350" y="340"/>
                      <a:pt x="350" y="340"/>
                    </a:cubicBezTo>
                    <a:cubicBezTo>
                      <a:pt x="381" y="340"/>
                      <a:pt x="385" y="319"/>
                      <a:pt x="386" y="306"/>
                    </a:cubicBezTo>
                    <a:cubicBezTo>
                      <a:pt x="388" y="275"/>
                      <a:pt x="390" y="240"/>
                      <a:pt x="390" y="240"/>
                    </a:cubicBezTo>
                    <a:cubicBezTo>
                      <a:pt x="218" y="240"/>
                      <a:pt x="218" y="240"/>
                      <a:pt x="218" y="240"/>
                    </a:cubicBezTo>
                    <a:lnTo>
                      <a:pt x="218" y="280"/>
                    </a:lnTo>
                    <a:close/>
                  </a:path>
                </a:pathLst>
              </a:custGeom>
              <a:noFill/>
              <a:ln w="12700">
                <a:solidFill>
                  <a:schemeClr val="bg1"/>
                </a:solidFill>
              </a:ln>
            </p:spPr>
            <p:txBody>
              <a:bodyPr vert="horz" wrap="square" lIns="83748" tIns="41874" rIns="83748" bIns="41874" numCol="1" anchor="t" anchorCtr="0" compatLnSpc="1"/>
              <a:lstStyle/>
              <a:p>
                <a:pPr algn="just">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14" name="Oval 124"/>
              <p:cNvSpPr/>
              <p:nvPr/>
            </p:nvSpPr>
            <p:spPr>
              <a:xfrm>
                <a:off x="1316879" y="4254550"/>
                <a:ext cx="684000" cy="684000"/>
              </a:xfrm>
              <a:prstGeom prst="ellips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id-ID" sz="800">
                  <a:latin typeface="Arial" panose="020B0604020202020204" pitchFamily="34" charset="0"/>
                  <a:ea typeface="微软雅黑" panose="020B0503020204020204" charset="-122"/>
                  <a:cs typeface="+mn-ea"/>
                  <a:sym typeface="Arial" panose="020B0604020202020204" pitchFamily="34" charset="0"/>
                </a:endParaRPr>
              </a:p>
            </p:txBody>
          </p:sp>
        </p:grpSp>
      </p:grpSp>
      <p:sp>
        <p:nvSpPr>
          <p:cNvPr id="15" name="文本框 14"/>
          <p:cNvSpPr txBox="1"/>
          <p:nvPr/>
        </p:nvSpPr>
        <p:spPr>
          <a:xfrm>
            <a:off x="504857" y="4135675"/>
            <a:ext cx="5486256" cy="179010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gn="l">
              <a:lnSpc>
                <a:spcPts val="3400"/>
              </a:lnSpc>
            </a:pPr>
            <a:r>
              <a:rPr lang="zh-CN" altLang="en-US" b="0" i="0" dirty="0">
                <a:solidFill>
                  <a:srgbClr val="FF0000"/>
                </a:solidFill>
                <a:effectLst/>
                <a:latin typeface="Marlett" charset="0"/>
              </a:rPr>
              <a:t>局部校验编码</a:t>
            </a:r>
            <a:r>
              <a:rPr lang="zh-CN" altLang="en-US" b="0" i="0" dirty="0">
                <a:solidFill>
                  <a:srgbClr val="121212"/>
                </a:solidFill>
                <a:effectLst/>
                <a:latin typeface="Marlett" charset="0"/>
              </a:rPr>
              <a:t>：</a:t>
            </a:r>
            <a:endParaRPr lang="en-US" altLang="zh-CN" b="0" i="0" dirty="0">
              <a:solidFill>
                <a:srgbClr val="121212"/>
              </a:solidFill>
              <a:effectLst/>
              <a:latin typeface="Marlett" charset="0"/>
            </a:endParaRPr>
          </a:p>
          <a:p>
            <a:pPr algn="l">
              <a:lnSpc>
                <a:spcPts val="3400"/>
              </a:lnSpc>
            </a:pPr>
            <a:r>
              <a:rPr lang="en-US" altLang="zh-CN" dirty="0">
                <a:solidFill>
                  <a:srgbClr val="121212"/>
                </a:solidFill>
                <a:latin typeface="Marlett" charset="0"/>
              </a:rPr>
              <a:t>          </a:t>
            </a:r>
            <a:r>
              <a:rPr lang="zh-CN" altLang="en-US" b="0" i="0" dirty="0">
                <a:solidFill>
                  <a:srgbClr val="121212"/>
                </a:solidFill>
                <a:effectLst/>
                <a:latin typeface="Marlett" charset="0"/>
              </a:rPr>
              <a:t>将校验块（</a:t>
            </a:r>
            <a:r>
              <a:rPr lang="en-US" altLang="zh-CN" b="0" i="0" dirty="0">
                <a:solidFill>
                  <a:srgbClr val="121212"/>
                </a:solidFill>
                <a:effectLst/>
                <a:latin typeface="Marlett" charset="0"/>
              </a:rPr>
              <a:t>parity block</a:t>
            </a:r>
            <a:r>
              <a:rPr lang="zh-CN" altLang="en-US" b="0" i="0" dirty="0">
                <a:solidFill>
                  <a:srgbClr val="121212"/>
                </a:solidFill>
                <a:effectLst/>
                <a:latin typeface="Marlett" charset="0"/>
              </a:rPr>
              <a:t>）分为全局校验块</a:t>
            </a:r>
            <a:r>
              <a:rPr lang="en-US" altLang="zh-CN" b="0" i="0" dirty="0">
                <a:solidFill>
                  <a:srgbClr val="121212"/>
                </a:solidFill>
                <a:effectLst/>
                <a:latin typeface="Marlett" charset="0"/>
              </a:rPr>
              <a:t>(global parity)</a:t>
            </a:r>
            <a:r>
              <a:rPr lang="zh-CN" altLang="en-US" b="0" i="0" dirty="0">
                <a:solidFill>
                  <a:srgbClr val="121212"/>
                </a:solidFill>
                <a:effectLst/>
                <a:latin typeface="Marlett" charset="0"/>
              </a:rPr>
              <a:t>和局部重建校验块</a:t>
            </a:r>
            <a:r>
              <a:rPr lang="en-US" altLang="zh-CN" b="0" i="0" dirty="0">
                <a:solidFill>
                  <a:srgbClr val="121212"/>
                </a:solidFill>
                <a:effectLst/>
                <a:latin typeface="Marlett" charset="0"/>
              </a:rPr>
              <a:t>(local </a:t>
            </a:r>
            <a:r>
              <a:rPr lang="en-US" altLang="zh-CN" b="0" i="0" dirty="0" err="1">
                <a:solidFill>
                  <a:srgbClr val="121212"/>
                </a:solidFill>
                <a:effectLst/>
                <a:latin typeface="Marlett" charset="0"/>
              </a:rPr>
              <a:t>reconstru</a:t>
            </a:r>
            <a:endParaRPr lang="en-US" altLang="zh-CN" b="0" i="0" dirty="0">
              <a:solidFill>
                <a:srgbClr val="121212"/>
              </a:solidFill>
              <a:effectLst/>
              <a:latin typeface="Marlett" charset="0"/>
            </a:endParaRPr>
          </a:p>
          <a:p>
            <a:pPr algn="l">
              <a:lnSpc>
                <a:spcPts val="3400"/>
              </a:lnSpc>
            </a:pPr>
            <a:r>
              <a:rPr lang="en-US" altLang="zh-CN" dirty="0">
                <a:solidFill>
                  <a:srgbClr val="121212"/>
                </a:solidFill>
                <a:latin typeface="Marlett" charset="0"/>
              </a:rPr>
              <a:t>-</a:t>
            </a:r>
            <a:r>
              <a:rPr lang="en-US" altLang="zh-CN" b="0" i="0" dirty="0" err="1">
                <a:solidFill>
                  <a:srgbClr val="121212"/>
                </a:solidFill>
                <a:effectLst/>
                <a:latin typeface="Marlett" charset="0"/>
              </a:rPr>
              <a:t>ction</a:t>
            </a:r>
            <a:r>
              <a:rPr lang="en-US" altLang="zh-CN" b="0" i="0" dirty="0">
                <a:solidFill>
                  <a:srgbClr val="121212"/>
                </a:solidFill>
                <a:effectLst/>
                <a:latin typeface="Marlett" charset="0"/>
              </a:rPr>
              <a:t> parity)</a:t>
            </a:r>
            <a:r>
              <a:rPr lang="zh-CN" altLang="en-US" b="0" i="0" dirty="0">
                <a:solidFill>
                  <a:srgbClr val="121212"/>
                </a:solidFill>
                <a:effectLst/>
                <a:latin typeface="Marlett" charset="0"/>
              </a:rPr>
              <a:t>，故障恢复时分组计算。</a:t>
            </a:r>
            <a:endParaRPr lang="zh-CN" altLang="en-US" b="0" i="0" dirty="0">
              <a:solidFill>
                <a:srgbClr val="121212"/>
              </a:solidFill>
              <a:effectLst/>
              <a:latin typeface="Marlett" charset="0"/>
            </a:endParaRPr>
          </a:p>
        </p:txBody>
      </p:sp>
      <p:grpSp>
        <p:nvGrpSpPr>
          <p:cNvPr id="4" name="组合 3"/>
          <p:cNvGrpSpPr/>
          <p:nvPr/>
        </p:nvGrpSpPr>
        <p:grpSpPr>
          <a:xfrm>
            <a:off x="6622045" y="4300843"/>
            <a:ext cx="2017097" cy="1486906"/>
            <a:chOff x="6553581" y="2522599"/>
            <a:chExt cx="1980282" cy="1459768"/>
          </a:xfrm>
        </p:grpSpPr>
        <p:sp>
          <p:nvSpPr>
            <p:cNvPr id="16" name="Freeform 24"/>
            <p:cNvSpPr/>
            <p:nvPr/>
          </p:nvSpPr>
          <p:spPr bwMode="auto">
            <a:xfrm rot="16200000" flipH="1">
              <a:off x="6813838" y="2262342"/>
              <a:ext cx="1459768" cy="1980282"/>
            </a:xfrm>
            <a:custGeom>
              <a:avLst/>
              <a:gdLst/>
              <a:ahLst/>
              <a:cxnLst>
                <a:cxn ang="0">
                  <a:pos x="452" y="426"/>
                </a:cxn>
                <a:cxn ang="0">
                  <a:pos x="478" y="432"/>
                </a:cxn>
                <a:cxn ang="0">
                  <a:pos x="500" y="444"/>
                </a:cxn>
                <a:cxn ang="0">
                  <a:pos x="524" y="464"/>
                </a:cxn>
                <a:cxn ang="0">
                  <a:pos x="530" y="468"/>
                </a:cxn>
                <a:cxn ang="0">
                  <a:pos x="586" y="468"/>
                </a:cxn>
                <a:cxn ang="0">
                  <a:pos x="590" y="468"/>
                </a:cxn>
                <a:cxn ang="0">
                  <a:pos x="594" y="464"/>
                </a:cxn>
                <a:cxn ang="0">
                  <a:pos x="594" y="220"/>
                </a:cxn>
                <a:cxn ang="0">
                  <a:pos x="594" y="216"/>
                </a:cxn>
                <a:cxn ang="0">
                  <a:pos x="590" y="212"/>
                </a:cxn>
                <a:cxn ang="0">
                  <a:pos x="346" y="212"/>
                </a:cxn>
                <a:cxn ang="0">
                  <a:pos x="338" y="212"/>
                </a:cxn>
                <a:cxn ang="0">
                  <a:pos x="338" y="202"/>
                </a:cxn>
                <a:cxn ang="0">
                  <a:pos x="338" y="166"/>
                </a:cxn>
                <a:cxn ang="0">
                  <a:pos x="344" y="152"/>
                </a:cxn>
                <a:cxn ang="0">
                  <a:pos x="350" y="146"/>
                </a:cxn>
                <a:cxn ang="0">
                  <a:pos x="370" y="120"/>
                </a:cxn>
                <a:cxn ang="0">
                  <a:pos x="380" y="96"/>
                </a:cxn>
                <a:cxn ang="0">
                  <a:pos x="382" y="84"/>
                </a:cxn>
                <a:cxn ang="0">
                  <a:pos x="376" y="50"/>
                </a:cxn>
                <a:cxn ang="0">
                  <a:pos x="358" y="24"/>
                </a:cxn>
                <a:cxn ang="0">
                  <a:pos x="330" y="6"/>
                </a:cxn>
                <a:cxn ang="0">
                  <a:pos x="298" y="0"/>
                </a:cxn>
                <a:cxn ang="0">
                  <a:pos x="280" y="0"/>
                </a:cxn>
                <a:cxn ang="0">
                  <a:pos x="250" y="14"/>
                </a:cxn>
                <a:cxn ang="0">
                  <a:pos x="228" y="36"/>
                </a:cxn>
                <a:cxn ang="0">
                  <a:pos x="214" y="66"/>
                </a:cxn>
                <a:cxn ang="0">
                  <a:pos x="212" y="84"/>
                </a:cxn>
                <a:cxn ang="0">
                  <a:pos x="218" y="108"/>
                </a:cxn>
                <a:cxn ang="0">
                  <a:pos x="232" y="130"/>
                </a:cxn>
                <a:cxn ang="0">
                  <a:pos x="250" y="152"/>
                </a:cxn>
                <a:cxn ang="0">
                  <a:pos x="254" y="158"/>
                </a:cxn>
                <a:cxn ang="0">
                  <a:pos x="256" y="202"/>
                </a:cxn>
                <a:cxn ang="0">
                  <a:pos x="256" y="212"/>
                </a:cxn>
                <a:cxn ang="0">
                  <a:pos x="248" y="212"/>
                </a:cxn>
                <a:cxn ang="0">
                  <a:pos x="8" y="212"/>
                </a:cxn>
                <a:cxn ang="0">
                  <a:pos x="2" y="214"/>
                </a:cxn>
                <a:cxn ang="0">
                  <a:pos x="0" y="220"/>
                </a:cxn>
                <a:cxn ang="0">
                  <a:pos x="0" y="798"/>
                </a:cxn>
                <a:cxn ang="0">
                  <a:pos x="2" y="804"/>
                </a:cxn>
                <a:cxn ang="0">
                  <a:pos x="8" y="806"/>
                </a:cxn>
                <a:cxn ang="0">
                  <a:pos x="586" y="806"/>
                </a:cxn>
                <a:cxn ang="0">
                  <a:pos x="592" y="804"/>
                </a:cxn>
                <a:cxn ang="0">
                  <a:pos x="594" y="798"/>
                </a:cxn>
                <a:cxn ang="0">
                  <a:pos x="594" y="558"/>
                </a:cxn>
                <a:cxn ang="0">
                  <a:pos x="592" y="554"/>
                </a:cxn>
                <a:cxn ang="0">
                  <a:pos x="586" y="550"/>
                </a:cxn>
                <a:cxn ang="0">
                  <a:pos x="538" y="550"/>
                </a:cxn>
                <a:cxn ang="0">
                  <a:pos x="524" y="556"/>
                </a:cxn>
                <a:cxn ang="0">
                  <a:pos x="518" y="562"/>
                </a:cxn>
                <a:cxn ang="0">
                  <a:pos x="490" y="582"/>
                </a:cxn>
                <a:cxn ang="0">
                  <a:pos x="466" y="592"/>
                </a:cxn>
                <a:cxn ang="0">
                  <a:pos x="452" y="594"/>
                </a:cxn>
                <a:cxn ang="0">
                  <a:pos x="418" y="588"/>
                </a:cxn>
                <a:cxn ang="0">
                  <a:pos x="390" y="570"/>
                </a:cxn>
                <a:cxn ang="0">
                  <a:pos x="370" y="542"/>
                </a:cxn>
                <a:cxn ang="0">
                  <a:pos x="364" y="510"/>
                </a:cxn>
                <a:cxn ang="0">
                  <a:pos x="366" y="492"/>
                </a:cxn>
                <a:cxn ang="0">
                  <a:pos x="380" y="462"/>
                </a:cxn>
                <a:cxn ang="0">
                  <a:pos x="404" y="440"/>
                </a:cxn>
                <a:cxn ang="0">
                  <a:pos x="434" y="426"/>
                </a:cxn>
                <a:cxn ang="0">
                  <a:pos x="452" y="426"/>
                </a:cxn>
              </a:cxnLst>
              <a:rect l="0" t="0" r="r" b="b"/>
              <a:pathLst>
                <a:path w="594" h="806">
                  <a:moveTo>
                    <a:pt x="452" y="426"/>
                  </a:moveTo>
                  <a:lnTo>
                    <a:pt x="452" y="426"/>
                  </a:lnTo>
                  <a:lnTo>
                    <a:pt x="466" y="426"/>
                  </a:lnTo>
                  <a:lnTo>
                    <a:pt x="478" y="432"/>
                  </a:lnTo>
                  <a:lnTo>
                    <a:pt x="490" y="438"/>
                  </a:lnTo>
                  <a:lnTo>
                    <a:pt x="500" y="444"/>
                  </a:lnTo>
                  <a:lnTo>
                    <a:pt x="518" y="458"/>
                  </a:lnTo>
                  <a:lnTo>
                    <a:pt x="524" y="464"/>
                  </a:lnTo>
                  <a:lnTo>
                    <a:pt x="524" y="464"/>
                  </a:lnTo>
                  <a:lnTo>
                    <a:pt x="530" y="468"/>
                  </a:lnTo>
                  <a:lnTo>
                    <a:pt x="538" y="468"/>
                  </a:lnTo>
                  <a:lnTo>
                    <a:pt x="586" y="468"/>
                  </a:lnTo>
                  <a:lnTo>
                    <a:pt x="586" y="468"/>
                  </a:lnTo>
                  <a:lnTo>
                    <a:pt x="590" y="468"/>
                  </a:lnTo>
                  <a:lnTo>
                    <a:pt x="592" y="466"/>
                  </a:lnTo>
                  <a:lnTo>
                    <a:pt x="594" y="464"/>
                  </a:lnTo>
                  <a:lnTo>
                    <a:pt x="594" y="460"/>
                  </a:lnTo>
                  <a:lnTo>
                    <a:pt x="594" y="220"/>
                  </a:lnTo>
                  <a:lnTo>
                    <a:pt x="594" y="220"/>
                  </a:lnTo>
                  <a:lnTo>
                    <a:pt x="594" y="216"/>
                  </a:lnTo>
                  <a:lnTo>
                    <a:pt x="592" y="214"/>
                  </a:lnTo>
                  <a:lnTo>
                    <a:pt x="590" y="212"/>
                  </a:lnTo>
                  <a:lnTo>
                    <a:pt x="586" y="212"/>
                  </a:lnTo>
                  <a:lnTo>
                    <a:pt x="346" y="212"/>
                  </a:lnTo>
                  <a:lnTo>
                    <a:pt x="346" y="212"/>
                  </a:lnTo>
                  <a:lnTo>
                    <a:pt x="338" y="212"/>
                  </a:lnTo>
                  <a:lnTo>
                    <a:pt x="338" y="212"/>
                  </a:lnTo>
                  <a:lnTo>
                    <a:pt x="338" y="202"/>
                  </a:lnTo>
                  <a:lnTo>
                    <a:pt x="338" y="166"/>
                  </a:lnTo>
                  <a:lnTo>
                    <a:pt x="338" y="166"/>
                  </a:lnTo>
                  <a:lnTo>
                    <a:pt x="340" y="158"/>
                  </a:lnTo>
                  <a:lnTo>
                    <a:pt x="344" y="152"/>
                  </a:lnTo>
                  <a:lnTo>
                    <a:pt x="344" y="152"/>
                  </a:lnTo>
                  <a:lnTo>
                    <a:pt x="350" y="146"/>
                  </a:lnTo>
                  <a:lnTo>
                    <a:pt x="364" y="130"/>
                  </a:lnTo>
                  <a:lnTo>
                    <a:pt x="370" y="120"/>
                  </a:lnTo>
                  <a:lnTo>
                    <a:pt x="376" y="108"/>
                  </a:lnTo>
                  <a:lnTo>
                    <a:pt x="380" y="96"/>
                  </a:lnTo>
                  <a:lnTo>
                    <a:pt x="382" y="84"/>
                  </a:lnTo>
                  <a:lnTo>
                    <a:pt x="382" y="84"/>
                  </a:lnTo>
                  <a:lnTo>
                    <a:pt x="380" y="66"/>
                  </a:lnTo>
                  <a:lnTo>
                    <a:pt x="376" y="50"/>
                  </a:lnTo>
                  <a:lnTo>
                    <a:pt x="368" y="36"/>
                  </a:lnTo>
                  <a:lnTo>
                    <a:pt x="358" y="24"/>
                  </a:lnTo>
                  <a:lnTo>
                    <a:pt x="344" y="14"/>
                  </a:lnTo>
                  <a:lnTo>
                    <a:pt x="330" y="6"/>
                  </a:lnTo>
                  <a:lnTo>
                    <a:pt x="314" y="0"/>
                  </a:lnTo>
                  <a:lnTo>
                    <a:pt x="298" y="0"/>
                  </a:lnTo>
                  <a:lnTo>
                    <a:pt x="298" y="0"/>
                  </a:lnTo>
                  <a:lnTo>
                    <a:pt x="280" y="0"/>
                  </a:lnTo>
                  <a:lnTo>
                    <a:pt x="264" y="6"/>
                  </a:lnTo>
                  <a:lnTo>
                    <a:pt x="250" y="14"/>
                  </a:lnTo>
                  <a:lnTo>
                    <a:pt x="238" y="24"/>
                  </a:lnTo>
                  <a:lnTo>
                    <a:pt x="228" y="36"/>
                  </a:lnTo>
                  <a:lnTo>
                    <a:pt x="220" y="50"/>
                  </a:lnTo>
                  <a:lnTo>
                    <a:pt x="214" y="66"/>
                  </a:lnTo>
                  <a:lnTo>
                    <a:pt x="212" y="84"/>
                  </a:lnTo>
                  <a:lnTo>
                    <a:pt x="212" y="84"/>
                  </a:lnTo>
                  <a:lnTo>
                    <a:pt x="214" y="96"/>
                  </a:lnTo>
                  <a:lnTo>
                    <a:pt x="218" y="108"/>
                  </a:lnTo>
                  <a:lnTo>
                    <a:pt x="224" y="120"/>
                  </a:lnTo>
                  <a:lnTo>
                    <a:pt x="232" y="130"/>
                  </a:lnTo>
                  <a:lnTo>
                    <a:pt x="244" y="146"/>
                  </a:lnTo>
                  <a:lnTo>
                    <a:pt x="250" y="152"/>
                  </a:lnTo>
                  <a:lnTo>
                    <a:pt x="250" y="152"/>
                  </a:lnTo>
                  <a:lnTo>
                    <a:pt x="254" y="158"/>
                  </a:lnTo>
                  <a:lnTo>
                    <a:pt x="256" y="166"/>
                  </a:lnTo>
                  <a:lnTo>
                    <a:pt x="256" y="202"/>
                  </a:lnTo>
                  <a:lnTo>
                    <a:pt x="256" y="202"/>
                  </a:lnTo>
                  <a:lnTo>
                    <a:pt x="256" y="212"/>
                  </a:lnTo>
                  <a:lnTo>
                    <a:pt x="256" y="212"/>
                  </a:lnTo>
                  <a:lnTo>
                    <a:pt x="248" y="212"/>
                  </a:lnTo>
                  <a:lnTo>
                    <a:pt x="8" y="212"/>
                  </a:lnTo>
                  <a:lnTo>
                    <a:pt x="8" y="212"/>
                  </a:lnTo>
                  <a:lnTo>
                    <a:pt x="6" y="212"/>
                  </a:lnTo>
                  <a:lnTo>
                    <a:pt x="2" y="214"/>
                  </a:lnTo>
                  <a:lnTo>
                    <a:pt x="0" y="216"/>
                  </a:lnTo>
                  <a:lnTo>
                    <a:pt x="0" y="220"/>
                  </a:lnTo>
                  <a:lnTo>
                    <a:pt x="0" y="798"/>
                  </a:lnTo>
                  <a:lnTo>
                    <a:pt x="0" y="798"/>
                  </a:lnTo>
                  <a:lnTo>
                    <a:pt x="0" y="802"/>
                  </a:lnTo>
                  <a:lnTo>
                    <a:pt x="2" y="804"/>
                  </a:lnTo>
                  <a:lnTo>
                    <a:pt x="6" y="806"/>
                  </a:lnTo>
                  <a:lnTo>
                    <a:pt x="8" y="806"/>
                  </a:lnTo>
                  <a:lnTo>
                    <a:pt x="586" y="806"/>
                  </a:lnTo>
                  <a:lnTo>
                    <a:pt x="586" y="806"/>
                  </a:lnTo>
                  <a:lnTo>
                    <a:pt x="590" y="806"/>
                  </a:lnTo>
                  <a:lnTo>
                    <a:pt x="592" y="804"/>
                  </a:lnTo>
                  <a:lnTo>
                    <a:pt x="594" y="802"/>
                  </a:lnTo>
                  <a:lnTo>
                    <a:pt x="594" y="798"/>
                  </a:lnTo>
                  <a:lnTo>
                    <a:pt x="594" y="558"/>
                  </a:lnTo>
                  <a:lnTo>
                    <a:pt x="594" y="558"/>
                  </a:lnTo>
                  <a:lnTo>
                    <a:pt x="594" y="556"/>
                  </a:lnTo>
                  <a:lnTo>
                    <a:pt x="592" y="554"/>
                  </a:lnTo>
                  <a:lnTo>
                    <a:pt x="590" y="552"/>
                  </a:lnTo>
                  <a:lnTo>
                    <a:pt x="586" y="550"/>
                  </a:lnTo>
                  <a:lnTo>
                    <a:pt x="538" y="550"/>
                  </a:lnTo>
                  <a:lnTo>
                    <a:pt x="538" y="550"/>
                  </a:lnTo>
                  <a:lnTo>
                    <a:pt x="530" y="552"/>
                  </a:lnTo>
                  <a:lnTo>
                    <a:pt x="524" y="556"/>
                  </a:lnTo>
                  <a:lnTo>
                    <a:pt x="524" y="556"/>
                  </a:lnTo>
                  <a:lnTo>
                    <a:pt x="518" y="562"/>
                  </a:lnTo>
                  <a:lnTo>
                    <a:pt x="500" y="576"/>
                  </a:lnTo>
                  <a:lnTo>
                    <a:pt x="490" y="582"/>
                  </a:lnTo>
                  <a:lnTo>
                    <a:pt x="478" y="588"/>
                  </a:lnTo>
                  <a:lnTo>
                    <a:pt x="466" y="592"/>
                  </a:lnTo>
                  <a:lnTo>
                    <a:pt x="452" y="594"/>
                  </a:lnTo>
                  <a:lnTo>
                    <a:pt x="452" y="594"/>
                  </a:lnTo>
                  <a:lnTo>
                    <a:pt x="434" y="592"/>
                  </a:lnTo>
                  <a:lnTo>
                    <a:pt x="418" y="588"/>
                  </a:lnTo>
                  <a:lnTo>
                    <a:pt x="404" y="580"/>
                  </a:lnTo>
                  <a:lnTo>
                    <a:pt x="390" y="570"/>
                  </a:lnTo>
                  <a:lnTo>
                    <a:pt x="380" y="558"/>
                  </a:lnTo>
                  <a:lnTo>
                    <a:pt x="370" y="542"/>
                  </a:lnTo>
                  <a:lnTo>
                    <a:pt x="366" y="526"/>
                  </a:lnTo>
                  <a:lnTo>
                    <a:pt x="364" y="510"/>
                  </a:lnTo>
                  <a:lnTo>
                    <a:pt x="364" y="510"/>
                  </a:lnTo>
                  <a:lnTo>
                    <a:pt x="366" y="492"/>
                  </a:lnTo>
                  <a:lnTo>
                    <a:pt x="370" y="476"/>
                  </a:lnTo>
                  <a:lnTo>
                    <a:pt x="380" y="462"/>
                  </a:lnTo>
                  <a:lnTo>
                    <a:pt x="390" y="450"/>
                  </a:lnTo>
                  <a:lnTo>
                    <a:pt x="404" y="440"/>
                  </a:lnTo>
                  <a:lnTo>
                    <a:pt x="418" y="432"/>
                  </a:lnTo>
                  <a:lnTo>
                    <a:pt x="434" y="426"/>
                  </a:lnTo>
                  <a:lnTo>
                    <a:pt x="452" y="426"/>
                  </a:lnTo>
                  <a:lnTo>
                    <a:pt x="452" y="426"/>
                  </a:lnTo>
                  <a:close/>
                </a:path>
              </a:pathLst>
            </a:custGeom>
            <a:solidFill>
              <a:schemeClr val="accent2"/>
            </a:solidFill>
            <a:ln w="19050" cap="flat" cmpd="sng">
              <a:noFill/>
              <a:prstDash val="solid"/>
              <a:round/>
              <a:headEnd type="none" w="med" len="med"/>
              <a:tailEnd type="none" w="med" len="med"/>
            </a:ln>
            <a:effectLst/>
          </p:spPr>
          <p:txBody>
            <a:bodyPr/>
            <a:lstStyle/>
            <a:p>
              <a:pPr algn="just">
                <a:lnSpc>
                  <a:spcPct val="120000"/>
                </a:lnSpc>
                <a:defRPr/>
              </a:pPr>
              <a:endParaRPr lang="da-DK" sz="800" kern="0">
                <a:solidFill>
                  <a:schemeClr val="tx1">
                    <a:lumMod val="95000"/>
                    <a:lumOff val="5000"/>
                  </a:schemeClr>
                </a:solidFill>
                <a:latin typeface="Arial" panose="020B0604020202020204" pitchFamily="34" charset="0"/>
                <a:ea typeface="微软雅黑" panose="020B0503020204020204" charset="-122"/>
                <a:cs typeface="+mn-ea"/>
                <a:sym typeface="Arial" panose="020B0604020202020204" pitchFamily="34" charset="0"/>
              </a:endParaRPr>
            </a:p>
          </p:txBody>
        </p:sp>
        <p:grpSp>
          <p:nvGrpSpPr>
            <p:cNvPr id="17" name="Group 130"/>
            <p:cNvGrpSpPr/>
            <p:nvPr/>
          </p:nvGrpSpPr>
          <p:grpSpPr>
            <a:xfrm>
              <a:off x="7467524" y="2654222"/>
              <a:ext cx="626459" cy="626459"/>
              <a:chOff x="6006611" y="4240036"/>
              <a:chExt cx="684000" cy="684000"/>
            </a:xfrm>
          </p:grpSpPr>
          <p:sp>
            <p:nvSpPr>
              <p:cNvPr id="18" name="Freeform 44"/>
              <p:cNvSpPr>
                <a:spLocks noChangeAspect="1" noEditPoints="1"/>
              </p:cNvSpPr>
              <p:nvPr/>
            </p:nvSpPr>
            <p:spPr bwMode="auto">
              <a:xfrm>
                <a:off x="6132322" y="4366036"/>
                <a:ext cx="432579" cy="432000"/>
              </a:xfrm>
              <a:custGeom>
                <a:avLst/>
                <a:gdLst>
                  <a:gd name="T0" fmla="*/ 287 w 316"/>
                  <a:gd name="T1" fmla="*/ 29 h 316"/>
                  <a:gd name="T2" fmla="*/ 236 w 316"/>
                  <a:gd name="T3" fmla="*/ 4 h 316"/>
                  <a:gd name="T4" fmla="*/ 135 w 316"/>
                  <a:gd name="T5" fmla="*/ 105 h 316"/>
                  <a:gd name="T6" fmla="*/ 20 w 316"/>
                  <a:gd name="T7" fmla="*/ 221 h 316"/>
                  <a:gd name="T8" fmla="*/ 0 w 316"/>
                  <a:gd name="T9" fmla="*/ 316 h 316"/>
                  <a:gd name="T10" fmla="*/ 95 w 316"/>
                  <a:gd name="T11" fmla="*/ 296 h 316"/>
                  <a:gd name="T12" fmla="*/ 210 w 316"/>
                  <a:gd name="T13" fmla="*/ 180 h 316"/>
                  <a:gd name="T14" fmla="*/ 312 w 316"/>
                  <a:gd name="T15" fmla="*/ 79 h 316"/>
                  <a:gd name="T16" fmla="*/ 287 w 316"/>
                  <a:gd name="T17" fmla="*/ 29 h 316"/>
                  <a:gd name="T18" fmla="*/ 89 w 316"/>
                  <a:gd name="T19" fmla="*/ 284 h 316"/>
                  <a:gd name="T20" fmla="*/ 57 w 316"/>
                  <a:gd name="T21" fmla="*/ 291 h 316"/>
                  <a:gd name="T22" fmla="*/ 43 w 316"/>
                  <a:gd name="T23" fmla="*/ 273 h 316"/>
                  <a:gd name="T24" fmla="*/ 24 w 316"/>
                  <a:gd name="T25" fmla="*/ 259 h 316"/>
                  <a:gd name="T26" fmla="*/ 31 w 316"/>
                  <a:gd name="T27" fmla="*/ 226 h 316"/>
                  <a:gd name="T28" fmla="*/ 41 w 316"/>
                  <a:gd name="T29" fmla="*/ 217 h 316"/>
                  <a:gd name="T30" fmla="*/ 78 w 316"/>
                  <a:gd name="T31" fmla="*/ 237 h 316"/>
                  <a:gd name="T32" fmla="*/ 99 w 316"/>
                  <a:gd name="T33" fmla="*/ 275 h 316"/>
                  <a:gd name="T34" fmla="*/ 89 w 316"/>
                  <a:gd name="T35" fmla="*/ 284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6" h="316">
                    <a:moveTo>
                      <a:pt x="287" y="29"/>
                    </a:moveTo>
                    <a:cubicBezTo>
                      <a:pt x="258" y="0"/>
                      <a:pt x="236" y="4"/>
                      <a:pt x="236" y="4"/>
                    </a:cubicBezTo>
                    <a:cubicBezTo>
                      <a:pt x="135" y="105"/>
                      <a:pt x="135" y="105"/>
                      <a:pt x="135" y="105"/>
                    </a:cubicBezTo>
                    <a:cubicBezTo>
                      <a:pt x="20" y="221"/>
                      <a:pt x="20" y="221"/>
                      <a:pt x="20" y="221"/>
                    </a:cubicBezTo>
                    <a:cubicBezTo>
                      <a:pt x="0" y="316"/>
                      <a:pt x="0" y="316"/>
                      <a:pt x="0" y="316"/>
                    </a:cubicBezTo>
                    <a:cubicBezTo>
                      <a:pt x="95" y="296"/>
                      <a:pt x="95" y="296"/>
                      <a:pt x="95" y="296"/>
                    </a:cubicBezTo>
                    <a:cubicBezTo>
                      <a:pt x="210" y="180"/>
                      <a:pt x="210" y="180"/>
                      <a:pt x="210" y="180"/>
                    </a:cubicBezTo>
                    <a:cubicBezTo>
                      <a:pt x="312" y="79"/>
                      <a:pt x="312" y="79"/>
                      <a:pt x="312" y="79"/>
                    </a:cubicBezTo>
                    <a:cubicBezTo>
                      <a:pt x="312" y="79"/>
                      <a:pt x="316" y="58"/>
                      <a:pt x="287" y="29"/>
                    </a:cubicBezTo>
                    <a:close/>
                    <a:moveTo>
                      <a:pt x="89" y="284"/>
                    </a:moveTo>
                    <a:cubicBezTo>
                      <a:pt x="57" y="291"/>
                      <a:pt x="57" y="291"/>
                      <a:pt x="57" y="291"/>
                    </a:cubicBezTo>
                    <a:cubicBezTo>
                      <a:pt x="54" y="285"/>
                      <a:pt x="50" y="280"/>
                      <a:pt x="43" y="273"/>
                    </a:cubicBezTo>
                    <a:cubicBezTo>
                      <a:pt x="36" y="266"/>
                      <a:pt x="30" y="262"/>
                      <a:pt x="24" y="259"/>
                    </a:cubicBezTo>
                    <a:cubicBezTo>
                      <a:pt x="31" y="226"/>
                      <a:pt x="31" y="226"/>
                      <a:pt x="31" y="226"/>
                    </a:cubicBezTo>
                    <a:cubicBezTo>
                      <a:pt x="41" y="217"/>
                      <a:pt x="41" y="217"/>
                      <a:pt x="41" y="217"/>
                    </a:cubicBezTo>
                    <a:cubicBezTo>
                      <a:pt x="41" y="217"/>
                      <a:pt x="58" y="217"/>
                      <a:pt x="78" y="237"/>
                    </a:cubicBezTo>
                    <a:cubicBezTo>
                      <a:pt x="98" y="257"/>
                      <a:pt x="99" y="275"/>
                      <a:pt x="99" y="275"/>
                    </a:cubicBezTo>
                    <a:lnTo>
                      <a:pt x="89" y="284"/>
                    </a:lnTo>
                    <a:close/>
                  </a:path>
                </a:pathLst>
              </a:custGeom>
              <a:noFill/>
              <a:ln w="12700">
                <a:solidFill>
                  <a:schemeClr val="bg1"/>
                </a:solidFill>
              </a:ln>
            </p:spPr>
            <p:txBody>
              <a:bodyPr vert="horz" wrap="square" lIns="83748" tIns="41874" rIns="83748" bIns="41874" numCol="1" anchor="t" anchorCtr="0" compatLnSpc="1"/>
              <a:lstStyle/>
              <a:p>
                <a:pPr algn="just">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19" name="Oval 126"/>
              <p:cNvSpPr/>
              <p:nvPr/>
            </p:nvSpPr>
            <p:spPr>
              <a:xfrm>
                <a:off x="6006611" y="4240036"/>
                <a:ext cx="684000" cy="6840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id-ID" sz="800">
                  <a:latin typeface="Arial" panose="020B0604020202020204" pitchFamily="34" charset="0"/>
                  <a:ea typeface="微软雅黑" panose="020B0503020204020204" charset="-122"/>
                  <a:cs typeface="+mn-ea"/>
                  <a:sym typeface="Arial" panose="020B0604020202020204" pitchFamily="34" charset="0"/>
                </a:endParaRPr>
              </a:p>
            </p:txBody>
          </p:sp>
        </p:gr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EC</a:t>
            </a:r>
            <a:r>
              <a:rPr lang="zh-CN" altLang="en-US" sz="2400" dirty="0">
                <a:sym typeface="+mn-ea"/>
              </a:rPr>
              <a:t>码的优化</a:t>
            </a:r>
            <a:r>
              <a:rPr lang="en-US" altLang="zh-CN" sz="2400" dirty="0">
                <a:sym typeface="+mn-ea"/>
              </a:rPr>
              <a:t>——LRC</a:t>
            </a:r>
            <a:endParaRPr lang="zh-CN" altLang="en-US" sz="2400" dirty="0">
              <a:sym typeface="+mn-ea"/>
            </a:endParaRPr>
          </a:p>
        </p:txBody>
      </p:sp>
      <p:sp>
        <p:nvSpPr>
          <p:cNvPr id="9" name="文本框 8"/>
          <p:cNvSpPr txBox="1"/>
          <p:nvPr/>
        </p:nvSpPr>
        <p:spPr>
          <a:xfrm>
            <a:off x="410377" y="914466"/>
            <a:ext cx="8323245" cy="1790105"/>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400"/>
              </a:lnSpc>
            </a:pPr>
            <a:r>
              <a:rPr lang="zh-CN" altLang="en-US" b="0" i="0" dirty="0">
                <a:solidFill>
                  <a:srgbClr val="121212"/>
                </a:solidFill>
                <a:effectLst/>
                <a:latin typeface="Marlett" charset="0"/>
              </a:rPr>
              <a:t>         以</a:t>
            </a:r>
            <a:r>
              <a:rPr lang="zh-CN" altLang="en-US" i="0" dirty="0">
                <a:solidFill>
                  <a:srgbClr val="121212"/>
                </a:solidFill>
                <a:effectLst/>
                <a:latin typeface="Marlett" charset="0"/>
              </a:rPr>
              <a:t>微软</a:t>
            </a:r>
            <a:r>
              <a:rPr lang="en-US" altLang="zh-CN" i="0" dirty="0">
                <a:solidFill>
                  <a:srgbClr val="121212"/>
                </a:solidFill>
                <a:effectLst/>
                <a:latin typeface="Marlett" charset="0"/>
              </a:rPr>
              <a:t>Azure</a:t>
            </a:r>
            <a:r>
              <a:rPr lang="zh-CN" altLang="en-US" b="0" i="0" dirty="0">
                <a:solidFill>
                  <a:srgbClr val="121212"/>
                </a:solidFill>
                <a:effectLst/>
                <a:latin typeface="Marlett" charset="0"/>
              </a:rPr>
              <a:t>的云存储</a:t>
            </a:r>
            <a:r>
              <a:rPr lang="en-US" altLang="zh-CN" b="0" i="0" dirty="0">
                <a:solidFill>
                  <a:srgbClr val="121212"/>
                </a:solidFill>
                <a:effectLst/>
                <a:latin typeface="Marlett" charset="0"/>
              </a:rPr>
              <a:t>(Windows Azure Storage</a:t>
            </a:r>
            <a:r>
              <a:rPr lang="en-US" altLang="zh-CN" dirty="0">
                <a:solidFill>
                  <a:srgbClr val="121212"/>
                </a:solidFill>
                <a:latin typeface="Marlett" charset="0"/>
              </a:rPr>
              <a:t>)</a:t>
            </a:r>
            <a:r>
              <a:rPr lang="zh-CN" altLang="en-US" b="0" i="0" dirty="0">
                <a:solidFill>
                  <a:srgbClr val="121212"/>
                </a:solidFill>
                <a:effectLst/>
                <a:latin typeface="Marlett" charset="0"/>
              </a:rPr>
              <a:t>实现为例，它采用</a:t>
            </a:r>
            <a:r>
              <a:rPr lang="en-US" altLang="zh-CN" b="0" i="0" dirty="0">
                <a:solidFill>
                  <a:srgbClr val="FF0000"/>
                </a:solidFill>
                <a:effectLst/>
                <a:latin typeface="Marlett" charset="0"/>
              </a:rPr>
              <a:t>LRC</a:t>
            </a:r>
            <a:r>
              <a:rPr lang="en-US" altLang="zh-CN" dirty="0">
                <a:solidFill>
                  <a:srgbClr val="FF0000"/>
                </a:solidFill>
                <a:latin typeface="Marlett" charset="0"/>
              </a:rPr>
              <a:t>(</a:t>
            </a:r>
            <a:r>
              <a:rPr lang="en-US" altLang="zh-CN" b="0" i="0" dirty="0">
                <a:solidFill>
                  <a:srgbClr val="FF0000"/>
                </a:solidFill>
                <a:effectLst/>
                <a:latin typeface="Marlett" charset="0"/>
              </a:rPr>
              <a:t>12,2,2</a:t>
            </a:r>
            <a:r>
              <a:rPr lang="en-US" altLang="zh-CN" dirty="0">
                <a:solidFill>
                  <a:srgbClr val="FF0000"/>
                </a:solidFill>
                <a:latin typeface="Marlett" charset="0"/>
              </a:rPr>
              <a:t>)</a:t>
            </a:r>
            <a:r>
              <a:rPr lang="zh-CN" altLang="en-US" b="0" i="0" dirty="0">
                <a:solidFill>
                  <a:srgbClr val="FF0000"/>
                </a:solidFill>
                <a:effectLst/>
                <a:latin typeface="Marlett" charset="0"/>
              </a:rPr>
              <a:t>编码</a:t>
            </a:r>
            <a:r>
              <a:rPr lang="zh-CN" altLang="en-US" b="0" i="0" dirty="0">
                <a:solidFill>
                  <a:srgbClr val="121212"/>
                </a:solidFill>
                <a:effectLst/>
                <a:latin typeface="Marlett" charset="0"/>
              </a:rPr>
              <a:t>，</a:t>
            </a:r>
            <a:r>
              <a:rPr lang="en-US" altLang="zh-CN" b="0" i="0" dirty="0">
                <a:solidFill>
                  <a:srgbClr val="121212"/>
                </a:solidFill>
                <a:effectLst/>
                <a:latin typeface="Marlett" charset="0"/>
              </a:rPr>
              <a:t>12</a:t>
            </a:r>
            <a:r>
              <a:rPr lang="zh-CN" altLang="en-US" b="0" i="0" dirty="0">
                <a:solidFill>
                  <a:srgbClr val="121212"/>
                </a:solidFill>
                <a:effectLst/>
                <a:latin typeface="Marlett" charset="0"/>
              </a:rPr>
              <a:t>个数据块为一组编码，并进一步将这</a:t>
            </a:r>
            <a:r>
              <a:rPr lang="en-US" altLang="zh-CN" b="0" i="0" dirty="0">
                <a:solidFill>
                  <a:srgbClr val="121212"/>
                </a:solidFill>
                <a:effectLst/>
                <a:latin typeface="Marlett" charset="0"/>
              </a:rPr>
              <a:t>12</a:t>
            </a:r>
            <a:r>
              <a:rPr lang="zh-CN" altLang="en-US" b="0" i="0" dirty="0">
                <a:solidFill>
                  <a:srgbClr val="121212"/>
                </a:solidFill>
                <a:effectLst/>
                <a:latin typeface="Marlett" charset="0"/>
              </a:rPr>
              <a:t>个数据块平均分为</a:t>
            </a:r>
            <a:r>
              <a:rPr lang="en-US" altLang="zh-CN" b="0" i="0" dirty="0">
                <a:solidFill>
                  <a:srgbClr val="121212"/>
                </a:solidFill>
                <a:effectLst/>
                <a:latin typeface="Marlett" charset="0"/>
              </a:rPr>
              <a:t>2</a:t>
            </a:r>
            <a:r>
              <a:rPr lang="zh-CN" altLang="en-US" b="0" i="0" dirty="0">
                <a:solidFill>
                  <a:srgbClr val="121212"/>
                </a:solidFill>
                <a:effectLst/>
                <a:latin typeface="Marlett" charset="0"/>
              </a:rPr>
              <a:t>个本地组， 每个本地组包括</a:t>
            </a:r>
            <a:r>
              <a:rPr lang="en-US" altLang="zh-CN" b="0" i="0" dirty="0">
                <a:solidFill>
                  <a:srgbClr val="121212"/>
                </a:solidFill>
                <a:effectLst/>
                <a:latin typeface="Marlett" charset="0"/>
              </a:rPr>
              <a:t>6</a:t>
            </a:r>
            <a:r>
              <a:rPr lang="zh-CN" altLang="en-US" b="0" i="0" dirty="0">
                <a:solidFill>
                  <a:srgbClr val="121212"/>
                </a:solidFill>
                <a:effectLst/>
                <a:latin typeface="Marlett" charset="0"/>
              </a:rPr>
              <a:t>个数据块，并分别计算出一个</a:t>
            </a:r>
            <a:r>
              <a:rPr lang="en-US" altLang="zh-CN" b="0" i="0" dirty="0">
                <a:solidFill>
                  <a:srgbClr val="121212"/>
                </a:solidFill>
                <a:effectLst/>
                <a:latin typeface="Marlett" charset="0"/>
              </a:rPr>
              <a:t>local rec</a:t>
            </a:r>
            <a:endParaRPr lang="en-US" altLang="zh-CN" b="0" i="0" dirty="0">
              <a:solidFill>
                <a:srgbClr val="121212"/>
              </a:solidFill>
              <a:effectLst/>
              <a:latin typeface="Marlett" charset="0"/>
            </a:endParaRPr>
          </a:p>
          <a:p>
            <a:pPr>
              <a:lnSpc>
                <a:spcPts val="3400"/>
              </a:lnSpc>
            </a:pPr>
            <a:r>
              <a:rPr lang="en-US" altLang="zh-CN" b="0" i="0" dirty="0">
                <a:solidFill>
                  <a:srgbClr val="121212"/>
                </a:solidFill>
                <a:effectLst/>
                <a:latin typeface="Marlett" charset="0"/>
              </a:rPr>
              <a:t>-</a:t>
            </a:r>
            <a:r>
              <a:rPr lang="en-US" altLang="zh-CN" b="0" i="0" dirty="0" err="1">
                <a:solidFill>
                  <a:srgbClr val="121212"/>
                </a:solidFill>
                <a:effectLst/>
                <a:latin typeface="Marlett" charset="0"/>
              </a:rPr>
              <a:t>onstruction</a:t>
            </a:r>
            <a:r>
              <a:rPr lang="en-US" altLang="zh-CN" b="0" i="0" dirty="0">
                <a:solidFill>
                  <a:srgbClr val="121212"/>
                </a:solidFill>
                <a:effectLst/>
                <a:latin typeface="Marlett" charset="0"/>
              </a:rPr>
              <a:t> parity</a:t>
            </a:r>
            <a:r>
              <a:rPr lang="zh-CN" altLang="en-US" b="0" i="0" dirty="0">
                <a:solidFill>
                  <a:srgbClr val="121212"/>
                </a:solidFill>
                <a:effectLst/>
                <a:latin typeface="Marlett" charset="0"/>
              </a:rPr>
              <a:t>，再根据所有</a:t>
            </a:r>
            <a:r>
              <a:rPr lang="en-US" altLang="zh-CN" b="0" i="0" dirty="0">
                <a:solidFill>
                  <a:srgbClr val="121212"/>
                </a:solidFill>
                <a:effectLst/>
                <a:latin typeface="Marlett" charset="0"/>
              </a:rPr>
              <a:t>12</a:t>
            </a:r>
            <a:r>
              <a:rPr lang="zh-CN" altLang="en-US" b="0" i="0" dirty="0">
                <a:solidFill>
                  <a:srgbClr val="121212"/>
                </a:solidFill>
                <a:effectLst/>
                <a:latin typeface="Marlett" charset="0"/>
              </a:rPr>
              <a:t>个数据块计算出</a:t>
            </a:r>
            <a:r>
              <a:rPr lang="en-US" altLang="zh-CN" b="0" i="0" dirty="0">
                <a:solidFill>
                  <a:srgbClr val="121212"/>
                </a:solidFill>
                <a:effectLst/>
                <a:latin typeface="Marlett" charset="0"/>
              </a:rPr>
              <a:t>2</a:t>
            </a:r>
            <a:r>
              <a:rPr lang="zh-CN" altLang="en-US" b="0" i="0" dirty="0">
                <a:solidFill>
                  <a:srgbClr val="121212"/>
                </a:solidFill>
                <a:effectLst/>
                <a:latin typeface="Marlett" charset="0"/>
              </a:rPr>
              <a:t>个</a:t>
            </a:r>
            <a:r>
              <a:rPr lang="en-US" altLang="zh-CN" b="0" i="0" dirty="0">
                <a:solidFill>
                  <a:srgbClr val="121212"/>
                </a:solidFill>
                <a:effectLst/>
                <a:latin typeface="Marlett" charset="0"/>
              </a:rPr>
              <a:t>global parities</a:t>
            </a:r>
            <a:r>
              <a:rPr lang="zh-CN" altLang="en-US" b="0" i="0" dirty="0">
                <a:solidFill>
                  <a:srgbClr val="121212"/>
                </a:solidFill>
                <a:effectLst/>
                <a:latin typeface="Marlett" charset="0"/>
              </a:rPr>
              <a:t>。</a:t>
            </a:r>
            <a:endParaRPr lang="en-US" altLang="zh-CN" b="0" i="0" dirty="0">
              <a:solidFill>
                <a:srgbClr val="121212"/>
              </a:solidFill>
              <a:effectLst/>
              <a:latin typeface="Marlett" charset="0"/>
            </a:endParaRPr>
          </a:p>
        </p:txBody>
      </p:sp>
      <p:grpSp>
        <p:nvGrpSpPr>
          <p:cNvPr id="3" name="组合 2"/>
          <p:cNvGrpSpPr/>
          <p:nvPr/>
        </p:nvGrpSpPr>
        <p:grpSpPr>
          <a:xfrm>
            <a:off x="921861" y="3124208"/>
            <a:ext cx="7300275" cy="3674437"/>
            <a:chOff x="921861" y="3124208"/>
            <a:chExt cx="7300275" cy="3674437"/>
          </a:xfrm>
        </p:grpSpPr>
        <p:pic>
          <p:nvPicPr>
            <p:cNvPr id="12" name="图片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21861" y="3124208"/>
              <a:ext cx="7300275" cy="3184559"/>
            </a:xfrm>
            <a:prstGeom prst="rect">
              <a:avLst/>
            </a:prstGeom>
          </p:spPr>
        </p:pic>
        <p:sp>
          <p:nvSpPr>
            <p:cNvPr id="5" name="文本框 4"/>
            <p:cNvSpPr txBox="1"/>
            <p:nvPr/>
          </p:nvSpPr>
          <p:spPr>
            <a:xfrm>
              <a:off x="3839225" y="6308767"/>
              <a:ext cx="1465545"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sym typeface="+mn-ea"/>
                </a:rPr>
                <a:t>LRC</a:t>
              </a:r>
              <a:r>
                <a:rPr lang="zh-CN" altLang="en-US" sz="1800" dirty="0">
                  <a:sym typeface="+mn-ea"/>
                </a:rPr>
                <a:t>原理图</a:t>
              </a:r>
              <a:endParaRPr lang="zh-CN" altLang="en-US" sz="1800" dirty="0">
                <a:sym typeface="+mn-ea"/>
              </a:endParaRPr>
            </a:p>
          </p:txBody>
        </p:sp>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EC</a:t>
            </a:r>
            <a:r>
              <a:rPr lang="zh-CN" altLang="en-US" sz="2400" dirty="0">
                <a:sym typeface="+mn-ea"/>
              </a:rPr>
              <a:t>码的优化</a:t>
            </a:r>
            <a:r>
              <a:rPr lang="en-US" altLang="zh-CN" sz="2400" dirty="0">
                <a:sym typeface="+mn-ea"/>
              </a:rPr>
              <a:t>——LRC</a:t>
            </a:r>
            <a:endParaRPr lang="zh-CN" altLang="en-US" sz="2400" dirty="0">
              <a:sym typeface="+mn-ea"/>
            </a:endParaRPr>
          </a:p>
        </p:txBody>
      </p:sp>
      <p:sp>
        <p:nvSpPr>
          <p:cNvPr id="9" name="文本框 8"/>
          <p:cNvSpPr txBox="1"/>
          <p:nvPr/>
        </p:nvSpPr>
        <p:spPr>
          <a:xfrm>
            <a:off x="410377" y="914466"/>
            <a:ext cx="8323245" cy="1886286"/>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solidFill>
                  <a:srgbClr val="121212"/>
                </a:solidFill>
                <a:latin typeface="Marlett" charset="0"/>
              </a:rPr>
              <a:t>         当发生任何一个数据块错误时，只用本地组内的数据块和校验块即可恢复出原始数据。而恢复代价</a:t>
            </a:r>
            <a:r>
              <a:rPr lang="en-US" altLang="zh-CN" dirty="0">
                <a:solidFill>
                  <a:srgbClr val="121212"/>
                </a:solidFill>
                <a:latin typeface="Marlett" charset="0"/>
              </a:rPr>
              <a:t>(</a:t>
            </a:r>
            <a:r>
              <a:rPr lang="zh-CN" altLang="en-US" dirty="0">
                <a:solidFill>
                  <a:srgbClr val="121212"/>
                </a:solidFill>
                <a:latin typeface="Marlett" charset="0"/>
              </a:rPr>
              <a:t>通过网络传输的数据块数量</a:t>
            </a:r>
            <a:r>
              <a:rPr lang="en-US" altLang="zh-CN" dirty="0">
                <a:solidFill>
                  <a:srgbClr val="121212"/>
                </a:solidFill>
                <a:latin typeface="Marlett" charset="0"/>
              </a:rPr>
              <a:t>)</a:t>
            </a:r>
            <a:r>
              <a:rPr lang="zh-CN" altLang="en-US" dirty="0">
                <a:solidFill>
                  <a:srgbClr val="121212"/>
                </a:solidFill>
                <a:latin typeface="Marlett" charset="0"/>
              </a:rPr>
              <a:t>就由传统</a:t>
            </a:r>
            <a:r>
              <a:rPr lang="en-US" altLang="zh-CN" dirty="0">
                <a:solidFill>
                  <a:srgbClr val="121212"/>
                </a:solidFill>
                <a:latin typeface="Marlett" charset="0"/>
              </a:rPr>
              <a:t>RS(12,4)</a:t>
            </a:r>
            <a:r>
              <a:rPr lang="zh-CN" altLang="en-US" dirty="0">
                <a:solidFill>
                  <a:srgbClr val="121212"/>
                </a:solidFill>
                <a:latin typeface="Marlett" charset="0"/>
              </a:rPr>
              <a:t>编码的</a:t>
            </a:r>
            <a:r>
              <a:rPr lang="en-US" altLang="zh-CN" dirty="0">
                <a:solidFill>
                  <a:srgbClr val="121212"/>
                </a:solidFill>
                <a:latin typeface="Marlett" charset="0"/>
              </a:rPr>
              <a:t>12</a:t>
            </a:r>
            <a:r>
              <a:rPr lang="zh-CN" altLang="en-US" dirty="0">
                <a:solidFill>
                  <a:srgbClr val="121212"/>
                </a:solidFill>
                <a:latin typeface="Marlett" charset="0"/>
              </a:rPr>
              <a:t>，变为</a:t>
            </a:r>
            <a:r>
              <a:rPr lang="en-US" altLang="zh-CN" dirty="0">
                <a:solidFill>
                  <a:srgbClr val="121212"/>
                </a:solidFill>
                <a:latin typeface="Marlett" charset="0"/>
              </a:rPr>
              <a:t>6</a:t>
            </a:r>
            <a:r>
              <a:rPr lang="zh-CN" altLang="en-US" dirty="0">
                <a:solidFill>
                  <a:srgbClr val="121212"/>
                </a:solidFill>
                <a:latin typeface="Marlett" charset="0"/>
              </a:rPr>
              <a:t>，恢复过程的网络</a:t>
            </a:r>
            <a:r>
              <a:rPr lang="en-US" altLang="zh-CN" dirty="0">
                <a:solidFill>
                  <a:srgbClr val="121212"/>
                </a:solidFill>
                <a:latin typeface="Marlett" charset="0"/>
              </a:rPr>
              <a:t>I/O</a:t>
            </a:r>
            <a:r>
              <a:rPr lang="zh-CN" altLang="en-US" dirty="0">
                <a:solidFill>
                  <a:srgbClr val="121212"/>
                </a:solidFill>
                <a:latin typeface="Marlett" charset="0"/>
              </a:rPr>
              <a:t>开销减半，同时数据冗余度保持不变，仍为</a:t>
            </a:r>
            <a:r>
              <a:rPr lang="en-US" altLang="zh-CN" dirty="0">
                <a:solidFill>
                  <a:srgbClr val="121212"/>
                </a:solidFill>
                <a:latin typeface="Marlett" charset="0"/>
              </a:rPr>
              <a:t>(12+2+2)/ 12 = 1.33</a:t>
            </a:r>
            <a:r>
              <a:rPr lang="zh-CN" altLang="en-US" dirty="0">
                <a:solidFill>
                  <a:srgbClr val="121212"/>
                </a:solidFill>
                <a:latin typeface="Marlett" charset="0"/>
              </a:rPr>
              <a:t>。</a:t>
            </a:r>
            <a:endParaRPr lang="en-US" altLang="zh-CN" dirty="0">
              <a:solidFill>
                <a:srgbClr val="121212"/>
              </a:solidFill>
              <a:latin typeface="Marlett" charset="0"/>
            </a:endParaRPr>
          </a:p>
        </p:txBody>
      </p:sp>
      <p:grpSp>
        <p:nvGrpSpPr>
          <p:cNvPr id="3" name="组合 2"/>
          <p:cNvGrpSpPr/>
          <p:nvPr/>
        </p:nvGrpSpPr>
        <p:grpSpPr>
          <a:xfrm>
            <a:off x="921861" y="3124208"/>
            <a:ext cx="7300275" cy="3674437"/>
            <a:chOff x="921861" y="3124208"/>
            <a:chExt cx="7300275" cy="3674437"/>
          </a:xfrm>
        </p:grpSpPr>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21861" y="3124208"/>
              <a:ext cx="7300275" cy="3184559"/>
            </a:xfrm>
            <a:prstGeom prst="rect">
              <a:avLst/>
            </a:prstGeom>
          </p:spPr>
        </p:pic>
        <p:sp>
          <p:nvSpPr>
            <p:cNvPr id="5" name="文本框 4"/>
            <p:cNvSpPr txBox="1"/>
            <p:nvPr/>
          </p:nvSpPr>
          <p:spPr>
            <a:xfrm>
              <a:off x="3839225" y="6308767"/>
              <a:ext cx="1465545"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sym typeface="+mn-ea"/>
                </a:rPr>
                <a:t>LRC</a:t>
              </a:r>
              <a:r>
                <a:rPr lang="zh-CN" altLang="en-US" sz="1800" dirty="0">
                  <a:sym typeface="+mn-ea"/>
                </a:rPr>
                <a:t>原理图</a:t>
              </a:r>
              <a:endParaRPr lang="zh-CN" altLang="en-US" sz="1800" dirty="0">
                <a:sym typeface="+mn-ea"/>
              </a:endParaRPr>
            </a:p>
          </p:txBody>
        </p:sp>
      </p:gr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EC</a:t>
            </a:r>
            <a:r>
              <a:rPr lang="zh-CN" altLang="en-US" sz="2400" dirty="0">
                <a:sym typeface="+mn-ea"/>
              </a:rPr>
              <a:t>码的优化</a:t>
            </a:r>
            <a:r>
              <a:rPr lang="en-US" altLang="zh-CN" sz="2400" dirty="0">
                <a:sym typeface="+mn-ea"/>
              </a:rPr>
              <a:t>——LRC</a:t>
            </a:r>
            <a:endParaRPr lang="zh-CN" altLang="en-US" sz="2400" dirty="0">
              <a:sym typeface="+mn-ea"/>
            </a:endParaRPr>
          </a:p>
        </p:txBody>
      </p:sp>
      <p:sp>
        <p:nvSpPr>
          <p:cNvPr id="9" name="文本框 8"/>
          <p:cNvSpPr txBox="1"/>
          <p:nvPr/>
        </p:nvSpPr>
        <p:spPr>
          <a:xfrm>
            <a:off x="410375" y="990664"/>
            <a:ext cx="8323245" cy="1424621"/>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sz="2000" dirty="0">
                <a:solidFill>
                  <a:srgbClr val="121212"/>
                </a:solidFill>
                <a:latin typeface="Marlett" charset="0"/>
              </a:rPr>
              <a:t>         另外，有一点要特别注意，</a:t>
            </a:r>
            <a:r>
              <a:rPr lang="en-US" altLang="zh-CN" sz="2000" dirty="0">
                <a:solidFill>
                  <a:srgbClr val="121212"/>
                </a:solidFill>
                <a:latin typeface="Marlett" charset="0"/>
              </a:rPr>
              <a:t>LRC</a:t>
            </a:r>
            <a:r>
              <a:rPr lang="zh-CN" altLang="en-US" sz="2000" dirty="0">
                <a:solidFill>
                  <a:srgbClr val="121212"/>
                </a:solidFill>
                <a:latin typeface="Marlett" charset="0"/>
              </a:rPr>
              <a:t>并不是</a:t>
            </a:r>
            <a:r>
              <a:rPr lang="en-US" altLang="zh-CN" sz="2000" dirty="0">
                <a:solidFill>
                  <a:srgbClr val="121212"/>
                </a:solidFill>
                <a:latin typeface="Marlett" charset="0"/>
              </a:rPr>
              <a:t>100%</a:t>
            </a:r>
            <a:r>
              <a:rPr lang="zh-CN" altLang="en-US" sz="2000" dirty="0">
                <a:solidFill>
                  <a:srgbClr val="121212"/>
                </a:solidFill>
                <a:latin typeface="Marlett" charset="0"/>
              </a:rPr>
              <a:t>不丢数据的，</a:t>
            </a:r>
            <a:r>
              <a:rPr lang="en-US" altLang="zh-CN" sz="2000" dirty="0">
                <a:solidFill>
                  <a:srgbClr val="121212"/>
                </a:solidFill>
                <a:latin typeface="Marlett" charset="0"/>
              </a:rPr>
              <a:t>4</a:t>
            </a:r>
            <a:r>
              <a:rPr lang="zh-CN" altLang="en-US" sz="2000" dirty="0">
                <a:solidFill>
                  <a:srgbClr val="121212"/>
                </a:solidFill>
                <a:latin typeface="Marlett" charset="0"/>
              </a:rPr>
              <a:t>个块坏掉的情况下，只有</a:t>
            </a:r>
            <a:r>
              <a:rPr lang="en-US" altLang="zh-CN" sz="2000" dirty="0">
                <a:solidFill>
                  <a:srgbClr val="121212"/>
                </a:solidFill>
                <a:latin typeface="Marlett" charset="0"/>
              </a:rPr>
              <a:t>86%</a:t>
            </a:r>
            <a:r>
              <a:rPr lang="zh-CN" altLang="en-US" sz="2000" dirty="0">
                <a:solidFill>
                  <a:srgbClr val="121212"/>
                </a:solidFill>
                <a:latin typeface="Marlett" charset="0"/>
              </a:rPr>
              <a:t>的几率能找回数据，从可靠性排序来说，</a:t>
            </a:r>
            <a:r>
              <a:rPr lang="en-US" altLang="zh-CN" sz="2000" dirty="0">
                <a:solidFill>
                  <a:srgbClr val="121212"/>
                </a:solidFill>
                <a:latin typeface="Marlett" charset="0"/>
              </a:rPr>
              <a:t>RS(12,4) &gt; LRC(12,2,2) &gt; RS(6,3)</a:t>
            </a:r>
            <a:r>
              <a:rPr lang="zh-CN" altLang="en-US" sz="2000" dirty="0">
                <a:solidFill>
                  <a:srgbClr val="121212"/>
                </a:solidFill>
                <a:latin typeface="Marlett" charset="0"/>
              </a:rPr>
              <a:t>。</a:t>
            </a:r>
            <a:endParaRPr lang="en-US" altLang="zh-CN" dirty="0">
              <a:solidFill>
                <a:srgbClr val="121212"/>
              </a:solidFill>
              <a:latin typeface="Marlett" charset="0"/>
            </a:endParaRPr>
          </a:p>
        </p:txBody>
      </p:sp>
      <p:grpSp>
        <p:nvGrpSpPr>
          <p:cNvPr id="3" name="组合 2"/>
          <p:cNvGrpSpPr/>
          <p:nvPr/>
        </p:nvGrpSpPr>
        <p:grpSpPr>
          <a:xfrm>
            <a:off x="921859" y="2895614"/>
            <a:ext cx="7300275" cy="3903031"/>
            <a:chOff x="921859" y="2895614"/>
            <a:chExt cx="7300275" cy="3903031"/>
          </a:xfrm>
        </p:grpSpPr>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21859" y="2895614"/>
              <a:ext cx="7300275" cy="3184559"/>
            </a:xfrm>
            <a:prstGeom prst="rect">
              <a:avLst/>
            </a:prstGeom>
          </p:spPr>
        </p:pic>
        <p:sp>
          <p:nvSpPr>
            <p:cNvPr id="5" name="文本框 4"/>
            <p:cNvSpPr txBox="1"/>
            <p:nvPr/>
          </p:nvSpPr>
          <p:spPr>
            <a:xfrm>
              <a:off x="3839225" y="6308767"/>
              <a:ext cx="1465545"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sym typeface="+mn-ea"/>
                </a:rPr>
                <a:t>LRC</a:t>
              </a:r>
              <a:r>
                <a:rPr lang="zh-CN" altLang="en-US" sz="1800" dirty="0">
                  <a:sym typeface="+mn-ea"/>
                </a:rPr>
                <a:t>原理图</a:t>
              </a:r>
              <a:endParaRPr lang="zh-CN" altLang="en-US" sz="1800" dirty="0">
                <a:sym typeface="+mn-ea"/>
              </a:endParaRPr>
            </a:p>
          </p:txBody>
        </p:sp>
      </p:gr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LRC</a:t>
            </a:r>
            <a:r>
              <a:rPr lang="zh-CN" altLang="en-US" sz="2400" dirty="0">
                <a:sym typeface="+mn-ea"/>
              </a:rPr>
              <a:t>的应用</a:t>
            </a:r>
            <a:endParaRPr lang="zh-CN" altLang="en-US" sz="2400" dirty="0">
              <a:sym typeface="+mn-ea"/>
            </a:endParaRPr>
          </a:p>
        </p:txBody>
      </p:sp>
      <p:sp>
        <p:nvSpPr>
          <p:cNvPr id="9" name="文本框 8"/>
          <p:cNvSpPr txBox="1"/>
          <p:nvPr/>
        </p:nvSpPr>
        <p:spPr>
          <a:xfrm>
            <a:off x="410377" y="1075839"/>
            <a:ext cx="8323245" cy="1424621"/>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zh-CN" altLang="en-US" dirty="0">
                <a:solidFill>
                  <a:srgbClr val="121212"/>
                </a:solidFill>
                <a:latin typeface="Marlett" charset="0"/>
              </a:rPr>
              <a:t>          同样为减少数据恢复的网络</a:t>
            </a:r>
            <a:r>
              <a:rPr lang="en-US" altLang="zh-CN" dirty="0">
                <a:solidFill>
                  <a:srgbClr val="121212"/>
                </a:solidFill>
                <a:latin typeface="Marlett" charset="0"/>
              </a:rPr>
              <a:t>I/O</a:t>
            </a:r>
            <a:r>
              <a:rPr lang="zh-CN" altLang="en-US" dirty="0">
                <a:solidFill>
                  <a:srgbClr val="121212"/>
                </a:solidFill>
                <a:latin typeface="Marlett" charset="0"/>
              </a:rPr>
              <a:t>代价</a:t>
            </a:r>
            <a:r>
              <a:rPr lang="en-US" altLang="zh-CN" dirty="0">
                <a:solidFill>
                  <a:srgbClr val="121212"/>
                </a:solidFill>
                <a:latin typeface="Marlett" charset="0"/>
              </a:rPr>
              <a:t>,</a:t>
            </a:r>
            <a:r>
              <a:rPr lang="en-US" altLang="zh-CN" dirty="0" err="1">
                <a:solidFill>
                  <a:srgbClr val="121212"/>
                </a:solidFill>
                <a:latin typeface="Marlett" charset="0"/>
              </a:rPr>
              <a:t>FaceBook</a:t>
            </a:r>
            <a:r>
              <a:rPr lang="zh-CN" altLang="en-US" dirty="0">
                <a:solidFill>
                  <a:srgbClr val="121212"/>
                </a:solidFill>
                <a:latin typeface="Marlett" charset="0"/>
              </a:rPr>
              <a:t>在</a:t>
            </a:r>
            <a:r>
              <a:rPr lang="en-US" altLang="zh-CN" dirty="0">
                <a:solidFill>
                  <a:srgbClr val="121212"/>
                </a:solidFill>
                <a:latin typeface="Marlett" charset="0"/>
              </a:rPr>
              <a:t>2013</a:t>
            </a:r>
            <a:r>
              <a:rPr lang="zh-CN" altLang="en-US" dirty="0">
                <a:solidFill>
                  <a:srgbClr val="121212"/>
                </a:solidFill>
                <a:latin typeface="Marlett" charset="0"/>
              </a:rPr>
              <a:t>年和加州大学共同发表了论文</a:t>
            </a:r>
            <a:r>
              <a:rPr lang="en-US" altLang="zh-CN" dirty="0">
                <a:solidFill>
                  <a:srgbClr val="121212"/>
                </a:solidFill>
                <a:latin typeface="Marlett" charset="0"/>
              </a:rPr>
              <a:t>——XORing Elephants: Novel Erasure Code for Big Data</a:t>
            </a:r>
            <a:r>
              <a:rPr lang="zh-CN" altLang="en-US" dirty="0">
                <a:solidFill>
                  <a:srgbClr val="121212"/>
                </a:solidFill>
                <a:latin typeface="Marlett" charset="0"/>
              </a:rPr>
              <a:t>，并把这一成果用在“进阶版</a:t>
            </a:r>
            <a:r>
              <a:rPr lang="en-US" altLang="zh-CN" dirty="0">
                <a:solidFill>
                  <a:srgbClr val="121212"/>
                </a:solidFill>
                <a:latin typeface="Marlett" charset="0"/>
              </a:rPr>
              <a:t>HDFS</a:t>
            </a:r>
            <a:r>
              <a:rPr lang="en-US" altLang="zh-CN" dirty="0">
                <a:solidFill>
                  <a:srgbClr val="121212"/>
                </a:solidFill>
                <a:latin typeface="黑体" panose="02010609060101010101" pitchFamily="49" charset="-122"/>
              </a:rPr>
              <a:t>”</a:t>
            </a:r>
            <a:r>
              <a:rPr lang="zh-CN" altLang="en-US" dirty="0">
                <a:solidFill>
                  <a:srgbClr val="121212"/>
                </a:solidFill>
                <a:latin typeface="Marlett" charset="0"/>
              </a:rPr>
              <a:t>上。</a:t>
            </a:r>
            <a:endParaRPr lang="zh-CN" altLang="en-US" dirty="0">
              <a:solidFill>
                <a:srgbClr val="121212"/>
              </a:solidFill>
              <a:latin typeface="Marlett" charset="0"/>
            </a:endParaRPr>
          </a:p>
        </p:txBody>
      </p:sp>
      <p:grpSp>
        <p:nvGrpSpPr>
          <p:cNvPr id="5" name="组合 4"/>
          <p:cNvGrpSpPr/>
          <p:nvPr/>
        </p:nvGrpSpPr>
        <p:grpSpPr>
          <a:xfrm>
            <a:off x="870652" y="2971812"/>
            <a:ext cx="7402694" cy="2937585"/>
            <a:chOff x="870652" y="2971812"/>
            <a:chExt cx="7402694" cy="2937585"/>
          </a:xfrm>
        </p:grpSpPr>
        <p:grpSp>
          <p:nvGrpSpPr>
            <p:cNvPr id="4" name="组合 3"/>
            <p:cNvGrpSpPr/>
            <p:nvPr/>
          </p:nvGrpSpPr>
          <p:grpSpPr>
            <a:xfrm>
              <a:off x="870652" y="2971812"/>
              <a:ext cx="7402694" cy="2425129"/>
              <a:chOff x="2238374" y="2832623"/>
              <a:chExt cx="4771962" cy="1476375"/>
            </a:xfrm>
          </p:grpSpPr>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38374" y="2832623"/>
                <a:ext cx="4667250" cy="1476375"/>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5867366" y="3962386"/>
                <a:ext cx="1142970" cy="2285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3758006" y="5419519"/>
              <a:ext cx="1728370"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sym typeface="+mn-ea"/>
                </a:rPr>
                <a:t>LRC</a:t>
              </a:r>
              <a:r>
                <a:rPr lang="zh-CN" altLang="en-US" sz="1800" dirty="0">
                  <a:sym typeface="+mn-ea"/>
                </a:rPr>
                <a:t>应用示例</a:t>
              </a:r>
              <a:endParaRPr lang="zh-CN" altLang="en-US" sz="1800" dirty="0">
                <a:sym typeface="+mn-ea"/>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LRC</a:t>
            </a:r>
            <a:r>
              <a:rPr lang="zh-CN" altLang="en-US" sz="2400" dirty="0">
                <a:sym typeface="+mn-ea"/>
              </a:rPr>
              <a:t>的应用</a:t>
            </a:r>
            <a:endParaRPr lang="zh-CN" altLang="en-US" sz="2400" dirty="0">
              <a:sym typeface="+mn-ea"/>
            </a:endParaRPr>
          </a:p>
        </p:txBody>
      </p:sp>
      <p:sp>
        <p:nvSpPr>
          <p:cNvPr id="11" name="文本框 10"/>
          <p:cNvSpPr txBox="1"/>
          <p:nvPr/>
        </p:nvSpPr>
        <p:spPr>
          <a:xfrm>
            <a:off x="152456" y="3809990"/>
            <a:ext cx="8839088" cy="2347950"/>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gn="l">
              <a:lnSpc>
                <a:spcPts val="3600"/>
              </a:lnSpc>
            </a:pPr>
            <a:r>
              <a:rPr lang="zh-CN" altLang="en-US" b="0" i="0" dirty="0">
                <a:solidFill>
                  <a:srgbClr val="121212"/>
                </a:solidFill>
                <a:effectLst/>
                <a:latin typeface="Marlett" charset="0"/>
              </a:rPr>
              <a:t>         从</a:t>
            </a:r>
            <a:r>
              <a:rPr lang="en-US" altLang="zh-CN" b="0" i="0" dirty="0">
                <a:solidFill>
                  <a:srgbClr val="121212"/>
                </a:solidFill>
                <a:effectLst/>
                <a:latin typeface="Marlett" charset="0"/>
              </a:rPr>
              <a:t>10</a:t>
            </a:r>
            <a:r>
              <a:rPr lang="zh-CN" altLang="en-US" b="0" i="0" dirty="0">
                <a:solidFill>
                  <a:srgbClr val="121212"/>
                </a:solidFill>
                <a:effectLst/>
                <a:latin typeface="Marlett" charset="0"/>
              </a:rPr>
              <a:t>个原始数据块计算出</a:t>
            </a:r>
            <a:r>
              <a:rPr lang="en-US" altLang="zh-CN" b="0" i="0" dirty="0">
                <a:solidFill>
                  <a:srgbClr val="121212"/>
                </a:solidFill>
                <a:effectLst/>
                <a:latin typeface="Marlett" charset="0"/>
              </a:rPr>
              <a:t>4</a:t>
            </a:r>
            <a:r>
              <a:rPr lang="zh-CN" altLang="en-US" b="0" i="0" dirty="0">
                <a:solidFill>
                  <a:srgbClr val="121212"/>
                </a:solidFill>
                <a:effectLst/>
                <a:latin typeface="Marlett" charset="0"/>
              </a:rPr>
              <a:t>个校验块。将</a:t>
            </a:r>
            <a:r>
              <a:rPr lang="en-US" altLang="zh-CN" b="0" i="0" dirty="0">
                <a:solidFill>
                  <a:srgbClr val="121212"/>
                </a:solidFill>
                <a:effectLst/>
                <a:latin typeface="Marlett" charset="0"/>
              </a:rPr>
              <a:t>10</a:t>
            </a:r>
            <a:r>
              <a:rPr lang="zh-CN" altLang="en-US" b="0" i="0" dirty="0">
                <a:solidFill>
                  <a:srgbClr val="121212"/>
                </a:solidFill>
                <a:effectLst/>
                <a:latin typeface="Marlett" charset="0"/>
              </a:rPr>
              <a:t>个数据块均分为</a:t>
            </a:r>
            <a:r>
              <a:rPr lang="en-US" altLang="zh-CN" b="0" i="0" dirty="0">
                <a:solidFill>
                  <a:srgbClr val="121212"/>
                </a:solidFill>
                <a:effectLst/>
                <a:latin typeface="Marlett" charset="0"/>
              </a:rPr>
              <a:t>2</a:t>
            </a:r>
            <a:r>
              <a:rPr lang="zh-CN" altLang="en-US" b="0" i="0" dirty="0">
                <a:solidFill>
                  <a:srgbClr val="121212"/>
                </a:solidFill>
                <a:effectLst/>
                <a:latin typeface="Marlett" charset="0"/>
              </a:rPr>
              <a:t>组，每组单独计算出一个局部校验块</a:t>
            </a:r>
            <a:r>
              <a:rPr lang="en-US" altLang="zh-CN" b="0" i="0" dirty="0">
                <a:solidFill>
                  <a:srgbClr val="121212"/>
                </a:solidFill>
                <a:effectLst/>
                <a:latin typeface="Marlett" charset="0"/>
              </a:rPr>
              <a:t>(Parity</a:t>
            </a:r>
            <a:r>
              <a:rPr lang="en-US" altLang="zh-CN" dirty="0">
                <a:solidFill>
                  <a:srgbClr val="121212"/>
                </a:solidFill>
                <a:latin typeface="Marlett" charset="0"/>
              </a:rPr>
              <a:t>)</a:t>
            </a:r>
            <a:r>
              <a:rPr lang="zh-CN" altLang="en-US" b="0" i="0" dirty="0">
                <a:solidFill>
                  <a:srgbClr val="121212"/>
                </a:solidFill>
                <a:effectLst/>
                <a:latin typeface="Marlett" charset="0"/>
              </a:rPr>
              <a:t>数据恢复代价降低一倍，即恢复任何一个数据块错误只进行</a:t>
            </a:r>
            <a:r>
              <a:rPr lang="en-US" altLang="zh-CN" b="0" i="0" dirty="0">
                <a:solidFill>
                  <a:srgbClr val="121212"/>
                </a:solidFill>
                <a:effectLst/>
                <a:latin typeface="Marlett" charset="0"/>
              </a:rPr>
              <a:t>5</a:t>
            </a:r>
            <a:r>
              <a:rPr lang="zh-CN" altLang="en-US" b="0" i="0" dirty="0">
                <a:solidFill>
                  <a:srgbClr val="121212"/>
                </a:solidFill>
                <a:effectLst/>
                <a:latin typeface="Marlett" charset="0"/>
              </a:rPr>
              <a:t>次网络</a:t>
            </a:r>
            <a:r>
              <a:rPr lang="en-US" altLang="zh-CN" b="0" i="0" dirty="0">
                <a:solidFill>
                  <a:srgbClr val="121212"/>
                </a:solidFill>
                <a:effectLst/>
                <a:latin typeface="Marlett" charset="0"/>
              </a:rPr>
              <a:t>I/O</a:t>
            </a:r>
            <a:r>
              <a:rPr lang="zh-CN" altLang="en-US" b="0" i="0" dirty="0">
                <a:solidFill>
                  <a:srgbClr val="121212"/>
                </a:solidFill>
                <a:effectLst/>
                <a:latin typeface="Marlett" charset="0"/>
              </a:rPr>
              <a:t>，从网络传输</a:t>
            </a:r>
            <a:r>
              <a:rPr lang="en-US" altLang="zh-CN" b="0" i="0" dirty="0">
                <a:solidFill>
                  <a:srgbClr val="121212"/>
                </a:solidFill>
                <a:effectLst/>
                <a:latin typeface="Marlett" charset="0"/>
              </a:rPr>
              <a:t>5</a:t>
            </a:r>
            <a:r>
              <a:rPr lang="zh-CN" altLang="en-US" b="0" i="0" dirty="0">
                <a:solidFill>
                  <a:srgbClr val="121212"/>
                </a:solidFill>
                <a:effectLst/>
                <a:latin typeface="Marlett" charset="0"/>
              </a:rPr>
              <a:t>个数据块。</a:t>
            </a:r>
            <a:endParaRPr lang="zh-CN" altLang="en-US" b="0" i="0" dirty="0">
              <a:solidFill>
                <a:srgbClr val="121212"/>
              </a:solidFill>
              <a:effectLst/>
              <a:latin typeface="Marlett" charset="0"/>
            </a:endParaRPr>
          </a:p>
          <a:p>
            <a:pPr algn="l">
              <a:lnSpc>
                <a:spcPts val="3600"/>
              </a:lnSpc>
            </a:pPr>
            <a:r>
              <a:rPr lang="zh-CN" altLang="en-US" b="0" i="0" dirty="0">
                <a:solidFill>
                  <a:srgbClr val="121212"/>
                </a:solidFill>
                <a:effectLst/>
                <a:latin typeface="Marlett" charset="0"/>
              </a:rPr>
              <a:t>        数据冗余度为</a:t>
            </a:r>
            <a:r>
              <a:rPr lang="en-US" altLang="zh-CN" b="0" i="0" dirty="0">
                <a:solidFill>
                  <a:srgbClr val="121212"/>
                </a:solidFill>
                <a:effectLst/>
                <a:latin typeface="Marlett" charset="0"/>
              </a:rPr>
              <a:t>(10+4+2</a:t>
            </a:r>
            <a:r>
              <a:rPr lang="en-US" altLang="zh-CN" dirty="0">
                <a:solidFill>
                  <a:srgbClr val="121212"/>
                </a:solidFill>
                <a:latin typeface="Marlett" charset="0"/>
              </a:rPr>
              <a:t>)</a:t>
            </a:r>
            <a:r>
              <a:rPr lang="en-US" altLang="zh-CN" b="0" i="0" dirty="0">
                <a:solidFill>
                  <a:srgbClr val="121212"/>
                </a:solidFill>
                <a:effectLst/>
                <a:latin typeface="Marlett" charset="0"/>
              </a:rPr>
              <a:t>/10 = 1.6</a:t>
            </a:r>
            <a:endParaRPr lang="en-US" altLang="zh-CN" b="0" i="0" dirty="0">
              <a:solidFill>
                <a:srgbClr val="121212"/>
              </a:solidFill>
              <a:effectLst/>
              <a:latin typeface="Marlett" charset="0"/>
            </a:endParaRPr>
          </a:p>
          <a:p>
            <a:pPr algn="l">
              <a:lnSpc>
                <a:spcPts val="3600"/>
              </a:lnSpc>
            </a:pPr>
            <a:r>
              <a:rPr lang="zh-CN" altLang="en-US" b="0" i="0" dirty="0">
                <a:solidFill>
                  <a:srgbClr val="121212"/>
                </a:solidFill>
                <a:effectLst/>
                <a:latin typeface="Marlett" charset="0"/>
              </a:rPr>
              <a:t>        </a:t>
            </a:r>
            <a:r>
              <a:rPr lang="zh-CN" altLang="en-US" b="0" i="0" dirty="0">
                <a:solidFill>
                  <a:srgbClr val="FF0000"/>
                </a:solidFill>
                <a:effectLst/>
                <a:latin typeface="Marlett" charset="0"/>
              </a:rPr>
              <a:t>本质上，以更高的数据冗余度来换取更小的数据恢复代价。</a:t>
            </a:r>
            <a:endParaRPr lang="zh-CN" altLang="en-US" b="0" i="0" dirty="0">
              <a:solidFill>
                <a:srgbClr val="FF0000"/>
              </a:solidFill>
              <a:effectLst/>
              <a:latin typeface="Marlett" charset="0"/>
            </a:endParaRPr>
          </a:p>
        </p:txBody>
      </p:sp>
      <p:grpSp>
        <p:nvGrpSpPr>
          <p:cNvPr id="5" name="组合 4"/>
          <p:cNvGrpSpPr/>
          <p:nvPr/>
        </p:nvGrpSpPr>
        <p:grpSpPr>
          <a:xfrm>
            <a:off x="870653" y="1143060"/>
            <a:ext cx="7402694" cy="2425129"/>
            <a:chOff x="870653" y="1143060"/>
            <a:chExt cx="7402694" cy="2425129"/>
          </a:xfrm>
        </p:grpSpPr>
        <p:grpSp>
          <p:nvGrpSpPr>
            <p:cNvPr id="4" name="组合 3"/>
            <p:cNvGrpSpPr/>
            <p:nvPr/>
          </p:nvGrpSpPr>
          <p:grpSpPr>
            <a:xfrm>
              <a:off x="870653" y="1143060"/>
              <a:ext cx="7402694" cy="2425129"/>
              <a:chOff x="2238374" y="2832623"/>
              <a:chExt cx="4771962" cy="1476375"/>
            </a:xfrm>
          </p:grpSpPr>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38374" y="2832623"/>
                <a:ext cx="4667250" cy="1476375"/>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5867366" y="3962386"/>
                <a:ext cx="1142970" cy="2285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6351628" y="2884452"/>
              <a:ext cx="1728370" cy="489878"/>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nSpc>
                  <a:spcPts val="3600"/>
                </a:lnSpc>
              </a:pPr>
              <a:r>
                <a:rPr lang="en-US" altLang="zh-CN" sz="1800" dirty="0">
                  <a:sym typeface="+mn-ea"/>
                </a:rPr>
                <a:t>LRC</a:t>
              </a:r>
              <a:r>
                <a:rPr lang="zh-CN" altLang="en-US" sz="1800" dirty="0">
                  <a:sym typeface="+mn-ea"/>
                </a:rPr>
                <a:t>应用示例</a:t>
              </a:r>
              <a:endParaRPr lang="zh-CN" altLang="en-US" sz="1800" dirty="0">
                <a:sym typeface="+mn-ea"/>
              </a:endParaRPr>
            </a:p>
          </p:txBody>
        </p:sp>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400752" y="104775"/>
            <a:ext cx="2552113" cy="685800"/>
          </a:xfrm>
        </p:spPr>
        <p:txBody>
          <a:bodyPr vert="horz" wrap="square" lIns="91440" tIns="45720" rIns="91440" bIns="45720" anchor="ctr"/>
          <a:lstStyle/>
          <a:p>
            <a:r>
              <a:rPr lang="en-US" altLang="zh-CN" sz="2400" dirty="0"/>
              <a:t>EC</a:t>
            </a:r>
            <a:r>
              <a:rPr lang="zh-CN" altLang="en-US" sz="2400" dirty="0"/>
              <a:t>码的仿真</a:t>
            </a:r>
            <a:endParaRPr lang="zh-CN" altLang="en-US" sz="24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9" name="AutoShape 50"/>
          <p:cNvSpPr>
            <a:spLocks noChangeArrowheads="1"/>
          </p:cNvSpPr>
          <p:nvPr/>
        </p:nvSpPr>
        <p:spPr bwMode="gray">
          <a:xfrm>
            <a:off x="2667050" y="4572634"/>
            <a:ext cx="5486400" cy="647065"/>
          </a:xfrm>
          <a:prstGeom prst="roundRect">
            <a:avLst>
              <a:gd name="adj" fmla="val 50000"/>
            </a:avLst>
          </a:prstGeom>
          <a:noFill/>
          <a:ln w="28575" algn="ctr">
            <a:solidFill>
              <a:srgbClr val="C0C0C0"/>
            </a:solidFill>
            <a:round/>
          </a:ln>
          <a:effectLst/>
        </p:spPr>
        <p:txBody>
          <a:bodyPr wrap="none" anchor="ctr"/>
          <a:lstStyle/>
          <a:p>
            <a:pPr marR="0" lvl="0" rtl="0">
              <a:buClrTx/>
              <a:buSzTx/>
              <a:defRPr/>
            </a:pPr>
            <a:r>
              <a:rPr lang="en-US" altLang="zh-CN" sz="2800" kern="0" dirty="0">
                <a:solidFill>
                  <a:srgbClr val="000000"/>
                </a:solidFill>
                <a:latin typeface="+mn-lt"/>
                <a:ea typeface="+mn-ea"/>
                <a:cs typeface="+mn-cs"/>
                <a:sym typeface="+mn-ea"/>
              </a:rPr>
              <a:t>LT</a:t>
            </a:r>
            <a:r>
              <a:rPr lang="zh-CN" altLang="en-US" sz="2800" kern="0" dirty="0">
                <a:solidFill>
                  <a:srgbClr val="000000"/>
                </a:solidFill>
                <a:latin typeface="+mn-lt"/>
                <a:ea typeface="+mn-ea"/>
                <a:cs typeface="+mn-cs"/>
                <a:sym typeface="+mn-ea"/>
              </a:rPr>
              <a:t>码的仿真</a:t>
            </a:r>
            <a:r>
              <a:rPr lang="en-US" altLang="zh-CN" sz="2800" kern="0" dirty="0">
                <a:solidFill>
                  <a:srgbClr val="000000"/>
                </a:solidFill>
                <a:latin typeface="+mn-lt"/>
                <a:ea typeface="+mn-ea"/>
                <a:cs typeface="+mn-cs"/>
                <a:sym typeface="+mn-ea"/>
              </a:rPr>
              <a:t>(</a:t>
            </a:r>
            <a:r>
              <a:rPr lang="en-US" altLang="zh-CN" sz="2800" kern="0" dirty="0" err="1">
                <a:solidFill>
                  <a:srgbClr val="000000"/>
                </a:solidFill>
                <a:latin typeface="+mn-lt"/>
                <a:ea typeface="+mn-ea"/>
                <a:cs typeface="+mn-cs"/>
                <a:sym typeface="+mn-ea"/>
              </a:rPr>
              <a:t>Matlab</a:t>
            </a:r>
            <a:r>
              <a:rPr lang="en-US" altLang="zh-CN" sz="2800" kern="0" dirty="0">
                <a:solidFill>
                  <a:srgbClr val="000000"/>
                </a:solidFill>
                <a:latin typeface="+mn-lt"/>
                <a:ea typeface="+mn-ea"/>
                <a:cs typeface="+mn-cs"/>
                <a:sym typeface="+mn-ea"/>
              </a:rPr>
              <a:t>)</a:t>
            </a:r>
            <a:endParaRPr lang="zh-CN" altLang="en-US" sz="2800" kern="0" dirty="0">
              <a:solidFill>
                <a:srgbClr val="000000"/>
              </a:solidFill>
              <a:latin typeface="+mn-lt"/>
              <a:ea typeface="+mn-ea"/>
              <a:cs typeface="+mn-cs"/>
              <a:sym typeface="+mn-ea"/>
            </a:endParaRPr>
          </a:p>
        </p:txBody>
      </p:sp>
      <p:sp>
        <p:nvSpPr>
          <p:cNvPr id="11" name="AutoShape 52"/>
          <p:cNvSpPr>
            <a:spLocks noChangeArrowheads="1"/>
          </p:cNvSpPr>
          <p:nvPr/>
        </p:nvSpPr>
        <p:spPr bwMode="gray">
          <a:xfrm>
            <a:off x="2667050" y="2688056"/>
            <a:ext cx="5866478" cy="675005"/>
          </a:xfrm>
          <a:prstGeom prst="roundRect">
            <a:avLst>
              <a:gd name="adj" fmla="val 50000"/>
            </a:avLst>
          </a:prstGeom>
          <a:noFill/>
          <a:ln w="28575" algn="ctr">
            <a:solidFill>
              <a:srgbClr val="C0C0C0"/>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en-US" altLang="zh-CN" sz="2800" kern="0" dirty="0">
                <a:solidFill>
                  <a:srgbClr val="000000"/>
                </a:solidFill>
                <a:latin typeface="+mn-lt"/>
                <a:ea typeface="+mn-ea"/>
                <a:cs typeface="+mn-cs"/>
              </a:rPr>
              <a:t>EVENODD</a:t>
            </a:r>
            <a:r>
              <a:rPr lang="zh-CN" altLang="en-US" sz="2800" kern="0" dirty="0">
                <a:solidFill>
                  <a:srgbClr val="000000"/>
                </a:solidFill>
                <a:latin typeface="+mn-lt"/>
                <a:ea typeface="+mn-ea"/>
                <a:cs typeface="+mn-cs"/>
              </a:rPr>
              <a:t>码的仿真</a:t>
            </a:r>
            <a:r>
              <a:rPr lang="en-US" altLang="zh-CN" sz="2800" kern="0" dirty="0">
                <a:solidFill>
                  <a:srgbClr val="000000"/>
                </a:solidFill>
                <a:latin typeface="+mn-lt"/>
                <a:ea typeface="+mn-ea"/>
                <a:cs typeface="+mn-cs"/>
              </a:rPr>
              <a:t>(Java)</a:t>
            </a:r>
            <a:endParaRPr lang="zh-CN" altLang="en-US" sz="2800" kern="0" dirty="0">
              <a:solidFill>
                <a:srgbClr val="000000"/>
              </a:solidFill>
              <a:latin typeface="+mn-lt"/>
              <a:ea typeface="+mn-ea"/>
              <a:cs typeface="+mn-cs"/>
            </a:endParaRPr>
          </a:p>
        </p:txBody>
      </p:sp>
      <p:grpSp>
        <p:nvGrpSpPr>
          <p:cNvPr id="8202" name="Group 53"/>
          <p:cNvGrpSpPr/>
          <p:nvPr/>
        </p:nvGrpSpPr>
        <p:grpSpPr>
          <a:xfrm>
            <a:off x="1956947" y="2835059"/>
            <a:ext cx="381000" cy="381000"/>
            <a:chOff x="2078" y="1680"/>
            <a:chExt cx="1615" cy="1615"/>
          </a:xfrm>
        </p:grpSpPr>
        <p:sp>
          <p:nvSpPr>
            <p:cNvPr id="1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4" name="Group 67"/>
          <p:cNvGrpSpPr/>
          <p:nvPr/>
        </p:nvGrpSpPr>
        <p:grpSpPr>
          <a:xfrm>
            <a:off x="1937534" y="4705667"/>
            <a:ext cx="381000" cy="381000"/>
            <a:chOff x="2078" y="1680"/>
            <a:chExt cx="1615" cy="1615"/>
          </a:xfrm>
        </p:grpSpPr>
        <p:sp>
          <p:nvSpPr>
            <p:cNvPr id="2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EVENODD</a:t>
            </a:r>
            <a:r>
              <a:rPr lang="zh-CN" altLang="en-US" sz="2400" dirty="0">
                <a:sym typeface="+mn-ea"/>
              </a:rPr>
              <a:t>码的编码仿真</a:t>
            </a:r>
            <a:endParaRPr lang="zh-CN" altLang="en-US" sz="2400" dirty="0">
              <a:sym typeface="+mn-ea"/>
            </a:endParaRPr>
          </a:p>
        </p:txBody>
      </p:sp>
      <p:sp>
        <p:nvSpPr>
          <p:cNvPr id="12" name="文本框 11"/>
          <p:cNvSpPr txBox="1"/>
          <p:nvPr/>
        </p:nvSpPr>
        <p:spPr>
          <a:xfrm>
            <a:off x="309063" y="914466"/>
            <a:ext cx="8647953" cy="5568191"/>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gn="l">
              <a:lnSpc>
                <a:spcPts val="3600"/>
              </a:lnSpc>
            </a:pPr>
            <a:r>
              <a:rPr lang="en-US" altLang="zh-CN" sz="1800" b="1" dirty="0">
                <a:latin typeface="+mn-lt"/>
                <a:ea typeface="+mn-ea"/>
              </a:rPr>
              <a:t>protect void </a:t>
            </a:r>
            <a:r>
              <a:rPr lang="en-US" altLang="zh-CN" sz="1800" dirty="0">
                <a:latin typeface="+mn-lt"/>
                <a:ea typeface="+mn-ea"/>
              </a:rPr>
              <a:t>encode(){</a:t>
            </a:r>
            <a:endParaRPr lang="en-US" altLang="zh-CN" sz="1800" dirty="0">
              <a:latin typeface="+mn-lt"/>
              <a:ea typeface="+mn-ea"/>
            </a:endParaRPr>
          </a:p>
          <a:p>
            <a:pPr algn="l">
              <a:lnSpc>
                <a:spcPts val="3600"/>
              </a:lnSpc>
            </a:pPr>
            <a:r>
              <a:rPr lang="en-US" altLang="zh-CN" sz="1800" b="1" dirty="0">
                <a:latin typeface="+mn-lt"/>
                <a:ea typeface="+mn-ea"/>
              </a:rPr>
              <a:t>        int</a:t>
            </a:r>
            <a:r>
              <a:rPr lang="en-US" altLang="zh-CN" sz="1800" dirty="0">
                <a:latin typeface="+mn-lt"/>
                <a:ea typeface="+mn-ea"/>
              </a:rPr>
              <a:t> [][]dataCache,tempMatrix1,tempMatrix2;</a:t>
            </a:r>
            <a:endParaRPr lang="en-US" altLang="zh-CN" sz="1800" dirty="0">
              <a:latin typeface="+mn-lt"/>
              <a:ea typeface="+mn-ea"/>
            </a:endParaRPr>
          </a:p>
          <a:p>
            <a:pPr algn="l">
              <a:lnSpc>
                <a:spcPts val="3600"/>
              </a:lnSpc>
            </a:pPr>
            <a:r>
              <a:rPr lang="en-US" altLang="zh-CN" sz="1800" dirty="0">
                <a:latin typeface="+mn-lt"/>
                <a:ea typeface="+mn-ea"/>
              </a:rPr>
              <a:t>        tempMatrix1 = </a:t>
            </a:r>
            <a:r>
              <a:rPr lang="en-US" altLang="zh-CN" sz="1800" b="1" dirty="0">
                <a:latin typeface="+mn-lt"/>
                <a:ea typeface="+mn-ea"/>
              </a:rPr>
              <a:t>new int</a:t>
            </a:r>
            <a:r>
              <a:rPr lang="en-US" altLang="zh-CN" sz="1800" dirty="0">
                <a:latin typeface="+mn-lt"/>
                <a:ea typeface="+mn-ea"/>
              </a:rPr>
              <a:t>[</a:t>
            </a:r>
            <a:r>
              <a:rPr lang="en-US" altLang="zh-CN" sz="1800" dirty="0" err="1">
                <a:latin typeface="+mn-lt"/>
                <a:ea typeface="+mn-ea"/>
              </a:rPr>
              <a:t>tempMemory</a:t>
            </a:r>
            <a:r>
              <a:rPr lang="en-US" altLang="zh-CN" sz="1800" dirty="0">
                <a:latin typeface="+mn-lt"/>
                <a:ea typeface="+mn-ea"/>
              </a:rPr>
              <a:t>[0].</a:t>
            </a:r>
            <a:r>
              <a:rPr lang="en-US" altLang="zh-CN" sz="1800" dirty="0" err="1">
                <a:latin typeface="+mn-lt"/>
                <a:ea typeface="+mn-ea"/>
              </a:rPr>
              <a:t>getColumn</a:t>
            </a:r>
            <a:r>
              <a:rPr lang="en-US" altLang="zh-CN" sz="1800" dirty="0">
                <a:latin typeface="+mn-lt"/>
                <a:ea typeface="+mn-ea"/>
              </a:rPr>
              <a:t>()][</a:t>
            </a:r>
            <a:r>
              <a:rPr lang="en-US" altLang="zh-CN" sz="1800" dirty="0" err="1">
                <a:latin typeface="+mn-lt"/>
                <a:ea typeface="+mn-ea"/>
              </a:rPr>
              <a:t>tempMenory</a:t>
            </a:r>
            <a:r>
              <a:rPr lang="en-US" altLang="zh-CN" sz="1800" dirty="0">
                <a:latin typeface="+mn-lt"/>
                <a:ea typeface="+mn-ea"/>
              </a:rPr>
              <a:t>[0].</a:t>
            </a:r>
            <a:r>
              <a:rPr lang="en-US" altLang="zh-CN" sz="1800" dirty="0" err="1">
                <a:latin typeface="+mn-lt"/>
                <a:ea typeface="+mn-ea"/>
              </a:rPr>
              <a:t>getRow</a:t>
            </a:r>
            <a:r>
              <a:rPr lang="en-US" altLang="zh-CN" sz="1800" dirty="0">
                <a:latin typeface="+mn-lt"/>
                <a:ea typeface="+mn-ea"/>
              </a:rPr>
              <a:t>()]; </a:t>
            </a:r>
            <a:endParaRPr lang="en-US" altLang="zh-CN" sz="1800" dirty="0">
              <a:latin typeface="+mn-lt"/>
              <a:ea typeface="+mn-ea"/>
            </a:endParaRPr>
          </a:p>
          <a:p>
            <a:pPr algn="l">
              <a:lnSpc>
                <a:spcPts val="3600"/>
              </a:lnSpc>
            </a:pPr>
            <a:r>
              <a:rPr lang="en-US" altLang="zh-CN" sz="1800" dirty="0">
                <a:latin typeface="+mn-lt"/>
                <a:ea typeface="+mn-ea"/>
              </a:rPr>
              <a:t>        //</a:t>
            </a:r>
            <a:r>
              <a:rPr lang="zh-CN" altLang="en-US" sz="1800" dirty="0">
                <a:latin typeface="+mn-lt"/>
                <a:ea typeface="+mn-ea"/>
              </a:rPr>
              <a:t>暂存运算过程中水平校验位的数据值的转置数据</a:t>
            </a:r>
            <a:endParaRPr lang="en-US" altLang="zh-CN" sz="1800" dirty="0">
              <a:latin typeface="+mn-lt"/>
              <a:ea typeface="+mn-ea"/>
            </a:endParaRPr>
          </a:p>
          <a:p>
            <a:pPr algn="l">
              <a:lnSpc>
                <a:spcPts val="3600"/>
              </a:lnSpc>
            </a:pPr>
            <a:r>
              <a:rPr lang="en-US" altLang="zh-CN" sz="1800" dirty="0">
                <a:latin typeface="+mn-lt"/>
                <a:ea typeface="+mn-ea"/>
              </a:rPr>
              <a:t>        tempMatrix2 = </a:t>
            </a:r>
            <a:r>
              <a:rPr lang="en-US" altLang="zh-CN" sz="1800" b="1" dirty="0">
                <a:latin typeface="+mn-lt"/>
                <a:ea typeface="+mn-ea"/>
              </a:rPr>
              <a:t>new int</a:t>
            </a:r>
            <a:r>
              <a:rPr lang="en-US" altLang="zh-CN" sz="1800" dirty="0">
                <a:latin typeface="+mn-lt"/>
                <a:ea typeface="+mn-ea"/>
              </a:rPr>
              <a:t>[</a:t>
            </a:r>
            <a:r>
              <a:rPr lang="en-US" altLang="zh-CN" sz="1800" dirty="0" err="1">
                <a:latin typeface="+mn-lt"/>
                <a:ea typeface="+mn-ea"/>
              </a:rPr>
              <a:t>tempMemory</a:t>
            </a:r>
            <a:r>
              <a:rPr lang="en-US" altLang="zh-CN" sz="1800" dirty="0">
                <a:latin typeface="+mn-lt"/>
                <a:ea typeface="+mn-ea"/>
              </a:rPr>
              <a:t>[0].</a:t>
            </a:r>
            <a:r>
              <a:rPr lang="en-US" altLang="zh-CN" sz="1800" dirty="0" err="1">
                <a:latin typeface="+mn-lt"/>
                <a:ea typeface="+mn-ea"/>
              </a:rPr>
              <a:t>getColumn</a:t>
            </a:r>
            <a:r>
              <a:rPr lang="en-US" altLang="zh-CN" sz="1800" dirty="0">
                <a:latin typeface="+mn-lt"/>
                <a:ea typeface="+mn-ea"/>
              </a:rPr>
              <a:t>()][</a:t>
            </a:r>
            <a:r>
              <a:rPr lang="en-US" altLang="zh-CN" sz="1800" dirty="0" err="1">
                <a:latin typeface="+mn-lt"/>
                <a:ea typeface="+mn-ea"/>
              </a:rPr>
              <a:t>tempMemory</a:t>
            </a:r>
            <a:r>
              <a:rPr lang="en-US" altLang="zh-CN" sz="1800" dirty="0">
                <a:latin typeface="+mn-lt"/>
                <a:ea typeface="+mn-ea"/>
              </a:rPr>
              <a:t>[0].</a:t>
            </a:r>
            <a:r>
              <a:rPr lang="en-US" altLang="zh-CN" sz="1800" dirty="0" err="1">
                <a:latin typeface="+mn-lt"/>
                <a:ea typeface="+mn-ea"/>
              </a:rPr>
              <a:t>getRow</a:t>
            </a:r>
            <a:r>
              <a:rPr lang="en-US" altLang="zh-CN" sz="1800" dirty="0">
                <a:latin typeface="+mn-lt"/>
                <a:ea typeface="+mn-ea"/>
              </a:rPr>
              <a:t>()];</a:t>
            </a:r>
            <a:endParaRPr lang="en-US" altLang="zh-CN" sz="1800" dirty="0">
              <a:latin typeface="+mn-lt"/>
              <a:ea typeface="+mn-ea"/>
            </a:endParaRPr>
          </a:p>
          <a:p>
            <a:pPr algn="l">
              <a:lnSpc>
                <a:spcPts val="3600"/>
              </a:lnSpc>
            </a:pPr>
            <a:r>
              <a:rPr lang="en-US" altLang="zh-CN" sz="1800" dirty="0">
                <a:latin typeface="+mn-lt"/>
                <a:ea typeface="+mn-ea"/>
              </a:rPr>
              <a:t>        // </a:t>
            </a:r>
            <a:r>
              <a:rPr lang="zh-CN" altLang="en-US" sz="1800" dirty="0">
                <a:latin typeface="+mn-lt"/>
                <a:ea typeface="+mn-ea"/>
              </a:rPr>
              <a:t>暂存运算过程中对角校验位的数据值的转置数据</a:t>
            </a:r>
            <a:endParaRPr lang="en-US" altLang="zh-CN" sz="1800" dirty="0">
              <a:latin typeface="+mn-lt"/>
              <a:ea typeface="+mn-ea"/>
            </a:endParaRPr>
          </a:p>
          <a:p>
            <a:pPr algn="l">
              <a:lnSpc>
                <a:spcPts val="3600"/>
              </a:lnSpc>
            </a:pPr>
            <a:r>
              <a:rPr lang="en-US" altLang="zh-CN" sz="1800" dirty="0">
                <a:latin typeface="+mn-lt"/>
                <a:ea typeface="+mn-ea"/>
              </a:rPr>
              <a:t>        </a:t>
            </a:r>
            <a:r>
              <a:rPr lang="en-US" altLang="zh-CN" sz="1800" b="1" dirty="0">
                <a:latin typeface="+mn-lt"/>
                <a:ea typeface="+mn-ea"/>
              </a:rPr>
              <a:t>int </a:t>
            </a:r>
            <a:r>
              <a:rPr lang="en-US" altLang="zh-CN" sz="1800" dirty="0">
                <a:latin typeface="+mn-lt"/>
                <a:ea typeface="+mn-ea"/>
              </a:rPr>
              <a:t>[][] temp = </a:t>
            </a:r>
            <a:r>
              <a:rPr lang="en-US" altLang="zh-CN" sz="1800" b="1" dirty="0">
                <a:latin typeface="+mn-lt"/>
                <a:ea typeface="+mn-ea"/>
              </a:rPr>
              <a:t>new int</a:t>
            </a:r>
            <a:r>
              <a:rPr lang="en-US" altLang="zh-CN" sz="1800" dirty="0">
                <a:latin typeface="+mn-lt"/>
                <a:ea typeface="+mn-ea"/>
              </a:rPr>
              <a:t>[</a:t>
            </a:r>
            <a:r>
              <a:rPr lang="en-US" altLang="zh-CN" sz="1800" dirty="0" err="1">
                <a:latin typeface="+mn-lt"/>
                <a:ea typeface="+mn-ea"/>
              </a:rPr>
              <a:t>tempMemory</a:t>
            </a:r>
            <a:r>
              <a:rPr lang="en-US" altLang="zh-CN" sz="1800" dirty="0">
                <a:latin typeface="+mn-lt"/>
                <a:ea typeface="+mn-ea"/>
              </a:rPr>
              <a:t>[0]. </a:t>
            </a:r>
            <a:r>
              <a:rPr lang="en-US" altLang="zh-CN" sz="1800" dirty="0" err="1">
                <a:latin typeface="+mn-lt"/>
                <a:ea typeface="+mn-ea"/>
              </a:rPr>
              <a:t>getRow</a:t>
            </a:r>
            <a:r>
              <a:rPr lang="en-US" altLang="zh-CN" sz="1800" dirty="0">
                <a:latin typeface="+mn-lt"/>
                <a:ea typeface="+mn-ea"/>
              </a:rPr>
              <a:t>()][</a:t>
            </a:r>
            <a:r>
              <a:rPr lang="en-US" altLang="zh-CN" sz="1800" dirty="0" err="1">
                <a:latin typeface="+mn-lt"/>
                <a:ea typeface="+mn-ea"/>
              </a:rPr>
              <a:t>tempMemory</a:t>
            </a:r>
            <a:r>
              <a:rPr lang="en-US" altLang="zh-CN" sz="1800" dirty="0">
                <a:latin typeface="+mn-lt"/>
                <a:ea typeface="+mn-ea"/>
              </a:rPr>
              <a:t>[0].</a:t>
            </a:r>
            <a:r>
              <a:rPr lang="en-US" altLang="zh-CN" sz="1800" dirty="0" err="1">
                <a:latin typeface="+mn-lt"/>
                <a:ea typeface="+mn-ea"/>
              </a:rPr>
              <a:t>getColumn</a:t>
            </a:r>
            <a:r>
              <a:rPr lang="en-US" altLang="zh-CN" sz="1800" dirty="0">
                <a:latin typeface="+mn-lt"/>
                <a:ea typeface="+mn-ea"/>
              </a:rPr>
              <a:t>()];</a:t>
            </a:r>
            <a:endParaRPr lang="en-US" altLang="zh-CN" sz="1800" dirty="0">
              <a:latin typeface="+mn-lt"/>
              <a:ea typeface="+mn-ea"/>
            </a:endParaRPr>
          </a:p>
          <a:p>
            <a:pPr algn="l">
              <a:lnSpc>
                <a:spcPts val="3600"/>
              </a:lnSpc>
            </a:pPr>
            <a:r>
              <a:rPr lang="en-US" altLang="zh-CN" sz="1800" dirty="0">
                <a:latin typeface="+mn-lt"/>
                <a:ea typeface="+mn-ea"/>
              </a:rPr>
              <a:t>        //</a:t>
            </a:r>
            <a:r>
              <a:rPr lang="zh-CN" altLang="en-US" sz="1800" dirty="0">
                <a:latin typeface="+mn-lt"/>
                <a:ea typeface="+mn-ea"/>
              </a:rPr>
              <a:t>充当数组转置时的临时变量</a:t>
            </a:r>
            <a:endParaRPr lang="en-US" altLang="zh-CN" sz="1800" dirty="0">
              <a:latin typeface="+mn-lt"/>
              <a:ea typeface="+mn-ea"/>
            </a:endParaRPr>
          </a:p>
          <a:p>
            <a:pPr algn="l">
              <a:lnSpc>
                <a:spcPts val="3600"/>
              </a:lnSpc>
            </a:pPr>
            <a:r>
              <a:rPr lang="en-US" altLang="zh-CN" sz="1800" dirty="0">
                <a:latin typeface="+mn-lt"/>
                <a:ea typeface="+mn-ea"/>
              </a:rPr>
              <a:t>        </a:t>
            </a:r>
            <a:r>
              <a:rPr lang="en-US" altLang="zh-CN" sz="1800" dirty="0" err="1">
                <a:latin typeface="+mn-lt"/>
                <a:ea typeface="+mn-ea"/>
              </a:rPr>
              <a:t>dataCache</a:t>
            </a:r>
            <a:r>
              <a:rPr lang="en-US" altLang="zh-CN" sz="1800" dirty="0">
                <a:latin typeface="+mn-lt"/>
                <a:ea typeface="+mn-ea"/>
              </a:rPr>
              <a:t> = </a:t>
            </a:r>
            <a:r>
              <a:rPr lang="en-US" altLang="zh-CN" sz="1800" b="1" dirty="0">
                <a:latin typeface="+mn-lt"/>
                <a:ea typeface="+mn-ea"/>
              </a:rPr>
              <a:t>new int</a:t>
            </a:r>
            <a:r>
              <a:rPr lang="en-US" altLang="zh-CN" sz="1800" dirty="0">
                <a:latin typeface="+mn-lt"/>
                <a:ea typeface="+mn-ea"/>
              </a:rPr>
              <a:t>[</a:t>
            </a:r>
            <a:r>
              <a:rPr lang="en-US" altLang="zh-CN" sz="1800" dirty="0" err="1">
                <a:latin typeface="+mn-lt"/>
                <a:ea typeface="+mn-ea"/>
              </a:rPr>
              <a:t>tempMemory</a:t>
            </a:r>
            <a:r>
              <a:rPr lang="en-US" altLang="zh-CN" sz="1800" dirty="0">
                <a:latin typeface="+mn-lt"/>
                <a:ea typeface="+mn-ea"/>
              </a:rPr>
              <a:t>[0].</a:t>
            </a:r>
            <a:r>
              <a:rPr lang="en-US" altLang="zh-CN" sz="1800" dirty="0" err="1">
                <a:latin typeface="+mn-lt"/>
                <a:ea typeface="+mn-ea"/>
              </a:rPr>
              <a:t>getRow</a:t>
            </a:r>
            <a:r>
              <a:rPr lang="en-US" altLang="zh-CN" sz="1800" dirty="0">
                <a:latin typeface="+mn-lt"/>
                <a:ea typeface="+mn-ea"/>
              </a:rPr>
              <a:t>()][</a:t>
            </a:r>
            <a:r>
              <a:rPr lang="en-US" altLang="zh-CN" sz="1800" dirty="0" err="1">
                <a:latin typeface="+mn-lt"/>
                <a:ea typeface="+mn-ea"/>
              </a:rPr>
              <a:t>tempMemory.length</a:t>
            </a:r>
            <a:r>
              <a:rPr lang="en-US" altLang="zh-CN" sz="1800" dirty="0">
                <a:latin typeface="+mn-lt"/>
                <a:ea typeface="+mn-ea"/>
              </a:rPr>
              <a:t>];</a:t>
            </a:r>
            <a:endParaRPr lang="en-US" altLang="zh-CN" sz="1800" dirty="0">
              <a:latin typeface="+mn-lt"/>
              <a:ea typeface="+mn-ea"/>
            </a:endParaRPr>
          </a:p>
          <a:p>
            <a:pPr algn="l">
              <a:lnSpc>
                <a:spcPts val="3600"/>
              </a:lnSpc>
            </a:pPr>
            <a:r>
              <a:rPr lang="en-US" altLang="zh-CN" sz="1800" dirty="0">
                <a:latin typeface="+mn-lt"/>
                <a:ea typeface="+mn-ea"/>
              </a:rPr>
              <a:t>        </a:t>
            </a:r>
            <a:r>
              <a:rPr lang="en-US" altLang="zh-CN" sz="1800" b="1" dirty="0">
                <a:latin typeface="+mn-lt"/>
                <a:ea typeface="+mn-ea"/>
              </a:rPr>
              <a:t>for</a:t>
            </a:r>
            <a:r>
              <a:rPr lang="en-US" altLang="zh-CN" sz="1800" dirty="0">
                <a:latin typeface="+mn-lt"/>
                <a:ea typeface="+mn-ea"/>
              </a:rPr>
              <a:t>(</a:t>
            </a:r>
            <a:r>
              <a:rPr lang="en-US" altLang="zh-CN" sz="1800" b="1" dirty="0">
                <a:latin typeface="+mn-lt"/>
                <a:ea typeface="+mn-ea"/>
              </a:rPr>
              <a:t>int</a:t>
            </a:r>
            <a:r>
              <a:rPr lang="en-US" altLang="zh-CN" sz="1800" dirty="0">
                <a:latin typeface="+mn-lt"/>
                <a:ea typeface="+mn-ea"/>
              </a:rPr>
              <a:t> </a:t>
            </a:r>
            <a:r>
              <a:rPr lang="en-US" altLang="zh-CN" sz="1800" dirty="0" err="1">
                <a:latin typeface="+mn-lt"/>
                <a:ea typeface="+mn-ea"/>
              </a:rPr>
              <a:t>i</a:t>
            </a:r>
            <a:r>
              <a:rPr lang="en-US" altLang="zh-CN" sz="1800" dirty="0">
                <a:latin typeface="+mn-lt"/>
                <a:ea typeface="+mn-ea"/>
              </a:rPr>
              <a:t>= 0;i&lt; </a:t>
            </a:r>
            <a:r>
              <a:rPr lang="en-US" altLang="zh-CN" sz="1800" dirty="0" err="1">
                <a:latin typeface="+mn-lt"/>
                <a:ea typeface="+mn-ea"/>
              </a:rPr>
              <a:t>tempMemory.length</a:t>
            </a:r>
            <a:r>
              <a:rPr lang="en-US" altLang="zh-CN" sz="1800" dirty="0">
                <a:latin typeface="+mn-lt"/>
                <a:ea typeface="+mn-ea"/>
              </a:rPr>
              <a:t>; </a:t>
            </a:r>
            <a:r>
              <a:rPr lang="en-US" altLang="zh-CN" sz="1800" dirty="0" err="1">
                <a:latin typeface="+mn-lt"/>
                <a:ea typeface="+mn-ea"/>
              </a:rPr>
              <a:t>i</a:t>
            </a:r>
            <a:r>
              <a:rPr lang="en-US" altLang="zh-CN" sz="1800" dirty="0">
                <a:latin typeface="+mn-lt"/>
                <a:ea typeface="+mn-ea"/>
              </a:rPr>
              <a:t>++){</a:t>
            </a:r>
            <a:endParaRPr lang="en-US" altLang="zh-CN" sz="1800" dirty="0">
              <a:latin typeface="+mn-lt"/>
              <a:ea typeface="+mn-ea"/>
            </a:endParaRPr>
          </a:p>
          <a:p>
            <a:pPr algn="l">
              <a:lnSpc>
                <a:spcPts val="3600"/>
              </a:lnSpc>
            </a:pPr>
            <a:r>
              <a:rPr lang="en-US" altLang="zh-CN" sz="1800" dirty="0">
                <a:latin typeface="+mn-lt"/>
                <a:ea typeface="+mn-ea"/>
              </a:rPr>
              <a:t>                </a:t>
            </a:r>
            <a:r>
              <a:rPr lang="en-US" altLang="zh-CN" sz="1800" dirty="0" err="1">
                <a:latin typeface="+mn-lt"/>
                <a:ea typeface="+mn-ea"/>
              </a:rPr>
              <a:t>dataCache</a:t>
            </a:r>
            <a:r>
              <a:rPr lang="en-US" altLang="zh-CN" sz="1800" dirty="0">
                <a:latin typeface="+mn-lt"/>
                <a:ea typeface="+mn-ea"/>
              </a:rPr>
              <a:t> = </a:t>
            </a:r>
            <a:r>
              <a:rPr lang="en-US" altLang="zh-CN" sz="1800" b="1" dirty="0" err="1">
                <a:latin typeface="+mn-lt"/>
                <a:ea typeface="+mn-ea"/>
              </a:rPr>
              <a:t>super</a:t>
            </a:r>
            <a:r>
              <a:rPr lang="en-US" altLang="zh-CN" sz="1800" dirty="0" err="1">
                <a:latin typeface="+mn-lt"/>
                <a:ea typeface="+mn-ea"/>
              </a:rPr>
              <a:t>.getColumnData</a:t>
            </a:r>
            <a:r>
              <a:rPr lang="en-US" altLang="zh-CN" sz="1800" dirty="0">
                <a:latin typeface="+mn-lt"/>
                <a:ea typeface="+mn-ea"/>
              </a:rPr>
              <a:t>(</a:t>
            </a:r>
            <a:r>
              <a:rPr lang="en-US" altLang="zh-CN" sz="1800" dirty="0" err="1">
                <a:latin typeface="+mn-lt"/>
                <a:ea typeface="+mn-ea"/>
              </a:rPr>
              <a:t>tempMemory</a:t>
            </a:r>
            <a:r>
              <a:rPr lang="en-US" altLang="zh-CN" sz="1800" dirty="0">
                <a:latin typeface="+mn-lt"/>
                <a:ea typeface="+mn-ea"/>
              </a:rPr>
              <a:t>, </a:t>
            </a:r>
            <a:r>
              <a:rPr lang="en-US" altLang="zh-CN" sz="1800" dirty="0" err="1">
                <a:latin typeface="+mn-lt"/>
                <a:ea typeface="+mn-ea"/>
              </a:rPr>
              <a:t>i</a:t>
            </a:r>
            <a:r>
              <a:rPr lang="en-US" altLang="zh-CN" sz="1800" dirty="0">
                <a:latin typeface="+mn-lt"/>
                <a:ea typeface="+mn-ea"/>
              </a:rPr>
              <a:t>);</a:t>
            </a:r>
            <a:endParaRPr lang="en-US" altLang="zh-CN" sz="1800" dirty="0">
              <a:latin typeface="+mn-lt"/>
              <a:ea typeface="+mn-ea"/>
            </a:endParaRPr>
          </a:p>
          <a:p>
            <a:pPr algn="l">
              <a:lnSpc>
                <a:spcPts val="3600"/>
              </a:lnSpc>
            </a:pPr>
            <a:r>
              <a:rPr lang="en-US" altLang="zh-CN" sz="1800" dirty="0">
                <a:latin typeface="+mn-lt"/>
                <a:ea typeface="+mn-ea"/>
              </a:rPr>
              <a:t>                //</a:t>
            </a:r>
            <a:r>
              <a:rPr lang="zh-CN" altLang="en-US" sz="1800" dirty="0">
                <a:latin typeface="+mn-lt"/>
                <a:ea typeface="+mn-ea"/>
              </a:rPr>
              <a:t>获得对象元素中的数据中的每一列，组成一个数组</a:t>
            </a:r>
            <a:endParaRPr lang="zh-CN" altLang="en-US" sz="1800" b="0" i="0" dirty="0">
              <a:effectLst/>
              <a:latin typeface="+mn-lt"/>
              <a:ea typeface="+mn-ea"/>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EVENODD</a:t>
            </a:r>
            <a:r>
              <a:rPr lang="zh-CN" altLang="en-US" sz="2400" dirty="0">
                <a:sym typeface="+mn-ea"/>
              </a:rPr>
              <a:t>码的编码仿真</a:t>
            </a:r>
            <a:endParaRPr lang="zh-CN" altLang="en-US" sz="2400" dirty="0">
              <a:sym typeface="+mn-ea"/>
            </a:endParaRPr>
          </a:p>
        </p:txBody>
      </p:sp>
      <p:sp>
        <p:nvSpPr>
          <p:cNvPr id="12" name="文本框 11"/>
          <p:cNvSpPr txBox="1"/>
          <p:nvPr/>
        </p:nvSpPr>
        <p:spPr>
          <a:xfrm>
            <a:off x="630020" y="990664"/>
            <a:ext cx="7980474" cy="5571012"/>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r>
              <a:rPr lang="en-US" altLang="zh-CN" b="0" dirty="0"/>
              <a:t>                tempMatrix1[</a:t>
            </a:r>
            <a:r>
              <a:rPr lang="en-US" altLang="zh-CN" b="0" dirty="0" err="1"/>
              <a:t>i</a:t>
            </a:r>
            <a:r>
              <a:rPr lang="en-US" altLang="zh-CN" b="0" dirty="0"/>
              <a:t>] = </a:t>
            </a:r>
            <a:r>
              <a:rPr lang="en-US" altLang="zh-CN" dirty="0" err="1"/>
              <a:t>super</a:t>
            </a:r>
            <a:r>
              <a:rPr lang="en-US" altLang="zh-CN" b="0" dirty="0" err="1"/>
              <a:t>.horiExclusive_OR</a:t>
            </a:r>
            <a:r>
              <a:rPr lang="en-US" altLang="zh-CN" b="0" dirty="0"/>
              <a:t>(</a:t>
            </a:r>
            <a:r>
              <a:rPr lang="en-US" altLang="zh-CN" b="0" dirty="0" err="1"/>
              <a:t>dataCache</a:t>
            </a:r>
            <a:r>
              <a:rPr lang="en-US" altLang="zh-CN" b="0" dirty="0"/>
              <a:t>);</a:t>
            </a:r>
            <a:endParaRPr lang="en-US" altLang="zh-CN" b="0" dirty="0"/>
          </a:p>
          <a:p>
            <a:r>
              <a:rPr lang="en-US" altLang="zh-CN" b="0" dirty="0"/>
              <a:t>                //</a:t>
            </a:r>
            <a:r>
              <a:rPr lang="zh-CN" altLang="en-US" b="0" dirty="0"/>
              <a:t>获取水平校验</a:t>
            </a:r>
            <a:endParaRPr lang="en-US" altLang="zh-CN" b="0" dirty="0"/>
          </a:p>
          <a:p>
            <a:r>
              <a:rPr lang="en-US" altLang="zh-CN" b="0" dirty="0"/>
              <a:t>                tempMatrix2[</a:t>
            </a:r>
            <a:r>
              <a:rPr lang="en-US" altLang="zh-CN" b="0" dirty="0" err="1"/>
              <a:t>i</a:t>
            </a:r>
            <a:r>
              <a:rPr lang="en-US" altLang="zh-CN" b="0" dirty="0"/>
              <a:t>] = </a:t>
            </a:r>
            <a:r>
              <a:rPr lang="en-US" altLang="zh-CN" dirty="0" err="1"/>
              <a:t>super</a:t>
            </a:r>
            <a:r>
              <a:rPr lang="en-US" altLang="zh-CN" b="0" dirty="0" err="1"/>
              <a:t>.diagExclusive_OR</a:t>
            </a:r>
            <a:r>
              <a:rPr lang="en-US" altLang="zh-CN" b="0" dirty="0"/>
              <a:t>(</a:t>
            </a:r>
            <a:r>
              <a:rPr lang="en-US" altLang="zh-CN" b="0" dirty="0" err="1"/>
              <a:t>dataCache</a:t>
            </a:r>
            <a:r>
              <a:rPr lang="en-US" altLang="zh-CN" b="0" dirty="0"/>
              <a:t>,               </a:t>
            </a:r>
            <a:endParaRPr lang="en-US" altLang="zh-CN" b="0" dirty="0"/>
          </a:p>
          <a:p>
            <a:r>
              <a:rPr lang="en-US" altLang="zh-CN" b="0" dirty="0"/>
              <a:t>                                             </a:t>
            </a:r>
            <a:r>
              <a:rPr lang="en-US" altLang="zh-CN" b="0" dirty="0" err="1"/>
              <a:t>encoding.getCommonFactor</a:t>
            </a:r>
            <a:r>
              <a:rPr lang="en-US" altLang="zh-CN" b="0" dirty="0"/>
              <a:t>(</a:t>
            </a:r>
            <a:r>
              <a:rPr lang="en-US" altLang="zh-CN" b="0" dirty="0" err="1"/>
              <a:t>dataCache</a:t>
            </a:r>
            <a:r>
              <a:rPr lang="en-US" altLang="zh-CN" b="0" dirty="0"/>
              <a:t>));</a:t>
            </a:r>
            <a:endParaRPr lang="en-US" altLang="zh-CN" b="0" dirty="0"/>
          </a:p>
          <a:p>
            <a:r>
              <a:rPr lang="en-US" altLang="zh-CN" b="0" dirty="0"/>
              <a:t>                 //</a:t>
            </a:r>
            <a:r>
              <a:rPr lang="zh-CN" altLang="en-US" b="0" dirty="0"/>
              <a:t>获取对角校验数据</a:t>
            </a:r>
            <a:endParaRPr lang="en-US" altLang="zh-CN" b="0" dirty="0"/>
          </a:p>
          <a:p>
            <a:r>
              <a:rPr lang="en-US" altLang="zh-CN" b="0" dirty="0"/>
              <a:t>        }</a:t>
            </a:r>
            <a:endParaRPr lang="en-US" altLang="zh-CN" b="0" dirty="0"/>
          </a:p>
          <a:p>
            <a:r>
              <a:rPr lang="en-US" altLang="zh-CN" b="0" dirty="0"/>
              <a:t>        //</a:t>
            </a:r>
            <a:r>
              <a:rPr lang="zh-CN" altLang="en-US" b="0" dirty="0"/>
              <a:t>将修复的数据存入对象</a:t>
            </a:r>
            <a:endParaRPr lang="en-US" altLang="zh-CN" b="0" dirty="0"/>
          </a:p>
          <a:p>
            <a:r>
              <a:rPr lang="en-US" altLang="zh-CN" b="0" dirty="0"/>
              <a:t>        </a:t>
            </a:r>
            <a:r>
              <a:rPr lang="en-US" altLang="zh-CN" dirty="0" err="1"/>
              <a:t>super</a:t>
            </a:r>
            <a:r>
              <a:rPr lang="en-US" altLang="zh-CN" b="0" dirty="0" err="1"/>
              <a:t>.matrixTransposition</a:t>
            </a:r>
            <a:r>
              <a:rPr lang="en-US" altLang="zh-CN" b="0" dirty="0"/>
              <a:t>(tempMatrix1, temp);//</a:t>
            </a:r>
            <a:r>
              <a:rPr lang="zh-CN" altLang="en-US" b="0" dirty="0"/>
              <a:t>恢复原数据格式将数组转置</a:t>
            </a:r>
            <a:endParaRPr lang="en-US" altLang="zh-CN" b="0" dirty="0"/>
          </a:p>
          <a:p>
            <a:r>
              <a:rPr lang="en-US" altLang="zh-CN" b="0" dirty="0"/>
              <a:t>        </a:t>
            </a:r>
            <a:r>
              <a:rPr lang="en-US" altLang="zh-CN" b="0" dirty="0" err="1"/>
              <a:t>horiRedun</a:t>
            </a:r>
            <a:r>
              <a:rPr lang="en-US" altLang="zh-CN" b="0" dirty="0"/>
              <a:t> = </a:t>
            </a:r>
            <a:r>
              <a:rPr lang="en-US" altLang="zh-CN" dirty="0"/>
              <a:t>new</a:t>
            </a:r>
            <a:r>
              <a:rPr lang="en-US" altLang="zh-CN" b="0" dirty="0"/>
              <a:t> </a:t>
            </a:r>
            <a:r>
              <a:rPr lang="en-US" altLang="zh-CN" b="0" dirty="0" err="1"/>
              <a:t>pictureInComp</a:t>
            </a:r>
            <a:r>
              <a:rPr lang="en-US" altLang="zh-CN" b="0" dirty="0"/>
              <a:t>(temp);//</a:t>
            </a:r>
            <a:r>
              <a:rPr lang="zh-CN" altLang="en-US" b="0" dirty="0"/>
              <a:t>水平冗余校验对象实例化</a:t>
            </a:r>
            <a:endParaRPr lang="en-US" altLang="zh-CN" b="0" dirty="0"/>
          </a:p>
          <a:p>
            <a:r>
              <a:rPr lang="en-US" altLang="zh-CN" b="0" dirty="0"/>
              <a:t>        super. </a:t>
            </a:r>
            <a:r>
              <a:rPr lang="en-US" altLang="zh-CN" b="0" dirty="0" err="1"/>
              <a:t>matrixTransposition</a:t>
            </a:r>
            <a:r>
              <a:rPr lang="en-US" altLang="zh-CN" b="0" dirty="0"/>
              <a:t>(tempMatrix2, temp);</a:t>
            </a:r>
            <a:endParaRPr lang="en-US" altLang="zh-CN" b="0" dirty="0"/>
          </a:p>
          <a:p>
            <a:r>
              <a:rPr lang="en-US" altLang="zh-CN" b="0" dirty="0"/>
              <a:t>        </a:t>
            </a:r>
            <a:r>
              <a:rPr lang="en-US" altLang="zh-CN" b="0" dirty="0" err="1"/>
              <a:t>diagRedun</a:t>
            </a:r>
            <a:r>
              <a:rPr lang="en-US" altLang="zh-CN" b="0" dirty="0"/>
              <a:t> = </a:t>
            </a:r>
            <a:r>
              <a:rPr lang="en-US" altLang="zh-CN" dirty="0"/>
              <a:t>new</a:t>
            </a:r>
            <a:r>
              <a:rPr lang="en-US" altLang="zh-CN" b="0" dirty="0"/>
              <a:t> </a:t>
            </a:r>
            <a:r>
              <a:rPr lang="en-US" altLang="zh-CN" b="0" dirty="0" err="1"/>
              <a:t>pictureInComp</a:t>
            </a:r>
            <a:r>
              <a:rPr lang="en-US" altLang="zh-CN" b="0" dirty="0"/>
              <a:t>(temp);//</a:t>
            </a:r>
            <a:r>
              <a:rPr lang="zh-CN" altLang="en-US" b="0" dirty="0"/>
              <a:t>对角冗余校验对象实例化</a:t>
            </a:r>
            <a:endParaRPr lang="en-US" altLang="zh-CN" b="0" dirty="0"/>
          </a:p>
          <a:p>
            <a:r>
              <a:rPr lang="en-US" altLang="zh-CN" b="0" dirty="0"/>
              <a:t>}</a:t>
            </a:r>
            <a:endParaRPr lang="zh-CN" altLang="en-US" b="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EVENODD</a:t>
            </a:r>
            <a:r>
              <a:rPr lang="zh-CN" altLang="en-US" sz="2400" dirty="0">
                <a:sym typeface="+mn-ea"/>
              </a:rPr>
              <a:t>码的译码仿真</a:t>
            </a:r>
            <a:endParaRPr lang="zh-CN" altLang="en-US" sz="2400" dirty="0">
              <a:sym typeface="+mn-ea"/>
            </a:endParaRPr>
          </a:p>
        </p:txBody>
      </p:sp>
      <p:sp>
        <p:nvSpPr>
          <p:cNvPr id="12" name="文本框 11"/>
          <p:cNvSpPr txBox="1"/>
          <p:nvPr/>
        </p:nvSpPr>
        <p:spPr>
          <a:xfrm>
            <a:off x="210411" y="665323"/>
            <a:ext cx="8742454" cy="6029856"/>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r>
              <a:rPr lang="en-US" altLang="zh-CN" dirty="0"/>
              <a:t>protected void </a:t>
            </a:r>
            <a:r>
              <a:rPr lang="en-US" altLang="zh-CN" b="0" dirty="0"/>
              <a:t>decode(){</a:t>
            </a:r>
            <a:endParaRPr lang="en-US" altLang="zh-CN" b="0" dirty="0"/>
          </a:p>
          <a:p>
            <a:r>
              <a:rPr lang="en-US" altLang="zh-CN" b="0" dirty="0"/>
              <a:t>        </a:t>
            </a:r>
            <a:r>
              <a:rPr lang="en-US" altLang="zh-CN" dirty="0"/>
              <a:t>if</a:t>
            </a:r>
            <a:r>
              <a:rPr lang="en-US" altLang="zh-CN" b="0" dirty="0"/>
              <a:t>(error1 != -1 &amp;&amp; error2 != -1){       //</a:t>
            </a:r>
            <a:r>
              <a:rPr lang="zh-CN" altLang="en-US" b="0" dirty="0"/>
              <a:t>有两个数据块出错</a:t>
            </a:r>
            <a:endParaRPr lang="en-US" altLang="zh-CN" b="0" dirty="0"/>
          </a:p>
          <a:p>
            <a:r>
              <a:rPr lang="en-US" altLang="zh-CN" b="0" dirty="0"/>
              <a:t>               </a:t>
            </a:r>
            <a:r>
              <a:rPr lang="en-US" altLang="zh-CN" dirty="0"/>
              <a:t>int </a:t>
            </a:r>
            <a:r>
              <a:rPr lang="en-US" altLang="zh-CN" b="0" dirty="0"/>
              <a:t>[][] dataCache,tempMatrix1,tempMatrix2;</a:t>
            </a:r>
            <a:endParaRPr lang="en-US" altLang="zh-CN" b="0" dirty="0"/>
          </a:p>
          <a:p>
            <a:r>
              <a:rPr lang="en-US" altLang="zh-CN" b="0" dirty="0"/>
              <a:t>               </a:t>
            </a:r>
            <a:r>
              <a:rPr lang="en-US" altLang="zh-CN" b="0" dirty="0" err="1"/>
              <a:t>pictureInComp</a:t>
            </a:r>
            <a:r>
              <a:rPr lang="en-US" altLang="zh-CN" b="0" dirty="0"/>
              <a:t>[] </a:t>
            </a:r>
            <a:r>
              <a:rPr lang="en-US" altLang="zh-CN" b="0" dirty="0" err="1"/>
              <a:t>corectObj</a:t>
            </a:r>
            <a:r>
              <a:rPr lang="en-US" altLang="zh-CN" b="0" dirty="0"/>
              <a:t>;       //</a:t>
            </a:r>
            <a:r>
              <a:rPr lang="zh-CN" altLang="en-US" b="0" dirty="0"/>
              <a:t>暂存正确数据块的数据</a:t>
            </a:r>
            <a:endParaRPr lang="en-US" altLang="zh-CN" b="0" dirty="0"/>
          </a:p>
          <a:p>
            <a:r>
              <a:rPr lang="en-US" altLang="zh-CN" b="0" dirty="0"/>
              <a:t>               tempMatrix1 = </a:t>
            </a:r>
            <a:r>
              <a:rPr lang="en-US" altLang="zh-CN" dirty="0"/>
              <a:t>new int</a:t>
            </a:r>
            <a:r>
              <a:rPr lang="en-US" altLang="zh-CN" b="0" dirty="0"/>
              <a:t>[</a:t>
            </a:r>
            <a:r>
              <a:rPr lang="en-US" altLang="zh-CN" b="0" dirty="0" err="1"/>
              <a:t>tempMemory</a:t>
            </a:r>
            <a:r>
              <a:rPr lang="en-US" altLang="zh-CN" b="0" dirty="0"/>
              <a:t>[0].</a:t>
            </a:r>
            <a:r>
              <a:rPr lang="en-US" altLang="zh-CN" b="0" dirty="0" err="1"/>
              <a:t>getColumn</a:t>
            </a:r>
            <a:r>
              <a:rPr lang="en-US" altLang="zh-CN" b="0" dirty="0"/>
              <a:t>()][</a:t>
            </a:r>
            <a:r>
              <a:rPr lang="en-US" altLang="zh-CN" b="0" dirty="0" err="1"/>
              <a:t>tempMemory</a:t>
            </a:r>
            <a:r>
              <a:rPr lang="en-US" altLang="zh-CN" b="0" dirty="0"/>
              <a:t>[0].getRow0];</a:t>
            </a:r>
            <a:endParaRPr lang="en-US" altLang="zh-CN" b="0" dirty="0"/>
          </a:p>
          <a:p>
            <a:r>
              <a:rPr lang="en-US" altLang="zh-CN" b="0" dirty="0"/>
              <a:t>               tempMatrix2 = </a:t>
            </a:r>
            <a:r>
              <a:rPr lang="en-US" altLang="zh-CN" dirty="0"/>
              <a:t>new int</a:t>
            </a:r>
            <a:r>
              <a:rPr lang="en-US" altLang="zh-CN" b="0" dirty="0"/>
              <a:t>[</a:t>
            </a:r>
            <a:r>
              <a:rPr lang="en-US" altLang="zh-CN" b="0" dirty="0" err="1"/>
              <a:t>tempMemory</a:t>
            </a:r>
            <a:r>
              <a:rPr lang="en-US" altLang="zh-CN" b="0" dirty="0"/>
              <a:t>[0].</a:t>
            </a:r>
            <a:r>
              <a:rPr lang="en-US" altLang="zh-CN" b="0" dirty="0" err="1"/>
              <a:t>getColumn</a:t>
            </a:r>
            <a:r>
              <a:rPr lang="en-US" altLang="zh-CN" b="0" dirty="0"/>
              <a:t>()][</a:t>
            </a:r>
            <a:r>
              <a:rPr lang="en-US" altLang="zh-CN" b="0" dirty="0" err="1"/>
              <a:t>tempMemory</a:t>
            </a:r>
            <a:r>
              <a:rPr lang="en-US" altLang="zh-CN" b="0" dirty="0"/>
              <a:t>[0].getRow0];</a:t>
            </a:r>
            <a:endParaRPr lang="en-US" altLang="zh-CN" b="0" dirty="0"/>
          </a:p>
          <a:p>
            <a:r>
              <a:rPr lang="en-US" altLang="zh-CN" dirty="0"/>
              <a:t>               int</a:t>
            </a:r>
            <a:r>
              <a:rPr lang="en-US" altLang="zh-CN" b="0" dirty="0"/>
              <a:t> [][] temp = </a:t>
            </a:r>
            <a:r>
              <a:rPr lang="en-US" altLang="zh-CN" dirty="0"/>
              <a:t>new int</a:t>
            </a:r>
            <a:r>
              <a:rPr lang="en-US" altLang="zh-CN" b="0" dirty="0"/>
              <a:t>[</a:t>
            </a:r>
            <a:r>
              <a:rPr lang="en-US" altLang="zh-CN" b="0" dirty="0" err="1"/>
              <a:t>tempMemory</a:t>
            </a:r>
            <a:r>
              <a:rPr lang="en-US" altLang="zh-CN" b="0" dirty="0"/>
              <a:t>[0].</a:t>
            </a:r>
            <a:r>
              <a:rPr lang="en-US" altLang="zh-CN" b="0" dirty="0" err="1"/>
              <a:t>getRow</a:t>
            </a:r>
            <a:r>
              <a:rPr lang="en-US" altLang="zh-CN" b="0" dirty="0"/>
              <a:t>()][</a:t>
            </a:r>
            <a:r>
              <a:rPr lang="en-US" altLang="zh-CN" b="0" dirty="0" err="1"/>
              <a:t>tempMemory</a:t>
            </a:r>
            <a:r>
              <a:rPr lang="en-US" altLang="zh-CN" b="0" dirty="0"/>
              <a:t>[0].</a:t>
            </a:r>
            <a:r>
              <a:rPr lang="en-US" altLang="zh-CN" b="0" dirty="0" err="1"/>
              <a:t>getColumnQ</a:t>
            </a:r>
            <a:r>
              <a:rPr lang="en-US" altLang="zh-CN" b="0" dirty="0"/>
              <a:t>);</a:t>
            </a:r>
            <a:endParaRPr lang="en-US" altLang="zh-CN" b="0" dirty="0"/>
          </a:p>
          <a:p>
            <a:r>
              <a:rPr lang="en-US" altLang="zh-CN" b="0" dirty="0"/>
              <a:t>               // </a:t>
            </a:r>
            <a:r>
              <a:rPr lang="zh-CN" altLang="en-US" b="0" dirty="0"/>
              <a:t>充当数组转置时的临时变量</a:t>
            </a:r>
            <a:endParaRPr lang="en-US" altLang="zh-CN" b="0" dirty="0"/>
          </a:p>
          <a:p>
            <a:r>
              <a:rPr lang="en-US" altLang="zh-CN" b="0" dirty="0"/>
              <a:t>               </a:t>
            </a:r>
            <a:r>
              <a:rPr lang="en-US" altLang="zh-CN" dirty="0"/>
              <a:t>if</a:t>
            </a:r>
            <a:r>
              <a:rPr lang="en-US" altLang="zh-CN" b="0" dirty="0"/>
              <a:t>(error1 == </a:t>
            </a:r>
            <a:r>
              <a:rPr lang="en-US" altLang="zh-CN" b="0" dirty="0" err="1"/>
              <a:t>tempMemory.length</a:t>
            </a:r>
            <a:r>
              <a:rPr lang="en-US" altLang="zh-CN" b="0" dirty="0"/>
              <a:t>- 2 &amp;&amp; error2 == tempMemory.length-1){</a:t>
            </a:r>
            <a:endParaRPr lang="en-US" altLang="zh-CN" b="0" dirty="0"/>
          </a:p>
          <a:p>
            <a:r>
              <a:rPr lang="en-US" altLang="zh-CN" b="0" dirty="0"/>
              <a:t>               //</a:t>
            </a:r>
            <a:r>
              <a:rPr lang="zh-CN" altLang="en-US" b="0" dirty="0"/>
              <a:t>两个校验数据块出错</a:t>
            </a:r>
            <a:endParaRPr lang="en-US" altLang="zh-CN" b="0" dirty="0"/>
          </a:p>
          <a:p>
            <a:r>
              <a:rPr lang="en-US" altLang="zh-CN" b="0" dirty="0"/>
              <a:t>                       </a:t>
            </a:r>
            <a:r>
              <a:rPr lang="en-US" altLang="zh-CN" b="0" dirty="0" err="1"/>
              <a:t>corectObj</a:t>
            </a:r>
            <a:r>
              <a:rPr lang="en-US" altLang="zh-CN" b="0" dirty="0"/>
              <a:t> = </a:t>
            </a:r>
            <a:r>
              <a:rPr lang="en-US" altLang="zh-CN" dirty="0"/>
              <a:t>new</a:t>
            </a:r>
            <a:r>
              <a:rPr lang="en-US" altLang="zh-CN" b="0" dirty="0"/>
              <a:t> </a:t>
            </a:r>
            <a:r>
              <a:rPr lang="en-US" altLang="zh-CN" b="0" dirty="0" err="1"/>
              <a:t>pictureInComp</a:t>
            </a:r>
            <a:r>
              <a:rPr lang="en-US" altLang="zh-CN" b="0" dirty="0"/>
              <a:t>[tempMemory.length-2];</a:t>
            </a:r>
            <a:endParaRPr lang="en-US" altLang="zh-CN" b="0" dirty="0"/>
          </a:p>
          <a:p>
            <a:r>
              <a:rPr lang="en-US" altLang="zh-CN" b="0" dirty="0"/>
              <a:t>                       </a:t>
            </a:r>
            <a:r>
              <a:rPr lang="en-US" altLang="zh-CN" b="0" dirty="0" err="1"/>
              <a:t>System.arraycopy</a:t>
            </a:r>
            <a:r>
              <a:rPr lang="en-US" altLang="zh-CN" b="0" dirty="0"/>
              <a:t>(tempMemory,0,corectObj,0,tempMemory.length-2);</a:t>
            </a:r>
            <a:endParaRPr lang="en-US" altLang="zh-CN" b="0" dirty="0"/>
          </a:p>
          <a:p>
            <a:r>
              <a:rPr lang="en-US" altLang="zh-CN" b="0" dirty="0"/>
              <a:t>                       //</a:t>
            </a:r>
            <a:r>
              <a:rPr lang="zh-CN" altLang="en-US" b="0" dirty="0"/>
              <a:t>将正确的对象数组拷贝到</a:t>
            </a:r>
            <a:r>
              <a:rPr lang="en-US" altLang="zh-CN" b="0" dirty="0" err="1"/>
              <a:t>correctObj</a:t>
            </a:r>
            <a:r>
              <a:rPr lang="zh-CN" altLang="en-US" b="0" dirty="0"/>
              <a:t>中</a:t>
            </a:r>
            <a:endParaRPr lang="zh-CN" altLang="en-US" b="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EVENODD</a:t>
            </a:r>
            <a:r>
              <a:rPr lang="zh-CN" altLang="en-US" sz="2400" dirty="0">
                <a:sym typeface="+mn-ea"/>
              </a:rPr>
              <a:t>码的译码仿真</a:t>
            </a:r>
            <a:endParaRPr lang="zh-CN" altLang="en-US" sz="2400" dirty="0">
              <a:sym typeface="+mn-ea"/>
            </a:endParaRPr>
          </a:p>
        </p:txBody>
      </p:sp>
      <p:sp>
        <p:nvSpPr>
          <p:cNvPr id="12" name="文本框 11"/>
          <p:cNvSpPr txBox="1"/>
          <p:nvPr/>
        </p:nvSpPr>
        <p:spPr>
          <a:xfrm>
            <a:off x="387072" y="990664"/>
            <a:ext cx="8742454" cy="5571012"/>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r>
              <a:rPr lang="en-US" altLang="zh-CN" b="0" dirty="0"/>
              <a:t>                        </a:t>
            </a:r>
            <a:r>
              <a:rPr lang="en-US" altLang="zh-CN" b="0" dirty="0" err="1"/>
              <a:t>dataCache</a:t>
            </a:r>
            <a:r>
              <a:rPr lang="en-US" altLang="zh-CN" b="0" dirty="0"/>
              <a:t> = </a:t>
            </a:r>
            <a:r>
              <a:rPr lang="en-US" altLang="zh-CN" dirty="0"/>
              <a:t>new int</a:t>
            </a:r>
            <a:r>
              <a:rPr lang="en-US" altLang="zh-CN" b="0" dirty="0"/>
              <a:t>[</a:t>
            </a:r>
            <a:r>
              <a:rPr lang="en-US" altLang="zh-CN" b="0" dirty="0" err="1"/>
              <a:t>tempMemory</a:t>
            </a:r>
            <a:r>
              <a:rPr lang="en-US" altLang="zh-CN" b="0" dirty="0"/>
              <a:t>[0].</a:t>
            </a:r>
            <a:r>
              <a:rPr lang="en-US" altLang="zh-CN" b="0" dirty="0" err="1"/>
              <a:t>getRow</a:t>
            </a:r>
            <a:r>
              <a:rPr lang="en-US" altLang="zh-CN" b="0" dirty="0"/>
              <a:t>()][corectObj.1ength];</a:t>
            </a:r>
            <a:endParaRPr lang="en-US" altLang="zh-CN" b="0" dirty="0"/>
          </a:p>
          <a:p>
            <a:r>
              <a:rPr lang="en-US" altLang="zh-CN" b="0" dirty="0"/>
              <a:t>                        </a:t>
            </a:r>
            <a:r>
              <a:rPr lang="en-US" altLang="zh-CN" dirty="0"/>
              <a:t>for</a:t>
            </a:r>
            <a:r>
              <a:rPr lang="en-US" altLang="zh-CN" b="0" dirty="0"/>
              <a:t>(</a:t>
            </a:r>
            <a:r>
              <a:rPr lang="en-US" altLang="zh-CN" dirty="0"/>
              <a:t>int</a:t>
            </a:r>
            <a:r>
              <a:rPr lang="en-US" altLang="zh-CN" b="0" dirty="0"/>
              <a:t> </a:t>
            </a:r>
            <a:r>
              <a:rPr lang="en-US" altLang="zh-CN" b="0" dirty="0" err="1"/>
              <a:t>i</a:t>
            </a:r>
            <a:r>
              <a:rPr lang="en-US" altLang="zh-CN" b="0" dirty="0"/>
              <a:t>= 0;i&lt; </a:t>
            </a:r>
            <a:r>
              <a:rPr lang="en-US" altLang="zh-CN" b="0" dirty="0" err="1"/>
              <a:t>corectObj.length</a:t>
            </a:r>
            <a:r>
              <a:rPr lang="en-US" altLang="zh-CN" b="0" dirty="0"/>
              <a:t>; </a:t>
            </a:r>
            <a:r>
              <a:rPr lang="en-US" altLang="zh-CN" b="0" dirty="0" err="1"/>
              <a:t>i</a:t>
            </a:r>
            <a:r>
              <a:rPr lang="en-US" altLang="zh-CN" b="0" dirty="0"/>
              <a:t>++){</a:t>
            </a:r>
            <a:endParaRPr lang="en-US" altLang="zh-CN" b="0" dirty="0"/>
          </a:p>
          <a:p>
            <a:r>
              <a:rPr lang="en-US" altLang="zh-CN" b="0" dirty="0"/>
              <a:t>                                </a:t>
            </a:r>
            <a:r>
              <a:rPr lang="en-US" altLang="zh-CN" b="0" dirty="0" err="1"/>
              <a:t>dataCache</a:t>
            </a:r>
            <a:r>
              <a:rPr lang="en-US" altLang="zh-CN" b="0" dirty="0"/>
              <a:t> = </a:t>
            </a:r>
            <a:r>
              <a:rPr lang="en-US" altLang="zh-CN" dirty="0" err="1"/>
              <a:t>super</a:t>
            </a:r>
            <a:r>
              <a:rPr lang="en-US" altLang="zh-CN" b="0" dirty="0" err="1"/>
              <a:t>.getColumnData</a:t>
            </a:r>
            <a:r>
              <a:rPr lang="en-US" altLang="zh-CN" b="0" dirty="0"/>
              <a:t>(</a:t>
            </a:r>
            <a:r>
              <a:rPr lang="en-US" altLang="zh-CN" b="0" dirty="0" err="1"/>
              <a:t>corectObj,i</a:t>
            </a:r>
            <a:r>
              <a:rPr lang="en-US" altLang="zh-CN" b="0" dirty="0"/>
              <a:t>);</a:t>
            </a:r>
            <a:endParaRPr lang="en-US" altLang="zh-CN" b="0" dirty="0"/>
          </a:p>
          <a:p>
            <a:r>
              <a:rPr lang="en-US" altLang="zh-CN" b="0" dirty="0"/>
              <a:t>                                //</a:t>
            </a:r>
            <a:r>
              <a:rPr lang="zh-CN" altLang="en-US" b="0" dirty="0"/>
              <a:t>获得对象元素中的数据中的每一列，组成一个数组</a:t>
            </a:r>
            <a:endParaRPr lang="en-US" altLang="zh-CN" b="0" dirty="0"/>
          </a:p>
          <a:p>
            <a:r>
              <a:rPr lang="en-US" altLang="zh-CN" b="0" dirty="0"/>
              <a:t>                                tempMatrix1[</a:t>
            </a:r>
            <a:r>
              <a:rPr lang="en-US" altLang="zh-CN" b="0" dirty="0" err="1"/>
              <a:t>i</a:t>
            </a:r>
            <a:r>
              <a:rPr lang="en-US" altLang="zh-CN" b="0" dirty="0"/>
              <a:t>] = </a:t>
            </a:r>
            <a:r>
              <a:rPr lang="en-US" altLang="zh-CN" dirty="0" err="1"/>
              <a:t>super</a:t>
            </a:r>
            <a:r>
              <a:rPr lang="en-US" altLang="zh-CN" b="0" dirty="0" err="1"/>
              <a:t>.horiExclusive_OR</a:t>
            </a:r>
            <a:r>
              <a:rPr lang="en-US" altLang="zh-CN" b="0" dirty="0"/>
              <a:t>(</a:t>
            </a:r>
            <a:r>
              <a:rPr lang="en-US" altLang="zh-CN" b="0" dirty="0" err="1"/>
              <a:t>dataCache</a:t>
            </a:r>
            <a:r>
              <a:rPr lang="en-US" altLang="zh-CN" b="0" dirty="0"/>
              <a:t>);</a:t>
            </a:r>
            <a:endParaRPr lang="en-US" altLang="zh-CN" b="0" dirty="0"/>
          </a:p>
          <a:p>
            <a:r>
              <a:rPr lang="en-US" altLang="zh-CN" b="0" dirty="0"/>
              <a:t>                                //</a:t>
            </a:r>
            <a:r>
              <a:rPr lang="zh-CN" altLang="en-US" b="0" dirty="0"/>
              <a:t>修复数据块</a:t>
            </a:r>
            <a:r>
              <a:rPr lang="en-US" altLang="zh-CN" b="0" dirty="0"/>
              <a:t>error1;</a:t>
            </a:r>
            <a:endParaRPr lang="en-US" altLang="zh-CN" b="0" dirty="0"/>
          </a:p>
          <a:p>
            <a:r>
              <a:rPr lang="en-US" altLang="zh-CN" b="0" dirty="0"/>
              <a:t>                                tempMatrix2[</a:t>
            </a:r>
            <a:r>
              <a:rPr lang="en-US" altLang="zh-CN" b="0" dirty="0" err="1"/>
              <a:t>i</a:t>
            </a:r>
            <a:r>
              <a:rPr lang="en-US" altLang="zh-CN" b="0" dirty="0"/>
              <a:t>] = </a:t>
            </a:r>
            <a:r>
              <a:rPr lang="en-US" altLang="zh-CN" dirty="0" err="1"/>
              <a:t>super</a:t>
            </a:r>
            <a:r>
              <a:rPr lang="en-US" altLang="zh-CN" b="0" dirty="0" err="1"/>
              <a:t>.diagExclusive_OR</a:t>
            </a:r>
            <a:r>
              <a:rPr lang="en-US" altLang="zh-CN" b="0" dirty="0"/>
              <a:t>(</a:t>
            </a:r>
            <a:r>
              <a:rPr lang="en-US" altLang="zh-CN" b="0" dirty="0" err="1"/>
              <a:t>dataCache</a:t>
            </a:r>
            <a:r>
              <a:rPr lang="en-US" altLang="zh-CN" b="0" dirty="0"/>
              <a:t>,                     </a:t>
            </a:r>
            <a:endParaRPr lang="en-US" altLang="zh-CN" b="0" dirty="0"/>
          </a:p>
          <a:p>
            <a:r>
              <a:rPr lang="en-US" altLang="zh-CN" b="0" dirty="0"/>
              <a:t>                                                             </a:t>
            </a:r>
            <a:r>
              <a:rPr lang="en-US" altLang="zh-CN" b="0" dirty="0" err="1"/>
              <a:t>encoding.getCommonFactor</a:t>
            </a:r>
            <a:r>
              <a:rPr lang="en-US" altLang="zh-CN" b="0" dirty="0"/>
              <a:t>(</a:t>
            </a:r>
            <a:r>
              <a:rPr lang="en-US" altLang="zh-CN" b="0" dirty="0" err="1"/>
              <a:t>dataCach</a:t>
            </a:r>
            <a:r>
              <a:rPr lang="en-US" altLang="zh-CN" b="0" dirty="0"/>
              <a:t>)</a:t>
            </a:r>
            <a:endParaRPr lang="en-US" altLang="zh-CN" b="0" dirty="0"/>
          </a:p>
          <a:p>
            <a:r>
              <a:rPr lang="en-US" altLang="zh-CN" b="0" dirty="0"/>
              <a:t>                                 //</a:t>
            </a:r>
            <a:r>
              <a:rPr lang="zh-CN" altLang="en-US" b="0" dirty="0"/>
              <a:t>修复数据块</a:t>
            </a:r>
            <a:r>
              <a:rPr lang="en-US" altLang="zh-CN" b="0" dirty="0"/>
              <a:t>error2;</a:t>
            </a:r>
            <a:endParaRPr lang="en-US" altLang="zh-CN" b="0" dirty="0"/>
          </a:p>
          <a:p>
            <a:r>
              <a:rPr lang="en-US" altLang="zh-CN" b="0" dirty="0"/>
              <a:t>                          }</a:t>
            </a:r>
            <a:endParaRPr lang="en-US" altLang="zh-CN" b="0" dirty="0"/>
          </a:p>
          <a:p>
            <a:r>
              <a:rPr lang="en-US" altLang="zh-CN" b="0" dirty="0"/>
              <a:t>                           /**</a:t>
            </a:r>
            <a:r>
              <a:rPr lang="zh-CN" altLang="en-US" b="0" dirty="0"/>
              <a:t>将修复的数据存入对象*</a:t>
            </a:r>
            <a:r>
              <a:rPr lang="en-US" altLang="zh-CN" b="0" dirty="0"/>
              <a:t>/</a:t>
            </a:r>
            <a:endParaRPr lang="en-US" altLang="zh-CN" b="0" dirty="0"/>
          </a:p>
          <a:p>
            <a:r>
              <a:rPr lang="en-US" altLang="zh-CN" dirty="0"/>
              <a:t>                           </a:t>
            </a:r>
            <a:r>
              <a:rPr lang="en-US" altLang="zh-CN" dirty="0" err="1"/>
              <a:t>super</a:t>
            </a:r>
            <a:r>
              <a:rPr lang="en-US" altLang="zh-CN" b="0" dirty="0" err="1"/>
              <a:t>.matrixTransposition</a:t>
            </a:r>
            <a:r>
              <a:rPr lang="en-US" altLang="zh-CN" b="0" dirty="0"/>
              <a:t>(tempMatrix1,temp);               </a:t>
            </a:r>
            <a:endParaRPr lang="zh-CN" altLang="en-US" b="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EVENODD</a:t>
            </a:r>
            <a:r>
              <a:rPr lang="zh-CN" altLang="en-US" sz="2400" dirty="0">
                <a:sym typeface="+mn-ea"/>
              </a:rPr>
              <a:t>码的译码仿真</a:t>
            </a:r>
            <a:endParaRPr lang="zh-CN" altLang="en-US" sz="2400" dirty="0">
              <a:sym typeface="+mn-ea"/>
            </a:endParaRPr>
          </a:p>
        </p:txBody>
      </p:sp>
      <p:sp>
        <p:nvSpPr>
          <p:cNvPr id="12" name="文本框 11"/>
          <p:cNvSpPr txBox="1"/>
          <p:nvPr/>
        </p:nvSpPr>
        <p:spPr>
          <a:xfrm>
            <a:off x="387072" y="990664"/>
            <a:ext cx="8742454" cy="5571012"/>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r>
              <a:rPr lang="en-US" altLang="zh-CN" b="0" dirty="0"/>
              <a:t>                           </a:t>
            </a:r>
            <a:r>
              <a:rPr lang="en-US" altLang="zh-CN" b="0" dirty="0" err="1"/>
              <a:t>tempMemory</a:t>
            </a:r>
            <a:r>
              <a:rPr lang="en-US" altLang="zh-CN" b="0" dirty="0"/>
              <a:t>[error1].read(temp);</a:t>
            </a:r>
            <a:endParaRPr lang="en-US" altLang="zh-CN" b="0" dirty="0"/>
          </a:p>
          <a:p>
            <a:r>
              <a:rPr lang="en-US" altLang="zh-CN" b="0" dirty="0"/>
              <a:t>                           </a:t>
            </a:r>
            <a:r>
              <a:rPr lang="en-US" altLang="zh-CN" dirty="0" err="1"/>
              <a:t>super</a:t>
            </a:r>
            <a:r>
              <a:rPr lang="en-US" altLang="zh-CN" b="0" dirty="0" err="1"/>
              <a:t>.matrixTransposition</a:t>
            </a:r>
            <a:r>
              <a:rPr lang="en-US" altLang="zh-CN" b="0" dirty="0"/>
              <a:t>(tempMatrix2, temp);</a:t>
            </a:r>
            <a:endParaRPr lang="en-US" altLang="zh-CN" b="0" dirty="0"/>
          </a:p>
          <a:p>
            <a:r>
              <a:rPr lang="en-US" altLang="zh-CN" b="0" dirty="0"/>
              <a:t>                           </a:t>
            </a:r>
            <a:r>
              <a:rPr lang="en-US" altLang="zh-CN" b="0" dirty="0" err="1"/>
              <a:t>tempMemory</a:t>
            </a:r>
            <a:r>
              <a:rPr lang="en-US" altLang="zh-CN" b="0" dirty="0"/>
              <a:t>[error2].read( temp);</a:t>
            </a:r>
            <a:endParaRPr lang="en-US" altLang="zh-CN" b="0" dirty="0"/>
          </a:p>
          <a:p>
            <a:r>
              <a:rPr lang="en-US" altLang="zh-CN" b="0" dirty="0"/>
              <a:t>                   }</a:t>
            </a:r>
            <a:endParaRPr lang="en-US" altLang="zh-CN" b="0" dirty="0"/>
          </a:p>
          <a:p>
            <a:r>
              <a:rPr lang="en-US" altLang="zh-CN" b="0" dirty="0"/>
              <a:t>                   </a:t>
            </a:r>
            <a:r>
              <a:rPr lang="en-US" altLang="zh-CN" dirty="0"/>
              <a:t>else if</a:t>
            </a:r>
            <a:r>
              <a:rPr lang="en-US" altLang="zh-CN" b="0" dirty="0"/>
              <a:t>(error1 &gt;= 0 &amp;&amp; </a:t>
            </a:r>
            <a:r>
              <a:rPr lang="en-US" altLang="zh-CN" b="0" dirty="0" err="1"/>
              <a:t>errorl</a:t>
            </a:r>
            <a:r>
              <a:rPr lang="en-US" altLang="zh-CN" b="0" dirty="0"/>
              <a:t> &lt; </a:t>
            </a:r>
            <a:r>
              <a:rPr lang="en-US" altLang="zh-CN" b="0" dirty="0" err="1"/>
              <a:t>tempMemory.length</a:t>
            </a:r>
            <a:r>
              <a:rPr lang="en-US" altLang="zh-CN" b="0" dirty="0"/>
              <a:t> - 2) &amp;&amp; error2 ==</a:t>
            </a:r>
            <a:r>
              <a:rPr lang="en-US" altLang="zh-CN" b="0" dirty="0" err="1"/>
              <a:t>tempMemory.length</a:t>
            </a:r>
            <a:r>
              <a:rPr lang="en-US" altLang="zh-CN" b="0" dirty="0"/>
              <a:t>- 2 ){      //</a:t>
            </a:r>
            <a:r>
              <a:rPr lang="zh-CN" altLang="en-US" b="0" dirty="0">
                <a:solidFill>
                  <a:srgbClr val="FF0000"/>
                </a:solidFill>
              </a:rPr>
              <a:t>原数据块和水平校验数据块的数据出错</a:t>
            </a:r>
            <a:endParaRPr lang="en-US" altLang="zh-CN" b="0" dirty="0">
              <a:solidFill>
                <a:srgbClr val="FF0000"/>
              </a:solidFill>
            </a:endParaRPr>
          </a:p>
          <a:p>
            <a:r>
              <a:rPr lang="en-US" altLang="zh-CN" b="0" dirty="0"/>
              <a:t>                            </a:t>
            </a:r>
            <a:r>
              <a:rPr lang="en-US" altLang="zh-CN" dirty="0"/>
              <a:t>int</a:t>
            </a:r>
            <a:r>
              <a:rPr lang="en-US" altLang="zh-CN" b="0" dirty="0"/>
              <a:t> s= 0;</a:t>
            </a:r>
            <a:endParaRPr lang="en-US" altLang="zh-CN" b="0" dirty="0"/>
          </a:p>
          <a:p>
            <a:r>
              <a:rPr lang="en-US" altLang="zh-CN" dirty="0"/>
              <a:t>                            int</a:t>
            </a:r>
            <a:r>
              <a:rPr lang="en-US" altLang="zh-CN" b="0" dirty="0"/>
              <a:t> m = </a:t>
            </a:r>
            <a:r>
              <a:rPr lang="en-US" altLang="zh-CN" b="0" dirty="0" err="1"/>
              <a:t>tempMemory.length</a:t>
            </a:r>
            <a:r>
              <a:rPr lang="en-US" altLang="zh-CN" b="0" dirty="0"/>
              <a:t>- 2;</a:t>
            </a:r>
            <a:endParaRPr lang="en-US" altLang="zh-CN" b="0" dirty="0"/>
          </a:p>
          <a:p>
            <a:r>
              <a:rPr lang="en-US" altLang="zh-CN" b="0" dirty="0"/>
              <a:t>                            tempMatrix1 = </a:t>
            </a:r>
            <a:r>
              <a:rPr lang="en-US" altLang="zh-CN" dirty="0"/>
              <a:t>new int</a:t>
            </a:r>
            <a:r>
              <a:rPr lang="en-US" altLang="zh-CN" b="0" dirty="0"/>
              <a:t>[</a:t>
            </a:r>
            <a:r>
              <a:rPr lang="en-US" altLang="zh-CN" b="0" dirty="0" err="1"/>
              <a:t>tempMemory</a:t>
            </a:r>
            <a:r>
              <a:rPr lang="en-US" altLang="zh-CN" b="0" dirty="0"/>
              <a:t>[0].</a:t>
            </a:r>
            <a:r>
              <a:rPr lang="en-US" altLang="zh-CN" b="0" dirty="0" err="1"/>
              <a:t>getRow</a:t>
            </a:r>
            <a:r>
              <a:rPr lang="en-US" altLang="zh-CN" b="0" dirty="0"/>
              <a:t>()][</a:t>
            </a:r>
            <a:r>
              <a:rPr lang="en-US" altLang="zh-CN" b="0" dirty="0" err="1"/>
              <a:t>tempMemory</a:t>
            </a:r>
            <a:r>
              <a:rPr lang="en-US" altLang="zh-CN" b="0" dirty="0"/>
              <a:t>[0].getColumn0];</a:t>
            </a:r>
            <a:endParaRPr lang="en-US" altLang="zh-CN" b="0" dirty="0"/>
          </a:p>
          <a:p>
            <a:r>
              <a:rPr lang="en-US" altLang="zh-CN" dirty="0"/>
              <a:t>                            int</a:t>
            </a:r>
            <a:r>
              <a:rPr lang="en-US" altLang="zh-CN" b="0" dirty="0"/>
              <a:t> [][] </a:t>
            </a:r>
            <a:r>
              <a:rPr lang="en-US" altLang="zh-CN" b="0" dirty="0" err="1"/>
              <a:t>tempCache</a:t>
            </a:r>
            <a:r>
              <a:rPr lang="en-US" altLang="zh-CN" b="0" dirty="0"/>
              <a:t> = </a:t>
            </a:r>
            <a:r>
              <a:rPr lang="en-US" altLang="zh-CN" dirty="0"/>
              <a:t>new int</a:t>
            </a:r>
            <a:r>
              <a:rPr lang="en-US" altLang="zh-CN" b="0" dirty="0"/>
              <a:t>[</a:t>
            </a:r>
            <a:r>
              <a:rPr lang="en-US" altLang="zh-CN" b="0" dirty="0" err="1"/>
              <a:t>tempMemory</a:t>
            </a:r>
            <a:r>
              <a:rPr lang="en-US" altLang="zh-CN" b="0" dirty="0"/>
              <a:t>[0].</a:t>
            </a:r>
            <a:r>
              <a:rPr lang="en-US" altLang="zh-CN" b="0" dirty="0" err="1"/>
              <a:t>getRow</a:t>
            </a:r>
            <a:r>
              <a:rPr lang="en-US" altLang="zh-CN" b="0" dirty="0"/>
              <a:t>()][</a:t>
            </a:r>
            <a:r>
              <a:rPr lang="en-US" altLang="zh-CN" b="0" dirty="0" err="1"/>
              <a:t>tempMemory.length</a:t>
            </a:r>
            <a:r>
              <a:rPr lang="en-US" altLang="zh-CN" b="0" dirty="0"/>
              <a:t>];               </a:t>
            </a:r>
            <a:endParaRPr lang="zh-CN" altLang="en-US" b="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EVENODD</a:t>
            </a:r>
            <a:r>
              <a:rPr lang="zh-CN" altLang="en-US" sz="2400" dirty="0">
                <a:sym typeface="+mn-ea"/>
              </a:rPr>
              <a:t>码的译码仿真</a:t>
            </a:r>
            <a:endParaRPr lang="zh-CN" altLang="en-US" sz="2400" dirty="0">
              <a:sym typeface="+mn-ea"/>
            </a:endParaRPr>
          </a:p>
        </p:txBody>
      </p:sp>
      <p:sp>
        <p:nvSpPr>
          <p:cNvPr id="12" name="文本框 11"/>
          <p:cNvSpPr txBox="1"/>
          <p:nvPr/>
        </p:nvSpPr>
        <p:spPr>
          <a:xfrm>
            <a:off x="200773" y="1066862"/>
            <a:ext cx="8742454" cy="5109347"/>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r>
              <a:rPr lang="en-US" altLang="zh-CN" b="0" dirty="0"/>
              <a:t>                           </a:t>
            </a:r>
            <a:r>
              <a:rPr lang="en-US" altLang="zh-CN" b="0" dirty="0" err="1"/>
              <a:t>dataCache</a:t>
            </a:r>
            <a:r>
              <a:rPr lang="en-US" altLang="zh-CN" b="0" dirty="0"/>
              <a:t> =</a:t>
            </a:r>
            <a:r>
              <a:rPr lang="en-US" altLang="zh-CN" dirty="0"/>
              <a:t>new int</a:t>
            </a:r>
            <a:r>
              <a:rPr lang="en-US" altLang="zh-CN" b="0" dirty="0"/>
              <a:t>[</a:t>
            </a:r>
            <a:r>
              <a:rPr lang="en-US" altLang="zh-CN" b="0" dirty="0" err="1"/>
              <a:t>tempMemory</a:t>
            </a:r>
            <a:r>
              <a:rPr lang="en-US" altLang="zh-CN" b="0" dirty="0"/>
              <a:t>[0].</a:t>
            </a:r>
            <a:r>
              <a:rPr lang="en-US" altLang="zh-CN" b="0" dirty="0" err="1"/>
              <a:t>getRow</a:t>
            </a:r>
            <a:r>
              <a:rPr lang="en-US" altLang="zh-CN" b="0" dirty="0"/>
              <a:t>() + 1][</a:t>
            </a:r>
            <a:r>
              <a:rPr lang="en-US" altLang="zh-CN" b="0" dirty="0" err="1"/>
              <a:t>tempMemory.length</a:t>
            </a:r>
            <a:r>
              <a:rPr lang="en-US" altLang="zh-CN" b="0" dirty="0"/>
              <a:t>];</a:t>
            </a:r>
            <a:endParaRPr lang="en-US" altLang="zh-CN" b="0" dirty="0"/>
          </a:p>
          <a:p>
            <a:r>
              <a:rPr lang="en-US" altLang="zh-CN" b="0" dirty="0"/>
              <a:t>                           //</a:t>
            </a:r>
            <a:r>
              <a:rPr lang="zh-CN" altLang="en-US" b="0" dirty="0"/>
              <a:t>存储增加一行的数据</a:t>
            </a:r>
            <a:endParaRPr lang="en-US" altLang="zh-CN" b="0" dirty="0"/>
          </a:p>
          <a:p>
            <a:r>
              <a:rPr lang="en-US" altLang="zh-CN" b="0" dirty="0"/>
              <a:t>                           </a:t>
            </a:r>
            <a:r>
              <a:rPr lang="en-US" altLang="zh-CN" dirty="0"/>
              <a:t>for</a:t>
            </a:r>
            <a:r>
              <a:rPr lang="en-US" altLang="zh-CN" b="0" dirty="0"/>
              <a:t>(</a:t>
            </a:r>
            <a:r>
              <a:rPr lang="en-US" altLang="zh-CN" dirty="0"/>
              <a:t>int</a:t>
            </a:r>
            <a:r>
              <a:rPr lang="en-US" altLang="zh-CN" b="0" dirty="0"/>
              <a:t> </a:t>
            </a:r>
            <a:r>
              <a:rPr lang="en-US" altLang="zh-CN" b="0" dirty="0" err="1"/>
              <a:t>i</a:t>
            </a:r>
            <a:r>
              <a:rPr lang="en-US" altLang="zh-CN" b="0" dirty="0"/>
              <a:t>= 0;i&lt;</a:t>
            </a:r>
            <a:r>
              <a:rPr lang="en-US" altLang="zh-CN" b="0" dirty="0" err="1"/>
              <a:t>tempMemory</a:t>
            </a:r>
            <a:r>
              <a:rPr lang="en-US" altLang="zh-CN" b="0" dirty="0"/>
              <a:t>[0].</a:t>
            </a:r>
            <a:r>
              <a:rPr lang="en-US" altLang="zh-CN" b="0" dirty="0" err="1"/>
              <a:t>getColumn</a:t>
            </a:r>
            <a:r>
              <a:rPr lang="en-US" altLang="zh-CN" b="0" dirty="0"/>
              <a:t>(); </a:t>
            </a:r>
            <a:r>
              <a:rPr lang="en-US" altLang="zh-CN" b="0" dirty="0" err="1"/>
              <a:t>i</a:t>
            </a:r>
            <a:r>
              <a:rPr lang="en-US" altLang="zh-CN" b="0" dirty="0"/>
              <a:t>++){</a:t>
            </a:r>
            <a:endParaRPr lang="en-US" altLang="zh-CN" b="0" dirty="0"/>
          </a:p>
          <a:p>
            <a:r>
              <a:rPr lang="en-US" altLang="zh-CN" b="0" dirty="0"/>
              <a:t>                                     </a:t>
            </a:r>
            <a:r>
              <a:rPr lang="en-US" altLang="zh-CN" b="0" dirty="0" err="1"/>
              <a:t>tempCache</a:t>
            </a:r>
            <a:r>
              <a:rPr lang="en-US" altLang="zh-CN" b="0" dirty="0"/>
              <a:t> = </a:t>
            </a:r>
            <a:r>
              <a:rPr lang="en-US" altLang="zh-CN" dirty="0" err="1"/>
              <a:t>super</a:t>
            </a:r>
            <a:r>
              <a:rPr lang="en-US" altLang="zh-CN" b="0" dirty="0" err="1"/>
              <a:t>.getColumnData</a:t>
            </a:r>
            <a:r>
              <a:rPr lang="en-US" altLang="zh-CN" b="0" dirty="0"/>
              <a:t>(</a:t>
            </a:r>
            <a:r>
              <a:rPr lang="en-US" altLang="zh-CN" b="0" dirty="0" err="1"/>
              <a:t>tempMemory</a:t>
            </a:r>
            <a:r>
              <a:rPr lang="en-US" altLang="zh-CN" b="0" dirty="0"/>
              <a:t>, </a:t>
            </a:r>
            <a:r>
              <a:rPr lang="en-US" altLang="zh-CN" b="0" dirty="0" err="1"/>
              <a:t>i</a:t>
            </a:r>
            <a:r>
              <a:rPr lang="en-US" altLang="zh-CN" b="0" dirty="0"/>
              <a:t>);</a:t>
            </a:r>
            <a:endParaRPr lang="en-US" altLang="zh-CN" b="0" dirty="0"/>
          </a:p>
          <a:p>
            <a:r>
              <a:rPr lang="en-US" altLang="zh-CN" b="0" dirty="0"/>
              <a:t>                                     //</a:t>
            </a:r>
            <a:r>
              <a:rPr lang="zh-CN" altLang="en-US" b="0" dirty="0"/>
              <a:t>获取对象数组中每一个元素对应列的数据</a:t>
            </a:r>
            <a:endParaRPr lang="en-US" altLang="zh-CN" b="0" dirty="0"/>
          </a:p>
          <a:p>
            <a:r>
              <a:rPr lang="en-US" altLang="zh-CN" b="0" dirty="0"/>
              <a:t>                                     </a:t>
            </a:r>
            <a:r>
              <a:rPr lang="en-US" altLang="zh-CN" b="0" dirty="0" err="1"/>
              <a:t>dataCache</a:t>
            </a:r>
            <a:r>
              <a:rPr lang="en-US" altLang="zh-CN" b="0" dirty="0"/>
              <a:t> = </a:t>
            </a:r>
            <a:r>
              <a:rPr lang="en-US" altLang="zh-CN" dirty="0" err="1"/>
              <a:t>super</a:t>
            </a:r>
            <a:r>
              <a:rPr lang="en-US" altLang="zh-CN" b="0" dirty="0" err="1"/>
              <a:t>.addRow</a:t>
            </a:r>
            <a:r>
              <a:rPr lang="en-US" altLang="zh-CN" b="0" dirty="0"/>
              <a:t>(</a:t>
            </a:r>
            <a:r>
              <a:rPr lang="en-US" altLang="zh-CN" b="0" dirty="0" err="1"/>
              <a:t>tempCache</a:t>
            </a:r>
            <a:r>
              <a:rPr lang="en-US" altLang="zh-CN" b="0" dirty="0"/>
              <a:t>)//</a:t>
            </a:r>
            <a:r>
              <a:rPr lang="zh-CN" altLang="en-US" b="0" dirty="0"/>
              <a:t>增加一行</a:t>
            </a:r>
            <a:endParaRPr lang="en-US" altLang="zh-CN" b="0" dirty="0"/>
          </a:p>
          <a:p>
            <a:r>
              <a:rPr lang="en-US" altLang="zh-CN" b="0" dirty="0"/>
              <a:t>                                     /**--</a:t>
            </a:r>
            <a:r>
              <a:rPr lang="zh-CN" altLang="en-US" b="0" dirty="0"/>
              <a:t>计算公共因子</a:t>
            </a:r>
            <a:r>
              <a:rPr lang="en-US" altLang="zh-CN" b="0" dirty="0"/>
              <a:t>-----*/</a:t>
            </a:r>
            <a:endParaRPr lang="en-US" altLang="zh-CN" b="0" dirty="0"/>
          </a:p>
          <a:p>
            <a:r>
              <a:rPr lang="en-US" altLang="zh-CN" b="0" dirty="0"/>
              <a:t>                                     s = </a:t>
            </a:r>
            <a:r>
              <a:rPr lang="en-US" altLang="zh-CN" b="0" dirty="0" err="1"/>
              <a:t>dataCache</a:t>
            </a:r>
            <a:r>
              <a:rPr lang="en-US" altLang="zh-CN" b="0" dirty="0"/>
              <a:t>(error1- 1 + m)%m][m+ 1]; </a:t>
            </a:r>
            <a:endParaRPr lang="en-US" altLang="zh-CN" b="0" dirty="0"/>
          </a:p>
          <a:p>
            <a:r>
              <a:rPr lang="en-US" altLang="zh-CN" b="0" dirty="0"/>
              <a:t>                                     </a:t>
            </a:r>
            <a:r>
              <a:rPr lang="en-US" altLang="zh-CN" dirty="0"/>
              <a:t>for</a:t>
            </a:r>
            <a:r>
              <a:rPr lang="en-US" altLang="zh-CN" b="0" dirty="0"/>
              <a:t>(</a:t>
            </a:r>
            <a:r>
              <a:rPr lang="en-US" altLang="zh-CN" dirty="0"/>
              <a:t>int </a:t>
            </a:r>
            <a:r>
              <a:rPr lang="en-US" altLang="zh-CN" b="0" dirty="0"/>
              <a:t>1=0;1&lt;m ;1++){</a:t>
            </a:r>
            <a:endParaRPr lang="en-US" altLang="zh-CN" b="0" dirty="0"/>
          </a:p>
          <a:p>
            <a:r>
              <a:rPr lang="en-US" altLang="zh-CN" b="0" dirty="0"/>
              <a:t>                                            s =s ^ </a:t>
            </a:r>
            <a:r>
              <a:rPr lang="en-US" altLang="zh-CN" b="0" dirty="0" err="1"/>
              <a:t>dataCache</a:t>
            </a:r>
            <a:r>
              <a:rPr lang="en-US" altLang="zh-CN" b="0" dirty="0"/>
              <a:t>[(error1-1- 1 + m)%m][1];</a:t>
            </a:r>
            <a:endParaRPr lang="en-US" altLang="zh-CN" b="0" dirty="0"/>
          </a:p>
          <a:p>
            <a:r>
              <a:rPr lang="en-US" altLang="zh-CN" b="0" dirty="0"/>
              <a:t>                                      }</a:t>
            </a:r>
            <a:endParaRPr lang="en-US" altLang="zh-CN" b="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EVENODD</a:t>
            </a:r>
            <a:r>
              <a:rPr lang="zh-CN" altLang="en-US" sz="2400" dirty="0">
                <a:sym typeface="+mn-ea"/>
              </a:rPr>
              <a:t>码的译码仿真</a:t>
            </a:r>
            <a:endParaRPr lang="zh-CN" altLang="en-US" sz="2400" dirty="0">
              <a:sym typeface="+mn-ea"/>
            </a:endParaRPr>
          </a:p>
        </p:txBody>
      </p:sp>
      <p:sp>
        <p:nvSpPr>
          <p:cNvPr id="12" name="文本框 11"/>
          <p:cNvSpPr txBox="1"/>
          <p:nvPr/>
        </p:nvSpPr>
        <p:spPr>
          <a:xfrm>
            <a:off x="387072" y="990664"/>
            <a:ext cx="8742454" cy="5109347"/>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r>
              <a:rPr lang="en-US" altLang="zh-CN" b="0" dirty="0"/>
              <a:t>                                       /**---</a:t>
            </a:r>
            <a:r>
              <a:rPr lang="zh-CN" altLang="en-US" b="0" dirty="0"/>
              <a:t>恢复第</a:t>
            </a:r>
            <a:r>
              <a:rPr lang="en-US" altLang="zh-CN" b="0" dirty="0"/>
              <a:t>error1</a:t>
            </a:r>
            <a:r>
              <a:rPr lang="zh-CN" altLang="en-US" b="0" dirty="0"/>
              <a:t>个数据块数据</a:t>
            </a:r>
            <a:r>
              <a:rPr lang="en-US" altLang="zh-CN" b="0" dirty="0"/>
              <a:t>---_*/</a:t>
            </a:r>
            <a:endParaRPr lang="en-US" altLang="zh-CN" b="0" dirty="0"/>
          </a:p>
          <a:p>
            <a:r>
              <a:rPr lang="en-US" altLang="zh-CN" b="0" dirty="0"/>
              <a:t>                                      </a:t>
            </a:r>
            <a:r>
              <a:rPr lang="en-US" altLang="zh-CN" dirty="0"/>
              <a:t>for</a:t>
            </a:r>
            <a:r>
              <a:rPr lang="en-US" altLang="zh-CN" b="0" dirty="0"/>
              <a:t>(</a:t>
            </a:r>
            <a:r>
              <a:rPr lang="en-US" altLang="zh-CN" dirty="0"/>
              <a:t>int</a:t>
            </a:r>
            <a:r>
              <a:rPr lang="en-US" altLang="zh-CN" b="0" dirty="0"/>
              <a:t> k=0;k&lt;m-1; k++){</a:t>
            </a:r>
            <a:endParaRPr lang="en-US" altLang="zh-CN" b="0" dirty="0"/>
          </a:p>
          <a:p>
            <a:r>
              <a:rPr lang="en-US" altLang="zh-CN" b="0" dirty="0"/>
              <a:t>                                             tempMatrix1[k][</a:t>
            </a:r>
            <a:r>
              <a:rPr lang="en-US" altLang="zh-CN" b="0" dirty="0" err="1"/>
              <a:t>i</a:t>
            </a:r>
            <a:r>
              <a:rPr lang="en-US" altLang="zh-CN" b="0" dirty="0"/>
              <a:t>] = s ^ </a:t>
            </a:r>
            <a:r>
              <a:rPr lang="en-US" altLang="zh-CN" b="0" dirty="0" err="1"/>
              <a:t>dataCache</a:t>
            </a:r>
            <a:r>
              <a:rPr lang="en-US" altLang="zh-CN" b="0" dirty="0"/>
              <a:t>[(k + error1 + m)%m][m + 1];</a:t>
            </a:r>
            <a:endParaRPr lang="en-US" altLang="zh-CN" b="0" dirty="0"/>
          </a:p>
          <a:p>
            <a:r>
              <a:rPr lang="en-US" altLang="zh-CN" b="0" dirty="0"/>
              <a:t>                                                   </a:t>
            </a:r>
            <a:r>
              <a:rPr lang="en-US" altLang="zh-CN" dirty="0"/>
              <a:t>for</a:t>
            </a:r>
            <a:r>
              <a:rPr lang="en-US" altLang="zh-CN" b="0" dirty="0"/>
              <a:t>(</a:t>
            </a:r>
            <a:r>
              <a:rPr lang="en-US" altLang="zh-CN" dirty="0"/>
              <a:t>int</a:t>
            </a:r>
            <a:r>
              <a:rPr lang="en-US" altLang="zh-CN" b="0" dirty="0"/>
              <a:t>1=0;1&lt; m; 1++){</a:t>
            </a:r>
            <a:endParaRPr lang="en-US" altLang="zh-CN" b="0" dirty="0"/>
          </a:p>
          <a:p>
            <a:r>
              <a:rPr lang="en-US" altLang="zh-CN" b="0" dirty="0"/>
              <a:t>                                                          if(1 != error1){</a:t>
            </a:r>
            <a:endParaRPr lang="en-US" altLang="zh-CN" b="0" dirty="0"/>
          </a:p>
          <a:p>
            <a:r>
              <a:rPr lang="en-US" altLang="zh-CN" b="0" dirty="0"/>
              <a:t>                                                                    tempMatrix1[k][</a:t>
            </a:r>
            <a:r>
              <a:rPr lang="en-US" altLang="zh-CN" b="0" dirty="0" err="1"/>
              <a:t>i</a:t>
            </a:r>
            <a:r>
              <a:rPr lang="en-US" altLang="zh-CN" b="0" dirty="0"/>
              <a:t>]=</a:t>
            </a:r>
            <a:endParaRPr lang="en-US" altLang="zh-CN" b="0" dirty="0"/>
          </a:p>
          <a:p>
            <a:r>
              <a:rPr lang="en-US" altLang="zh-CN" b="0" dirty="0"/>
              <a:t>tempMatrix1[k][</a:t>
            </a:r>
            <a:r>
              <a:rPr lang="en-US" altLang="zh-CN" b="0" dirty="0" err="1"/>
              <a:t>i</a:t>
            </a:r>
            <a:r>
              <a:rPr lang="en-US" altLang="zh-CN" b="0" dirty="0"/>
              <a:t>]^</a:t>
            </a:r>
            <a:r>
              <a:rPr lang="en-US" altLang="zh-CN" b="0" dirty="0" err="1"/>
              <a:t>dataCache</a:t>
            </a:r>
            <a:r>
              <a:rPr lang="en-US" altLang="zh-CN" b="0" dirty="0"/>
              <a:t>[(k+error1-l+m)%m][1];</a:t>
            </a:r>
            <a:endParaRPr lang="en-US" altLang="zh-CN" b="0" dirty="0"/>
          </a:p>
          <a:p>
            <a:r>
              <a:rPr lang="en-US" altLang="zh-CN" b="0" dirty="0"/>
              <a:t>                                                           }</a:t>
            </a:r>
            <a:endParaRPr lang="en-US" altLang="zh-CN" b="0" dirty="0"/>
          </a:p>
          <a:p>
            <a:r>
              <a:rPr lang="en-US" altLang="zh-CN" b="0" dirty="0"/>
              <a:t>                                                    }</a:t>
            </a:r>
            <a:endParaRPr lang="en-US" altLang="zh-CN" b="0" dirty="0"/>
          </a:p>
          <a:p>
            <a:r>
              <a:rPr lang="en-US" altLang="zh-CN" b="0" dirty="0"/>
              <a:t>                                       }</a:t>
            </a:r>
            <a:endParaRPr lang="en-US" altLang="zh-CN" b="0" dirty="0"/>
          </a:p>
          <a:p>
            <a:r>
              <a:rPr lang="en-US" altLang="zh-CN" b="0" dirty="0"/>
              <a:t>                          }</a:t>
            </a:r>
            <a:endParaRPr lang="zh-CN" altLang="en-US" b="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EVENODD</a:t>
            </a:r>
            <a:r>
              <a:rPr lang="zh-CN" altLang="en-US" sz="2400" dirty="0">
                <a:sym typeface="+mn-ea"/>
              </a:rPr>
              <a:t>码的译码仿真</a:t>
            </a:r>
            <a:endParaRPr lang="zh-CN" altLang="en-US" sz="2400" dirty="0">
              <a:sym typeface="+mn-ea"/>
            </a:endParaRPr>
          </a:p>
        </p:txBody>
      </p:sp>
      <p:sp>
        <p:nvSpPr>
          <p:cNvPr id="12" name="文本框 11"/>
          <p:cNvSpPr txBox="1"/>
          <p:nvPr/>
        </p:nvSpPr>
        <p:spPr>
          <a:xfrm>
            <a:off x="387072" y="990664"/>
            <a:ext cx="8742454" cy="5571012"/>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r>
              <a:rPr lang="en-US" altLang="zh-CN" b="0" dirty="0"/>
              <a:t>                          </a:t>
            </a:r>
            <a:r>
              <a:rPr lang="en-US" altLang="zh-CN" b="0" dirty="0" err="1"/>
              <a:t>tempMemory</a:t>
            </a:r>
            <a:r>
              <a:rPr lang="en-US" altLang="zh-CN" b="0" dirty="0"/>
              <a:t>[error1].read(tempMatrix1);//</a:t>
            </a:r>
            <a:r>
              <a:rPr lang="zh-CN" altLang="en-US" b="0" dirty="0"/>
              <a:t>恢复数据</a:t>
            </a:r>
            <a:endParaRPr lang="en-US" altLang="zh-CN" b="0" dirty="0"/>
          </a:p>
          <a:p>
            <a:r>
              <a:rPr lang="en-US" altLang="zh-CN" b="0" dirty="0"/>
              <a:t>                          /</a:t>
            </a:r>
            <a:r>
              <a:rPr lang="zh-CN" altLang="en-US" b="0" dirty="0"/>
              <a:t>*</a:t>
            </a:r>
            <a:r>
              <a:rPr lang="en-US" altLang="zh-CN" b="0" dirty="0"/>
              <a:t>-----</a:t>
            </a:r>
            <a:r>
              <a:rPr lang="zh-CN" altLang="en-US" b="0" dirty="0"/>
              <a:t>恢复第</a:t>
            </a:r>
            <a:r>
              <a:rPr lang="en-US" altLang="zh-CN" b="0" dirty="0"/>
              <a:t>error2</a:t>
            </a:r>
            <a:r>
              <a:rPr lang="zh-CN" altLang="en-US" b="0" dirty="0"/>
              <a:t>个数据块的数据</a:t>
            </a:r>
            <a:r>
              <a:rPr lang="en-US" altLang="zh-CN" b="0" dirty="0"/>
              <a:t>---*/</a:t>
            </a:r>
            <a:endParaRPr lang="en-US" altLang="zh-CN" b="0" dirty="0"/>
          </a:p>
          <a:p>
            <a:r>
              <a:rPr lang="en-US" altLang="zh-CN" b="0" dirty="0"/>
              <a:t>                         </a:t>
            </a:r>
            <a:r>
              <a:rPr lang="en-US" altLang="zh-CN" b="0" dirty="0" err="1"/>
              <a:t>corectObj</a:t>
            </a:r>
            <a:r>
              <a:rPr lang="en-US" altLang="zh-CN" b="0" dirty="0"/>
              <a:t> = </a:t>
            </a:r>
            <a:r>
              <a:rPr lang="en-US" altLang="zh-CN" dirty="0"/>
              <a:t>new</a:t>
            </a:r>
            <a:r>
              <a:rPr lang="en-US" altLang="zh-CN" b="0" dirty="0"/>
              <a:t> </a:t>
            </a:r>
            <a:r>
              <a:rPr lang="en-US" altLang="zh-CN" b="0" dirty="0" err="1"/>
              <a:t>pictureInComp</a:t>
            </a:r>
            <a:r>
              <a:rPr lang="en-US" altLang="zh-CN" b="0" dirty="0"/>
              <a:t>[m];</a:t>
            </a:r>
            <a:endParaRPr lang="en-US" altLang="zh-CN" b="0" dirty="0"/>
          </a:p>
          <a:p>
            <a:r>
              <a:rPr lang="en-US" altLang="zh-CN" b="0" dirty="0"/>
              <a:t>                         </a:t>
            </a:r>
            <a:r>
              <a:rPr lang="en-US" altLang="zh-CN" b="0" dirty="0" err="1"/>
              <a:t>System.arraycopy</a:t>
            </a:r>
            <a:r>
              <a:rPr lang="en-US" altLang="zh-CN" b="0" dirty="0"/>
              <a:t>(</a:t>
            </a:r>
            <a:r>
              <a:rPr lang="en-US" altLang="zh-CN" b="0" dirty="0" err="1"/>
              <a:t>tempMemory</a:t>
            </a:r>
            <a:r>
              <a:rPr lang="en-US" altLang="zh-CN" b="0" dirty="0"/>
              <a:t>, 0, </a:t>
            </a:r>
            <a:r>
              <a:rPr lang="en-US" altLang="zh-CN" b="0" dirty="0" err="1"/>
              <a:t>corectObj</a:t>
            </a:r>
            <a:r>
              <a:rPr lang="en-US" altLang="zh-CN" b="0" dirty="0"/>
              <a:t>, 0, m);</a:t>
            </a:r>
            <a:endParaRPr lang="en-US" altLang="zh-CN" b="0" dirty="0"/>
          </a:p>
          <a:p>
            <a:r>
              <a:rPr lang="en-US" altLang="zh-CN" b="0" dirty="0"/>
              <a:t>                         </a:t>
            </a:r>
            <a:r>
              <a:rPr lang="en-US" altLang="zh-CN" b="0" dirty="0" err="1"/>
              <a:t>dataCache</a:t>
            </a:r>
            <a:r>
              <a:rPr lang="en-US" altLang="zh-CN" b="0" dirty="0"/>
              <a:t> = </a:t>
            </a:r>
            <a:r>
              <a:rPr lang="en-US" altLang="zh-CN" dirty="0"/>
              <a:t>new int</a:t>
            </a:r>
            <a:r>
              <a:rPr lang="en-US" altLang="zh-CN" b="0" dirty="0"/>
              <a:t>[</a:t>
            </a:r>
            <a:r>
              <a:rPr lang="en-US" altLang="zh-CN" b="0" dirty="0" err="1"/>
              <a:t>tempMemory</a:t>
            </a:r>
            <a:r>
              <a:rPr lang="en-US" altLang="zh-CN" b="0" dirty="0"/>
              <a:t>[0].</a:t>
            </a:r>
            <a:r>
              <a:rPr lang="en-US" altLang="zh-CN" b="0" dirty="0" err="1"/>
              <a:t>getRow</a:t>
            </a:r>
            <a:r>
              <a:rPr lang="en-US" altLang="zh-CN" b="0" dirty="0"/>
              <a:t>()][m];</a:t>
            </a:r>
            <a:endParaRPr lang="en-US" altLang="zh-CN" b="0" dirty="0"/>
          </a:p>
          <a:p>
            <a:r>
              <a:rPr lang="en-US" altLang="zh-CN" b="0" dirty="0"/>
              <a:t>                        </a:t>
            </a:r>
            <a:r>
              <a:rPr lang="en-US" altLang="zh-CN" dirty="0"/>
              <a:t> for</a:t>
            </a:r>
            <a:r>
              <a:rPr lang="en-US" altLang="zh-CN" b="0" dirty="0"/>
              <a:t>(</a:t>
            </a:r>
            <a:r>
              <a:rPr lang="en-US" altLang="zh-CN" dirty="0"/>
              <a:t>int</a:t>
            </a:r>
            <a:r>
              <a:rPr lang="en-US" altLang="zh-CN" b="0" dirty="0"/>
              <a:t> </a:t>
            </a:r>
            <a:r>
              <a:rPr lang="en-US" altLang="zh-CN" b="0" dirty="0" err="1"/>
              <a:t>i</a:t>
            </a:r>
            <a:r>
              <a:rPr lang="en-US" altLang="zh-CN" b="0" dirty="0"/>
              <a:t>=0;i&lt; m; </a:t>
            </a:r>
            <a:r>
              <a:rPr lang="en-US" altLang="zh-CN" b="0" dirty="0" err="1"/>
              <a:t>i</a:t>
            </a:r>
            <a:r>
              <a:rPr lang="en-US" altLang="zh-CN" b="0" dirty="0"/>
              <a:t>++){</a:t>
            </a:r>
            <a:endParaRPr lang="en-US" altLang="zh-CN" b="0" dirty="0"/>
          </a:p>
          <a:p>
            <a:r>
              <a:rPr lang="en-US" altLang="zh-CN" b="0" dirty="0"/>
              <a:t>                                </a:t>
            </a:r>
            <a:r>
              <a:rPr lang="en-US" altLang="zh-CN" b="0" dirty="0" err="1"/>
              <a:t>dataCache</a:t>
            </a:r>
            <a:r>
              <a:rPr lang="en-US" altLang="zh-CN" b="0" dirty="0"/>
              <a:t>= </a:t>
            </a:r>
            <a:r>
              <a:rPr lang="en-US" altLang="zh-CN" dirty="0" err="1"/>
              <a:t>super</a:t>
            </a:r>
            <a:r>
              <a:rPr lang="en-US" altLang="zh-CN" b="0" dirty="0" err="1"/>
              <a:t>.getColumnData</a:t>
            </a:r>
            <a:r>
              <a:rPr lang="en-US" altLang="zh-CN" b="0" dirty="0"/>
              <a:t>(</a:t>
            </a:r>
            <a:r>
              <a:rPr lang="en-US" altLang="zh-CN" b="0" dirty="0" err="1"/>
              <a:t>corectObj</a:t>
            </a:r>
            <a:r>
              <a:rPr lang="en-US" altLang="zh-CN" b="0" dirty="0"/>
              <a:t>, </a:t>
            </a:r>
            <a:r>
              <a:rPr lang="en-US" altLang="zh-CN" b="0" dirty="0" err="1"/>
              <a:t>i</a:t>
            </a:r>
            <a:r>
              <a:rPr lang="en-US" altLang="zh-CN" b="0" dirty="0"/>
              <a:t>);</a:t>
            </a:r>
            <a:endParaRPr lang="en-US" altLang="zh-CN" b="0" dirty="0"/>
          </a:p>
          <a:p>
            <a:r>
              <a:rPr lang="en-US" altLang="zh-CN" b="0" dirty="0"/>
              <a:t>                                tempMatrix2[</a:t>
            </a:r>
            <a:r>
              <a:rPr lang="en-US" altLang="zh-CN" b="0" dirty="0" err="1"/>
              <a:t>i</a:t>
            </a:r>
            <a:r>
              <a:rPr lang="en-US" altLang="zh-CN" b="0" dirty="0"/>
              <a:t>] = </a:t>
            </a:r>
            <a:r>
              <a:rPr lang="en-US" altLang="zh-CN" b="0" dirty="0" err="1"/>
              <a:t>super.horiExclusive_OR</a:t>
            </a:r>
            <a:r>
              <a:rPr lang="en-US" altLang="zh-CN" b="0" dirty="0"/>
              <a:t>(</a:t>
            </a:r>
            <a:r>
              <a:rPr lang="en-US" altLang="zh-CN" b="0" dirty="0" err="1"/>
              <a:t>dataCache</a:t>
            </a:r>
            <a:r>
              <a:rPr lang="en-US" altLang="zh-CN" b="0" dirty="0"/>
              <a:t>);//</a:t>
            </a:r>
            <a:r>
              <a:rPr lang="zh-CN" altLang="en-US" b="0" dirty="0"/>
              <a:t>水平异或</a:t>
            </a:r>
            <a:endParaRPr lang="en-US" altLang="zh-CN" b="0" dirty="0"/>
          </a:p>
          <a:p>
            <a:r>
              <a:rPr lang="en-US" altLang="zh-CN" b="0" dirty="0"/>
              <a:t>                         }</a:t>
            </a:r>
            <a:endParaRPr lang="en-US" altLang="zh-CN" b="0" dirty="0"/>
          </a:p>
          <a:p>
            <a:r>
              <a:rPr lang="en-US" altLang="zh-CN" dirty="0"/>
              <a:t>                          </a:t>
            </a:r>
            <a:r>
              <a:rPr lang="en-US" altLang="zh-CN" dirty="0" err="1"/>
              <a:t>super</a:t>
            </a:r>
            <a:r>
              <a:rPr lang="en-US" altLang="zh-CN" b="0" dirty="0" err="1"/>
              <a:t>.matrixTransposition</a:t>
            </a:r>
            <a:r>
              <a:rPr lang="en-US" altLang="zh-CN" b="0" dirty="0"/>
              <a:t>(tempMatrix2, temp);</a:t>
            </a:r>
            <a:endParaRPr lang="en-US" altLang="zh-CN" b="0" dirty="0"/>
          </a:p>
          <a:p>
            <a:r>
              <a:rPr lang="en-US" altLang="zh-CN" b="0" dirty="0"/>
              <a:t>                          </a:t>
            </a:r>
            <a:r>
              <a:rPr lang="en-US" altLang="zh-CN" b="0" dirty="0" err="1"/>
              <a:t>tempMemory</a:t>
            </a:r>
            <a:r>
              <a:rPr lang="en-US" altLang="zh-CN" b="0" dirty="0"/>
              <a:t>[error2].read(temp);</a:t>
            </a:r>
            <a:endParaRPr lang="en-US" altLang="zh-CN" b="0" dirty="0"/>
          </a:p>
          <a:p>
            <a:r>
              <a:rPr lang="en-US" altLang="zh-CN" b="0" dirty="0"/>
              <a:t>          }</a:t>
            </a:r>
            <a:endParaRPr lang="zh-CN" altLang="en-US" b="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EVENODD</a:t>
            </a:r>
            <a:r>
              <a:rPr lang="zh-CN" altLang="en-US" sz="2400" dirty="0">
                <a:sym typeface="+mn-ea"/>
              </a:rPr>
              <a:t>码的译码仿真</a:t>
            </a:r>
            <a:endParaRPr lang="zh-CN" altLang="en-US" sz="2400" dirty="0">
              <a:sym typeface="+mn-ea"/>
            </a:endParaRPr>
          </a:p>
        </p:txBody>
      </p:sp>
      <p:sp>
        <p:nvSpPr>
          <p:cNvPr id="12" name="文本框 11"/>
          <p:cNvSpPr txBox="1"/>
          <p:nvPr/>
        </p:nvSpPr>
        <p:spPr>
          <a:xfrm>
            <a:off x="401546" y="990664"/>
            <a:ext cx="8742454" cy="4647683"/>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r>
              <a:rPr lang="en-US" altLang="zh-CN" b="0" dirty="0"/>
              <a:t>                 </a:t>
            </a:r>
            <a:r>
              <a:rPr lang="en-US" altLang="zh-CN" dirty="0"/>
              <a:t>else if</a:t>
            </a:r>
            <a:r>
              <a:rPr lang="en-US" altLang="zh-CN" b="0" dirty="0"/>
              <a:t>(error1 &gt;= 0 &amp;&amp; error1 &lt; tempMemory.length-2) &amp;&amp; error2 ==</a:t>
            </a:r>
            <a:r>
              <a:rPr lang="en-US" altLang="zh-CN" b="0" dirty="0" err="1"/>
              <a:t>tempMemory.length</a:t>
            </a:r>
            <a:r>
              <a:rPr lang="en-US" altLang="zh-CN" b="0" dirty="0"/>
              <a:t> - 1){        //</a:t>
            </a:r>
            <a:r>
              <a:rPr lang="zh-CN" altLang="en-US" b="0" dirty="0">
                <a:solidFill>
                  <a:srgbClr val="FF0000"/>
                </a:solidFill>
              </a:rPr>
              <a:t>原数据块和对角校验数据块出错</a:t>
            </a:r>
            <a:endParaRPr lang="en-US" altLang="zh-CN" b="0" dirty="0">
              <a:solidFill>
                <a:srgbClr val="FF0000"/>
              </a:solidFill>
            </a:endParaRPr>
          </a:p>
          <a:p>
            <a:r>
              <a:rPr lang="en-US" altLang="zh-CN" b="0" dirty="0"/>
              <a:t>                        </a:t>
            </a:r>
            <a:r>
              <a:rPr lang="en-US" altLang="zh-CN" dirty="0"/>
              <a:t>int</a:t>
            </a:r>
            <a:r>
              <a:rPr lang="en-US" altLang="zh-CN" b="0" dirty="0"/>
              <a:t> m = </a:t>
            </a:r>
            <a:r>
              <a:rPr lang="en-US" altLang="zh-CN" b="0" dirty="0" err="1"/>
              <a:t>tempMemory.length</a:t>
            </a:r>
            <a:r>
              <a:rPr lang="en-US" altLang="zh-CN" b="0" dirty="0"/>
              <a:t> - 2;</a:t>
            </a:r>
            <a:endParaRPr lang="en-US" altLang="zh-CN" b="0" dirty="0"/>
          </a:p>
          <a:p>
            <a:r>
              <a:rPr lang="en-US" altLang="zh-CN" b="0" dirty="0"/>
              <a:t>                        /*-----</a:t>
            </a:r>
            <a:r>
              <a:rPr lang="zh-CN" altLang="en-US" b="0" dirty="0"/>
              <a:t>修复数据块</a:t>
            </a:r>
            <a:r>
              <a:rPr lang="en-US" altLang="zh-CN" b="0" dirty="0"/>
              <a:t>error1-------*/</a:t>
            </a:r>
            <a:endParaRPr lang="en-US" altLang="zh-CN" b="0" dirty="0"/>
          </a:p>
          <a:p>
            <a:r>
              <a:rPr lang="en-US" altLang="zh-CN" b="0" dirty="0"/>
              <a:t>                        </a:t>
            </a:r>
            <a:r>
              <a:rPr lang="en-US" altLang="zh-CN" b="0" dirty="0" err="1"/>
              <a:t>corectObj</a:t>
            </a:r>
            <a:r>
              <a:rPr lang="en-US" altLang="zh-CN" b="0" dirty="0"/>
              <a:t> = </a:t>
            </a:r>
            <a:r>
              <a:rPr lang="en-US" altLang="zh-CN" dirty="0"/>
              <a:t>new</a:t>
            </a:r>
            <a:r>
              <a:rPr lang="en-US" altLang="zh-CN" b="0" dirty="0"/>
              <a:t> </a:t>
            </a:r>
            <a:r>
              <a:rPr lang="en-US" altLang="zh-CN" b="0" dirty="0" err="1"/>
              <a:t>pictureInComp</a:t>
            </a:r>
            <a:r>
              <a:rPr lang="en-US" altLang="zh-CN" b="0" dirty="0"/>
              <a:t>[m];</a:t>
            </a:r>
            <a:endParaRPr lang="en-US" altLang="zh-CN" b="0" dirty="0"/>
          </a:p>
          <a:p>
            <a:r>
              <a:rPr lang="en-US" altLang="zh-CN" b="0" dirty="0"/>
              <a:t>                        </a:t>
            </a:r>
            <a:r>
              <a:rPr lang="en-US" altLang="zh-CN" b="0" dirty="0" err="1"/>
              <a:t>dataCache</a:t>
            </a:r>
            <a:r>
              <a:rPr lang="en-US" altLang="zh-CN" b="0" dirty="0"/>
              <a:t> = </a:t>
            </a:r>
            <a:r>
              <a:rPr lang="en-US" altLang="zh-CN" dirty="0"/>
              <a:t>new int</a:t>
            </a:r>
            <a:r>
              <a:rPr lang="en-US" altLang="zh-CN" b="0" dirty="0"/>
              <a:t>[</a:t>
            </a:r>
            <a:r>
              <a:rPr lang="en-US" altLang="zh-CN" b="0" dirty="0" err="1"/>
              <a:t>tempMemory</a:t>
            </a:r>
            <a:r>
              <a:rPr lang="en-US" altLang="zh-CN" b="0" dirty="0"/>
              <a:t>[0]</a:t>
            </a:r>
            <a:r>
              <a:rPr lang="en-US" altLang="zh-CN" b="0" dirty="0" err="1"/>
              <a:t>getRow</a:t>
            </a:r>
            <a:r>
              <a:rPr lang="en-US" altLang="zh-CN" b="0" dirty="0"/>
              <a:t>()][m];</a:t>
            </a:r>
            <a:endParaRPr lang="en-US" altLang="zh-CN" b="0" dirty="0"/>
          </a:p>
          <a:p>
            <a:r>
              <a:rPr lang="en-US" altLang="zh-CN" b="0" dirty="0"/>
              <a:t>                        </a:t>
            </a:r>
            <a:r>
              <a:rPr lang="en-US" altLang="zh-CN" dirty="0"/>
              <a:t>for</a:t>
            </a:r>
            <a:r>
              <a:rPr lang="en-US" altLang="zh-CN" b="0" dirty="0"/>
              <a:t>(</a:t>
            </a:r>
            <a:r>
              <a:rPr lang="en-US" altLang="zh-CN" dirty="0"/>
              <a:t>int</a:t>
            </a:r>
            <a:r>
              <a:rPr lang="en-US" altLang="zh-CN" b="0" dirty="0"/>
              <a:t> </a:t>
            </a:r>
            <a:r>
              <a:rPr lang="en-US" altLang="zh-CN" b="0" dirty="0" err="1"/>
              <a:t>i</a:t>
            </a:r>
            <a:r>
              <a:rPr lang="en-US" altLang="zh-CN" b="0" dirty="0"/>
              <a:t>=0,j= 0; </a:t>
            </a:r>
            <a:r>
              <a:rPr lang="en-US" altLang="zh-CN" b="0" dirty="0" err="1"/>
              <a:t>i</a:t>
            </a:r>
            <a:r>
              <a:rPr lang="en-US" altLang="zh-CN" b="0" dirty="0"/>
              <a:t>&lt; </a:t>
            </a:r>
            <a:r>
              <a:rPr lang="en-US" altLang="zh-CN" b="0" dirty="0" err="1"/>
              <a:t>tempMemory.length</a:t>
            </a:r>
            <a:r>
              <a:rPr lang="en-US" altLang="zh-CN" b="0" dirty="0"/>
              <a:t>- 1;i++ ){</a:t>
            </a:r>
            <a:endParaRPr lang="en-US" altLang="zh-CN" b="0" dirty="0"/>
          </a:p>
          <a:p>
            <a:r>
              <a:rPr lang="en-US" altLang="zh-CN" b="0" dirty="0"/>
              <a:t>                         //</a:t>
            </a:r>
            <a:r>
              <a:rPr lang="zh-CN" altLang="en-US" b="0" dirty="0"/>
              <a:t>获取前</a:t>
            </a:r>
            <a:r>
              <a:rPr lang="en-US" altLang="zh-CN" b="0" dirty="0"/>
              <a:t>m+1</a:t>
            </a:r>
            <a:r>
              <a:rPr lang="zh-CN" altLang="en-US" b="0" dirty="0"/>
              <a:t>行的正确数据</a:t>
            </a:r>
            <a:endParaRPr lang="en-US" altLang="zh-CN" b="0" dirty="0"/>
          </a:p>
          <a:p>
            <a:r>
              <a:rPr lang="en-US" altLang="zh-CN" b="0" dirty="0"/>
              <a:t>                                  </a:t>
            </a:r>
            <a:r>
              <a:rPr lang="en-US" altLang="zh-CN" dirty="0"/>
              <a:t>if</a:t>
            </a:r>
            <a:r>
              <a:rPr lang="en-US" altLang="zh-CN" b="0" dirty="0"/>
              <a:t>(</a:t>
            </a:r>
            <a:r>
              <a:rPr lang="en-US" altLang="zh-CN" b="0" dirty="0" err="1"/>
              <a:t>i</a:t>
            </a:r>
            <a:r>
              <a:rPr lang="en-US" altLang="zh-CN" b="0" dirty="0"/>
              <a:t> != error1){</a:t>
            </a:r>
            <a:r>
              <a:rPr lang="en-US" altLang="zh-CN" b="0" dirty="0" err="1"/>
              <a:t>corectObj</a:t>
            </a:r>
            <a:r>
              <a:rPr lang="en-US" altLang="zh-CN" b="0" dirty="0"/>
              <a:t>++]=(</a:t>
            </a:r>
            <a:r>
              <a:rPr lang="en-US" altLang="zh-CN" b="0" dirty="0" err="1"/>
              <a:t>pictureInComp</a:t>
            </a:r>
            <a:r>
              <a:rPr lang="en-US" altLang="zh-CN" b="0" dirty="0"/>
              <a:t>)</a:t>
            </a:r>
            <a:r>
              <a:rPr lang="en-US" altLang="zh-CN" b="0" dirty="0" err="1"/>
              <a:t>tempMemory</a:t>
            </a:r>
            <a:r>
              <a:rPr lang="en-US" altLang="zh-CN" b="0" dirty="0"/>
              <a:t>[].clone();}</a:t>
            </a:r>
            <a:endParaRPr lang="en-US" altLang="zh-CN" b="0" dirty="0"/>
          </a:p>
          <a:p>
            <a:r>
              <a:rPr lang="en-US" altLang="zh-CN" b="0" dirty="0"/>
              <a:t>                        }</a:t>
            </a:r>
            <a:endParaRPr lang="en-US" altLang="zh-CN" b="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EVENODD</a:t>
            </a:r>
            <a:r>
              <a:rPr lang="zh-CN" altLang="en-US" sz="2400" dirty="0">
                <a:sym typeface="+mn-ea"/>
              </a:rPr>
              <a:t>码的译码仿真</a:t>
            </a:r>
            <a:endParaRPr lang="zh-CN" altLang="en-US" sz="2400" dirty="0">
              <a:sym typeface="+mn-ea"/>
            </a:endParaRPr>
          </a:p>
        </p:txBody>
      </p:sp>
      <p:sp>
        <p:nvSpPr>
          <p:cNvPr id="12" name="文本框 11"/>
          <p:cNvSpPr txBox="1"/>
          <p:nvPr/>
        </p:nvSpPr>
        <p:spPr>
          <a:xfrm>
            <a:off x="222792" y="764510"/>
            <a:ext cx="8742454" cy="6032677"/>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r>
              <a:rPr lang="en-US" altLang="zh-CN" b="0" dirty="0"/>
              <a:t>                  </a:t>
            </a:r>
            <a:r>
              <a:rPr lang="en-US" altLang="zh-CN" dirty="0"/>
              <a:t>for</a:t>
            </a:r>
            <a:r>
              <a:rPr lang="en-US" altLang="zh-CN" b="0" dirty="0"/>
              <a:t>(</a:t>
            </a:r>
            <a:r>
              <a:rPr lang="en-US" altLang="zh-CN" dirty="0"/>
              <a:t>int</a:t>
            </a:r>
            <a:r>
              <a:rPr lang="en-US" altLang="zh-CN" b="0" dirty="0"/>
              <a:t> </a:t>
            </a:r>
            <a:r>
              <a:rPr lang="en-US" altLang="zh-CN" b="0" dirty="0" err="1"/>
              <a:t>i</a:t>
            </a:r>
            <a:r>
              <a:rPr lang="en-US" altLang="zh-CN" b="0" dirty="0"/>
              <a:t>=0;i&lt;</a:t>
            </a:r>
            <a:r>
              <a:rPr lang="en-US" altLang="zh-CN" b="0" dirty="0" err="1"/>
              <a:t>m;i</a:t>
            </a:r>
            <a:r>
              <a:rPr lang="en-US" altLang="zh-CN" b="0" dirty="0"/>
              <a:t>++){</a:t>
            </a:r>
            <a:endParaRPr lang="en-US" altLang="zh-CN" b="0" dirty="0"/>
          </a:p>
          <a:p>
            <a:r>
              <a:rPr lang="en-US" altLang="zh-CN" b="0" dirty="0"/>
              <a:t>                         </a:t>
            </a:r>
            <a:r>
              <a:rPr lang="en-US" altLang="zh-CN" b="0" dirty="0" err="1"/>
              <a:t>dataCache</a:t>
            </a:r>
            <a:r>
              <a:rPr lang="en-US" altLang="zh-CN" b="0" dirty="0"/>
              <a:t> = </a:t>
            </a:r>
            <a:r>
              <a:rPr lang="en-US" altLang="zh-CN" dirty="0" err="1"/>
              <a:t>super</a:t>
            </a:r>
            <a:r>
              <a:rPr lang="en-US" altLang="zh-CN" b="0" dirty="0" err="1"/>
              <a:t>.getColumnData</a:t>
            </a:r>
            <a:r>
              <a:rPr lang="en-US" altLang="zh-CN" b="0" dirty="0"/>
              <a:t>(</a:t>
            </a:r>
            <a:r>
              <a:rPr lang="en-US" altLang="zh-CN" b="0" dirty="0" err="1"/>
              <a:t>corectObj</a:t>
            </a:r>
            <a:r>
              <a:rPr lang="en-US" altLang="zh-CN" b="0" dirty="0"/>
              <a:t>, </a:t>
            </a:r>
            <a:r>
              <a:rPr lang="en-US" altLang="zh-CN" b="0" dirty="0" err="1"/>
              <a:t>i</a:t>
            </a:r>
            <a:r>
              <a:rPr lang="en-US" altLang="zh-CN" b="0" dirty="0"/>
              <a:t>);</a:t>
            </a:r>
            <a:endParaRPr lang="en-US" altLang="zh-CN" b="0" dirty="0"/>
          </a:p>
          <a:p>
            <a:r>
              <a:rPr lang="en-US" altLang="zh-CN" b="0" dirty="0"/>
              <a:t>                         tempMatrix1[</a:t>
            </a:r>
            <a:r>
              <a:rPr lang="en-US" altLang="zh-CN" b="0" dirty="0" err="1"/>
              <a:t>i</a:t>
            </a:r>
            <a:r>
              <a:rPr lang="en-US" altLang="zh-CN" b="0" dirty="0"/>
              <a:t>] = </a:t>
            </a:r>
            <a:r>
              <a:rPr lang="en-US" altLang="zh-CN" dirty="0" err="1"/>
              <a:t>super</a:t>
            </a:r>
            <a:r>
              <a:rPr lang="en-US" altLang="zh-CN" b="0" dirty="0" err="1"/>
              <a:t>.horiExclusive_OR</a:t>
            </a:r>
            <a:r>
              <a:rPr lang="en-US" altLang="zh-CN" b="0" dirty="0"/>
              <a:t>(</a:t>
            </a:r>
            <a:r>
              <a:rPr lang="en-US" altLang="zh-CN" b="0" dirty="0" err="1"/>
              <a:t>dataCache</a:t>
            </a:r>
            <a:r>
              <a:rPr lang="en-US" altLang="zh-CN" b="0" dirty="0"/>
              <a:t>);</a:t>
            </a:r>
            <a:endParaRPr lang="en-US" altLang="zh-CN" b="0" dirty="0"/>
          </a:p>
          <a:p>
            <a:r>
              <a:rPr lang="en-US" altLang="zh-CN" b="0" dirty="0"/>
              <a:t>                  }</a:t>
            </a:r>
            <a:endParaRPr lang="en-US" altLang="zh-CN" b="0" dirty="0"/>
          </a:p>
          <a:p>
            <a:r>
              <a:rPr lang="en-US" altLang="zh-CN" dirty="0"/>
              <a:t>                  </a:t>
            </a:r>
            <a:r>
              <a:rPr lang="en-US" altLang="zh-CN" dirty="0" err="1"/>
              <a:t>super</a:t>
            </a:r>
            <a:r>
              <a:rPr lang="en-US" altLang="zh-CN" b="0" dirty="0" err="1"/>
              <a:t>.matrixTransposition</a:t>
            </a:r>
            <a:r>
              <a:rPr lang="en-US" altLang="zh-CN" b="0" dirty="0"/>
              <a:t>(tempMatrix1, temp);</a:t>
            </a:r>
            <a:endParaRPr lang="en-US" altLang="zh-CN" b="0" dirty="0"/>
          </a:p>
          <a:p>
            <a:r>
              <a:rPr lang="en-US" altLang="zh-CN" b="0" dirty="0"/>
              <a:t>                  </a:t>
            </a:r>
            <a:r>
              <a:rPr lang="en-US" altLang="zh-CN" b="0" dirty="0" err="1"/>
              <a:t>tempMemory</a:t>
            </a:r>
            <a:r>
              <a:rPr lang="en-US" altLang="zh-CN" b="0" dirty="0"/>
              <a:t>[error1].read(temp);</a:t>
            </a:r>
            <a:endParaRPr lang="en-US" altLang="zh-CN" b="0" dirty="0"/>
          </a:p>
          <a:p>
            <a:r>
              <a:rPr lang="en-US" altLang="zh-CN" b="0" dirty="0"/>
              <a:t>                  /*----</a:t>
            </a:r>
            <a:r>
              <a:rPr lang="zh-CN" altLang="en-US" b="0" dirty="0"/>
              <a:t>修复数据块</a:t>
            </a:r>
            <a:r>
              <a:rPr lang="en-US" altLang="zh-CN" b="0" dirty="0"/>
              <a:t>error2-----*/</a:t>
            </a:r>
            <a:endParaRPr lang="en-US" altLang="zh-CN" b="0" dirty="0"/>
          </a:p>
          <a:p>
            <a:r>
              <a:rPr lang="en-US" altLang="zh-CN" b="0" dirty="0"/>
              <a:t>                 </a:t>
            </a:r>
            <a:r>
              <a:rPr lang="en-US" altLang="zh-CN" b="0" dirty="0" err="1"/>
              <a:t>System.arraycopy</a:t>
            </a:r>
            <a:r>
              <a:rPr lang="en-US" altLang="zh-CN" b="0" dirty="0"/>
              <a:t>(</a:t>
            </a:r>
            <a:r>
              <a:rPr lang="en-US" altLang="zh-CN" b="0" dirty="0" err="1"/>
              <a:t>tempMemory</a:t>
            </a:r>
            <a:r>
              <a:rPr lang="en-US" altLang="zh-CN" b="0" dirty="0"/>
              <a:t>, 0, </a:t>
            </a:r>
            <a:r>
              <a:rPr lang="en-US" altLang="zh-CN" b="0" dirty="0" err="1"/>
              <a:t>corectObj</a:t>
            </a:r>
            <a:r>
              <a:rPr lang="en-US" altLang="zh-CN" b="0" dirty="0"/>
              <a:t>, 0, m);</a:t>
            </a:r>
            <a:endParaRPr lang="en-US" altLang="zh-CN" b="0" dirty="0"/>
          </a:p>
          <a:p>
            <a:r>
              <a:rPr lang="en-US" altLang="zh-CN" b="0" dirty="0"/>
              <a:t>                 </a:t>
            </a:r>
            <a:r>
              <a:rPr lang="en-US" altLang="zh-CN" dirty="0"/>
              <a:t>for</a:t>
            </a:r>
            <a:r>
              <a:rPr lang="en-US" altLang="zh-CN" b="0" dirty="0"/>
              <a:t>(</a:t>
            </a:r>
            <a:r>
              <a:rPr lang="en-US" altLang="zh-CN" dirty="0"/>
              <a:t>int</a:t>
            </a:r>
            <a:r>
              <a:rPr lang="en-US" altLang="zh-CN" b="0" dirty="0"/>
              <a:t> </a:t>
            </a:r>
            <a:r>
              <a:rPr lang="en-US" altLang="zh-CN" b="0" dirty="0" err="1"/>
              <a:t>i</a:t>
            </a:r>
            <a:r>
              <a:rPr lang="en-US" altLang="zh-CN" b="0" dirty="0"/>
              <a:t>=0;i&lt;</a:t>
            </a:r>
            <a:r>
              <a:rPr lang="en-US" altLang="zh-CN" b="0" dirty="0" err="1"/>
              <a:t>m;i</a:t>
            </a:r>
            <a:r>
              <a:rPr lang="en-US" altLang="zh-CN" b="0" dirty="0"/>
              <a:t>++){</a:t>
            </a:r>
            <a:endParaRPr lang="en-US" altLang="zh-CN" b="0" dirty="0"/>
          </a:p>
          <a:p>
            <a:r>
              <a:rPr lang="en-US" altLang="zh-CN" b="0" dirty="0"/>
              <a:t>                          </a:t>
            </a:r>
            <a:r>
              <a:rPr lang="en-US" altLang="zh-CN" b="0" dirty="0" err="1"/>
              <a:t>dataCache</a:t>
            </a:r>
            <a:r>
              <a:rPr lang="en-US" altLang="zh-CN" b="0" dirty="0"/>
              <a:t> = </a:t>
            </a:r>
            <a:r>
              <a:rPr lang="en-US" altLang="zh-CN" dirty="0" err="1"/>
              <a:t>super</a:t>
            </a:r>
            <a:r>
              <a:rPr lang="en-US" altLang="zh-CN" b="0" dirty="0" err="1"/>
              <a:t>.getColumnData</a:t>
            </a:r>
            <a:r>
              <a:rPr lang="en-US" altLang="zh-CN" b="0" dirty="0"/>
              <a:t>(</a:t>
            </a:r>
            <a:r>
              <a:rPr lang="en-US" altLang="zh-CN" b="0" dirty="0" err="1"/>
              <a:t>corectObj</a:t>
            </a:r>
            <a:r>
              <a:rPr lang="en-US" altLang="zh-CN" b="0" dirty="0"/>
              <a:t>, </a:t>
            </a:r>
            <a:r>
              <a:rPr lang="en-US" altLang="zh-CN" b="0" dirty="0" err="1"/>
              <a:t>i</a:t>
            </a:r>
            <a:r>
              <a:rPr lang="en-US" altLang="zh-CN" b="0" dirty="0"/>
              <a:t>);</a:t>
            </a:r>
            <a:endParaRPr lang="en-US" altLang="zh-CN" b="0" dirty="0"/>
          </a:p>
          <a:p>
            <a:r>
              <a:rPr lang="en-US" altLang="zh-CN" b="0" dirty="0"/>
              <a:t>                          tempMatrix2[</a:t>
            </a:r>
            <a:r>
              <a:rPr lang="en-US" altLang="zh-CN" b="0" dirty="0" err="1"/>
              <a:t>i</a:t>
            </a:r>
            <a:r>
              <a:rPr lang="en-US" altLang="zh-CN" b="0" dirty="0"/>
              <a:t>] =</a:t>
            </a:r>
            <a:r>
              <a:rPr lang="en-US" altLang="zh-CN" dirty="0" err="1"/>
              <a:t>super</a:t>
            </a:r>
            <a:r>
              <a:rPr lang="en-US" altLang="zh-CN" b="0" dirty="0" err="1"/>
              <a:t>.diagExclusive_OR</a:t>
            </a:r>
            <a:r>
              <a:rPr lang="en-US" altLang="zh-CN" b="0" dirty="0"/>
              <a:t>(</a:t>
            </a:r>
            <a:r>
              <a:rPr lang="en-US" altLang="zh-CN" b="0" dirty="0" err="1"/>
              <a:t>dataCache</a:t>
            </a:r>
            <a:r>
              <a:rPr lang="en-US" altLang="zh-CN" b="0" dirty="0"/>
              <a:t>, </a:t>
            </a:r>
            <a:endParaRPr lang="en-US" altLang="zh-CN" b="0" dirty="0"/>
          </a:p>
          <a:p>
            <a:r>
              <a:rPr lang="en-US" altLang="zh-CN" b="0" dirty="0" err="1"/>
              <a:t>encoding.getCommont</a:t>
            </a:r>
            <a:r>
              <a:rPr lang="en-US" altLang="zh-CN" b="0" dirty="0"/>
              <a:t> "actor(</a:t>
            </a:r>
            <a:r>
              <a:rPr lang="en-US" altLang="zh-CN" b="0" dirty="0" err="1"/>
              <a:t>dataCache</a:t>
            </a:r>
            <a:r>
              <a:rPr lang="en-US" altLang="zh-CN" b="0" dirty="0"/>
              <a:t>);</a:t>
            </a:r>
            <a:endParaRPr lang="en-US" altLang="zh-CN" b="0" dirty="0"/>
          </a:p>
          <a:p>
            <a:r>
              <a:rPr lang="en-US" altLang="zh-CN" b="0" dirty="0"/>
              <a:t>                 }</a:t>
            </a:r>
            <a:endParaRPr lang="en-US" altLang="zh-CN" b="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EVENODD</a:t>
            </a:r>
            <a:r>
              <a:rPr lang="zh-CN" altLang="en-US" sz="2400" dirty="0">
                <a:sym typeface="+mn-ea"/>
              </a:rPr>
              <a:t>码的译码仿真</a:t>
            </a:r>
            <a:endParaRPr lang="zh-CN" altLang="en-US" sz="2400" dirty="0">
              <a:sym typeface="+mn-ea"/>
            </a:endParaRPr>
          </a:p>
        </p:txBody>
      </p:sp>
      <p:sp>
        <p:nvSpPr>
          <p:cNvPr id="12" name="文本框 11"/>
          <p:cNvSpPr txBox="1"/>
          <p:nvPr/>
        </p:nvSpPr>
        <p:spPr>
          <a:xfrm>
            <a:off x="387072" y="990664"/>
            <a:ext cx="8742454" cy="5571012"/>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r>
              <a:rPr lang="en-US" altLang="zh-CN" b="0" dirty="0"/>
              <a:t>              </a:t>
            </a:r>
            <a:r>
              <a:rPr lang="en-US" altLang="zh-CN" dirty="0"/>
              <a:t>super</a:t>
            </a:r>
            <a:r>
              <a:rPr lang="en-US" altLang="zh-CN" b="0" dirty="0"/>
              <a:t>. </a:t>
            </a:r>
            <a:r>
              <a:rPr lang="en-US" altLang="zh-CN" b="0" dirty="0" err="1"/>
              <a:t>matrixTransposition</a:t>
            </a:r>
            <a:r>
              <a:rPr lang="en-US" altLang="zh-CN" b="0" dirty="0"/>
              <a:t>(tempMatrix2, temp);</a:t>
            </a:r>
            <a:endParaRPr lang="en-US" altLang="zh-CN" b="0" dirty="0"/>
          </a:p>
          <a:p>
            <a:r>
              <a:rPr lang="en-US" altLang="zh-CN" b="0" dirty="0"/>
              <a:t>              </a:t>
            </a:r>
            <a:r>
              <a:rPr lang="en-US" altLang="zh-CN" b="0" dirty="0" err="1"/>
              <a:t>tempMemory</a:t>
            </a:r>
            <a:r>
              <a:rPr lang="en-US" altLang="zh-CN" b="0" dirty="0"/>
              <a:t>[error2].read(temp);</a:t>
            </a:r>
            <a:endParaRPr lang="en-US" altLang="zh-CN" b="0" dirty="0"/>
          </a:p>
          <a:p>
            <a:r>
              <a:rPr lang="en-US" altLang="zh-CN" b="0" dirty="0"/>
              <a:t>        }</a:t>
            </a:r>
            <a:endParaRPr lang="en-US" altLang="zh-CN" b="0" dirty="0"/>
          </a:p>
          <a:p>
            <a:r>
              <a:rPr lang="en-US" altLang="zh-CN" b="0" dirty="0"/>
              <a:t>         </a:t>
            </a:r>
            <a:r>
              <a:rPr lang="en-US" altLang="zh-CN" dirty="0"/>
              <a:t>else if</a:t>
            </a:r>
            <a:r>
              <a:rPr lang="en-US" altLang="zh-CN" b="0" dirty="0"/>
              <a:t>(error1 &gt;= 0 &amp;&amp; error1 &lt; </a:t>
            </a:r>
            <a:r>
              <a:rPr lang="en-US" altLang="zh-CN" b="0" dirty="0" err="1"/>
              <a:t>tempMemory.length</a:t>
            </a:r>
            <a:r>
              <a:rPr lang="en-US" altLang="zh-CN" b="0" dirty="0"/>
              <a:t> - 2)&amp;&amp;(error2 &gt;= 0 &amp;&amp; error2 &lt;</a:t>
            </a:r>
            <a:r>
              <a:rPr lang="en-US" altLang="zh-CN" b="0" dirty="0" err="1"/>
              <a:t>tempMemory.length</a:t>
            </a:r>
            <a:r>
              <a:rPr lang="en-US" altLang="zh-CN" b="0" dirty="0"/>
              <a:t> - 2)){         //</a:t>
            </a:r>
            <a:r>
              <a:rPr lang="zh-CN" altLang="en-US" b="0" dirty="0">
                <a:solidFill>
                  <a:srgbClr val="FF0000"/>
                </a:solidFill>
              </a:rPr>
              <a:t>两个原数据块出错</a:t>
            </a:r>
            <a:endParaRPr lang="en-US" altLang="zh-CN" b="0" dirty="0">
              <a:solidFill>
                <a:srgbClr val="FF0000"/>
              </a:solidFill>
            </a:endParaRPr>
          </a:p>
          <a:p>
            <a:r>
              <a:rPr lang="en-US" altLang="zh-CN" b="0" dirty="0"/>
              <a:t>                </a:t>
            </a:r>
            <a:r>
              <a:rPr lang="en-US" altLang="zh-CN" dirty="0"/>
              <a:t>int</a:t>
            </a:r>
            <a:r>
              <a:rPr lang="en-US" altLang="zh-CN" b="0" dirty="0"/>
              <a:t> m = </a:t>
            </a:r>
            <a:r>
              <a:rPr lang="en-US" altLang="zh-CN" b="0" dirty="0" err="1"/>
              <a:t>tempMemory.length</a:t>
            </a:r>
            <a:r>
              <a:rPr lang="en-US" altLang="zh-CN" b="0" dirty="0"/>
              <a:t>- 2;</a:t>
            </a:r>
            <a:endParaRPr lang="en-US" altLang="zh-CN" b="0" dirty="0"/>
          </a:p>
          <a:p>
            <a:r>
              <a:rPr lang="en-US" altLang="zh-CN" b="0" dirty="0"/>
              <a:t>                </a:t>
            </a:r>
            <a:r>
              <a:rPr lang="en-US" altLang="zh-CN" b="0" dirty="0" err="1"/>
              <a:t>dataCache</a:t>
            </a:r>
            <a:r>
              <a:rPr lang="en-US" altLang="zh-CN" b="0" dirty="0"/>
              <a:t> = </a:t>
            </a:r>
            <a:r>
              <a:rPr lang="en-US" altLang="zh-CN" dirty="0"/>
              <a:t>new int</a:t>
            </a:r>
            <a:r>
              <a:rPr lang="en-US" altLang="zh-CN" b="0" dirty="0"/>
              <a:t>[</a:t>
            </a:r>
            <a:r>
              <a:rPr lang="en-US" altLang="zh-CN" b="0" dirty="0" err="1"/>
              <a:t>tempMemory</a:t>
            </a:r>
            <a:r>
              <a:rPr lang="en-US" altLang="zh-CN" b="0" dirty="0"/>
              <a:t>[0].</a:t>
            </a:r>
            <a:r>
              <a:rPr lang="en-US" altLang="zh-CN" b="0" dirty="0" err="1"/>
              <a:t>getRow</a:t>
            </a:r>
            <a:r>
              <a:rPr lang="en-US" altLang="zh-CN" b="0" dirty="0"/>
              <a:t>()+ 1][m + 2];</a:t>
            </a:r>
            <a:endParaRPr lang="en-US" altLang="zh-CN" b="0" dirty="0"/>
          </a:p>
          <a:p>
            <a:r>
              <a:rPr lang="en-US" altLang="zh-CN" b="0" dirty="0"/>
              <a:t>                </a:t>
            </a:r>
            <a:r>
              <a:rPr lang="en-US" altLang="zh-CN" dirty="0"/>
              <a:t>int</a:t>
            </a:r>
            <a:r>
              <a:rPr lang="en-US" altLang="zh-CN" b="0" dirty="0"/>
              <a:t> [][] </a:t>
            </a:r>
            <a:r>
              <a:rPr lang="en-US" altLang="zh-CN" b="0" dirty="0" err="1"/>
              <a:t>tempCache</a:t>
            </a:r>
            <a:r>
              <a:rPr lang="en-US" altLang="zh-CN" b="0" dirty="0"/>
              <a:t> = </a:t>
            </a:r>
            <a:r>
              <a:rPr lang="en-US" altLang="zh-CN" dirty="0"/>
              <a:t>new int</a:t>
            </a:r>
            <a:r>
              <a:rPr lang="en-US" altLang="zh-CN" b="0" dirty="0"/>
              <a:t>[</a:t>
            </a:r>
            <a:r>
              <a:rPr lang="en-US" altLang="zh-CN" b="0" dirty="0" err="1"/>
              <a:t>tempMemory</a:t>
            </a:r>
            <a:r>
              <a:rPr lang="en-US" altLang="zh-CN" b="0" dirty="0"/>
              <a:t>[0].</a:t>
            </a:r>
            <a:r>
              <a:rPr lang="en-US" altLang="zh-CN" b="0" dirty="0" err="1"/>
              <a:t>getRow</a:t>
            </a:r>
            <a:r>
              <a:rPr lang="en-US" altLang="zh-CN" b="0" dirty="0"/>
              <a:t>()][m + 2]; </a:t>
            </a:r>
            <a:endParaRPr lang="en-US" altLang="zh-CN" b="0" dirty="0"/>
          </a:p>
          <a:p>
            <a:r>
              <a:rPr lang="en-US" altLang="zh-CN" b="0" dirty="0"/>
              <a:t>                tempMatrix1=</a:t>
            </a:r>
            <a:r>
              <a:rPr lang="en-US" altLang="zh-CN" dirty="0"/>
              <a:t>new int</a:t>
            </a:r>
            <a:r>
              <a:rPr lang="en-US" altLang="zh-CN" b="0" dirty="0"/>
              <a:t>[</a:t>
            </a:r>
            <a:r>
              <a:rPr lang="en-US" altLang="zh-CN" b="0" dirty="0" err="1"/>
              <a:t>tempMemory</a:t>
            </a:r>
            <a:r>
              <a:rPr lang="en-US" altLang="zh-CN" b="0" dirty="0"/>
              <a:t>[0].</a:t>
            </a:r>
            <a:r>
              <a:rPr lang="en-US" altLang="zh-CN" b="0" dirty="0" err="1"/>
              <a:t>getRow</a:t>
            </a:r>
            <a:r>
              <a:rPr lang="en-US" altLang="zh-CN" b="0" dirty="0"/>
              <a:t>()][</a:t>
            </a:r>
            <a:r>
              <a:rPr lang="en-US" altLang="zh-CN" b="0" dirty="0" err="1"/>
              <a:t>tempMemory</a:t>
            </a:r>
            <a:r>
              <a:rPr lang="en-US" altLang="zh-CN" b="0" dirty="0"/>
              <a:t>[0].getColumn0];</a:t>
            </a:r>
            <a:endParaRPr lang="en-US" altLang="zh-CN" b="0" dirty="0"/>
          </a:p>
          <a:p>
            <a:r>
              <a:rPr lang="en-US" altLang="zh-CN" b="0" dirty="0"/>
              <a:t>                tempMatrix2=</a:t>
            </a:r>
            <a:r>
              <a:rPr lang="en-US" altLang="zh-CN" dirty="0"/>
              <a:t>new int</a:t>
            </a:r>
            <a:r>
              <a:rPr lang="en-US" altLang="zh-CN" b="0" dirty="0"/>
              <a:t>[</a:t>
            </a:r>
            <a:r>
              <a:rPr lang="en-US" altLang="zh-CN" b="0" dirty="0" err="1"/>
              <a:t>tempMemory</a:t>
            </a:r>
            <a:r>
              <a:rPr lang="en-US" altLang="zh-CN" b="0" dirty="0"/>
              <a:t>[0].</a:t>
            </a:r>
            <a:r>
              <a:rPr lang="en-US" altLang="zh-CN" b="0" dirty="0" err="1"/>
              <a:t>getRow</a:t>
            </a:r>
            <a:r>
              <a:rPr lang="en-US" altLang="zh-CN" b="0" dirty="0"/>
              <a:t>()][</a:t>
            </a:r>
            <a:r>
              <a:rPr lang="en-US" altLang="zh-CN" b="0" dirty="0" err="1"/>
              <a:t>tempMemory</a:t>
            </a:r>
            <a:r>
              <a:rPr lang="en-US" altLang="zh-CN" b="0" dirty="0"/>
              <a:t>[0].</a:t>
            </a:r>
            <a:r>
              <a:rPr lang="en-US" altLang="zh-CN" b="0" dirty="0" err="1"/>
              <a:t>getColumn</a:t>
            </a:r>
            <a:r>
              <a:rPr lang="en-US" altLang="zh-CN" b="0" dirty="0"/>
              <a:t>(0];</a:t>
            </a:r>
            <a:endParaRPr lang="en-US" altLang="zh-CN" b="0" dirty="0"/>
          </a:p>
          <a:p>
            <a:r>
              <a:rPr lang="en-US" altLang="zh-CN" b="0" dirty="0"/>
              <a:t>                </a:t>
            </a:r>
            <a:r>
              <a:rPr lang="en-US" altLang="zh-CN" dirty="0"/>
              <a:t>for</a:t>
            </a:r>
            <a:r>
              <a:rPr lang="en-US" altLang="zh-CN" b="0" dirty="0"/>
              <a:t>(</a:t>
            </a:r>
            <a:r>
              <a:rPr lang="en-US" altLang="zh-CN" dirty="0"/>
              <a:t>int</a:t>
            </a:r>
            <a:r>
              <a:rPr lang="en-US" altLang="zh-CN" b="0" dirty="0"/>
              <a:t> </a:t>
            </a:r>
            <a:r>
              <a:rPr lang="en-US" altLang="zh-CN" b="0" dirty="0" err="1"/>
              <a:t>i</a:t>
            </a:r>
            <a:r>
              <a:rPr lang="en-US" altLang="zh-CN" b="0" dirty="0"/>
              <a:t>= 0;i &lt; </a:t>
            </a:r>
            <a:r>
              <a:rPr lang="en-US" altLang="zh-CN" b="0" dirty="0" err="1"/>
              <a:t>tempMemory</a:t>
            </a:r>
            <a:r>
              <a:rPr lang="en-US" altLang="zh-CN" b="0" dirty="0"/>
              <a:t>[0].</a:t>
            </a:r>
            <a:r>
              <a:rPr lang="en-US" altLang="zh-CN" b="0" dirty="0" err="1"/>
              <a:t>getColumn</a:t>
            </a:r>
            <a:r>
              <a:rPr lang="en-US" altLang="zh-CN" b="0" dirty="0"/>
              <a:t>() ; </a:t>
            </a:r>
            <a:r>
              <a:rPr lang="en-US" altLang="zh-CN" b="0" dirty="0" err="1"/>
              <a:t>i</a:t>
            </a:r>
            <a:r>
              <a:rPr lang="en-US" altLang="zh-CN" b="0" dirty="0"/>
              <a:t>++){</a:t>
            </a:r>
            <a:endParaRPr lang="en-US" altLang="zh-CN" b="0" dirty="0"/>
          </a:p>
          <a:p>
            <a:r>
              <a:rPr lang="en-US" altLang="zh-CN" b="0" dirty="0"/>
              <a:t>                       </a:t>
            </a:r>
            <a:r>
              <a:rPr lang="en-US" altLang="zh-CN" dirty="0"/>
              <a:t>int</a:t>
            </a:r>
            <a:r>
              <a:rPr lang="en-US" altLang="zh-CN" b="0" dirty="0"/>
              <a:t> s=0;</a:t>
            </a:r>
            <a:endParaRPr lang="zh-CN" altLang="en-US" b="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EVENODD</a:t>
            </a:r>
            <a:r>
              <a:rPr lang="zh-CN" altLang="en-US" sz="2400" dirty="0">
                <a:sym typeface="+mn-ea"/>
              </a:rPr>
              <a:t>码的译码仿真</a:t>
            </a:r>
            <a:endParaRPr lang="zh-CN" altLang="en-US" sz="2400" dirty="0">
              <a:sym typeface="+mn-ea"/>
            </a:endParaRPr>
          </a:p>
        </p:txBody>
      </p:sp>
      <p:sp>
        <p:nvSpPr>
          <p:cNvPr id="12" name="文本框 11"/>
          <p:cNvSpPr txBox="1"/>
          <p:nvPr/>
        </p:nvSpPr>
        <p:spPr>
          <a:xfrm>
            <a:off x="387072" y="990664"/>
            <a:ext cx="8742454" cy="5571012"/>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r>
              <a:rPr lang="en-US" altLang="zh-CN" b="0" dirty="0"/>
              <a:t>                     </a:t>
            </a:r>
            <a:r>
              <a:rPr lang="en-US" altLang="zh-CN" dirty="0"/>
              <a:t>int</a:t>
            </a:r>
            <a:r>
              <a:rPr lang="en-US" altLang="zh-CN" b="0" dirty="0"/>
              <a:t> [] </a:t>
            </a:r>
            <a:r>
              <a:rPr lang="en-US" altLang="zh-CN" b="0" dirty="0" err="1"/>
              <a:t>sh</a:t>
            </a:r>
            <a:r>
              <a:rPr lang="en-US" altLang="zh-CN" b="0" dirty="0"/>
              <a:t> = </a:t>
            </a:r>
            <a:r>
              <a:rPr lang="en-US" altLang="zh-CN" dirty="0"/>
              <a:t>new int</a:t>
            </a:r>
            <a:r>
              <a:rPr lang="en-US" altLang="zh-CN" b="0" dirty="0"/>
              <a:t>[m];</a:t>
            </a:r>
            <a:endParaRPr lang="en-US" altLang="zh-CN" b="0" dirty="0"/>
          </a:p>
          <a:p>
            <a:r>
              <a:rPr lang="en-US" altLang="zh-CN" b="0" dirty="0"/>
              <a:t>                    </a:t>
            </a:r>
            <a:r>
              <a:rPr lang="en-US" altLang="zh-CN" dirty="0"/>
              <a:t> int</a:t>
            </a:r>
            <a:r>
              <a:rPr lang="en-US" altLang="zh-CN" b="0" dirty="0"/>
              <a:t>[] </a:t>
            </a:r>
            <a:r>
              <a:rPr lang="en-US" altLang="zh-CN" b="0" dirty="0" err="1"/>
              <a:t>sd</a:t>
            </a:r>
            <a:r>
              <a:rPr lang="en-US" altLang="zh-CN" b="0" dirty="0"/>
              <a:t> = </a:t>
            </a:r>
            <a:r>
              <a:rPr lang="en-US" altLang="zh-CN" dirty="0"/>
              <a:t>new int</a:t>
            </a:r>
            <a:r>
              <a:rPr lang="en-US" altLang="zh-CN" b="0" dirty="0"/>
              <a:t>[m];</a:t>
            </a:r>
            <a:endParaRPr lang="en-US" altLang="zh-CN" b="0" dirty="0"/>
          </a:p>
          <a:p>
            <a:r>
              <a:rPr lang="en-US" altLang="zh-CN" b="0" dirty="0"/>
              <a:t>                     </a:t>
            </a:r>
            <a:r>
              <a:rPr lang="en-US" altLang="zh-CN" dirty="0"/>
              <a:t>int</a:t>
            </a:r>
            <a:r>
              <a:rPr lang="en-US" altLang="zh-CN" b="0" dirty="0"/>
              <a:t> k= 0;</a:t>
            </a:r>
            <a:endParaRPr lang="en-US" altLang="zh-CN" b="0" dirty="0"/>
          </a:p>
          <a:p>
            <a:r>
              <a:rPr lang="en-US" altLang="zh-CN" b="0" dirty="0"/>
              <a:t>                     </a:t>
            </a:r>
            <a:r>
              <a:rPr lang="en-US" altLang="zh-CN" b="0" dirty="0" err="1"/>
              <a:t>tempCache</a:t>
            </a:r>
            <a:r>
              <a:rPr lang="en-US" altLang="zh-CN" b="0" dirty="0"/>
              <a:t> = </a:t>
            </a:r>
            <a:r>
              <a:rPr lang="en-US" altLang="zh-CN" dirty="0" err="1"/>
              <a:t>super</a:t>
            </a:r>
            <a:r>
              <a:rPr lang="en-US" altLang="zh-CN" b="0" dirty="0" err="1"/>
              <a:t>.getColumnData</a:t>
            </a:r>
            <a:r>
              <a:rPr lang="en-US" altLang="zh-CN" b="0" dirty="0"/>
              <a:t>(</a:t>
            </a:r>
            <a:r>
              <a:rPr lang="en-US" altLang="zh-CN" b="0" dirty="0" err="1"/>
              <a:t>tempMemory</a:t>
            </a:r>
            <a:r>
              <a:rPr lang="en-US" altLang="zh-CN" b="0" dirty="0"/>
              <a:t>, </a:t>
            </a:r>
            <a:r>
              <a:rPr lang="en-US" altLang="zh-CN" b="0" dirty="0" err="1"/>
              <a:t>i</a:t>
            </a:r>
            <a:r>
              <a:rPr lang="en-US" altLang="zh-CN" b="0" dirty="0"/>
              <a:t>);</a:t>
            </a:r>
            <a:endParaRPr lang="en-US" altLang="zh-CN" b="0" dirty="0"/>
          </a:p>
          <a:p>
            <a:r>
              <a:rPr lang="en-US" altLang="zh-CN" b="0" dirty="0"/>
              <a:t>                     </a:t>
            </a:r>
            <a:r>
              <a:rPr lang="en-US" altLang="zh-CN" dirty="0"/>
              <a:t>for</a:t>
            </a:r>
            <a:r>
              <a:rPr lang="en-US" altLang="zh-CN" b="0" dirty="0"/>
              <a:t>(</a:t>
            </a:r>
            <a:r>
              <a:rPr lang="en-US" altLang="zh-CN" dirty="0"/>
              <a:t>int</a:t>
            </a:r>
            <a:r>
              <a:rPr lang="en-US" altLang="zh-CN" b="0" dirty="0"/>
              <a:t> j = 0;j &lt; </a:t>
            </a:r>
            <a:r>
              <a:rPr lang="en-US" altLang="zh-CN" b="0" dirty="0" err="1"/>
              <a:t>tempCache.length</a:t>
            </a:r>
            <a:r>
              <a:rPr lang="en-US" altLang="zh-CN" b="0" dirty="0"/>
              <a:t> ;</a:t>
            </a:r>
            <a:r>
              <a:rPr lang="en-US" altLang="zh-CN" b="0" dirty="0" err="1"/>
              <a:t>j++</a:t>
            </a:r>
            <a:r>
              <a:rPr lang="en-US" altLang="zh-CN" b="0" dirty="0"/>
              <a:t>)</a:t>
            </a:r>
            <a:endParaRPr lang="en-US" altLang="zh-CN" b="0" dirty="0"/>
          </a:p>
          <a:p>
            <a:r>
              <a:rPr lang="en-US" altLang="zh-CN" b="0" dirty="0"/>
              <a:t>                             s= s ^ </a:t>
            </a:r>
            <a:r>
              <a:rPr lang="en-US" altLang="zh-CN" b="0" dirty="0" err="1"/>
              <a:t>tempCache</a:t>
            </a:r>
            <a:r>
              <a:rPr lang="en-US" altLang="zh-CN" b="0" dirty="0"/>
              <a:t>[j][m] ^ </a:t>
            </a:r>
            <a:r>
              <a:rPr lang="en-US" altLang="zh-CN" b="0" dirty="0" err="1"/>
              <a:t>tempCache</a:t>
            </a:r>
            <a:r>
              <a:rPr lang="en-US" altLang="zh-CN" b="0" dirty="0"/>
              <a:t>[j][m+ 1];</a:t>
            </a:r>
            <a:endParaRPr lang="en-US" altLang="zh-CN" b="0" dirty="0"/>
          </a:p>
          <a:p>
            <a:r>
              <a:rPr lang="en-US" altLang="zh-CN" b="0" dirty="0"/>
              <a:t>                             //</a:t>
            </a:r>
            <a:r>
              <a:rPr lang="zh-CN" altLang="en-US" b="0" dirty="0"/>
              <a:t>求公因子</a:t>
            </a:r>
            <a:r>
              <a:rPr lang="en-US" altLang="zh-CN" b="0" dirty="0"/>
              <a:t>s :</a:t>
            </a:r>
            <a:r>
              <a:rPr lang="zh-CN" altLang="en-US" b="0" dirty="0"/>
              <a:t>将所有校验位相异或</a:t>
            </a:r>
            <a:endParaRPr lang="en-US" altLang="zh-CN" b="0" dirty="0"/>
          </a:p>
          <a:p>
            <a:r>
              <a:rPr lang="en-US" altLang="zh-CN" b="0" dirty="0"/>
              <a:t>                              </a:t>
            </a:r>
            <a:r>
              <a:rPr lang="en-US" altLang="zh-CN" b="0" dirty="0" err="1"/>
              <a:t>dataCache</a:t>
            </a:r>
            <a:r>
              <a:rPr lang="en-US" altLang="zh-CN" b="0" dirty="0"/>
              <a:t> = </a:t>
            </a:r>
            <a:r>
              <a:rPr lang="en-US" altLang="zh-CN" dirty="0" err="1"/>
              <a:t>super</a:t>
            </a:r>
            <a:r>
              <a:rPr lang="en-US" altLang="zh-CN" b="0" dirty="0" err="1"/>
              <a:t>.addRow</a:t>
            </a:r>
            <a:r>
              <a:rPr lang="en-US" altLang="zh-CN" b="0" dirty="0"/>
              <a:t>(</a:t>
            </a:r>
            <a:r>
              <a:rPr lang="en-US" altLang="zh-CN" b="0" dirty="0" err="1"/>
              <a:t>tempCache</a:t>
            </a:r>
            <a:r>
              <a:rPr lang="en-US" altLang="zh-CN" b="0" dirty="0"/>
              <a:t>);</a:t>
            </a:r>
            <a:endParaRPr lang="en-US" altLang="zh-CN" b="0" dirty="0"/>
          </a:p>
          <a:p>
            <a:r>
              <a:rPr lang="en-US" altLang="zh-CN" b="0" dirty="0"/>
              <a:t>                               /**--</a:t>
            </a:r>
            <a:r>
              <a:rPr lang="zh-CN" altLang="en-US" b="0" dirty="0"/>
              <a:t>求</a:t>
            </a:r>
            <a:r>
              <a:rPr lang="en-US" altLang="zh-CN" b="0" dirty="0" err="1"/>
              <a:t>sh</a:t>
            </a:r>
            <a:r>
              <a:rPr lang="zh-CN" altLang="en-US" b="0" dirty="0"/>
              <a:t>、</a:t>
            </a:r>
            <a:r>
              <a:rPr lang="en-US" altLang="zh-CN" b="0" dirty="0" err="1"/>
              <a:t>sd</a:t>
            </a:r>
            <a:r>
              <a:rPr lang="en-US" altLang="zh-CN" b="0" dirty="0"/>
              <a:t> (</a:t>
            </a:r>
            <a:r>
              <a:rPr lang="zh-CN" altLang="en-US" b="0" dirty="0"/>
              <a:t>公式</a:t>
            </a:r>
            <a:r>
              <a:rPr lang="en-US" altLang="zh-CN" b="0" dirty="0"/>
              <a:t>7</a:t>
            </a:r>
            <a:r>
              <a:rPr lang="zh-CN" altLang="en-US" b="0" dirty="0"/>
              <a:t>、</a:t>
            </a:r>
            <a:r>
              <a:rPr lang="en-US" altLang="zh-CN" b="0" dirty="0"/>
              <a:t>8) ----*/</a:t>
            </a:r>
            <a:endParaRPr lang="en-US" altLang="zh-CN" b="0" dirty="0"/>
          </a:p>
          <a:p>
            <a:r>
              <a:rPr lang="en-US" altLang="zh-CN" b="0" dirty="0"/>
              <a:t>                               </a:t>
            </a:r>
            <a:r>
              <a:rPr lang="en-US" altLang="zh-CN" dirty="0"/>
              <a:t>for</a:t>
            </a:r>
            <a:r>
              <a:rPr lang="en-US" altLang="zh-CN" b="0" dirty="0"/>
              <a:t>(</a:t>
            </a:r>
            <a:r>
              <a:rPr lang="en-US" altLang="zh-CN" dirty="0"/>
              <a:t>int</a:t>
            </a:r>
            <a:r>
              <a:rPr lang="en-US" altLang="zh-CN" b="0" dirty="0"/>
              <a:t> u=0;u&lt;m; u++){</a:t>
            </a:r>
            <a:endParaRPr lang="en-US" altLang="zh-CN" b="0" dirty="0"/>
          </a:p>
          <a:p>
            <a:r>
              <a:rPr lang="en-US" altLang="zh-CN" b="0" dirty="0"/>
              <a:t>                                      </a:t>
            </a:r>
            <a:r>
              <a:rPr lang="en-US" altLang="zh-CN" dirty="0"/>
              <a:t>for</a:t>
            </a:r>
            <a:r>
              <a:rPr lang="en-US" altLang="zh-CN" b="0" dirty="0"/>
              <a:t>(</a:t>
            </a:r>
            <a:r>
              <a:rPr lang="en-US" altLang="zh-CN" dirty="0"/>
              <a:t>int</a:t>
            </a:r>
            <a:r>
              <a:rPr lang="en-US" altLang="zh-CN" b="0" dirty="0"/>
              <a:t>1=0;1&lt;=m;1++){    //</a:t>
            </a:r>
            <a:r>
              <a:rPr lang="zh-CN" altLang="en-US" b="0" dirty="0"/>
              <a:t>求</a:t>
            </a:r>
            <a:r>
              <a:rPr lang="en-US" altLang="zh-CN" b="0" dirty="0" err="1"/>
              <a:t>sh</a:t>
            </a:r>
            <a:endParaRPr lang="en-US" altLang="zh-CN" b="0" dirty="0"/>
          </a:p>
          <a:p>
            <a:r>
              <a:rPr lang="en-US" altLang="zh-CN" b="0" dirty="0"/>
              <a:t>                                             </a:t>
            </a:r>
            <a:r>
              <a:rPr lang="en-US" altLang="zh-CN" dirty="0"/>
              <a:t>if</a:t>
            </a:r>
            <a:r>
              <a:rPr lang="en-US" altLang="zh-CN" b="0" dirty="0"/>
              <a:t>(1 != error1 &amp;&amp; 1 != error2){</a:t>
            </a:r>
            <a:r>
              <a:rPr lang="en-US" altLang="zh-CN" b="0" dirty="0" err="1"/>
              <a:t>sh</a:t>
            </a:r>
            <a:r>
              <a:rPr lang="en-US" altLang="zh-CN" b="0" dirty="0"/>
              <a:t>[u] = </a:t>
            </a:r>
            <a:r>
              <a:rPr lang="en-US" altLang="zh-CN" b="0" dirty="0" err="1"/>
              <a:t>sh</a:t>
            </a:r>
            <a:r>
              <a:rPr lang="en-US" altLang="zh-CN" b="0" dirty="0"/>
              <a:t>[u] ^ </a:t>
            </a:r>
            <a:r>
              <a:rPr lang="en-US" altLang="zh-CN" b="0" dirty="0" err="1"/>
              <a:t>dataCache</a:t>
            </a:r>
            <a:r>
              <a:rPr lang="en-US" altLang="zh-CN" b="0" dirty="0"/>
              <a:t>[u][1];}</a:t>
            </a:r>
            <a:endParaRPr lang="zh-CN" altLang="en-US" b="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EVENODD</a:t>
            </a:r>
            <a:r>
              <a:rPr lang="zh-CN" altLang="en-US" sz="2400" dirty="0">
                <a:sym typeface="+mn-ea"/>
              </a:rPr>
              <a:t>码的译码仿真</a:t>
            </a:r>
            <a:endParaRPr lang="zh-CN" altLang="en-US" sz="2400" dirty="0">
              <a:sym typeface="+mn-ea"/>
            </a:endParaRPr>
          </a:p>
        </p:txBody>
      </p:sp>
      <p:sp>
        <p:nvSpPr>
          <p:cNvPr id="12" name="文本框 11"/>
          <p:cNvSpPr txBox="1"/>
          <p:nvPr/>
        </p:nvSpPr>
        <p:spPr>
          <a:xfrm>
            <a:off x="387072" y="990664"/>
            <a:ext cx="8742454" cy="5571012"/>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r>
              <a:rPr lang="en-US" altLang="zh-CN" b="0" dirty="0"/>
              <a:t>                                         </a:t>
            </a:r>
            <a:r>
              <a:rPr lang="en-US" altLang="zh-CN" b="0" dirty="0" err="1"/>
              <a:t>sd</a:t>
            </a:r>
            <a:r>
              <a:rPr lang="en-US" altLang="zh-CN" b="0" dirty="0"/>
              <a:t>[u] = s ^ </a:t>
            </a:r>
            <a:r>
              <a:rPr lang="en-US" altLang="zh-CN" b="0" dirty="0" err="1"/>
              <a:t>dataCache</a:t>
            </a:r>
            <a:r>
              <a:rPr lang="en-US" altLang="zh-CN" b="0" dirty="0"/>
              <a:t>[u][m + 1];</a:t>
            </a:r>
            <a:endParaRPr lang="en-US" altLang="zh-CN" b="0" dirty="0"/>
          </a:p>
          <a:p>
            <a:r>
              <a:rPr lang="en-US" altLang="zh-CN" b="0" dirty="0"/>
              <a:t>                                         </a:t>
            </a:r>
            <a:r>
              <a:rPr lang="en-US" altLang="zh-CN" dirty="0"/>
              <a:t>for</a:t>
            </a:r>
            <a:r>
              <a:rPr lang="en-US" altLang="zh-CN" b="0" dirty="0"/>
              <a:t>(</a:t>
            </a:r>
            <a:r>
              <a:rPr lang="en-US" altLang="zh-CN" dirty="0"/>
              <a:t>int</a:t>
            </a:r>
            <a:r>
              <a:rPr lang="en-US" altLang="zh-CN" b="0" dirty="0"/>
              <a:t> 1=0;1&lt;m;1++){</a:t>
            </a:r>
            <a:endParaRPr lang="en-US" altLang="zh-CN" b="0" dirty="0"/>
          </a:p>
          <a:p>
            <a:r>
              <a:rPr lang="en-US" altLang="zh-CN" b="0" dirty="0"/>
              <a:t>                                               </a:t>
            </a:r>
            <a:r>
              <a:rPr lang="en-US" altLang="zh-CN" dirty="0"/>
              <a:t> if</a:t>
            </a:r>
            <a:r>
              <a:rPr lang="en-US" altLang="zh-CN" b="0" dirty="0"/>
              <a:t>(1 != error1 &amp;&amp; 1 != error2){</a:t>
            </a:r>
            <a:endParaRPr lang="en-US" altLang="zh-CN" b="0" dirty="0"/>
          </a:p>
          <a:p>
            <a:r>
              <a:rPr lang="en-US" altLang="zh-CN" b="0" dirty="0"/>
              <a:t>                                                       </a:t>
            </a:r>
            <a:r>
              <a:rPr lang="en-US" altLang="zh-CN" b="0" dirty="0" err="1"/>
              <a:t>sd</a:t>
            </a:r>
            <a:r>
              <a:rPr lang="en-US" altLang="zh-CN" b="0" dirty="0"/>
              <a:t>[u] = </a:t>
            </a:r>
            <a:r>
              <a:rPr lang="en-US" altLang="zh-CN" b="0" dirty="0" err="1"/>
              <a:t>sd</a:t>
            </a:r>
            <a:r>
              <a:rPr lang="en-US" altLang="zh-CN" b="0" dirty="0"/>
              <a:t>[u] ^ </a:t>
            </a:r>
            <a:r>
              <a:rPr lang="en-US" altLang="zh-CN" b="0" dirty="0" err="1"/>
              <a:t>dataCache</a:t>
            </a:r>
            <a:r>
              <a:rPr lang="en-US" altLang="zh-CN" b="0" dirty="0"/>
              <a:t>[(u- 1 + m)%m][];</a:t>
            </a:r>
            <a:endParaRPr lang="en-US" altLang="zh-CN" b="0" dirty="0"/>
          </a:p>
          <a:p>
            <a:r>
              <a:rPr lang="en-US" altLang="zh-CN" b="0" dirty="0"/>
              <a:t>                                                  }</a:t>
            </a:r>
            <a:endParaRPr lang="en-US" altLang="zh-CN" b="0" dirty="0"/>
          </a:p>
          <a:p>
            <a:r>
              <a:rPr lang="en-US" altLang="zh-CN" b="0" dirty="0"/>
              <a:t>                                            }</a:t>
            </a:r>
            <a:endParaRPr lang="en-US" altLang="zh-CN" b="0" dirty="0"/>
          </a:p>
          <a:p>
            <a:r>
              <a:rPr lang="en-US" altLang="zh-CN" b="0" dirty="0"/>
              <a:t>                                    }</a:t>
            </a:r>
            <a:endParaRPr lang="en-US" altLang="zh-CN" b="0" dirty="0"/>
          </a:p>
          <a:p>
            <a:r>
              <a:rPr lang="en-US" altLang="zh-CN" b="0" dirty="0"/>
              <a:t>                                    /**----</a:t>
            </a:r>
            <a:r>
              <a:rPr lang="zh-CN" altLang="en-US" b="0" dirty="0"/>
              <a:t>修复数据</a:t>
            </a:r>
            <a:r>
              <a:rPr lang="en-US" altLang="zh-CN" b="0" dirty="0"/>
              <a:t>----*/</a:t>
            </a:r>
            <a:endParaRPr lang="en-US" altLang="zh-CN" b="0" dirty="0"/>
          </a:p>
          <a:p>
            <a:r>
              <a:rPr lang="en-US" altLang="zh-CN" b="0" dirty="0"/>
              <a:t>                                    k= (m - (error2 - error1)- 1) % m;</a:t>
            </a:r>
            <a:endParaRPr lang="en-US" altLang="zh-CN" b="0" dirty="0"/>
          </a:p>
          <a:p>
            <a:r>
              <a:rPr lang="en-US" altLang="zh-CN" b="0" dirty="0"/>
              <a:t>                                    </a:t>
            </a:r>
            <a:r>
              <a:rPr lang="en-US" altLang="zh-CN" dirty="0"/>
              <a:t>while</a:t>
            </a:r>
            <a:r>
              <a:rPr lang="en-US" altLang="zh-CN" b="0" dirty="0"/>
              <a:t>(k !=m- 1){</a:t>
            </a:r>
            <a:endParaRPr lang="en-US" altLang="zh-CN" b="0" dirty="0"/>
          </a:p>
          <a:p>
            <a:r>
              <a:rPr lang="en-US" altLang="zh-CN" b="0" dirty="0"/>
              <a:t>                                              </a:t>
            </a:r>
            <a:r>
              <a:rPr lang="en-US" altLang="zh-CN" b="0" dirty="0" err="1"/>
              <a:t>dataCache</a:t>
            </a:r>
            <a:r>
              <a:rPr lang="en-US" altLang="zh-CN" b="0" dirty="0"/>
              <a:t>[k]error2] =</a:t>
            </a:r>
            <a:r>
              <a:rPr lang="en-US" altLang="zh-CN" b="0" dirty="0" err="1"/>
              <a:t>sd</a:t>
            </a:r>
            <a:r>
              <a:rPr lang="en-US" altLang="zh-CN" b="0" dirty="0"/>
              <a:t>[error2 + k + m)%m] ^ </a:t>
            </a:r>
            <a:r>
              <a:rPr lang="en-US" altLang="zh-CN" b="0" dirty="0" err="1"/>
              <a:t>dataCache</a:t>
            </a:r>
            <a:r>
              <a:rPr lang="en-US" altLang="zh-CN" b="0" dirty="0"/>
              <a:t>[(k + error2 - error1 + m)%m][error1];</a:t>
            </a:r>
            <a:endParaRPr lang="en-US" altLang="zh-CN" b="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EVENODD</a:t>
            </a:r>
            <a:r>
              <a:rPr lang="zh-CN" altLang="en-US" sz="2400" dirty="0">
                <a:sym typeface="+mn-ea"/>
              </a:rPr>
              <a:t>码的译码仿真</a:t>
            </a:r>
            <a:endParaRPr lang="zh-CN" altLang="en-US" sz="2400" dirty="0">
              <a:sym typeface="+mn-ea"/>
            </a:endParaRPr>
          </a:p>
        </p:txBody>
      </p:sp>
      <p:sp>
        <p:nvSpPr>
          <p:cNvPr id="12" name="文本框 11"/>
          <p:cNvSpPr txBox="1"/>
          <p:nvPr/>
        </p:nvSpPr>
        <p:spPr>
          <a:xfrm>
            <a:off x="401546" y="702394"/>
            <a:ext cx="8742454" cy="6032677"/>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r>
              <a:rPr lang="en-US" altLang="zh-CN" b="0" dirty="0"/>
              <a:t>                                             </a:t>
            </a:r>
            <a:r>
              <a:rPr lang="en-US" altLang="zh-CN" b="0" dirty="0" err="1"/>
              <a:t>dataCache</a:t>
            </a:r>
            <a:r>
              <a:rPr lang="en-US" altLang="zh-CN" b="0" dirty="0"/>
              <a:t>[k][error1] = </a:t>
            </a:r>
            <a:r>
              <a:rPr lang="en-US" altLang="zh-CN" b="0" dirty="0" err="1"/>
              <a:t>sh</a:t>
            </a:r>
            <a:r>
              <a:rPr lang="en-US" altLang="zh-CN" b="0" dirty="0"/>
              <a:t>[k] ^</a:t>
            </a:r>
            <a:r>
              <a:rPr lang="en-US" altLang="zh-CN" b="0" dirty="0" err="1"/>
              <a:t>dataCache</a:t>
            </a:r>
            <a:r>
              <a:rPr lang="en-US" altLang="zh-CN" b="0" dirty="0"/>
              <a:t>[k][error2];</a:t>
            </a:r>
            <a:endParaRPr lang="en-US" altLang="zh-CN" b="0" dirty="0"/>
          </a:p>
          <a:p>
            <a:r>
              <a:rPr lang="en-US" altLang="zh-CN" b="0" dirty="0"/>
              <a:t>                                              k=(k- (error2 - error1) + m) % m;</a:t>
            </a:r>
            <a:endParaRPr lang="en-US" altLang="zh-CN" b="0" dirty="0"/>
          </a:p>
          <a:p>
            <a:r>
              <a:rPr lang="en-US" altLang="zh-CN" b="0" dirty="0"/>
              <a:t>                                        }</a:t>
            </a:r>
            <a:endParaRPr lang="en-US" altLang="zh-CN" b="0" dirty="0"/>
          </a:p>
          <a:p>
            <a:r>
              <a:rPr lang="en-US" altLang="zh-CN" b="0" dirty="0"/>
              <a:t>                                        </a:t>
            </a:r>
            <a:r>
              <a:rPr lang="en-US" altLang="zh-CN" dirty="0"/>
              <a:t>for</a:t>
            </a:r>
            <a:r>
              <a:rPr lang="en-US" altLang="zh-CN" b="0" dirty="0"/>
              <a:t>(</a:t>
            </a:r>
            <a:r>
              <a:rPr lang="en-US" altLang="zh-CN" dirty="0"/>
              <a:t>int</a:t>
            </a:r>
            <a:r>
              <a:rPr lang="en-US" altLang="zh-CN" b="0" dirty="0"/>
              <a:t> j = 0;j &lt; tempMatrix1.length;j ++){   //</a:t>
            </a:r>
            <a:r>
              <a:rPr lang="zh-CN" altLang="en-US" b="0" dirty="0"/>
              <a:t>数据转移</a:t>
            </a:r>
            <a:endParaRPr lang="en-US" altLang="zh-CN" b="0" dirty="0"/>
          </a:p>
          <a:p>
            <a:r>
              <a:rPr lang="en-US" altLang="zh-CN" b="0" dirty="0"/>
              <a:t>                                               tempMatrix1[j][</a:t>
            </a:r>
            <a:r>
              <a:rPr lang="en-US" altLang="zh-CN" b="0" dirty="0" err="1"/>
              <a:t>i</a:t>
            </a:r>
            <a:r>
              <a:rPr lang="en-US" altLang="zh-CN" b="0" dirty="0"/>
              <a:t>] = </a:t>
            </a:r>
            <a:r>
              <a:rPr lang="en-US" altLang="zh-CN" b="0" dirty="0" err="1"/>
              <a:t>dataCache</a:t>
            </a:r>
            <a:r>
              <a:rPr lang="en-US" altLang="zh-CN" b="0" dirty="0"/>
              <a:t>[</a:t>
            </a:r>
            <a:r>
              <a:rPr lang="en-US" altLang="zh-CN" b="0" dirty="0" err="1"/>
              <a:t>i</a:t>
            </a:r>
            <a:r>
              <a:rPr lang="en-US" altLang="zh-CN" b="0" dirty="0"/>
              <a:t>][error1];</a:t>
            </a:r>
            <a:endParaRPr lang="en-US" altLang="zh-CN" b="0" dirty="0"/>
          </a:p>
          <a:p>
            <a:r>
              <a:rPr lang="en-US" altLang="zh-CN" b="0" dirty="0"/>
              <a:t>                                               tempMatrix2[j][</a:t>
            </a:r>
            <a:r>
              <a:rPr lang="en-US" altLang="zh-CN" b="0" dirty="0" err="1"/>
              <a:t>i</a:t>
            </a:r>
            <a:r>
              <a:rPr lang="en-US" altLang="zh-CN" b="0" dirty="0"/>
              <a:t>] = </a:t>
            </a:r>
            <a:r>
              <a:rPr lang="en-US" altLang="zh-CN" b="0" dirty="0" err="1"/>
              <a:t>dataCache</a:t>
            </a:r>
            <a:r>
              <a:rPr lang="en-US" altLang="zh-CN" b="0" dirty="0"/>
              <a:t>[</a:t>
            </a:r>
            <a:r>
              <a:rPr lang="en-US" altLang="zh-CN" b="0" dirty="0" err="1"/>
              <a:t>i</a:t>
            </a:r>
            <a:r>
              <a:rPr lang="en-US" altLang="zh-CN" b="0" dirty="0"/>
              <a:t>][error2];</a:t>
            </a:r>
            <a:endParaRPr lang="en-US" altLang="zh-CN" b="0" dirty="0"/>
          </a:p>
          <a:p>
            <a:r>
              <a:rPr lang="en-US" altLang="zh-CN" b="0" dirty="0"/>
              <a:t>                                         }</a:t>
            </a:r>
            <a:endParaRPr lang="en-US" altLang="zh-CN" b="0" dirty="0"/>
          </a:p>
          <a:p>
            <a:r>
              <a:rPr lang="en-US" altLang="zh-CN" b="0" dirty="0"/>
              <a:t>                                   }</a:t>
            </a:r>
            <a:endParaRPr lang="en-US" altLang="zh-CN" b="0" dirty="0"/>
          </a:p>
          <a:p>
            <a:r>
              <a:rPr lang="en-US" altLang="zh-CN" b="0" dirty="0"/>
              <a:t>                                   tempMatrix1[j][</a:t>
            </a:r>
            <a:r>
              <a:rPr lang="en-US" altLang="zh-CN" b="0" dirty="0" err="1"/>
              <a:t>i</a:t>
            </a:r>
            <a:r>
              <a:rPr lang="en-US" altLang="zh-CN" b="0" dirty="0"/>
              <a:t>] = </a:t>
            </a:r>
            <a:r>
              <a:rPr lang="en-US" altLang="zh-CN" b="0" dirty="0" err="1"/>
              <a:t>dataCache</a:t>
            </a:r>
            <a:r>
              <a:rPr lang="en-US" altLang="zh-CN" b="0" dirty="0"/>
              <a:t>[j][error1];</a:t>
            </a:r>
            <a:endParaRPr lang="en-US" altLang="zh-CN" b="0" dirty="0"/>
          </a:p>
          <a:p>
            <a:r>
              <a:rPr lang="en-US" altLang="zh-CN" b="0" dirty="0"/>
              <a:t>                                   tempMatrix2[j][</a:t>
            </a:r>
            <a:r>
              <a:rPr lang="en-US" altLang="zh-CN" b="0" dirty="0" err="1"/>
              <a:t>i</a:t>
            </a:r>
            <a:r>
              <a:rPr lang="en-US" altLang="zh-CN" b="0" dirty="0"/>
              <a:t>] = </a:t>
            </a:r>
            <a:r>
              <a:rPr lang="en-US" altLang="zh-CN" b="0" dirty="0" err="1"/>
              <a:t>dataCache</a:t>
            </a:r>
            <a:r>
              <a:rPr lang="en-US" altLang="zh-CN" b="0" dirty="0"/>
              <a:t>[j][error2];</a:t>
            </a:r>
            <a:endParaRPr lang="en-US" altLang="zh-CN" b="0" dirty="0"/>
          </a:p>
          <a:p>
            <a:r>
              <a:rPr lang="en-US" altLang="zh-CN" b="0" dirty="0"/>
              <a:t>                            }else{</a:t>
            </a:r>
            <a:endParaRPr lang="en-US" altLang="zh-CN" b="0" dirty="0"/>
          </a:p>
          <a:p>
            <a:r>
              <a:rPr lang="en-US" altLang="zh-CN" b="0" dirty="0"/>
              <a:t>                                    </a:t>
            </a:r>
            <a:r>
              <a:rPr lang="en-US" altLang="zh-CN" b="0" dirty="0" err="1"/>
              <a:t>System.out.println</a:t>
            </a:r>
            <a:r>
              <a:rPr lang="en-US" altLang="zh-CN" b="0" dirty="0"/>
              <a:t>(“</a:t>
            </a:r>
            <a:r>
              <a:rPr lang="en-US" altLang="zh-CN" b="0" dirty="0" err="1"/>
              <a:t>error:fail</a:t>
            </a:r>
            <a:r>
              <a:rPr lang="en-US" altLang="zh-CN" b="0" dirty="0"/>
              <a:t> to find the error disk !!”)</a:t>
            </a:r>
            <a:endParaRPr lang="en-US" altLang="zh-CN" b="0" dirty="0"/>
          </a:p>
          <a:p>
            <a:r>
              <a:rPr lang="en-US" altLang="zh-CN" b="0" dirty="0"/>
              <a:t>                                    </a:t>
            </a:r>
            <a:r>
              <a:rPr lang="en-US" altLang="zh-CN" b="0" dirty="0" err="1"/>
              <a:t>System.exit</a:t>
            </a:r>
            <a:r>
              <a:rPr lang="en-US" altLang="zh-CN" b="0" dirty="0"/>
              <a:t>(0);}</a:t>
            </a:r>
            <a:endParaRPr lang="en-US" altLang="zh-CN" b="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EVENODD</a:t>
            </a:r>
            <a:r>
              <a:rPr lang="zh-CN" altLang="en-US" sz="2400" dirty="0">
                <a:sym typeface="+mn-ea"/>
              </a:rPr>
              <a:t>码的译码仿真</a:t>
            </a:r>
            <a:endParaRPr lang="zh-CN" altLang="en-US" sz="2400" dirty="0">
              <a:sym typeface="+mn-ea"/>
            </a:endParaRPr>
          </a:p>
        </p:txBody>
      </p:sp>
      <p:sp>
        <p:nvSpPr>
          <p:cNvPr id="12" name="文本框 11"/>
          <p:cNvSpPr txBox="1"/>
          <p:nvPr/>
        </p:nvSpPr>
        <p:spPr>
          <a:xfrm>
            <a:off x="415996" y="665323"/>
            <a:ext cx="8742454" cy="6141681"/>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pPr>
              <a:lnSpc>
                <a:spcPts val="3400"/>
              </a:lnSpc>
            </a:pPr>
            <a:r>
              <a:rPr lang="en-US" altLang="zh-CN" b="0" dirty="0"/>
              <a:t>                   }</a:t>
            </a:r>
            <a:r>
              <a:rPr lang="en-US" altLang="zh-CN" dirty="0"/>
              <a:t>else if</a:t>
            </a:r>
            <a:r>
              <a:rPr lang="en-US" altLang="zh-CN" b="0" dirty="0"/>
              <a:t>(error2==-1 &amp;&amp; error1 != -1){   //</a:t>
            </a:r>
            <a:r>
              <a:rPr lang="zh-CN" altLang="en-US" b="0" dirty="0"/>
              <a:t>只有一个数据块出错</a:t>
            </a:r>
            <a:endParaRPr lang="en-US" altLang="zh-CN" b="0" dirty="0"/>
          </a:p>
          <a:p>
            <a:pPr>
              <a:lnSpc>
                <a:spcPts val="3400"/>
              </a:lnSpc>
            </a:pPr>
            <a:r>
              <a:rPr lang="en-US" altLang="zh-CN" b="0" dirty="0"/>
              <a:t>                           </a:t>
            </a:r>
            <a:r>
              <a:rPr lang="en-US" altLang="zh-CN" dirty="0"/>
              <a:t>int</a:t>
            </a:r>
            <a:r>
              <a:rPr lang="en-US" altLang="zh-CN" b="0" dirty="0"/>
              <a:t> m = </a:t>
            </a:r>
            <a:r>
              <a:rPr lang="en-US" altLang="zh-CN" b="0" dirty="0" err="1"/>
              <a:t>tempMemory.length</a:t>
            </a:r>
            <a:r>
              <a:rPr lang="en-US" altLang="zh-CN" b="0" dirty="0"/>
              <a:t> - 2;</a:t>
            </a:r>
            <a:endParaRPr lang="en-US" altLang="zh-CN" b="0" dirty="0"/>
          </a:p>
          <a:p>
            <a:pPr>
              <a:lnSpc>
                <a:spcPts val="3400"/>
              </a:lnSpc>
            </a:pPr>
            <a:r>
              <a:rPr lang="en-US" altLang="zh-CN" b="0" dirty="0"/>
              <a:t>                           </a:t>
            </a:r>
            <a:r>
              <a:rPr lang="en-US" altLang="zh-CN" dirty="0"/>
              <a:t>int</a:t>
            </a:r>
            <a:r>
              <a:rPr lang="en-US" altLang="zh-CN" b="0" dirty="0"/>
              <a:t> [][] </a:t>
            </a:r>
            <a:r>
              <a:rPr lang="en-US" altLang="zh-CN" b="0" dirty="0" err="1"/>
              <a:t>dataCache</a:t>
            </a:r>
            <a:r>
              <a:rPr lang="en-US" altLang="zh-CN" b="0" dirty="0"/>
              <a:t> = new int[</a:t>
            </a:r>
            <a:r>
              <a:rPr lang="en-US" altLang="zh-CN" b="0" dirty="0" err="1"/>
              <a:t>tempMemory</a:t>
            </a:r>
            <a:r>
              <a:rPr lang="en-US" altLang="zh-CN" b="0" dirty="0"/>
              <a:t>[0].</a:t>
            </a:r>
            <a:r>
              <a:rPr lang="en-US" altLang="zh-CN" b="0" dirty="0" err="1"/>
              <a:t>getRow</a:t>
            </a:r>
            <a:r>
              <a:rPr lang="en-US" altLang="zh-CN" b="0" dirty="0"/>
              <a:t>()][m];</a:t>
            </a:r>
            <a:endParaRPr lang="en-US" altLang="zh-CN" b="0" dirty="0"/>
          </a:p>
          <a:p>
            <a:pPr>
              <a:lnSpc>
                <a:spcPts val="3400"/>
              </a:lnSpc>
            </a:pPr>
            <a:r>
              <a:rPr lang="en-US" altLang="zh-CN" b="0" dirty="0"/>
              <a:t>                           </a:t>
            </a:r>
            <a:r>
              <a:rPr lang="en-US" altLang="zh-CN" dirty="0"/>
              <a:t>int</a:t>
            </a:r>
            <a:r>
              <a:rPr lang="en-US" altLang="zh-CN" b="0" dirty="0"/>
              <a:t>[][] </a:t>
            </a:r>
            <a:r>
              <a:rPr lang="en-US" altLang="zh-CN" b="0" dirty="0" err="1"/>
              <a:t>tempMatrix</a:t>
            </a:r>
            <a:r>
              <a:rPr lang="en-US" altLang="zh-CN" b="0" dirty="0"/>
              <a:t> =</a:t>
            </a:r>
            <a:r>
              <a:rPr lang="en-US" altLang="zh-CN" dirty="0"/>
              <a:t>new int</a:t>
            </a:r>
            <a:r>
              <a:rPr lang="en-US" altLang="zh-CN" b="0" dirty="0"/>
              <a:t>[</a:t>
            </a:r>
            <a:r>
              <a:rPr lang="en-US" altLang="zh-CN" b="0" dirty="0" err="1"/>
              <a:t>tempMemory</a:t>
            </a:r>
            <a:r>
              <a:rPr lang="en-US" altLang="zh-CN" b="0" dirty="0"/>
              <a:t>[0].</a:t>
            </a:r>
            <a:r>
              <a:rPr lang="en-US" altLang="zh-CN" b="0" dirty="0" err="1"/>
              <a:t>getColumn</a:t>
            </a:r>
            <a:r>
              <a:rPr lang="en-US" altLang="zh-CN" b="0" dirty="0"/>
              <a:t>()]</a:t>
            </a:r>
            <a:r>
              <a:rPr lang="en-US" altLang="zh-CN" b="0" dirty="0" err="1"/>
              <a:t>tempMemory</a:t>
            </a:r>
            <a:r>
              <a:rPr lang="en-US" altLang="zh-CN" b="0" dirty="0"/>
              <a:t>[0].</a:t>
            </a:r>
            <a:r>
              <a:rPr lang="en-US" altLang="zh-CN" b="0" dirty="0" err="1"/>
              <a:t>getRow</a:t>
            </a:r>
            <a:r>
              <a:rPr lang="en-US" altLang="zh-CN" b="0" dirty="0"/>
              <a:t>()];</a:t>
            </a:r>
            <a:endParaRPr lang="en-US" altLang="zh-CN" b="0" dirty="0"/>
          </a:p>
          <a:p>
            <a:pPr>
              <a:lnSpc>
                <a:spcPts val="3400"/>
              </a:lnSpc>
            </a:pPr>
            <a:r>
              <a:rPr lang="en-US" altLang="zh-CN" b="0" dirty="0"/>
              <a:t>                            </a:t>
            </a:r>
            <a:r>
              <a:rPr lang="en-US" altLang="zh-CN" b="0" dirty="0" err="1"/>
              <a:t>pictureInComp</a:t>
            </a:r>
            <a:r>
              <a:rPr lang="en-US" altLang="zh-CN" b="0" dirty="0"/>
              <a:t>[] </a:t>
            </a:r>
            <a:r>
              <a:rPr lang="en-US" altLang="zh-CN" b="0" dirty="0" err="1"/>
              <a:t>corectObj</a:t>
            </a:r>
            <a:r>
              <a:rPr lang="en-US" altLang="zh-CN" b="0" dirty="0"/>
              <a:t> = </a:t>
            </a:r>
            <a:r>
              <a:rPr lang="en-US" altLang="zh-CN" dirty="0"/>
              <a:t>new</a:t>
            </a:r>
            <a:r>
              <a:rPr lang="en-US" altLang="zh-CN" b="0" dirty="0"/>
              <a:t> </a:t>
            </a:r>
            <a:r>
              <a:rPr lang="en-US" altLang="zh-CN" b="0" dirty="0" err="1"/>
              <a:t>pictureInComp</a:t>
            </a:r>
            <a:r>
              <a:rPr lang="en-US" altLang="zh-CN" b="0" dirty="0"/>
              <a:t>[m];</a:t>
            </a:r>
            <a:endParaRPr lang="en-US" altLang="zh-CN" b="0" dirty="0"/>
          </a:p>
          <a:p>
            <a:pPr>
              <a:lnSpc>
                <a:spcPts val="3400"/>
              </a:lnSpc>
            </a:pPr>
            <a:r>
              <a:rPr lang="en-US" altLang="zh-CN" b="0" dirty="0"/>
              <a:t>                            </a:t>
            </a:r>
            <a:r>
              <a:rPr lang="en-US" altLang="zh-CN" dirty="0"/>
              <a:t>int</a:t>
            </a:r>
            <a:r>
              <a:rPr lang="en-US" altLang="zh-CN" b="0" dirty="0"/>
              <a:t> [][] temp =</a:t>
            </a:r>
            <a:r>
              <a:rPr lang="en-US" altLang="zh-CN" dirty="0"/>
              <a:t>new int</a:t>
            </a:r>
            <a:r>
              <a:rPr lang="en-US" altLang="zh-CN" b="0" dirty="0"/>
              <a:t>[</a:t>
            </a:r>
            <a:r>
              <a:rPr lang="en-US" altLang="zh-CN" b="0" dirty="0" err="1"/>
              <a:t>tempMemory</a:t>
            </a:r>
            <a:r>
              <a:rPr lang="en-US" altLang="zh-CN" b="0" dirty="0"/>
              <a:t>[0].</a:t>
            </a:r>
            <a:r>
              <a:rPr lang="en-US" altLang="zh-CN" b="0" dirty="0" err="1"/>
              <a:t>getRow</a:t>
            </a:r>
            <a:r>
              <a:rPr lang="en-US" altLang="zh-CN" b="0" dirty="0"/>
              <a:t>()][</a:t>
            </a:r>
            <a:r>
              <a:rPr lang="en-US" altLang="zh-CN" b="0" dirty="0" err="1"/>
              <a:t>tempMemory</a:t>
            </a:r>
            <a:r>
              <a:rPr lang="en-US" altLang="zh-CN" b="0" dirty="0"/>
              <a:t>[0].getColumn0];</a:t>
            </a:r>
            <a:endParaRPr lang="en-US" altLang="zh-CN" b="0" dirty="0"/>
          </a:p>
          <a:p>
            <a:pPr>
              <a:lnSpc>
                <a:spcPts val="3400"/>
              </a:lnSpc>
            </a:pPr>
            <a:r>
              <a:rPr lang="en-US" altLang="zh-CN" b="0" dirty="0"/>
              <a:t>                            // </a:t>
            </a:r>
            <a:r>
              <a:rPr lang="zh-CN" altLang="en-US" b="0" dirty="0"/>
              <a:t>充当数组转置时的临时变量</a:t>
            </a:r>
            <a:endParaRPr lang="en-US" altLang="zh-CN" b="0" dirty="0"/>
          </a:p>
          <a:p>
            <a:pPr>
              <a:lnSpc>
                <a:spcPts val="3400"/>
              </a:lnSpc>
            </a:pPr>
            <a:r>
              <a:rPr lang="en-US" altLang="zh-CN" b="0" dirty="0"/>
              <a:t>                            </a:t>
            </a:r>
            <a:r>
              <a:rPr lang="en-US" altLang="zh-CN" dirty="0"/>
              <a:t>if</a:t>
            </a:r>
            <a:r>
              <a:rPr lang="en-US" altLang="zh-CN" b="0" dirty="0"/>
              <a:t>(errorl1 &lt; </a:t>
            </a:r>
            <a:r>
              <a:rPr lang="en-US" altLang="zh-CN" b="0" dirty="0" err="1"/>
              <a:t>tenpMemory.length</a:t>
            </a:r>
            <a:r>
              <a:rPr lang="en-US" altLang="zh-CN" b="0" dirty="0"/>
              <a:t>- 1 &amp;&amp; error1 &gt;=0){</a:t>
            </a:r>
            <a:endParaRPr lang="en-US" altLang="zh-CN" b="0" dirty="0"/>
          </a:p>
          <a:p>
            <a:pPr>
              <a:lnSpc>
                <a:spcPts val="3400"/>
              </a:lnSpc>
            </a:pPr>
            <a:r>
              <a:rPr lang="en-US" altLang="zh-CN" b="0" dirty="0"/>
              <a:t>                            //</a:t>
            </a:r>
            <a:r>
              <a:rPr lang="zh-CN" altLang="en-US" b="0" dirty="0"/>
              <a:t>出错数据块是水平校验位或者原数据</a:t>
            </a:r>
            <a:endParaRPr lang="en-US" altLang="zh-CN" b="0" dirty="0"/>
          </a:p>
          <a:p>
            <a:pPr>
              <a:lnSpc>
                <a:spcPts val="3400"/>
              </a:lnSpc>
            </a:pPr>
            <a:r>
              <a:rPr lang="en-US" altLang="zh-CN" b="0" dirty="0"/>
              <a:t>                                 </a:t>
            </a:r>
            <a:r>
              <a:rPr lang="en-US" altLang="zh-CN" dirty="0"/>
              <a:t>for</a:t>
            </a:r>
            <a:r>
              <a:rPr lang="en-US" altLang="zh-CN" b="0" dirty="0"/>
              <a:t>(</a:t>
            </a:r>
            <a:r>
              <a:rPr lang="en-US" altLang="zh-CN" dirty="0"/>
              <a:t>int</a:t>
            </a:r>
            <a:r>
              <a:rPr lang="en-US" altLang="zh-CN" b="0" dirty="0"/>
              <a:t> </a:t>
            </a:r>
            <a:r>
              <a:rPr lang="en-US" altLang="zh-CN" b="0" dirty="0" err="1"/>
              <a:t>i</a:t>
            </a:r>
            <a:r>
              <a:rPr lang="en-US" altLang="zh-CN" b="0" dirty="0"/>
              <a:t>=0,j=0;i&lt;m+1;i++){</a:t>
            </a:r>
            <a:endParaRPr lang="en-US" altLang="zh-CN" b="0" dirty="0"/>
          </a:p>
          <a:p>
            <a:pPr>
              <a:lnSpc>
                <a:spcPts val="3400"/>
              </a:lnSpc>
            </a:pPr>
            <a:r>
              <a:rPr lang="en-US" altLang="zh-CN" b="0" dirty="0"/>
              <a:t>                                        </a:t>
            </a:r>
            <a:r>
              <a:rPr lang="en-US" altLang="zh-CN" dirty="0"/>
              <a:t>if</a:t>
            </a:r>
            <a:r>
              <a:rPr lang="en-US" altLang="zh-CN" b="0" dirty="0"/>
              <a:t>(</a:t>
            </a:r>
            <a:r>
              <a:rPr lang="en-US" altLang="zh-CN" b="0" dirty="0" err="1"/>
              <a:t>i</a:t>
            </a:r>
            <a:r>
              <a:rPr lang="en-US" altLang="zh-CN" b="0" dirty="0"/>
              <a:t> != error1){</a:t>
            </a:r>
            <a:r>
              <a:rPr lang="en-US" altLang="zh-CN" b="0" dirty="0" err="1"/>
              <a:t>corectObj</a:t>
            </a:r>
            <a:r>
              <a:rPr lang="en-US" altLang="zh-CN" b="0" dirty="0"/>
              <a:t>[j+ +]=(</a:t>
            </a:r>
            <a:r>
              <a:rPr lang="en-US" altLang="zh-CN" b="0" dirty="0" err="1"/>
              <a:t>pictureInComp</a:t>
            </a:r>
            <a:r>
              <a:rPr lang="en-US" altLang="zh-CN" b="0" dirty="0"/>
              <a:t> </a:t>
            </a:r>
            <a:r>
              <a:rPr lang="en-US" altLang="zh-CN" b="0" dirty="0" err="1"/>
              <a:t>ltempMemory</a:t>
            </a:r>
            <a:r>
              <a:rPr lang="en-US" altLang="zh-CN" b="0" dirty="0"/>
              <a:t>[</a:t>
            </a:r>
            <a:r>
              <a:rPr lang="en-US" altLang="zh-CN" b="0" dirty="0" err="1"/>
              <a:t>i</a:t>
            </a:r>
            <a:r>
              <a:rPr lang="en-US" altLang="zh-CN" b="0" dirty="0"/>
              <a:t>]. clone();}}</a:t>
            </a:r>
            <a:endParaRPr lang="en-US" altLang="zh-CN" b="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EVENODD</a:t>
            </a:r>
            <a:r>
              <a:rPr lang="zh-CN" altLang="en-US" sz="2400" dirty="0">
                <a:sym typeface="+mn-ea"/>
              </a:rPr>
              <a:t>码的译码仿真</a:t>
            </a:r>
            <a:endParaRPr lang="zh-CN" altLang="en-US" sz="2400" dirty="0">
              <a:sym typeface="+mn-ea"/>
            </a:endParaRPr>
          </a:p>
        </p:txBody>
      </p:sp>
      <p:sp>
        <p:nvSpPr>
          <p:cNvPr id="12" name="文本框 11"/>
          <p:cNvSpPr txBox="1"/>
          <p:nvPr/>
        </p:nvSpPr>
        <p:spPr>
          <a:xfrm>
            <a:off x="415996" y="665323"/>
            <a:ext cx="8742454" cy="6141681"/>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pPr>
              <a:lnSpc>
                <a:spcPts val="3400"/>
              </a:lnSpc>
            </a:pPr>
            <a:r>
              <a:rPr lang="en-US" altLang="zh-CN" b="0" dirty="0"/>
              <a:t>                              </a:t>
            </a:r>
            <a:r>
              <a:rPr lang="en-US" altLang="zh-CN" dirty="0"/>
              <a:t>for</a:t>
            </a:r>
            <a:r>
              <a:rPr lang="en-US" altLang="zh-CN" b="0" dirty="0"/>
              <a:t>(</a:t>
            </a:r>
            <a:r>
              <a:rPr lang="en-US" altLang="zh-CN" dirty="0"/>
              <a:t>int</a:t>
            </a:r>
            <a:r>
              <a:rPr lang="en-US" altLang="zh-CN" b="0" dirty="0"/>
              <a:t> </a:t>
            </a:r>
            <a:r>
              <a:rPr lang="en-US" altLang="zh-CN" b="0" dirty="0" err="1"/>
              <a:t>i</a:t>
            </a:r>
            <a:r>
              <a:rPr lang="en-US" altLang="zh-CN" b="0" dirty="0"/>
              <a:t>= 0;i &lt; </a:t>
            </a:r>
            <a:r>
              <a:rPr lang="en-US" altLang="zh-CN" b="0" dirty="0" err="1"/>
              <a:t>corectObj.length;it</a:t>
            </a:r>
            <a:r>
              <a:rPr lang="en-US" altLang="zh-CN" b="0" dirty="0"/>
              <a:t>+){</a:t>
            </a:r>
            <a:endParaRPr lang="en-US" altLang="zh-CN" b="0" dirty="0"/>
          </a:p>
          <a:p>
            <a:pPr>
              <a:lnSpc>
                <a:spcPts val="3400"/>
              </a:lnSpc>
            </a:pPr>
            <a:r>
              <a:rPr lang="en-US" altLang="zh-CN" b="0" dirty="0"/>
              <a:t>                                     </a:t>
            </a:r>
            <a:r>
              <a:rPr lang="en-US" altLang="zh-CN" b="0" dirty="0" err="1"/>
              <a:t>dataCache</a:t>
            </a:r>
            <a:r>
              <a:rPr lang="en-US" altLang="zh-CN" b="0" dirty="0"/>
              <a:t> = </a:t>
            </a:r>
            <a:r>
              <a:rPr lang="en-US" altLang="zh-CN" dirty="0" err="1"/>
              <a:t>super</a:t>
            </a:r>
            <a:r>
              <a:rPr lang="en-US" altLang="zh-CN" b="0" dirty="0" err="1"/>
              <a:t>.getColumnData</a:t>
            </a:r>
            <a:r>
              <a:rPr lang="en-US" altLang="zh-CN" b="0" dirty="0"/>
              <a:t>(</a:t>
            </a:r>
            <a:r>
              <a:rPr lang="en-US" altLang="zh-CN" b="0" dirty="0" err="1"/>
              <a:t>corectObj</a:t>
            </a:r>
            <a:r>
              <a:rPr lang="en-US" altLang="zh-CN" b="0" dirty="0"/>
              <a:t>, </a:t>
            </a:r>
            <a:r>
              <a:rPr lang="en-US" altLang="zh-CN" b="0" dirty="0" err="1"/>
              <a:t>i</a:t>
            </a:r>
            <a:r>
              <a:rPr lang="en-US" altLang="zh-CN" b="0" dirty="0"/>
              <a:t>);</a:t>
            </a:r>
            <a:endParaRPr lang="en-US" altLang="zh-CN" b="0" dirty="0"/>
          </a:p>
          <a:p>
            <a:pPr>
              <a:lnSpc>
                <a:spcPts val="3400"/>
              </a:lnSpc>
            </a:pPr>
            <a:r>
              <a:rPr lang="en-US" altLang="zh-CN" b="0" dirty="0"/>
              <a:t>                                     </a:t>
            </a:r>
            <a:r>
              <a:rPr lang="en-US" altLang="zh-CN" b="0" dirty="0" err="1"/>
              <a:t>tempMatrix</a:t>
            </a:r>
            <a:r>
              <a:rPr lang="en-US" altLang="zh-CN" b="0" dirty="0"/>
              <a:t>[</a:t>
            </a:r>
            <a:r>
              <a:rPr lang="en-US" altLang="zh-CN" b="0" dirty="0" err="1"/>
              <a:t>i</a:t>
            </a:r>
            <a:r>
              <a:rPr lang="en-US" altLang="zh-CN" b="0" dirty="0"/>
              <a:t>] = </a:t>
            </a:r>
            <a:r>
              <a:rPr lang="en-US" altLang="zh-CN" dirty="0" err="1"/>
              <a:t>super</a:t>
            </a:r>
            <a:r>
              <a:rPr lang="en-US" altLang="zh-CN" b="0" dirty="0" err="1"/>
              <a:t>.horiExclusive_OR</a:t>
            </a:r>
            <a:r>
              <a:rPr lang="en-US" altLang="zh-CN" b="0" dirty="0"/>
              <a:t>(</a:t>
            </a:r>
            <a:r>
              <a:rPr lang="en-US" altLang="zh-CN" b="0" dirty="0" err="1"/>
              <a:t>dataCache</a:t>
            </a:r>
            <a:r>
              <a:rPr lang="en-US" altLang="zh-CN" b="0" dirty="0"/>
              <a:t>);</a:t>
            </a:r>
            <a:endParaRPr lang="en-US" altLang="zh-CN" b="0" dirty="0"/>
          </a:p>
          <a:p>
            <a:pPr>
              <a:lnSpc>
                <a:spcPts val="3400"/>
              </a:lnSpc>
            </a:pPr>
            <a:r>
              <a:rPr lang="en-US" altLang="zh-CN" b="0" dirty="0"/>
              <a:t>                               }</a:t>
            </a:r>
            <a:endParaRPr lang="en-US" altLang="zh-CN" b="0" dirty="0"/>
          </a:p>
          <a:p>
            <a:pPr>
              <a:lnSpc>
                <a:spcPts val="3400"/>
              </a:lnSpc>
            </a:pPr>
            <a:r>
              <a:rPr lang="en-US" altLang="zh-CN" b="0" dirty="0"/>
              <a:t>                               </a:t>
            </a:r>
            <a:r>
              <a:rPr lang="en-US" altLang="zh-CN" dirty="0" err="1"/>
              <a:t>super</a:t>
            </a:r>
            <a:r>
              <a:rPr lang="en-US" altLang="zh-CN" b="0" dirty="0" err="1"/>
              <a:t>.matrixTransposition</a:t>
            </a:r>
            <a:r>
              <a:rPr lang="en-US" altLang="zh-CN" b="0" dirty="0"/>
              <a:t>(</a:t>
            </a:r>
            <a:r>
              <a:rPr lang="en-US" altLang="zh-CN" b="0" dirty="0" err="1"/>
              <a:t>tempMatrix</a:t>
            </a:r>
            <a:r>
              <a:rPr lang="en-US" altLang="zh-CN" b="0" dirty="0"/>
              <a:t>, temp);</a:t>
            </a:r>
            <a:endParaRPr lang="en-US" altLang="zh-CN" b="0" dirty="0"/>
          </a:p>
          <a:p>
            <a:pPr>
              <a:lnSpc>
                <a:spcPts val="3400"/>
              </a:lnSpc>
            </a:pPr>
            <a:r>
              <a:rPr lang="en-US" altLang="zh-CN" b="0" dirty="0"/>
              <a:t>                               </a:t>
            </a:r>
            <a:r>
              <a:rPr lang="en-US" altLang="zh-CN" b="0" dirty="0" err="1"/>
              <a:t>tempMemory</a:t>
            </a:r>
            <a:r>
              <a:rPr lang="en-US" altLang="zh-CN" b="0" dirty="0"/>
              <a:t>[ error1 ].read(temp);</a:t>
            </a:r>
            <a:endParaRPr lang="en-US" altLang="zh-CN" b="0" dirty="0"/>
          </a:p>
          <a:p>
            <a:pPr>
              <a:lnSpc>
                <a:spcPts val="3400"/>
              </a:lnSpc>
            </a:pPr>
            <a:r>
              <a:rPr lang="en-US" altLang="zh-CN" b="0" dirty="0"/>
              <a:t>                       }</a:t>
            </a:r>
            <a:r>
              <a:rPr lang="en-US" altLang="zh-CN" dirty="0"/>
              <a:t>else if</a:t>
            </a:r>
            <a:r>
              <a:rPr lang="en-US" altLang="zh-CN" b="0" dirty="0"/>
              <a:t>(eror1 == </a:t>
            </a:r>
            <a:r>
              <a:rPr lang="en-US" altLang="zh-CN" b="0" dirty="0" err="1"/>
              <a:t>tempMemory.length</a:t>
            </a:r>
            <a:r>
              <a:rPr lang="en-US" altLang="zh-CN" b="0" dirty="0"/>
              <a:t>- 1){</a:t>
            </a:r>
            <a:endParaRPr lang="en-US" altLang="zh-CN" b="0" dirty="0"/>
          </a:p>
          <a:p>
            <a:pPr>
              <a:lnSpc>
                <a:spcPts val="3400"/>
              </a:lnSpc>
            </a:pPr>
            <a:r>
              <a:rPr lang="en-US" altLang="zh-CN" b="0" dirty="0"/>
              <a:t>                        // </a:t>
            </a:r>
            <a:r>
              <a:rPr lang="zh-CN" altLang="en-US" b="0" dirty="0"/>
              <a:t>出错数据块是对角校验位数据块</a:t>
            </a:r>
            <a:endParaRPr lang="en-US" altLang="zh-CN" b="0" dirty="0"/>
          </a:p>
          <a:p>
            <a:pPr>
              <a:lnSpc>
                <a:spcPts val="3400"/>
              </a:lnSpc>
            </a:pPr>
            <a:r>
              <a:rPr lang="en-US" altLang="zh-CN" b="0" dirty="0"/>
              <a:t>                                 </a:t>
            </a:r>
            <a:r>
              <a:rPr lang="en-US" altLang="zh-CN" b="0" dirty="0" err="1"/>
              <a:t>System.arraycopy</a:t>
            </a:r>
            <a:r>
              <a:rPr lang="en-US" altLang="zh-CN" b="0" dirty="0"/>
              <a:t>(</a:t>
            </a:r>
            <a:r>
              <a:rPr lang="en-US" altLang="zh-CN" b="0" dirty="0" err="1"/>
              <a:t>tempMemory</a:t>
            </a:r>
            <a:r>
              <a:rPr lang="en-US" altLang="zh-CN" b="0" dirty="0"/>
              <a:t>, 0, </a:t>
            </a:r>
            <a:r>
              <a:rPr lang="en-US" altLang="zh-CN" b="0" dirty="0" err="1"/>
              <a:t>corectObj</a:t>
            </a:r>
            <a:r>
              <a:rPr lang="en-US" altLang="zh-CN" b="0" dirty="0"/>
              <a:t>, 0, m);</a:t>
            </a:r>
            <a:endParaRPr lang="en-US" altLang="zh-CN" b="0" dirty="0"/>
          </a:p>
          <a:p>
            <a:pPr>
              <a:lnSpc>
                <a:spcPts val="3400"/>
              </a:lnSpc>
            </a:pPr>
            <a:r>
              <a:rPr lang="en-US" altLang="zh-CN" b="0" dirty="0"/>
              <a:t>                                 </a:t>
            </a:r>
            <a:r>
              <a:rPr lang="en-US" altLang="zh-CN" dirty="0"/>
              <a:t>for</a:t>
            </a:r>
            <a:r>
              <a:rPr lang="en-US" altLang="zh-CN" b="0" dirty="0"/>
              <a:t>(</a:t>
            </a:r>
            <a:r>
              <a:rPr lang="en-US" altLang="zh-CN" dirty="0"/>
              <a:t>int</a:t>
            </a:r>
            <a:r>
              <a:rPr lang="en-US" altLang="zh-CN" b="0" dirty="0"/>
              <a:t> </a:t>
            </a:r>
            <a:r>
              <a:rPr lang="en-US" altLang="zh-CN" b="0" dirty="0" err="1"/>
              <a:t>i</a:t>
            </a:r>
            <a:r>
              <a:rPr lang="en-US" altLang="zh-CN" b="0" dirty="0"/>
              <a:t>=0;i &lt; </a:t>
            </a:r>
            <a:r>
              <a:rPr lang="en-US" altLang="zh-CN" b="0" dirty="0" err="1"/>
              <a:t>corectObj.length</a:t>
            </a:r>
            <a:r>
              <a:rPr lang="en-US" altLang="zh-CN" b="0" dirty="0"/>
              <a:t>; </a:t>
            </a:r>
            <a:r>
              <a:rPr lang="en-US" altLang="zh-CN" b="0" dirty="0" err="1"/>
              <a:t>i</a:t>
            </a:r>
            <a:r>
              <a:rPr lang="en-US" altLang="zh-CN" b="0" dirty="0"/>
              <a:t>++){</a:t>
            </a:r>
            <a:endParaRPr lang="en-US" altLang="zh-CN" b="0" dirty="0"/>
          </a:p>
          <a:p>
            <a:pPr>
              <a:lnSpc>
                <a:spcPts val="3400"/>
              </a:lnSpc>
            </a:pPr>
            <a:r>
              <a:rPr lang="en-US" altLang="zh-CN" b="0" dirty="0"/>
              <a:t>                                        </a:t>
            </a:r>
            <a:r>
              <a:rPr lang="en-US" altLang="zh-CN" b="0" dirty="0" err="1"/>
              <a:t>dataCache</a:t>
            </a:r>
            <a:r>
              <a:rPr lang="en-US" altLang="zh-CN" b="0" dirty="0"/>
              <a:t> = </a:t>
            </a:r>
            <a:r>
              <a:rPr lang="en-US" altLang="zh-CN" dirty="0" err="1"/>
              <a:t>super</a:t>
            </a:r>
            <a:r>
              <a:rPr lang="en-US" altLang="zh-CN" b="0" dirty="0" err="1"/>
              <a:t>.getC</a:t>
            </a:r>
            <a:r>
              <a:rPr lang="en-US" altLang="zh-CN" b="0" dirty="0"/>
              <a:t> </a:t>
            </a:r>
            <a:r>
              <a:rPr lang="en-US" altLang="zh-CN" b="0" dirty="0" err="1"/>
              <a:t>olumnData</a:t>
            </a:r>
            <a:r>
              <a:rPr lang="en-US" altLang="zh-CN" b="0" dirty="0"/>
              <a:t>(</a:t>
            </a:r>
            <a:r>
              <a:rPr lang="en-US" altLang="zh-CN" b="0" dirty="0" err="1"/>
              <a:t>corectObj</a:t>
            </a:r>
            <a:r>
              <a:rPr lang="en-US" altLang="zh-CN" b="0" dirty="0"/>
              <a:t>, </a:t>
            </a:r>
            <a:r>
              <a:rPr lang="en-US" altLang="zh-CN" b="0" dirty="0" err="1"/>
              <a:t>i</a:t>
            </a:r>
            <a:r>
              <a:rPr lang="en-US" altLang="zh-CN" b="0" dirty="0"/>
              <a:t>);</a:t>
            </a:r>
            <a:endParaRPr lang="en-US" altLang="zh-CN" b="0" dirty="0"/>
          </a:p>
          <a:p>
            <a:pPr>
              <a:lnSpc>
                <a:spcPts val="3400"/>
              </a:lnSpc>
            </a:pPr>
            <a:r>
              <a:rPr lang="en-US" altLang="zh-CN" b="0" dirty="0"/>
              <a:t>                                        </a:t>
            </a:r>
            <a:r>
              <a:rPr lang="en-US" altLang="zh-CN" b="0" dirty="0" err="1"/>
              <a:t>tempMatrix</a:t>
            </a:r>
            <a:r>
              <a:rPr lang="en-US" altLang="zh-CN" b="0" dirty="0"/>
              <a:t>[</a:t>
            </a:r>
            <a:r>
              <a:rPr lang="en-US" altLang="zh-CN" b="0" dirty="0" err="1"/>
              <a:t>i</a:t>
            </a:r>
            <a:r>
              <a:rPr lang="en-US" altLang="zh-CN" b="0" dirty="0"/>
              <a:t>] =</a:t>
            </a:r>
            <a:r>
              <a:rPr lang="en-US" altLang="zh-CN" dirty="0"/>
              <a:t>super</a:t>
            </a:r>
            <a:r>
              <a:rPr lang="en-US" altLang="zh-CN" b="0" dirty="0"/>
              <a:t>. </a:t>
            </a:r>
            <a:r>
              <a:rPr lang="en-US" altLang="zh-CN" b="0" dirty="0" err="1"/>
              <a:t>diagExclusive</a:t>
            </a:r>
            <a:r>
              <a:rPr lang="en-US" altLang="zh-CN" b="0" dirty="0"/>
              <a:t>_ OR(</a:t>
            </a:r>
            <a:r>
              <a:rPr lang="en-US" altLang="zh-CN" b="0" dirty="0" err="1"/>
              <a:t>dataCache,encoding.getC</a:t>
            </a:r>
            <a:r>
              <a:rPr lang="en-US" altLang="zh-CN" b="0" dirty="0"/>
              <a:t> </a:t>
            </a:r>
            <a:r>
              <a:rPr lang="en-US" altLang="zh-CN" b="0" dirty="0" err="1"/>
              <a:t>ommonF</a:t>
            </a:r>
            <a:r>
              <a:rPr lang="en-US" altLang="zh-CN" b="0" dirty="0"/>
              <a:t> actor(</a:t>
            </a:r>
            <a:r>
              <a:rPr lang="en-US" altLang="zh-CN" b="0" dirty="0" err="1"/>
              <a:t>dataCache</a:t>
            </a:r>
            <a:r>
              <a:rPr lang="en-US" altLang="zh-CN" b="0" dirty="0"/>
              <a:t>);</a:t>
            </a:r>
            <a:endParaRPr lang="en-US" altLang="zh-CN" b="0" dirty="0"/>
          </a:p>
          <a:p>
            <a:pPr>
              <a:lnSpc>
                <a:spcPts val="3400"/>
              </a:lnSpc>
            </a:pPr>
            <a:r>
              <a:rPr lang="en-US" altLang="zh-CN" b="0" dirty="0"/>
              <a:t>                                         </a:t>
            </a:r>
            <a:r>
              <a:rPr lang="en-US" altLang="zh-CN" dirty="0" err="1"/>
              <a:t>super</a:t>
            </a:r>
            <a:r>
              <a:rPr lang="en-US" altLang="zh-CN" b="0" dirty="0" err="1"/>
              <a:t>.matrixTransposition</a:t>
            </a:r>
            <a:r>
              <a:rPr lang="en-US" altLang="zh-CN" b="0" dirty="0"/>
              <a:t>( </a:t>
            </a:r>
            <a:r>
              <a:rPr lang="en-US" altLang="zh-CN" b="0" dirty="0" err="1"/>
              <a:t>tempMatrix</a:t>
            </a:r>
            <a:r>
              <a:rPr lang="en-US" altLang="zh-CN" b="0" dirty="0"/>
              <a:t>, temp);                      </a:t>
            </a:r>
            <a:endParaRPr lang="en-US" altLang="zh-CN" b="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EVENODD</a:t>
            </a:r>
            <a:r>
              <a:rPr lang="zh-CN" altLang="en-US" sz="2400" dirty="0">
                <a:sym typeface="+mn-ea"/>
              </a:rPr>
              <a:t>码的译码仿真</a:t>
            </a:r>
            <a:endParaRPr lang="zh-CN" altLang="en-US" sz="2400" dirty="0">
              <a:sym typeface="+mn-ea"/>
            </a:endParaRPr>
          </a:p>
        </p:txBody>
      </p:sp>
      <p:sp>
        <p:nvSpPr>
          <p:cNvPr id="12" name="文本框 11"/>
          <p:cNvSpPr txBox="1"/>
          <p:nvPr/>
        </p:nvSpPr>
        <p:spPr>
          <a:xfrm>
            <a:off x="415996" y="665323"/>
            <a:ext cx="8742454" cy="3525581"/>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pPr>
              <a:lnSpc>
                <a:spcPts val="3400"/>
              </a:lnSpc>
            </a:pPr>
            <a:r>
              <a:rPr lang="en-US" altLang="zh-CN" dirty="0"/>
              <a:t>                                         </a:t>
            </a:r>
            <a:r>
              <a:rPr lang="en-US" altLang="zh-CN" b="0" dirty="0" err="1"/>
              <a:t>tempMemory</a:t>
            </a:r>
            <a:r>
              <a:rPr lang="en-US" altLang="zh-CN" b="0" dirty="0"/>
              <a:t>[error1].read(temp);</a:t>
            </a:r>
            <a:endParaRPr lang="en-US" altLang="zh-CN" b="0" dirty="0"/>
          </a:p>
          <a:p>
            <a:pPr>
              <a:lnSpc>
                <a:spcPts val="3400"/>
              </a:lnSpc>
            </a:pPr>
            <a:r>
              <a:rPr lang="en-US" altLang="zh-CN" b="0" dirty="0"/>
              <a:t>                                   }else{</a:t>
            </a:r>
            <a:endParaRPr lang="en-US" altLang="zh-CN" b="0" dirty="0"/>
          </a:p>
          <a:p>
            <a:pPr>
              <a:lnSpc>
                <a:spcPts val="3400"/>
              </a:lnSpc>
            </a:pPr>
            <a:r>
              <a:rPr lang="en-US" altLang="zh-CN" b="0" dirty="0"/>
              <a:t>                                         </a:t>
            </a:r>
            <a:r>
              <a:rPr lang="en-US" altLang="zh-CN" b="0" dirty="0" err="1"/>
              <a:t>System.out.println</a:t>
            </a:r>
            <a:r>
              <a:rPr lang="en-US" altLang="zh-CN" b="0" dirty="0"/>
              <a:t>(“</a:t>
            </a:r>
            <a:r>
              <a:rPr lang="en-US" altLang="zh-CN" b="0" dirty="0" err="1"/>
              <a:t>error:fail</a:t>
            </a:r>
            <a:r>
              <a:rPr lang="en-US" altLang="zh-CN" b="0" dirty="0"/>
              <a:t> to find the error disk!!”);</a:t>
            </a:r>
            <a:endParaRPr lang="en-US" altLang="zh-CN" b="0" dirty="0"/>
          </a:p>
          <a:p>
            <a:pPr>
              <a:lnSpc>
                <a:spcPts val="3400"/>
              </a:lnSpc>
            </a:pPr>
            <a:r>
              <a:rPr lang="en-US" altLang="zh-CN" b="0" dirty="0"/>
              <a:t>                                         </a:t>
            </a:r>
            <a:r>
              <a:rPr lang="en-US" altLang="zh-CN" b="0" dirty="0" err="1"/>
              <a:t>System.exit</a:t>
            </a:r>
            <a:r>
              <a:rPr lang="en-US" altLang="zh-CN" b="0" dirty="0"/>
              <a:t>(0);</a:t>
            </a:r>
            <a:endParaRPr lang="en-US" altLang="zh-CN" b="0" dirty="0"/>
          </a:p>
          <a:p>
            <a:pPr>
              <a:lnSpc>
                <a:spcPts val="3400"/>
              </a:lnSpc>
            </a:pPr>
            <a:r>
              <a:rPr lang="en-US" altLang="zh-CN" b="0" dirty="0"/>
              <a:t>                                    }</a:t>
            </a:r>
            <a:endParaRPr lang="en-US" altLang="zh-CN" b="0" dirty="0"/>
          </a:p>
          <a:p>
            <a:pPr>
              <a:lnSpc>
                <a:spcPts val="3400"/>
              </a:lnSpc>
            </a:pPr>
            <a:r>
              <a:rPr lang="en-US" altLang="zh-CN" b="0" dirty="0"/>
              <a:t>                        }</a:t>
            </a:r>
            <a:endParaRPr lang="en-US" altLang="zh-CN" b="0" dirty="0"/>
          </a:p>
          <a:p>
            <a:pPr>
              <a:lnSpc>
                <a:spcPts val="3400"/>
              </a:lnSpc>
            </a:pPr>
            <a:r>
              <a:rPr lang="en-US" altLang="zh-CN" b="0" dirty="0"/>
              <a:t>}</a:t>
            </a:r>
            <a:endParaRPr lang="en-US" altLang="zh-CN" b="0" dirty="0"/>
          </a:p>
          <a:p>
            <a:pPr>
              <a:lnSpc>
                <a:spcPts val="3400"/>
              </a:lnSpc>
            </a:pPr>
            <a:r>
              <a:rPr lang="en-US" altLang="zh-CN" b="0" dirty="0"/>
              <a:t>       </a:t>
            </a:r>
            <a:endParaRPr lang="en-US" altLang="zh-CN" b="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码的编码仿真</a:t>
            </a:r>
            <a:endParaRPr lang="zh-CN" altLang="en-US" sz="2400" dirty="0">
              <a:sym typeface="+mn-ea"/>
            </a:endParaRPr>
          </a:p>
        </p:txBody>
      </p:sp>
      <p:sp>
        <p:nvSpPr>
          <p:cNvPr id="12" name="文本框 11"/>
          <p:cNvSpPr txBox="1"/>
          <p:nvPr/>
        </p:nvSpPr>
        <p:spPr>
          <a:xfrm>
            <a:off x="415996" y="665323"/>
            <a:ext cx="8742454" cy="6141681"/>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pPr>
              <a:lnSpc>
                <a:spcPts val="3400"/>
              </a:lnSpc>
            </a:pPr>
            <a:r>
              <a:rPr lang="en-US" altLang="zh-CN" b="0" dirty="0"/>
              <a:t>01  %I-</a:t>
            </a:r>
            <a:r>
              <a:rPr lang="en-US" altLang="zh-CN" b="0" dirty="0" err="1"/>
              <a:t>randint</a:t>
            </a:r>
            <a:r>
              <a:rPr lang="en-US" altLang="zh-CN" b="0" dirty="0"/>
              <a:t>(1,k);</a:t>
            </a:r>
            <a:endParaRPr lang="en-US" altLang="zh-CN" b="0" dirty="0"/>
          </a:p>
          <a:p>
            <a:pPr>
              <a:lnSpc>
                <a:spcPts val="3400"/>
              </a:lnSpc>
            </a:pPr>
            <a:r>
              <a:rPr lang="en-US" altLang="zh-CN" b="0" dirty="0"/>
              <a:t>02  pl=rand(l, fix(</a:t>
            </a:r>
            <a:r>
              <a:rPr lang="en-US" altLang="zh-CN" b="0" dirty="0" err="1"/>
              <a:t>l+p_Loss</a:t>
            </a:r>
            <a:r>
              <a:rPr lang="en-US" altLang="zh-CN" b="0" dirty="0"/>
              <a:t>)*</a:t>
            </a:r>
            <a:r>
              <a:rPr lang="en-US" altLang="zh-CN" b="0" dirty="0" err="1"/>
              <a:t>recnum</a:t>
            </a:r>
            <a:r>
              <a:rPr lang="en-US" altLang="zh-CN" b="0" dirty="0"/>
              <a:t>_ max+1));</a:t>
            </a:r>
            <a:endParaRPr lang="en-US" altLang="zh-CN" b="0" dirty="0"/>
          </a:p>
          <a:p>
            <a:pPr>
              <a:lnSpc>
                <a:spcPts val="3400"/>
              </a:lnSpc>
            </a:pPr>
            <a:r>
              <a:rPr lang="en-US" altLang="zh-CN" b="0" dirty="0"/>
              <a:t>03  while(sum(pl&gt;=</a:t>
            </a:r>
            <a:r>
              <a:rPr lang="en-US" altLang="zh-CN" b="0" dirty="0" err="1"/>
              <a:t>p_Loss</a:t>
            </a:r>
            <a:r>
              <a:rPr lang="en-US" altLang="zh-CN" b="0" dirty="0"/>
              <a:t>)-</a:t>
            </a:r>
            <a:r>
              <a:rPr lang="en-US" altLang="zh-CN" b="0" dirty="0" err="1"/>
              <a:t>recnum</a:t>
            </a:r>
            <a:r>
              <a:rPr lang="en-US" altLang="zh-CN" b="0" dirty="0"/>
              <a:t>_ max)</a:t>
            </a:r>
            <a:endParaRPr lang="en-US" altLang="zh-CN" b="0" dirty="0"/>
          </a:p>
          <a:p>
            <a:pPr>
              <a:lnSpc>
                <a:spcPts val="3400"/>
              </a:lnSpc>
            </a:pPr>
            <a:r>
              <a:rPr lang="en-US" altLang="zh-CN" b="0" dirty="0"/>
              <a:t>04       pl-[pl rand(1 step1)];</a:t>
            </a:r>
            <a:endParaRPr lang="en-US" altLang="zh-CN" b="0" dirty="0"/>
          </a:p>
          <a:p>
            <a:pPr>
              <a:lnSpc>
                <a:spcPts val="3400"/>
              </a:lnSpc>
            </a:pPr>
            <a:r>
              <a:rPr lang="en-US" altLang="zh-CN" b="0" dirty="0"/>
              <a:t>05   end</a:t>
            </a:r>
            <a:endParaRPr lang="en-US" altLang="zh-CN" b="0" dirty="0"/>
          </a:p>
          <a:p>
            <a:pPr>
              <a:lnSpc>
                <a:spcPts val="3400"/>
              </a:lnSpc>
            </a:pPr>
            <a:r>
              <a:rPr lang="en-US" altLang="zh-CN" b="0" dirty="0"/>
              <a:t>06   </a:t>
            </a:r>
            <a:r>
              <a:rPr lang="en-US" altLang="zh-CN" b="0" dirty="0" err="1"/>
              <a:t>tpp</a:t>
            </a:r>
            <a:r>
              <a:rPr lang="en-US" altLang="zh-CN" b="0" dirty="0"/>
              <a:t>=find(pl&gt;=p_ Loss);</a:t>
            </a:r>
            <a:endParaRPr lang="en-US" altLang="zh-CN" b="0" dirty="0"/>
          </a:p>
          <a:p>
            <a:pPr>
              <a:lnSpc>
                <a:spcPts val="3400"/>
              </a:lnSpc>
            </a:pPr>
            <a:r>
              <a:rPr lang="en-US" altLang="zh-CN" b="0" dirty="0"/>
              <a:t>07   </a:t>
            </a:r>
            <a:r>
              <a:rPr lang="en-US" altLang="zh-CN" b="0" dirty="0" err="1"/>
              <a:t>numwithloss</a:t>
            </a:r>
            <a:r>
              <a:rPr lang="en-US" altLang="zh-CN" b="0" dirty="0"/>
              <a:t>= </a:t>
            </a:r>
            <a:r>
              <a:rPr lang="en-US" altLang="zh-CN" b="0" dirty="0" err="1"/>
              <a:t>tpp</a:t>
            </a:r>
            <a:r>
              <a:rPr lang="en-US" altLang="zh-CN" b="0" dirty="0"/>
              <a:t>(</a:t>
            </a:r>
            <a:r>
              <a:rPr lang="en-US" altLang="zh-CN" b="0" dirty="0" err="1"/>
              <a:t>recnum_max</a:t>
            </a:r>
            <a:r>
              <a:rPr lang="en-US" altLang="zh-CN" b="0" dirty="0"/>
              <a:t>);</a:t>
            </a:r>
            <a:endParaRPr lang="en-US" altLang="zh-CN" b="0" dirty="0"/>
          </a:p>
          <a:p>
            <a:pPr>
              <a:lnSpc>
                <a:spcPts val="3400"/>
              </a:lnSpc>
            </a:pPr>
            <a:r>
              <a:rPr lang="en-US" altLang="zh-CN" b="0" dirty="0"/>
              <a:t>08   pl=pl(1:numwithloss);</a:t>
            </a:r>
            <a:endParaRPr lang="en-US" altLang="zh-CN" b="0" dirty="0"/>
          </a:p>
          <a:p>
            <a:pPr>
              <a:lnSpc>
                <a:spcPts val="3400"/>
              </a:lnSpc>
            </a:pPr>
            <a:r>
              <a:rPr lang="en-US" altLang="zh-CN" b="0" dirty="0"/>
              <a:t>09   </a:t>
            </a:r>
            <a:r>
              <a:rPr lang="en-US" altLang="zh-CN" b="0" dirty="0" err="1"/>
              <a:t>dp</a:t>
            </a:r>
            <a:r>
              <a:rPr lang="en-US" altLang="zh-CN" b="0" dirty="0"/>
              <a:t>=rand(1,numwithloss);</a:t>
            </a:r>
            <a:endParaRPr lang="en-US" altLang="zh-CN" b="0" dirty="0"/>
          </a:p>
          <a:p>
            <a:pPr>
              <a:lnSpc>
                <a:spcPts val="3400"/>
              </a:lnSpc>
            </a:pPr>
            <a:r>
              <a:rPr lang="en-US" altLang="zh-CN" b="0" dirty="0"/>
              <a:t>10   deg=ones(1,numwithloss);</a:t>
            </a:r>
            <a:endParaRPr lang="en-US" altLang="zh-CN" b="0" dirty="0"/>
          </a:p>
          <a:p>
            <a:pPr>
              <a:lnSpc>
                <a:spcPts val="3400"/>
              </a:lnSpc>
            </a:pPr>
            <a:r>
              <a:rPr lang="en-US" altLang="zh-CN" b="0" dirty="0"/>
              <a:t>11   for </a:t>
            </a:r>
            <a:r>
              <a:rPr lang="en-US" altLang="zh-CN" b="0" dirty="0" err="1"/>
              <a:t>yl</a:t>
            </a:r>
            <a:r>
              <a:rPr lang="en-US" altLang="zh-CN" b="0" dirty="0"/>
              <a:t>=(size(rho,2)-1):-1:1</a:t>
            </a:r>
            <a:endParaRPr lang="en-US" altLang="zh-CN" b="0" dirty="0"/>
          </a:p>
          <a:p>
            <a:pPr>
              <a:lnSpc>
                <a:spcPts val="3400"/>
              </a:lnSpc>
            </a:pPr>
            <a:r>
              <a:rPr lang="en-US" altLang="zh-CN" b="0" dirty="0"/>
              <a:t>12       </a:t>
            </a:r>
            <a:r>
              <a:rPr lang="en-US" altLang="zh-CN" b="0" dirty="0" err="1"/>
              <a:t>tpp</a:t>
            </a:r>
            <a:r>
              <a:rPr lang="en-US" altLang="zh-CN" b="0" dirty="0"/>
              <a:t>=find(</a:t>
            </a:r>
            <a:r>
              <a:rPr lang="en-US" altLang="zh-CN" b="0" dirty="0" err="1"/>
              <a:t>dp</a:t>
            </a:r>
            <a:r>
              <a:rPr lang="en-US" altLang="zh-CN" b="0" dirty="0"/>
              <a:t>&gt;=rho(2,y1);</a:t>
            </a:r>
            <a:endParaRPr lang="en-US" altLang="zh-CN" b="0" dirty="0"/>
          </a:p>
          <a:p>
            <a:pPr>
              <a:lnSpc>
                <a:spcPts val="3400"/>
              </a:lnSpc>
            </a:pPr>
            <a:r>
              <a:rPr lang="en-US" altLang="zh-CN" b="0" dirty="0"/>
              <a:t>13       deg(</a:t>
            </a:r>
            <a:r>
              <a:rPr lang="en-US" altLang="zh-CN" b="0" dirty="0" err="1"/>
              <a:t>tpp</a:t>
            </a:r>
            <a:r>
              <a:rPr lang="en-US" altLang="zh-CN" b="0" dirty="0"/>
              <a:t>)=rho(1,y1+1);</a:t>
            </a:r>
            <a:endParaRPr lang="en-US" altLang="zh-CN" b="0" dirty="0"/>
          </a:p>
          <a:p>
            <a:pPr>
              <a:lnSpc>
                <a:spcPts val="3400"/>
              </a:lnSpc>
            </a:pPr>
            <a:r>
              <a:rPr lang="en-US" altLang="zh-CN" b="0" dirty="0"/>
              <a:t>14       </a:t>
            </a:r>
            <a:r>
              <a:rPr lang="en-US" altLang="zh-CN" b="0" dirty="0" err="1"/>
              <a:t>dp</a:t>
            </a:r>
            <a:r>
              <a:rPr lang="en-US" altLang="zh-CN" b="0" dirty="0"/>
              <a:t>(</a:t>
            </a:r>
            <a:r>
              <a:rPr lang="en-US" altLang="zh-CN" b="0" dirty="0" err="1"/>
              <a:t>tpp</a:t>
            </a:r>
            <a:r>
              <a:rPr lang="en-US" altLang="zh-CN" b="0" dirty="0"/>
              <a:t>)=-l; </a:t>
            </a:r>
            <a:endParaRPr lang="en-US" altLang="zh-CN" b="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码的编码仿真</a:t>
            </a:r>
            <a:endParaRPr lang="zh-CN" altLang="en-US" sz="2400" dirty="0">
              <a:sym typeface="+mn-ea"/>
            </a:endParaRPr>
          </a:p>
        </p:txBody>
      </p:sp>
      <p:sp>
        <p:nvSpPr>
          <p:cNvPr id="12" name="文本框 11"/>
          <p:cNvSpPr txBox="1"/>
          <p:nvPr/>
        </p:nvSpPr>
        <p:spPr>
          <a:xfrm>
            <a:off x="415996" y="665323"/>
            <a:ext cx="8742454" cy="6141681"/>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pPr>
              <a:lnSpc>
                <a:spcPts val="3400"/>
              </a:lnSpc>
            </a:pPr>
            <a:r>
              <a:rPr lang="en-US" altLang="zh-CN" b="0" dirty="0"/>
              <a:t>15   </a:t>
            </a:r>
            <a:r>
              <a:rPr lang="en-US" altLang="zh-CN" b="0" dirty="0" err="1"/>
              <a:t>end%generate</a:t>
            </a:r>
            <a:r>
              <a:rPr lang="en-US" altLang="zh-CN" b="0" dirty="0"/>
              <a:t> the degrees</a:t>
            </a:r>
            <a:endParaRPr lang="en-US" altLang="zh-CN" b="0" dirty="0"/>
          </a:p>
          <a:p>
            <a:pPr>
              <a:lnSpc>
                <a:spcPts val="3400"/>
              </a:lnSpc>
            </a:pPr>
            <a:r>
              <a:rPr lang="en-US" altLang="zh-CN" b="0" dirty="0"/>
              <a:t>16   </a:t>
            </a:r>
            <a:r>
              <a:rPr lang="en-US" altLang="zh-CN" b="0" dirty="0" err="1"/>
              <a:t>cdeg</a:t>
            </a:r>
            <a:r>
              <a:rPr lang="en-US" altLang="zh-CN" b="0" dirty="0"/>
              <a:t>=</a:t>
            </a:r>
            <a:r>
              <a:rPr lang="en-US" altLang="zh-CN" b="0" dirty="0" err="1"/>
              <a:t>cumsum</a:t>
            </a:r>
            <a:r>
              <a:rPr lang="en-US" altLang="zh-CN" b="0" dirty="0"/>
              <a:t>(deg);</a:t>
            </a:r>
            <a:endParaRPr lang="en-US" altLang="zh-CN" b="0" dirty="0"/>
          </a:p>
          <a:p>
            <a:pPr>
              <a:lnSpc>
                <a:spcPts val="3400"/>
              </a:lnSpc>
            </a:pPr>
            <a:r>
              <a:rPr lang="en-US" altLang="zh-CN" b="0" dirty="0"/>
              <a:t>17   pos=</a:t>
            </a:r>
            <a:r>
              <a:rPr lang="en-US" altLang="zh-CN" b="0" dirty="0" err="1"/>
              <a:t>randint</a:t>
            </a:r>
            <a:r>
              <a:rPr lang="en-US" altLang="zh-CN" b="0" dirty="0"/>
              <a:t>(1,cdeg(end),[1 k]);</a:t>
            </a:r>
            <a:endParaRPr lang="en-US" altLang="zh-CN" b="0" dirty="0"/>
          </a:p>
          <a:p>
            <a:pPr>
              <a:lnSpc>
                <a:spcPts val="3400"/>
              </a:lnSpc>
            </a:pPr>
            <a:r>
              <a:rPr lang="en-US" altLang="zh-CN" b="0" dirty="0"/>
              <a:t>18   </a:t>
            </a:r>
            <a:r>
              <a:rPr lang="en-US" altLang="zh-CN" b="0" dirty="0" err="1"/>
              <a:t>tpp</a:t>
            </a:r>
            <a:r>
              <a:rPr lang="en-US" altLang="zh-CN" b="0" dirty="0"/>
              <a:t>=find(pl&lt;p_ Loss);</a:t>
            </a:r>
            <a:endParaRPr lang="en-US" altLang="zh-CN" b="0" dirty="0"/>
          </a:p>
          <a:p>
            <a:pPr>
              <a:lnSpc>
                <a:spcPts val="3400"/>
              </a:lnSpc>
            </a:pPr>
            <a:r>
              <a:rPr lang="en-US" altLang="zh-CN" b="0" dirty="0"/>
              <a:t>19   </a:t>
            </a:r>
            <a:r>
              <a:rPr lang="en-US" altLang="zh-CN" b="0" dirty="0" err="1"/>
              <a:t>tdeg</a:t>
            </a:r>
            <a:r>
              <a:rPr lang="en-US" altLang="zh-CN" b="0" dirty="0"/>
              <a:t>=[0 </a:t>
            </a:r>
            <a:r>
              <a:rPr lang="en-US" altLang="zh-CN" b="0" dirty="0" err="1"/>
              <a:t>cdeg</a:t>
            </a:r>
            <a:r>
              <a:rPr lang="en-US" altLang="zh-CN" b="0" dirty="0"/>
              <a:t>];</a:t>
            </a:r>
            <a:endParaRPr lang="en-US" altLang="zh-CN" b="0" dirty="0"/>
          </a:p>
          <a:p>
            <a:pPr>
              <a:lnSpc>
                <a:spcPts val="3400"/>
              </a:lnSpc>
            </a:pPr>
            <a:r>
              <a:rPr lang="en-US" altLang="zh-CN" b="0" dirty="0"/>
              <a:t>20   for </a:t>
            </a:r>
            <a:r>
              <a:rPr lang="en-US" altLang="zh-CN" b="0" dirty="0" err="1"/>
              <a:t>yl</a:t>
            </a:r>
            <a:r>
              <a:rPr lang="en-US" altLang="zh-CN" b="0" dirty="0"/>
              <a:t>=length(</a:t>
            </a:r>
            <a:r>
              <a:rPr lang="en-US" altLang="zh-CN" b="0" dirty="0" err="1"/>
              <a:t>tpp</a:t>
            </a:r>
            <a:r>
              <a:rPr lang="en-US" altLang="zh-CN" b="0" dirty="0"/>
              <a:t>):-1:l</a:t>
            </a:r>
            <a:endParaRPr lang="en-US" altLang="zh-CN" b="0" dirty="0"/>
          </a:p>
          <a:p>
            <a:pPr>
              <a:lnSpc>
                <a:spcPts val="3400"/>
              </a:lnSpc>
            </a:pPr>
            <a:r>
              <a:rPr lang="en-US" altLang="zh-CN" b="0" dirty="0"/>
              <a:t>21        y2=</a:t>
            </a:r>
            <a:r>
              <a:rPr lang="en-US" altLang="zh-CN" b="0" dirty="0" err="1"/>
              <a:t>tpp</a:t>
            </a:r>
            <a:r>
              <a:rPr lang="en-US" altLang="zh-CN" b="0" dirty="0"/>
              <a:t>(y1);</a:t>
            </a:r>
            <a:endParaRPr lang="en-US" altLang="zh-CN" b="0" dirty="0"/>
          </a:p>
          <a:p>
            <a:pPr>
              <a:lnSpc>
                <a:spcPts val="3400"/>
              </a:lnSpc>
            </a:pPr>
            <a:r>
              <a:rPr lang="en-US" altLang="zh-CN" b="0" dirty="0"/>
              <a:t>22        pos((</a:t>
            </a:r>
            <a:r>
              <a:rPr lang="en-US" altLang="zh-CN" b="0" dirty="0" err="1"/>
              <a:t>tdeg</a:t>
            </a:r>
            <a:r>
              <a:rPr lang="en-US" altLang="zh-CN" b="0" dirty="0"/>
              <a:t>(y2)+1):</a:t>
            </a:r>
            <a:r>
              <a:rPr lang="en-US" altLang="zh-CN" b="0" dirty="0" err="1"/>
              <a:t>tdeg</a:t>
            </a:r>
            <a:r>
              <a:rPr lang="en-US" altLang="zh-CN" b="0" dirty="0"/>
              <a:t>(y2+1))=[];</a:t>
            </a:r>
            <a:endParaRPr lang="en-US" altLang="zh-CN" b="0" dirty="0"/>
          </a:p>
          <a:p>
            <a:pPr>
              <a:lnSpc>
                <a:spcPts val="3400"/>
              </a:lnSpc>
            </a:pPr>
            <a:r>
              <a:rPr lang="en-US" altLang="zh-CN" b="0" dirty="0"/>
              <a:t>23        deg(y2)=[];</a:t>
            </a:r>
            <a:endParaRPr lang="en-US" altLang="zh-CN" b="0" dirty="0"/>
          </a:p>
          <a:p>
            <a:pPr marL="342900" indent="-342900">
              <a:lnSpc>
                <a:spcPts val="3400"/>
              </a:lnSpc>
              <a:buAutoNum type="arabicPlain" startAt="24"/>
            </a:pPr>
            <a:r>
              <a:rPr lang="en-US" altLang="zh-CN" b="0" dirty="0"/>
              <a:t>end</a:t>
            </a:r>
            <a:endParaRPr lang="en-US" altLang="zh-CN" b="0" dirty="0"/>
          </a:p>
          <a:p>
            <a:pPr>
              <a:lnSpc>
                <a:spcPts val="3400"/>
              </a:lnSpc>
            </a:pPr>
            <a:r>
              <a:rPr lang="en-US" altLang="zh-CN" b="0" dirty="0"/>
              <a:t>25  </a:t>
            </a:r>
            <a:r>
              <a:rPr lang="en-US" altLang="zh-CN" b="0" dirty="0" err="1"/>
              <a:t>cdeg</a:t>
            </a:r>
            <a:r>
              <a:rPr lang="en-US" altLang="zh-CN" b="0" dirty="0"/>
              <a:t>= </a:t>
            </a:r>
            <a:r>
              <a:rPr lang="en-US" altLang="zh-CN" b="0" dirty="0" err="1"/>
              <a:t>cumsum</a:t>
            </a:r>
            <a:r>
              <a:rPr lang="en-US" altLang="zh-CN" b="0" dirty="0"/>
              <a:t>(deg);</a:t>
            </a:r>
            <a:endParaRPr lang="en-US" altLang="zh-CN" b="0" dirty="0"/>
          </a:p>
          <a:p>
            <a:pPr>
              <a:lnSpc>
                <a:spcPts val="3400"/>
              </a:lnSpc>
            </a:pPr>
            <a:r>
              <a:rPr lang="en-US" altLang="zh-CN" b="0" dirty="0"/>
              <a:t>26  </a:t>
            </a:r>
            <a:r>
              <a:rPr lang="en-US" altLang="zh-CN" b="0" dirty="0" err="1"/>
              <a:t>tdeg</a:t>
            </a:r>
            <a:r>
              <a:rPr lang="en-US" altLang="zh-CN" b="0" dirty="0"/>
              <a:t>=[0 </a:t>
            </a:r>
            <a:r>
              <a:rPr lang="en-US" altLang="zh-CN" b="0" dirty="0" err="1"/>
              <a:t>cdeg</a:t>
            </a:r>
            <a:r>
              <a:rPr lang="en-US" altLang="zh-CN" b="0" dirty="0"/>
              <a:t>];</a:t>
            </a:r>
            <a:endParaRPr lang="en-US" altLang="zh-CN" b="0" dirty="0"/>
          </a:p>
          <a:p>
            <a:pPr>
              <a:lnSpc>
                <a:spcPts val="3400"/>
              </a:lnSpc>
            </a:pPr>
            <a:r>
              <a:rPr lang="en-US" altLang="zh-CN" b="0" dirty="0"/>
              <a:t>27  %r=[];</a:t>
            </a:r>
            <a:endParaRPr lang="en-US" altLang="zh-CN" b="0" dirty="0"/>
          </a:p>
          <a:p>
            <a:pPr>
              <a:lnSpc>
                <a:spcPts val="3400"/>
              </a:lnSpc>
            </a:pPr>
            <a:r>
              <a:rPr lang="en-US" altLang="zh-CN" b="0" dirty="0"/>
              <a:t>28  for </a:t>
            </a:r>
            <a:r>
              <a:rPr lang="en-US" altLang="zh-CN" b="0" dirty="0" err="1"/>
              <a:t>yl</a:t>
            </a:r>
            <a:r>
              <a:rPr lang="en-US" altLang="zh-CN" b="0" dirty="0"/>
              <a:t>=1:length(deg)</a:t>
            </a:r>
            <a:endParaRPr lang="en-US" altLang="zh-CN" b="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码的编码仿真</a:t>
            </a:r>
            <a:endParaRPr lang="zh-CN" altLang="en-US" sz="2400" dirty="0">
              <a:sym typeface="+mn-ea"/>
            </a:endParaRPr>
          </a:p>
        </p:txBody>
      </p:sp>
      <p:sp>
        <p:nvSpPr>
          <p:cNvPr id="12" name="文本框 11"/>
          <p:cNvSpPr txBox="1"/>
          <p:nvPr/>
        </p:nvSpPr>
        <p:spPr>
          <a:xfrm>
            <a:off x="415996" y="665323"/>
            <a:ext cx="8742454" cy="6141681"/>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pPr>
              <a:lnSpc>
                <a:spcPts val="3400"/>
              </a:lnSpc>
            </a:pPr>
            <a:r>
              <a:rPr lang="en-US" altLang="zh-CN" b="0" dirty="0"/>
              <a:t>29         if(deg(y1)&gt;l)</a:t>
            </a:r>
            <a:endParaRPr lang="en-US" altLang="zh-CN" b="0" dirty="0"/>
          </a:p>
          <a:p>
            <a:pPr>
              <a:lnSpc>
                <a:spcPts val="3400"/>
              </a:lnSpc>
            </a:pPr>
            <a:r>
              <a:rPr lang="en-US" altLang="zh-CN" b="0" dirty="0"/>
              <a:t>30             temp=</a:t>
            </a:r>
            <a:r>
              <a:rPr lang="en-US" altLang="zh-CN" b="0" dirty="0" err="1"/>
              <a:t>sor</a:t>
            </a:r>
            <a:r>
              <a:rPr lang="en-US" altLang="zh-CN" b="0" dirty="0"/>
              <a:t>(pos((</a:t>
            </a:r>
            <a:r>
              <a:rPr lang="en-US" altLang="zh-CN" b="0" dirty="0" err="1"/>
              <a:t>tdeg</a:t>
            </a:r>
            <a:r>
              <a:rPr lang="en-US" altLang="zh-CN" b="0" dirty="0"/>
              <a:t>(y1)+ l):</a:t>
            </a:r>
            <a:r>
              <a:rPr lang="en-US" altLang="zh-CN" b="0" dirty="0" err="1"/>
              <a:t>tdeg</a:t>
            </a:r>
            <a:r>
              <a:rPr lang="en-US" altLang="zh-CN" b="0" dirty="0"/>
              <a:t>(y1+1));</a:t>
            </a:r>
            <a:endParaRPr lang="en-US" altLang="zh-CN" b="0" dirty="0"/>
          </a:p>
          <a:p>
            <a:pPr>
              <a:lnSpc>
                <a:spcPts val="3400"/>
              </a:lnSpc>
            </a:pPr>
            <a:r>
              <a:rPr lang="en-US" altLang="zh-CN" b="0" dirty="0"/>
              <a:t>31             temp2=find((temp-[0 temp(l:(end-1)])==0);</a:t>
            </a:r>
            <a:endParaRPr lang="en-US" altLang="zh-CN" b="0" dirty="0"/>
          </a:p>
          <a:p>
            <a:pPr>
              <a:lnSpc>
                <a:spcPts val="3400"/>
              </a:lnSpc>
            </a:pPr>
            <a:r>
              <a:rPr lang="en-US" altLang="zh-CN" b="0" dirty="0"/>
              <a:t>32             for y2= l:length(temp2)</a:t>
            </a:r>
            <a:endParaRPr lang="en-US" altLang="zh-CN" b="0" dirty="0"/>
          </a:p>
          <a:p>
            <a:pPr>
              <a:lnSpc>
                <a:spcPts val="3400"/>
              </a:lnSpc>
            </a:pPr>
            <a:r>
              <a:rPr lang="en-US" altLang="zh-CN" b="0" dirty="0"/>
              <a:t>33                   y3=temp(temp2(y2))-1;</a:t>
            </a:r>
            <a:endParaRPr lang="en-US" altLang="zh-CN" b="0" dirty="0"/>
          </a:p>
          <a:p>
            <a:pPr>
              <a:lnSpc>
                <a:spcPts val="3400"/>
              </a:lnSpc>
            </a:pPr>
            <a:r>
              <a:rPr lang="en-US" altLang="zh-CN" b="0" dirty="0"/>
              <a:t>34                   direction=(rand(1,1)&gt;0.5)*2-1;</a:t>
            </a:r>
            <a:endParaRPr lang="en-US" altLang="zh-CN" b="0" dirty="0"/>
          </a:p>
          <a:p>
            <a:pPr>
              <a:lnSpc>
                <a:spcPts val="3400"/>
              </a:lnSpc>
            </a:pPr>
            <a:r>
              <a:rPr lang="en-US" altLang="zh-CN" b="0" dirty="0"/>
              <a:t>35                   while(1)</a:t>
            </a:r>
            <a:endParaRPr lang="en-US" altLang="zh-CN" b="0" dirty="0"/>
          </a:p>
          <a:p>
            <a:pPr>
              <a:lnSpc>
                <a:spcPts val="3400"/>
              </a:lnSpc>
            </a:pPr>
            <a:r>
              <a:rPr lang="en-US" altLang="zh-CN" b="0" dirty="0"/>
              <a:t>36                         y3=mod(y3+direction,k);</a:t>
            </a:r>
            <a:endParaRPr lang="en-US" altLang="zh-CN" b="0" dirty="0"/>
          </a:p>
          <a:p>
            <a:pPr>
              <a:lnSpc>
                <a:spcPts val="3400"/>
              </a:lnSpc>
            </a:pPr>
            <a:r>
              <a:rPr lang="en-US" altLang="zh-CN" b="0" dirty="0"/>
              <a:t>37                         if(isempty(find(temp== (y3+1))))</a:t>
            </a:r>
            <a:endParaRPr lang="en-US" altLang="zh-CN" b="0" dirty="0"/>
          </a:p>
          <a:p>
            <a:pPr>
              <a:lnSpc>
                <a:spcPts val="3400"/>
              </a:lnSpc>
            </a:pPr>
            <a:r>
              <a:rPr lang="en-US" altLang="zh-CN" b="0" dirty="0"/>
              <a:t>38                              temp(temp2(y2))=y3+1;</a:t>
            </a:r>
            <a:endParaRPr lang="en-US" altLang="zh-CN" b="0" dirty="0"/>
          </a:p>
          <a:p>
            <a:pPr>
              <a:lnSpc>
                <a:spcPts val="3400"/>
              </a:lnSpc>
            </a:pPr>
            <a:r>
              <a:rPr lang="en-US" altLang="zh-CN" b="0" dirty="0"/>
              <a:t>39                              break;</a:t>
            </a:r>
            <a:endParaRPr lang="en-US" altLang="zh-CN" b="0" dirty="0"/>
          </a:p>
          <a:p>
            <a:pPr>
              <a:lnSpc>
                <a:spcPts val="3400"/>
              </a:lnSpc>
            </a:pPr>
            <a:r>
              <a:rPr lang="en-US" altLang="zh-CN" b="0" dirty="0"/>
              <a:t>40                         end</a:t>
            </a:r>
            <a:endParaRPr lang="en-US" altLang="zh-CN" b="0" dirty="0"/>
          </a:p>
          <a:p>
            <a:pPr>
              <a:lnSpc>
                <a:spcPts val="3400"/>
              </a:lnSpc>
            </a:pPr>
            <a:r>
              <a:rPr lang="en-US" altLang="zh-CN" b="0" dirty="0"/>
              <a:t>4l                     end</a:t>
            </a:r>
            <a:endParaRPr lang="en-US" altLang="zh-CN" b="0" dirty="0"/>
          </a:p>
          <a:p>
            <a:pPr>
              <a:lnSpc>
                <a:spcPts val="3400"/>
              </a:lnSpc>
            </a:pPr>
            <a:r>
              <a:rPr lang="en-US" altLang="zh-CN" b="0" dirty="0"/>
              <a:t>42               end</a:t>
            </a:r>
            <a:endParaRPr lang="en-US" altLang="zh-CN" b="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码的编码仿真</a:t>
            </a:r>
            <a:endParaRPr lang="zh-CN" altLang="en-US" sz="2400" dirty="0">
              <a:sym typeface="+mn-ea"/>
            </a:endParaRPr>
          </a:p>
        </p:txBody>
      </p:sp>
      <p:sp>
        <p:nvSpPr>
          <p:cNvPr id="12" name="文本框 11"/>
          <p:cNvSpPr txBox="1"/>
          <p:nvPr/>
        </p:nvSpPr>
        <p:spPr>
          <a:xfrm>
            <a:off x="415996" y="665323"/>
            <a:ext cx="8742454" cy="2653547"/>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pPr>
              <a:lnSpc>
                <a:spcPts val="3400"/>
              </a:lnSpc>
            </a:pPr>
            <a:r>
              <a:rPr lang="en-US" altLang="zh-CN" b="0" dirty="0"/>
              <a:t>43         pos((</a:t>
            </a:r>
            <a:r>
              <a:rPr lang="en-US" altLang="zh-CN" b="0" dirty="0" err="1"/>
              <a:t>tdeg</a:t>
            </a:r>
            <a:r>
              <a:rPr lang="en-US" altLang="zh-CN" b="0" dirty="0"/>
              <a:t>(y1)+ l):</a:t>
            </a:r>
            <a:r>
              <a:rPr lang="en-US" altLang="zh-CN" b="0" dirty="0" err="1"/>
              <a:t>tdeg</a:t>
            </a:r>
            <a:r>
              <a:rPr lang="en-US" altLang="zh-CN" b="0" dirty="0"/>
              <a:t>(y1+1))=temp;</a:t>
            </a:r>
            <a:endParaRPr lang="en-US" altLang="zh-CN" b="0" dirty="0"/>
          </a:p>
          <a:p>
            <a:pPr>
              <a:lnSpc>
                <a:spcPts val="3400"/>
              </a:lnSpc>
            </a:pPr>
            <a:r>
              <a:rPr lang="en-US" altLang="zh-CN" b="0" dirty="0"/>
              <a:t>44         %r=[r mod(sum(I(temp)),2)];</a:t>
            </a:r>
            <a:endParaRPr lang="en-US" altLang="zh-CN" b="0" dirty="0"/>
          </a:p>
          <a:p>
            <a:pPr>
              <a:lnSpc>
                <a:spcPts val="3400"/>
              </a:lnSpc>
            </a:pPr>
            <a:r>
              <a:rPr lang="en-US" altLang="zh-CN" b="0" dirty="0"/>
              <a:t>45     %else</a:t>
            </a:r>
            <a:endParaRPr lang="en-US" altLang="zh-CN" b="0" dirty="0"/>
          </a:p>
          <a:p>
            <a:pPr>
              <a:lnSpc>
                <a:spcPts val="3400"/>
              </a:lnSpc>
            </a:pPr>
            <a:r>
              <a:rPr lang="en-US" altLang="zh-CN" b="0" dirty="0"/>
              <a:t>46         %r-=[r I(pos(</a:t>
            </a:r>
            <a:r>
              <a:rPr lang="en-US" altLang="zh-CN" b="0" dirty="0" err="1"/>
              <a:t>cdeg</a:t>
            </a:r>
            <a:r>
              <a:rPr lang="en-US" altLang="zh-CN" b="0" dirty="0"/>
              <a:t>(1))];</a:t>
            </a:r>
            <a:endParaRPr lang="en-US" altLang="zh-CN" b="0" dirty="0"/>
          </a:p>
          <a:p>
            <a:pPr>
              <a:lnSpc>
                <a:spcPts val="3400"/>
              </a:lnSpc>
            </a:pPr>
            <a:r>
              <a:rPr lang="en-US" altLang="zh-CN" b="0" dirty="0"/>
              <a:t>47     end</a:t>
            </a:r>
            <a:endParaRPr lang="en-US" altLang="zh-CN" b="0" dirty="0"/>
          </a:p>
          <a:p>
            <a:pPr>
              <a:lnSpc>
                <a:spcPts val="3400"/>
              </a:lnSpc>
            </a:pPr>
            <a:r>
              <a:rPr lang="en-US" altLang="zh-CN" b="0" dirty="0"/>
              <a:t>48  end       </a:t>
            </a:r>
            <a:endParaRPr lang="en-US" altLang="zh-CN" b="0" dirty="0"/>
          </a:p>
        </p:txBody>
      </p:sp>
      <p:sp>
        <p:nvSpPr>
          <p:cNvPr id="4" name="文本框 3"/>
          <p:cNvSpPr txBox="1"/>
          <p:nvPr/>
        </p:nvSpPr>
        <p:spPr>
          <a:xfrm>
            <a:off x="446930" y="3318870"/>
            <a:ext cx="8742454" cy="3086742"/>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pPr>
              <a:lnSpc>
                <a:spcPts val="3400"/>
              </a:lnSpc>
            </a:pPr>
            <a:r>
              <a:rPr lang="zh-CN" altLang="en-US" b="0" dirty="0"/>
              <a:t>        本程序中为了节约仿真时间，符号间的异或运算都变为了注释，如果想仿真具体的数据，需要对第</a:t>
            </a:r>
            <a:r>
              <a:rPr lang="en-US" altLang="zh-CN" b="0" dirty="0"/>
              <a:t>01</a:t>
            </a:r>
            <a:r>
              <a:rPr lang="zh-CN" altLang="en-US" b="0" dirty="0"/>
              <a:t>、</a:t>
            </a:r>
            <a:r>
              <a:rPr lang="en-US" altLang="zh-CN" b="0" dirty="0"/>
              <a:t>44</a:t>
            </a:r>
            <a:r>
              <a:rPr lang="zh-CN" altLang="en-US" b="0" dirty="0"/>
              <a:t>、</a:t>
            </a:r>
            <a:r>
              <a:rPr lang="en-US" altLang="zh-CN" b="0" dirty="0"/>
              <a:t>45</a:t>
            </a:r>
            <a:r>
              <a:rPr lang="zh-CN" altLang="en-US" b="0" dirty="0"/>
              <a:t>、</a:t>
            </a:r>
            <a:r>
              <a:rPr lang="en-US" altLang="zh-CN" b="0" dirty="0"/>
              <a:t>46</a:t>
            </a:r>
            <a:r>
              <a:rPr lang="zh-CN" altLang="en-US" b="0" dirty="0"/>
              <a:t>行按包</a:t>
            </a:r>
            <a:r>
              <a:rPr lang="en-US" altLang="zh-CN" b="0" dirty="0"/>
              <a:t>(packet)</a:t>
            </a:r>
            <a:r>
              <a:rPr lang="zh-CN" altLang="en-US" b="0" dirty="0"/>
              <a:t>格式进行相关运算。</a:t>
            </a:r>
            <a:endParaRPr lang="en-US" altLang="zh-CN" b="0" dirty="0"/>
          </a:p>
          <a:p>
            <a:pPr>
              <a:lnSpc>
                <a:spcPts val="3400"/>
              </a:lnSpc>
            </a:pPr>
            <a:r>
              <a:rPr lang="en-US" altLang="zh-CN" b="0" dirty="0"/>
              <a:t>         02</a:t>
            </a:r>
            <a:r>
              <a:rPr lang="zh-CN" altLang="en-US" b="0" dirty="0"/>
              <a:t>行的</a:t>
            </a:r>
            <a:r>
              <a:rPr lang="en-US" altLang="zh-CN" b="0" dirty="0"/>
              <a:t>p_ Loss</a:t>
            </a:r>
            <a:r>
              <a:rPr lang="zh-CN" altLang="en-US" b="0" dirty="0"/>
              <a:t>代表丢包率，</a:t>
            </a:r>
            <a:r>
              <a:rPr lang="en-US" altLang="zh-CN" b="0" dirty="0" err="1"/>
              <a:t>recnurn_max</a:t>
            </a:r>
            <a:r>
              <a:rPr lang="zh-CN" altLang="en-US" b="0" dirty="0"/>
              <a:t>是表示在仿真中用户所接收的编码符号的最大数目</a:t>
            </a:r>
            <a:r>
              <a:rPr lang="en-US" altLang="zh-CN" b="0" dirty="0"/>
              <a:t>;</a:t>
            </a:r>
            <a:endParaRPr lang="en-US" altLang="zh-CN" b="0" dirty="0"/>
          </a:p>
          <a:p>
            <a:pPr>
              <a:lnSpc>
                <a:spcPts val="3400"/>
              </a:lnSpc>
            </a:pPr>
            <a:r>
              <a:rPr lang="en-US" altLang="zh-CN" b="0" dirty="0"/>
              <a:t>         03-08</a:t>
            </a:r>
            <a:r>
              <a:rPr lang="zh-CN" altLang="en-US" b="0" dirty="0"/>
              <a:t>行是获得每个编码符号是否丢失的概率，值低于</a:t>
            </a:r>
            <a:r>
              <a:rPr lang="en-US" altLang="zh-CN" b="0" dirty="0" err="1"/>
              <a:t>p_Loss</a:t>
            </a:r>
            <a:r>
              <a:rPr lang="zh-CN" altLang="en-US" b="0" dirty="0"/>
              <a:t>则表示相应的编码符号在传输中丢失，否则为用户所接收</a:t>
            </a:r>
            <a:r>
              <a:rPr lang="en-US" altLang="zh-CN" b="0" dirty="0"/>
              <a:t>;</a:t>
            </a:r>
            <a:endParaRPr lang="en-US" altLang="zh-CN" b="0" dirty="0"/>
          </a:p>
          <a:p>
            <a:pPr>
              <a:lnSpc>
                <a:spcPts val="3400"/>
              </a:lnSpc>
            </a:pPr>
            <a:r>
              <a:rPr lang="en-US" altLang="zh-CN" b="0" dirty="0"/>
              <a:t>         09-15</a:t>
            </a:r>
            <a:r>
              <a:rPr lang="zh-CN" altLang="en-US" b="0" dirty="0"/>
              <a:t>行是根据度分布获得各个编码符号的度大小</a:t>
            </a:r>
            <a:r>
              <a:rPr lang="en-US" altLang="zh-CN" b="0" dirty="0"/>
              <a:t>;</a:t>
            </a:r>
            <a:endParaRPr lang="en-US" altLang="zh-CN" b="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码的编码仿真</a:t>
            </a:r>
            <a:endParaRPr lang="zh-CN" altLang="en-US" sz="2400" dirty="0">
              <a:sym typeface="+mn-ea"/>
            </a:endParaRPr>
          </a:p>
        </p:txBody>
      </p:sp>
      <p:sp>
        <p:nvSpPr>
          <p:cNvPr id="4" name="文本框 3"/>
          <p:cNvSpPr txBox="1"/>
          <p:nvPr/>
        </p:nvSpPr>
        <p:spPr>
          <a:xfrm>
            <a:off x="257661" y="914466"/>
            <a:ext cx="8628677" cy="3525581"/>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pPr>
              <a:lnSpc>
                <a:spcPts val="3400"/>
              </a:lnSpc>
            </a:pPr>
            <a:r>
              <a:rPr lang="zh-CN" altLang="en-US" b="0" dirty="0"/>
              <a:t>        </a:t>
            </a:r>
            <a:r>
              <a:rPr lang="en-US" altLang="zh-CN" b="0" dirty="0"/>
              <a:t>17</a:t>
            </a:r>
            <a:r>
              <a:rPr lang="zh-CN" altLang="en-US" b="0" dirty="0"/>
              <a:t>行是产生被选中进行编码的发送符号的序号；</a:t>
            </a:r>
            <a:endParaRPr lang="en-US" altLang="zh-CN" b="0" dirty="0"/>
          </a:p>
          <a:p>
            <a:pPr>
              <a:lnSpc>
                <a:spcPts val="3400"/>
              </a:lnSpc>
            </a:pPr>
            <a:r>
              <a:rPr lang="en-US" altLang="zh-CN" b="0" dirty="0"/>
              <a:t>        18-24</a:t>
            </a:r>
            <a:r>
              <a:rPr lang="zh-CN" altLang="en-US" b="0" dirty="0"/>
              <a:t>行是模拟丢包过程，即删除不被用户接收的编码符号的有关信息；</a:t>
            </a:r>
            <a:endParaRPr lang="en-US" altLang="zh-CN" b="0" dirty="0"/>
          </a:p>
          <a:p>
            <a:pPr>
              <a:lnSpc>
                <a:spcPts val="3400"/>
              </a:lnSpc>
            </a:pPr>
            <a:r>
              <a:rPr lang="en-US" altLang="zh-CN" b="0" dirty="0"/>
              <a:t>        25-48</a:t>
            </a:r>
            <a:r>
              <a:rPr lang="zh-CN" altLang="en-US" b="0" dirty="0"/>
              <a:t>行是根据度和发送符号的序号等信息进行异或运算产生编码符号。由于随机产生的发送符号的序号可能会在度</a:t>
            </a:r>
            <a:r>
              <a:rPr lang="en-US" altLang="zh-CN" b="0" dirty="0"/>
              <a:t>&gt;1</a:t>
            </a:r>
            <a:r>
              <a:rPr lang="zh-CN" altLang="en-US" b="0" dirty="0"/>
              <a:t>的编码符号中出现两个或两个以上的序号是相同，一旦出现两个序号相同，那么对应的两个符号的异或运算结果总为</a:t>
            </a:r>
            <a:r>
              <a:rPr lang="en-US" altLang="zh-CN" b="0" dirty="0"/>
              <a:t>0,</a:t>
            </a:r>
            <a:r>
              <a:rPr lang="zh-CN" altLang="en-US" b="0" dirty="0"/>
              <a:t>此时相当于度减小了</a:t>
            </a:r>
            <a:r>
              <a:rPr lang="en-US" altLang="zh-CN" b="0" dirty="0"/>
              <a:t>2</a:t>
            </a:r>
            <a:r>
              <a:rPr lang="zh-CN" altLang="en-US" b="0" dirty="0"/>
              <a:t>；</a:t>
            </a:r>
            <a:endParaRPr lang="en-US" altLang="zh-CN" b="0" dirty="0"/>
          </a:p>
          <a:p>
            <a:pPr>
              <a:lnSpc>
                <a:spcPts val="3400"/>
              </a:lnSpc>
            </a:pPr>
            <a:r>
              <a:rPr lang="en-US" altLang="zh-CN" b="0" dirty="0"/>
              <a:t>        30-42 </a:t>
            </a:r>
            <a:r>
              <a:rPr lang="zh-CN" altLang="en-US" b="0" dirty="0"/>
              <a:t>行对该问题进行了检查和处理，使得编码时所选择的发送符号没有相同的序号。</a:t>
            </a:r>
            <a:endParaRPr lang="en-US" altLang="zh-CN" b="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码的译码仿真</a:t>
            </a:r>
            <a:endParaRPr lang="zh-CN" altLang="en-US" sz="2400" dirty="0">
              <a:sym typeface="+mn-ea"/>
            </a:endParaRPr>
          </a:p>
        </p:txBody>
      </p:sp>
      <p:sp>
        <p:nvSpPr>
          <p:cNvPr id="12" name="文本框 11"/>
          <p:cNvSpPr txBox="1"/>
          <p:nvPr/>
        </p:nvSpPr>
        <p:spPr>
          <a:xfrm>
            <a:off x="415996" y="665323"/>
            <a:ext cx="8742454" cy="6141681"/>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pPr>
              <a:lnSpc>
                <a:spcPts val="3400"/>
              </a:lnSpc>
            </a:pPr>
            <a:r>
              <a:rPr lang="en-US" altLang="zh-CN" b="0" dirty="0"/>
              <a:t>01  </a:t>
            </a:r>
            <a:r>
              <a:rPr lang="en-US" altLang="zh-CN" b="0" dirty="0" err="1"/>
              <a:t>dec</a:t>
            </a:r>
            <a:r>
              <a:rPr lang="en-US" altLang="zh-CN" b="0" dirty="0"/>
              <a:t>= zeros(1,k);%</a:t>
            </a:r>
            <a:r>
              <a:rPr lang="en-US" altLang="zh-CN" b="0" dirty="0" err="1"/>
              <a:t>dec</a:t>
            </a:r>
            <a:r>
              <a:rPr lang="en-US" altLang="zh-CN" b="0" dirty="0"/>
              <a:t>=(-1)*ones(1,k);</a:t>
            </a:r>
            <a:endParaRPr lang="en-US" altLang="zh-CN" b="0" dirty="0"/>
          </a:p>
          <a:p>
            <a:pPr>
              <a:lnSpc>
                <a:spcPts val="3400"/>
              </a:lnSpc>
            </a:pPr>
            <a:r>
              <a:rPr lang="en-US" altLang="zh-CN" b="0" dirty="0"/>
              <a:t>02  for </a:t>
            </a:r>
            <a:r>
              <a:rPr lang="en-US" altLang="zh-CN" b="0" dirty="0" err="1"/>
              <a:t>yl</a:t>
            </a:r>
            <a:r>
              <a:rPr lang="en-US" altLang="zh-CN" b="0" dirty="0"/>
              <a:t>=0:stn</a:t>
            </a:r>
            <a:endParaRPr lang="en-US" altLang="zh-CN" b="0" dirty="0"/>
          </a:p>
          <a:p>
            <a:pPr>
              <a:lnSpc>
                <a:spcPts val="3400"/>
              </a:lnSpc>
            </a:pPr>
            <a:r>
              <a:rPr lang="en-US" altLang="zh-CN" b="0" dirty="0"/>
              <a:t>03  if(</a:t>
            </a:r>
            <a:r>
              <a:rPr lang="en-US" altLang="zh-CN" b="0" dirty="0" err="1"/>
              <a:t>yl</a:t>
            </a:r>
            <a:r>
              <a:rPr lang="en-US" altLang="zh-CN" b="0" dirty="0"/>
              <a:t>==0)</a:t>
            </a:r>
            <a:endParaRPr lang="en-US" altLang="zh-CN" b="0" dirty="0"/>
          </a:p>
          <a:p>
            <a:pPr>
              <a:lnSpc>
                <a:spcPts val="3400"/>
              </a:lnSpc>
            </a:pPr>
            <a:r>
              <a:rPr lang="en-US" altLang="zh-CN" b="0" dirty="0"/>
              <a:t>04      %rl=r(1:k);</a:t>
            </a:r>
            <a:endParaRPr lang="en-US" altLang="zh-CN" b="0" dirty="0"/>
          </a:p>
          <a:p>
            <a:pPr>
              <a:lnSpc>
                <a:spcPts val="3400"/>
              </a:lnSpc>
            </a:pPr>
            <a:r>
              <a:rPr lang="en-US" altLang="zh-CN" b="0" dirty="0"/>
              <a:t>05      </a:t>
            </a:r>
            <a:r>
              <a:rPr lang="en-US" altLang="zh-CN" b="0" dirty="0" err="1"/>
              <a:t>degl</a:t>
            </a:r>
            <a:r>
              <a:rPr lang="en-US" altLang="zh-CN" b="0" dirty="0"/>
              <a:t>=deg(1:k);</a:t>
            </a:r>
            <a:endParaRPr lang="en-US" altLang="zh-CN" b="0" dirty="0"/>
          </a:p>
          <a:p>
            <a:pPr>
              <a:lnSpc>
                <a:spcPts val="3400"/>
              </a:lnSpc>
            </a:pPr>
            <a:r>
              <a:rPr lang="en-US" altLang="zh-CN" b="0" dirty="0"/>
              <a:t>06      </a:t>
            </a:r>
            <a:r>
              <a:rPr lang="en-US" altLang="zh-CN" b="0" dirty="0" err="1"/>
              <a:t>posl</a:t>
            </a:r>
            <a:r>
              <a:rPr lang="en-US" altLang="zh-CN" b="0" dirty="0"/>
              <a:t>=pos(1:cdeg(k));</a:t>
            </a:r>
            <a:endParaRPr lang="en-US" altLang="zh-CN" b="0" dirty="0"/>
          </a:p>
          <a:p>
            <a:pPr>
              <a:lnSpc>
                <a:spcPts val="3400"/>
              </a:lnSpc>
            </a:pPr>
            <a:r>
              <a:rPr lang="en-US" altLang="zh-CN" b="0" dirty="0"/>
              <a:t>07   else</a:t>
            </a:r>
            <a:endParaRPr lang="en-US" altLang="zh-CN" b="0" dirty="0"/>
          </a:p>
          <a:p>
            <a:pPr>
              <a:lnSpc>
                <a:spcPts val="3400"/>
              </a:lnSpc>
            </a:pPr>
            <a:r>
              <a:rPr lang="en-US" altLang="zh-CN" b="0" dirty="0"/>
              <a:t>08      y3=</a:t>
            </a:r>
            <a:r>
              <a:rPr lang="en-US" altLang="zh-CN" b="0" dirty="0" err="1"/>
              <a:t>k+yl</a:t>
            </a:r>
            <a:r>
              <a:rPr lang="en-US" altLang="zh-CN" b="0" dirty="0"/>
              <a:t>*st;y2= y3-st;</a:t>
            </a:r>
            <a:endParaRPr lang="en-US" altLang="zh-CN" b="0" dirty="0"/>
          </a:p>
          <a:p>
            <a:pPr>
              <a:lnSpc>
                <a:spcPts val="3400"/>
              </a:lnSpc>
            </a:pPr>
            <a:r>
              <a:rPr lang="en-US" altLang="zh-CN" b="0" dirty="0"/>
              <a:t>09      %r2= r((y2+1):y3);</a:t>
            </a:r>
            <a:endParaRPr lang="en-US" altLang="zh-CN" b="0" dirty="0"/>
          </a:p>
          <a:p>
            <a:pPr>
              <a:lnSpc>
                <a:spcPts val="3400"/>
              </a:lnSpc>
            </a:pPr>
            <a:r>
              <a:rPr lang="en-US" altLang="zh-CN" b="0" dirty="0"/>
              <a:t>10      deg2= deg((y2+1):y3);</a:t>
            </a:r>
            <a:endParaRPr lang="en-US" altLang="zh-CN" b="0" dirty="0"/>
          </a:p>
          <a:p>
            <a:pPr>
              <a:lnSpc>
                <a:spcPts val="3400"/>
              </a:lnSpc>
            </a:pPr>
            <a:r>
              <a:rPr lang="en-US" altLang="zh-CN" b="0" dirty="0"/>
              <a:t>11      pos2= pos((</a:t>
            </a:r>
            <a:r>
              <a:rPr lang="en-US" altLang="zh-CN" b="0" dirty="0" err="1"/>
              <a:t>cdeg</a:t>
            </a:r>
            <a:r>
              <a:rPr lang="en-US" altLang="zh-CN" b="0" dirty="0"/>
              <a:t>(y2)+1):</a:t>
            </a:r>
            <a:r>
              <a:rPr lang="en-US" altLang="zh-CN" b="0" dirty="0" err="1"/>
              <a:t>cdeg</a:t>
            </a:r>
            <a:r>
              <a:rPr lang="en-US" altLang="zh-CN" b="0" dirty="0"/>
              <a:t>(y3));</a:t>
            </a:r>
            <a:endParaRPr lang="en-US" altLang="zh-CN" b="0" dirty="0"/>
          </a:p>
          <a:p>
            <a:pPr>
              <a:lnSpc>
                <a:spcPts val="3400"/>
              </a:lnSpc>
            </a:pPr>
            <a:r>
              <a:rPr lang="en-US" altLang="zh-CN" b="0" dirty="0"/>
              <a:t>12      temp=find(</a:t>
            </a:r>
            <a:r>
              <a:rPr lang="en-US" altLang="zh-CN" b="0" dirty="0" err="1"/>
              <a:t>dec</a:t>
            </a:r>
            <a:r>
              <a:rPr lang="en-US" altLang="zh-CN" b="0" dirty="0"/>
              <a:t>); %temp=find(</a:t>
            </a:r>
            <a:r>
              <a:rPr lang="en-US" altLang="zh-CN" b="0" dirty="0" err="1"/>
              <a:t>dec</a:t>
            </a:r>
            <a:r>
              <a:rPr lang="en-US" altLang="zh-CN" b="0" dirty="0"/>
              <a:t>~=-l);</a:t>
            </a:r>
            <a:endParaRPr lang="en-US" altLang="zh-CN" b="0" dirty="0"/>
          </a:p>
          <a:p>
            <a:pPr>
              <a:lnSpc>
                <a:spcPts val="3400"/>
              </a:lnSpc>
            </a:pPr>
            <a:r>
              <a:rPr lang="en-US" altLang="zh-CN" b="0" dirty="0"/>
              <a:t>13      if(~ </a:t>
            </a:r>
            <a:r>
              <a:rPr lang="en-US" altLang="zh-CN" b="0" dirty="0" err="1"/>
              <a:t>isempty</a:t>
            </a:r>
            <a:r>
              <a:rPr lang="en-US" altLang="zh-CN" b="0" dirty="0"/>
              <a:t>(temp))</a:t>
            </a:r>
            <a:endParaRPr lang="en-US" altLang="zh-CN" b="0" dirty="0"/>
          </a:p>
          <a:p>
            <a:pPr>
              <a:lnSpc>
                <a:spcPts val="3400"/>
              </a:lnSpc>
            </a:pPr>
            <a:r>
              <a:rPr lang="en-US" altLang="zh-CN" b="0" dirty="0"/>
              <a:t>14         pos3=pos2; </a:t>
            </a:r>
            <a:endParaRPr lang="en-US" altLang="zh-CN" b="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码的译码仿真</a:t>
            </a:r>
            <a:endParaRPr lang="zh-CN" altLang="en-US" sz="2400" dirty="0">
              <a:sym typeface="+mn-ea"/>
            </a:endParaRPr>
          </a:p>
        </p:txBody>
      </p:sp>
      <p:sp>
        <p:nvSpPr>
          <p:cNvPr id="12" name="文本框 11"/>
          <p:cNvSpPr txBox="1"/>
          <p:nvPr/>
        </p:nvSpPr>
        <p:spPr>
          <a:xfrm>
            <a:off x="415996" y="665323"/>
            <a:ext cx="8742454" cy="6141681"/>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pPr>
              <a:lnSpc>
                <a:spcPts val="3400"/>
              </a:lnSpc>
            </a:pPr>
            <a:r>
              <a:rPr lang="en-US" altLang="zh-CN" b="0" dirty="0"/>
              <a:t>15         </a:t>
            </a:r>
            <a:r>
              <a:rPr lang="en-US" altLang="zh-CN" b="0" dirty="0" err="1"/>
              <a:t>tdeg</a:t>
            </a:r>
            <a:r>
              <a:rPr lang="en-US" altLang="zh-CN" b="0" dirty="0"/>
              <a:t>=[0 </a:t>
            </a:r>
            <a:r>
              <a:rPr lang="en-US" altLang="zh-CN" b="0" dirty="0" err="1"/>
              <a:t>cumsum</a:t>
            </a:r>
            <a:r>
              <a:rPr lang="en-US" altLang="zh-CN" b="0" dirty="0"/>
              <a:t>(deg2)];</a:t>
            </a:r>
            <a:endParaRPr lang="en-US" altLang="zh-CN" b="0" dirty="0"/>
          </a:p>
          <a:p>
            <a:pPr>
              <a:lnSpc>
                <a:spcPts val="3400"/>
              </a:lnSpc>
            </a:pPr>
            <a:r>
              <a:rPr lang="en-US" altLang="zh-CN" b="0" dirty="0"/>
              <a:t>16         for y2=1:length(temp)</a:t>
            </a:r>
            <a:endParaRPr lang="en-US" altLang="zh-CN" b="0" dirty="0"/>
          </a:p>
          <a:p>
            <a:pPr>
              <a:lnSpc>
                <a:spcPts val="3400"/>
              </a:lnSpc>
            </a:pPr>
            <a:r>
              <a:rPr lang="en-US" altLang="zh-CN" b="0" dirty="0"/>
              <a:t>17            pos2(find(pos2==temp(y2)))=0;</a:t>
            </a:r>
            <a:endParaRPr lang="en-US" altLang="zh-CN" b="0" dirty="0"/>
          </a:p>
          <a:p>
            <a:pPr>
              <a:lnSpc>
                <a:spcPts val="3400"/>
              </a:lnSpc>
            </a:pPr>
            <a:r>
              <a:rPr lang="en-US" altLang="zh-CN" b="0" dirty="0"/>
              <a:t>18         end</a:t>
            </a:r>
            <a:endParaRPr lang="en-US" altLang="zh-CN" b="0" dirty="0"/>
          </a:p>
          <a:p>
            <a:pPr>
              <a:lnSpc>
                <a:spcPts val="3400"/>
              </a:lnSpc>
            </a:pPr>
            <a:r>
              <a:rPr lang="en-US" altLang="zh-CN" b="0" dirty="0"/>
              <a:t>19         for y2=length(deg2):-</a:t>
            </a:r>
            <a:r>
              <a:rPr lang="en-US" altLang="zh-CN" b="0" dirty="0" err="1"/>
              <a:t>l:l</a:t>
            </a:r>
            <a:endParaRPr lang="en-US" altLang="zh-CN" b="0" dirty="0"/>
          </a:p>
          <a:p>
            <a:pPr>
              <a:lnSpc>
                <a:spcPts val="3400"/>
              </a:lnSpc>
            </a:pPr>
            <a:r>
              <a:rPr lang="en-US" altLang="zh-CN" b="0" dirty="0"/>
              <a:t>20            temp=find(pos2((</a:t>
            </a:r>
            <a:r>
              <a:rPr lang="en-US" altLang="zh-CN" b="0" dirty="0" err="1"/>
              <a:t>tdeg</a:t>
            </a:r>
            <a:r>
              <a:rPr lang="en-US" altLang="zh-CN" b="0" dirty="0"/>
              <a:t>(y2)+1):...</a:t>
            </a:r>
            <a:endParaRPr lang="en-US" altLang="zh-CN" b="0" dirty="0"/>
          </a:p>
          <a:p>
            <a:pPr>
              <a:lnSpc>
                <a:spcPts val="3400"/>
              </a:lnSpc>
            </a:pPr>
            <a:r>
              <a:rPr lang="en-US" altLang="zh-CN" b="0" dirty="0"/>
              <a:t>21               </a:t>
            </a:r>
            <a:r>
              <a:rPr lang="en-US" altLang="zh-CN" b="0" dirty="0" err="1"/>
              <a:t>tdeg</a:t>
            </a:r>
            <a:r>
              <a:rPr lang="en-US" altLang="zh-CN" b="0" dirty="0"/>
              <a:t>(y2+1))==0);</a:t>
            </a:r>
            <a:endParaRPr lang="en-US" altLang="zh-CN" b="0" dirty="0"/>
          </a:p>
          <a:p>
            <a:pPr>
              <a:lnSpc>
                <a:spcPts val="3400"/>
              </a:lnSpc>
            </a:pPr>
            <a:r>
              <a:rPr lang="en-US" altLang="zh-CN" b="0" dirty="0"/>
              <a:t>22            if(~ </a:t>
            </a:r>
            <a:r>
              <a:rPr lang="en-US" altLang="zh-CN" b="0" dirty="0" err="1"/>
              <a:t>isempty</a:t>
            </a:r>
            <a:r>
              <a:rPr lang="en-US" altLang="zh-CN" b="0" dirty="0"/>
              <a:t>(temp))</a:t>
            </a:r>
            <a:endParaRPr lang="en-US" altLang="zh-CN" b="0" dirty="0"/>
          </a:p>
          <a:p>
            <a:pPr>
              <a:lnSpc>
                <a:spcPts val="3400"/>
              </a:lnSpc>
            </a:pPr>
            <a:r>
              <a:rPr lang="en-US" altLang="zh-CN" b="0" dirty="0"/>
              <a:t>23               temp2=pos3((</a:t>
            </a:r>
            <a:r>
              <a:rPr lang="en-US" altLang="zh-CN" b="0" dirty="0" err="1"/>
              <a:t>tdeg</a:t>
            </a:r>
            <a:r>
              <a:rPr lang="en-US" altLang="zh-CN" b="0" dirty="0"/>
              <a:t>(y2)+1):...</a:t>
            </a:r>
            <a:endParaRPr lang="en-US" altLang="zh-CN" b="0" dirty="0"/>
          </a:p>
          <a:p>
            <a:pPr>
              <a:lnSpc>
                <a:spcPts val="3400"/>
              </a:lnSpc>
            </a:pPr>
            <a:r>
              <a:rPr lang="en-US" altLang="zh-CN" b="0" dirty="0"/>
              <a:t>24                  </a:t>
            </a:r>
            <a:r>
              <a:rPr lang="en-US" altLang="zh-CN" b="0" dirty="0" err="1"/>
              <a:t>tdeg</a:t>
            </a:r>
            <a:r>
              <a:rPr lang="en-US" altLang="zh-CN" b="0" dirty="0"/>
              <a:t>(y2+1));</a:t>
            </a:r>
            <a:endParaRPr lang="en-US" altLang="zh-CN" b="0" dirty="0"/>
          </a:p>
          <a:p>
            <a:pPr>
              <a:lnSpc>
                <a:spcPts val="3400"/>
              </a:lnSpc>
            </a:pPr>
            <a:r>
              <a:rPr lang="en-US" altLang="zh-CN" b="0" dirty="0"/>
              <a:t>25               %r2(y2)=mod(r2(y2)+...</a:t>
            </a:r>
            <a:endParaRPr lang="en-US" altLang="zh-CN" b="0" dirty="0"/>
          </a:p>
          <a:p>
            <a:pPr>
              <a:lnSpc>
                <a:spcPts val="3400"/>
              </a:lnSpc>
            </a:pPr>
            <a:r>
              <a:rPr lang="en-US" altLang="zh-CN" b="0" dirty="0"/>
              <a:t>26               % sum(</a:t>
            </a:r>
            <a:r>
              <a:rPr lang="en-US" altLang="zh-CN" b="0" dirty="0" err="1"/>
              <a:t>dec</a:t>
            </a:r>
            <a:r>
              <a:rPr lang="en-US" altLang="zh-CN" b="0" dirty="0"/>
              <a:t>(temp2(temp))),2);</a:t>
            </a:r>
            <a:endParaRPr lang="en-US" altLang="zh-CN" b="0" dirty="0"/>
          </a:p>
          <a:p>
            <a:pPr>
              <a:lnSpc>
                <a:spcPts val="3400"/>
              </a:lnSpc>
            </a:pPr>
            <a:r>
              <a:rPr lang="en-US" altLang="zh-CN" b="0" dirty="0"/>
              <a:t>27               deg2(y2)=deg2(y2)-length(temp);</a:t>
            </a:r>
            <a:endParaRPr lang="en-US" altLang="zh-CN" b="0" dirty="0"/>
          </a:p>
          <a:p>
            <a:pPr>
              <a:lnSpc>
                <a:spcPts val="3400"/>
              </a:lnSpc>
            </a:pPr>
            <a:r>
              <a:rPr lang="en-US" altLang="zh-CN" b="0" dirty="0"/>
              <a:t>28               pos2(</a:t>
            </a:r>
            <a:r>
              <a:rPr lang="en-US" altLang="zh-CN" b="0" dirty="0" err="1"/>
              <a:t>tdeg</a:t>
            </a:r>
            <a:r>
              <a:rPr lang="en-US" altLang="zh-CN" b="0" dirty="0"/>
              <a:t>(y2)+temp)=[];</a:t>
            </a:r>
            <a:endParaRPr lang="en-US" altLang="zh-CN" b="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码的译码仿真</a:t>
            </a:r>
            <a:endParaRPr lang="zh-CN" altLang="en-US" sz="2400" dirty="0">
              <a:sym typeface="+mn-ea"/>
            </a:endParaRPr>
          </a:p>
        </p:txBody>
      </p:sp>
      <p:sp>
        <p:nvSpPr>
          <p:cNvPr id="12" name="文本框 11"/>
          <p:cNvSpPr txBox="1"/>
          <p:nvPr/>
        </p:nvSpPr>
        <p:spPr>
          <a:xfrm>
            <a:off x="415996" y="665323"/>
            <a:ext cx="8742454" cy="6141681"/>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pPr>
              <a:lnSpc>
                <a:spcPts val="3400"/>
              </a:lnSpc>
            </a:pPr>
            <a:r>
              <a:rPr lang="en-US" altLang="zh-CN" b="0" dirty="0"/>
              <a:t>29               if(deg2(y2)==0)</a:t>
            </a:r>
            <a:endParaRPr lang="en-US" altLang="zh-CN" b="0" dirty="0"/>
          </a:p>
          <a:p>
            <a:pPr>
              <a:lnSpc>
                <a:spcPts val="3400"/>
              </a:lnSpc>
            </a:pPr>
            <a:r>
              <a:rPr lang="en-US" altLang="zh-CN" b="0" dirty="0"/>
              <a:t>30                  deg2(y2)=[];</a:t>
            </a:r>
            <a:endParaRPr lang="en-US" altLang="zh-CN" b="0" dirty="0"/>
          </a:p>
          <a:p>
            <a:pPr>
              <a:lnSpc>
                <a:spcPts val="3400"/>
              </a:lnSpc>
            </a:pPr>
            <a:r>
              <a:rPr lang="en-US" altLang="zh-CN" b="0" dirty="0"/>
              <a:t>31                  %r2(y2)=[];</a:t>
            </a:r>
            <a:endParaRPr lang="en-US" altLang="zh-CN" b="0" dirty="0"/>
          </a:p>
          <a:p>
            <a:pPr>
              <a:lnSpc>
                <a:spcPts val="3400"/>
              </a:lnSpc>
            </a:pPr>
            <a:r>
              <a:rPr lang="en-US" altLang="zh-CN" b="0" dirty="0"/>
              <a:t>32                end</a:t>
            </a:r>
            <a:endParaRPr lang="en-US" altLang="zh-CN" b="0" dirty="0"/>
          </a:p>
          <a:p>
            <a:pPr>
              <a:lnSpc>
                <a:spcPts val="3400"/>
              </a:lnSpc>
            </a:pPr>
            <a:r>
              <a:rPr lang="en-US" altLang="zh-CN" b="0" dirty="0"/>
              <a:t>33            end</a:t>
            </a:r>
            <a:endParaRPr lang="en-US" altLang="zh-CN" b="0" dirty="0"/>
          </a:p>
          <a:p>
            <a:pPr>
              <a:lnSpc>
                <a:spcPts val="3400"/>
              </a:lnSpc>
            </a:pPr>
            <a:r>
              <a:rPr lang="en-US" altLang="zh-CN" b="0" dirty="0"/>
              <a:t>34         end</a:t>
            </a:r>
            <a:endParaRPr lang="en-US" altLang="zh-CN" b="0" dirty="0"/>
          </a:p>
          <a:p>
            <a:pPr>
              <a:lnSpc>
                <a:spcPts val="3400"/>
              </a:lnSpc>
            </a:pPr>
            <a:r>
              <a:rPr lang="en-US" altLang="zh-CN" b="0" dirty="0"/>
              <a:t>35         %r1=[r1 r2];</a:t>
            </a:r>
            <a:endParaRPr lang="en-US" altLang="zh-CN" b="0" dirty="0"/>
          </a:p>
          <a:p>
            <a:pPr>
              <a:lnSpc>
                <a:spcPts val="3400"/>
              </a:lnSpc>
            </a:pPr>
            <a:r>
              <a:rPr lang="en-US" altLang="zh-CN" b="0" dirty="0"/>
              <a:t>36         deg1=[deg1 deg2];</a:t>
            </a:r>
            <a:endParaRPr lang="en-US" altLang="zh-CN" b="0" dirty="0"/>
          </a:p>
          <a:p>
            <a:pPr>
              <a:lnSpc>
                <a:spcPts val="3400"/>
              </a:lnSpc>
            </a:pPr>
            <a:r>
              <a:rPr lang="en-US" altLang="zh-CN" b="0" dirty="0"/>
              <a:t>37         pos1=[pos1 pos2];</a:t>
            </a:r>
            <a:endParaRPr lang="en-US" altLang="zh-CN" b="0" dirty="0"/>
          </a:p>
          <a:p>
            <a:pPr>
              <a:lnSpc>
                <a:spcPts val="3400"/>
              </a:lnSpc>
            </a:pPr>
            <a:r>
              <a:rPr lang="en-US" altLang="zh-CN" b="0" dirty="0"/>
              <a:t>38      end</a:t>
            </a:r>
            <a:endParaRPr lang="en-US" altLang="zh-CN" b="0" dirty="0"/>
          </a:p>
          <a:p>
            <a:pPr>
              <a:lnSpc>
                <a:spcPts val="3400"/>
              </a:lnSpc>
            </a:pPr>
            <a:r>
              <a:rPr lang="en-US" altLang="zh-CN" b="0" dirty="0"/>
              <a:t>39   end </a:t>
            </a:r>
            <a:endParaRPr lang="en-US" altLang="zh-CN" b="0" dirty="0"/>
          </a:p>
          <a:p>
            <a:pPr>
              <a:lnSpc>
                <a:spcPts val="3400"/>
              </a:lnSpc>
            </a:pPr>
            <a:r>
              <a:rPr lang="en-US" altLang="zh-CN" b="0" dirty="0"/>
              <a:t>40   while(1)</a:t>
            </a:r>
            <a:endParaRPr lang="en-US" altLang="zh-CN" b="0" dirty="0"/>
          </a:p>
          <a:p>
            <a:pPr>
              <a:lnSpc>
                <a:spcPts val="3400"/>
              </a:lnSpc>
            </a:pPr>
            <a:r>
              <a:rPr lang="en-US" altLang="zh-CN" b="0" dirty="0"/>
              <a:t>41      </a:t>
            </a:r>
            <a:r>
              <a:rPr lang="en-US" altLang="zh-CN" b="0" dirty="0" err="1"/>
              <a:t>cdegl</a:t>
            </a:r>
            <a:r>
              <a:rPr lang="en-US" altLang="zh-CN" b="0" dirty="0"/>
              <a:t>=</a:t>
            </a:r>
            <a:r>
              <a:rPr lang="en-US" altLang="zh-CN" b="0" dirty="0" err="1"/>
              <a:t>cumsum</a:t>
            </a:r>
            <a:r>
              <a:rPr lang="en-US" altLang="zh-CN" b="0" dirty="0"/>
              <a:t>(deg1);</a:t>
            </a:r>
            <a:endParaRPr lang="en-US" altLang="zh-CN" b="0" dirty="0"/>
          </a:p>
          <a:p>
            <a:pPr>
              <a:lnSpc>
                <a:spcPts val="3400"/>
              </a:lnSpc>
            </a:pPr>
            <a:r>
              <a:rPr lang="en-US" altLang="zh-CN" b="0" dirty="0"/>
              <a:t>42      temp=find(deg1= = l);</a:t>
            </a:r>
            <a:endParaRPr lang="en-US" altLang="zh-CN" b="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码的译码仿真</a:t>
            </a:r>
            <a:endParaRPr lang="zh-CN" altLang="en-US" sz="2400" dirty="0">
              <a:sym typeface="+mn-ea"/>
            </a:endParaRPr>
          </a:p>
        </p:txBody>
      </p:sp>
      <p:sp>
        <p:nvSpPr>
          <p:cNvPr id="12" name="文本框 11"/>
          <p:cNvSpPr txBox="1"/>
          <p:nvPr/>
        </p:nvSpPr>
        <p:spPr>
          <a:xfrm>
            <a:off x="415996" y="665323"/>
            <a:ext cx="8742454" cy="6141681"/>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pPr>
              <a:lnSpc>
                <a:spcPts val="3400"/>
              </a:lnSpc>
            </a:pPr>
            <a:r>
              <a:rPr lang="en-US" altLang="zh-CN" b="0" dirty="0"/>
              <a:t>43      if(~ </a:t>
            </a:r>
            <a:r>
              <a:rPr lang="en-US" altLang="zh-CN" b="0" dirty="0" err="1"/>
              <a:t>isempty</a:t>
            </a:r>
            <a:r>
              <a:rPr lang="en-US" altLang="zh-CN" b="0" dirty="0"/>
              <a:t>(temp))</a:t>
            </a:r>
            <a:endParaRPr lang="en-US" altLang="zh-CN" b="0" dirty="0"/>
          </a:p>
          <a:p>
            <a:pPr>
              <a:lnSpc>
                <a:spcPts val="3400"/>
              </a:lnSpc>
            </a:pPr>
            <a:r>
              <a:rPr lang="en-US" altLang="zh-CN" b="0" dirty="0"/>
              <a:t>44         pos2= pos1;</a:t>
            </a:r>
            <a:endParaRPr lang="en-US" altLang="zh-CN" b="0" dirty="0"/>
          </a:p>
          <a:p>
            <a:pPr>
              <a:lnSpc>
                <a:spcPts val="3400"/>
              </a:lnSpc>
            </a:pPr>
            <a:r>
              <a:rPr lang="en-US" altLang="zh-CN" b="0" dirty="0"/>
              <a:t>45         temp2= pos1(cdeg1(temp));</a:t>
            </a:r>
            <a:endParaRPr lang="en-US" altLang="zh-CN" b="0" dirty="0"/>
          </a:p>
          <a:p>
            <a:pPr>
              <a:lnSpc>
                <a:spcPts val="3400"/>
              </a:lnSpc>
            </a:pPr>
            <a:r>
              <a:rPr lang="en-US" altLang="zh-CN" b="0" dirty="0"/>
              <a:t>46         </a:t>
            </a:r>
            <a:r>
              <a:rPr lang="en-US" altLang="zh-CN" b="0" dirty="0" err="1"/>
              <a:t>dec</a:t>
            </a:r>
            <a:r>
              <a:rPr lang="en-US" altLang="zh-CN" b="0" dirty="0"/>
              <a:t>(temp2)= l; % </a:t>
            </a:r>
            <a:r>
              <a:rPr lang="en-US" altLang="zh-CN" b="0" dirty="0" err="1"/>
              <a:t>dec</a:t>
            </a:r>
            <a:r>
              <a:rPr lang="en-US" altLang="zh-CN" b="0" dirty="0"/>
              <a:t>(temp2)= r1(temp);</a:t>
            </a:r>
            <a:endParaRPr lang="en-US" altLang="zh-CN" b="0" dirty="0"/>
          </a:p>
          <a:p>
            <a:pPr>
              <a:lnSpc>
                <a:spcPts val="3400"/>
              </a:lnSpc>
            </a:pPr>
            <a:r>
              <a:rPr lang="en-US" altLang="zh-CN" b="0" dirty="0"/>
              <a:t>47         for y2=</a:t>
            </a:r>
            <a:r>
              <a:rPr lang="en-US" altLang="zh-CN" b="0" dirty="0" err="1"/>
              <a:t>l:length</a:t>
            </a:r>
            <a:r>
              <a:rPr lang="en-US" altLang="zh-CN" b="0" dirty="0"/>
              <a:t>(temp2)</a:t>
            </a:r>
            <a:endParaRPr lang="en-US" altLang="zh-CN" b="0" dirty="0"/>
          </a:p>
          <a:p>
            <a:pPr>
              <a:lnSpc>
                <a:spcPts val="3400"/>
              </a:lnSpc>
            </a:pPr>
            <a:r>
              <a:rPr lang="en-US" altLang="zh-CN" b="0" dirty="0"/>
              <a:t>48            pos1(find(pos1== temp2(y2)))=0;</a:t>
            </a:r>
            <a:endParaRPr lang="en-US" altLang="zh-CN" b="0" dirty="0"/>
          </a:p>
          <a:p>
            <a:pPr>
              <a:lnSpc>
                <a:spcPts val="3400"/>
              </a:lnSpc>
            </a:pPr>
            <a:r>
              <a:rPr lang="en-US" altLang="zh-CN" b="0" dirty="0"/>
              <a:t>49         end</a:t>
            </a:r>
            <a:endParaRPr lang="en-US" altLang="zh-CN" b="0" dirty="0"/>
          </a:p>
          <a:p>
            <a:pPr>
              <a:lnSpc>
                <a:spcPts val="3400"/>
              </a:lnSpc>
            </a:pPr>
            <a:r>
              <a:rPr lang="en-US" altLang="zh-CN" b="0" dirty="0"/>
              <a:t>50         </a:t>
            </a:r>
            <a:r>
              <a:rPr lang="en-US" altLang="zh-CN" b="0" dirty="0" err="1"/>
              <a:t>tdeg</a:t>
            </a:r>
            <a:r>
              <a:rPr lang="en-US" altLang="zh-CN" b="0" dirty="0"/>
              <a:t>=[0 cdeg1];</a:t>
            </a:r>
            <a:endParaRPr lang="en-US" altLang="zh-CN" b="0" dirty="0"/>
          </a:p>
          <a:p>
            <a:pPr>
              <a:lnSpc>
                <a:spcPts val="3400"/>
              </a:lnSpc>
            </a:pPr>
            <a:r>
              <a:rPr lang="en-US" altLang="zh-CN" b="0" dirty="0"/>
              <a:t>51         for y2=length(deg1):-1:l</a:t>
            </a:r>
            <a:endParaRPr lang="en-US" altLang="zh-CN" b="0" dirty="0"/>
          </a:p>
          <a:p>
            <a:pPr>
              <a:lnSpc>
                <a:spcPts val="3400"/>
              </a:lnSpc>
            </a:pPr>
            <a:r>
              <a:rPr lang="en-US" altLang="zh-CN" b="0" dirty="0"/>
              <a:t>52            temp=find(pos1((</a:t>
            </a:r>
            <a:r>
              <a:rPr lang="en-US" altLang="zh-CN" b="0" dirty="0" err="1"/>
              <a:t>tdeg</a:t>
            </a:r>
            <a:r>
              <a:rPr lang="en-US" altLang="zh-CN" b="0" dirty="0"/>
              <a:t>(y2)+1):…</a:t>
            </a:r>
            <a:endParaRPr lang="en-US" altLang="zh-CN" b="0" dirty="0"/>
          </a:p>
          <a:p>
            <a:pPr>
              <a:lnSpc>
                <a:spcPts val="3400"/>
              </a:lnSpc>
            </a:pPr>
            <a:r>
              <a:rPr lang="en-US" altLang="zh-CN" b="0" dirty="0"/>
              <a:t>53               </a:t>
            </a:r>
            <a:r>
              <a:rPr lang="en-US" altLang="zh-CN" b="0" dirty="0" err="1"/>
              <a:t>tdeg</a:t>
            </a:r>
            <a:r>
              <a:rPr lang="en-US" altLang="zh-CN" b="0" dirty="0"/>
              <a:t>(y2+1)))==0);</a:t>
            </a:r>
            <a:endParaRPr lang="en-US" altLang="zh-CN" b="0" dirty="0"/>
          </a:p>
          <a:p>
            <a:pPr>
              <a:lnSpc>
                <a:spcPts val="3400"/>
              </a:lnSpc>
            </a:pPr>
            <a:r>
              <a:rPr lang="en-US" altLang="zh-CN" b="0" dirty="0"/>
              <a:t>54            if(~ </a:t>
            </a:r>
            <a:r>
              <a:rPr lang="en-US" altLang="zh-CN" b="0" dirty="0" err="1"/>
              <a:t>isempty</a:t>
            </a:r>
            <a:r>
              <a:rPr lang="en-US" altLang="zh-CN" b="0" dirty="0"/>
              <a:t>(temp))</a:t>
            </a:r>
            <a:endParaRPr lang="en-US" altLang="zh-CN" b="0" dirty="0"/>
          </a:p>
          <a:p>
            <a:pPr>
              <a:lnSpc>
                <a:spcPts val="3400"/>
              </a:lnSpc>
            </a:pPr>
            <a:r>
              <a:rPr lang="en-US" altLang="zh-CN" b="0" dirty="0"/>
              <a:t>55               temp2=pos2((</a:t>
            </a:r>
            <a:r>
              <a:rPr lang="en-US" altLang="zh-CN" b="0" dirty="0" err="1"/>
              <a:t>tdeg</a:t>
            </a:r>
            <a:r>
              <a:rPr lang="en-US" altLang="zh-CN" b="0" dirty="0"/>
              <a:t>(y2)+1):</a:t>
            </a:r>
            <a:r>
              <a:rPr lang="en-US" altLang="zh-CN" b="0" dirty="0" err="1"/>
              <a:t>tdeg</a:t>
            </a:r>
            <a:r>
              <a:rPr lang="en-US" altLang="zh-CN" b="0" dirty="0"/>
              <a:t>(y2+1));</a:t>
            </a:r>
            <a:endParaRPr lang="en-US" altLang="zh-CN" b="0" dirty="0"/>
          </a:p>
          <a:p>
            <a:pPr>
              <a:lnSpc>
                <a:spcPts val="3400"/>
              </a:lnSpc>
            </a:pPr>
            <a:r>
              <a:rPr lang="en-US" altLang="zh-CN" b="0" dirty="0"/>
              <a:t>56               % </a:t>
            </a:r>
            <a:r>
              <a:rPr lang="en-US" altLang="zh-CN" b="0" dirty="0" err="1"/>
              <a:t>rl</a:t>
            </a:r>
            <a:r>
              <a:rPr lang="en-US" altLang="zh-CN" b="0" dirty="0"/>
              <a:t>(y2)=mod(r1(y2)...</a:t>
            </a:r>
            <a:endParaRPr lang="en-US" altLang="zh-CN" b="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码的译码仿真</a:t>
            </a:r>
            <a:endParaRPr lang="zh-CN" altLang="en-US" sz="2400" dirty="0">
              <a:sym typeface="+mn-ea"/>
            </a:endParaRPr>
          </a:p>
        </p:txBody>
      </p:sp>
      <p:sp>
        <p:nvSpPr>
          <p:cNvPr id="12" name="文本框 11"/>
          <p:cNvSpPr txBox="1"/>
          <p:nvPr/>
        </p:nvSpPr>
        <p:spPr>
          <a:xfrm>
            <a:off x="415996" y="665323"/>
            <a:ext cx="8742454" cy="6141681"/>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pPr>
              <a:lnSpc>
                <a:spcPts val="3400"/>
              </a:lnSpc>
            </a:pPr>
            <a:r>
              <a:rPr lang="en-US" altLang="zh-CN" b="0" dirty="0"/>
              <a:t>57               % +sum(</a:t>
            </a:r>
            <a:r>
              <a:rPr lang="en-US" altLang="zh-CN" b="0" dirty="0" err="1"/>
              <a:t>dec</a:t>
            </a:r>
            <a:r>
              <a:rPr lang="en-US" altLang="zh-CN" b="0" dirty="0"/>
              <a:t>(temp2(temp))),2);</a:t>
            </a:r>
            <a:endParaRPr lang="en-US" altLang="zh-CN" b="0" dirty="0"/>
          </a:p>
          <a:p>
            <a:pPr>
              <a:lnSpc>
                <a:spcPts val="3400"/>
              </a:lnSpc>
            </a:pPr>
            <a:r>
              <a:rPr lang="en-US" altLang="zh-CN" b="0" dirty="0"/>
              <a:t>58               deg1(y2)=deg1(y2)-length(temp):</a:t>
            </a:r>
            <a:endParaRPr lang="en-US" altLang="zh-CN" b="0" dirty="0"/>
          </a:p>
          <a:p>
            <a:pPr>
              <a:lnSpc>
                <a:spcPts val="3400"/>
              </a:lnSpc>
            </a:pPr>
            <a:r>
              <a:rPr lang="en-US" altLang="zh-CN" b="0" dirty="0"/>
              <a:t>59                pos1(</a:t>
            </a:r>
            <a:r>
              <a:rPr lang="en-US" altLang="zh-CN" b="0" dirty="0" err="1"/>
              <a:t>tdeg</a:t>
            </a:r>
            <a:r>
              <a:rPr lang="en-US" altLang="zh-CN" b="0" dirty="0"/>
              <a:t>(y2)+temp)=[];</a:t>
            </a:r>
            <a:endParaRPr lang="en-US" altLang="zh-CN" b="0" dirty="0"/>
          </a:p>
          <a:p>
            <a:pPr>
              <a:lnSpc>
                <a:spcPts val="3400"/>
              </a:lnSpc>
            </a:pPr>
            <a:r>
              <a:rPr lang="en-US" altLang="zh-CN" b="0" dirty="0"/>
              <a:t>60                if(deg1(y2)==0)</a:t>
            </a:r>
            <a:endParaRPr lang="en-US" altLang="zh-CN" b="0" dirty="0"/>
          </a:p>
          <a:p>
            <a:pPr>
              <a:lnSpc>
                <a:spcPts val="3400"/>
              </a:lnSpc>
            </a:pPr>
            <a:r>
              <a:rPr lang="en-US" altLang="zh-CN" b="0" dirty="0"/>
              <a:t>61                   deg1(y2)=[];</a:t>
            </a:r>
            <a:endParaRPr lang="en-US" altLang="zh-CN" b="0" dirty="0"/>
          </a:p>
          <a:p>
            <a:pPr>
              <a:lnSpc>
                <a:spcPts val="3400"/>
              </a:lnSpc>
            </a:pPr>
            <a:r>
              <a:rPr lang="en-US" altLang="zh-CN" b="0" dirty="0"/>
              <a:t>62                   %rl(y2)=[]; .</a:t>
            </a:r>
            <a:endParaRPr lang="en-US" altLang="zh-CN" b="0" dirty="0"/>
          </a:p>
          <a:p>
            <a:pPr>
              <a:lnSpc>
                <a:spcPts val="3400"/>
              </a:lnSpc>
            </a:pPr>
            <a:r>
              <a:rPr lang="en-US" altLang="zh-CN" b="0" dirty="0"/>
              <a:t>63                end</a:t>
            </a:r>
            <a:endParaRPr lang="en-US" altLang="zh-CN" b="0" dirty="0"/>
          </a:p>
          <a:p>
            <a:pPr>
              <a:lnSpc>
                <a:spcPts val="3400"/>
              </a:lnSpc>
            </a:pPr>
            <a:r>
              <a:rPr lang="en-US" altLang="zh-CN" b="0" dirty="0"/>
              <a:t>64            end</a:t>
            </a:r>
            <a:endParaRPr lang="en-US" altLang="zh-CN" b="0" dirty="0"/>
          </a:p>
          <a:p>
            <a:pPr>
              <a:lnSpc>
                <a:spcPts val="3400"/>
              </a:lnSpc>
            </a:pPr>
            <a:r>
              <a:rPr lang="en-US" altLang="zh-CN" b="0" dirty="0"/>
              <a:t>65         end </a:t>
            </a:r>
            <a:endParaRPr lang="en-US" altLang="zh-CN" b="0" dirty="0"/>
          </a:p>
          <a:p>
            <a:pPr>
              <a:lnSpc>
                <a:spcPts val="3400"/>
              </a:lnSpc>
            </a:pPr>
            <a:r>
              <a:rPr lang="en-US" altLang="zh-CN" b="0" dirty="0"/>
              <a:t>66      else</a:t>
            </a:r>
            <a:endParaRPr lang="en-US" altLang="zh-CN" b="0" dirty="0"/>
          </a:p>
          <a:p>
            <a:pPr>
              <a:lnSpc>
                <a:spcPts val="3400"/>
              </a:lnSpc>
            </a:pPr>
            <a:r>
              <a:rPr lang="en-US" altLang="zh-CN" b="0" dirty="0"/>
              <a:t>67         break;</a:t>
            </a:r>
            <a:endParaRPr lang="en-US" altLang="zh-CN" b="0" dirty="0"/>
          </a:p>
          <a:p>
            <a:pPr>
              <a:lnSpc>
                <a:spcPts val="3400"/>
              </a:lnSpc>
            </a:pPr>
            <a:r>
              <a:rPr lang="en-US" altLang="zh-CN" b="0" dirty="0"/>
              <a:t>68      end</a:t>
            </a:r>
            <a:endParaRPr lang="en-US" altLang="zh-CN" b="0" dirty="0"/>
          </a:p>
          <a:p>
            <a:pPr>
              <a:lnSpc>
                <a:spcPts val="3400"/>
              </a:lnSpc>
            </a:pPr>
            <a:r>
              <a:rPr lang="en-US" altLang="zh-CN" b="0" dirty="0"/>
              <a:t>69   end</a:t>
            </a:r>
            <a:endParaRPr lang="en-US" altLang="zh-CN" b="0" dirty="0"/>
          </a:p>
          <a:p>
            <a:pPr>
              <a:lnSpc>
                <a:spcPts val="3400"/>
              </a:lnSpc>
            </a:pPr>
            <a:r>
              <a:rPr lang="en-US" altLang="zh-CN" b="0" dirty="0"/>
              <a:t>70   </a:t>
            </a:r>
            <a:r>
              <a:rPr lang="en-US" altLang="zh-CN" b="0" dirty="0" err="1"/>
              <a:t>symrec</a:t>
            </a:r>
            <a:r>
              <a:rPr lang="en-US" altLang="zh-CN" b="0" dirty="0"/>
              <a:t>(y1+l)=</a:t>
            </a:r>
            <a:r>
              <a:rPr lang="en-US" altLang="zh-CN" b="0" dirty="0" err="1"/>
              <a:t>symrec</a:t>
            </a:r>
            <a:r>
              <a:rPr lang="en-US" altLang="zh-CN" b="0" dirty="0"/>
              <a:t>(y1+ 1)+ sum(</a:t>
            </a:r>
            <a:r>
              <a:rPr lang="en-US" altLang="zh-CN" b="0" dirty="0" err="1"/>
              <a:t>dec</a:t>
            </a:r>
            <a:r>
              <a:rPr lang="en-US" altLang="zh-CN" b="0" dirty="0"/>
              <a:t>);</a:t>
            </a:r>
            <a:endParaRPr lang="en-US" altLang="zh-CN" b="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码的译码仿真</a:t>
            </a:r>
            <a:endParaRPr lang="zh-CN" altLang="en-US" sz="2400" dirty="0">
              <a:sym typeface="+mn-ea"/>
            </a:endParaRPr>
          </a:p>
        </p:txBody>
      </p:sp>
      <p:sp>
        <p:nvSpPr>
          <p:cNvPr id="12" name="文本框 11"/>
          <p:cNvSpPr txBox="1"/>
          <p:nvPr/>
        </p:nvSpPr>
        <p:spPr>
          <a:xfrm>
            <a:off x="415996" y="762070"/>
            <a:ext cx="8742454" cy="3525581"/>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pPr>
              <a:lnSpc>
                <a:spcPts val="3400"/>
              </a:lnSpc>
            </a:pPr>
            <a:r>
              <a:rPr lang="en-US" altLang="zh-CN" b="0" dirty="0"/>
              <a:t>71   % </a:t>
            </a:r>
            <a:r>
              <a:rPr lang="en-US" altLang="zh-CN" b="0" dirty="0" err="1"/>
              <a:t>symrec</a:t>
            </a:r>
            <a:r>
              <a:rPr lang="en-US" altLang="zh-CN" b="0" dirty="0"/>
              <a:t>(y1+ 1)=</a:t>
            </a:r>
            <a:r>
              <a:rPr lang="en-US" altLang="zh-CN" b="0" dirty="0" err="1"/>
              <a:t>symrec</a:t>
            </a:r>
            <a:r>
              <a:rPr lang="en-US" altLang="zh-CN" b="0" dirty="0"/>
              <a:t>(y1+1)+sum(</a:t>
            </a:r>
            <a:r>
              <a:rPr lang="en-US" altLang="zh-CN" b="0" dirty="0" err="1"/>
              <a:t>dec</a:t>
            </a:r>
            <a:r>
              <a:rPr lang="en-US" altLang="zh-CN" b="0" dirty="0"/>
              <a:t>~=-1);</a:t>
            </a:r>
            <a:endParaRPr lang="en-US" altLang="zh-CN" b="0" dirty="0"/>
          </a:p>
          <a:p>
            <a:pPr>
              <a:lnSpc>
                <a:spcPts val="3400"/>
              </a:lnSpc>
            </a:pPr>
            <a:r>
              <a:rPr lang="en-US" altLang="zh-CN" b="0" dirty="0"/>
              <a:t>72   if(sum(</a:t>
            </a:r>
            <a:r>
              <a:rPr lang="en-US" altLang="zh-CN" b="0" dirty="0" err="1"/>
              <a:t>dec</a:t>
            </a:r>
            <a:r>
              <a:rPr lang="en-US" altLang="zh-CN" b="0" dirty="0"/>
              <a:t>)==k)</a:t>
            </a:r>
            <a:endParaRPr lang="en-US" altLang="zh-CN" b="0" dirty="0"/>
          </a:p>
          <a:p>
            <a:pPr>
              <a:lnSpc>
                <a:spcPts val="3400"/>
              </a:lnSpc>
            </a:pPr>
            <a:r>
              <a:rPr lang="en-US" altLang="zh-CN" b="0" dirty="0"/>
              <a:t>73   %if(sum(</a:t>
            </a:r>
            <a:r>
              <a:rPr lang="en-US" altLang="zh-CN" b="0" dirty="0" err="1"/>
              <a:t>dec</a:t>
            </a:r>
            <a:r>
              <a:rPr lang="en-US" altLang="zh-CN" b="0" dirty="0"/>
              <a:t>~=-1)==k)</a:t>
            </a:r>
            <a:endParaRPr lang="en-US" altLang="zh-CN" b="0" dirty="0"/>
          </a:p>
          <a:p>
            <a:pPr>
              <a:lnSpc>
                <a:spcPts val="3400"/>
              </a:lnSpc>
            </a:pPr>
            <a:r>
              <a:rPr lang="en-US" altLang="zh-CN" b="0" dirty="0"/>
              <a:t>74      </a:t>
            </a:r>
            <a:r>
              <a:rPr lang="en-US" altLang="zh-CN" b="0" dirty="0" err="1"/>
              <a:t>symrec</a:t>
            </a:r>
            <a:r>
              <a:rPr lang="en-US" altLang="zh-CN" b="0" dirty="0"/>
              <a:t>((y1+2):(stn+1))=…</a:t>
            </a:r>
            <a:endParaRPr lang="en-US" altLang="zh-CN" b="0" dirty="0"/>
          </a:p>
          <a:p>
            <a:pPr>
              <a:lnSpc>
                <a:spcPts val="3400"/>
              </a:lnSpc>
            </a:pPr>
            <a:r>
              <a:rPr lang="en-US" altLang="zh-CN" b="0" dirty="0"/>
              <a:t>75         </a:t>
            </a:r>
            <a:r>
              <a:rPr lang="en-US" altLang="zh-CN" b="0" dirty="0" err="1"/>
              <a:t>syrmre</a:t>
            </a:r>
            <a:r>
              <a:rPr lang="en-US" altLang="zh-CN" b="0" dirty="0"/>
              <a:t>(y1+2)(stn+1))+k;</a:t>
            </a:r>
            <a:endParaRPr lang="en-US" altLang="zh-CN" b="0" dirty="0"/>
          </a:p>
          <a:p>
            <a:pPr>
              <a:lnSpc>
                <a:spcPts val="3400"/>
              </a:lnSpc>
            </a:pPr>
            <a:r>
              <a:rPr lang="en-US" altLang="zh-CN" b="0" dirty="0"/>
              <a:t>76      break;</a:t>
            </a:r>
            <a:endParaRPr lang="en-US" altLang="zh-CN" b="0" dirty="0"/>
          </a:p>
          <a:p>
            <a:pPr>
              <a:lnSpc>
                <a:spcPts val="3400"/>
              </a:lnSpc>
            </a:pPr>
            <a:r>
              <a:rPr lang="en-US" altLang="zh-CN" b="0" dirty="0"/>
              <a:t>77   end</a:t>
            </a:r>
            <a:endParaRPr lang="en-US" altLang="zh-CN" b="0" dirty="0"/>
          </a:p>
          <a:p>
            <a:pPr>
              <a:lnSpc>
                <a:spcPts val="3400"/>
              </a:lnSpc>
            </a:pPr>
            <a:r>
              <a:rPr lang="en-US" altLang="zh-CN" b="0" dirty="0"/>
              <a:t>78 end</a:t>
            </a:r>
            <a:endParaRPr lang="en-US" altLang="zh-CN" b="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en-US" altLang="zh-CN" sz="2400" dirty="0">
                <a:sym typeface="+mn-ea"/>
              </a:rPr>
              <a:t>LT</a:t>
            </a:r>
            <a:r>
              <a:rPr lang="zh-CN" altLang="en-US" sz="2400" dirty="0">
                <a:sym typeface="+mn-ea"/>
              </a:rPr>
              <a:t>码的译码仿真</a:t>
            </a:r>
            <a:endParaRPr lang="zh-CN" altLang="en-US" sz="2400" dirty="0">
              <a:sym typeface="+mn-ea"/>
            </a:endParaRPr>
          </a:p>
        </p:txBody>
      </p:sp>
      <p:sp>
        <p:nvSpPr>
          <p:cNvPr id="4" name="文本框 3"/>
          <p:cNvSpPr txBox="1"/>
          <p:nvPr/>
        </p:nvSpPr>
        <p:spPr>
          <a:xfrm>
            <a:off x="415994" y="2882182"/>
            <a:ext cx="8536869" cy="2214709"/>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pPr>
              <a:lnSpc>
                <a:spcPts val="3400"/>
              </a:lnSpc>
            </a:pPr>
            <a:r>
              <a:rPr lang="zh-CN" altLang="en-US" b="0" dirty="0"/>
              <a:t>         </a:t>
            </a:r>
            <a:r>
              <a:rPr lang="en-US" altLang="zh-CN" b="0" dirty="0"/>
              <a:t>02</a:t>
            </a:r>
            <a:r>
              <a:rPr lang="zh-CN" altLang="en-US" b="0" dirty="0"/>
              <a:t>行的</a:t>
            </a:r>
            <a:r>
              <a:rPr lang="en-US" altLang="zh-CN" b="0" dirty="0"/>
              <a:t>y1</a:t>
            </a:r>
            <a:r>
              <a:rPr lang="zh-CN" altLang="en-US" b="0" dirty="0"/>
              <a:t>为</a:t>
            </a:r>
            <a:r>
              <a:rPr lang="en-US" altLang="zh-CN" b="0" dirty="0"/>
              <a:t>0</a:t>
            </a:r>
            <a:r>
              <a:rPr lang="zh-CN" altLang="en-US" b="0" dirty="0"/>
              <a:t>时，用户接收到的编码符号数量</a:t>
            </a:r>
            <a:r>
              <a:rPr lang="en-US" altLang="zh-CN" b="0" dirty="0"/>
              <a:t>n</a:t>
            </a:r>
            <a:r>
              <a:rPr lang="zh-CN" altLang="en-US" b="0" dirty="0"/>
              <a:t>为</a:t>
            </a:r>
            <a:r>
              <a:rPr lang="en-US" altLang="zh-CN" b="0" dirty="0"/>
              <a:t>k</a:t>
            </a:r>
            <a:r>
              <a:rPr lang="zh-CN" altLang="en-US" b="0" dirty="0"/>
              <a:t>，即开销</a:t>
            </a:r>
            <a:r>
              <a:rPr lang="en-US" altLang="zh-CN" b="0" dirty="0"/>
              <a:t>(overhead) </a:t>
            </a:r>
            <a:r>
              <a:rPr lang="zh-CN" altLang="en-US" b="0" dirty="0"/>
              <a:t>为</a:t>
            </a:r>
            <a:r>
              <a:rPr lang="en-US" altLang="zh-CN" b="0" dirty="0"/>
              <a:t>n/k=l</a:t>
            </a:r>
            <a:r>
              <a:rPr lang="zh-CN" altLang="en-US" b="0" dirty="0"/>
              <a:t>，此时是对接收到的这</a:t>
            </a:r>
            <a:r>
              <a:rPr lang="en-US" altLang="zh-CN" b="0" dirty="0"/>
              <a:t>n</a:t>
            </a:r>
            <a:r>
              <a:rPr lang="zh-CN" altLang="en-US" b="0" dirty="0"/>
              <a:t>个编码符号，从查找度为</a:t>
            </a:r>
            <a:r>
              <a:rPr lang="en-US" altLang="zh-CN" b="0" dirty="0"/>
              <a:t>1</a:t>
            </a:r>
            <a:r>
              <a:rPr lang="zh-CN" altLang="en-US" b="0" dirty="0"/>
              <a:t>的编码符号开始进行译码。若未能成功译码，则继续接收</a:t>
            </a:r>
            <a:r>
              <a:rPr lang="en-US" altLang="zh-CN" b="0" dirty="0" err="1"/>
              <a:t>st</a:t>
            </a:r>
            <a:r>
              <a:rPr lang="zh-CN" altLang="en-US" b="0" dirty="0"/>
              <a:t>个编码符号</a:t>
            </a:r>
            <a:r>
              <a:rPr lang="en-US" altLang="zh-CN" b="0" dirty="0"/>
              <a:t>(08-11 </a:t>
            </a:r>
            <a:r>
              <a:rPr lang="zh-CN" altLang="en-US" b="0" dirty="0"/>
              <a:t>行</a:t>
            </a:r>
            <a:r>
              <a:rPr lang="en-US" altLang="zh-CN" b="0" dirty="0"/>
              <a:t>)</a:t>
            </a:r>
            <a:r>
              <a:rPr lang="zh-CN" altLang="en-US" b="0" dirty="0"/>
              <a:t>再进行译码，在译码之前需要从这</a:t>
            </a:r>
            <a:r>
              <a:rPr lang="en-US" altLang="zh-CN" b="0" dirty="0" err="1"/>
              <a:t>st</a:t>
            </a:r>
            <a:r>
              <a:rPr lang="en-US" altLang="zh-CN" b="0" dirty="0"/>
              <a:t> </a:t>
            </a:r>
            <a:r>
              <a:rPr lang="zh-CN" altLang="en-US" b="0" dirty="0"/>
              <a:t>个编码符号去除已经成功译码的那些符号的信息，再从查找度为</a:t>
            </a:r>
            <a:r>
              <a:rPr lang="en-US" altLang="zh-CN" b="0" dirty="0"/>
              <a:t>1</a:t>
            </a:r>
            <a:r>
              <a:rPr lang="zh-CN" altLang="en-US" b="0" dirty="0"/>
              <a:t>的编码符号进行译码。</a:t>
            </a:r>
            <a:endParaRPr lang="en-US" altLang="zh-CN" b="0" dirty="0"/>
          </a:p>
        </p:txBody>
      </p:sp>
      <p:sp>
        <p:nvSpPr>
          <p:cNvPr id="5" name="文本框 4"/>
          <p:cNvSpPr txBox="1"/>
          <p:nvPr/>
        </p:nvSpPr>
        <p:spPr>
          <a:xfrm>
            <a:off x="415995" y="1143060"/>
            <a:ext cx="8536869" cy="1342675"/>
          </a:xfrm>
          <a:prstGeom prst="rect">
            <a:avLst/>
          </a:prstGeom>
          <a:noFill/>
        </p:spPr>
        <p:txBody>
          <a:bodyPr wrap="square" rtlCol="0" anchor="t">
            <a:spAutoFit/>
          </a:bodyPr>
          <a:lstStyle>
            <a:defPPr>
              <a:defRPr lang="zh-CN"/>
            </a:defPPr>
            <a:lvl1pPr>
              <a:lnSpc>
                <a:spcPts val="3600"/>
              </a:lnSpc>
              <a:defRPr b="1">
                <a:uFillTx/>
                <a:latin typeface="+mn-lt"/>
                <a:ea typeface="+mn-ea"/>
              </a:defRPr>
            </a:lvl1pPr>
          </a:lstStyle>
          <a:p>
            <a:pPr>
              <a:lnSpc>
                <a:spcPts val="3400"/>
              </a:lnSpc>
            </a:pPr>
            <a:r>
              <a:rPr lang="zh-CN" altLang="en-US" b="0" dirty="0"/>
              <a:t>        若要仿真具体的数据，可以去掉</a:t>
            </a:r>
            <a:r>
              <a:rPr lang="en-US" altLang="zh-CN" b="0" dirty="0"/>
              <a:t>01</a:t>
            </a:r>
            <a:r>
              <a:rPr lang="zh-CN" altLang="en-US" b="0" dirty="0"/>
              <a:t>、</a:t>
            </a:r>
            <a:r>
              <a:rPr lang="en-US" altLang="zh-CN" b="0" dirty="0"/>
              <a:t>04</a:t>
            </a:r>
            <a:r>
              <a:rPr lang="zh-CN" altLang="en-US" b="0" dirty="0"/>
              <a:t>、</a:t>
            </a:r>
            <a:r>
              <a:rPr lang="en-US" altLang="zh-CN" b="0" dirty="0"/>
              <a:t>09</a:t>
            </a:r>
            <a:r>
              <a:rPr lang="zh-CN" altLang="en-US" b="0" dirty="0"/>
              <a:t>、</a:t>
            </a:r>
            <a:r>
              <a:rPr lang="en-US" altLang="zh-CN" b="0" dirty="0"/>
              <a:t>12</a:t>
            </a:r>
            <a:r>
              <a:rPr lang="zh-CN" altLang="en-US" b="0" dirty="0"/>
              <a:t>、</a:t>
            </a:r>
            <a:r>
              <a:rPr lang="en-US" altLang="zh-CN" b="0" dirty="0"/>
              <a:t>25</a:t>
            </a:r>
            <a:r>
              <a:rPr lang="zh-CN" altLang="en-US" b="0" dirty="0"/>
              <a:t>、</a:t>
            </a:r>
            <a:r>
              <a:rPr lang="en-US" altLang="zh-CN" b="0" dirty="0"/>
              <a:t>26</a:t>
            </a:r>
            <a:r>
              <a:rPr lang="zh-CN" altLang="en-US" b="0" dirty="0"/>
              <a:t>、</a:t>
            </a:r>
            <a:r>
              <a:rPr lang="en-US" altLang="zh-CN" b="0" dirty="0"/>
              <a:t>31</a:t>
            </a:r>
            <a:r>
              <a:rPr lang="zh-CN" altLang="en-US" b="0" dirty="0"/>
              <a:t>、</a:t>
            </a:r>
            <a:r>
              <a:rPr lang="en-US" altLang="zh-CN" b="0" dirty="0"/>
              <a:t>35</a:t>
            </a:r>
            <a:r>
              <a:rPr lang="zh-CN" altLang="en-US" b="0" dirty="0"/>
              <a:t>、</a:t>
            </a:r>
            <a:r>
              <a:rPr lang="en-US" altLang="zh-CN" b="0" dirty="0"/>
              <a:t>46</a:t>
            </a:r>
            <a:r>
              <a:rPr lang="zh-CN" altLang="en-US" b="0" dirty="0"/>
              <a:t>、</a:t>
            </a:r>
            <a:r>
              <a:rPr lang="en-US" altLang="zh-CN" b="0" dirty="0"/>
              <a:t>56</a:t>
            </a:r>
            <a:r>
              <a:rPr lang="zh-CN" altLang="en-US" b="0" dirty="0"/>
              <a:t>、</a:t>
            </a:r>
            <a:r>
              <a:rPr lang="en-US" altLang="zh-CN" b="0" dirty="0"/>
              <a:t>57</a:t>
            </a:r>
            <a:r>
              <a:rPr lang="zh-CN" altLang="en-US" b="0" dirty="0"/>
              <a:t>、</a:t>
            </a:r>
            <a:r>
              <a:rPr lang="en-US" altLang="zh-CN" b="0" dirty="0"/>
              <a:t>62</a:t>
            </a:r>
            <a:r>
              <a:rPr lang="zh-CN" altLang="en-US" b="0" dirty="0"/>
              <a:t>、</a:t>
            </a:r>
            <a:r>
              <a:rPr lang="en-US" altLang="zh-CN" b="0" dirty="0"/>
              <a:t>71</a:t>
            </a:r>
            <a:r>
              <a:rPr lang="zh-CN" altLang="en-US" b="0" dirty="0"/>
              <a:t>、</a:t>
            </a:r>
            <a:r>
              <a:rPr lang="en-US" altLang="zh-CN" b="0" dirty="0"/>
              <a:t>73</a:t>
            </a:r>
            <a:r>
              <a:rPr lang="zh-CN" altLang="en-US" b="0" dirty="0"/>
              <a:t>行的注释，注意需要将</a:t>
            </a:r>
            <a:r>
              <a:rPr lang="en-US" altLang="zh-CN" b="0" dirty="0"/>
              <a:t>01</a:t>
            </a:r>
            <a:r>
              <a:rPr lang="zh-CN" altLang="en-US" b="0" dirty="0"/>
              <a:t>、</a:t>
            </a:r>
            <a:r>
              <a:rPr lang="en-US" altLang="zh-CN" b="0" dirty="0"/>
              <a:t>12</a:t>
            </a:r>
            <a:r>
              <a:rPr lang="zh-CN" altLang="en-US" b="0" dirty="0"/>
              <a:t>、</a:t>
            </a:r>
            <a:r>
              <a:rPr lang="en-US" altLang="zh-CN" b="0" dirty="0"/>
              <a:t>46</a:t>
            </a:r>
            <a:r>
              <a:rPr lang="zh-CN" altLang="en-US" b="0" dirty="0"/>
              <a:t>行前一部分作为注释，以及</a:t>
            </a:r>
            <a:r>
              <a:rPr lang="en-US" altLang="zh-CN" b="0" dirty="0"/>
              <a:t>70</a:t>
            </a:r>
            <a:r>
              <a:rPr lang="zh-CN" altLang="en-US" b="0" dirty="0"/>
              <a:t>、</a:t>
            </a:r>
            <a:r>
              <a:rPr lang="en-US" altLang="zh-CN" b="0" dirty="0"/>
              <a:t>73</a:t>
            </a:r>
            <a:r>
              <a:rPr lang="zh-CN" altLang="en-US" b="0" dirty="0"/>
              <a:t>行作为注释。</a:t>
            </a:r>
            <a:endParaRPr lang="en-US" altLang="zh-CN" b="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参考文献</a:t>
            </a:r>
            <a:endParaRPr lang="zh-CN" altLang="en-US" sz="2400" dirty="0">
              <a:sym typeface="+mn-ea"/>
            </a:endParaRPr>
          </a:p>
        </p:txBody>
      </p:sp>
      <p:sp>
        <p:nvSpPr>
          <p:cNvPr id="9" name="文本框 8"/>
          <p:cNvSpPr txBox="1"/>
          <p:nvPr/>
        </p:nvSpPr>
        <p:spPr>
          <a:xfrm>
            <a:off x="278297" y="779478"/>
            <a:ext cx="8323245" cy="5780493"/>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gn="l">
              <a:lnSpc>
                <a:spcPts val="3200"/>
              </a:lnSpc>
            </a:pPr>
            <a:r>
              <a:rPr lang="en-US" altLang="zh-CN" sz="1600" b="0" i="0" dirty="0">
                <a:effectLst/>
                <a:latin typeface="+mn-lt"/>
                <a:ea typeface="+mn-ea"/>
              </a:rPr>
              <a:t>[1]</a:t>
            </a:r>
            <a:r>
              <a:rPr lang="zh-CN" altLang="en-US" sz="1600" b="0" i="0" dirty="0">
                <a:effectLst/>
                <a:latin typeface="+mn-lt"/>
                <a:ea typeface="+mn-ea"/>
              </a:rPr>
              <a:t>李明强</a:t>
            </a:r>
            <a:r>
              <a:rPr lang="en-US" altLang="zh-CN" sz="1600" b="0" i="0" dirty="0">
                <a:effectLst/>
                <a:latin typeface="+mn-lt"/>
                <a:ea typeface="+mn-ea"/>
              </a:rPr>
              <a:t>. </a:t>
            </a:r>
            <a:r>
              <a:rPr lang="zh-CN" altLang="en-US" sz="1600" b="0" i="0" dirty="0">
                <a:effectLst/>
                <a:latin typeface="+mn-lt"/>
                <a:ea typeface="+mn-ea"/>
              </a:rPr>
              <a:t>磁盘阵列的纠删码技术研究</a:t>
            </a:r>
            <a:r>
              <a:rPr lang="en-US" altLang="zh-CN" sz="1600" b="0" i="0" dirty="0">
                <a:effectLst/>
                <a:latin typeface="+mn-lt"/>
                <a:ea typeface="+mn-ea"/>
              </a:rPr>
              <a:t>[D].</a:t>
            </a:r>
            <a:r>
              <a:rPr lang="zh-CN" altLang="en-US" sz="1600" b="0" i="0" dirty="0">
                <a:effectLst/>
                <a:latin typeface="+mn-lt"/>
                <a:ea typeface="+mn-ea"/>
              </a:rPr>
              <a:t>清华大学</a:t>
            </a:r>
            <a:r>
              <a:rPr lang="en-US" altLang="zh-CN" sz="1600" b="0" i="0" dirty="0">
                <a:effectLst/>
                <a:latin typeface="+mn-lt"/>
                <a:ea typeface="+mn-ea"/>
              </a:rPr>
              <a:t>,2011.5-10.</a:t>
            </a:r>
            <a:endParaRPr lang="en-US" altLang="zh-CN" sz="1600" b="0" i="0" dirty="0">
              <a:effectLst/>
              <a:latin typeface="+mn-lt"/>
              <a:ea typeface="+mn-ea"/>
            </a:endParaRPr>
          </a:p>
          <a:p>
            <a:pPr algn="l">
              <a:lnSpc>
                <a:spcPts val="3200"/>
              </a:lnSpc>
            </a:pPr>
            <a:r>
              <a:rPr lang="en-US" altLang="zh-CN" sz="1600" dirty="0">
                <a:latin typeface="+mn-lt"/>
                <a:ea typeface="+mn-ea"/>
              </a:rPr>
              <a:t>[2]</a:t>
            </a:r>
            <a:r>
              <a:rPr lang="zh-CN" altLang="en-US" sz="1600" dirty="0">
                <a:latin typeface="+mn-lt"/>
                <a:ea typeface="+mn-ea"/>
              </a:rPr>
              <a:t>慕建君</a:t>
            </a:r>
            <a:r>
              <a:rPr lang="en-US" altLang="zh-CN" sz="1600" dirty="0">
                <a:latin typeface="+mn-lt"/>
                <a:ea typeface="+mn-ea"/>
              </a:rPr>
              <a:t>,</a:t>
            </a:r>
            <a:r>
              <a:rPr lang="zh-CN" altLang="en-US" sz="1600" dirty="0">
                <a:latin typeface="+mn-lt"/>
                <a:ea typeface="+mn-ea"/>
              </a:rPr>
              <a:t>路成业</a:t>
            </a:r>
            <a:r>
              <a:rPr lang="en-US" altLang="zh-CN" sz="1600" dirty="0">
                <a:latin typeface="+mn-lt"/>
                <a:ea typeface="+mn-ea"/>
              </a:rPr>
              <a:t>,</a:t>
            </a:r>
            <a:r>
              <a:rPr lang="zh-CN" altLang="en-US" sz="1600" dirty="0">
                <a:latin typeface="+mn-lt"/>
                <a:ea typeface="+mn-ea"/>
              </a:rPr>
              <a:t>王新梅</a:t>
            </a:r>
            <a:r>
              <a:rPr lang="en-US" altLang="zh-CN" sz="1600" dirty="0">
                <a:latin typeface="+mn-lt"/>
                <a:ea typeface="+mn-ea"/>
              </a:rPr>
              <a:t>.</a:t>
            </a:r>
            <a:r>
              <a:rPr lang="zh-CN" altLang="en-US" sz="1600" dirty="0">
                <a:latin typeface="+mn-lt"/>
                <a:ea typeface="+mn-ea"/>
              </a:rPr>
              <a:t>关于纠删码的研究与进展</a:t>
            </a:r>
            <a:r>
              <a:rPr lang="en-US" altLang="zh-CN" sz="1600" dirty="0">
                <a:latin typeface="+mn-lt"/>
                <a:ea typeface="+mn-ea"/>
              </a:rPr>
              <a:t>[J].</a:t>
            </a:r>
            <a:r>
              <a:rPr lang="zh-CN" altLang="en-US" sz="1600" dirty="0">
                <a:latin typeface="+mn-lt"/>
                <a:ea typeface="+mn-ea"/>
              </a:rPr>
              <a:t>电子与信息学报</a:t>
            </a:r>
            <a:r>
              <a:rPr lang="en-US" altLang="zh-CN" sz="1600" dirty="0">
                <a:latin typeface="+mn-lt"/>
                <a:ea typeface="+mn-ea"/>
              </a:rPr>
              <a:t>,2002(09):1276-1281.</a:t>
            </a:r>
            <a:endParaRPr lang="en-US" altLang="zh-CN" sz="1600" dirty="0">
              <a:latin typeface="+mn-lt"/>
              <a:ea typeface="+mn-ea"/>
            </a:endParaRPr>
          </a:p>
          <a:p>
            <a:pPr algn="l">
              <a:lnSpc>
                <a:spcPts val="3200"/>
              </a:lnSpc>
            </a:pPr>
            <a:r>
              <a:rPr lang="en-US" altLang="zh-CN" sz="1600" b="0" i="0" dirty="0">
                <a:effectLst/>
                <a:latin typeface="+mn-lt"/>
                <a:ea typeface="+mn-ea"/>
              </a:rPr>
              <a:t>[3]</a:t>
            </a:r>
            <a:r>
              <a:rPr lang="en-US" altLang="zh-CN" sz="1600" dirty="0">
                <a:latin typeface="+mn-lt"/>
                <a:ea typeface="+mn-ea"/>
              </a:rPr>
              <a:t>James S. Plank.</a:t>
            </a:r>
            <a:r>
              <a:rPr lang="fr-FR" altLang="zh-CN" sz="1600" dirty="0">
                <a:latin typeface="+mn-lt"/>
                <a:ea typeface="+mn-ea"/>
              </a:rPr>
              <a:t> T1: Erasure Codes for Storage Applications[D].2005.</a:t>
            </a:r>
            <a:endParaRPr lang="fr-FR" altLang="zh-CN" sz="1600" dirty="0">
              <a:latin typeface="+mn-lt"/>
              <a:ea typeface="+mn-ea"/>
            </a:endParaRPr>
          </a:p>
          <a:p>
            <a:pPr algn="l">
              <a:lnSpc>
                <a:spcPts val="3200"/>
              </a:lnSpc>
            </a:pPr>
            <a:r>
              <a:rPr lang="fr-FR" altLang="zh-CN" sz="1600" dirty="0">
                <a:latin typeface="+mn-lt"/>
                <a:ea typeface="+mn-ea"/>
              </a:rPr>
              <a:t>[4]</a:t>
            </a:r>
            <a:r>
              <a:rPr lang="zh-CN" altLang="en-US" sz="1600" dirty="0">
                <a:latin typeface="+mn-lt"/>
                <a:ea typeface="+mn-ea"/>
              </a:rPr>
              <a:t>陶德元</a:t>
            </a:r>
            <a:r>
              <a:rPr lang="en-US" altLang="zh-CN" sz="1600" dirty="0">
                <a:latin typeface="+mn-lt"/>
                <a:ea typeface="+mn-ea"/>
              </a:rPr>
              <a:t>,</a:t>
            </a:r>
            <a:r>
              <a:rPr lang="zh-CN" altLang="en-US" sz="1600" dirty="0">
                <a:latin typeface="+mn-lt"/>
                <a:ea typeface="+mn-ea"/>
              </a:rPr>
              <a:t>何小海</a:t>
            </a:r>
            <a:r>
              <a:rPr lang="en-US" altLang="zh-CN" sz="1600" dirty="0">
                <a:latin typeface="+mn-lt"/>
                <a:ea typeface="+mn-ea"/>
              </a:rPr>
              <a:t>,</a:t>
            </a:r>
            <a:r>
              <a:rPr lang="zh-CN" altLang="en-US" sz="1600" dirty="0">
                <a:latin typeface="+mn-lt"/>
                <a:ea typeface="+mn-ea"/>
              </a:rPr>
              <a:t>吴志华</a:t>
            </a:r>
            <a:r>
              <a:rPr lang="en-US" altLang="zh-CN" sz="1600" dirty="0">
                <a:latin typeface="+mn-lt"/>
                <a:ea typeface="+mn-ea"/>
              </a:rPr>
              <a:t>.RS</a:t>
            </a:r>
            <a:r>
              <a:rPr lang="zh-CN" altLang="en-US" sz="1600" dirty="0">
                <a:latin typeface="+mn-lt"/>
                <a:ea typeface="+mn-ea"/>
              </a:rPr>
              <a:t>码编译码算法的实现</a:t>
            </a:r>
            <a:r>
              <a:rPr lang="en-US" altLang="zh-CN" sz="1600" dirty="0">
                <a:latin typeface="+mn-lt"/>
                <a:ea typeface="+mn-ea"/>
              </a:rPr>
              <a:t>[J].</a:t>
            </a:r>
            <a:r>
              <a:rPr lang="zh-CN" altLang="en-US" sz="1600" dirty="0">
                <a:latin typeface="+mn-lt"/>
                <a:ea typeface="+mn-ea"/>
              </a:rPr>
              <a:t>四川大学学报</a:t>
            </a:r>
            <a:r>
              <a:rPr lang="en-US" altLang="zh-CN" sz="1600" dirty="0">
                <a:latin typeface="+mn-lt"/>
                <a:ea typeface="+mn-ea"/>
              </a:rPr>
              <a:t>(</a:t>
            </a:r>
            <a:r>
              <a:rPr lang="zh-CN" altLang="en-US" sz="1600" dirty="0">
                <a:latin typeface="+mn-lt"/>
                <a:ea typeface="+mn-ea"/>
              </a:rPr>
              <a:t>自然科学</a:t>
            </a:r>
            <a:r>
              <a:rPr lang="en-US" altLang="zh-CN" sz="1600" dirty="0">
                <a:latin typeface="+mn-lt"/>
                <a:ea typeface="+mn-ea"/>
              </a:rPr>
              <a:t>),2000(06):868-872.</a:t>
            </a:r>
            <a:endParaRPr lang="en-US" altLang="zh-CN" sz="1600" dirty="0">
              <a:latin typeface="+mn-lt"/>
              <a:ea typeface="+mn-ea"/>
            </a:endParaRPr>
          </a:p>
          <a:p>
            <a:pPr algn="l">
              <a:lnSpc>
                <a:spcPts val="3200"/>
              </a:lnSpc>
            </a:pPr>
            <a:r>
              <a:rPr lang="en-US" altLang="zh-CN" sz="1600" dirty="0">
                <a:latin typeface="+mn-lt"/>
                <a:ea typeface="+mn-ea"/>
              </a:rPr>
              <a:t>[5]</a:t>
            </a:r>
            <a:r>
              <a:rPr lang="zh-CN" altLang="en-US" sz="1600" dirty="0">
                <a:latin typeface="+mn-lt"/>
                <a:ea typeface="+mn-ea"/>
              </a:rPr>
              <a:t>鲁芳旭</a:t>
            </a:r>
            <a:r>
              <a:rPr lang="en-US" altLang="zh-CN" sz="1600" dirty="0">
                <a:latin typeface="+mn-lt"/>
                <a:ea typeface="+mn-ea"/>
              </a:rPr>
              <a:t>,</a:t>
            </a:r>
            <a:r>
              <a:rPr lang="zh-CN" altLang="en-US" sz="1600" dirty="0">
                <a:latin typeface="+mn-lt"/>
                <a:ea typeface="+mn-ea"/>
              </a:rPr>
              <a:t>刘翠海</a:t>
            </a:r>
            <a:r>
              <a:rPr lang="en-US" altLang="zh-CN" sz="1600" dirty="0">
                <a:latin typeface="+mn-lt"/>
                <a:ea typeface="+mn-ea"/>
              </a:rPr>
              <a:t>.RS</a:t>
            </a:r>
            <a:r>
              <a:rPr lang="zh-CN" altLang="en-US" sz="1600" dirty="0">
                <a:latin typeface="+mn-lt"/>
                <a:ea typeface="+mn-ea"/>
              </a:rPr>
              <a:t>码的性能分析与仿真</a:t>
            </a:r>
            <a:r>
              <a:rPr lang="en-US" altLang="zh-CN" sz="1600" dirty="0">
                <a:latin typeface="+mn-lt"/>
                <a:ea typeface="+mn-ea"/>
              </a:rPr>
              <a:t>[J].</a:t>
            </a:r>
            <a:r>
              <a:rPr lang="zh-CN" altLang="en-US" sz="1600" dirty="0">
                <a:latin typeface="+mn-lt"/>
                <a:ea typeface="+mn-ea"/>
              </a:rPr>
              <a:t>数字技术与应用</a:t>
            </a:r>
            <a:r>
              <a:rPr lang="en-US" altLang="zh-CN" sz="1600" dirty="0">
                <a:latin typeface="+mn-lt"/>
                <a:ea typeface="+mn-ea"/>
              </a:rPr>
              <a:t>,2020,38(08):25-27.</a:t>
            </a:r>
            <a:endParaRPr lang="en-US" altLang="zh-CN" sz="1600" dirty="0">
              <a:latin typeface="+mn-lt"/>
              <a:ea typeface="+mn-ea"/>
            </a:endParaRPr>
          </a:p>
          <a:p>
            <a:pPr algn="l">
              <a:lnSpc>
                <a:spcPts val="3200"/>
              </a:lnSpc>
            </a:pPr>
            <a:r>
              <a:rPr lang="en-US" altLang="zh-CN" sz="1600" dirty="0">
                <a:latin typeface="+mn-lt"/>
                <a:ea typeface="+mn-ea"/>
              </a:rPr>
              <a:t>[6]</a:t>
            </a:r>
            <a:r>
              <a:rPr lang="zh-CN" altLang="en-US" sz="1600" dirty="0">
                <a:latin typeface="+mn-lt"/>
                <a:ea typeface="+mn-ea"/>
              </a:rPr>
              <a:t>黄上耀</a:t>
            </a:r>
            <a:r>
              <a:rPr lang="en-US" altLang="zh-CN" sz="1600" dirty="0">
                <a:latin typeface="+mn-lt"/>
                <a:ea typeface="+mn-ea"/>
              </a:rPr>
              <a:t>. </a:t>
            </a:r>
            <a:r>
              <a:rPr lang="zh-CN" altLang="en-US" sz="1600" dirty="0">
                <a:latin typeface="+mn-lt"/>
                <a:ea typeface="+mn-ea"/>
              </a:rPr>
              <a:t>分布式存储系统的</a:t>
            </a:r>
            <a:r>
              <a:rPr lang="en-US" altLang="zh-CN" sz="1600" dirty="0">
                <a:latin typeface="+mn-lt"/>
                <a:ea typeface="+mn-ea"/>
              </a:rPr>
              <a:t>MDS</a:t>
            </a:r>
            <a:r>
              <a:rPr lang="zh-CN" altLang="en-US" sz="1600" dirty="0">
                <a:latin typeface="+mn-lt"/>
                <a:ea typeface="+mn-ea"/>
              </a:rPr>
              <a:t>阵列码的研究</a:t>
            </a:r>
            <a:r>
              <a:rPr lang="en-US" altLang="zh-CN" sz="1600" dirty="0">
                <a:latin typeface="+mn-lt"/>
                <a:ea typeface="+mn-ea"/>
              </a:rPr>
              <a:t>[D].</a:t>
            </a:r>
            <a:r>
              <a:rPr lang="zh-CN" altLang="en-US" sz="1600" dirty="0">
                <a:latin typeface="+mn-lt"/>
                <a:ea typeface="+mn-ea"/>
              </a:rPr>
              <a:t>华南理工大学</a:t>
            </a:r>
            <a:r>
              <a:rPr lang="en-US" altLang="zh-CN" sz="1600" dirty="0">
                <a:latin typeface="+mn-lt"/>
                <a:ea typeface="+mn-ea"/>
              </a:rPr>
              <a:t>,2019.8-9.</a:t>
            </a:r>
            <a:endParaRPr lang="en-US" altLang="zh-CN" sz="1600" dirty="0">
              <a:latin typeface="+mn-lt"/>
              <a:ea typeface="+mn-ea"/>
            </a:endParaRPr>
          </a:p>
          <a:p>
            <a:pPr algn="l">
              <a:lnSpc>
                <a:spcPts val="3200"/>
              </a:lnSpc>
            </a:pPr>
            <a:r>
              <a:rPr lang="en-US" altLang="zh-CN" sz="1600" dirty="0">
                <a:latin typeface="+mn-lt"/>
                <a:ea typeface="+mn-ea"/>
              </a:rPr>
              <a:t>[7](41</a:t>
            </a:r>
            <a:r>
              <a:rPr lang="zh-CN" altLang="en-US" sz="1600" dirty="0">
                <a:latin typeface="+mn-lt"/>
                <a:ea typeface="+mn-ea"/>
              </a:rPr>
              <a:t>条消息</a:t>
            </a:r>
            <a:r>
              <a:rPr lang="en-US" altLang="zh-CN" sz="1600" dirty="0">
                <a:latin typeface="+mn-lt"/>
                <a:ea typeface="+mn-ea"/>
              </a:rPr>
              <a:t>) </a:t>
            </a:r>
            <a:r>
              <a:rPr lang="zh-CN" altLang="en-US" sz="1600" dirty="0">
                <a:latin typeface="+mn-lt"/>
                <a:ea typeface="+mn-ea"/>
              </a:rPr>
              <a:t>分布式系统下的纠删码技术（一） </a:t>
            </a:r>
            <a:r>
              <a:rPr lang="en-US" altLang="zh-CN" sz="1600" dirty="0">
                <a:latin typeface="+mn-lt"/>
                <a:ea typeface="+mn-ea"/>
              </a:rPr>
              <a:t>-- Erasure Code (EC)_Pilgrim-CSDN</a:t>
            </a:r>
            <a:r>
              <a:rPr lang="zh-CN" altLang="en-US" sz="1600" dirty="0">
                <a:latin typeface="+mn-lt"/>
                <a:ea typeface="+mn-ea"/>
              </a:rPr>
              <a:t>博客</a:t>
            </a:r>
            <a:r>
              <a:rPr lang="en-US" altLang="zh-CN" sz="1600" dirty="0">
                <a:latin typeface="+mn-lt"/>
                <a:ea typeface="+mn-ea"/>
              </a:rPr>
              <a:t>_</a:t>
            </a:r>
            <a:r>
              <a:rPr lang="zh-CN" altLang="en-US" sz="1600" dirty="0">
                <a:latin typeface="+mn-lt"/>
                <a:ea typeface="+mn-ea"/>
              </a:rPr>
              <a:t>纠删码</a:t>
            </a:r>
            <a:r>
              <a:rPr lang="en-US" altLang="zh-CN" sz="1600" dirty="0">
                <a:latin typeface="+mn-lt"/>
                <a:ea typeface="+mn-ea"/>
              </a:rPr>
              <a:t>.https://blog.csdn.net/u011026968/article/details/52295666</a:t>
            </a:r>
            <a:endParaRPr lang="en-US" altLang="zh-CN" sz="1600" dirty="0">
              <a:latin typeface="+mn-lt"/>
              <a:ea typeface="+mn-ea"/>
            </a:endParaRPr>
          </a:p>
          <a:p>
            <a:pPr algn="l">
              <a:lnSpc>
                <a:spcPts val="3200"/>
              </a:lnSpc>
            </a:pPr>
            <a:r>
              <a:rPr lang="en-US" altLang="zh-CN" sz="1600" dirty="0">
                <a:latin typeface="+mn-lt"/>
                <a:ea typeface="+mn-ea"/>
              </a:rPr>
              <a:t>[8](41</a:t>
            </a:r>
            <a:r>
              <a:rPr lang="zh-CN" altLang="en-US" sz="1600" dirty="0">
                <a:latin typeface="+mn-lt"/>
                <a:ea typeface="+mn-ea"/>
              </a:rPr>
              <a:t>条消息</a:t>
            </a:r>
            <a:r>
              <a:rPr lang="en-US" altLang="zh-CN" sz="1600" dirty="0">
                <a:latin typeface="+mn-lt"/>
                <a:ea typeface="+mn-ea"/>
              </a:rPr>
              <a:t>) </a:t>
            </a:r>
            <a:r>
              <a:rPr lang="zh-CN" altLang="en-US" sz="1600" dirty="0">
                <a:latin typeface="+mn-lt"/>
                <a:ea typeface="+mn-ea"/>
              </a:rPr>
              <a:t>纠删码：定义及常见类型</a:t>
            </a:r>
            <a:r>
              <a:rPr lang="en-US" altLang="zh-CN" sz="1600" dirty="0">
                <a:latin typeface="+mn-lt"/>
                <a:ea typeface="+mn-ea"/>
              </a:rPr>
              <a:t>_</a:t>
            </a:r>
            <a:r>
              <a:rPr lang="zh-CN" altLang="en-US" sz="1600" dirty="0">
                <a:latin typeface="+mn-lt"/>
                <a:ea typeface="+mn-ea"/>
              </a:rPr>
              <a:t>发展是曲折的但也是前进的</a:t>
            </a:r>
            <a:r>
              <a:rPr lang="en-US" altLang="zh-CN" sz="1600" dirty="0">
                <a:latin typeface="+mn-lt"/>
                <a:ea typeface="+mn-ea"/>
              </a:rPr>
              <a:t>-CSDN</a:t>
            </a:r>
            <a:r>
              <a:rPr lang="zh-CN" altLang="en-US" sz="1600" dirty="0">
                <a:latin typeface="+mn-lt"/>
                <a:ea typeface="+mn-ea"/>
              </a:rPr>
              <a:t>博客</a:t>
            </a:r>
            <a:r>
              <a:rPr lang="en-US" altLang="zh-CN" sz="1600" dirty="0">
                <a:latin typeface="+mn-lt"/>
                <a:ea typeface="+mn-ea"/>
              </a:rPr>
              <a:t>.https://blog.</a:t>
            </a:r>
            <a:endParaRPr lang="en-US" altLang="zh-CN" sz="1600" dirty="0">
              <a:latin typeface="+mn-lt"/>
              <a:ea typeface="+mn-ea"/>
            </a:endParaRPr>
          </a:p>
          <a:p>
            <a:pPr algn="l">
              <a:lnSpc>
                <a:spcPts val="3200"/>
              </a:lnSpc>
            </a:pPr>
            <a:r>
              <a:rPr lang="en-US" altLang="zh-CN" sz="1600" dirty="0">
                <a:latin typeface="+mn-lt"/>
                <a:ea typeface="+mn-ea"/>
              </a:rPr>
              <a:t>csdn.net/CNHK1225/article/details/53385604</a:t>
            </a:r>
            <a:endParaRPr lang="en-US" altLang="zh-CN" sz="1600" dirty="0">
              <a:latin typeface="+mn-lt"/>
              <a:ea typeface="+mn-ea"/>
            </a:endParaRPr>
          </a:p>
          <a:p>
            <a:pPr algn="l">
              <a:lnSpc>
                <a:spcPts val="3200"/>
              </a:lnSpc>
            </a:pPr>
            <a:r>
              <a:rPr lang="en-US" altLang="zh-CN" sz="1600" dirty="0">
                <a:latin typeface="+mn-lt"/>
                <a:ea typeface="+mn-ea"/>
              </a:rPr>
              <a:t>[9]</a:t>
            </a:r>
            <a:r>
              <a:rPr lang="zh-CN" altLang="en-US" sz="1600" dirty="0">
                <a:latin typeface="+mn-lt"/>
                <a:ea typeface="+mn-ea"/>
              </a:rPr>
              <a:t>纠删码简介 </a:t>
            </a:r>
            <a:r>
              <a:rPr lang="en-US" altLang="zh-CN" sz="1600" dirty="0">
                <a:latin typeface="+mn-lt"/>
                <a:ea typeface="+mn-ea"/>
              </a:rPr>
              <a:t>- </a:t>
            </a:r>
            <a:r>
              <a:rPr lang="zh-CN" altLang="en-US" sz="1600" dirty="0">
                <a:latin typeface="+mn-lt"/>
                <a:ea typeface="+mn-ea"/>
              </a:rPr>
              <a:t>小白的个人总结 </a:t>
            </a:r>
            <a:r>
              <a:rPr lang="en-US" altLang="zh-CN" sz="1600" dirty="0">
                <a:latin typeface="+mn-lt"/>
                <a:ea typeface="+mn-ea"/>
              </a:rPr>
              <a:t>- </a:t>
            </a:r>
            <a:r>
              <a:rPr lang="zh-CN" altLang="en-US" sz="1600" dirty="0">
                <a:latin typeface="+mn-lt"/>
                <a:ea typeface="+mn-ea"/>
              </a:rPr>
              <a:t>博客园 </a:t>
            </a:r>
            <a:r>
              <a:rPr lang="en-US" altLang="zh-CN" sz="1600" dirty="0">
                <a:latin typeface="+mn-lt"/>
                <a:ea typeface="+mn-ea"/>
              </a:rPr>
              <a:t>(cnblogs.com). https://www.cnblogs.com/Robin5/p/11</a:t>
            </a:r>
            <a:endParaRPr lang="en-US" altLang="zh-CN" sz="1600" dirty="0">
              <a:latin typeface="+mn-lt"/>
              <a:ea typeface="+mn-ea"/>
            </a:endParaRPr>
          </a:p>
          <a:p>
            <a:pPr algn="l">
              <a:lnSpc>
                <a:spcPts val="3200"/>
              </a:lnSpc>
            </a:pPr>
            <a:r>
              <a:rPr lang="en-US" altLang="zh-CN" sz="1600" dirty="0">
                <a:latin typeface="+mn-lt"/>
                <a:ea typeface="+mn-ea"/>
              </a:rPr>
              <a:t>710005.html</a:t>
            </a:r>
            <a:endParaRPr lang="en-US" altLang="zh-CN" sz="1600" dirty="0">
              <a:latin typeface="+mn-lt"/>
              <a:ea typeface="+mn-ea"/>
            </a:endParaRPr>
          </a:p>
          <a:p>
            <a:pPr algn="l">
              <a:lnSpc>
                <a:spcPts val="3200"/>
              </a:lnSpc>
            </a:pPr>
            <a:r>
              <a:rPr lang="en-US" altLang="zh-CN" sz="1600" dirty="0"/>
              <a:t>[10]</a:t>
            </a:r>
            <a:r>
              <a:rPr lang="en-US" altLang="zh-CN" sz="1400" dirty="0"/>
              <a:t> </a:t>
            </a:r>
            <a:r>
              <a:rPr lang="en-US" altLang="zh-CN" sz="1600" dirty="0"/>
              <a:t>Erasure Code(</a:t>
            </a:r>
            <a:r>
              <a:rPr lang="zh-CN" altLang="en-US" sz="1600" dirty="0"/>
              <a:t>纠删码 </a:t>
            </a:r>
            <a:r>
              <a:rPr lang="en-US" altLang="zh-CN" sz="1600" dirty="0"/>
              <a:t>- </a:t>
            </a:r>
            <a:r>
              <a:rPr lang="zh-CN" altLang="en-US" sz="1600" dirty="0"/>
              <a:t>豆丁网 </a:t>
            </a:r>
            <a:r>
              <a:rPr lang="en-US" altLang="zh-CN" sz="1600" dirty="0"/>
              <a:t>(docin.com). https://www.docin.com/p-1130266905.html</a:t>
            </a:r>
            <a:endParaRPr lang="en-US" altLang="zh-CN" sz="16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39920" y="60813"/>
            <a:ext cx="4512945" cy="685800"/>
          </a:xfrm>
        </p:spPr>
        <p:txBody>
          <a:bodyPr/>
          <a:lstStyle/>
          <a:p>
            <a:r>
              <a:rPr lang="zh-CN" altLang="en-US" sz="2400" dirty="0">
                <a:sym typeface="+mn-ea"/>
              </a:rPr>
              <a:t>参考文献</a:t>
            </a:r>
            <a:endParaRPr lang="zh-CN" altLang="en-US" sz="2400" dirty="0">
              <a:sym typeface="+mn-ea"/>
            </a:endParaRPr>
          </a:p>
        </p:txBody>
      </p:sp>
      <p:sp>
        <p:nvSpPr>
          <p:cNvPr id="9" name="文本框 8"/>
          <p:cNvSpPr txBox="1"/>
          <p:nvPr/>
        </p:nvSpPr>
        <p:spPr>
          <a:xfrm>
            <a:off x="278297" y="914466"/>
            <a:ext cx="8323245" cy="5370124"/>
          </a:xfrm>
          <a:prstGeom prst="rect">
            <a:avLst/>
          </a:prstGeom>
          <a:noFill/>
        </p:spPr>
        <p:txBody>
          <a:bodyPr wrap="square" rtlCol="0" anchor="t">
            <a:spAutoFit/>
          </a:bodyPr>
          <a:lstStyle>
            <a:defPPr>
              <a:defRPr lang="zh-CN"/>
            </a:defPPr>
            <a:lvl1pPr algn="just">
              <a:lnSpc>
                <a:spcPts val="2900"/>
              </a:lnSpc>
              <a:defRPr sz="2000">
                <a:uFillTx/>
                <a:latin typeface="Times New Roman" panose="02020603050405020304" pitchFamily="18" charset="0"/>
                <a:ea typeface="黑体" panose="02010609060101010101" pitchFamily="49" charset="-122"/>
              </a:defRPr>
            </a:lvl1pPr>
          </a:lstStyle>
          <a:p>
            <a:pPr algn="l">
              <a:lnSpc>
                <a:spcPts val="3200"/>
              </a:lnSpc>
            </a:pPr>
            <a:r>
              <a:rPr lang="en-US" altLang="zh-CN" sz="1600" dirty="0">
                <a:latin typeface="+mn-lt"/>
                <a:ea typeface="+mn-ea"/>
              </a:rPr>
              <a:t>[11]</a:t>
            </a:r>
            <a:r>
              <a:rPr lang="zh-CN" altLang="en-US" sz="1600" dirty="0">
                <a:latin typeface="+mn-lt"/>
                <a:ea typeface="+mn-ea"/>
              </a:rPr>
              <a:t>纠删码 </a:t>
            </a:r>
            <a:r>
              <a:rPr lang="en-US" altLang="zh-CN" sz="1600" dirty="0">
                <a:latin typeface="+mn-lt"/>
                <a:ea typeface="+mn-ea"/>
              </a:rPr>
              <a:t>Erasure Code - </a:t>
            </a:r>
            <a:r>
              <a:rPr lang="zh-CN" altLang="en-US" sz="1600" dirty="0">
                <a:latin typeface="+mn-lt"/>
                <a:ea typeface="+mn-ea"/>
              </a:rPr>
              <a:t>知乎 </a:t>
            </a:r>
            <a:r>
              <a:rPr lang="en-US" altLang="zh-CN" sz="1600" dirty="0">
                <a:latin typeface="+mn-lt"/>
                <a:ea typeface="+mn-ea"/>
              </a:rPr>
              <a:t>(zhihu.com). https://zhuanlan.zhihu.com/p/69374970</a:t>
            </a:r>
            <a:endParaRPr lang="zh-CN" altLang="en-US" sz="1600" dirty="0">
              <a:latin typeface="+mn-lt"/>
              <a:ea typeface="+mn-ea"/>
            </a:endParaRPr>
          </a:p>
          <a:p>
            <a:pPr algn="l">
              <a:lnSpc>
                <a:spcPts val="3200"/>
              </a:lnSpc>
            </a:pPr>
            <a:r>
              <a:rPr lang="en-US" altLang="zh-CN" sz="1600" b="0" i="0" dirty="0">
                <a:effectLst/>
                <a:latin typeface="+mn-lt"/>
                <a:ea typeface="+mn-ea"/>
              </a:rPr>
              <a:t>[12]</a:t>
            </a:r>
            <a:r>
              <a:rPr lang="en-US" altLang="zh-CN" sz="1600" dirty="0">
                <a:latin typeface="+mn-lt"/>
                <a:ea typeface="+mn-ea"/>
              </a:rPr>
              <a:t>(41</a:t>
            </a:r>
            <a:r>
              <a:rPr lang="zh-CN" altLang="en-US" sz="1600" dirty="0">
                <a:latin typeface="+mn-lt"/>
                <a:ea typeface="+mn-ea"/>
              </a:rPr>
              <a:t>条消息</a:t>
            </a:r>
            <a:r>
              <a:rPr lang="en-US" altLang="zh-CN" sz="1600" dirty="0">
                <a:latin typeface="+mn-lt"/>
                <a:ea typeface="+mn-ea"/>
              </a:rPr>
              <a:t>) </a:t>
            </a:r>
            <a:r>
              <a:rPr lang="zh-CN" altLang="en-US" sz="1600" dirty="0">
                <a:latin typeface="+mn-lt"/>
                <a:ea typeface="+mn-ea"/>
              </a:rPr>
              <a:t>伽罗华域</a:t>
            </a:r>
            <a:r>
              <a:rPr lang="en-US" altLang="zh-CN" sz="1600" dirty="0">
                <a:latin typeface="+mn-lt"/>
                <a:ea typeface="+mn-ea"/>
              </a:rPr>
              <a:t>(Galois Field)</a:t>
            </a:r>
            <a:r>
              <a:rPr lang="zh-CN" altLang="en-US" sz="1600" dirty="0">
                <a:latin typeface="+mn-lt"/>
                <a:ea typeface="+mn-ea"/>
              </a:rPr>
              <a:t>上的四则运算</a:t>
            </a:r>
            <a:r>
              <a:rPr lang="en-US" altLang="zh-CN" sz="1600" dirty="0">
                <a:latin typeface="+mn-lt"/>
                <a:ea typeface="+mn-ea"/>
              </a:rPr>
              <a:t>_</a:t>
            </a:r>
            <a:r>
              <a:rPr lang="en-US" altLang="zh-CN" sz="1600" dirty="0" err="1">
                <a:latin typeface="+mn-lt"/>
                <a:ea typeface="+mn-ea"/>
              </a:rPr>
              <a:t>shelldon</a:t>
            </a:r>
            <a:r>
              <a:rPr lang="zh-CN" altLang="en-US" sz="1600" dirty="0">
                <a:latin typeface="+mn-lt"/>
                <a:ea typeface="+mn-ea"/>
              </a:rPr>
              <a:t>的专栏</a:t>
            </a:r>
            <a:r>
              <a:rPr lang="en-US" altLang="zh-CN" sz="1600" dirty="0">
                <a:latin typeface="+mn-lt"/>
                <a:ea typeface="+mn-ea"/>
              </a:rPr>
              <a:t>-CSDN</a:t>
            </a:r>
            <a:r>
              <a:rPr lang="zh-CN" altLang="en-US" sz="1600" dirty="0">
                <a:latin typeface="+mn-lt"/>
                <a:ea typeface="+mn-ea"/>
              </a:rPr>
              <a:t>博客</a:t>
            </a:r>
            <a:r>
              <a:rPr lang="en-US" altLang="zh-CN" sz="1600" dirty="0">
                <a:latin typeface="+mn-lt"/>
                <a:ea typeface="+mn-ea"/>
              </a:rPr>
              <a:t>_</a:t>
            </a:r>
            <a:r>
              <a:rPr lang="zh-CN" altLang="en-US" sz="1600" dirty="0">
                <a:latin typeface="+mn-lt"/>
                <a:ea typeface="+mn-ea"/>
              </a:rPr>
              <a:t>伽罗华域</a:t>
            </a:r>
            <a:r>
              <a:rPr lang="en-US" altLang="zh-CN" sz="1600" dirty="0">
                <a:latin typeface="+mn-lt"/>
                <a:ea typeface="+mn-ea"/>
              </a:rPr>
              <a:t>.</a:t>
            </a:r>
            <a:endParaRPr lang="en-US" altLang="zh-CN" sz="1600" dirty="0">
              <a:latin typeface="+mn-lt"/>
              <a:ea typeface="+mn-ea"/>
            </a:endParaRPr>
          </a:p>
          <a:p>
            <a:pPr algn="l">
              <a:lnSpc>
                <a:spcPts val="3200"/>
              </a:lnSpc>
            </a:pPr>
            <a:r>
              <a:rPr lang="en-US" altLang="zh-CN" sz="1600" dirty="0">
                <a:latin typeface="+mn-lt"/>
                <a:ea typeface="+mn-ea"/>
              </a:rPr>
              <a:t>https://blog.csdn.net/shelldon/article/details/54729687</a:t>
            </a:r>
            <a:endParaRPr lang="en-US" altLang="zh-CN" sz="1600" dirty="0">
              <a:latin typeface="+mn-lt"/>
              <a:ea typeface="+mn-ea"/>
            </a:endParaRPr>
          </a:p>
          <a:p>
            <a:pPr algn="l">
              <a:lnSpc>
                <a:spcPts val="3200"/>
              </a:lnSpc>
            </a:pPr>
            <a:r>
              <a:rPr lang="en-US" altLang="zh-CN" sz="1600" dirty="0">
                <a:latin typeface="+mn-lt"/>
                <a:ea typeface="+mn-ea"/>
              </a:rPr>
              <a:t>[13]</a:t>
            </a:r>
            <a:r>
              <a:rPr lang="zh-CN" altLang="en-US" sz="1600" dirty="0">
                <a:latin typeface="+mn-lt"/>
                <a:ea typeface="+mn-ea"/>
              </a:rPr>
              <a:t>孙伟平</a:t>
            </a:r>
            <a:r>
              <a:rPr lang="en-US" altLang="zh-CN" sz="1600" dirty="0">
                <a:latin typeface="+mn-lt"/>
                <a:ea typeface="+mn-ea"/>
              </a:rPr>
              <a:t>,</a:t>
            </a:r>
            <a:r>
              <a:rPr lang="zh-CN" altLang="en-US" sz="1600" dirty="0">
                <a:latin typeface="+mn-lt"/>
                <a:ea typeface="+mn-ea"/>
              </a:rPr>
              <a:t>汤毅凡</a:t>
            </a:r>
            <a:r>
              <a:rPr lang="en-US" altLang="zh-CN" sz="1600" dirty="0">
                <a:latin typeface="+mn-lt"/>
                <a:ea typeface="+mn-ea"/>
              </a:rPr>
              <a:t>.</a:t>
            </a:r>
            <a:r>
              <a:rPr lang="zh-CN" altLang="en-US" sz="1600" dirty="0">
                <a:latin typeface="+mn-lt"/>
                <a:ea typeface="+mn-ea"/>
              </a:rPr>
              <a:t>基于</a:t>
            </a:r>
            <a:r>
              <a:rPr lang="en-US" altLang="zh-CN" sz="1600" dirty="0">
                <a:latin typeface="+mn-lt"/>
                <a:ea typeface="+mn-ea"/>
              </a:rPr>
              <a:t>Tornado</a:t>
            </a:r>
            <a:r>
              <a:rPr lang="zh-CN" altLang="en-US" sz="1600" dirty="0">
                <a:latin typeface="+mn-lt"/>
                <a:ea typeface="+mn-ea"/>
              </a:rPr>
              <a:t>码的存储冗余算法研究</a:t>
            </a:r>
            <a:r>
              <a:rPr lang="en-US" altLang="zh-CN" sz="1600" dirty="0">
                <a:latin typeface="+mn-lt"/>
                <a:ea typeface="+mn-ea"/>
              </a:rPr>
              <a:t>[J].</a:t>
            </a:r>
            <a:r>
              <a:rPr lang="zh-CN" altLang="en-US" sz="1600" dirty="0">
                <a:latin typeface="+mn-lt"/>
                <a:ea typeface="+mn-ea"/>
              </a:rPr>
              <a:t>微处理机</a:t>
            </a:r>
            <a:r>
              <a:rPr lang="en-US" altLang="zh-CN" sz="1600" dirty="0">
                <a:latin typeface="+mn-lt"/>
                <a:ea typeface="+mn-ea"/>
              </a:rPr>
              <a:t>,2008(0 29)002.71-74.</a:t>
            </a:r>
            <a:endParaRPr lang="en-US" altLang="zh-CN" sz="1600" dirty="0">
              <a:latin typeface="+mn-lt"/>
              <a:ea typeface="+mn-ea"/>
            </a:endParaRPr>
          </a:p>
          <a:p>
            <a:pPr algn="l">
              <a:lnSpc>
                <a:spcPts val="3200"/>
              </a:lnSpc>
            </a:pPr>
            <a:r>
              <a:rPr lang="en-US" altLang="zh-CN" sz="1600" dirty="0">
                <a:latin typeface="+mn-lt"/>
                <a:ea typeface="+mn-ea"/>
              </a:rPr>
              <a:t>[14]3</a:t>
            </a:r>
            <a:r>
              <a:rPr lang="zh-CN" altLang="en-US" sz="1600" dirty="0">
                <a:latin typeface="+mn-lt"/>
                <a:ea typeface="+mn-ea"/>
              </a:rPr>
              <a:t>、随机线性喷泉码</a:t>
            </a:r>
            <a:r>
              <a:rPr lang="en-US" altLang="zh-CN" sz="1600" dirty="0">
                <a:latin typeface="+mn-lt"/>
                <a:ea typeface="+mn-ea"/>
              </a:rPr>
              <a:t>-Read.doc (book118.com),https://max.book118.com/html/2018/1021/80</a:t>
            </a:r>
            <a:endParaRPr lang="en-US" altLang="zh-CN" sz="1600" dirty="0">
              <a:latin typeface="+mn-lt"/>
              <a:ea typeface="+mn-ea"/>
            </a:endParaRPr>
          </a:p>
          <a:p>
            <a:pPr algn="l">
              <a:lnSpc>
                <a:spcPts val="3200"/>
              </a:lnSpc>
            </a:pPr>
            <a:r>
              <a:rPr lang="en-US" altLang="zh-CN" sz="1600" dirty="0">
                <a:latin typeface="+mn-lt"/>
                <a:ea typeface="+mn-ea"/>
              </a:rPr>
              <a:t>51101131001127.shtm</a:t>
            </a:r>
            <a:endParaRPr lang="en-US" altLang="zh-CN" sz="1600" dirty="0">
              <a:latin typeface="+mn-lt"/>
              <a:ea typeface="+mn-ea"/>
            </a:endParaRPr>
          </a:p>
          <a:p>
            <a:pPr algn="l">
              <a:lnSpc>
                <a:spcPts val="3200"/>
              </a:lnSpc>
            </a:pPr>
            <a:r>
              <a:rPr lang="en-US" altLang="zh-CN" sz="1600" dirty="0">
                <a:latin typeface="+mn-lt"/>
                <a:ea typeface="+mn-ea"/>
              </a:rPr>
              <a:t>[15]RS</a:t>
            </a:r>
            <a:r>
              <a:rPr lang="zh-CN" altLang="en-US" sz="1600" dirty="0">
                <a:latin typeface="+mn-lt"/>
                <a:ea typeface="+mn-ea"/>
              </a:rPr>
              <a:t>码基本原理 </a:t>
            </a:r>
            <a:r>
              <a:rPr lang="en-US" altLang="zh-CN" sz="1600" dirty="0">
                <a:latin typeface="+mn-lt"/>
                <a:ea typeface="+mn-ea"/>
              </a:rPr>
              <a:t>- </a:t>
            </a:r>
            <a:r>
              <a:rPr lang="zh-CN" altLang="en-US" sz="1600" dirty="0">
                <a:latin typeface="+mn-lt"/>
                <a:ea typeface="+mn-ea"/>
              </a:rPr>
              <a:t>知乎 </a:t>
            </a:r>
            <a:r>
              <a:rPr lang="en-US" altLang="zh-CN" sz="1600" dirty="0">
                <a:latin typeface="+mn-lt"/>
                <a:ea typeface="+mn-ea"/>
              </a:rPr>
              <a:t>(zhihu.com).https://zhuanlan.zhihu.com/p/354941777</a:t>
            </a:r>
            <a:endParaRPr lang="en-US" altLang="zh-CN" sz="1600" dirty="0">
              <a:latin typeface="+mn-lt"/>
              <a:ea typeface="+mn-ea"/>
            </a:endParaRPr>
          </a:p>
          <a:p>
            <a:pPr algn="l">
              <a:lnSpc>
                <a:spcPts val="3200"/>
              </a:lnSpc>
            </a:pPr>
            <a:r>
              <a:rPr lang="en-US" altLang="zh-CN" sz="1600" dirty="0">
                <a:latin typeface="+mn-lt"/>
                <a:ea typeface="+mn-ea"/>
              </a:rPr>
              <a:t>[16]</a:t>
            </a:r>
            <a:r>
              <a:rPr lang="zh-CN" altLang="en-US" sz="1600" dirty="0">
                <a:latin typeface="+mn-lt"/>
                <a:ea typeface="+mn-ea"/>
              </a:rPr>
              <a:t>基于纠错码的冗余技术的研究</a:t>
            </a:r>
            <a:r>
              <a:rPr lang="en-US" altLang="zh-CN" sz="1600" dirty="0">
                <a:latin typeface="+mn-lt"/>
                <a:ea typeface="+mn-ea"/>
              </a:rPr>
              <a:t>——EVENODD</a:t>
            </a:r>
            <a:r>
              <a:rPr lang="zh-CN" altLang="en-US" sz="1600" dirty="0">
                <a:latin typeface="+mn-lt"/>
                <a:ea typeface="+mn-ea"/>
              </a:rPr>
              <a:t>码的设计与实现 </a:t>
            </a:r>
            <a:r>
              <a:rPr lang="en-US" altLang="zh-CN" sz="1600" dirty="0">
                <a:latin typeface="+mn-lt"/>
                <a:ea typeface="+mn-ea"/>
              </a:rPr>
              <a:t>- </a:t>
            </a:r>
            <a:r>
              <a:rPr lang="zh-CN" altLang="en-US" sz="1600" dirty="0">
                <a:latin typeface="+mn-lt"/>
                <a:ea typeface="+mn-ea"/>
              </a:rPr>
              <a:t>百度文库 </a:t>
            </a:r>
            <a:r>
              <a:rPr lang="en-US" altLang="zh-CN" sz="1600" dirty="0">
                <a:latin typeface="+mn-lt"/>
                <a:ea typeface="+mn-ea"/>
              </a:rPr>
              <a:t>(baidu.com). https://wenku.baidu.com/view/4ff2cbf6b04e852458fb770bf78a6529647d3512.html</a:t>
            </a:r>
            <a:endParaRPr lang="en-US" altLang="zh-CN" sz="1600" dirty="0">
              <a:latin typeface="+mn-lt"/>
              <a:ea typeface="+mn-ea"/>
            </a:endParaRPr>
          </a:p>
          <a:p>
            <a:pPr algn="l">
              <a:lnSpc>
                <a:spcPts val="3200"/>
              </a:lnSpc>
            </a:pPr>
            <a:r>
              <a:rPr lang="en-US" altLang="zh-CN" sz="1600" dirty="0">
                <a:latin typeface="+mn-lt"/>
                <a:ea typeface="+mn-ea"/>
              </a:rPr>
              <a:t>[17](41</a:t>
            </a:r>
            <a:r>
              <a:rPr lang="zh-CN" altLang="en-US" sz="1600" dirty="0">
                <a:latin typeface="+mn-lt"/>
                <a:ea typeface="+mn-ea"/>
              </a:rPr>
              <a:t>条消息</a:t>
            </a:r>
            <a:r>
              <a:rPr lang="en-US" altLang="zh-CN" sz="1600" dirty="0">
                <a:latin typeface="+mn-lt"/>
                <a:ea typeface="+mn-ea"/>
              </a:rPr>
              <a:t>) </a:t>
            </a:r>
            <a:r>
              <a:rPr lang="zh-CN" altLang="en-US" sz="1600" dirty="0">
                <a:latin typeface="+mn-lt"/>
                <a:ea typeface="+mn-ea"/>
              </a:rPr>
              <a:t>深入理解喷泉码</a:t>
            </a:r>
            <a:r>
              <a:rPr lang="en-US" altLang="zh-CN" sz="1600" dirty="0">
                <a:latin typeface="+mn-lt"/>
                <a:ea typeface="+mn-ea"/>
              </a:rPr>
              <a:t>------</a:t>
            </a:r>
            <a:r>
              <a:rPr lang="zh-CN" altLang="en-US" sz="1600" dirty="0">
                <a:latin typeface="+mn-lt"/>
                <a:ea typeface="+mn-ea"/>
              </a:rPr>
              <a:t>喷泉码的编译码算法详解及实现</a:t>
            </a:r>
            <a:r>
              <a:rPr lang="en-US" altLang="zh-CN" sz="1600" dirty="0">
                <a:latin typeface="+mn-lt"/>
                <a:ea typeface="+mn-ea"/>
              </a:rPr>
              <a:t>_</a:t>
            </a:r>
            <a:r>
              <a:rPr lang="zh-CN" altLang="en-US" sz="1600" dirty="0">
                <a:latin typeface="+mn-lt"/>
                <a:ea typeface="+mn-ea"/>
              </a:rPr>
              <a:t>曾柯的知识笔记</a:t>
            </a:r>
            <a:r>
              <a:rPr lang="en-US" altLang="zh-CN" sz="1600" dirty="0">
                <a:latin typeface="+mn-lt"/>
                <a:ea typeface="+mn-ea"/>
              </a:rPr>
              <a:t>-CSDN</a:t>
            </a:r>
            <a:r>
              <a:rPr lang="zh-CN" altLang="en-US" sz="1600" dirty="0">
                <a:latin typeface="+mn-lt"/>
                <a:ea typeface="+mn-ea"/>
              </a:rPr>
              <a:t>博客</a:t>
            </a:r>
            <a:r>
              <a:rPr lang="en-US" altLang="zh-CN" sz="1600" dirty="0">
                <a:latin typeface="+mn-lt"/>
                <a:ea typeface="+mn-ea"/>
              </a:rPr>
              <a:t>.https://blog.csdn.net/zk3326312/article/details/79305932</a:t>
            </a:r>
            <a:endParaRPr lang="en-US" altLang="zh-CN" sz="1600" dirty="0">
              <a:latin typeface="+mn-lt"/>
              <a:ea typeface="+mn-ea"/>
            </a:endParaRPr>
          </a:p>
          <a:p>
            <a:pPr algn="l">
              <a:lnSpc>
                <a:spcPts val="3200"/>
              </a:lnSpc>
            </a:pPr>
            <a:r>
              <a:rPr lang="en-US" altLang="zh-CN" sz="1600" dirty="0">
                <a:latin typeface="+mn-lt"/>
                <a:ea typeface="+mn-ea"/>
              </a:rPr>
              <a:t>[18]LT</a:t>
            </a:r>
            <a:r>
              <a:rPr lang="zh-CN" altLang="en-US" sz="1600" dirty="0">
                <a:latin typeface="+mn-lt"/>
                <a:ea typeface="+mn-ea"/>
              </a:rPr>
              <a:t>码简介 </a:t>
            </a:r>
            <a:r>
              <a:rPr lang="en-US" altLang="zh-CN" sz="1600" dirty="0">
                <a:latin typeface="+mn-lt"/>
                <a:ea typeface="+mn-ea"/>
              </a:rPr>
              <a:t>- </a:t>
            </a:r>
            <a:r>
              <a:rPr lang="zh-CN" altLang="en-US" sz="1600" dirty="0">
                <a:latin typeface="+mn-lt"/>
                <a:ea typeface="+mn-ea"/>
              </a:rPr>
              <a:t>知乎 </a:t>
            </a:r>
            <a:r>
              <a:rPr lang="en-US" altLang="zh-CN" sz="1600" dirty="0">
                <a:latin typeface="+mn-lt"/>
                <a:ea typeface="+mn-ea"/>
              </a:rPr>
              <a:t>(zhihu.com).https://zhuanlan.zhihu.com/p/354939613</a:t>
            </a:r>
            <a:endParaRPr lang="en-US" altLang="zh-CN" sz="1600" dirty="0">
              <a:latin typeface="+mn-lt"/>
              <a:ea typeface="+mn-ea"/>
            </a:endParaRPr>
          </a:p>
          <a:p>
            <a:pPr algn="l">
              <a:lnSpc>
                <a:spcPts val="3200"/>
              </a:lnSpc>
            </a:pPr>
            <a:r>
              <a:rPr lang="en-US" altLang="zh-CN" sz="1600" dirty="0">
                <a:latin typeface="+mn-lt"/>
                <a:ea typeface="+mn-ea"/>
              </a:rPr>
              <a:t>[19]</a:t>
            </a:r>
            <a:r>
              <a:rPr lang="zh-CN" altLang="en-US" sz="1600" dirty="0">
                <a:latin typeface="+mn-lt"/>
                <a:ea typeface="+mn-ea"/>
              </a:rPr>
              <a:t>陈国泰</a:t>
            </a:r>
            <a:r>
              <a:rPr lang="en-US" altLang="zh-CN" sz="1600" dirty="0">
                <a:latin typeface="+mn-lt"/>
                <a:ea typeface="+mn-ea"/>
              </a:rPr>
              <a:t>,</a:t>
            </a:r>
            <a:r>
              <a:rPr lang="zh-CN" altLang="en-US" sz="1600" dirty="0">
                <a:latin typeface="+mn-lt"/>
                <a:ea typeface="+mn-ea"/>
              </a:rPr>
              <a:t>郑海峰</a:t>
            </a:r>
            <a:r>
              <a:rPr lang="en-US" altLang="zh-CN" sz="1600" dirty="0">
                <a:latin typeface="+mn-lt"/>
                <a:ea typeface="+mn-ea"/>
              </a:rPr>
              <a:t>,</a:t>
            </a:r>
            <a:r>
              <a:rPr lang="zh-CN" altLang="en-US" sz="1600" dirty="0">
                <a:latin typeface="+mn-lt"/>
                <a:ea typeface="+mn-ea"/>
              </a:rPr>
              <a:t>陈国钦等</a:t>
            </a:r>
            <a:r>
              <a:rPr lang="en-US" altLang="zh-CN" sz="1600" dirty="0">
                <a:latin typeface="+mn-lt"/>
                <a:ea typeface="+mn-ea"/>
              </a:rPr>
              <a:t>.</a:t>
            </a:r>
            <a:r>
              <a:rPr lang="zh-CN" altLang="en-US" sz="1600" dirty="0">
                <a:latin typeface="+mn-lt"/>
                <a:ea typeface="+mn-ea"/>
              </a:rPr>
              <a:t>漳州师范学院学报</a:t>
            </a:r>
            <a:r>
              <a:rPr lang="en-US" altLang="zh-CN" sz="1600" dirty="0">
                <a:latin typeface="+mn-lt"/>
                <a:ea typeface="+mn-ea"/>
              </a:rPr>
              <a:t>(</a:t>
            </a:r>
            <a:r>
              <a:rPr lang="zh-CN" altLang="en-US" sz="1600" dirty="0">
                <a:latin typeface="+mn-lt"/>
                <a:ea typeface="+mn-ea"/>
              </a:rPr>
              <a:t>自然科学版</a:t>
            </a:r>
            <a:r>
              <a:rPr lang="en-US" altLang="zh-CN" sz="1600" dirty="0">
                <a:latin typeface="+mn-lt"/>
                <a:ea typeface="+mn-ea"/>
              </a:rPr>
              <a:t>)[J].2011(03).8-13.</a:t>
            </a:r>
            <a:endParaRPr lang="zh-CN" altLang="en-US" sz="1600" dirty="0">
              <a:latin typeface="+mn-lt"/>
              <a:ea typeface="+mn-ea"/>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4510" y="2112010"/>
            <a:ext cx="5673090" cy="1322070"/>
          </a:xfrm>
          <a:prstGeom prst="rect">
            <a:avLst/>
          </a:prstGeom>
          <a:noFill/>
        </p:spPr>
        <p:txBody>
          <a:bodyPr wrap="square" rtlCol="0" anchor="t">
            <a:spAutoFit/>
          </a:bodyPr>
          <a:lstStyle/>
          <a:p>
            <a:r>
              <a:rPr lang="zh-CN" altLang="en-US" sz="8000" b="1" dirty="0">
                <a:solidFill>
                  <a:schemeClr val="accent2"/>
                </a:solidFill>
                <a:latin typeface="黑体" panose="02010609060101010101" pitchFamily="49" charset="-122"/>
                <a:ea typeface="黑体" panose="02010609060101010101" pitchFamily="49" charset="-122"/>
                <a:sym typeface="+mn-ea"/>
              </a:rPr>
              <a:t>谢谢聆听</a:t>
            </a:r>
            <a:endParaRPr lang="zh-CN" altLang="en-US" sz="8000" b="1" dirty="0">
              <a:solidFill>
                <a:schemeClr val="accent2"/>
              </a:solidFill>
              <a:latin typeface="黑体" panose="02010609060101010101" pitchFamily="49" charset="-122"/>
              <a:ea typeface="黑体" panose="02010609060101010101" pitchFamily="49" charset="-122"/>
              <a:sym typeface="+mn-ea"/>
            </a:endParaRPr>
          </a:p>
        </p:txBody>
      </p:sp>
    </p:spTree>
  </p:cSld>
  <p:clrMapOvr>
    <a:masterClrMapping/>
  </p:clrMapOvr>
</p:sld>
</file>

<file path=ppt/tags/tag1.xml><?xml version="1.0" encoding="utf-8"?>
<p:tagLst xmlns:p="http://schemas.openxmlformats.org/presentationml/2006/main">
  <p:tag name="KSO_WM_DIAGRAM_VIRTUALLY_FRAME" val="{&quot;height&quot;:395.71708661417324,&quot;left&quot;:44.97370078740157,&quot;top&quot;:84.02133858267716,&quot;width&quot;:636.0204724409448}"/>
</p:tagLst>
</file>

<file path=ppt/tags/tag2.xml><?xml version="1.0" encoding="utf-8"?>
<p:tagLst xmlns:p="http://schemas.openxmlformats.org/presentationml/2006/main">
  <p:tag name="KSO_WM_DIAGRAM_VIRTUALLY_FRAME" val="{&quot;height&quot;:395.71708661417324,&quot;left&quot;:44.97370078740157,&quot;top&quot;:84.02133858267716,&quot;width&quot;:636.0204724409448}"/>
</p:tagLst>
</file>

<file path=ppt/tags/tag3.xml><?xml version="1.0" encoding="utf-8"?>
<p:tagLst xmlns:p="http://schemas.openxmlformats.org/presentationml/2006/main">
  <p:tag name="KSO_WM_DIAGRAM_VIRTUALLY_FRAME" val="{&quot;height&quot;:395.71708661417324,&quot;left&quot;:44.97370078740157,&quot;top&quot;:84.02133858267716,&quot;width&quot;:636.0204724409448}"/>
</p:tagLst>
</file>

<file path=ppt/tags/tag4.xml><?xml version="1.0" encoding="utf-8"?>
<p:tagLst xmlns:p="http://schemas.openxmlformats.org/presentationml/2006/main">
  <p:tag name="KSO_WM_DIAGRAM_VIRTUALLY_FRAME" val="{&quot;height&quot;:395.71708661417324,&quot;left&quot;:44.97370078740157,&quot;top&quot;:84.02133858267716,&quot;width&quot;:636.0204724409448}"/>
</p:tagLst>
</file>

<file path=ppt/tags/tag5.xml><?xml version="1.0" encoding="utf-8"?>
<p:tagLst xmlns:p="http://schemas.openxmlformats.org/presentationml/2006/main">
  <p:tag name="KSO_WM_DIAGRAM_VIRTUALLY_FRAME" val="{&quot;height&quot;:395.71708661417324,&quot;left&quot;:44.97370078740157,&quot;top&quot;:84.02133858267716,&quot;width&quot;:636.0204724409448}"/>
</p:tagLst>
</file>

<file path=ppt/tags/tag6.xml><?xml version="1.0" encoding="utf-8"?>
<p:tagLst xmlns:p="http://schemas.openxmlformats.org/presentationml/2006/main">
  <p:tag name="KSO_WM_DIAGRAM_VIRTUALLY_FRAME" val="{&quot;height&quot;:395.71708661417324,&quot;left&quot;:44.97370078740157,&quot;top&quot;:84.02133858267716,&quot;width&quot;:636.0204724409448}"/>
</p:tagLst>
</file>

<file path=ppt/tags/tag7.xml><?xml version="1.0" encoding="utf-8"?>
<p:tagLst xmlns:p="http://schemas.openxmlformats.org/presentationml/2006/main">
  <p:tag name="KSO_WM_DIAGRAM_VIRTUALLY_FRAME" val="{&quot;height&quot;:395.71708661417324,&quot;left&quot;:44.97370078740157,&quot;top&quot;:84.02133858267716,&quot;width&quot;:636.0204724409448}"/>
</p:tagLst>
</file>

<file path=ppt/tags/tag8.xml><?xml version="1.0" encoding="utf-8"?>
<p:tagLst xmlns:p="http://schemas.openxmlformats.org/presentationml/2006/main">
  <p:tag name="KSO_WM_DIAGRAM_VIRTUALLY_FRAME" val="{&quot;height&quot;:395.71708661417324,&quot;left&quot;:44.97370078740157,&quot;top&quot;:84.02133858267716,&quot;width&quot;:636.0204724409448}"/>
</p:tagLst>
</file>

<file path=ppt/tags/tag9.xml><?xml version="1.0" encoding="utf-8"?>
<p:tagLst xmlns:p="http://schemas.openxmlformats.org/presentationml/2006/main">
  <p:tag name="KSO_WM_DIAGRAM_VIRTUALLY_FRAME" val="{&quot;height&quot;:395.71708661417324,&quot;left&quot;:44.97370078740157,&quot;top&quot;:84.02133858267716,&quot;width&quot;:636.0204724409448}"/>
</p:tagLst>
</file>

<file path=ppt/tags/tag10.xml><?xml version="1.0" encoding="utf-8"?>
<p:tagLst xmlns:p="http://schemas.openxmlformats.org/presentationml/2006/main">
  <p:tag name="KSO_WM_DIAGRAM_VIRTUALLY_FRAME" val="{&quot;height&quot;:395.71708661417324,&quot;left&quot;:44.97370078740157,&quot;top&quot;:84.02133858267716,&quot;width&quot;:636.0204724409448}"/>
</p:tagLst>
</file>

<file path=ppt/tags/tag11.xml><?xml version="1.0" encoding="utf-8"?>
<p:tagLst xmlns:p="http://schemas.openxmlformats.org/presentationml/2006/main">
  <p:tag name="KSO_WM_DIAGRAM_VIRTUALLY_FRAME" val="{&quot;height&quot;:395.71708661417324,&quot;left&quot;:44.97370078740157,&quot;top&quot;:84.02133858267716,&quot;width&quot;:636.0204724409448}"/>
</p:tagLst>
</file>

<file path=ppt/tags/tag12.xml><?xml version="1.0" encoding="utf-8"?>
<p:tagLst xmlns:p="http://schemas.openxmlformats.org/presentationml/2006/main">
  <p:tag name="KSO_WM_DIAGRAM_VIRTUALLY_FRAME" val="{&quot;height&quot;:395.71708661417324,&quot;left&quot;:44.97370078740157,&quot;top&quot;:84.02133858267716,&quot;width&quot;:636.0204724409448}"/>
</p:tagLst>
</file>

<file path=ppt/tags/tag13.xml><?xml version="1.0" encoding="utf-8"?>
<p:tagLst xmlns:p="http://schemas.openxmlformats.org/presentationml/2006/main">
  <p:tag name="KSO_WPP_MARK_KEY" val="5a831f82-d224-48d1-b6eb-88b125f63330"/>
  <p:tag name="COMMONDATA" val="eyJoZGlkIjoiZWE4ZGVmYTFkZmJiMzI3ODViY2NmMWY3ODJhZTY3MDAifQ=="/>
  <p:tag name="commondata" val="eyJoZGlkIjoiYTI1ODE0ODU1YTU1NThjYzg2NDQwMzM1MzA4YzFkNjEifQ=="/>
</p:tagLst>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华文中宋"/>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Sorronto 0110">
  <a:themeElements>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orronto 0110">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70C0"/>
        </a:solidFill>
        <a:ln>
          <a:solidFill>
            <a:srgbClr val="0070C0"/>
          </a:solidFill>
        </a:ln>
      </a:spPr>
      <a:bodyPr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342900" marR="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v"/>
          <a:defRPr kumimoji="1" lang="en-US" sz="2800" b="0" i="0" u="none" strike="noStrike" cap="none" normalizeH="0" baseline="0" smtClean="0">
            <a:ln>
              <a:noFill/>
            </a:ln>
            <a:solidFill>
              <a:srgbClr val="336699"/>
            </a:solidFill>
            <a:effectLst/>
            <a:latin typeface="黑体" panose="02010609060101010101" pitchFamily="49" charset="-122"/>
            <a:ea typeface="黑体" panose="02010609060101010101" pitchFamily="49" charset="-122"/>
          </a:defRPr>
        </a:defPPr>
      </a:lstStyle>
    </a:lnDef>
    <a:txDef>
      <a:spPr>
        <a:noFill/>
      </a:spPr>
      <a:bodyPr wrap="square" rtlCol="0" anchor="t">
        <a:spAutoFit/>
      </a:bodyPr>
      <a:lstStyle>
        <a:defPPr>
          <a:defRPr lang="zh-CN" altLang="en-US" b="1" dirty="0">
            <a:solidFill>
              <a:schemeClr val="accent2"/>
            </a:solidFill>
            <a:latin typeface="黑体" panose="02010609060101010101" pitchFamily="49" charset="-122"/>
            <a:ea typeface="黑体" panose="02010609060101010101" pitchFamily="49" charset="-122"/>
            <a:sym typeface="+mn-ea"/>
          </a:defRPr>
        </a:defPPr>
      </a:lstStyle>
    </a:txDef>
  </a:objectDefaults>
  <a:extraClrSchemeLst>
    <a:extraClrScheme>
      <a:clrScheme name="Sorronto 0110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orronto 0110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orronto 0110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orronto 0110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orronto 0110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orronto 0110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39007</Words>
  <Application>WPS 演示</Application>
  <PresentationFormat>全屏显示(4:3)</PresentationFormat>
  <Paragraphs>1551</Paragraphs>
  <Slides>128</Slides>
  <Notes>28</Notes>
  <HiddenSlides>0</HiddenSlides>
  <MMClips>0</MMClips>
  <ScaleCrop>false</ScaleCrop>
  <HeadingPairs>
    <vt:vector size="6" baseType="variant">
      <vt:variant>
        <vt:lpstr>已用的字体</vt:lpstr>
      </vt:variant>
      <vt:variant>
        <vt:i4>16</vt:i4>
      </vt:variant>
      <vt:variant>
        <vt:lpstr>主题</vt:lpstr>
      </vt:variant>
      <vt:variant>
        <vt:i4>4</vt:i4>
      </vt:variant>
      <vt:variant>
        <vt:lpstr>幻灯片标题</vt:lpstr>
      </vt:variant>
      <vt:variant>
        <vt:i4>128</vt:i4>
      </vt:variant>
    </vt:vector>
  </HeadingPairs>
  <TitlesOfParts>
    <vt:vector size="148" baseType="lpstr">
      <vt:lpstr>Arial</vt:lpstr>
      <vt:lpstr>宋体</vt:lpstr>
      <vt:lpstr>Wingdings</vt:lpstr>
      <vt:lpstr>Calibri</vt:lpstr>
      <vt:lpstr>华文中宋</vt:lpstr>
      <vt:lpstr>黑体</vt:lpstr>
      <vt:lpstr>FuturaA Md BT</vt:lpstr>
      <vt:lpstr>Segoe Print</vt:lpstr>
      <vt:lpstr>隶书</vt:lpstr>
      <vt:lpstr>Times New Roman</vt:lpstr>
      <vt:lpstr>微软雅黑</vt:lpstr>
      <vt:lpstr>Arial Unicode MS</vt:lpstr>
      <vt:lpstr>Cambria Math</vt:lpstr>
      <vt:lpstr>Adobe Arabic</vt:lpstr>
      <vt:lpstr>DejaVu Math TeX Gyre</vt:lpstr>
      <vt:lpstr>Marlett</vt:lpstr>
      <vt:lpstr>1_自定义设计方案</vt:lpstr>
      <vt:lpstr>自定义设计方案</vt:lpstr>
      <vt:lpstr>1_默认设计模板</vt:lpstr>
      <vt:lpstr>Sorronto 0110</vt:lpstr>
      <vt:lpstr>第十二章 纠删码</vt:lpstr>
      <vt:lpstr>内容提要</vt:lpstr>
      <vt:lpstr>内容提要</vt:lpstr>
      <vt:lpstr>纠删码技术的概述</vt:lpstr>
      <vt:lpstr>纠删码技术的由来</vt:lpstr>
      <vt:lpstr>纠删码技术产生的背景 </vt:lpstr>
      <vt:lpstr>纠删码技术的引入 </vt:lpstr>
      <vt:lpstr>纠删码技术的引入 </vt:lpstr>
      <vt:lpstr>纠删码技术的引入 </vt:lpstr>
      <vt:lpstr>纠删码的定义</vt:lpstr>
      <vt:lpstr>纠删码的基本思想</vt:lpstr>
      <vt:lpstr>纠删码的基本思想</vt:lpstr>
      <vt:lpstr>内容提要</vt:lpstr>
      <vt:lpstr>基本名词术语1——单元</vt:lpstr>
      <vt:lpstr>基本名词术语2——条带</vt:lpstr>
      <vt:lpstr>基本名词术语3——条块</vt:lpstr>
      <vt:lpstr>二部图</vt:lpstr>
      <vt:lpstr>范德蒙矩阵</vt:lpstr>
      <vt:lpstr>柯西矩阵</vt:lpstr>
      <vt:lpstr>迦罗华域</vt:lpstr>
      <vt:lpstr>迦罗华域</vt:lpstr>
      <vt:lpstr>迦罗华域</vt:lpstr>
      <vt:lpstr>内容提要</vt:lpstr>
      <vt:lpstr>简单的纠删码——重复码</vt:lpstr>
      <vt:lpstr>简单的纠删码——奇偶校验码</vt:lpstr>
      <vt:lpstr>简单的纠删码——奇偶校验码</vt:lpstr>
      <vt:lpstr>两种简单纠删码的性能比较</vt:lpstr>
      <vt:lpstr>纠删码的分类</vt:lpstr>
      <vt:lpstr>阵列码</vt:lpstr>
      <vt:lpstr>水平阵列码</vt:lpstr>
      <vt:lpstr>垂直阵列码</vt:lpstr>
      <vt:lpstr>水平垂直阵列码</vt:lpstr>
      <vt:lpstr>EVENODD码</vt:lpstr>
      <vt:lpstr>EVENODD码编码过程</vt:lpstr>
      <vt:lpstr>EVENODD码编码过程</vt:lpstr>
      <vt:lpstr>EVENODD码编码过程</vt:lpstr>
      <vt:lpstr>EVENODD码解码过程</vt:lpstr>
      <vt:lpstr>EVENODD码解码过程</vt:lpstr>
      <vt:lpstr>EVENODD码解码过程</vt:lpstr>
      <vt:lpstr>EVENODD码解码过程</vt:lpstr>
      <vt:lpstr>EVENODD码解码过程</vt:lpstr>
      <vt:lpstr>EVENODD码解码正确性证明</vt:lpstr>
      <vt:lpstr>EVENODD码解码正确性证明</vt:lpstr>
      <vt:lpstr>EVENODD码解码正确性证明</vt:lpstr>
      <vt:lpstr>EVENODD码解码正确性证明</vt:lpstr>
      <vt:lpstr>EVENODD码解码正确性证明</vt:lpstr>
      <vt:lpstr>奇偶校验码</vt:lpstr>
      <vt:lpstr>水平垂直奇偶校验码</vt:lpstr>
      <vt:lpstr>低密度奇偶校验码</vt:lpstr>
      <vt:lpstr>龙卷风码的编码</vt:lpstr>
      <vt:lpstr>龙卷风码的编码</vt:lpstr>
      <vt:lpstr>龙卷风码的编码</vt:lpstr>
      <vt:lpstr>龙卷风码的编码</vt:lpstr>
      <vt:lpstr>龙卷风码的解码</vt:lpstr>
      <vt:lpstr>龙卷风码的容错性和数据恢复</vt:lpstr>
      <vt:lpstr>龙卷风码的数据恢复</vt:lpstr>
      <vt:lpstr>龙卷风码的复杂度分析</vt:lpstr>
      <vt:lpstr>龙卷风码的优点</vt:lpstr>
      <vt:lpstr>龙卷风码的缺点</vt:lpstr>
      <vt:lpstr>数字喷泉码</vt:lpstr>
      <vt:lpstr>数字喷泉码的发展</vt:lpstr>
      <vt:lpstr>数字喷泉码的研究现状及方案</vt:lpstr>
      <vt:lpstr>随机线性喷泉码的编码</vt:lpstr>
      <vt:lpstr>随机线性喷泉码的编码</vt:lpstr>
      <vt:lpstr>随机线性喷泉码的解码</vt:lpstr>
      <vt:lpstr>随机线性喷泉码的解码</vt:lpstr>
      <vt:lpstr>LT码的编码</vt:lpstr>
      <vt:lpstr>LT码的编码</vt:lpstr>
      <vt:lpstr>随机度d</vt:lpstr>
      <vt:lpstr>Sk的确定</vt:lpstr>
      <vt:lpstr>LT码的解码</vt:lpstr>
      <vt:lpstr>LT码的解码</vt:lpstr>
      <vt:lpstr>LT码的解码</vt:lpstr>
      <vt:lpstr>LT码的解码</vt:lpstr>
      <vt:lpstr>LT码的解码</vt:lpstr>
      <vt:lpstr>LT码的特点</vt:lpstr>
      <vt:lpstr>Raptor码</vt:lpstr>
      <vt:lpstr>课堂思政</vt:lpstr>
      <vt:lpstr>Raptor码的编码</vt:lpstr>
      <vt:lpstr>Raptor码的解码</vt:lpstr>
      <vt:lpstr>Raptor码的特点</vt:lpstr>
      <vt:lpstr>内容提要</vt:lpstr>
      <vt:lpstr>EC码的应用</vt:lpstr>
      <vt:lpstr>EC码的问题探讨</vt:lpstr>
      <vt:lpstr>什么适合使用纠删码</vt:lpstr>
      <vt:lpstr>如何评判不同产品的纠删码</vt:lpstr>
      <vt:lpstr>纠删码会在未来掀起浪潮吗</vt:lpstr>
      <vt:lpstr>EC码的优点</vt:lpstr>
      <vt:lpstr>EC码的代价</vt:lpstr>
      <vt:lpstr>EC码的优化——LRC</vt:lpstr>
      <vt:lpstr>EC码的优化——LRC</vt:lpstr>
      <vt:lpstr>EC码的优化——LRC</vt:lpstr>
      <vt:lpstr>EC码的优化——LRC</vt:lpstr>
      <vt:lpstr>LRC的应用</vt:lpstr>
      <vt:lpstr>LRC的应用</vt:lpstr>
      <vt:lpstr>EC码的仿真</vt:lpstr>
      <vt:lpstr>EVENODD码的编码仿真</vt:lpstr>
      <vt:lpstr>EVENODD码的编码仿真</vt:lpstr>
      <vt:lpstr>EVENODD码的译码仿真</vt:lpstr>
      <vt:lpstr>EVENODD码的译码仿真</vt:lpstr>
      <vt:lpstr>EVENODD码的译码仿真</vt:lpstr>
      <vt:lpstr>EVENODD码的译码仿真</vt:lpstr>
      <vt:lpstr>EVENODD码的译码仿真</vt:lpstr>
      <vt:lpstr>EVENODD码的译码仿真</vt:lpstr>
      <vt:lpstr>EVENODD码的译码仿真</vt:lpstr>
      <vt:lpstr>EVENODD码的译码仿真</vt:lpstr>
      <vt:lpstr>EVENODD码的译码仿真</vt:lpstr>
      <vt:lpstr>EVENODD码的译码仿真</vt:lpstr>
      <vt:lpstr>EVENODD码的译码仿真</vt:lpstr>
      <vt:lpstr>EVENODD码的译码仿真</vt:lpstr>
      <vt:lpstr>EVENODD码的译码仿真</vt:lpstr>
      <vt:lpstr>EVENODD码的译码仿真</vt:lpstr>
      <vt:lpstr>EVENODD码的译码仿真</vt:lpstr>
      <vt:lpstr>LT码的编码仿真</vt:lpstr>
      <vt:lpstr>LT码的编码仿真</vt:lpstr>
      <vt:lpstr>LT码的编码仿真</vt:lpstr>
      <vt:lpstr>LT码的编码仿真</vt:lpstr>
      <vt:lpstr>LT码的编码仿真</vt:lpstr>
      <vt:lpstr>LT码的译码仿真</vt:lpstr>
      <vt:lpstr>LT码的译码仿真</vt:lpstr>
      <vt:lpstr>LT码的译码仿真</vt:lpstr>
      <vt:lpstr>LT码的译码仿真</vt:lpstr>
      <vt:lpstr>LT码的译码仿真</vt:lpstr>
      <vt:lpstr>LT码的译码仿真</vt:lpstr>
      <vt:lpstr>LT码的译码仿真</vt:lpstr>
      <vt:lpstr>参考文献</vt:lpstr>
      <vt:lpstr>参考文献</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wjt</dc:creator>
  <cp:lastModifiedBy>无</cp:lastModifiedBy>
  <cp:revision>1226</cp:revision>
  <cp:lastPrinted>2016-01-06T13:31:00Z</cp:lastPrinted>
  <dcterms:created xsi:type="dcterms:W3CDTF">2014-12-11T02:08:00Z</dcterms:created>
  <dcterms:modified xsi:type="dcterms:W3CDTF">2024-11-19T04:52:44Z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2052-12.1.0.18608</vt:lpwstr>
  </property>
  <property fmtid="{D5CDD505-2E9C-101B-9397-08002B2CF9AE}" pid="4" name="ICV">
    <vt:lpwstr>ED57F6B33D1641DBB67DD67DF2DCA8F8</vt:lpwstr>
  </property>
</Properties>
</file>