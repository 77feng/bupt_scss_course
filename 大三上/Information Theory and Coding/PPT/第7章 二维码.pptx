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handoutMasterIdLst>
    <p:handoutMasterId r:id="rId74"/>
  </p:handoutMasterIdLst>
  <p:sldIdLst>
    <p:sldId id="256" r:id="rId6"/>
    <p:sldId id="428" r:id="rId8"/>
    <p:sldId id="1675" r:id="rId9"/>
    <p:sldId id="1729" r:id="rId10"/>
    <p:sldId id="1728" r:id="rId11"/>
    <p:sldId id="1730" r:id="rId12"/>
    <p:sldId id="1731" r:id="rId13"/>
    <p:sldId id="1732" r:id="rId14"/>
    <p:sldId id="1752" r:id="rId15"/>
    <p:sldId id="1733" r:id="rId16"/>
    <p:sldId id="1880" r:id="rId17"/>
    <p:sldId id="1734" r:id="rId18"/>
    <p:sldId id="1767" r:id="rId19"/>
    <p:sldId id="1735" r:id="rId20"/>
    <p:sldId id="1736" r:id="rId21"/>
    <p:sldId id="1737" r:id="rId22"/>
    <p:sldId id="1761" r:id="rId23"/>
    <p:sldId id="1861" r:id="rId24"/>
    <p:sldId id="1862" r:id="rId25"/>
    <p:sldId id="1863" r:id="rId26"/>
    <p:sldId id="1864" r:id="rId27"/>
    <p:sldId id="1865" r:id="rId28"/>
    <p:sldId id="1762" r:id="rId29"/>
    <p:sldId id="1763" r:id="rId30"/>
    <p:sldId id="1764" r:id="rId31"/>
    <p:sldId id="1765" r:id="rId32"/>
    <p:sldId id="1866" r:id="rId33"/>
    <p:sldId id="1879" r:id="rId34"/>
    <p:sldId id="1867" r:id="rId35"/>
    <p:sldId id="1868" r:id="rId36"/>
    <p:sldId id="1869" r:id="rId37"/>
    <p:sldId id="1766" r:id="rId38"/>
    <p:sldId id="1738" r:id="rId39"/>
    <p:sldId id="1739" r:id="rId40"/>
    <p:sldId id="1750" r:id="rId41"/>
    <p:sldId id="1740" r:id="rId42"/>
    <p:sldId id="1749" r:id="rId43"/>
    <p:sldId id="1751" r:id="rId44"/>
    <p:sldId id="1741" r:id="rId45"/>
    <p:sldId id="1742" r:id="rId46"/>
    <p:sldId id="1743" r:id="rId47"/>
    <p:sldId id="1744" r:id="rId48"/>
    <p:sldId id="1745" r:id="rId49"/>
    <p:sldId id="1746" r:id="rId50"/>
    <p:sldId id="1870" r:id="rId51"/>
    <p:sldId id="1871" r:id="rId52"/>
    <p:sldId id="1872" r:id="rId53"/>
    <p:sldId id="1873" r:id="rId54"/>
    <p:sldId id="1874" r:id="rId55"/>
    <p:sldId id="1883" r:id="rId56"/>
    <p:sldId id="1884" r:id="rId57"/>
    <p:sldId id="1885" r:id="rId58"/>
    <p:sldId id="1886" r:id="rId59"/>
    <p:sldId id="1803" r:id="rId60"/>
    <p:sldId id="1875" r:id="rId61"/>
    <p:sldId id="1876" r:id="rId62"/>
    <p:sldId id="1877" r:id="rId63"/>
    <p:sldId id="1878" r:id="rId64"/>
    <p:sldId id="1882" r:id="rId65"/>
    <p:sldId id="1887" r:id="rId66"/>
    <p:sldId id="1888" r:id="rId67"/>
    <p:sldId id="1889" r:id="rId68"/>
    <p:sldId id="1890" r:id="rId69"/>
    <p:sldId id="1891" r:id="rId70"/>
    <p:sldId id="1892" r:id="rId71"/>
    <p:sldId id="1881" r:id="rId72"/>
    <p:sldId id="1220" r:id="rId73"/>
  </p:sldIdLst>
  <p:sldSz cx="9144000" cy="6858000" type="screen4x3"/>
  <p:notesSz cx="9942195" cy="6760845"/>
  <p:custDataLst>
    <p:tags r:id="rId78"/>
  </p:custDataLst>
  <p:defaultTextStyle>
    <a:defPPr>
      <a:defRPr lang="zh-CN"/>
    </a:defPPr>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67"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5FA"/>
    <a:srgbClr val="F6B9EB"/>
    <a:srgbClr val="A70A03"/>
    <a:srgbClr val="D50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0" autoAdjust="0"/>
    <p:restoredTop sz="87368"/>
  </p:normalViewPr>
  <p:slideViewPr>
    <p:cSldViewPr showGuides="1">
      <p:cViewPr varScale="1">
        <p:scale>
          <a:sx n="87" d="100"/>
          <a:sy n="87" d="100"/>
        </p:scale>
        <p:origin x="1167" y="68"/>
      </p:cViewPr>
      <p:guideLst>
        <p:guide orient="horz" pos="2167"/>
        <p:guide pos="2884"/>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8" Type="http://schemas.openxmlformats.org/officeDocument/2006/relationships/tags" Target="tags/tag1.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DD44E8-EED5-4D51-9DF7-E4CE935655BF}" type="doc">
      <dgm:prSet loTypeId="urn:microsoft.com/office/officeart/2005/8/layout/hProcess3" loCatId="process" qsTypeId="urn:microsoft.com/office/officeart/2005/8/quickstyle/simple5" qsCatId="simple" csTypeId="urn:microsoft.com/office/officeart/2005/8/colors/accent1_2" csCatId="accent1" phldr="1"/>
      <dgm:spPr/>
      <dgm:t>
        <a:bodyPr/>
        <a:lstStyle/>
        <a:p>
          <a:endParaRPr lang="zh-CN" altLang="en-US"/>
        </a:p>
      </dgm:t>
    </dgm:pt>
    <dgm:pt modelId="{637F74FE-3419-40D4-9FC9-38A4167BE197}" type="pres">
      <dgm:prSet presAssocID="{57DD44E8-EED5-4D51-9DF7-E4CE935655BF}" presName="Name0" presStyleCnt="0">
        <dgm:presLayoutVars>
          <dgm:dir/>
          <dgm:animLvl val="lvl"/>
          <dgm:resizeHandles val="exact"/>
        </dgm:presLayoutVars>
      </dgm:prSet>
      <dgm:spPr/>
    </dgm:pt>
    <dgm:pt modelId="{8D0377E0-8C7E-4F68-8A88-272C039D8951}" type="pres">
      <dgm:prSet presAssocID="{57DD44E8-EED5-4D51-9DF7-E4CE935655BF}" presName="dummy" presStyleCnt="0"/>
      <dgm:spPr/>
    </dgm:pt>
    <dgm:pt modelId="{6076CED8-02A2-4F44-987A-6A48AF373337}" type="pres">
      <dgm:prSet presAssocID="{57DD44E8-EED5-4D51-9DF7-E4CE935655BF}" presName="linH" presStyleCnt="0"/>
      <dgm:spPr/>
    </dgm:pt>
    <dgm:pt modelId="{66F96B11-4DE1-4448-B380-7BC1E0B897D0}" type="pres">
      <dgm:prSet presAssocID="{57DD44E8-EED5-4D51-9DF7-E4CE935655BF}" presName="padding1" presStyleCnt="0"/>
      <dgm:spPr/>
    </dgm:pt>
    <dgm:pt modelId="{75DFF8A8-6C31-45BF-A0C8-2A9BC0290174}" type="pres">
      <dgm:prSet presAssocID="{57DD44E8-EED5-4D51-9DF7-E4CE935655BF}" presName="padding2" presStyleCnt="0"/>
      <dgm:spPr/>
    </dgm:pt>
    <dgm:pt modelId="{509EEF5B-F0E1-4E55-8E5B-0ECC1FDF1B4D}" type="pres">
      <dgm:prSet presAssocID="{57DD44E8-EED5-4D51-9DF7-E4CE935655BF}" presName="negArrow" presStyleCnt="0"/>
      <dgm:spPr/>
    </dgm:pt>
    <dgm:pt modelId="{F271F867-71F9-4854-B202-4094BCC4139E}" type="pres">
      <dgm:prSet presAssocID="{57DD44E8-EED5-4D51-9DF7-E4CE935655BF}" presName="backgroundArrow" presStyleLbl="node1" presStyleIdx="0" presStyleCnt="1" custScaleY="22234" custLinFactNeighborX="0" custLinFactNeighborY="269"/>
      <dgm:spPr/>
    </dgm:pt>
  </dgm:ptLst>
  <dgm:cxnLst>
    <dgm:cxn modelId="{74D7AFA9-C579-4CB2-91CF-F4BEF15F121C}" type="presOf" srcId="{57DD44E8-EED5-4D51-9DF7-E4CE935655BF}" destId="{637F74FE-3419-40D4-9FC9-38A4167BE197}" srcOrd="0" destOrd="0" presId="urn:microsoft.com/office/officeart/2005/8/layout/hProcess3"/>
    <dgm:cxn modelId="{0BFD08D5-1807-4E5E-B9C0-43D6990227CC}" type="presParOf" srcId="{637F74FE-3419-40D4-9FC9-38A4167BE197}" destId="{8D0377E0-8C7E-4F68-8A88-272C039D8951}" srcOrd="0" destOrd="0" presId="urn:microsoft.com/office/officeart/2005/8/layout/hProcess3"/>
    <dgm:cxn modelId="{C99B9656-5795-44EE-9B20-627ABBFDE528}" type="presParOf" srcId="{637F74FE-3419-40D4-9FC9-38A4167BE197}" destId="{6076CED8-02A2-4F44-987A-6A48AF373337}" srcOrd="1" destOrd="0" presId="urn:microsoft.com/office/officeart/2005/8/layout/hProcess3"/>
    <dgm:cxn modelId="{5428EA0D-5BA4-4BB4-8D7F-9DC788A32226}" type="presParOf" srcId="{6076CED8-02A2-4F44-987A-6A48AF373337}" destId="{66F96B11-4DE1-4448-B380-7BC1E0B897D0}" srcOrd="0" destOrd="0" presId="urn:microsoft.com/office/officeart/2005/8/layout/hProcess3"/>
    <dgm:cxn modelId="{727B2FB5-6F0C-41B0-96E9-A66BB964071A}" type="presParOf" srcId="{6076CED8-02A2-4F44-987A-6A48AF373337}" destId="{75DFF8A8-6C31-45BF-A0C8-2A9BC0290174}" srcOrd="1" destOrd="0" presId="urn:microsoft.com/office/officeart/2005/8/layout/hProcess3"/>
    <dgm:cxn modelId="{5BF6574A-0EA5-429F-A779-45A7D22085A7}" type="presParOf" srcId="{6076CED8-02A2-4F44-987A-6A48AF373337}" destId="{509EEF5B-F0E1-4E55-8E5B-0ECC1FDF1B4D}" srcOrd="2" destOrd="0" presId="urn:microsoft.com/office/officeart/2005/8/layout/hProcess3"/>
    <dgm:cxn modelId="{1454E164-EDCF-48BA-85A2-8BC8AA7677B6}" type="presParOf" srcId="{6076CED8-02A2-4F44-987A-6A48AF373337}" destId="{F271F867-71F9-4854-B202-4094BCC4139E}" srcOrd="3" destOrd="0" presId="urn:microsoft.com/office/officeart/2005/8/layout/h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43999" cy="5867246"/>
        <a:chOff x="0" y="0"/>
        <a:chExt cx="9143999" cy="5867246"/>
      </a:xfrm>
    </dsp:grpSpPr>
    <dsp:sp modelId="{F271F867-71F9-4854-B202-4094BCC4139E}">
      <dsp:nvSpPr>
        <dsp:cNvPr id="3" name="右箭头 2"/>
        <dsp:cNvSpPr/>
      </dsp:nvSpPr>
      <dsp:spPr bwMode="white">
        <a:xfrm>
          <a:off x="0" y="0"/>
          <a:ext cx="9143999" cy="5867246"/>
        </a:xfrm>
        <a:prstGeom prst="rightArrow">
          <a:avLst/>
        </a:prstGeom>
      </dsp:spPr>
      <dsp:style>
        <a:lnRef idx="0">
          <a:schemeClr val="lt1"/>
        </a:lnRef>
        <a:fillRef idx="3">
          <a:schemeClr val="accent1"/>
        </a:fillRef>
        <a:effectRef idx="3">
          <a:scrgbClr r="0" g="0" b="0"/>
        </a:effectRef>
        <a:fontRef idx="minor">
          <a:schemeClr val="lt1"/>
        </a:fontRef>
      </dsp:style>
      <dsp:txXfrm>
        <a:off x="0" y="0"/>
        <a:ext cx="9143999" cy="586724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279775" y="506413"/>
            <a:ext cx="3382963" cy="253682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93775" y="3211513"/>
            <a:ext cx="7954963" cy="30432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6685" y="123825"/>
            <a:ext cx="8540115" cy="678815"/>
          </a:xfrm>
          <a:ln w="12700" cmpd="sng">
            <a:noFill/>
            <a:prstDash val="solid"/>
          </a:ln>
        </p:spPr>
        <p:txBody>
          <a:bodyPr/>
          <a:lstStyle>
            <a:lvl1pPr algn="l">
              <a:defRPr/>
            </a:lvl1pPr>
          </a:lstStyle>
          <a:p>
            <a:r>
              <a:rPr lang="zh-CN" altLang="en-US"/>
              <a:t>       </a:t>
            </a:r>
            <a:endParaRPr lang="zh-CN" altLang="en-US"/>
          </a:p>
        </p:txBody>
      </p:sp>
      <p:sp>
        <p:nvSpPr>
          <p:cNvPr id="3" name="内容占位符 2"/>
          <p:cNvSpPr>
            <a:spLocks noGrp="1"/>
          </p:cNvSpPr>
          <p:nvPr>
            <p:ph idx="1"/>
          </p:nvPr>
        </p:nvSpPr>
        <p:spPr>
          <a:xfrm>
            <a:off x="365760" y="920115"/>
            <a:ext cx="8321040" cy="520636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pic>
        <p:nvPicPr>
          <p:cNvPr id="7" name="图片 6"/>
          <p:cNvPicPr>
            <a:picLocks noChangeAspect="1"/>
          </p:cNvPicPr>
          <p:nvPr userDrawn="1"/>
        </p:nvPicPr>
        <p:blipFill>
          <a:blip r:embed="rId2"/>
          <a:stretch>
            <a:fillRect/>
          </a:stretch>
        </p:blipFill>
        <p:spPr>
          <a:xfrm>
            <a:off x="146685" y="123825"/>
            <a:ext cx="657225" cy="6667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r:embed="rId2"/>
          <a:stretch>
            <a:fillRect/>
          </a:stretch>
        </p:blipFill>
        <p:spPr>
          <a:xfrm>
            <a:off x="8229600" y="3175"/>
            <a:ext cx="9144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3" name="Rectangle 4"/>
          <p:cNvSpPr>
            <a:spLocks noGrp="1" noChangeArrowheads="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4" name="Rectangle 5"/>
          <p:cNvSpPr>
            <a:spLocks noGrp="1" noChangeArrowheads="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5" name="Rectangle 6"/>
          <p:cNvSpPr>
            <a:spLocks noGrp="1" noChangeArrowheads="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6365875" y="5973763"/>
            <a:ext cx="2435225" cy="601662"/>
          </a:xfrm>
          <a:prstGeom prst="rect">
            <a:avLst/>
          </a:prstGeom>
          <a:noFill/>
          <a:ln w="9525">
            <a:noFill/>
          </a:ln>
        </p:spPr>
      </p:pic>
      <p:sp>
        <p:nvSpPr>
          <p:cNvPr id="6147" name="Line 2"/>
          <p:cNvSpPr/>
          <p:nvPr userDrawn="1"/>
        </p:nvSpPr>
        <p:spPr>
          <a:xfrm flipV="1">
            <a:off x="323850" y="1268413"/>
            <a:ext cx="84963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grpSp>
        <p:nvGrpSpPr>
          <p:cNvPr id="6149" name="Group 10"/>
          <p:cNvGrpSpPr/>
          <p:nvPr userDrawn="1"/>
        </p:nvGrpSpPr>
        <p:grpSpPr>
          <a:xfrm>
            <a:off x="827088" y="5516563"/>
            <a:ext cx="8315325" cy="1360487"/>
            <a:chOff x="249" y="2341"/>
            <a:chExt cx="5178" cy="1613"/>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77" y="3593"/>
              <a:ext cx="115" cy="361"/>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44463" y="333375"/>
            <a:ext cx="3348037"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179388" y="5734050"/>
            <a:ext cx="1079500" cy="1057275"/>
          </a:xfrm>
          <a:prstGeom prst="rect">
            <a:avLst/>
          </a:prstGeom>
          <a:noFill/>
          <a:ln w="9525">
            <a:noFill/>
          </a:ln>
        </p:spPr>
      </p:pic>
      <p:sp>
        <p:nvSpPr>
          <p:cNvPr id="6152" name="Rectangle 13"/>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34925" y="188913"/>
            <a:ext cx="3673475"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3"/>
            <a:ext cx="9144000" cy="3095625"/>
          </a:xfrm>
          <a:prstGeom prst="rect">
            <a:avLst/>
          </a:prstGeom>
          <a:noFill/>
          <a:ln w="9525">
            <a:noFill/>
          </a:ln>
        </p:spPr>
      </p:pic>
      <p:sp>
        <p:nvSpPr>
          <p:cNvPr id="2999298" name="Rectangle 2"/>
          <p:cNvSpPr>
            <a:spLocks noGrp="1" noChangeArrowheads="1"/>
          </p:cNvSpPr>
          <p:nvPr>
            <p:ph type="ctrTitle"/>
          </p:nvPr>
        </p:nvSpPr>
        <p:spPr>
          <a:xfrm>
            <a:off x="685800" y="1273175"/>
            <a:ext cx="77724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endParaRPr lang="zh-CN" altLang="en-US" noProof="0"/>
          </a:p>
        </p:txBody>
      </p:sp>
      <p:sp>
        <p:nvSpPr>
          <p:cNvPr id="2999299" name="Rectangle 3"/>
          <p:cNvSpPr>
            <a:spLocks noGrp="1" noChangeArrowheads="1"/>
          </p:cNvSpPr>
          <p:nvPr>
            <p:ph type="subTitle" idx="1"/>
          </p:nvPr>
        </p:nvSpPr>
        <p:spPr>
          <a:xfrm>
            <a:off x="1371600" y="3028950"/>
            <a:ext cx="64008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endParaRPr lang="zh-CN" altLang="en-US"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905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29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104775"/>
            <a:ext cx="2020887" cy="59912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90575" y="104775"/>
            <a:ext cx="5913438" cy="59912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image" Target="../media/image11.png"/><Relationship Id="rId2" Type="http://schemas.openxmlformats.org/officeDocument/2006/relationships/slideLayout" Target="../slideLayouts/slideLayout24.xml"/><Relationship Id="rId19" Type="http://schemas.openxmlformats.org/officeDocument/2006/relationships/image" Target="../media/image10.jpeg"/><Relationship Id="rId18" Type="http://schemas.openxmlformats.org/officeDocument/2006/relationships/image" Target="../media/image9.jpeg"/><Relationship Id="rId17" Type="http://schemas.openxmlformats.org/officeDocument/2006/relationships/image" Target="../media/image8.jpeg"/><Relationship Id="rId16" Type="http://schemas.openxmlformats.org/officeDocument/2006/relationships/image" Target="../media/image7.jpeg"/><Relationship Id="rId15" Type="http://schemas.openxmlformats.org/officeDocument/2006/relationships/image" Target="../media/image6.jpeg"/><Relationship Id="rId14" Type="http://schemas.openxmlformats.org/officeDocument/2006/relationships/image" Target="../media/image5.jpeg"/><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4.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r:embed="rId12"/>
          <a:stretch>
            <a:fillRect/>
          </a:stretch>
        </p:blipFill>
        <p:spPr>
          <a:xfrm>
            <a:off x="0" y="0"/>
            <a:ext cx="9144000" cy="6858000"/>
          </a:xfrm>
          <a:prstGeom prst="rect">
            <a:avLst/>
          </a:prstGeom>
          <a:noFill/>
          <a:ln w="9525">
            <a:noFill/>
          </a:ln>
        </p:spPr>
      </p:pic>
      <p:pic>
        <p:nvPicPr>
          <p:cNvPr id="2051" name="Picture 12" descr="a_1"/>
          <p:cNvPicPr>
            <a:picLocks noChangeAspect="1"/>
          </p:cNvPicPr>
          <p:nvPr userDrawn="1"/>
        </p:nvPicPr>
        <p:blipFill>
          <a:blip r:embed="rId13"/>
          <a:srcRect l="2174"/>
          <a:stretch>
            <a:fillRect/>
          </a:stretch>
        </p:blipFill>
        <p:spPr>
          <a:xfrm>
            <a:off x="0" y="0"/>
            <a:ext cx="9144000" cy="5308600"/>
          </a:xfrm>
          <a:prstGeom prst="rect">
            <a:avLst/>
          </a:prstGeom>
          <a:noFill/>
          <a:ln w="9525">
            <a:noFill/>
          </a:ln>
        </p:spPr>
      </p:pic>
      <p:sp>
        <p:nvSpPr>
          <p:cNvPr id="2052" name="Rectangle 22"/>
          <p:cNvSpPr>
            <a:spLocks noChangeArrowheads="1"/>
          </p:cNvSpPr>
          <p:nvPr/>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8153400" y="4967288"/>
            <a:ext cx="969963"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8153400" y="3976688"/>
            <a:ext cx="969963"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6019800" y="5957888"/>
            <a:ext cx="1066800"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7134225" y="5943600"/>
            <a:ext cx="969963"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7107238" y="4967288"/>
            <a:ext cx="969963"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8153400" y="5943600"/>
            <a:ext cx="969963"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9144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0"/>
          <a:stretch>
            <a:fillRect/>
          </a:stretch>
        </p:blipFill>
        <p:spPr>
          <a:xfrm>
            <a:off x="1905000" y="1219200"/>
            <a:ext cx="5562600" cy="992188"/>
          </a:xfrm>
          <a:prstGeom prst="rect">
            <a:avLst/>
          </a:prstGeom>
          <a:noFill/>
          <a:ln w="9525">
            <a:noFill/>
          </a:ln>
        </p:spPr>
      </p:pic>
      <p:sp>
        <p:nvSpPr>
          <p:cNvPr id="3088" name="Line 34"/>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990600" y="838200"/>
            <a:ext cx="8001000" cy="51816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90" name="Rectangle 2"/>
          <p:cNvSpPr>
            <a:spLocks noGrp="1"/>
          </p:cNvSpPr>
          <p:nvPr>
            <p:ph type="title"/>
          </p:nvPr>
        </p:nvSpPr>
        <p:spPr>
          <a:xfrm>
            <a:off x="1066800" y="152400"/>
            <a:ext cx="6096000" cy="381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67"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9"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fld>
            <a:endParaRPr lang="en-US" altLang="zh-CN" sz="1400"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6577013" y="104775"/>
            <a:ext cx="2300287" cy="685800"/>
          </a:xfrm>
          <a:prstGeom prst="rect">
            <a:avLst/>
          </a:prstGeom>
          <a:noFill/>
          <a:ln w="9525">
            <a:noFill/>
          </a:ln>
        </p:spPr>
        <p:txBody>
          <a:bodyPr anchor="ctr"/>
          <a:lstStyle/>
          <a:p>
            <a:pPr lvl="0"/>
            <a:r>
              <a:rPr lang="zh-CN" altLang="en-US" dirty="0"/>
              <a:t>母版标题</a:t>
            </a:r>
            <a:endParaRPr lang="zh-CN" altLang="en-US" dirty="0"/>
          </a:p>
        </p:txBody>
      </p:sp>
      <p:sp>
        <p:nvSpPr>
          <p:cNvPr id="4099" name="Rectangle 5"/>
          <p:cNvSpPr>
            <a:spLocks noGrp="1"/>
          </p:cNvSpPr>
          <p:nvPr>
            <p:ph type="body" idx="1"/>
          </p:nvPr>
        </p:nvSpPr>
        <p:spPr>
          <a:xfrm>
            <a:off x="450850" y="931545"/>
            <a:ext cx="8112125" cy="516445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1" name="Rectangle 2"/>
          <p:cNvSpPr/>
          <p:nvPr userDrawn="1"/>
        </p:nvSpPr>
        <p:spPr>
          <a:xfrm>
            <a:off x="8408988" y="6453188"/>
            <a:ext cx="735012"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179388" y="765175"/>
            <a:ext cx="8713787"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914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2"/>
          <a:stretch>
            <a:fillRect/>
          </a:stretch>
        </p:blipFill>
        <p:spPr>
          <a:xfrm>
            <a:off x="144463" y="115888"/>
            <a:ext cx="2698750" cy="504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19.png"/><Relationship Id="rId1"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1.png"/><Relationship Id="rId1" Type="http://schemas.openxmlformats.org/officeDocument/2006/relationships/image" Target="../media/image20.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9.png"/><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42.png"/><Relationship Id="rId1" Type="http://schemas.openxmlformats.org/officeDocument/2006/relationships/image" Target="../media/image40.png"/></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2.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6.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9.jpeg"/><Relationship Id="rId1" Type="http://schemas.openxmlformats.org/officeDocument/2006/relationships/image" Target="../media/image58.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61.jpeg"/><Relationship Id="rId1" Type="http://schemas.openxmlformats.org/officeDocument/2006/relationships/image" Target="../media/image6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2.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64.jpeg"/><Relationship Id="rId1" Type="http://schemas.openxmlformats.org/officeDocument/2006/relationships/image" Target="../media/image63.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hyperlink" Target="https://www.thonky.com/qr-code-tutorial/show-division-steps?msg_coeff=%EF%BC%8816%EF%BC%8C32%EF%BC%8C12%EF%BC%8C86%EF%BC%8C97%EF%BC%8C128%EF%BC%8C236%EF%BC%8C17%EF%BC%8C236%EF%BC%89&amp;num_ecc_blocks=17"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7165"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a:t>
            </a:r>
            <a:r>
              <a:rPr lang="zh-CN" altLang="en-US" sz="3600" dirty="0">
                <a:solidFill>
                  <a:schemeClr val="bg1"/>
                </a:solidFill>
                <a:latin typeface="黑体" panose="02010609060101010101" pitchFamily="49" charset="-122"/>
                <a:ea typeface="黑体" panose="02010609060101010101" pitchFamily="49" charset="-122"/>
                <a:sym typeface="+mn-ea"/>
              </a:rPr>
              <a:t>七章 二维码</a:t>
            </a:r>
            <a:endParaRPr lang="zh-CN" altLang="en-US"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2305685" y="3879850"/>
            <a:ext cx="4815205" cy="1822450"/>
          </a:xfrm>
          <a:prstGeom prst="rect">
            <a:avLst/>
          </a:prstGeom>
          <a:noFill/>
        </p:spPr>
        <p:txBody>
          <a:bodyPr wrap="square" rtlCol="0">
            <a:spAutoFit/>
          </a:bodyPr>
          <a:lstStyle/>
          <a:p>
            <a:pPr algn="l">
              <a:lnSpc>
                <a:spcPts val="4500"/>
              </a:lnSpc>
            </a:pPr>
            <a:r>
              <a:rPr lang="zh-CN" altLang="en-US" sz="28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李丽香，彭海朋</a:t>
            </a:r>
            <a:endParaRPr lang="zh-CN" altLang="en-US" sz="24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北京邮电大学网络空间安全学院</a:t>
            </a:r>
            <a:endParaRPr lang="zh-CN" altLang="en-US" sz="24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网络与交换技术国家重点实验室</a:t>
            </a:r>
            <a:endParaRPr lang="zh-CN" altLang="en-US" sz="2400" b="1" dirty="0">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lvl="0" algn="l" eaLnBrk="1" hangingPunct="1">
              <a:buNone/>
            </a:pPr>
            <a:r>
              <a:rPr lang="zh-CN" altLang="en-US" sz="2800" b="1" kern="0" dirty="0">
                <a:cs typeface="+mn-cs"/>
                <a:sym typeface="+mn-ea"/>
              </a:rPr>
              <a:t>二维码的应用</a:t>
            </a:r>
            <a:endParaRPr lang="zh-CN" altLang="en-US" sz="2800" b="1" kern="0" noProof="0" dirty="0">
              <a:ln>
                <a:noFill/>
              </a:ln>
              <a:effectLst/>
              <a:uLnTx/>
              <a:uFillTx/>
              <a:cs typeface="+mn-cs"/>
              <a:sym typeface="+mn-ea"/>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b="1" kern="0" dirty="0">
                <a:cs typeface="+mn-cs"/>
                <a:sym typeface="+mn-ea"/>
              </a:rPr>
              <a:t>QR</a:t>
            </a:r>
            <a:r>
              <a:rPr lang="zh-CN" altLang="en-US" sz="2800" b="1" kern="0" dirty="0">
                <a:cs typeface="+mn-cs"/>
                <a:sym typeface="+mn-ea"/>
              </a:rPr>
              <a:t>码的生成与识别</a:t>
            </a:r>
            <a:endParaRPr lang="zh-CN" altLang="en-US" sz="2800" b="1" kern="0" noProof="0" dirty="0">
              <a:ln>
                <a:noFill/>
              </a:ln>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b="1" kern="0" dirty="0">
                <a:cs typeface="+mn-cs"/>
              </a:rPr>
              <a:t>二维码的特点</a:t>
            </a: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rgbClr val="000000"/>
                </a:solidFill>
                <a:cs typeface="+mn-cs"/>
              </a:rPr>
              <a:t>二维码的概念与原理</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lvl="0" algn="l">
              <a:buClrTx/>
              <a:buSzTx/>
              <a:buFont typeface="Arial" panose="020B0604020202020204" pitchFamily="34" charset="0"/>
              <a:buNone/>
              <a:defRPr/>
            </a:pPr>
            <a:r>
              <a:rPr lang="zh-CN" altLang="en-US" sz="2800" b="1" kern="0" dirty="0">
                <a:solidFill>
                  <a:schemeClr val="bg1">
                    <a:lumMod val="75000"/>
                  </a:schemeClr>
                </a:solidFill>
                <a:cs typeface="+mn-cs"/>
                <a:sym typeface="+mn-ea"/>
              </a:rPr>
              <a:t>二维码的应用</a:t>
            </a:r>
            <a:endParaRPr lang="zh-CN" altLang="en-US" sz="2800" b="1" kern="0" noProof="0" dirty="0">
              <a:ln>
                <a:noFill/>
              </a:ln>
              <a:solidFill>
                <a:schemeClr val="bg1">
                  <a:lumMod val="75000"/>
                </a:schemeClr>
              </a:solidFill>
              <a:effectLst/>
              <a:uLnTx/>
              <a:uFillTx/>
              <a:cs typeface="+mn-cs"/>
              <a:sym typeface="+mn-ea"/>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b="1" kern="0" dirty="0">
                <a:solidFill>
                  <a:schemeClr val="bg1">
                    <a:lumMod val="75000"/>
                  </a:schemeClr>
                </a:solidFill>
                <a:cs typeface="+mn-cs"/>
                <a:sym typeface="+mn-ea"/>
              </a:rPr>
              <a:t>QR</a:t>
            </a:r>
            <a:r>
              <a:rPr lang="zh-CN" altLang="en-US" sz="2800" b="1" kern="0" dirty="0">
                <a:solidFill>
                  <a:schemeClr val="bg1">
                    <a:lumMod val="75000"/>
                  </a:schemeClr>
                </a:solidFill>
                <a:cs typeface="+mn-cs"/>
                <a:sym typeface="+mn-ea"/>
              </a:rPr>
              <a:t>码的生成与识别</a:t>
            </a:r>
            <a:endParaRPr lang="zh-CN" altLang="en-US" sz="2800" b="1" kern="0" noProof="0" dirty="0">
              <a:ln>
                <a:noFill/>
              </a:ln>
              <a:solidFill>
                <a:schemeClr val="bg1">
                  <a:lumMod val="75000"/>
                </a:schemeClr>
              </a:solidFill>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800" b="1" kern="0" dirty="0">
                <a:solidFill>
                  <a:schemeClr val="bg1">
                    <a:lumMod val="75000"/>
                  </a:schemeClr>
                </a:solidFill>
                <a:cs typeface="+mn-cs"/>
              </a:rPr>
              <a:t>二维码的特点</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0" cap="none" spc="0" normalizeH="0" baseline="0" dirty="0">
                <a:solidFill>
                  <a:srgbClr val="000000"/>
                </a:solidFill>
                <a:latin typeface="Arial" panose="020B0604020202020204" pitchFamily="34" charset="0"/>
                <a:ea typeface="宋体" panose="02010600030101010101" pitchFamily="2" charset="-122"/>
                <a:cs typeface="+mn-cs"/>
                <a:sym typeface="+mn-ea"/>
              </a:rPr>
              <a:t>二维码的概念与原理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76942" y="-23751"/>
            <a:ext cx="4512945" cy="685800"/>
          </a:xfrm>
        </p:spPr>
        <p:txBody>
          <a:bodyPr/>
          <a:lstStyle/>
          <a:p>
            <a:r>
              <a:rPr lang="zh-CN" altLang="en-US" sz="2400" dirty="0">
                <a:sym typeface="+mn-ea"/>
              </a:rPr>
              <a:t>条形码简史</a:t>
            </a:r>
            <a:endParaRPr lang="zh-CN" altLang="en-US" sz="2400" dirty="0">
              <a:sym typeface="+mn-ea"/>
            </a:endParaRPr>
          </a:p>
        </p:txBody>
      </p:sp>
      <p:graphicFrame>
        <p:nvGraphicFramePr>
          <p:cNvPr id="7" name="图示 6"/>
          <p:cNvGraphicFramePr/>
          <p:nvPr/>
        </p:nvGraphicFramePr>
        <p:xfrm>
          <a:off x="0" y="914466"/>
          <a:ext cx="9143999" cy="586724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文本框 7"/>
          <p:cNvSpPr txBox="1"/>
          <p:nvPr/>
        </p:nvSpPr>
        <p:spPr>
          <a:xfrm>
            <a:off x="228714" y="3650750"/>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1920</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1410250" y="3650750"/>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1950</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2590618" y="3650750"/>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1959</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7332264" y="3650750"/>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2000</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5" name="文本框 14"/>
          <p:cNvSpPr txBox="1"/>
          <p:nvPr/>
        </p:nvSpPr>
        <p:spPr>
          <a:xfrm>
            <a:off x="6151896" y="3650750"/>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1988</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6" name="文本框 15"/>
          <p:cNvSpPr txBox="1"/>
          <p:nvPr/>
        </p:nvSpPr>
        <p:spPr>
          <a:xfrm>
            <a:off x="4971528" y="3636736"/>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1970</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7" name="文本框 16"/>
          <p:cNvSpPr txBox="1"/>
          <p:nvPr/>
        </p:nvSpPr>
        <p:spPr>
          <a:xfrm>
            <a:off x="3791160" y="3643586"/>
            <a:ext cx="68578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1960</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9" name="文本框 8"/>
          <p:cNvSpPr txBox="1"/>
          <p:nvPr/>
        </p:nvSpPr>
        <p:spPr>
          <a:xfrm>
            <a:off x="49604" y="2166258"/>
            <a:ext cx="2126217" cy="1477328"/>
          </a:xfrm>
          <a:prstGeom prst="rect">
            <a:avLst/>
          </a:prstGeom>
          <a:noFill/>
        </p:spPr>
        <p:txBody>
          <a:bodyPr wrap="square" rtlCol="0" anchor="b">
            <a:spAutoFit/>
          </a:bodyPr>
          <a:lstStyle/>
          <a:p>
            <a:r>
              <a:rPr lang="en-US" altLang="zh-CN" sz="1800" dirty="0">
                <a:latin typeface="Times New Roman" panose="02020603050405020304" pitchFamily="18" charset="0"/>
                <a:ea typeface="黑体" panose="02010609060101010101" pitchFamily="49" charset="-122"/>
              </a:rPr>
              <a:t>20</a:t>
            </a:r>
            <a:r>
              <a:rPr lang="zh-CN" altLang="en-US" sz="1800" dirty="0">
                <a:latin typeface="Times New Roman" panose="02020603050405020304" pitchFamily="18" charset="0"/>
                <a:ea typeface="黑体" panose="02010609060101010101" pitchFamily="49" charset="-122"/>
              </a:rPr>
              <a:t>世纪</a:t>
            </a:r>
            <a:r>
              <a:rPr lang="en-US" altLang="zh-CN" sz="1800" dirty="0">
                <a:latin typeface="Times New Roman" panose="02020603050405020304" pitchFamily="18" charset="0"/>
                <a:ea typeface="黑体" panose="02010609060101010101" pitchFamily="49" charset="-122"/>
              </a:rPr>
              <a:t>20</a:t>
            </a:r>
            <a:r>
              <a:rPr lang="zh-CN" altLang="en-US" sz="1800" dirty="0">
                <a:latin typeface="Times New Roman" panose="02020603050405020304" pitchFamily="18" charset="0"/>
                <a:ea typeface="黑体" panose="02010609060101010101" pitchFamily="49" charset="-122"/>
              </a:rPr>
              <a:t>年代，约翰</a:t>
            </a:r>
            <a:r>
              <a:rPr lang="en-US" altLang="zh-CN" sz="1800" dirty="0">
                <a:latin typeface="Times New Roman" panose="02020603050405020304" pitchFamily="18" charset="0"/>
                <a:ea typeface="黑体" panose="02010609060101010101" pitchFamily="49" charset="-122"/>
              </a:rPr>
              <a:t>·</a:t>
            </a:r>
            <a:r>
              <a:rPr lang="zh-CN" altLang="en-US" sz="1800" dirty="0">
                <a:latin typeface="Times New Roman" panose="02020603050405020304" pitchFamily="18" charset="0"/>
                <a:ea typeface="黑体" panose="02010609060101010101" pitchFamily="49" charset="-122"/>
              </a:rPr>
              <a:t>科芒德实现邮政单据自动分检方法。</a:t>
            </a:r>
            <a:endParaRPr lang="zh-CN" altLang="en-US" sz="1800" dirty="0">
              <a:latin typeface="Times New Roman" panose="02020603050405020304" pitchFamily="18" charset="0"/>
              <a:ea typeface="黑体" panose="02010609060101010101" pitchFamily="49" charset="-122"/>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8" name="文本框 17"/>
          <p:cNvSpPr txBox="1"/>
          <p:nvPr/>
        </p:nvSpPr>
        <p:spPr>
          <a:xfrm>
            <a:off x="895506" y="4230938"/>
            <a:ext cx="1883161" cy="1754326"/>
          </a:xfrm>
          <a:prstGeom prst="rect">
            <a:avLst/>
          </a:prstGeom>
          <a:noFill/>
        </p:spPr>
        <p:txBody>
          <a:bodyPr wrap="square" rtlCol="0" anchor="t">
            <a:spAutoFit/>
          </a:bodyPr>
          <a:lstStyle/>
          <a:p>
            <a:r>
              <a:rPr lang="en-US" altLang="zh-CN" sz="1800" dirty="0">
                <a:latin typeface="Times New Roman" panose="02020603050405020304" pitchFamily="18" charset="0"/>
                <a:ea typeface="+mn-ea"/>
              </a:rPr>
              <a:t>1949</a:t>
            </a:r>
            <a:r>
              <a:rPr lang="zh-CN" altLang="en-US" sz="1800" dirty="0">
                <a:latin typeface="Times New Roman" panose="02020603050405020304" pitchFamily="18" charset="0"/>
                <a:ea typeface="+mn-ea"/>
              </a:rPr>
              <a:t>年，美国乔</a:t>
            </a:r>
            <a:r>
              <a:rPr lang="en-US" altLang="zh-CN" sz="1800" dirty="0">
                <a:latin typeface="Times New Roman" panose="02020603050405020304" pitchFamily="18" charset="0"/>
                <a:ea typeface="+mn-ea"/>
              </a:rPr>
              <a:t>·</a:t>
            </a:r>
            <a:r>
              <a:rPr lang="zh-CN" altLang="en-US" sz="1800" dirty="0">
                <a:latin typeface="Times New Roman" panose="02020603050405020304" pitchFamily="18" charset="0"/>
                <a:ea typeface="+mn-ea"/>
              </a:rPr>
              <a:t>伍德兰德、伯尼</a:t>
            </a:r>
            <a:r>
              <a:rPr lang="en-US" altLang="zh-CN" sz="1800" dirty="0">
                <a:latin typeface="Times New Roman" panose="02020603050405020304" pitchFamily="18" charset="0"/>
                <a:ea typeface="+mn-ea"/>
              </a:rPr>
              <a:t>·</a:t>
            </a:r>
            <a:r>
              <a:rPr lang="zh-CN" altLang="en-US" sz="1800" dirty="0">
                <a:latin typeface="Times New Roman" panose="02020603050405020304" pitchFamily="18" charset="0"/>
                <a:ea typeface="+mn-ea"/>
              </a:rPr>
              <a:t>西尔沃发明了第一个条形码专利。</a:t>
            </a:r>
            <a:endParaRPr lang="zh-CN" altLang="en-US" sz="1800" dirty="0">
              <a:latin typeface="Times New Roman" panose="02020603050405020304" pitchFamily="18" charset="0"/>
              <a:ea typeface="+mn-ea"/>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19" name="文本框 18"/>
          <p:cNvSpPr txBox="1"/>
          <p:nvPr/>
        </p:nvSpPr>
        <p:spPr>
          <a:xfrm>
            <a:off x="2298855" y="2202314"/>
            <a:ext cx="1883161" cy="1477328"/>
          </a:xfrm>
          <a:prstGeom prst="rect">
            <a:avLst/>
          </a:prstGeom>
          <a:noFill/>
        </p:spPr>
        <p:txBody>
          <a:bodyPr wrap="square" rtlCol="0" anchor="t">
            <a:spAutoFit/>
          </a:bodyPr>
          <a:lstStyle/>
          <a:p>
            <a:r>
              <a:rPr lang="en-US" altLang="zh-CN" sz="1800" dirty="0">
                <a:latin typeface="Times New Roman" panose="02020603050405020304" pitchFamily="18" charset="0"/>
                <a:ea typeface="+mn-ea"/>
              </a:rPr>
              <a:t>1959</a:t>
            </a:r>
            <a:r>
              <a:rPr lang="zh-CN" altLang="en-US" sz="1800" dirty="0">
                <a:latin typeface="Times New Roman" panose="02020603050405020304" pitchFamily="18" charset="0"/>
                <a:ea typeface="+mn-ea"/>
              </a:rPr>
              <a:t>年，吉尔德</a:t>
            </a:r>
            <a:r>
              <a:rPr lang="en-US" altLang="zh-CN" sz="1800" dirty="0">
                <a:latin typeface="Times New Roman" panose="02020603050405020304" pitchFamily="18" charset="0"/>
                <a:ea typeface="+mn-ea"/>
              </a:rPr>
              <a:t>·</a:t>
            </a:r>
            <a:r>
              <a:rPr lang="zh-CN" altLang="en-US" sz="1800" dirty="0">
                <a:latin typeface="Times New Roman" panose="02020603050405020304" pitchFamily="18" charset="0"/>
                <a:ea typeface="+mn-ea"/>
              </a:rPr>
              <a:t>塞伊赛尔申请了用条形码表示数字的专利。</a:t>
            </a:r>
            <a:endParaRPr lang="zh-CN" altLang="en-US" sz="1800" dirty="0">
              <a:latin typeface="Times New Roman" panose="02020603050405020304" pitchFamily="18" charset="0"/>
              <a:ea typeface="+mn-ea"/>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20" name="文本框 19"/>
          <p:cNvSpPr txBox="1"/>
          <p:nvPr/>
        </p:nvSpPr>
        <p:spPr>
          <a:xfrm>
            <a:off x="3141008" y="4230938"/>
            <a:ext cx="2082016" cy="1477328"/>
          </a:xfrm>
          <a:prstGeom prst="rect">
            <a:avLst/>
          </a:prstGeom>
          <a:noFill/>
        </p:spPr>
        <p:txBody>
          <a:bodyPr wrap="square" rtlCol="0" anchor="t">
            <a:spAutoFit/>
          </a:bodyPr>
          <a:lstStyle/>
          <a:p>
            <a:r>
              <a:rPr lang="en-US" altLang="zh-CN" sz="1800" dirty="0">
                <a:latin typeface="Times New Roman" panose="02020603050405020304" pitchFamily="18" charset="0"/>
                <a:ea typeface="+mn-ea"/>
              </a:rPr>
              <a:t>60</a:t>
            </a:r>
            <a:r>
              <a:rPr lang="zh-CN" altLang="en-US" sz="1800" dirty="0">
                <a:latin typeface="Times New Roman" panose="02020603050405020304" pitchFamily="18" charset="0"/>
                <a:ea typeface="+mn-ea"/>
              </a:rPr>
              <a:t>年代，西尔沃尼亚发明一套条形码系统并在北美铁路系统成功应用。</a:t>
            </a:r>
            <a:endParaRPr lang="zh-CN" altLang="en-US" sz="1800" dirty="0">
              <a:latin typeface="Times New Roman" panose="02020603050405020304" pitchFamily="18" charset="0"/>
              <a:ea typeface="+mn-ea"/>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21" name="文本框 20"/>
          <p:cNvSpPr txBox="1"/>
          <p:nvPr/>
        </p:nvSpPr>
        <p:spPr>
          <a:xfrm>
            <a:off x="4450260" y="2224379"/>
            <a:ext cx="2126216" cy="1477328"/>
          </a:xfrm>
          <a:prstGeom prst="rect">
            <a:avLst/>
          </a:prstGeom>
          <a:noFill/>
        </p:spPr>
        <p:txBody>
          <a:bodyPr wrap="square" rtlCol="0" anchor="t">
            <a:spAutoFit/>
          </a:bodyPr>
          <a:lstStyle/>
          <a:p>
            <a:r>
              <a:rPr lang="en-US" altLang="zh-CN" sz="1800" dirty="0">
                <a:latin typeface="Times New Roman" panose="02020603050405020304" pitchFamily="18" charset="0"/>
                <a:ea typeface="+mn-ea"/>
              </a:rPr>
              <a:t>70</a:t>
            </a:r>
            <a:r>
              <a:rPr lang="zh-CN" altLang="en-US" sz="1800" dirty="0">
                <a:latin typeface="Times New Roman" panose="02020603050405020304" pitchFamily="18" charset="0"/>
                <a:ea typeface="+mn-ea"/>
              </a:rPr>
              <a:t>年代，</a:t>
            </a:r>
            <a:r>
              <a:rPr lang="en-US" altLang="zh-CN" sz="1800" dirty="0">
                <a:latin typeface="Times New Roman" panose="02020603050405020304" pitchFamily="18" charset="0"/>
                <a:ea typeface="+mn-ea"/>
              </a:rPr>
              <a:t>UPC</a:t>
            </a:r>
            <a:r>
              <a:rPr lang="zh-CN" altLang="en-US" sz="1800" dirty="0">
                <a:latin typeface="Times New Roman" panose="02020603050405020304" pitchFamily="18" charset="0"/>
                <a:ea typeface="+mn-ea"/>
              </a:rPr>
              <a:t>码（</a:t>
            </a:r>
            <a:r>
              <a:rPr lang="en-US" altLang="zh-CN" sz="1800" dirty="0">
                <a:latin typeface="Times New Roman" panose="02020603050405020304" pitchFamily="18" charset="0"/>
                <a:ea typeface="+mn-ea"/>
              </a:rPr>
              <a:t>Universal Product Code</a:t>
            </a:r>
            <a:r>
              <a:rPr lang="zh-CN" altLang="en-US" sz="1800" dirty="0">
                <a:latin typeface="Times New Roman" panose="02020603050405020304" pitchFamily="18" charset="0"/>
                <a:ea typeface="+mn-ea"/>
              </a:rPr>
              <a:t>）在北美超市得到广泛应用。</a:t>
            </a:r>
            <a:endParaRPr lang="zh-CN" altLang="en-US" sz="1800" dirty="0">
              <a:latin typeface="Times New Roman" panose="02020603050405020304" pitchFamily="18" charset="0"/>
              <a:ea typeface="+mn-ea"/>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22" name="文本框 21"/>
          <p:cNvSpPr txBox="1"/>
          <p:nvPr/>
        </p:nvSpPr>
        <p:spPr>
          <a:xfrm>
            <a:off x="5604346" y="4242301"/>
            <a:ext cx="2191203" cy="1477328"/>
          </a:xfrm>
          <a:prstGeom prst="rect">
            <a:avLst/>
          </a:prstGeom>
          <a:noFill/>
        </p:spPr>
        <p:txBody>
          <a:bodyPr wrap="square" rtlCol="0" anchor="t">
            <a:spAutoFit/>
          </a:bodyPr>
          <a:lstStyle/>
          <a:p>
            <a:r>
              <a:rPr lang="en-US" altLang="zh-CN" sz="1800" dirty="0">
                <a:latin typeface="Times New Roman" panose="02020603050405020304" pitchFamily="18" charset="0"/>
                <a:ea typeface="+mn-ea"/>
              </a:rPr>
              <a:t>1988</a:t>
            </a:r>
            <a:r>
              <a:rPr lang="zh-CN" altLang="en-US" sz="1800" dirty="0">
                <a:latin typeface="Times New Roman" panose="02020603050405020304" pitchFamily="18" charset="0"/>
                <a:ea typeface="+mn-ea"/>
              </a:rPr>
              <a:t>年，中国成立了中国物品编码中心，</a:t>
            </a:r>
            <a:r>
              <a:rPr lang="en-US" altLang="zh-CN" sz="1800" dirty="0">
                <a:latin typeface="Times New Roman" panose="02020603050405020304" pitchFamily="18" charset="0"/>
                <a:ea typeface="+mn-ea"/>
              </a:rPr>
              <a:t>80</a:t>
            </a:r>
            <a:r>
              <a:rPr lang="zh-CN" altLang="en-US" sz="1800" dirty="0">
                <a:latin typeface="Times New Roman" panose="02020603050405020304" pitchFamily="18" charset="0"/>
                <a:ea typeface="+mn-ea"/>
              </a:rPr>
              <a:t>年代末国外研制出二维码。</a:t>
            </a:r>
            <a:endParaRPr lang="zh-CN" altLang="en-US" sz="1800" dirty="0">
              <a:latin typeface="Times New Roman" panose="02020603050405020304" pitchFamily="18" charset="0"/>
              <a:ea typeface="+mn-ea"/>
            </a:endParaRPr>
          </a:p>
          <a:p>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
        <p:nvSpPr>
          <p:cNvPr id="23" name="文本框 22"/>
          <p:cNvSpPr txBox="1"/>
          <p:nvPr/>
        </p:nvSpPr>
        <p:spPr>
          <a:xfrm>
            <a:off x="6881173" y="2734122"/>
            <a:ext cx="1828752" cy="646331"/>
          </a:xfrm>
          <a:prstGeom prst="rect">
            <a:avLst/>
          </a:prstGeom>
          <a:noFill/>
        </p:spPr>
        <p:txBody>
          <a:bodyPr wrap="square" rtlCol="0" anchor="t">
            <a:spAutoFit/>
          </a:bodyPr>
          <a:lstStyle/>
          <a:p>
            <a:r>
              <a:rPr lang="en-US" altLang="zh-CN" dirty="0">
                <a:latin typeface="Times New Roman" panose="02020603050405020304" pitchFamily="18" charset="0"/>
                <a:ea typeface="黑体" panose="02010609060101010101" pitchFamily="49" charset="-122"/>
                <a:sym typeface="+mn-ea"/>
              </a:rPr>
              <a:t>1997</a:t>
            </a:r>
            <a:r>
              <a:rPr lang="zh-CN" altLang="en-US" dirty="0">
                <a:latin typeface="Times New Roman" panose="02020603050405020304" pitchFamily="18" charset="0"/>
                <a:ea typeface="黑体" panose="02010609060101010101" pitchFamily="49" charset="-122"/>
                <a:sym typeface="+mn-ea"/>
              </a:rPr>
              <a:t>、</a:t>
            </a:r>
            <a:r>
              <a:rPr lang="en-US" altLang="zh-CN" dirty="0">
                <a:latin typeface="Times New Roman" panose="02020603050405020304" pitchFamily="18" charset="0"/>
                <a:ea typeface="黑体" panose="02010609060101010101" pitchFamily="49" charset="-122"/>
                <a:sym typeface="+mn-ea"/>
              </a:rPr>
              <a:t>2000</a:t>
            </a:r>
            <a:r>
              <a:rPr lang="zh-CN" altLang="en-US" dirty="0">
                <a:latin typeface="Times New Roman" panose="02020603050405020304" pitchFamily="18" charset="0"/>
                <a:ea typeface="黑体" panose="02010609060101010101" pitchFamily="49" charset="-122"/>
                <a:sym typeface="+mn-ea"/>
              </a:rPr>
              <a:t>年确定了国家标准。</a:t>
            </a:r>
            <a:endParaRPr lang="zh-CN" altLang="en-US"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二维码概念</a:t>
            </a:r>
            <a:endParaRPr lang="zh-CN" altLang="en-US" sz="2400" dirty="0">
              <a:sym typeface="+mn-ea"/>
            </a:endParaRPr>
          </a:p>
        </p:txBody>
      </p:sp>
      <p:sp>
        <p:nvSpPr>
          <p:cNvPr id="10" name="文本框 9"/>
          <p:cNvSpPr txBox="1"/>
          <p:nvPr/>
        </p:nvSpPr>
        <p:spPr>
          <a:xfrm>
            <a:off x="730250" y="927735"/>
            <a:ext cx="7634605" cy="2554545"/>
          </a:xfrm>
          <a:prstGeom prst="rect">
            <a:avLst/>
          </a:prstGeom>
          <a:noFill/>
        </p:spPr>
        <p:txBody>
          <a:bodyPr wrap="square" rtlCol="0" anchor="t">
            <a:spAutoFit/>
          </a:bodyPr>
          <a:lstStyle/>
          <a:p>
            <a:pPr algn="l"/>
            <a:r>
              <a:rPr lang="en-US" sz="2000" dirty="0">
                <a:uFillTx/>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二维码（</a:t>
            </a:r>
            <a:r>
              <a:rPr lang="en-US" altLang="zh-CN" sz="2000" dirty="0">
                <a:solidFill>
                  <a:srgbClr val="FF0000"/>
                </a:solidFill>
                <a:latin typeface="Times New Roman" panose="02020603050405020304" pitchFamily="18" charset="0"/>
                <a:ea typeface="黑体" panose="02010609060101010101" pitchFamily="49" charset="-122"/>
                <a:sym typeface="+mn-ea"/>
              </a:rPr>
              <a:t>2-dimensional bar code</a:t>
            </a:r>
            <a:r>
              <a:rPr lang="zh-CN" altLang="en-US" sz="2000" dirty="0">
                <a:solidFill>
                  <a:srgbClr val="FF0000"/>
                </a:solidFill>
                <a:latin typeface="Times New Roman" panose="02020603050405020304" pitchFamily="18" charset="0"/>
                <a:ea typeface="黑体" panose="02010609060101010101" pitchFamily="49" charset="-122"/>
                <a:sym typeface="+mn-ea"/>
              </a:rPr>
              <a:t>），也叫二维条码或二维条形码，它是用某种特定的几何图形按一定规律在平面（二维方向上）分布的黑白相间的记录数据符号信息的图形。</a:t>
            </a:r>
            <a:r>
              <a:rPr lang="zh-CN" altLang="en-US" sz="2000" dirty="0">
                <a:latin typeface="Times New Roman" panose="02020603050405020304" pitchFamily="18" charset="0"/>
                <a:ea typeface="黑体" panose="02010609060101010101" pitchFamily="49" charset="-122"/>
                <a:sym typeface="+mn-ea"/>
              </a:rPr>
              <a:t>它在代码编制上巧妙地利用构成计算机内部逻辑基础的</a:t>
            </a:r>
            <a:r>
              <a:rPr lang="en-US" altLang="zh-CN" sz="2000" dirty="0">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比特流的概念，使用若干与二进制相对应的几何形体来表示文字数值信息，通过图像输入设备或光电扫描设备自动识读以实现信息自动处理。</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a:t>
            </a:r>
            <a:r>
              <a:rPr lang="zh-CN" altLang="en-US" sz="2000" dirty="0">
                <a:uFillTx/>
                <a:latin typeface="Times New Roman" panose="02020603050405020304" pitchFamily="18" charset="0"/>
                <a:ea typeface="黑体" panose="02010609060101010101" pitchFamily="49" charset="-122"/>
                <a:sym typeface="+mn-ea"/>
              </a:rPr>
              <a:t>它的起源是日本，原本是</a:t>
            </a:r>
            <a:r>
              <a:rPr lang="en-US" altLang="zh-CN" sz="2000" dirty="0" err="1">
                <a:uFillTx/>
                <a:latin typeface="Times New Roman" panose="02020603050405020304" pitchFamily="18" charset="0"/>
                <a:ea typeface="黑体" panose="02010609060101010101" pitchFamily="49" charset="-122"/>
                <a:sym typeface="+mn-ea"/>
              </a:rPr>
              <a:t>DensoWave</a:t>
            </a:r>
            <a:r>
              <a:rPr lang="zh-CN" altLang="en-US" sz="2000" dirty="0">
                <a:uFillTx/>
                <a:latin typeface="Times New Roman" panose="02020603050405020304" pitchFamily="18" charset="0"/>
                <a:ea typeface="黑体" panose="02010609060101010101" pitchFamily="49" charset="-122"/>
                <a:sym typeface="+mn-ea"/>
              </a:rPr>
              <a:t>公司为了追踪汽车零部件而设计的一种条码。</a:t>
            </a:r>
            <a:endParaRPr sz="2000" dirty="0">
              <a:uFillTx/>
              <a:latin typeface="Times New Roman" panose="02020603050405020304" pitchFamily="18" charset="0"/>
              <a:ea typeface="黑体" panose="02010609060101010101" pitchFamily="49" charset="-122"/>
              <a:sym typeface="+mn-ea"/>
            </a:endParaRPr>
          </a:p>
        </p:txBody>
      </p:sp>
      <p:pic>
        <p:nvPicPr>
          <p:cNvPr id="1026" name="Picture 2" descr="二维码 的图像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92" y="4037335"/>
            <a:ext cx="2238483" cy="223848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7559" y="4037373"/>
            <a:ext cx="3493295" cy="22384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二维码的分类与原理</a:t>
            </a:r>
            <a:endParaRPr lang="zh-CN" altLang="en-US" sz="2400" dirty="0">
              <a:sym typeface="+mn-ea"/>
            </a:endParaRPr>
          </a:p>
        </p:txBody>
      </p:sp>
      <p:sp>
        <p:nvSpPr>
          <p:cNvPr id="10" name="文本框 9"/>
          <p:cNvSpPr txBox="1"/>
          <p:nvPr/>
        </p:nvSpPr>
        <p:spPr>
          <a:xfrm>
            <a:off x="607060" y="1078865"/>
            <a:ext cx="7833360" cy="400110"/>
          </a:xfrm>
          <a:prstGeom prst="rect">
            <a:avLst/>
          </a:prstGeom>
          <a:noFill/>
        </p:spPr>
        <p:txBody>
          <a:bodyPr wrap="square" rtlCol="0" anchor="t">
            <a:spAutoFit/>
          </a:bodyPr>
          <a:lstStyle/>
          <a:p>
            <a:pPr algn="l">
              <a:buFont typeface="Arial" panose="020B0604020202020204" pitchFamily="34" charset="0"/>
            </a:pPr>
            <a:r>
              <a:rPr lang="zh-CN" altLang="en-US" sz="2000" dirty="0">
                <a:latin typeface="Times New Roman" panose="02020603050405020304" pitchFamily="18" charset="0"/>
                <a:ea typeface="黑体" panose="02010609060101010101" pitchFamily="49" charset="-122"/>
                <a:sym typeface="+mn-ea"/>
              </a:rPr>
              <a:t>        二维码可以分为行排式二维码和矩阵式二维码。</a:t>
            </a:r>
            <a:endParaRPr lang="en-US" altLang="zh-CN" sz="2000" dirty="0">
              <a:latin typeface="Times New Roman" panose="02020603050405020304" pitchFamily="18" charset="0"/>
              <a:ea typeface="黑体" panose="02010609060101010101" pitchFamily="49" charset="-122"/>
              <a:sym typeface="+mn-ea"/>
            </a:endParaRPr>
          </a:p>
        </p:txBody>
      </p:sp>
      <p:sp>
        <p:nvSpPr>
          <p:cNvPr id="4" name="文本框 3"/>
          <p:cNvSpPr txBox="1"/>
          <p:nvPr/>
        </p:nvSpPr>
        <p:spPr>
          <a:xfrm>
            <a:off x="302953" y="4000630"/>
            <a:ext cx="990574" cy="400110"/>
          </a:xfrm>
          <a:prstGeom prst="rect">
            <a:avLst/>
          </a:prstGeom>
          <a:noFill/>
        </p:spPr>
        <p:txBody>
          <a:bodyPr wrap="square" rtlCol="0" anchor="t">
            <a:spAutoFit/>
          </a:bodyPr>
          <a:lstStyle/>
          <a:p>
            <a:r>
              <a:rPr lang="zh-CN" altLang="en-US" sz="2000" dirty="0">
                <a:latin typeface="黑体" panose="02010609060101010101" pitchFamily="49" charset="-122"/>
                <a:ea typeface="黑体" panose="02010609060101010101" pitchFamily="49" charset="-122"/>
                <a:sym typeface="+mn-ea"/>
              </a:rPr>
              <a:t>二维码</a:t>
            </a:r>
            <a:endParaRPr lang="zh-CN" altLang="en-US" sz="2000" dirty="0">
              <a:latin typeface="黑体" panose="02010609060101010101" pitchFamily="49" charset="-122"/>
              <a:ea typeface="黑体" panose="02010609060101010101" pitchFamily="49" charset="-122"/>
              <a:sym typeface="+mn-ea"/>
            </a:endParaRPr>
          </a:p>
        </p:txBody>
      </p:sp>
      <p:sp>
        <p:nvSpPr>
          <p:cNvPr id="5" name="文本框 4"/>
          <p:cNvSpPr txBox="1"/>
          <p:nvPr/>
        </p:nvSpPr>
        <p:spPr>
          <a:xfrm>
            <a:off x="1617420" y="3429000"/>
            <a:ext cx="1828752" cy="400110"/>
          </a:xfrm>
          <a:prstGeom prst="rect">
            <a:avLst/>
          </a:prstGeom>
          <a:noFill/>
        </p:spPr>
        <p:txBody>
          <a:bodyPr wrap="square" rtlCol="0" anchor="t">
            <a:spAutoFit/>
          </a:bodyPr>
          <a:lstStyle/>
          <a:p>
            <a:r>
              <a:rPr lang="zh-CN" altLang="en-US" sz="2000" dirty="0">
                <a:latin typeface="黑体" panose="02010609060101010101" pitchFamily="49" charset="-122"/>
                <a:ea typeface="黑体" panose="02010609060101010101" pitchFamily="49" charset="-122"/>
                <a:sym typeface="+mn-ea"/>
              </a:rPr>
              <a:t>行排式二维码</a:t>
            </a:r>
            <a:endParaRPr lang="zh-CN" altLang="en-US" sz="2000" dirty="0">
              <a:latin typeface="黑体" panose="02010609060101010101" pitchFamily="49" charset="-122"/>
              <a:ea typeface="黑体" panose="02010609060101010101" pitchFamily="49" charset="-122"/>
              <a:sym typeface="+mn-ea"/>
            </a:endParaRPr>
          </a:p>
        </p:txBody>
      </p:sp>
      <p:sp>
        <p:nvSpPr>
          <p:cNvPr id="6" name="文本框 5"/>
          <p:cNvSpPr txBox="1"/>
          <p:nvPr/>
        </p:nvSpPr>
        <p:spPr>
          <a:xfrm>
            <a:off x="1617420" y="4646922"/>
            <a:ext cx="1828752" cy="400110"/>
          </a:xfrm>
          <a:prstGeom prst="rect">
            <a:avLst/>
          </a:prstGeom>
          <a:noFill/>
        </p:spPr>
        <p:txBody>
          <a:bodyPr wrap="square" rtlCol="0" anchor="t">
            <a:spAutoFit/>
          </a:bodyPr>
          <a:lstStyle/>
          <a:p>
            <a:r>
              <a:rPr lang="zh-CN" altLang="en-US" sz="2000" dirty="0">
                <a:latin typeface="黑体" panose="02010609060101010101" pitchFamily="49" charset="-122"/>
                <a:ea typeface="黑体" panose="02010609060101010101" pitchFamily="49" charset="-122"/>
                <a:sym typeface="+mn-ea"/>
              </a:rPr>
              <a:t>矩阵式二维码</a:t>
            </a:r>
            <a:endParaRPr lang="zh-CN" altLang="en-US" sz="2000" dirty="0">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3886218" y="3065388"/>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16K</a:t>
            </a:r>
            <a:endParaRPr lang="zh-CN" altLang="en-US" sz="2000" dirty="0">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3886218" y="3429000"/>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PDF417</a:t>
            </a:r>
            <a:endParaRPr lang="zh-CN" altLang="en-US" sz="2000" dirty="0">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3886218" y="3866961"/>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a:t>
            </a:r>
            <a:endParaRPr lang="zh-CN" altLang="en-US" sz="2000" dirty="0">
              <a:latin typeface="黑体" panose="02010609060101010101" pitchFamily="49" charset="-122"/>
              <a:ea typeface="黑体" panose="02010609060101010101" pitchFamily="49" charset="-122"/>
              <a:sym typeface="+mn-ea"/>
            </a:endParaRPr>
          </a:p>
        </p:txBody>
      </p:sp>
      <p:sp>
        <p:nvSpPr>
          <p:cNvPr id="15" name="文本框 14"/>
          <p:cNvSpPr txBox="1"/>
          <p:nvPr/>
        </p:nvSpPr>
        <p:spPr>
          <a:xfrm>
            <a:off x="3886218" y="4256499"/>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One</a:t>
            </a:r>
            <a:endParaRPr lang="zh-CN" altLang="en-US" sz="2000" dirty="0">
              <a:latin typeface="黑体" panose="02010609060101010101" pitchFamily="49" charset="-122"/>
              <a:ea typeface="黑体" panose="02010609060101010101" pitchFamily="49" charset="-122"/>
              <a:sym typeface="+mn-ea"/>
            </a:endParaRPr>
          </a:p>
        </p:txBody>
      </p:sp>
      <p:sp>
        <p:nvSpPr>
          <p:cNvPr id="16" name="文本框 15"/>
          <p:cNvSpPr txBox="1"/>
          <p:nvPr/>
        </p:nvSpPr>
        <p:spPr>
          <a:xfrm>
            <a:off x="3886218" y="4657480"/>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QR Code</a:t>
            </a:r>
            <a:endParaRPr lang="zh-CN" altLang="en-US" sz="2000" dirty="0">
              <a:latin typeface="黑体" panose="02010609060101010101" pitchFamily="49" charset="-122"/>
              <a:ea typeface="黑体" panose="02010609060101010101" pitchFamily="49" charset="-122"/>
              <a:sym typeface="+mn-ea"/>
            </a:endParaRPr>
          </a:p>
        </p:txBody>
      </p:sp>
      <p:sp>
        <p:nvSpPr>
          <p:cNvPr id="17" name="文本框 16"/>
          <p:cNvSpPr txBox="1"/>
          <p:nvPr/>
        </p:nvSpPr>
        <p:spPr>
          <a:xfrm>
            <a:off x="3886218" y="5046073"/>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a:t>
            </a:r>
            <a:endParaRPr lang="zh-CN" altLang="en-US" sz="2000" dirty="0">
              <a:latin typeface="黑体" panose="02010609060101010101" pitchFamily="49" charset="-122"/>
              <a:ea typeface="黑体" panose="02010609060101010101" pitchFamily="49" charset="-122"/>
              <a:sym typeface="+mn-ea"/>
            </a:endParaRPr>
          </a:p>
        </p:txBody>
      </p:sp>
      <p:sp>
        <p:nvSpPr>
          <p:cNvPr id="8" name="左大括号 7"/>
          <p:cNvSpPr/>
          <p:nvPr/>
        </p:nvSpPr>
        <p:spPr bwMode="auto">
          <a:xfrm>
            <a:off x="1236430" y="3629055"/>
            <a:ext cx="361889" cy="1203036"/>
          </a:xfrm>
          <a:prstGeom prst="leftBrace">
            <a:avLst>
              <a:gd name="adj1" fmla="val 8333"/>
              <a:gd name="adj2" fmla="val 50343"/>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9" name="左大括号 8"/>
          <p:cNvSpPr/>
          <p:nvPr/>
        </p:nvSpPr>
        <p:spPr bwMode="auto">
          <a:xfrm>
            <a:off x="3322308" y="3265443"/>
            <a:ext cx="485753" cy="81744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18" name="左大括号 17"/>
          <p:cNvSpPr/>
          <p:nvPr/>
        </p:nvSpPr>
        <p:spPr bwMode="auto">
          <a:xfrm>
            <a:off x="3317576" y="4459867"/>
            <a:ext cx="485753" cy="81744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pic>
        <p:nvPicPr>
          <p:cNvPr id="3074" name="Picture 2" descr="行排式二维码 的图像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460" y="2322843"/>
            <a:ext cx="2009775"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p:cNvPicPr>
            <a:picLocks noChangeAspect="1"/>
          </p:cNvPicPr>
          <p:nvPr/>
        </p:nvPicPr>
        <p:blipFill>
          <a:blip r:embed="rId2"/>
          <a:stretch>
            <a:fillRect/>
          </a:stretch>
        </p:blipFill>
        <p:spPr>
          <a:xfrm>
            <a:off x="5973460" y="4315288"/>
            <a:ext cx="2162628" cy="1704444"/>
          </a:xfrm>
          <a:prstGeom prst="rect">
            <a:avLst/>
          </a:prstGeom>
        </p:spPr>
      </p:pic>
      <p:sp>
        <p:nvSpPr>
          <p:cNvPr id="23" name="文本框 22"/>
          <p:cNvSpPr txBox="1"/>
          <p:nvPr/>
        </p:nvSpPr>
        <p:spPr>
          <a:xfrm>
            <a:off x="6400752" y="3512211"/>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PDF417</a:t>
            </a:r>
            <a:endParaRPr lang="zh-CN" altLang="en-US" sz="2000" dirty="0">
              <a:latin typeface="黑体" panose="02010609060101010101" pitchFamily="49" charset="-122"/>
              <a:ea typeface="黑体" panose="02010609060101010101" pitchFamily="49" charset="-122"/>
              <a:sym typeface="+mn-ea"/>
            </a:endParaRPr>
          </a:p>
        </p:txBody>
      </p:sp>
      <p:sp>
        <p:nvSpPr>
          <p:cNvPr id="24" name="文本框 23"/>
          <p:cNvSpPr txBox="1"/>
          <p:nvPr/>
        </p:nvSpPr>
        <p:spPr>
          <a:xfrm>
            <a:off x="6400752" y="6019732"/>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One</a:t>
            </a:r>
            <a:endParaRPr lang="zh-CN" altLang="en-US" sz="20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行排式二维码</a:t>
            </a:r>
            <a:endParaRPr lang="zh-CN" altLang="en-US" sz="2400" dirty="0">
              <a:sym typeface="+mn-ea"/>
            </a:endParaRPr>
          </a:p>
        </p:txBody>
      </p:sp>
      <p:sp>
        <p:nvSpPr>
          <p:cNvPr id="10" name="文本框 9"/>
          <p:cNvSpPr txBox="1"/>
          <p:nvPr/>
        </p:nvSpPr>
        <p:spPr>
          <a:xfrm>
            <a:off x="531495" y="1003300"/>
            <a:ext cx="8039735" cy="2246769"/>
          </a:xfrm>
          <a:prstGeom prst="rect">
            <a:avLst/>
          </a:prstGeom>
          <a:noFill/>
        </p:spPr>
        <p:txBody>
          <a:bodyPr wrap="square" rtlCol="0" anchor="t">
            <a:spAutoFit/>
          </a:bodyPr>
          <a:lstStyle/>
          <a:p>
            <a:pPr algn="l"/>
            <a:r>
              <a:rPr lang="zh-CN" altLang="en-US" sz="2000" dirty="0">
                <a:latin typeface="Times New Roman" panose="02020603050405020304" pitchFamily="18" charset="0"/>
                <a:ea typeface="黑体" panose="02010609060101010101" pitchFamily="49" charset="-122"/>
                <a:sym typeface="+mn-ea"/>
              </a:rPr>
              <a:t>        行排式二维码形态上是由多行短截的一维条码堆叠而成。</a:t>
            </a:r>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a:t>
            </a:r>
            <a:r>
              <a:rPr lang="zh-CN" altLang="en-US" sz="2000" dirty="0">
                <a:solidFill>
                  <a:srgbClr val="FF0000"/>
                </a:solidFill>
                <a:uFillTx/>
                <a:latin typeface="Times New Roman" panose="02020603050405020304" pitchFamily="18" charset="0"/>
                <a:ea typeface="黑体" panose="02010609060101010101" pitchFamily="49" charset="-122"/>
                <a:sym typeface="+mn-ea"/>
              </a:rPr>
              <a:t>行排式二维码，又称堆积式二维码或层排式二维码，其编码原理是建立在一维条码基础之上，按需要堆积成二行或多行。</a:t>
            </a:r>
            <a:endParaRPr lang="en-US" altLang="zh-CN" sz="2000" dirty="0">
              <a:solidFill>
                <a:srgbClr val="FF0000"/>
              </a:solidFill>
              <a:uFillTx/>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它在编码设计、校验原理、识读方式等方面继承了一维条码的一些特点，识读设备和条码印刷与一维条码技术兼容。但由于行数的增加，需要对行进行判定、其译码算法与软件也不完全相同于一维码。</a:t>
            </a:r>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有代表性的行排式二维码有</a:t>
            </a:r>
            <a:r>
              <a:rPr lang="en-US" altLang="zh-CN" sz="2000" dirty="0">
                <a:uFillTx/>
                <a:latin typeface="Times New Roman" panose="02020603050405020304" pitchFamily="18" charset="0"/>
                <a:ea typeface="黑体" panose="02010609060101010101" pitchFamily="49" charset="-122"/>
                <a:sym typeface="+mn-ea"/>
              </a:rPr>
              <a:t>Code 49</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Code 16K</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PDF417</a:t>
            </a:r>
            <a:r>
              <a:rPr lang="zh-CN" altLang="en-US" sz="2000" dirty="0">
                <a:uFillTx/>
                <a:latin typeface="Times New Roman" panose="02020603050405020304" pitchFamily="18" charset="0"/>
                <a:ea typeface="黑体" panose="02010609060101010101" pitchFamily="49" charset="-122"/>
                <a:sym typeface="+mn-ea"/>
              </a:rPr>
              <a:t>等</a:t>
            </a:r>
            <a:r>
              <a:rPr lang="zh-CN" altLang="en-US" sz="2000" dirty="0">
                <a:latin typeface="Times New Roman" panose="02020603050405020304" pitchFamily="18" charset="0"/>
                <a:ea typeface="黑体" panose="02010609060101010101" pitchFamily="49" charset="-122"/>
                <a:sym typeface="+mn-ea"/>
              </a:rPr>
              <a:t>。</a:t>
            </a:r>
            <a:endParaRPr sz="2000" dirty="0">
              <a:uFillTx/>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6342170" y="4289114"/>
            <a:ext cx="2324100" cy="1076325"/>
          </a:xfrm>
          <a:prstGeom prst="rect">
            <a:avLst/>
          </a:prstGeom>
        </p:spPr>
      </p:pic>
      <p:pic>
        <p:nvPicPr>
          <p:cNvPr id="6" name="图片 5"/>
          <p:cNvPicPr>
            <a:picLocks noChangeAspect="1"/>
          </p:cNvPicPr>
          <p:nvPr/>
        </p:nvPicPr>
        <p:blipFill>
          <a:blip r:embed="rId2"/>
          <a:stretch>
            <a:fillRect/>
          </a:stretch>
        </p:blipFill>
        <p:spPr>
          <a:xfrm>
            <a:off x="477658" y="3890941"/>
            <a:ext cx="2390775" cy="1676400"/>
          </a:xfrm>
          <a:prstGeom prst="rect">
            <a:avLst/>
          </a:prstGeom>
        </p:spPr>
      </p:pic>
      <p:pic>
        <p:nvPicPr>
          <p:cNvPr id="8" name="图片 7"/>
          <p:cNvPicPr>
            <a:picLocks noChangeAspect="1"/>
          </p:cNvPicPr>
          <p:nvPr/>
        </p:nvPicPr>
        <p:blipFill>
          <a:blip r:embed="rId3"/>
          <a:stretch>
            <a:fillRect/>
          </a:stretch>
        </p:blipFill>
        <p:spPr>
          <a:xfrm>
            <a:off x="3015932" y="4146239"/>
            <a:ext cx="2981325" cy="1219200"/>
          </a:xfrm>
          <a:prstGeom prst="rect">
            <a:avLst/>
          </a:prstGeom>
        </p:spPr>
      </p:pic>
      <p:sp>
        <p:nvSpPr>
          <p:cNvPr id="9" name="文本框 8"/>
          <p:cNvSpPr txBox="1"/>
          <p:nvPr/>
        </p:nvSpPr>
        <p:spPr>
          <a:xfrm>
            <a:off x="1063461" y="5704737"/>
            <a:ext cx="1219168"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49</a:t>
            </a:r>
            <a:endParaRPr lang="zh-CN" altLang="en-US" sz="2000" dirty="0">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3962416" y="5704737"/>
            <a:ext cx="1219168"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16K</a:t>
            </a:r>
            <a:endParaRPr lang="zh-CN" altLang="en-US" sz="2000" dirty="0">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7010336" y="5704737"/>
            <a:ext cx="1219168"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PDF417</a:t>
            </a:r>
            <a:endParaRPr lang="zh-CN" altLang="en-US" sz="20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矩阵式二维码</a:t>
            </a:r>
            <a:endParaRPr lang="zh-CN" altLang="en-US" sz="2400" dirty="0">
              <a:sym typeface="+mn-ea"/>
            </a:endParaRPr>
          </a:p>
        </p:txBody>
      </p:sp>
      <p:sp>
        <p:nvSpPr>
          <p:cNvPr id="10" name="文本框 9"/>
          <p:cNvSpPr txBox="1"/>
          <p:nvPr/>
        </p:nvSpPr>
        <p:spPr>
          <a:xfrm>
            <a:off x="531495" y="1078865"/>
            <a:ext cx="8018145" cy="2862322"/>
          </a:xfrm>
          <a:prstGeom prst="rect">
            <a:avLst/>
          </a:prstGeom>
          <a:noFill/>
        </p:spPr>
        <p:txBody>
          <a:bodyPr wrap="square" rtlCol="0" anchor="t">
            <a:spAutoFit/>
          </a:bodyPr>
          <a:lstStyle/>
          <a:p>
            <a:r>
              <a:rPr lang="zh-CN" altLang="en-US" sz="2000" dirty="0">
                <a:uFillTx/>
                <a:latin typeface="Times New Roman" panose="02020603050405020304" pitchFamily="18" charset="0"/>
                <a:ea typeface="黑体" panose="02010609060101010101" pitchFamily="49" charset="-122"/>
                <a:sym typeface="+mn-ea"/>
              </a:rPr>
              <a:t>        矩阵式二维码以矩阵的形式组成。</a:t>
            </a:r>
            <a:endParaRPr lang="en-US" altLang="zh-CN" sz="2000" dirty="0">
              <a:uFillTx/>
              <a:latin typeface="Times New Roman" panose="02020603050405020304" pitchFamily="18" charset="0"/>
              <a:ea typeface="黑体" panose="02010609060101010101" pitchFamily="49" charset="-122"/>
              <a:sym typeface="+mn-ea"/>
            </a:endParaRPr>
          </a:p>
          <a:p>
            <a:r>
              <a:rPr lang="zh-CN" altLang="en-US" sz="2000" b="1" dirty="0">
                <a:solidFill>
                  <a:srgbClr val="FF0000"/>
                </a:solidFill>
                <a:latin typeface="Times New Roman" panose="02020603050405020304" pitchFamily="18" charset="0"/>
                <a:ea typeface="黑体" panose="02010609060101010101" pitchFamily="49" charset="-122"/>
                <a:sym typeface="+mn-ea"/>
              </a:rPr>
              <a:t>        矩阵式二维码，又称棋盘式二维码，它是在一个矩形空间通过黑、白像素在矩阵中的不同分布进行编码。</a:t>
            </a:r>
            <a:endParaRPr lang="en-US" altLang="zh-CN" sz="2000" b="1" dirty="0">
              <a:solidFill>
                <a:srgbClr val="FF0000"/>
              </a:solidFill>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        在矩阵相应元素位置上，用点</a:t>
            </a:r>
            <a:r>
              <a:rPr lang="zh-CN" altLang="en-US" sz="2000" dirty="0">
                <a:latin typeface="Times New Roman" panose="02020603050405020304" pitchFamily="18" charset="0"/>
                <a:ea typeface="黑体" panose="02010609060101010101" pitchFamily="49" charset="-122"/>
                <a:sym typeface="+mn-ea"/>
              </a:rPr>
              <a:t>（方点、圆点或其他形状）的出现</a:t>
            </a:r>
            <a:r>
              <a:rPr lang="zh-CN" altLang="en-US" sz="2000" dirty="0">
                <a:uFillTx/>
                <a:latin typeface="Times New Roman" panose="02020603050405020304" pitchFamily="18" charset="0"/>
                <a:ea typeface="黑体" panose="02010609060101010101" pitchFamily="49" charset="-122"/>
                <a:sym typeface="+mn-ea"/>
              </a:rPr>
              <a:t>表示二进制“</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uFillTx/>
                <a:latin typeface="Times New Roman" panose="02020603050405020304" pitchFamily="18" charset="0"/>
                <a:ea typeface="黑体" panose="02010609060101010101" pitchFamily="49" charset="-122"/>
                <a:sym typeface="+mn-ea"/>
              </a:rPr>
              <a:t>”，点的不出现则表示二进制“</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”，点的排列组合确定了矩阵式二维码所代表的意义。矩阵式二维码是建立在计算机图像处理技术、组合编码原理等基础上的一种新型图形符号自动识读处理码制。</a:t>
            </a:r>
            <a:endParaRPr lang="en-US" altLang="zh-CN" sz="2000" dirty="0">
              <a:uFillTx/>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        有代表性的矩阵式二维码有</a:t>
            </a:r>
            <a:r>
              <a:rPr lang="en-US" altLang="zh-CN" sz="2000" dirty="0">
                <a:uFillTx/>
                <a:latin typeface="Times New Roman" panose="02020603050405020304" pitchFamily="18" charset="0"/>
                <a:ea typeface="黑体" panose="02010609060101010101" pitchFamily="49" charset="-122"/>
                <a:sym typeface="+mn-ea"/>
              </a:rPr>
              <a:t>Code One</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QR Code</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Data Matrix</a:t>
            </a:r>
            <a:r>
              <a:rPr lang="zh-CN" altLang="en-US" sz="2000" dirty="0">
                <a:latin typeface="Times New Roman" panose="02020603050405020304" pitchFamily="18" charset="0"/>
                <a:ea typeface="黑体" panose="02010609060101010101" pitchFamily="49" charset="-122"/>
                <a:sym typeface="+mn-ea"/>
              </a:rPr>
              <a:t>等。</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531495" y="4366675"/>
            <a:ext cx="1828752" cy="1567502"/>
          </a:xfrm>
          <a:prstGeom prst="rect">
            <a:avLst/>
          </a:prstGeom>
        </p:spPr>
      </p:pic>
      <p:pic>
        <p:nvPicPr>
          <p:cNvPr id="6" name="图片 5"/>
          <p:cNvPicPr>
            <a:picLocks noChangeAspect="1"/>
          </p:cNvPicPr>
          <p:nvPr/>
        </p:nvPicPr>
        <p:blipFill>
          <a:blip r:embed="rId2"/>
          <a:stretch>
            <a:fillRect/>
          </a:stretch>
        </p:blipFill>
        <p:spPr>
          <a:xfrm>
            <a:off x="2887538" y="4323639"/>
            <a:ext cx="2863353" cy="1738164"/>
          </a:xfrm>
          <a:prstGeom prst="rect">
            <a:avLst/>
          </a:prstGeom>
        </p:spPr>
      </p:pic>
      <p:pic>
        <p:nvPicPr>
          <p:cNvPr id="8" name="图片 7"/>
          <p:cNvPicPr>
            <a:picLocks noChangeAspect="1"/>
          </p:cNvPicPr>
          <p:nvPr/>
        </p:nvPicPr>
        <p:blipFill>
          <a:blip r:embed="rId3"/>
          <a:stretch>
            <a:fillRect/>
          </a:stretch>
        </p:blipFill>
        <p:spPr>
          <a:xfrm>
            <a:off x="6413602" y="4366675"/>
            <a:ext cx="2136038" cy="1652092"/>
          </a:xfrm>
          <a:prstGeom prst="rect">
            <a:avLst/>
          </a:prstGeom>
        </p:spPr>
      </p:pic>
      <p:sp>
        <p:nvSpPr>
          <p:cNvPr id="12" name="文本框 11"/>
          <p:cNvSpPr txBox="1"/>
          <p:nvPr/>
        </p:nvSpPr>
        <p:spPr>
          <a:xfrm>
            <a:off x="853820" y="6061803"/>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Code One</a:t>
            </a:r>
            <a:endParaRPr lang="zh-CN" altLang="en-US" sz="2000" dirty="0">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3602263" y="6061803"/>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Data Matrix</a:t>
            </a:r>
            <a:endParaRPr lang="zh-CN" altLang="en-US" sz="2000" dirty="0">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6809013" y="6061803"/>
            <a:ext cx="1676356" cy="400110"/>
          </a:xfrm>
          <a:prstGeom prst="rect">
            <a:avLst/>
          </a:prstGeom>
          <a:noFill/>
        </p:spPr>
        <p:txBody>
          <a:bodyPr wrap="square" rtlCol="0" anchor="t">
            <a:spAutoFit/>
          </a:bodyPr>
          <a:lstStyle/>
          <a:p>
            <a:r>
              <a:rPr lang="en-US" altLang="zh-CN" sz="2000" dirty="0">
                <a:latin typeface="黑体" panose="02010609060101010101" pitchFamily="49" charset="-122"/>
                <a:ea typeface="黑体" panose="02010609060101010101" pitchFamily="49" charset="-122"/>
                <a:sym typeface="+mn-ea"/>
              </a:rPr>
              <a:t>QR Code</a:t>
            </a:r>
            <a:endParaRPr lang="zh-CN" altLang="en-US" sz="20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lvl="0" algn="l">
              <a:buClrTx/>
              <a:buSzTx/>
              <a:buFont typeface="Arial" panose="020B0604020202020204" pitchFamily="34" charset="0"/>
              <a:buNone/>
              <a:defRPr/>
            </a:pPr>
            <a:r>
              <a:rPr lang="zh-CN" altLang="en-US" sz="2800" b="1" kern="0" dirty="0">
                <a:solidFill>
                  <a:schemeClr val="bg1">
                    <a:lumMod val="75000"/>
                  </a:schemeClr>
                </a:solidFill>
                <a:cs typeface="+mn-cs"/>
                <a:sym typeface="+mn-ea"/>
              </a:rPr>
              <a:t>二维码的应用</a:t>
            </a:r>
            <a:endParaRPr lang="zh-CN" altLang="en-US" sz="2800" b="1" kern="0" noProof="0" dirty="0">
              <a:ln>
                <a:noFill/>
              </a:ln>
              <a:solidFill>
                <a:schemeClr val="bg1">
                  <a:lumMod val="75000"/>
                </a:schemeClr>
              </a:solidFill>
              <a:effectLst/>
              <a:uLnTx/>
              <a:uFillTx/>
              <a:cs typeface="+mn-cs"/>
              <a:sym typeface="+mn-ea"/>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b="1" kern="0" dirty="0">
                <a:solidFill>
                  <a:schemeClr val="bg1">
                    <a:lumMod val="75000"/>
                  </a:schemeClr>
                </a:solidFill>
                <a:cs typeface="+mn-cs"/>
                <a:sym typeface="+mn-ea"/>
              </a:rPr>
              <a:t>QR</a:t>
            </a:r>
            <a:r>
              <a:rPr lang="zh-CN" altLang="en-US" sz="2800" b="1" kern="0" dirty="0">
                <a:solidFill>
                  <a:schemeClr val="bg1">
                    <a:lumMod val="75000"/>
                  </a:schemeClr>
                </a:solidFill>
                <a:cs typeface="+mn-cs"/>
                <a:sym typeface="+mn-ea"/>
              </a:rPr>
              <a:t>码的生成与识别</a:t>
            </a:r>
            <a:endParaRPr lang="zh-CN" altLang="en-US" sz="2800" b="1" kern="0" noProof="0" dirty="0">
              <a:ln>
                <a:noFill/>
              </a:ln>
              <a:solidFill>
                <a:schemeClr val="bg1">
                  <a:lumMod val="75000"/>
                </a:schemeClr>
              </a:solidFill>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800" b="1" kern="0" dirty="0">
                <a:solidFill>
                  <a:srgbClr val="000000"/>
                </a:solidFill>
                <a:cs typeface="+mn-cs"/>
              </a:rPr>
              <a:t>二维码的特点</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0" cap="none" spc="0" normalizeH="0" baseline="0" dirty="0">
                <a:solidFill>
                  <a:schemeClr val="bg1">
                    <a:lumMod val="75000"/>
                  </a:schemeClr>
                </a:solidFill>
                <a:latin typeface="Arial" panose="020B0604020202020204" pitchFamily="34" charset="0"/>
                <a:ea typeface="宋体" panose="02010600030101010101" pitchFamily="2" charset="-122"/>
                <a:cs typeface="+mn-cs"/>
                <a:sym typeface="+mn-ea"/>
              </a:rPr>
              <a:t>二维码的概念与原理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二维码的特点</a:t>
            </a:r>
            <a:endParaRPr lang="zh-CN" altLang="en-US" sz="2400" dirty="0">
              <a:sym typeface="+mn-ea"/>
            </a:endParaRPr>
          </a:p>
        </p:txBody>
      </p:sp>
      <p:sp>
        <p:nvSpPr>
          <p:cNvPr id="10" name="文本框 9"/>
          <p:cNvSpPr txBox="1"/>
          <p:nvPr/>
        </p:nvSpPr>
        <p:spPr>
          <a:xfrm>
            <a:off x="562927" y="927735"/>
            <a:ext cx="8018145" cy="372409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可靠性强</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条形码的读取准确率远远超过人工记录，平均每</a:t>
            </a:r>
            <a:r>
              <a:rPr lang="en-US" altLang="zh-CN" sz="2000" dirty="0">
                <a:latin typeface="Times New Roman" panose="02020603050405020304" pitchFamily="18" charset="0"/>
                <a:ea typeface="黑体" panose="02010609060101010101" pitchFamily="49" charset="-122"/>
                <a:sym typeface="+mn-ea"/>
              </a:rPr>
              <a:t>15000</a:t>
            </a:r>
            <a:r>
              <a:rPr lang="zh-CN" altLang="en-US" sz="2000" dirty="0">
                <a:latin typeface="Times New Roman" panose="02020603050405020304" pitchFamily="18" charset="0"/>
                <a:ea typeface="黑体" panose="02010609060101010101" pitchFamily="49" charset="-122"/>
                <a:sym typeface="+mn-ea"/>
              </a:rPr>
              <a:t>个字符才会出现一个错误。</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uFillTx/>
                <a:latin typeface="Times New Roman" panose="02020603050405020304" pitchFamily="18" charset="0"/>
                <a:ea typeface="黑体" panose="02010609060101010101" pitchFamily="49" charset="-122"/>
                <a:sym typeface="+mn-ea"/>
              </a:rPr>
              <a:t>效率高</a:t>
            </a:r>
            <a:endParaRPr lang="en-US" altLang="zh-CN" sz="2400" dirty="0">
              <a:solidFill>
                <a:srgbClr val="0070C0"/>
              </a:solidFill>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条形码的读取速度很快，相当于每秒</a:t>
            </a:r>
            <a:r>
              <a:rPr lang="en-US" altLang="zh-CN" sz="2000" dirty="0">
                <a:latin typeface="Times New Roman" panose="02020603050405020304" pitchFamily="18" charset="0"/>
                <a:ea typeface="黑体" panose="02010609060101010101" pitchFamily="49" charset="-122"/>
                <a:sym typeface="+mn-ea"/>
              </a:rPr>
              <a:t>40</a:t>
            </a:r>
            <a:r>
              <a:rPr lang="zh-CN" altLang="en-US" sz="2000" dirty="0">
                <a:latin typeface="Times New Roman" panose="02020603050405020304" pitchFamily="18" charset="0"/>
                <a:ea typeface="黑体" panose="02010609060101010101" pitchFamily="49" charset="-122"/>
                <a:sym typeface="+mn-ea"/>
              </a:rPr>
              <a:t>个字符。</a:t>
            </a:r>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uFillTx/>
                <a:latin typeface="Times New Roman" panose="02020603050405020304" pitchFamily="18" charset="0"/>
                <a:ea typeface="黑体" panose="02010609060101010101" pitchFamily="49" charset="-122"/>
                <a:sym typeface="+mn-ea"/>
              </a:rPr>
              <a:t>易于制作</a:t>
            </a:r>
            <a:endParaRPr lang="en-US" altLang="zh-CN" sz="2400" dirty="0">
              <a:solidFill>
                <a:srgbClr val="0070C0"/>
              </a:solidFill>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条形码的编写很简单，制作也仅仅需要印刷，被称为“可印刷的计算机语言”。</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uFillTx/>
                <a:latin typeface="Times New Roman" panose="02020603050405020304" pitchFamily="18" charset="0"/>
                <a:ea typeface="黑体" panose="02010609060101010101" pitchFamily="49" charset="-122"/>
                <a:sym typeface="+mn-ea"/>
              </a:rPr>
              <a:t>高密度</a:t>
            </a:r>
            <a:endParaRPr lang="en-US" altLang="zh-CN" sz="2400" dirty="0">
              <a:solidFill>
                <a:srgbClr val="0070C0"/>
              </a:solidFill>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二维码通过利用垂直方向的堆积来提高条码的信息密度，而且采用高密度图形表示。</a:t>
            </a:r>
            <a:endParaRPr lang="en-US" altLang="zh-CN" sz="2000" dirty="0">
              <a:latin typeface="Times New Roman" panose="02020603050405020304" pitchFamily="18" charset="0"/>
              <a:ea typeface="黑体" panose="02010609060101010101" pitchFamily="49" charset="-122"/>
              <a:sym typeface="+mn-ea"/>
            </a:endParaRPr>
          </a:p>
        </p:txBody>
      </p:sp>
      <p:pic>
        <p:nvPicPr>
          <p:cNvPr id="6" name="图片 5"/>
          <p:cNvPicPr>
            <a:picLocks noChangeAspect="1"/>
          </p:cNvPicPr>
          <p:nvPr/>
        </p:nvPicPr>
        <p:blipFill>
          <a:blip r:embed="rId1"/>
          <a:stretch>
            <a:fillRect/>
          </a:stretch>
        </p:blipFill>
        <p:spPr>
          <a:xfrm>
            <a:off x="817108" y="4870728"/>
            <a:ext cx="3177262" cy="1130313"/>
          </a:xfrm>
          <a:prstGeom prst="rect">
            <a:avLst/>
          </a:prstGeom>
        </p:spPr>
      </p:pic>
      <p:sp>
        <p:nvSpPr>
          <p:cNvPr id="7" name="文本框 6"/>
          <p:cNvSpPr txBox="1"/>
          <p:nvPr/>
        </p:nvSpPr>
        <p:spPr>
          <a:xfrm>
            <a:off x="562927" y="6078386"/>
            <a:ext cx="3685624" cy="307777"/>
          </a:xfrm>
          <a:prstGeom prst="rect">
            <a:avLst/>
          </a:prstGeom>
          <a:noFill/>
        </p:spPr>
        <p:txBody>
          <a:bodyPr wrap="none" rtlCol="0" anchor="t">
            <a:spAutoFit/>
          </a:bodyPr>
          <a:lstStyle/>
          <a:p>
            <a:r>
              <a:rPr lang="en-US" altLang="zh-CN" sz="1400" dirty="0">
                <a:latin typeface="黑体" panose="02010609060101010101" pitchFamily="49" charset="-122"/>
                <a:ea typeface="黑体" panose="02010609060101010101" pitchFamily="49" charset="-122"/>
                <a:sym typeface="+mn-ea"/>
              </a:rPr>
              <a:t>300</a:t>
            </a:r>
            <a:r>
              <a:rPr lang="zh-CN" altLang="en-US" sz="1400" dirty="0">
                <a:latin typeface="黑体" panose="02010609060101010101" pitchFamily="49" charset="-122"/>
                <a:ea typeface="黑体" panose="02010609060101010101" pitchFamily="49" charset="-122"/>
                <a:sym typeface="+mn-ea"/>
              </a:rPr>
              <a:t>个字符或数字被编进这样大小的</a:t>
            </a:r>
            <a:r>
              <a:rPr lang="en-US" altLang="zh-CN" sz="1400" dirty="0">
                <a:latin typeface="黑体" panose="02010609060101010101" pitchFamily="49" charset="-122"/>
                <a:ea typeface="黑体" panose="02010609060101010101" pitchFamily="49" charset="-122"/>
                <a:sym typeface="+mn-ea"/>
              </a:rPr>
              <a:t>QR</a:t>
            </a:r>
            <a:r>
              <a:rPr lang="zh-CN" altLang="en-US" sz="1400" dirty="0">
                <a:latin typeface="黑体" panose="02010609060101010101" pitchFamily="49" charset="-122"/>
                <a:ea typeface="黑体" panose="02010609060101010101" pitchFamily="49" charset="-122"/>
                <a:sym typeface="+mn-ea"/>
              </a:rPr>
              <a:t>码里面</a:t>
            </a:r>
            <a:endParaRPr lang="zh-CN" altLang="en-US" sz="1400" dirty="0">
              <a:latin typeface="黑体" panose="02010609060101010101" pitchFamily="49" charset="-122"/>
              <a:ea typeface="黑体" panose="02010609060101010101" pitchFamily="49" charset="-122"/>
              <a:sym typeface="+mn-ea"/>
            </a:endParaRPr>
          </a:p>
        </p:txBody>
      </p:sp>
      <p:pic>
        <p:nvPicPr>
          <p:cNvPr id="9" name="图片 8"/>
          <p:cNvPicPr>
            <a:picLocks noChangeAspect="1"/>
          </p:cNvPicPr>
          <p:nvPr/>
        </p:nvPicPr>
        <p:blipFill>
          <a:blip r:embed="rId2"/>
          <a:stretch>
            <a:fillRect/>
          </a:stretch>
        </p:blipFill>
        <p:spPr>
          <a:xfrm>
            <a:off x="4952990" y="5033616"/>
            <a:ext cx="3275881" cy="804535"/>
          </a:xfrm>
          <a:prstGeom prst="rect">
            <a:avLst/>
          </a:prstGeom>
        </p:spPr>
      </p:pic>
      <p:sp>
        <p:nvSpPr>
          <p:cNvPr id="11" name="文本框 10"/>
          <p:cNvSpPr txBox="1"/>
          <p:nvPr/>
        </p:nvSpPr>
        <p:spPr>
          <a:xfrm>
            <a:off x="4885050" y="6078385"/>
            <a:ext cx="3595856" cy="307777"/>
          </a:xfrm>
          <a:prstGeom prst="rect">
            <a:avLst/>
          </a:prstGeom>
          <a:noFill/>
        </p:spPr>
        <p:txBody>
          <a:bodyPr wrap="none" rtlCol="0" anchor="t">
            <a:spAutoFit/>
          </a:bodyPr>
          <a:lstStyle/>
          <a:p>
            <a:r>
              <a:rPr lang="zh-CN" altLang="en-US" sz="1400" dirty="0">
                <a:latin typeface="黑体" panose="02010609060101010101" pitchFamily="49" charset="-122"/>
                <a:ea typeface="黑体" panose="02010609060101010101" pitchFamily="49" charset="-122"/>
                <a:sym typeface="+mn-ea"/>
              </a:rPr>
              <a:t>同样的数据</a:t>
            </a:r>
            <a:r>
              <a:rPr lang="en-US" altLang="zh-CN" sz="1400" dirty="0">
                <a:latin typeface="黑体" panose="02010609060101010101" pitchFamily="49" charset="-122"/>
                <a:ea typeface="黑体" panose="02010609060101010101" pitchFamily="49" charset="-122"/>
                <a:sym typeface="+mn-ea"/>
              </a:rPr>
              <a:t>QR</a:t>
            </a:r>
            <a:r>
              <a:rPr lang="zh-CN" altLang="en-US" sz="1400" dirty="0">
                <a:latin typeface="黑体" panose="02010609060101010101" pitchFamily="49" charset="-122"/>
                <a:ea typeface="黑体" panose="02010609060101010101" pitchFamily="49" charset="-122"/>
                <a:sym typeface="+mn-ea"/>
              </a:rPr>
              <a:t>码只有条码空间的</a:t>
            </a:r>
            <a:r>
              <a:rPr lang="en-US" altLang="zh-CN" sz="1400" dirty="0">
                <a:latin typeface="黑体" panose="02010609060101010101" pitchFamily="49" charset="-122"/>
                <a:ea typeface="黑体" panose="02010609060101010101" pitchFamily="49" charset="-122"/>
                <a:sym typeface="+mn-ea"/>
              </a:rPr>
              <a:t>1/11</a:t>
            </a:r>
            <a:r>
              <a:rPr lang="zh-CN" altLang="en-US" sz="1400" dirty="0">
                <a:latin typeface="黑体" panose="02010609060101010101" pitchFamily="49" charset="-122"/>
                <a:ea typeface="黑体" panose="02010609060101010101" pitchFamily="49" charset="-122"/>
                <a:sym typeface="+mn-ea"/>
              </a:rPr>
              <a:t>的大小</a:t>
            </a:r>
            <a:endParaRPr lang="zh-CN" altLang="en-US" sz="14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二维码的特点</a:t>
            </a:r>
            <a:endParaRPr lang="zh-CN" altLang="en-US" sz="2400" dirty="0">
              <a:sym typeface="+mn-ea"/>
            </a:endParaRPr>
          </a:p>
        </p:txBody>
      </p:sp>
      <p:sp>
        <p:nvSpPr>
          <p:cNvPr id="10" name="文本框 9"/>
          <p:cNvSpPr txBox="1"/>
          <p:nvPr/>
        </p:nvSpPr>
        <p:spPr>
          <a:xfrm>
            <a:off x="562927" y="927735"/>
            <a:ext cx="8018145" cy="4031873"/>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构造简单</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条形码识别设备的构造简单，使用方便。</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uFillTx/>
                <a:latin typeface="Times New Roman" panose="02020603050405020304" pitchFamily="18" charset="0"/>
                <a:ea typeface="黑体" panose="02010609060101010101" pitchFamily="49" charset="-122"/>
                <a:sym typeface="+mn-ea"/>
              </a:rPr>
              <a:t>灵活实用</a:t>
            </a:r>
            <a:endParaRPr lang="en-US" altLang="zh-CN" sz="2400" dirty="0">
              <a:solidFill>
                <a:srgbClr val="0070C0"/>
              </a:solidFill>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条形码符号可以手工键盘输入，也可以和有关设备组成识别系统实现自动化识别，还可以和其他控制设备联系起来实现整个系统的自动化管理。</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成本低</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与其它自动化识别技术相比较，条形码技术仅仅需要一小张贴纸和相对构造简单的光学扫描仪，成本相当低廉。</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纠错功能</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二维码不仅能防止错误，而且能纠正错误，即使条形码部分损坏，也能将正确的信息还原出来。</a:t>
            </a:r>
            <a:endParaRPr lang="en-US" altLang="zh-CN" sz="2000" dirty="0">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2847387" y="5001691"/>
            <a:ext cx="3449226" cy="1492647"/>
          </a:xfrm>
          <a:prstGeom prst="rect">
            <a:avLst/>
          </a:prstGeom>
        </p:spPr>
      </p:pic>
      <p:sp>
        <p:nvSpPr>
          <p:cNvPr id="5" name="文本框 4"/>
          <p:cNvSpPr txBox="1"/>
          <p:nvPr/>
        </p:nvSpPr>
        <p:spPr>
          <a:xfrm>
            <a:off x="3086138" y="6382532"/>
            <a:ext cx="2971722" cy="307777"/>
          </a:xfrm>
          <a:prstGeom prst="rect">
            <a:avLst/>
          </a:prstGeom>
          <a:noFill/>
        </p:spPr>
        <p:txBody>
          <a:bodyPr wrap="square" rtlCol="0" anchor="t">
            <a:spAutoFit/>
          </a:bodyPr>
          <a:lstStyle/>
          <a:p>
            <a:r>
              <a:rPr lang="en-US" altLang="zh-CN" sz="1400" dirty="0">
                <a:latin typeface="黑体" panose="02010609060101010101" pitchFamily="49" charset="-122"/>
                <a:ea typeface="黑体" panose="02010609060101010101" pitchFamily="49" charset="-122"/>
                <a:sym typeface="+mn-ea"/>
              </a:rPr>
              <a:t>QR</a:t>
            </a:r>
            <a:r>
              <a:rPr lang="zh-CN" altLang="en-US" sz="1400" dirty="0">
                <a:latin typeface="黑体" panose="02010609060101010101" pitchFamily="49" charset="-122"/>
                <a:ea typeface="黑体" panose="02010609060101010101" pitchFamily="49" charset="-122"/>
                <a:sym typeface="+mn-ea"/>
              </a:rPr>
              <a:t>码损坏一部分依然能还原信息</a:t>
            </a:r>
            <a:endParaRPr lang="zh-CN" altLang="en-US" sz="14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二维码的特点</a:t>
            </a:r>
            <a:endParaRPr lang="zh-CN" altLang="en-US" sz="2400" dirty="0">
              <a:sym typeface="+mn-ea"/>
            </a:endParaRPr>
          </a:p>
        </p:txBody>
      </p:sp>
      <p:sp>
        <p:nvSpPr>
          <p:cNvPr id="10" name="文本框 9"/>
          <p:cNvSpPr txBox="1"/>
          <p:nvPr/>
        </p:nvSpPr>
        <p:spPr>
          <a:xfrm>
            <a:off x="554355" y="927735"/>
            <a:ext cx="8205470" cy="329320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400" dirty="0">
                <a:solidFill>
                  <a:srgbClr val="0070C0"/>
                </a:solidFill>
                <a:uFillTx/>
                <a:latin typeface="Times New Roman" panose="02020603050405020304" pitchFamily="18" charset="0"/>
                <a:ea typeface="黑体" panose="02010609060101010101" pitchFamily="49" charset="-122"/>
                <a:sym typeface="+mn-ea"/>
              </a:rPr>
              <a:t>多语言形式，可表示图像</a:t>
            </a:r>
            <a:endParaRPr lang="en-US" altLang="zh-CN" sz="2400" dirty="0">
              <a:solidFill>
                <a:srgbClr val="0070C0"/>
              </a:solidFill>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二维码具有字节表示模式，即提供了一种表示字节流的机制。不论何种语言文字它们在计算机中存储时以机内码的形式表现，而内部码都是字节码，可识别多种语言文字的条码。</a:t>
            </a:r>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具有加密体制</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可以先用一定的加密算法将信息加密，再用二维码表示在识别二维条码时，再加以一定的解密算法，便可以恢复所表示的信息。</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除此之外，二维码还具有</a:t>
            </a:r>
            <a:r>
              <a:rPr lang="zh-CN" altLang="en-US" sz="2000" dirty="0">
                <a:solidFill>
                  <a:srgbClr val="0070C0"/>
                </a:solidFill>
                <a:latin typeface="Times New Roman" panose="02020603050405020304" pitchFamily="18" charset="0"/>
                <a:ea typeface="黑体" panose="02010609060101010101" pitchFamily="49" charset="-122"/>
                <a:sym typeface="+mn-ea"/>
              </a:rPr>
              <a:t>可表示信息量密度高</a:t>
            </a:r>
            <a:r>
              <a:rPr lang="zh-CN" altLang="en-US" sz="2000" dirty="0">
                <a:latin typeface="Times New Roman" panose="02020603050405020304" pitchFamily="18" charset="0"/>
                <a:ea typeface="黑体" panose="02010609060101010101" pitchFamily="49" charset="-122"/>
                <a:sym typeface="+mn-ea"/>
              </a:rPr>
              <a:t>、</a:t>
            </a:r>
            <a:r>
              <a:rPr lang="zh-CN" altLang="en-US" sz="2000" dirty="0">
                <a:solidFill>
                  <a:srgbClr val="0070C0"/>
                </a:solidFill>
                <a:latin typeface="Times New Roman" panose="02020603050405020304" pitchFamily="18" charset="0"/>
                <a:ea typeface="黑体" panose="02010609060101010101" pitchFamily="49" charset="-122"/>
                <a:sym typeface="+mn-ea"/>
              </a:rPr>
              <a:t>尺寸大小比例可变</a:t>
            </a:r>
            <a:r>
              <a:rPr lang="zh-CN" altLang="en-US" sz="2000" dirty="0">
                <a:latin typeface="Times New Roman" panose="02020603050405020304" pitchFamily="18" charset="0"/>
                <a:ea typeface="黑体" panose="02010609060101010101" pitchFamily="49" charset="-122"/>
                <a:sym typeface="+mn-ea"/>
              </a:rPr>
              <a:t>、可以使用激光或</a:t>
            </a:r>
            <a:r>
              <a:rPr lang="en-US" altLang="zh-CN" sz="2000" dirty="0">
                <a:latin typeface="Times New Roman" panose="02020603050405020304" pitchFamily="18" charset="0"/>
                <a:ea typeface="黑体" panose="02010609060101010101" pitchFamily="49" charset="-122"/>
                <a:sym typeface="+mn-ea"/>
              </a:rPr>
              <a:t>CCD</a:t>
            </a:r>
            <a:r>
              <a:rPr lang="zh-CN" altLang="en-US" sz="2000" dirty="0">
                <a:latin typeface="Times New Roman" panose="02020603050405020304" pitchFamily="18" charset="0"/>
                <a:ea typeface="黑体" panose="02010609060101010101" pitchFamily="49" charset="-122"/>
                <a:sym typeface="+mn-ea"/>
              </a:rPr>
              <a:t>阅读器</a:t>
            </a:r>
            <a:r>
              <a:rPr lang="zh-CN" altLang="en-US" sz="2000" dirty="0">
                <a:solidFill>
                  <a:srgbClr val="0070C0"/>
                </a:solidFill>
                <a:latin typeface="Times New Roman" panose="02020603050405020304" pitchFamily="18" charset="0"/>
                <a:ea typeface="黑体" panose="02010609060101010101" pitchFamily="49" charset="-122"/>
                <a:sym typeface="+mn-ea"/>
              </a:rPr>
              <a:t>方便识读</a:t>
            </a:r>
            <a:r>
              <a:rPr lang="zh-CN" altLang="en-US" sz="2000" dirty="0">
                <a:latin typeface="Times New Roman" panose="02020603050405020304" pitchFamily="18" charset="0"/>
                <a:ea typeface="黑体" panose="02010609060101010101" pitchFamily="49" charset="-122"/>
                <a:sym typeface="+mn-ea"/>
              </a:rPr>
              <a:t>等众多优点。</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2085252" y="4690263"/>
            <a:ext cx="4709335" cy="1219168"/>
          </a:xfrm>
          <a:prstGeom prst="rect">
            <a:avLst/>
          </a:prstGeom>
        </p:spPr>
      </p:pic>
      <p:sp>
        <p:nvSpPr>
          <p:cNvPr id="5" name="文本框 4"/>
          <p:cNvSpPr txBox="1"/>
          <p:nvPr/>
        </p:nvSpPr>
        <p:spPr>
          <a:xfrm>
            <a:off x="2731759" y="5988365"/>
            <a:ext cx="3416320" cy="307777"/>
          </a:xfrm>
          <a:prstGeom prst="rect">
            <a:avLst/>
          </a:prstGeom>
          <a:noFill/>
        </p:spPr>
        <p:txBody>
          <a:bodyPr wrap="none" rtlCol="0" anchor="t">
            <a:spAutoFit/>
          </a:bodyPr>
          <a:lstStyle/>
          <a:p>
            <a:r>
              <a:rPr lang="en-US" altLang="zh-CN" sz="1400" dirty="0">
                <a:latin typeface="黑体" panose="02010609060101010101" pitchFamily="49" charset="-122"/>
                <a:ea typeface="黑体" panose="02010609060101010101" pitchFamily="49" charset="-122"/>
                <a:sym typeface="+mn-ea"/>
              </a:rPr>
              <a:t>QR</a:t>
            </a:r>
            <a:r>
              <a:rPr lang="zh-CN" altLang="en-US" sz="1400" dirty="0">
                <a:latin typeface="黑体" panose="02010609060101010101" pitchFamily="49" charset="-122"/>
                <a:ea typeface="黑体" panose="02010609060101010101" pitchFamily="49" charset="-122"/>
                <a:sym typeface="+mn-ea"/>
              </a:rPr>
              <a:t>码能够有效地表示中国汉字、日本汉字</a:t>
            </a:r>
            <a:endParaRPr lang="zh-CN" altLang="en-US" sz="14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lvl="0" algn="l">
              <a:buClrTx/>
              <a:buSzTx/>
              <a:buFont typeface="Arial" panose="020B0604020202020204" pitchFamily="34" charset="0"/>
              <a:buNone/>
              <a:defRPr/>
            </a:pPr>
            <a:r>
              <a:rPr lang="zh-CN" altLang="en-US" sz="2800" b="1" kern="0" dirty="0">
                <a:solidFill>
                  <a:schemeClr val="bg1">
                    <a:lumMod val="75000"/>
                  </a:schemeClr>
                </a:solidFill>
                <a:cs typeface="+mn-cs"/>
                <a:sym typeface="+mn-ea"/>
              </a:rPr>
              <a:t>二维码的应用</a:t>
            </a:r>
            <a:endParaRPr lang="zh-CN" altLang="en-US" sz="2800" b="1" kern="0" noProof="0" dirty="0">
              <a:ln>
                <a:noFill/>
              </a:ln>
              <a:solidFill>
                <a:schemeClr val="bg1">
                  <a:lumMod val="75000"/>
                </a:schemeClr>
              </a:solidFill>
              <a:effectLst/>
              <a:uLnTx/>
              <a:uFillTx/>
              <a:cs typeface="+mn-cs"/>
              <a:sym typeface="+mn-ea"/>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b="1" kern="0" dirty="0">
                <a:solidFill>
                  <a:srgbClr val="000000"/>
                </a:solidFill>
                <a:cs typeface="+mn-cs"/>
                <a:sym typeface="+mn-ea"/>
              </a:rPr>
              <a:t>QR</a:t>
            </a:r>
            <a:r>
              <a:rPr lang="zh-CN" altLang="en-US" sz="2800" b="1" kern="0" dirty="0">
                <a:solidFill>
                  <a:srgbClr val="000000"/>
                </a:solidFill>
                <a:cs typeface="+mn-cs"/>
                <a:sym typeface="+mn-ea"/>
              </a:rPr>
              <a:t>码的生成与识别</a:t>
            </a:r>
            <a:endParaRPr lang="zh-CN" altLang="en-US" sz="2800" b="1" kern="0" noProof="0" dirty="0">
              <a:ln>
                <a:noFill/>
              </a:ln>
              <a:solidFill>
                <a:schemeClr val="bg1">
                  <a:lumMod val="75000"/>
                </a:schemeClr>
              </a:solidFill>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800" b="1" kern="0" dirty="0">
                <a:solidFill>
                  <a:schemeClr val="bg1">
                    <a:lumMod val="75000"/>
                  </a:schemeClr>
                </a:solidFill>
                <a:cs typeface="+mn-cs"/>
              </a:rPr>
              <a:t>二维码的特点</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0" cap="none" spc="0" normalizeH="0" baseline="0" dirty="0">
                <a:solidFill>
                  <a:schemeClr val="bg1">
                    <a:lumMod val="75000"/>
                  </a:schemeClr>
                </a:solidFill>
                <a:latin typeface="Arial" panose="020B0604020202020204" pitchFamily="34" charset="0"/>
                <a:ea typeface="宋体" panose="02010600030101010101" pitchFamily="2" charset="-122"/>
                <a:cs typeface="+mn-cs"/>
                <a:sym typeface="+mn-ea"/>
              </a:rPr>
              <a:t>二维码的概念与原理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endParaRPr lang="zh-CN" altLang="en-US" sz="2400" dirty="0">
              <a:sym typeface="+mn-ea"/>
            </a:endParaRPr>
          </a:p>
        </p:txBody>
      </p:sp>
      <p:sp>
        <p:nvSpPr>
          <p:cNvPr id="10" name="文本框 9"/>
          <p:cNvSpPr txBox="1"/>
          <p:nvPr/>
        </p:nvSpPr>
        <p:spPr>
          <a:xfrm>
            <a:off x="554355" y="927735"/>
            <a:ext cx="8205470" cy="5324535"/>
          </a:xfrm>
          <a:prstGeom prst="rect">
            <a:avLst/>
          </a:prstGeom>
          <a:noFill/>
        </p:spPr>
        <p:txBody>
          <a:bodyPr wrap="square" rtlCol="0" anchor="t">
            <a:spAutoFit/>
          </a:bodyPr>
          <a:lstStyle/>
          <a:p>
            <a:pPr algn="l"/>
            <a:r>
              <a:rPr lang="zh-CN" altLang="en-US" sz="2000" dirty="0">
                <a:latin typeface="Times New Roman" panose="02020603050405020304" pitchFamily="18" charset="0"/>
                <a:ea typeface="黑体" panose="02010609060101010101" pitchFamily="49" charset="-122"/>
                <a:sym typeface="+mn-ea"/>
              </a:rPr>
              <a:t>目前二维码方面流行三大国际标准：</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l"/>
            </a:pPr>
            <a:r>
              <a:rPr lang="en-US" sz="2000" dirty="0">
                <a:uFillTx/>
                <a:latin typeface="Times New Roman" panose="02020603050405020304" pitchFamily="18" charset="0"/>
                <a:ea typeface="黑体" panose="02010609060101010101" pitchFamily="49" charset="-122"/>
                <a:sym typeface="+mn-ea"/>
              </a:rPr>
              <a:t>PDF417</a:t>
            </a:r>
            <a:r>
              <a:rPr lang="zh-CN" altLang="en-US" sz="2000" dirty="0">
                <a:uFillTx/>
                <a:latin typeface="Times New Roman" panose="02020603050405020304" pitchFamily="18" charset="0"/>
                <a:ea typeface="黑体" panose="02010609060101010101" pitchFamily="49" charset="-122"/>
                <a:sym typeface="+mn-ea"/>
              </a:rPr>
              <a:t>：不支持中文；</a:t>
            </a:r>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l"/>
            </a:pPr>
            <a:r>
              <a:rPr lang="en-US" sz="2000" dirty="0">
                <a:latin typeface="Times New Roman" panose="02020603050405020304" pitchFamily="18" charset="0"/>
                <a:ea typeface="黑体" panose="02010609060101010101" pitchFamily="49" charset="-122"/>
                <a:sym typeface="+mn-ea"/>
              </a:rPr>
              <a:t>DM</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 Data Matrix </a:t>
            </a:r>
            <a:r>
              <a:rPr lang="zh-CN" altLang="en-US" sz="2000" dirty="0">
                <a:latin typeface="Times New Roman" panose="02020603050405020304" pitchFamily="18" charset="0"/>
                <a:ea typeface="黑体" panose="02010609060101010101" pitchFamily="49" charset="-122"/>
                <a:sym typeface="+mn-ea"/>
              </a:rPr>
              <a:t>）：专利未公开，需要支付专利费用；</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l"/>
            </a:pPr>
            <a:r>
              <a:rPr lang="en-US" sz="2000" dirty="0">
                <a:uFillTx/>
                <a:latin typeface="Times New Roman" panose="02020603050405020304" pitchFamily="18" charset="0"/>
                <a:ea typeface="黑体" panose="02010609060101010101" pitchFamily="49" charset="-122"/>
                <a:sym typeface="+mn-ea"/>
              </a:rPr>
              <a:t>QR C</a:t>
            </a:r>
            <a:r>
              <a:rPr lang="en-US" altLang="zh-CN" sz="2000" dirty="0">
                <a:uFillTx/>
                <a:latin typeface="Times New Roman" panose="02020603050405020304" pitchFamily="18" charset="0"/>
                <a:ea typeface="黑体" panose="02010609060101010101" pitchFamily="49" charset="-122"/>
                <a:sym typeface="+mn-ea"/>
              </a:rPr>
              <a:t>ode</a:t>
            </a:r>
            <a:r>
              <a:rPr lang="zh-CN" altLang="en-US" sz="2000" dirty="0">
                <a:uFillTx/>
                <a:latin typeface="Times New Roman" panose="02020603050405020304" pitchFamily="18" charset="0"/>
                <a:ea typeface="黑体" panose="02010609060101010101" pitchFamily="49" charset="-122"/>
                <a:sym typeface="+mn-ea"/>
              </a:rPr>
              <a:t>：专利公开，支持中文。</a:t>
            </a:r>
            <a:endParaRPr lang="en-US" altLang="zh-CN" sz="2000" dirty="0">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en-US" sz="2000" dirty="0">
                <a:latin typeface="Times New Roman" panose="02020603050405020304" pitchFamily="18" charset="0"/>
                <a:ea typeface="黑体" panose="02010609060101010101" pitchFamily="49" charset="-122"/>
                <a:sym typeface="+mn-ea"/>
              </a:rPr>
              <a:t>        QR C</a:t>
            </a:r>
            <a:r>
              <a:rPr lang="en-US" altLang="zh-CN" sz="2000" dirty="0">
                <a:latin typeface="Times New Roman" panose="02020603050405020304" pitchFamily="18" charset="0"/>
                <a:ea typeface="黑体" panose="02010609060101010101" pitchFamily="49" charset="-122"/>
                <a:sym typeface="+mn-ea"/>
              </a:rPr>
              <a:t>ode</a:t>
            </a:r>
            <a:r>
              <a:rPr lang="zh-CN" altLang="en-US" sz="2000" dirty="0">
                <a:latin typeface="Times New Roman" panose="02020603050405020304" pitchFamily="18" charset="0"/>
                <a:ea typeface="黑体" panose="02010609060101010101" pitchFamily="49" charset="-122"/>
                <a:sym typeface="+mn-ea"/>
              </a:rPr>
              <a:t>（全称</a:t>
            </a:r>
            <a:r>
              <a:rPr lang="en-US" altLang="zh-CN" sz="2000" dirty="0">
                <a:latin typeface="Times New Roman" panose="02020603050405020304" pitchFamily="18" charset="0"/>
                <a:ea typeface="黑体" panose="02010609060101010101" pitchFamily="49" charset="-122"/>
                <a:sym typeface="+mn-ea"/>
              </a:rPr>
              <a:t>Quick Response Code</a:t>
            </a:r>
            <a:r>
              <a:rPr lang="zh-CN" altLang="en-US" sz="2000" dirty="0">
                <a:latin typeface="Times New Roman" panose="02020603050405020304" pitchFamily="18" charset="0"/>
                <a:ea typeface="黑体" panose="02010609060101010101" pitchFamily="49" charset="-122"/>
                <a:sym typeface="+mn-ea"/>
              </a:rPr>
              <a:t>）是由日本</a:t>
            </a:r>
            <a:r>
              <a:rPr lang="en-US" altLang="zh-CN" sz="2000" dirty="0">
                <a:latin typeface="Times New Roman" panose="02020603050405020304" pitchFamily="18" charset="0"/>
                <a:ea typeface="黑体" panose="02010609060101010101" pitchFamily="49" charset="-122"/>
                <a:sym typeface="+mn-ea"/>
              </a:rPr>
              <a:t>Denso</a:t>
            </a:r>
            <a:r>
              <a:rPr lang="zh-CN" altLang="en-US" sz="2000" dirty="0">
                <a:latin typeface="Times New Roman" panose="02020603050405020304" pitchFamily="18" charset="0"/>
                <a:ea typeface="黑体" panose="02010609060101010101" pitchFamily="49" charset="-122"/>
                <a:sym typeface="+mn-ea"/>
              </a:rPr>
              <a:t>公司于</a:t>
            </a:r>
            <a:r>
              <a:rPr lang="en-US" altLang="zh-CN" sz="2000" dirty="0">
                <a:latin typeface="Times New Roman" panose="02020603050405020304" pitchFamily="18" charset="0"/>
                <a:ea typeface="黑体" panose="02010609060101010101" pitchFamily="49" charset="-122"/>
                <a:sym typeface="+mn-ea"/>
              </a:rPr>
              <a:t>1994</a:t>
            </a:r>
            <a:r>
              <a:rPr lang="zh-CN" altLang="en-US" sz="2000" dirty="0">
                <a:latin typeface="Times New Roman" panose="02020603050405020304" pitchFamily="18" charset="0"/>
                <a:ea typeface="黑体" panose="02010609060101010101" pitchFamily="49" charset="-122"/>
                <a:sym typeface="+mn-ea"/>
              </a:rPr>
              <a:t>年</a:t>
            </a:r>
            <a:r>
              <a:rPr lang="en-US" altLang="zh-CN" sz="2000" dirty="0">
                <a:latin typeface="Times New Roman" panose="02020603050405020304" pitchFamily="18" charset="0"/>
                <a:ea typeface="黑体" panose="02010609060101010101" pitchFamily="49" charset="-122"/>
                <a:sym typeface="+mn-ea"/>
              </a:rPr>
              <a:t>9</a:t>
            </a:r>
            <a:r>
              <a:rPr lang="zh-CN" altLang="en-US" sz="2000" dirty="0">
                <a:latin typeface="Times New Roman" panose="02020603050405020304" pitchFamily="18" charset="0"/>
                <a:ea typeface="黑体" panose="02010609060101010101" pitchFamily="49" charset="-122"/>
                <a:sym typeface="+mn-ea"/>
              </a:rPr>
              <a:t>月研制的一种矩阵式二维条码，它具有以下特点：</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高密度编码，信息容量大</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solidFill>
                  <a:srgbClr val="0070C0"/>
                </a:solidFill>
                <a:latin typeface="Times New Roman" panose="02020603050405020304" pitchFamily="18" charset="0"/>
                <a:ea typeface="黑体" panose="02010609060101010101" pitchFamily="49" charset="-122"/>
                <a:sym typeface="+mn-ea"/>
              </a:rPr>
              <a:t>编码范围广</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容错能力强，具有纠错功能</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译码可靠性高</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可引入加密措施</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成本低，易制作，持久耐用</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条码符号形状、尺寸大小比例可变</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二维条码可以使用激光或</a:t>
            </a:r>
            <a:r>
              <a:rPr lang="en-US" altLang="zh-CN" sz="2000" dirty="0">
                <a:latin typeface="Times New Roman" panose="02020603050405020304" pitchFamily="18" charset="0"/>
                <a:ea typeface="黑体" panose="02010609060101010101" pitchFamily="49" charset="-122"/>
                <a:sym typeface="+mn-ea"/>
              </a:rPr>
              <a:t>CCD</a:t>
            </a:r>
            <a:r>
              <a:rPr lang="zh-CN" altLang="en-US" sz="2000" dirty="0">
                <a:latin typeface="Times New Roman" panose="02020603050405020304" pitchFamily="18" charset="0"/>
                <a:ea typeface="黑体" panose="02010609060101010101" pitchFamily="49" charset="-122"/>
                <a:sym typeface="+mn-ea"/>
              </a:rPr>
              <a:t>阅读器识读，</a:t>
            </a:r>
            <a:r>
              <a:rPr lang="en-US" altLang="zh-CN" sz="2000" dirty="0">
                <a:latin typeface="Times New Roman" panose="02020603050405020304" pitchFamily="18" charset="0"/>
                <a:ea typeface="黑体" panose="02010609060101010101" pitchFamily="49" charset="-122"/>
                <a:sym typeface="+mn-ea"/>
              </a:rPr>
              <a:t>QR Code</a:t>
            </a:r>
            <a:r>
              <a:rPr lang="zh-CN" altLang="en-US" sz="2000" dirty="0">
                <a:latin typeface="Times New Roman" panose="02020603050405020304" pitchFamily="18" charset="0"/>
                <a:ea typeface="黑体" panose="02010609060101010101" pitchFamily="49" charset="-122"/>
                <a:sym typeface="+mn-ea"/>
              </a:rPr>
              <a:t>具有全方位（</a:t>
            </a:r>
            <a:r>
              <a:rPr lang="en-US" altLang="zh-CN" sz="2000" dirty="0">
                <a:latin typeface="Times New Roman" panose="02020603050405020304" pitchFamily="18" charset="0"/>
                <a:ea typeface="黑体" panose="02010609060101010101" pitchFamily="49" charset="-122"/>
                <a:sym typeface="+mn-ea"/>
              </a:rPr>
              <a:t>360°</a:t>
            </a:r>
            <a:r>
              <a:rPr lang="zh-CN" altLang="en-US" sz="2000" dirty="0">
                <a:latin typeface="Times New Roman" panose="02020603050405020304" pitchFamily="18" charset="0"/>
                <a:ea typeface="黑体" panose="02010609060101010101" pitchFamily="49" charset="-122"/>
                <a:sym typeface="+mn-ea"/>
              </a:rPr>
              <a:t>）识读特点</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solidFill>
                  <a:srgbClr val="0070C0"/>
                </a:solidFill>
                <a:uFillTx/>
                <a:latin typeface="Times New Roman" panose="02020603050405020304" pitchFamily="18" charset="0"/>
                <a:ea typeface="黑体" panose="02010609060101010101" pitchFamily="49" charset="-122"/>
                <a:sym typeface="+mn-ea"/>
              </a:rPr>
              <a:t>能够有效地表示中国汉字</a:t>
            </a:r>
            <a:endParaRPr sz="2000" dirty="0">
              <a:solidFill>
                <a:srgbClr val="0070C0"/>
              </a:solidFill>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 Code</a:t>
            </a:r>
            <a:r>
              <a:rPr lang="zh-CN" altLang="en-US" sz="2400" dirty="0">
                <a:sym typeface="+mn-ea"/>
              </a:rPr>
              <a:t>结构图</a:t>
            </a:r>
            <a:endParaRPr lang="zh-CN" altLang="en-US" sz="2400" dirty="0">
              <a:sym typeface="+mn-ea"/>
            </a:endParaRPr>
          </a:p>
        </p:txBody>
      </p:sp>
      <p:sp>
        <p:nvSpPr>
          <p:cNvPr id="9" name="文本框 8"/>
          <p:cNvSpPr txBox="1"/>
          <p:nvPr/>
        </p:nvSpPr>
        <p:spPr>
          <a:xfrm>
            <a:off x="453447" y="5332232"/>
            <a:ext cx="8205470" cy="1015663"/>
          </a:xfrm>
          <a:prstGeom prst="rect">
            <a:avLst/>
          </a:prstGeom>
          <a:noFill/>
        </p:spPr>
        <p:txBody>
          <a:bodyPr wrap="square" rtlCol="0" anchor="t">
            <a:spAutoFit/>
          </a:bodyPr>
          <a:lstStyle/>
          <a:p>
            <a:pPr algn="l"/>
            <a:r>
              <a:rPr lang="en-US" altLang="zh-CN" sz="2000" dirty="0">
                <a:latin typeface="Times New Roman" panose="02020603050405020304" pitchFamily="18" charset="0"/>
                <a:ea typeface="黑体" panose="02010609060101010101" pitchFamily="49" charset="-122"/>
                <a:sym typeface="+mn-ea"/>
              </a:rPr>
              <a:t>        QR</a:t>
            </a:r>
            <a:r>
              <a:rPr lang="zh-CN" altLang="en-US" sz="2000" dirty="0">
                <a:latin typeface="Times New Roman" panose="02020603050405020304" pitchFamily="18" charset="0"/>
                <a:ea typeface="黑体" panose="02010609060101010101" pitchFamily="49" charset="-122"/>
                <a:sym typeface="+mn-ea"/>
              </a:rPr>
              <a:t>码共有</a:t>
            </a:r>
            <a:r>
              <a:rPr lang="en-US" altLang="zh-CN" sz="2000" dirty="0">
                <a:latin typeface="Times New Roman" panose="02020603050405020304" pitchFamily="18" charset="0"/>
                <a:ea typeface="黑体" panose="02010609060101010101" pitchFamily="49" charset="-122"/>
                <a:sym typeface="+mn-ea"/>
              </a:rPr>
              <a:t>40</a:t>
            </a:r>
            <a:r>
              <a:rPr lang="zh-CN" altLang="en-US" sz="2000" dirty="0">
                <a:latin typeface="Times New Roman" panose="02020603050405020304" pitchFamily="18" charset="0"/>
                <a:ea typeface="黑体" panose="02010609060101010101" pitchFamily="49" charset="-122"/>
                <a:sym typeface="+mn-ea"/>
              </a:rPr>
              <a:t>个版本（版本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版本</a:t>
            </a:r>
            <a:r>
              <a:rPr lang="en-US" altLang="zh-CN" sz="2000" dirty="0">
                <a:latin typeface="Times New Roman" panose="02020603050405020304" pitchFamily="18" charset="0"/>
                <a:ea typeface="黑体" panose="02010609060101010101" pitchFamily="49" charset="-122"/>
                <a:sym typeface="+mn-ea"/>
              </a:rPr>
              <a:t>40</a:t>
            </a:r>
            <a:r>
              <a:rPr lang="zh-CN" altLang="en-US" sz="2000" dirty="0">
                <a:latin typeface="Times New Roman" panose="02020603050405020304" pitchFamily="18" charset="0"/>
                <a:ea typeface="黑体" panose="02010609060101010101" pitchFamily="49" charset="-122"/>
                <a:sym typeface="+mn-ea"/>
              </a:rPr>
              <a:t>），其中版本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的模块数为</a:t>
            </a:r>
            <a:r>
              <a:rPr lang="en-US" altLang="zh-CN" sz="2000" dirty="0">
                <a:latin typeface="Times New Roman" panose="02020603050405020304" pitchFamily="18" charset="0"/>
                <a:ea typeface="黑体" panose="02010609060101010101" pitchFamily="49" charset="-122"/>
                <a:sym typeface="+mn-ea"/>
              </a:rPr>
              <a:t>21</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21</a:t>
            </a:r>
            <a:r>
              <a:rPr lang="zh-CN" altLang="en-US" sz="2000" dirty="0">
                <a:latin typeface="Times New Roman" panose="02020603050405020304" pitchFamily="18" charset="0"/>
                <a:ea typeface="黑体" panose="02010609060101010101" pitchFamily="49" charset="-122"/>
                <a:sym typeface="+mn-ea"/>
              </a:rPr>
              <a:t>，而每增加一个版本，其每边的模块数各增加</a:t>
            </a:r>
            <a:r>
              <a:rPr lang="en-US" altLang="zh-CN" sz="2000" dirty="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。因此版本</a:t>
            </a:r>
            <a:r>
              <a:rPr lang="en-US" altLang="zh-CN" sz="2000" dirty="0">
                <a:latin typeface="Times New Roman" panose="02020603050405020304" pitchFamily="18" charset="0"/>
                <a:ea typeface="黑体" panose="02010609060101010101" pitchFamily="49" charset="-122"/>
                <a:sym typeface="+mn-ea"/>
              </a:rPr>
              <a:t>40</a:t>
            </a:r>
            <a:r>
              <a:rPr lang="zh-CN" altLang="en-US" sz="2000" dirty="0">
                <a:latin typeface="Times New Roman" panose="02020603050405020304" pitchFamily="18" charset="0"/>
                <a:ea typeface="黑体" panose="02010609060101010101" pitchFamily="49" charset="-122"/>
                <a:sym typeface="+mn-ea"/>
              </a:rPr>
              <a:t>的模块数为</a:t>
            </a:r>
            <a:r>
              <a:rPr lang="en-US" altLang="zh-CN" sz="2000" dirty="0">
                <a:latin typeface="Times New Roman" panose="02020603050405020304" pitchFamily="18" charset="0"/>
                <a:ea typeface="黑体" panose="02010609060101010101" pitchFamily="49" charset="-122"/>
                <a:sym typeface="+mn-ea"/>
              </a:rPr>
              <a:t>177</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177</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12" name="文本框 11"/>
          <p:cNvSpPr txBox="1"/>
          <p:nvPr/>
        </p:nvSpPr>
        <p:spPr>
          <a:xfrm>
            <a:off x="7076406" y="2122564"/>
            <a:ext cx="1551735" cy="1631216"/>
          </a:xfrm>
          <a:prstGeom prst="rect">
            <a:avLst/>
          </a:prstGeom>
          <a:noFill/>
        </p:spPr>
        <p:txBody>
          <a:bodyPr wrap="square" rtlCol="0" anchor="t">
            <a:spAutoFit/>
          </a:bodyPr>
          <a:lstStyle/>
          <a:p>
            <a:pPr algn="l"/>
            <a:r>
              <a:rPr lang="zh-CN" altLang="en-US" sz="2000" dirty="0">
                <a:uFillTx/>
                <a:latin typeface="Times New Roman" panose="02020603050405020304" pitchFamily="18" charset="0"/>
                <a:ea typeface="黑体" panose="02010609060101010101" pitchFamily="49" charset="-122"/>
                <a:sym typeface="+mn-ea"/>
              </a:rPr>
              <a:t>一个</a:t>
            </a:r>
            <a:r>
              <a:rPr lang="en-US" altLang="zh-CN" sz="2000" dirty="0">
                <a:uFillTx/>
                <a:latin typeface="Times New Roman" panose="02020603050405020304" pitchFamily="18" charset="0"/>
                <a:ea typeface="黑体" panose="02010609060101010101" pitchFamily="49" charset="-122"/>
                <a:sym typeface="+mn-ea"/>
              </a:rPr>
              <a:t>QR</a:t>
            </a:r>
            <a:r>
              <a:rPr lang="zh-CN" altLang="en-US" sz="2000" dirty="0">
                <a:uFillTx/>
                <a:latin typeface="Times New Roman" panose="02020603050405020304" pitchFamily="18" charset="0"/>
                <a:ea typeface="黑体" panose="02010609060101010101" pitchFamily="49" charset="-122"/>
                <a:sym typeface="+mn-ea"/>
              </a:rPr>
              <a:t>码可以分为两个部分：</a:t>
            </a:r>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功能图形和编码区域。</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13" name="内容占位符 2"/>
          <p:cNvSpPr txBox="1"/>
          <p:nvPr/>
        </p:nvSpPr>
        <p:spPr>
          <a:xfrm>
            <a:off x="6918320" y="2026994"/>
            <a:ext cx="1740597" cy="1844496"/>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5859" y="1371654"/>
            <a:ext cx="6074644" cy="35956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的基本结构</a:t>
            </a:r>
            <a:endParaRPr lang="zh-CN" altLang="en-US" sz="2400" dirty="0">
              <a:sym typeface="+mn-ea"/>
            </a:endParaRPr>
          </a:p>
        </p:txBody>
      </p:sp>
      <p:pic>
        <p:nvPicPr>
          <p:cNvPr id="205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82494" y="1818041"/>
            <a:ext cx="5885029" cy="4873171"/>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308002" y="979893"/>
            <a:ext cx="8263836" cy="707886"/>
          </a:xfrm>
          <a:prstGeom prst="rect">
            <a:avLst/>
          </a:prstGeom>
          <a:noFill/>
        </p:spPr>
        <p:txBody>
          <a:bodyPr wrap="square" rtlCol="0" anchor="t">
            <a:spAutoFit/>
          </a:bodyPr>
          <a:lstStyle/>
          <a:p>
            <a:r>
              <a:rPr lang="zh-CN" altLang="en-US" sz="2000" dirty="0">
                <a:latin typeface="黑体" panose="02010609060101010101" pitchFamily="49" charset="-122"/>
                <a:ea typeface="黑体" panose="02010609060101010101" pitchFamily="49" charset="-122"/>
                <a:sym typeface="+mn-ea"/>
              </a:rPr>
              <a:t>    版本</a:t>
            </a:r>
            <a:r>
              <a:rPr lang="en-US" altLang="zh-CN" sz="2000" dirty="0">
                <a:latin typeface="黑体" panose="02010609060101010101" pitchFamily="49" charset="-122"/>
                <a:ea typeface="黑体" panose="02010609060101010101" pitchFamily="49" charset="-122"/>
                <a:sym typeface="+mn-ea"/>
              </a:rPr>
              <a:t>7</a:t>
            </a:r>
            <a:r>
              <a:rPr lang="zh-CN" altLang="en-US" sz="2000" dirty="0">
                <a:latin typeface="黑体" panose="02010609060101010101" pitchFamily="49" charset="-122"/>
                <a:ea typeface="黑体" panose="02010609060101010101" pitchFamily="49" charset="-122"/>
                <a:sym typeface="+mn-ea"/>
              </a:rPr>
              <a:t>的模块数为</a:t>
            </a:r>
            <a:r>
              <a:rPr lang="en-US" altLang="zh-CN" sz="2000" dirty="0">
                <a:latin typeface="黑体" panose="02010609060101010101" pitchFamily="49" charset="-122"/>
                <a:ea typeface="黑体" panose="02010609060101010101" pitchFamily="49" charset="-122"/>
                <a:sym typeface="+mn-ea"/>
              </a:rPr>
              <a:t>45</a:t>
            </a:r>
            <a:r>
              <a:rPr lang="zh-CN" altLang="en-US" sz="2000" dirty="0">
                <a:latin typeface="黑体" panose="02010609060101010101" pitchFamily="49" charset="-122"/>
                <a:ea typeface="黑体" panose="02010609060101010101" pitchFamily="49" charset="-122"/>
                <a:sym typeface="+mn-ea"/>
              </a:rPr>
              <a:t>*</a:t>
            </a:r>
            <a:r>
              <a:rPr lang="en-US" altLang="zh-CN" sz="2000" dirty="0">
                <a:latin typeface="黑体" panose="02010609060101010101" pitchFamily="49" charset="-122"/>
                <a:ea typeface="黑体" panose="02010609060101010101" pitchFamily="49" charset="-122"/>
                <a:sym typeface="+mn-ea"/>
              </a:rPr>
              <a:t>45</a:t>
            </a:r>
            <a:r>
              <a:rPr lang="zh-CN" altLang="en-US" sz="2000" dirty="0">
                <a:latin typeface="黑体" panose="02010609060101010101" pitchFamily="49" charset="-122"/>
                <a:ea typeface="黑体" panose="02010609060101010101" pitchFamily="49" charset="-122"/>
                <a:sym typeface="+mn-ea"/>
              </a:rPr>
              <a:t>。</a:t>
            </a:r>
            <a:endParaRPr lang="en-US" altLang="zh-CN" sz="2000" dirty="0">
              <a:latin typeface="黑体" panose="02010609060101010101" pitchFamily="49" charset="-122"/>
              <a:ea typeface="黑体" panose="02010609060101010101" pitchFamily="49" charset="-122"/>
              <a:sym typeface="+mn-ea"/>
            </a:endParaRPr>
          </a:p>
          <a:p>
            <a:r>
              <a:rPr lang="zh-CN" altLang="en-US" sz="2000" dirty="0">
                <a:latin typeface="黑体" panose="02010609060101010101" pitchFamily="49" charset="-122"/>
                <a:ea typeface="黑体" panose="02010609060101010101" pitchFamily="49" charset="-122"/>
                <a:sym typeface="+mn-ea"/>
              </a:rPr>
              <a:t>    以版本</a:t>
            </a:r>
            <a:r>
              <a:rPr lang="en-US" altLang="zh-CN" sz="2000" dirty="0">
                <a:latin typeface="黑体" panose="02010609060101010101" pitchFamily="49" charset="-122"/>
                <a:ea typeface="黑体" panose="02010609060101010101" pitchFamily="49" charset="-122"/>
                <a:sym typeface="+mn-ea"/>
              </a:rPr>
              <a:t>7</a:t>
            </a:r>
            <a:r>
              <a:rPr lang="zh-CN" altLang="en-US" sz="2000" dirty="0">
                <a:latin typeface="黑体" panose="02010609060101010101" pitchFamily="49" charset="-122"/>
                <a:ea typeface="黑体" panose="02010609060101010101" pitchFamily="49" charset="-122"/>
                <a:sym typeface="+mn-ea"/>
              </a:rPr>
              <a:t>为例，介绍</a:t>
            </a:r>
            <a:r>
              <a:rPr lang="en-US" altLang="zh-CN" sz="2000" dirty="0">
                <a:latin typeface="黑体" panose="02010609060101010101" pitchFamily="49" charset="-122"/>
                <a:ea typeface="黑体" panose="02010609060101010101" pitchFamily="49" charset="-122"/>
                <a:sym typeface="+mn-ea"/>
              </a:rPr>
              <a:t>QR</a:t>
            </a:r>
            <a:r>
              <a:rPr lang="zh-CN" altLang="en-US" sz="2000" dirty="0">
                <a:latin typeface="黑体" panose="02010609060101010101" pitchFamily="49" charset="-122"/>
                <a:ea typeface="黑体" panose="02010609060101010101" pitchFamily="49" charset="-122"/>
                <a:sym typeface="+mn-ea"/>
              </a:rPr>
              <a:t>码各个部分的结构。</a:t>
            </a:r>
            <a:endParaRPr lang="en-US" altLang="zh-CN" sz="20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endParaRPr lang="zh-CN" altLang="en-US" sz="2400" dirty="0">
              <a:sym typeface="+mn-ea"/>
            </a:endParaRPr>
          </a:p>
        </p:txBody>
      </p:sp>
      <p:sp>
        <p:nvSpPr>
          <p:cNvPr id="10" name="文本框 9"/>
          <p:cNvSpPr txBox="1"/>
          <p:nvPr/>
        </p:nvSpPr>
        <p:spPr>
          <a:xfrm>
            <a:off x="5181584" y="927735"/>
            <a:ext cx="3502676" cy="5632311"/>
          </a:xfrm>
          <a:prstGeom prst="rect">
            <a:avLst/>
          </a:prstGeom>
          <a:noFill/>
        </p:spPr>
        <p:txBody>
          <a:bodyPr wrap="square" rtlCol="0" anchor="t">
            <a:spAutoFit/>
          </a:bodyPr>
          <a:lstStyle/>
          <a:p>
            <a:pPr algn="l"/>
            <a:r>
              <a:rPr lang="zh-CN" altLang="en-US" sz="2000" dirty="0">
                <a:solidFill>
                  <a:srgbClr val="0070C0"/>
                </a:solidFill>
                <a:uFillTx/>
                <a:latin typeface="Times New Roman" panose="02020603050405020304" pitchFamily="18" charset="0"/>
                <a:ea typeface="黑体" panose="02010609060101010101" pitchFamily="49" charset="-122"/>
                <a:sym typeface="+mn-ea"/>
              </a:rPr>
              <a:t>寻像图形</a:t>
            </a:r>
            <a:r>
              <a:rPr lang="zh-CN" altLang="en-US" sz="2000" dirty="0">
                <a:solidFill>
                  <a:srgbClr val="0070C0"/>
                </a:solidFill>
                <a:latin typeface="Times New Roman" panose="02020603050405020304" pitchFamily="18" charset="0"/>
                <a:ea typeface="黑体" panose="02010609060101010101" pitchFamily="49" charset="-122"/>
                <a:sym typeface="+mn-ea"/>
              </a:rPr>
              <a:t>、位置探测图形：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协助扫描软件定位</a:t>
            </a:r>
            <a:r>
              <a:rPr lang="en-US" altLang="zh-CN" sz="2000" dirty="0">
                <a:uFillTx/>
                <a:latin typeface="Times New Roman" panose="02020603050405020304" pitchFamily="18" charset="0"/>
                <a:ea typeface="黑体" panose="02010609060101010101" pitchFamily="49" charset="-122"/>
                <a:sym typeface="+mn-ea"/>
              </a:rPr>
              <a:t>QR</a:t>
            </a:r>
            <a:r>
              <a:rPr lang="zh-CN" altLang="en-US" sz="2000" dirty="0">
                <a:uFillTx/>
                <a:latin typeface="Times New Roman" panose="02020603050405020304" pitchFamily="18" charset="0"/>
                <a:ea typeface="黑体" panose="02010609060101010101" pitchFamily="49" charset="-122"/>
                <a:sym typeface="+mn-ea"/>
              </a:rPr>
              <a:t>码并转换坐标系。</a:t>
            </a:r>
            <a:endParaRPr lang="en-US" altLang="zh-CN" sz="2000" dirty="0">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寻像图形包括三个相同的位置探测图形，分别位于图形中的左上角、右上角和左下角。每个位置探测图形由</a:t>
            </a:r>
            <a:r>
              <a:rPr lang="en-US" altLang="zh-CN" sz="2000" dirty="0">
                <a:uFillTx/>
                <a:latin typeface="Times New Roman" panose="02020603050405020304" pitchFamily="18" charset="0"/>
                <a:ea typeface="黑体" panose="02010609060101010101" pitchFamily="49" charset="-122"/>
                <a:sym typeface="+mn-ea"/>
              </a:rPr>
              <a:t>7</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7</a:t>
            </a:r>
            <a:r>
              <a:rPr lang="zh-CN" altLang="en-US" sz="2000" dirty="0">
                <a:uFillTx/>
                <a:latin typeface="Times New Roman" panose="02020603050405020304" pitchFamily="18" charset="0"/>
                <a:ea typeface="黑体" panose="02010609060101010101" pitchFamily="49" charset="-122"/>
                <a:sym typeface="+mn-ea"/>
              </a:rPr>
              <a:t>个模块组成。</a:t>
            </a:r>
            <a:r>
              <a:rPr lang="zh-CN" altLang="en-US" sz="2000" dirty="0">
                <a:latin typeface="Times New Roman" panose="02020603050405020304" pitchFamily="18" charset="0"/>
                <a:ea typeface="黑体" panose="02010609060101010101" pitchFamily="49" charset="-122"/>
                <a:sym typeface="+mn-ea"/>
              </a:rPr>
              <a:t>如图，寻像图形为黑色区域。</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uFillTx/>
              <a:latin typeface="Times New Roman" panose="02020603050405020304" pitchFamily="18" charset="0"/>
              <a:ea typeface="黑体" panose="02010609060101010101" pitchFamily="49" charset="-122"/>
              <a:sym typeface="+mn-ea"/>
            </a:endParaRPr>
          </a:p>
          <a:p>
            <a:pPr algn="l"/>
            <a:r>
              <a:rPr lang="zh-CN" altLang="en-US" sz="2000" dirty="0">
                <a:solidFill>
                  <a:srgbClr val="0070C0"/>
                </a:solidFill>
                <a:latin typeface="Times New Roman" panose="02020603050405020304" pitchFamily="18" charset="0"/>
                <a:ea typeface="黑体" panose="02010609060101010101" pitchFamily="49" charset="-122"/>
                <a:sym typeface="+mn-ea"/>
              </a:rPr>
              <a:t>位置探测图形分隔符：</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区分功能图形和编码区域。</a:t>
            </a:r>
            <a:endParaRPr lang="en-US" altLang="zh-CN" sz="2000" dirty="0">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每个位置探测图形和编码区域之间有宽度为</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个模块的分隔符。位置探测图形分隔符为灰色区域，此区域应为空白。</a:t>
            </a:r>
            <a:endParaRPr sz="2000" dirty="0">
              <a:uFillTx/>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17721"/>
          <a:stretch>
            <a:fillRect/>
          </a:stretch>
        </p:blipFill>
        <p:spPr bwMode="auto">
          <a:xfrm>
            <a:off x="57537" y="1210007"/>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endParaRPr lang="zh-CN" altLang="en-US" sz="2400" dirty="0">
              <a:sym typeface="+mn-ea"/>
            </a:endParaRPr>
          </a:p>
        </p:txBody>
      </p:sp>
      <p:sp>
        <p:nvSpPr>
          <p:cNvPr id="10" name="文本框 9"/>
          <p:cNvSpPr txBox="1"/>
          <p:nvPr/>
        </p:nvSpPr>
        <p:spPr>
          <a:xfrm>
            <a:off x="5230975" y="927735"/>
            <a:ext cx="3502676" cy="5324535"/>
          </a:xfrm>
          <a:prstGeom prst="rect">
            <a:avLst/>
          </a:prstGeom>
          <a:noFill/>
        </p:spPr>
        <p:txBody>
          <a:bodyPr wrap="square" rtlCol="0" anchor="t">
            <a:spAutoFit/>
          </a:bodyPr>
          <a:lstStyle/>
          <a:p>
            <a:pPr algn="l"/>
            <a:r>
              <a:rPr lang="zh-CN" altLang="en-US" sz="2000" dirty="0">
                <a:solidFill>
                  <a:srgbClr val="0070C0"/>
                </a:solidFill>
                <a:latin typeface="Times New Roman" panose="02020603050405020304" pitchFamily="18" charset="0"/>
                <a:ea typeface="黑体" panose="02010609060101010101" pitchFamily="49" charset="-122"/>
                <a:sym typeface="+mn-ea"/>
              </a:rPr>
              <a:t>定位</a:t>
            </a:r>
            <a:r>
              <a:rPr lang="zh-CN" altLang="en-US" sz="2000" dirty="0">
                <a:solidFill>
                  <a:srgbClr val="0070C0"/>
                </a:solidFill>
                <a:uFillTx/>
                <a:latin typeface="Times New Roman" panose="02020603050405020304" pitchFamily="18" charset="0"/>
                <a:ea typeface="黑体" panose="02010609060101010101" pitchFamily="49" charset="-122"/>
                <a:sym typeface="+mn-ea"/>
              </a:rPr>
              <a:t>图形</a:t>
            </a:r>
            <a:r>
              <a:rPr lang="zh-CN" altLang="en-US" sz="2000" dirty="0">
                <a:solidFill>
                  <a:srgbClr val="0070C0"/>
                </a:solidFill>
                <a:latin typeface="Times New Roman" panose="02020603050405020304" pitchFamily="18" charset="0"/>
                <a:ea typeface="黑体" panose="02010609060101010101" pitchFamily="49" charset="-122"/>
                <a:sym typeface="+mn-ea"/>
              </a:rPr>
              <a:t>：</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确定符号的密度和版本，提供决定模块坐标的基准位置。</a:t>
            </a:r>
            <a:endParaRPr lang="en-US" altLang="zh-CN" sz="2000" dirty="0">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定位图形为图中的茶色区域，水平和垂直的定位图形分别始于第</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行和第</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列。</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此外，坐标（</a:t>
            </a:r>
            <a:r>
              <a:rPr lang="en-US" altLang="zh-CN" sz="2000" dirty="0">
                <a:latin typeface="Times New Roman" panose="02020603050405020304" pitchFamily="18" charset="0"/>
                <a:ea typeface="黑体" panose="02010609060101010101" pitchFamily="49" charset="-122"/>
                <a:sym typeface="+mn-ea"/>
              </a:rPr>
              <a:t>6,6</a:t>
            </a:r>
            <a:r>
              <a:rPr lang="zh-CN" altLang="en-US" sz="2000" dirty="0">
                <a:latin typeface="Times New Roman" panose="02020603050405020304" pitchFamily="18" charset="0"/>
                <a:ea typeface="黑体" panose="02010609060101010101" pitchFamily="49" charset="-122"/>
                <a:sym typeface="+mn-ea"/>
              </a:rPr>
              <a:t>）同时是位置探测图形和定位图形，且为定位图形的开始坐标。第</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行和第</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列中的</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个水绿色部分也是定位图形。</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定位图形是由深色与浅色模块交替组成，开始与结尾都是深色模块。</a:t>
            </a:r>
            <a:endParaRPr lang="en-US" altLang="zh-CN" sz="2000" dirty="0">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17721"/>
          <a:stretch>
            <a:fillRect/>
          </a:stretch>
        </p:blipFill>
        <p:spPr bwMode="auto">
          <a:xfrm>
            <a:off x="0" y="1143060"/>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endParaRPr lang="zh-CN" altLang="en-US" sz="2400" dirty="0">
              <a:sym typeface="+mn-ea"/>
            </a:endParaRPr>
          </a:p>
        </p:txBody>
      </p:sp>
      <p:sp>
        <p:nvSpPr>
          <p:cNvPr id="10" name="文本框 9"/>
          <p:cNvSpPr txBox="1"/>
          <p:nvPr/>
        </p:nvSpPr>
        <p:spPr>
          <a:xfrm>
            <a:off x="5230975" y="927735"/>
            <a:ext cx="3502676" cy="5632311"/>
          </a:xfrm>
          <a:prstGeom prst="rect">
            <a:avLst/>
          </a:prstGeom>
          <a:noFill/>
        </p:spPr>
        <p:txBody>
          <a:bodyPr wrap="square" rtlCol="0" anchor="t">
            <a:spAutoFit/>
          </a:bodyPr>
          <a:lstStyle/>
          <a:p>
            <a:pPr algn="l"/>
            <a:r>
              <a:rPr lang="zh-CN" altLang="en-US" sz="2000" dirty="0">
                <a:solidFill>
                  <a:srgbClr val="0070C0"/>
                </a:solidFill>
                <a:uFillTx/>
                <a:latin typeface="Times New Roman" panose="02020603050405020304" pitchFamily="18" charset="0"/>
                <a:ea typeface="黑体" panose="02010609060101010101" pitchFamily="49" charset="-122"/>
                <a:sym typeface="+mn-ea"/>
              </a:rPr>
              <a:t>校正图形</a:t>
            </a:r>
            <a:r>
              <a:rPr lang="zh-CN" altLang="en-US" sz="2000" dirty="0">
                <a:solidFill>
                  <a:srgbClr val="0070C0"/>
                </a:solidFill>
                <a:latin typeface="Times New Roman" panose="02020603050405020304" pitchFamily="18" charset="0"/>
                <a:ea typeface="黑体" panose="02010609060101010101" pitchFamily="49" charset="-122"/>
                <a:sym typeface="+mn-ea"/>
              </a:rPr>
              <a:t>：</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在图像有一定程度损坏的情况下，译码软件可以通过它同步图像模块的坐标映像。</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矫正图形的数量视符号和版本号而定，版本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没有校正图形，版本</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及以上均含有校正图形。</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如图，版本</a:t>
            </a:r>
            <a:r>
              <a:rPr lang="en-US" altLang="zh-CN" sz="2000" dirty="0">
                <a:latin typeface="Times New Roman" panose="02020603050405020304" pitchFamily="18" charset="0"/>
                <a:ea typeface="黑体" panose="02010609060101010101" pitchFamily="49" charset="-122"/>
                <a:sym typeface="+mn-ea"/>
              </a:rPr>
              <a:t>7</a:t>
            </a:r>
            <a:r>
              <a:rPr lang="zh-CN" altLang="en-US" sz="2000" dirty="0">
                <a:latin typeface="Times New Roman" panose="02020603050405020304" pitchFamily="18" charset="0"/>
                <a:ea typeface="黑体" panose="02010609060101010101" pitchFamily="49" charset="-122"/>
                <a:sym typeface="+mn-ea"/>
              </a:rPr>
              <a:t>中，校正图形为水绿色区域。</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校正图形为固定的参照图形，每个校正图形由</a:t>
            </a:r>
            <a:r>
              <a:rPr lang="en-US" altLang="zh-CN" sz="2000" dirty="0">
                <a:latin typeface="Times New Roman" panose="02020603050405020304" pitchFamily="18" charset="0"/>
                <a:ea typeface="黑体" panose="02010609060101010101" pitchFamily="49" charset="-122"/>
                <a:sym typeface="+mn-ea"/>
              </a:rPr>
              <a:t>5</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5</a:t>
            </a:r>
            <a:r>
              <a:rPr lang="zh-CN" altLang="en-US" sz="2000" dirty="0">
                <a:latin typeface="Times New Roman" panose="02020603050405020304" pitchFamily="18" charset="0"/>
                <a:ea typeface="黑体" panose="02010609060101010101" pitchFamily="49" charset="-122"/>
                <a:sym typeface="+mn-ea"/>
              </a:rPr>
              <a:t>的模块组成。可以通过中心模块行列坐标值推出校正图形的具体位置。</a:t>
            </a:r>
            <a:endParaRPr lang="en-US" altLang="zh-CN" sz="2000" dirty="0">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17721"/>
          <a:stretch>
            <a:fillRect/>
          </a:stretch>
        </p:blipFill>
        <p:spPr bwMode="auto">
          <a:xfrm>
            <a:off x="0" y="1143060"/>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endParaRPr lang="zh-CN" altLang="en-US" sz="2400" dirty="0">
              <a:sym typeface="+mn-ea"/>
            </a:endParaRPr>
          </a:p>
        </p:txBody>
      </p:sp>
      <p:sp>
        <p:nvSpPr>
          <p:cNvPr id="10" name="文本框 9"/>
          <p:cNvSpPr txBox="1"/>
          <p:nvPr/>
        </p:nvSpPr>
        <p:spPr>
          <a:xfrm>
            <a:off x="5230975" y="927735"/>
            <a:ext cx="3502676" cy="5632311"/>
          </a:xfrm>
          <a:prstGeom prst="rect">
            <a:avLst/>
          </a:prstGeom>
          <a:noFill/>
        </p:spPr>
        <p:txBody>
          <a:bodyPr wrap="square" rtlCol="0" anchor="t">
            <a:spAutoFit/>
          </a:bodyPr>
          <a:lstStyle/>
          <a:p>
            <a:pPr algn="l"/>
            <a:r>
              <a:rPr lang="zh-CN" altLang="en-US" sz="2000" dirty="0">
                <a:solidFill>
                  <a:srgbClr val="0070C0"/>
                </a:solidFill>
                <a:latin typeface="Times New Roman" panose="02020603050405020304" pitchFamily="18" charset="0"/>
                <a:ea typeface="黑体" panose="02010609060101010101" pitchFamily="49" charset="-122"/>
                <a:sym typeface="+mn-ea"/>
              </a:rPr>
              <a:t>格式信息：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存放纠错等级和掩模信息。</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格式信息是一个</a:t>
            </a:r>
            <a:r>
              <a:rPr lang="en-US" altLang="zh-CN" sz="2000" dirty="0">
                <a:latin typeface="Times New Roman" panose="02020603050405020304" pitchFamily="18" charset="0"/>
                <a:ea typeface="黑体" panose="02010609060101010101" pitchFamily="49" charset="-122"/>
                <a:sym typeface="+mn-ea"/>
              </a:rPr>
              <a:t>15</a:t>
            </a:r>
            <a:r>
              <a:rPr lang="zh-CN" altLang="en-US" sz="2000" dirty="0">
                <a:latin typeface="Times New Roman" panose="02020603050405020304" pitchFamily="18" charset="0"/>
                <a:ea typeface="黑体" panose="02010609060101010101" pitchFamily="49" charset="-122"/>
                <a:sym typeface="+mn-ea"/>
              </a:rPr>
              <a:t>位数据，由</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位纠错指示符</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位掩模图形参考</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位纠错码组成，为图中深蓝色区域。</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同时，左下角格式信息编号</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上方的橙色区域，此区域永远为深色模块，不用于存放任何信息。</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solidFill>
                  <a:srgbClr val="0070C0"/>
                </a:solidFill>
                <a:latin typeface="Times New Roman" panose="02020603050405020304" pitchFamily="18" charset="0"/>
                <a:ea typeface="黑体" panose="02010609060101010101" pitchFamily="49" charset="-122"/>
                <a:sym typeface="+mn-ea"/>
              </a:rPr>
              <a:t>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用于存放</a:t>
            </a:r>
            <a:r>
              <a:rPr lang="en-US" altLang="zh-CN" sz="2000" dirty="0">
                <a:latin typeface="Times New Roman" panose="02020603050405020304" pitchFamily="18" charset="0"/>
                <a:ea typeface="黑体" panose="02010609060101010101" pitchFamily="49" charset="-122"/>
                <a:sym typeface="+mn-ea"/>
              </a:rPr>
              <a:t>QR</a:t>
            </a:r>
            <a:r>
              <a:rPr lang="zh-CN" altLang="en-US" sz="2000" dirty="0">
                <a:latin typeface="Times New Roman" panose="02020603050405020304" pitchFamily="18" charset="0"/>
                <a:ea typeface="黑体" panose="02010609060101010101" pitchFamily="49" charset="-122"/>
                <a:sym typeface="+mn-ea"/>
              </a:rPr>
              <a:t>码的版本号。</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为图中红色区域，两个</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模块。</a:t>
            </a:r>
            <a:endParaRPr lang="en-US" sz="2000" dirty="0">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17721"/>
          <a:stretch>
            <a:fillRect/>
          </a:stretch>
        </p:blipFill>
        <p:spPr bwMode="auto">
          <a:xfrm>
            <a:off x="0" y="1143060"/>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endParaRPr lang="zh-CN" altLang="en-US" sz="2400" dirty="0">
              <a:sym typeface="+mn-ea"/>
            </a:endParaRPr>
          </a:p>
        </p:txBody>
      </p:sp>
      <p:sp>
        <p:nvSpPr>
          <p:cNvPr id="10" name="文本框 9"/>
          <p:cNvSpPr txBox="1"/>
          <p:nvPr/>
        </p:nvSpPr>
        <p:spPr>
          <a:xfrm>
            <a:off x="5230975" y="927735"/>
            <a:ext cx="3502676" cy="5940088"/>
          </a:xfrm>
          <a:prstGeom prst="rect">
            <a:avLst/>
          </a:prstGeom>
          <a:noFill/>
        </p:spPr>
        <p:txBody>
          <a:bodyPr wrap="square" rtlCol="0" anchor="t">
            <a:spAutoFit/>
          </a:bodyPr>
          <a:lstStyle/>
          <a:p>
            <a:pPr algn="l"/>
            <a:r>
              <a:rPr lang="zh-CN" altLang="en-US" sz="2000" dirty="0">
                <a:solidFill>
                  <a:srgbClr val="0070C0"/>
                </a:solidFill>
                <a:latin typeface="Times New Roman" panose="02020603050405020304" pitchFamily="18" charset="0"/>
                <a:ea typeface="黑体" panose="02010609060101010101" pitchFamily="49" charset="-122"/>
                <a:sym typeface="+mn-ea"/>
              </a:rPr>
              <a:t>扩展图形：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最初的目的是用于将来对</a:t>
            </a:r>
            <a:r>
              <a:rPr lang="en-US" altLang="zh-CN" sz="2000" dirty="0">
                <a:latin typeface="Times New Roman" panose="02020603050405020304" pitchFamily="18" charset="0"/>
                <a:ea typeface="黑体" panose="02010609060101010101" pitchFamily="49" charset="-122"/>
                <a:sym typeface="+mn-ea"/>
              </a:rPr>
              <a:t>QR</a:t>
            </a:r>
            <a:r>
              <a:rPr lang="zh-CN" altLang="en-US" sz="2000" dirty="0">
                <a:latin typeface="Times New Roman" panose="02020603050405020304" pitchFamily="18" charset="0"/>
                <a:ea typeface="黑体" panose="02010609060101010101" pitchFamily="49" charset="-122"/>
                <a:sym typeface="+mn-ea"/>
              </a:rPr>
              <a:t>码功能的扩展，并不用于对数据的编码。</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扩展图形由位于符号右下角的一个</a:t>
            </a:r>
            <a:r>
              <a:rPr lang="en-US" altLang="zh-CN" sz="2000" dirty="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个模块组成的方块以及位于符号右边和下边的一些</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个模块的块组成。</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个模块的块的数目取决于符号的版本，计算公式为：</a:t>
            </a:r>
            <a:endParaRPr lang="en-US" altLang="zh-CN" sz="2000" dirty="0">
              <a:latin typeface="Times New Roman" panose="02020603050405020304" pitchFamily="18" charset="0"/>
              <a:ea typeface="黑体" panose="02010609060101010101" pitchFamily="49" charset="-122"/>
              <a:sym typeface="+mn-ea"/>
            </a:endParaRPr>
          </a:p>
          <a:p>
            <a:pPr algn="ctr"/>
            <a:r>
              <a:rPr lang="en-US" altLang="zh-CN" sz="2000" i="1" dirty="0">
                <a:latin typeface="Times New Roman" panose="02020603050405020304" pitchFamily="18" charset="0"/>
                <a:ea typeface="黑体" panose="02010609060101010101" pitchFamily="49" charset="-122"/>
                <a:sym typeface="+mn-ea"/>
              </a:rPr>
              <a:t>8</a:t>
            </a:r>
            <a:r>
              <a:rPr lang="zh-CN" altLang="en-US" sz="2000" i="1" dirty="0">
                <a:latin typeface="Times New Roman" panose="02020603050405020304" pitchFamily="18" charset="0"/>
                <a:ea typeface="黑体" panose="02010609060101010101" pitchFamily="49" charset="-122"/>
                <a:sym typeface="+mn-ea"/>
              </a:rPr>
              <a:t>模块的数目</a:t>
            </a:r>
            <a:r>
              <a:rPr lang="en-US" altLang="zh-CN" sz="2000" i="1" dirty="0">
                <a:latin typeface="Times New Roman" panose="02020603050405020304" pitchFamily="18" charset="0"/>
                <a:ea typeface="黑体" panose="02010609060101010101" pitchFamily="49" charset="-122"/>
                <a:sym typeface="+mn-ea"/>
              </a:rPr>
              <a:t>=2*(N DIV 2)</a:t>
            </a:r>
            <a:endParaRPr lang="en-US" altLang="zh-CN" sz="2000" i="1" dirty="0">
              <a:latin typeface="Times New Roman" panose="02020603050405020304" pitchFamily="18" charset="0"/>
              <a:ea typeface="黑体" panose="02010609060101010101" pitchFamily="49" charset="-122"/>
              <a:sym typeface="+mn-ea"/>
            </a:endParaRPr>
          </a:p>
          <a:p>
            <a:r>
              <a:rPr lang="zh-CN" altLang="en-US" sz="2000" dirty="0">
                <a:latin typeface="Times New Roman" panose="02020603050405020304" pitchFamily="18" charset="0"/>
                <a:ea typeface="黑体" panose="02010609060101010101" pitchFamily="49" charset="-122"/>
                <a:sym typeface="+mn-ea"/>
              </a:rPr>
              <a:t>其中</a:t>
            </a:r>
            <a:r>
              <a:rPr lang="en-US" altLang="zh-CN" sz="2000" dirty="0">
                <a:latin typeface="Times New Roman" panose="02020603050405020304" pitchFamily="18" charset="0"/>
                <a:ea typeface="黑体" panose="02010609060101010101" pitchFamily="49" charset="-122"/>
                <a:sym typeface="+mn-ea"/>
              </a:rPr>
              <a:t>N</a:t>
            </a:r>
            <a:r>
              <a:rPr lang="zh-CN" altLang="en-US" sz="2000" dirty="0">
                <a:latin typeface="Times New Roman" panose="02020603050405020304" pitchFamily="18" charset="0"/>
                <a:ea typeface="黑体" panose="02010609060101010101" pitchFamily="49" charset="-122"/>
                <a:sym typeface="+mn-ea"/>
              </a:rPr>
              <a:t>为版本号，</a:t>
            </a:r>
            <a:r>
              <a:rPr lang="en-US" altLang="zh-CN" sz="2000" dirty="0">
                <a:latin typeface="Times New Roman" panose="02020603050405020304" pitchFamily="18" charset="0"/>
                <a:ea typeface="黑体" panose="02010609060101010101" pitchFamily="49" charset="-122"/>
                <a:sym typeface="+mn-ea"/>
              </a:rPr>
              <a:t>DIV</a:t>
            </a:r>
            <a:r>
              <a:rPr lang="zh-CN" altLang="en-US" sz="2000" dirty="0">
                <a:latin typeface="Times New Roman" panose="02020603050405020304" pitchFamily="18" charset="0"/>
                <a:ea typeface="黑体" panose="02010609060101010101" pitchFamily="49" charset="-122"/>
                <a:sym typeface="+mn-ea"/>
              </a:rPr>
              <a:t>表示除法运算。</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扩展图形为图中红框区域，即版本</a:t>
            </a:r>
            <a:r>
              <a:rPr lang="en-US" altLang="zh-CN" sz="2000" dirty="0">
                <a:latin typeface="Times New Roman" panose="02020603050405020304" pitchFamily="18" charset="0"/>
                <a:ea typeface="黑体" panose="02010609060101010101" pitchFamily="49" charset="-122"/>
                <a:sym typeface="+mn-ea"/>
              </a:rPr>
              <a:t>7</a:t>
            </a:r>
            <a:r>
              <a:rPr lang="zh-CN" altLang="en-US" sz="2000" dirty="0">
                <a:latin typeface="Times New Roman" panose="02020603050405020304" pitchFamily="18" charset="0"/>
                <a:ea typeface="黑体" panose="02010609060101010101" pitchFamily="49" charset="-122"/>
                <a:sym typeface="+mn-ea"/>
              </a:rPr>
              <a:t>中有</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个</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模块组成的块和</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个</a:t>
            </a:r>
            <a:r>
              <a:rPr lang="en-US" altLang="zh-CN" sz="2000" dirty="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模块组成的块。</a:t>
            </a:r>
            <a:endParaRPr lang="en-US" altLang="zh-CN" sz="2000" dirty="0">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17721"/>
          <a:stretch>
            <a:fillRect/>
          </a:stretch>
        </p:blipFill>
        <p:spPr bwMode="auto">
          <a:xfrm>
            <a:off x="0" y="1143060"/>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的基本结构</a:t>
            </a:r>
            <a:endParaRPr lang="zh-CN" altLang="en-US" sz="2400" dirty="0">
              <a:sym typeface="+mn-ea"/>
            </a:endParaRPr>
          </a:p>
        </p:txBody>
      </p:sp>
      <p:sp>
        <p:nvSpPr>
          <p:cNvPr id="10" name="文本框 9"/>
          <p:cNvSpPr txBox="1"/>
          <p:nvPr/>
        </p:nvSpPr>
        <p:spPr>
          <a:xfrm>
            <a:off x="410349" y="927735"/>
            <a:ext cx="8323302" cy="400110"/>
          </a:xfrm>
          <a:prstGeom prst="rect">
            <a:avLst/>
          </a:prstGeom>
          <a:noFill/>
        </p:spPr>
        <p:txBody>
          <a:bodyPr wrap="square" rtlCol="0" anchor="t">
            <a:spAutoFit/>
          </a:bodyPr>
          <a:lstStyle/>
          <a:p>
            <a:pPr algn="ctr"/>
            <a:r>
              <a:rPr lang="en-US" altLang="zh-CN" sz="2000" dirty="0">
                <a:solidFill>
                  <a:srgbClr val="0070C0"/>
                </a:solidFill>
                <a:latin typeface="Times New Roman" panose="02020603050405020304" pitchFamily="18" charset="0"/>
                <a:ea typeface="黑体" panose="02010609060101010101" pitchFamily="49" charset="-122"/>
                <a:sym typeface="+mn-ea"/>
              </a:rPr>
              <a:t>QR</a:t>
            </a:r>
            <a:r>
              <a:rPr lang="zh-CN" altLang="en-US" sz="2000" dirty="0">
                <a:solidFill>
                  <a:srgbClr val="0070C0"/>
                </a:solidFill>
                <a:latin typeface="Times New Roman" panose="02020603050405020304" pitchFamily="18" charset="0"/>
                <a:ea typeface="黑体" panose="02010609060101010101" pitchFamily="49" charset="-122"/>
                <a:sym typeface="+mn-ea"/>
              </a:rPr>
              <a:t>码的纠错能力：</a:t>
            </a:r>
            <a:endParaRPr lang="en-US" altLang="zh-CN" sz="2000" dirty="0">
              <a:solidFill>
                <a:srgbClr val="0070C0"/>
              </a:solidFill>
              <a:latin typeface="Times New Roman" panose="02020603050405020304" pitchFamily="18" charset="0"/>
              <a:ea typeface="黑体" panose="02010609060101010101" pitchFamily="49" charset="-122"/>
              <a:sym typeface="+mn-ea"/>
            </a:endParaRPr>
          </a:p>
        </p:txBody>
      </p:sp>
      <p:graphicFrame>
        <p:nvGraphicFramePr>
          <p:cNvPr id="3" name="表格 3"/>
          <p:cNvGraphicFramePr>
            <a:graphicFrameLocks noGrp="1"/>
          </p:cNvGraphicFramePr>
          <p:nvPr/>
        </p:nvGraphicFramePr>
        <p:xfrm>
          <a:off x="1524000" y="1397000"/>
          <a:ext cx="6096000" cy="185420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zh-CN" altLang="en-US" dirty="0"/>
                        <a:t>级别</a:t>
                      </a:r>
                      <a:endParaRPr lang="zh-CN" altLang="en-US" dirty="0"/>
                    </a:p>
                  </a:txBody>
                  <a:tcPr/>
                </a:tc>
                <a:tc>
                  <a:txBody>
                    <a:bodyPr/>
                    <a:lstStyle/>
                    <a:p>
                      <a:pPr algn="ctr"/>
                      <a:r>
                        <a:rPr lang="zh-CN" altLang="en-US" dirty="0"/>
                        <a:t>纠错能力</a:t>
                      </a:r>
                      <a:endParaRPr lang="zh-CN" altLang="en-US" dirty="0"/>
                    </a:p>
                  </a:txBody>
                  <a:tcPr/>
                </a:tc>
              </a:tr>
              <a:tr h="370840">
                <a:tc>
                  <a:txBody>
                    <a:bodyPr/>
                    <a:lstStyle/>
                    <a:p>
                      <a:pPr algn="ctr"/>
                      <a:r>
                        <a:rPr lang="en-US" altLang="zh-CN" dirty="0"/>
                        <a:t>L</a:t>
                      </a:r>
                      <a:endParaRPr lang="zh-CN" altLang="en-US" dirty="0"/>
                    </a:p>
                  </a:txBody>
                  <a:tcPr/>
                </a:tc>
                <a:tc>
                  <a:txBody>
                    <a:bodyPr/>
                    <a:lstStyle/>
                    <a:p>
                      <a:pPr algn="ctr"/>
                      <a:r>
                        <a:rPr lang="zh-CN" altLang="en-US" dirty="0"/>
                        <a:t>约</a:t>
                      </a:r>
                      <a:r>
                        <a:rPr lang="en-US" altLang="zh-CN" dirty="0"/>
                        <a:t>7%</a:t>
                      </a:r>
                      <a:endParaRPr lang="zh-CN" altLang="en-US" dirty="0"/>
                    </a:p>
                  </a:txBody>
                  <a:tcPr/>
                </a:tc>
              </a:tr>
              <a:tr h="370840">
                <a:tc>
                  <a:txBody>
                    <a:bodyPr/>
                    <a:lstStyle/>
                    <a:p>
                      <a:pPr algn="ctr"/>
                      <a:r>
                        <a:rPr lang="en-US" altLang="zh-CN" dirty="0"/>
                        <a:t>M</a:t>
                      </a:r>
                      <a:endParaRPr lang="zh-CN" altLang="en-US" dirty="0"/>
                    </a:p>
                  </a:txBody>
                  <a:tcPr/>
                </a:tc>
                <a:tc>
                  <a:txBody>
                    <a:bodyPr/>
                    <a:lstStyle/>
                    <a:p>
                      <a:pPr algn="ctr"/>
                      <a:r>
                        <a:rPr lang="zh-CN" altLang="en-US" dirty="0"/>
                        <a:t>约</a:t>
                      </a:r>
                      <a:r>
                        <a:rPr lang="en-US" altLang="zh-CN" dirty="0"/>
                        <a:t>15%</a:t>
                      </a:r>
                      <a:endParaRPr lang="zh-CN" altLang="en-US" dirty="0"/>
                    </a:p>
                  </a:txBody>
                  <a:tcPr/>
                </a:tc>
              </a:tr>
              <a:tr h="370840">
                <a:tc>
                  <a:txBody>
                    <a:bodyPr/>
                    <a:lstStyle/>
                    <a:p>
                      <a:pPr algn="ctr"/>
                      <a:r>
                        <a:rPr lang="en-US" altLang="zh-CN" dirty="0"/>
                        <a:t>Q</a:t>
                      </a:r>
                      <a:endParaRPr lang="zh-CN" altLang="en-US" dirty="0"/>
                    </a:p>
                  </a:txBody>
                  <a:tcPr/>
                </a:tc>
                <a:tc>
                  <a:txBody>
                    <a:bodyPr/>
                    <a:lstStyle/>
                    <a:p>
                      <a:pPr algn="ctr"/>
                      <a:r>
                        <a:rPr lang="zh-CN" altLang="en-US" dirty="0"/>
                        <a:t>约</a:t>
                      </a:r>
                      <a:r>
                        <a:rPr lang="en-US" altLang="zh-CN" dirty="0"/>
                        <a:t>25%</a:t>
                      </a:r>
                      <a:endParaRPr lang="zh-CN" altLang="en-US" dirty="0"/>
                    </a:p>
                  </a:txBody>
                  <a:tcPr/>
                </a:tc>
              </a:tr>
              <a:tr h="370840">
                <a:tc>
                  <a:txBody>
                    <a:bodyPr/>
                    <a:lstStyle/>
                    <a:p>
                      <a:pPr algn="ctr"/>
                      <a:r>
                        <a:rPr lang="en-US" altLang="zh-CN" dirty="0"/>
                        <a:t>H</a:t>
                      </a:r>
                      <a:endParaRPr lang="zh-CN" altLang="en-US" dirty="0"/>
                    </a:p>
                  </a:txBody>
                  <a:tcPr/>
                </a:tc>
                <a:tc>
                  <a:txBody>
                    <a:bodyPr/>
                    <a:lstStyle/>
                    <a:p>
                      <a:pPr algn="ctr"/>
                      <a:r>
                        <a:rPr lang="zh-CN" altLang="en-US" dirty="0"/>
                        <a:t>约</a:t>
                      </a:r>
                      <a:r>
                        <a:rPr lang="en-US" altLang="zh-CN" dirty="0"/>
                        <a:t>30%</a:t>
                      </a:r>
                      <a:endParaRPr lang="zh-CN" altLang="en-US" dirty="0"/>
                    </a:p>
                  </a:txBody>
                  <a:tcPr/>
                </a:tc>
              </a:tr>
            </a:tbl>
          </a:graphicData>
        </a:graphic>
      </p:graphicFrame>
      <p:sp>
        <p:nvSpPr>
          <p:cNvPr id="7" name="文本框 6"/>
          <p:cNvSpPr txBox="1"/>
          <p:nvPr/>
        </p:nvSpPr>
        <p:spPr>
          <a:xfrm>
            <a:off x="410349" y="3362692"/>
            <a:ext cx="8323302" cy="707886"/>
          </a:xfrm>
          <a:prstGeom prst="rect">
            <a:avLst/>
          </a:prstGeom>
          <a:noFill/>
        </p:spPr>
        <p:txBody>
          <a:bodyPr wrap="square" rtlCol="0" anchor="t">
            <a:spAutoFit/>
          </a:bodyPr>
          <a:lstStyle/>
          <a:p>
            <a:r>
              <a:rPr lang="zh-CN" altLang="en-US" sz="2000" dirty="0">
                <a:latin typeface="Times New Roman" panose="02020603050405020304" pitchFamily="18" charset="0"/>
                <a:ea typeface="黑体" panose="02010609060101010101" pitchFamily="49" charset="-122"/>
                <a:sym typeface="+mn-ea"/>
              </a:rPr>
              <a:t>        纠错能力相当于全部码字（组成数据的单位，在</a:t>
            </a:r>
            <a:r>
              <a:rPr lang="en-US" altLang="zh-CN" sz="2000" dirty="0">
                <a:latin typeface="Times New Roman" panose="02020603050405020304" pitchFamily="18" charset="0"/>
                <a:ea typeface="黑体" panose="02010609060101010101" pitchFamily="49" charset="-122"/>
                <a:sym typeface="+mn-ea"/>
              </a:rPr>
              <a:t>QR</a:t>
            </a:r>
            <a:r>
              <a:rPr lang="zh-CN" altLang="en-US" sz="2000" dirty="0">
                <a:latin typeface="Times New Roman" panose="02020603050405020304" pitchFamily="18" charset="0"/>
                <a:ea typeface="黑体" panose="02010609060101010101" pitchFamily="49" charset="-122"/>
                <a:sym typeface="+mn-ea"/>
              </a:rPr>
              <a:t>码中，</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码字相当于</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比特）的恢复率。</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endParaRPr lang="zh-CN" altLang="en-US" sz="2400" dirty="0">
              <a:sym typeface="+mn-ea"/>
            </a:endParaRPr>
          </a:p>
        </p:txBody>
      </p:sp>
      <p:sp>
        <p:nvSpPr>
          <p:cNvPr id="10" name="文本框 9"/>
          <p:cNvSpPr txBox="1"/>
          <p:nvPr/>
        </p:nvSpPr>
        <p:spPr>
          <a:xfrm>
            <a:off x="356870" y="914466"/>
            <a:ext cx="8430260" cy="5632311"/>
          </a:xfrm>
          <a:prstGeom prst="rect">
            <a:avLst/>
          </a:prstGeom>
          <a:noFill/>
        </p:spPr>
        <p:txBody>
          <a:bodyPr wrap="square" rtlCol="0" anchor="t">
            <a:spAutoFit/>
          </a:bodyPr>
          <a:lstStyle/>
          <a:p>
            <a:pPr algn="l"/>
            <a:r>
              <a:rPr lang="en-US" sz="2000" dirty="0">
                <a:solidFill>
                  <a:srgbClr val="FF0000"/>
                </a:solidFill>
                <a:uFillTx/>
                <a:latin typeface="Times New Roman" panose="02020603050405020304" pitchFamily="18" charset="0"/>
                <a:ea typeface="黑体" panose="02010609060101010101" pitchFamily="49" charset="-122"/>
                <a:sym typeface="+mn-ea"/>
              </a:rPr>
              <a:t>QR</a:t>
            </a:r>
            <a:r>
              <a:rPr lang="zh-CN" altLang="en-US" sz="2000" dirty="0">
                <a:solidFill>
                  <a:srgbClr val="FF0000"/>
                </a:solidFill>
                <a:uFillTx/>
                <a:latin typeface="Times New Roman" panose="02020603050405020304" pitchFamily="18" charset="0"/>
                <a:ea typeface="黑体" panose="02010609060101010101" pitchFamily="49" charset="-122"/>
                <a:sym typeface="+mn-ea"/>
              </a:rPr>
              <a:t>码</a:t>
            </a:r>
            <a:r>
              <a:rPr lang="zh-CN" altLang="en-US" sz="2000" dirty="0">
                <a:solidFill>
                  <a:srgbClr val="FF0000"/>
                </a:solidFill>
                <a:latin typeface="Times New Roman" panose="02020603050405020304" pitchFamily="18" charset="0"/>
                <a:ea typeface="黑体" panose="02010609060101010101" pitchFamily="49" charset="-122"/>
                <a:sym typeface="+mn-ea"/>
              </a:rPr>
              <a:t>的编码流程如下：</a:t>
            </a:r>
            <a:endParaRPr lang="en-US" altLang="zh-CN" sz="2000" dirty="0">
              <a:solidFill>
                <a:srgbClr val="FF0000"/>
              </a:solidFill>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数据分析</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确定要进行编码的字符类型，选择所需的版本信息和纠错版本。</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数据编码</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采用既定规则，将数据字符转换为位流，并加必要符号，后将位流转换为码字（每</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位一个码字）。</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纠错编码</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生成纠错码字放到数据码字后。</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构造最终信息</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按规定将每一块中置入数据和纠错码字，必要时加剩余位。</a:t>
            </a:r>
            <a:endParaRPr lang="en-US" altLang="zh-CN" sz="2000" dirty="0">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在矩阵中布置模块</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将寻像图形、分隔符、校正图形与码字按规则排列，放入二维码矩阵。</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掩模</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用</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种掩模图形依次对符号的编码区域的位置图进行掩模处理，评价所得的</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种结果，选择最优的一种。</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lgn="l">
              <a:buFont typeface="+mj-lt"/>
              <a:buAutoNum type="arabicPeriod"/>
            </a:pPr>
            <a:r>
              <a:rPr lang="zh-CN" altLang="en-US" sz="2000" dirty="0">
                <a:latin typeface="Times New Roman" panose="02020603050405020304" pitchFamily="18" charset="0"/>
                <a:ea typeface="黑体" panose="02010609060101010101" pitchFamily="49" charset="-122"/>
                <a:sym typeface="+mn-ea"/>
              </a:rPr>
              <a:t>格式和版本信息</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生成版本信息和格式信息，构成符号。</a:t>
            </a:r>
            <a:endParaRPr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endParaRPr lang="zh-CN" altLang="en-US" sz="2400" dirty="0">
              <a:sym typeface="+mn-ea"/>
            </a:endParaRPr>
          </a:p>
        </p:txBody>
      </p:sp>
      <p:sp>
        <p:nvSpPr>
          <p:cNvPr id="10" name="文本框 9"/>
          <p:cNvSpPr txBox="1"/>
          <p:nvPr/>
        </p:nvSpPr>
        <p:spPr>
          <a:xfrm>
            <a:off x="478790" y="927735"/>
            <a:ext cx="8205470" cy="707886"/>
          </a:xfrm>
          <a:prstGeom prst="rect">
            <a:avLst/>
          </a:prstGeom>
          <a:noFill/>
        </p:spPr>
        <p:txBody>
          <a:bodyPr wrap="square" rtlCol="0" anchor="t">
            <a:spAutoFit/>
          </a:bodyPr>
          <a:lstStyle/>
          <a:p>
            <a:pPr lvl="1"/>
            <a:r>
              <a:rPr lang="zh-CN" altLang="en-US" sz="2000" dirty="0">
                <a:uFillTx/>
                <a:latin typeface="Times New Roman" panose="02020603050405020304" pitchFamily="18" charset="0"/>
                <a:ea typeface="黑体" panose="02010609060101010101" pitchFamily="49" charset="-122"/>
                <a:sym typeface="+mn-ea"/>
              </a:rPr>
              <a:t>表</a:t>
            </a:r>
            <a:r>
              <a:rPr lang="en-US" altLang="zh-CN" sz="2000" dirty="0">
                <a:uFillTx/>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QR</a:t>
            </a:r>
            <a:r>
              <a:rPr lang="zh-CN" altLang="en-US" sz="2000" dirty="0">
                <a:uFillTx/>
                <a:latin typeface="Times New Roman" panose="02020603050405020304" pitchFamily="18" charset="0"/>
                <a:ea typeface="黑体" panose="02010609060101010101" pitchFamily="49" charset="-122"/>
                <a:sym typeface="+mn-ea"/>
              </a:rPr>
              <a:t>码可表示的数据类型及其相应的模式指示符。</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表</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：各版本及模式所对应的字符计数指示符的长度。</a:t>
            </a:r>
            <a:endParaRPr sz="2000" dirty="0">
              <a:uFillTx/>
              <a:latin typeface="Times New Roman" panose="02020603050405020304" pitchFamily="18" charset="0"/>
              <a:ea typeface="黑体" panose="02010609060101010101" pitchFamily="49" charset="-122"/>
              <a:sym typeface="+mn-ea"/>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7618" y="1772782"/>
            <a:ext cx="7024603" cy="47676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数据分析</a:t>
            </a:r>
            <a:endParaRPr lang="zh-CN" altLang="en-US" sz="2400" dirty="0">
              <a:sym typeface="+mn-ea"/>
            </a:endParaRPr>
          </a:p>
        </p:txBody>
      </p:sp>
      <p:sp>
        <p:nvSpPr>
          <p:cNvPr id="10" name="文本框 9"/>
          <p:cNvSpPr txBox="1"/>
          <p:nvPr/>
        </p:nvSpPr>
        <p:spPr>
          <a:xfrm>
            <a:off x="469265" y="1371654"/>
            <a:ext cx="8205470" cy="193899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数据分析</a:t>
            </a:r>
            <a:r>
              <a:rPr lang="zh-CN" altLang="en-US" sz="2000" dirty="0">
                <a:uFillTx/>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确定编码的字符类型、版本信息和纠错等级。</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假设：</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字符类型：数字模式 “</a:t>
            </a:r>
            <a:r>
              <a:rPr lang="en-US" altLang="zh-CN" sz="2000" dirty="0">
                <a:uFillTx/>
                <a:latin typeface="Times New Roman" panose="02020603050405020304" pitchFamily="18" charset="0"/>
                <a:ea typeface="黑体" panose="02010609060101010101" pitchFamily="49" charset="-122"/>
                <a:sym typeface="+mn-ea"/>
              </a:rPr>
              <a:t>01234567</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版本信息：版本</a:t>
            </a:r>
            <a:r>
              <a:rPr lang="en-US" altLang="zh-CN" sz="2000" dirty="0">
                <a:uFillTx/>
                <a:latin typeface="Times New Roman" panose="02020603050405020304" pitchFamily="18" charset="0"/>
                <a:ea typeface="黑体" panose="02010609060101010101" pitchFamily="49" charset="-122"/>
                <a:sym typeface="+mn-ea"/>
              </a:rPr>
              <a:t>1</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纠错等级：</a:t>
            </a:r>
            <a:r>
              <a:rPr lang="en-US" altLang="zh-CN" sz="2000" dirty="0">
                <a:latin typeface="Times New Roman" panose="02020603050405020304" pitchFamily="18" charset="0"/>
                <a:ea typeface="黑体" panose="02010609060101010101" pitchFamily="49" charset="-122"/>
                <a:sym typeface="+mn-ea"/>
              </a:rPr>
              <a:t>H</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469265" y="908818"/>
            <a:ext cx="8205470" cy="400110"/>
          </a:xfrm>
          <a:prstGeom prst="rect">
            <a:avLst/>
          </a:prstGeom>
          <a:noFill/>
        </p:spPr>
        <p:txBody>
          <a:bodyPr wrap="square" rtlCol="0" anchor="t">
            <a:spAutoFit/>
          </a:bodyPr>
          <a:lstStyle/>
          <a:p>
            <a:pPr algn="l"/>
            <a:r>
              <a:rPr lang="zh-CN" altLang="en-US" sz="2000" b="1" dirty="0">
                <a:solidFill>
                  <a:srgbClr val="FF0000"/>
                </a:solidFill>
                <a:latin typeface="Times New Roman" panose="02020603050405020304" pitchFamily="18" charset="0"/>
                <a:ea typeface="黑体" panose="02010609060101010101" pitchFamily="49" charset="-122"/>
                <a:sym typeface="+mn-ea"/>
              </a:rPr>
              <a:t>举例说明</a:t>
            </a:r>
            <a:r>
              <a:rPr lang="en-US" altLang="zh-CN" sz="2000" b="1" dirty="0">
                <a:solidFill>
                  <a:srgbClr val="FF0000"/>
                </a:solidFill>
                <a:latin typeface="Times New Roman" panose="02020603050405020304" pitchFamily="18" charset="0"/>
                <a:ea typeface="黑体" panose="02010609060101010101" pitchFamily="49" charset="-122"/>
                <a:sym typeface="+mn-ea"/>
              </a:rPr>
              <a:t>QR</a:t>
            </a:r>
            <a:r>
              <a:rPr lang="zh-CN" altLang="en-US" sz="2000" b="1" dirty="0">
                <a:solidFill>
                  <a:srgbClr val="FF0000"/>
                </a:solidFill>
                <a:latin typeface="Times New Roman" panose="02020603050405020304" pitchFamily="18" charset="0"/>
                <a:ea typeface="黑体" panose="02010609060101010101" pitchFamily="49" charset="-122"/>
                <a:sym typeface="+mn-ea"/>
              </a:rPr>
              <a:t>码的编码过程。</a:t>
            </a:r>
            <a:endParaRPr sz="2000" b="1" dirty="0">
              <a:solidFill>
                <a:srgbClr val="FF0000"/>
              </a:solidFill>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endParaRPr lang="zh-CN" altLang="en-US" sz="2400" dirty="0">
              <a:sym typeface="+mn-ea"/>
            </a:endParaRPr>
          </a:p>
        </p:txBody>
      </p:sp>
      <p:sp>
        <p:nvSpPr>
          <p:cNvPr id="10" name="文本框 9"/>
          <p:cNvSpPr txBox="1"/>
          <p:nvPr/>
        </p:nvSpPr>
        <p:spPr>
          <a:xfrm>
            <a:off x="478790" y="927735"/>
            <a:ext cx="8205470" cy="4708981"/>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uFillTx/>
                <a:latin typeface="Times New Roman" panose="02020603050405020304" pitchFamily="18" charset="0"/>
                <a:ea typeface="黑体" panose="02010609060101010101" pitchFamily="49" charset="-122"/>
                <a:sym typeface="+mn-ea"/>
              </a:rPr>
              <a:t>数据字符转换为位流</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首先将数字</a:t>
            </a:r>
            <a:r>
              <a:rPr lang="zh-CN" altLang="en-US" sz="2000" dirty="0">
                <a:solidFill>
                  <a:srgbClr val="FF0000"/>
                </a:solidFill>
                <a:uFillTx/>
                <a:latin typeface="Times New Roman" panose="02020603050405020304" pitchFamily="18" charset="0"/>
                <a:ea typeface="黑体" panose="02010609060101010101" pitchFamily="49" charset="-122"/>
                <a:sym typeface="+mn-ea"/>
              </a:rPr>
              <a:t>每三位分为一组</a:t>
            </a:r>
            <a:r>
              <a:rPr lang="zh-CN" altLang="en-US" sz="2000" dirty="0">
                <a:uFillTx/>
                <a:latin typeface="Times New Roman" panose="02020603050405020304" pitchFamily="18" charset="0"/>
                <a:ea typeface="黑体" panose="02010609060101010101" pitchFamily="49" charset="-122"/>
                <a:sym typeface="+mn-ea"/>
              </a:rPr>
              <a:t>，然后将每组数据转换为</a:t>
            </a:r>
            <a:r>
              <a:rPr lang="en-US" altLang="zh-CN" sz="2000" dirty="0">
                <a:solidFill>
                  <a:srgbClr val="FF0000"/>
                </a:solidFill>
                <a:uFillTx/>
                <a:latin typeface="Times New Roman" panose="02020603050405020304" pitchFamily="18" charset="0"/>
                <a:ea typeface="黑体" panose="02010609060101010101" pitchFamily="49" charset="-122"/>
                <a:sym typeface="+mn-ea"/>
              </a:rPr>
              <a:t>10</a:t>
            </a:r>
            <a:r>
              <a:rPr lang="zh-CN" altLang="en-US" sz="2000" dirty="0">
                <a:solidFill>
                  <a:srgbClr val="FF0000"/>
                </a:solidFill>
                <a:uFillTx/>
                <a:latin typeface="Times New Roman" panose="02020603050405020304" pitchFamily="18" charset="0"/>
                <a:ea typeface="黑体" panose="02010609060101010101" pitchFamily="49" charset="-122"/>
                <a:sym typeface="+mn-ea"/>
              </a:rPr>
              <a:t>位长度的二进制</a:t>
            </a:r>
            <a:r>
              <a:rPr lang="zh-CN" altLang="en-US" sz="2000" dirty="0">
                <a:uFillTx/>
                <a:latin typeface="Times New Roman" panose="02020603050405020304" pitchFamily="18" charset="0"/>
                <a:ea typeface="黑体" panose="02010609060101010101" pitchFamily="49" charset="-122"/>
                <a:sym typeface="+mn-ea"/>
              </a:rPr>
              <a:t>。如果最后一组只有两位，则使用</a:t>
            </a:r>
            <a:r>
              <a:rPr lang="en-US" altLang="zh-CN" sz="2000" dirty="0">
                <a:uFillTx/>
                <a:latin typeface="Times New Roman" panose="02020603050405020304" pitchFamily="18" charset="0"/>
                <a:ea typeface="黑体" panose="02010609060101010101" pitchFamily="49" charset="-122"/>
                <a:sym typeface="+mn-ea"/>
              </a:rPr>
              <a:t>7</a:t>
            </a:r>
            <a:r>
              <a:rPr lang="zh-CN" altLang="en-US" sz="2000" dirty="0">
                <a:uFillTx/>
                <a:latin typeface="Times New Roman" panose="02020603050405020304" pitchFamily="18" charset="0"/>
                <a:ea typeface="黑体" panose="02010609060101010101" pitchFamily="49" charset="-122"/>
                <a:sym typeface="+mn-ea"/>
              </a:rPr>
              <a:t>位长度的二进制；如果只剩一位，则使用</a:t>
            </a:r>
            <a:r>
              <a:rPr lang="en-US" altLang="zh-CN" sz="2000" dirty="0">
                <a:uFillTx/>
                <a:latin typeface="Times New Roman" panose="02020603050405020304" pitchFamily="18" charset="0"/>
                <a:ea typeface="黑体" panose="02010609060101010101" pitchFamily="49" charset="-122"/>
                <a:sym typeface="+mn-ea"/>
              </a:rPr>
              <a:t>4</a:t>
            </a:r>
            <a:r>
              <a:rPr lang="zh-CN" altLang="en-US" sz="2000" dirty="0">
                <a:uFillTx/>
                <a:latin typeface="Times New Roman" panose="02020603050405020304" pitchFamily="18" charset="0"/>
                <a:ea typeface="黑体" panose="02010609060101010101" pitchFamily="49" charset="-122"/>
                <a:sym typeface="+mn-ea"/>
              </a:rPr>
              <a:t>位长度。最后将每组的二进制</a:t>
            </a:r>
            <a:r>
              <a:rPr lang="zh-CN" altLang="en-US" sz="2000" dirty="0">
                <a:solidFill>
                  <a:srgbClr val="FF0000"/>
                </a:solidFill>
                <a:uFillTx/>
                <a:latin typeface="Times New Roman" panose="02020603050405020304" pitchFamily="18" charset="0"/>
                <a:ea typeface="黑体" panose="02010609060101010101" pitchFamily="49" charset="-122"/>
                <a:sym typeface="+mn-ea"/>
              </a:rPr>
              <a:t>连接</a:t>
            </a:r>
            <a:r>
              <a:rPr lang="zh-CN" altLang="en-US" sz="2000" dirty="0">
                <a:uFillTx/>
                <a:latin typeface="Times New Roman" panose="02020603050405020304" pitchFamily="18" charset="0"/>
                <a:ea typeface="黑体" panose="02010609060101010101" pitchFamily="49" charset="-122"/>
                <a:sym typeface="+mn-ea"/>
              </a:rPr>
              <a:t>起来形成</a:t>
            </a:r>
            <a:r>
              <a:rPr lang="zh-CN" altLang="en-US" sz="2000" dirty="0">
                <a:solidFill>
                  <a:srgbClr val="FF0000"/>
                </a:solidFill>
                <a:uFillTx/>
                <a:latin typeface="Times New Roman" panose="02020603050405020304" pitchFamily="18" charset="0"/>
                <a:ea typeface="黑体" panose="02010609060101010101" pitchFamily="49" charset="-122"/>
                <a:sym typeface="+mn-ea"/>
              </a:rPr>
              <a:t>数据位流</a:t>
            </a:r>
            <a:r>
              <a:rPr lang="zh-CN" altLang="en-US" sz="2000" dirty="0">
                <a:uFillTx/>
                <a:latin typeface="Times New Roman" panose="02020603050405020304" pitchFamily="18" charset="0"/>
                <a:ea typeface="黑体" panose="02010609060101010101" pitchFamily="49" charset="-122"/>
                <a:sym typeface="+mn-ea"/>
              </a:rPr>
              <a:t>，并在前面加上</a:t>
            </a:r>
            <a:r>
              <a:rPr lang="zh-CN" altLang="en-US" sz="2000" dirty="0">
                <a:solidFill>
                  <a:srgbClr val="FF0000"/>
                </a:solidFill>
                <a:uFillTx/>
                <a:latin typeface="Times New Roman" panose="02020603050405020304" pitchFamily="18" charset="0"/>
                <a:ea typeface="黑体" panose="02010609060101010101" pitchFamily="49" charset="-122"/>
                <a:sym typeface="+mn-ea"/>
              </a:rPr>
              <a:t>模式指示符和字符计数指示符</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a:p>
            <a:pPr lvl="1"/>
            <a:endParaRPr lang="en-US"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如：</a:t>
            </a:r>
            <a:r>
              <a:rPr lang="en-US" altLang="zh-CN" sz="2000" dirty="0">
                <a:latin typeface="Times New Roman" panose="02020603050405020304" pitchFamily="18" charset="0"/>
                <a:ea typeface="黑体" panose="02010609060101010101" pitchFamily="49" charset="-122"/>
                <a:sym typeface="+mn-ea"/>
              </a:rPr>
              <a:t>01234567</a:t>
            </a:r>
            <a:endParaRPr lang="en-US" altLang="zh-CN" sz="2000"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分组：</a:t>
            </a:r>
            <a:r>
              <a:rPr lang="en-US" altLang="zh-CN" sz="2000" dirty="0">
                <a:uFillTx/>
                <a:latin typeface="Times New Roman" panose="02020603050405020304" pitchFamily="18" charset="0"/>
                <a:ea typeface="黑体" panose="02010609060101010101" pitchFamily="49" charset="-122"/>
                <a:sym typeface="+mn-ea"/>
              </a:rPr>
              <a:t>012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345 / 67</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转换为二进制：</a:t>
            </a:r>
            <a:endParaRPr lang="en-US" altLang="zh-CN" sz="2000" dirty="0">
              <a:latin typeface="Times New Roman" panose="02020603050405020304" pitchFamily="18" charset="0"/>
              <a:ea typeface="黑体" panose="02010609060101010101" pitchFamily="49" charset="-122"/>
              <a:sym typeface="+mn-ea"/>
            </a:endParaRPr>
          </a:p>
          <a:p>
            <a:pPr lvl="2"/>
            <a:r>
              <a:rPr lang="en-US" sz="2000" dirty="0">
                <a:uFillTx/>
                <a:latin typeface="Times New Roman" panose="02020603050405020304" pitchFamily="18" charset="0"/>
                <a:ea typeface="黑体" panose="02010609060101010101" pitchFamily="49" charset="-122"/>
                <a:sym typeface="+mn-ea"/>
              </a:rPr>
              <a:t>012</a:t>
            </a:r>
            <a:r>
              <a:rPr lang="zh-CN" altLang="en-US" sz="2000" dirty="0">
                <a:uFillTx/>
                <a:latin typeface="Times New Roman" panose="02020603050405020304" pitchFamily="18" charset="0"/>
                <a:ea typeface="黑体" panose="02010609060101010101" pitchFamily="49" charset="-122"/>
                <a:sym typeface="+mn-ea"/>
              </a:rPr>
              <a:t>：</a:t>
            </a:r>
            <a:r>
              <a:rPr lang="en-US" altLang="zh-CN" sz="2000" b="1" dirty="0">
                <a:uFillTx/>
                <a:latin typeface="Times New Roman" panose="02020603050405020304" pitchFamily="18" charset="0"/>
                <a:ea typeface="黑体" panose="02010609060101010101" pitchFamily="49" charset="-122"/>
                <a:sym typeface="+mn-ea"/>
              </a:rPr>
              <a:t>0</a:t>
            </a:r>
            <a:r>
              <a:rPr lang="en-US" altLang="zh-CN" sz="2000" b="1" dirty="0">
                <a:latin typeface="Times New Roman" panose="02020603050405020304" pitchFamily="18" charset="0"/>
                <a:ea typeface="黑体" panose="02010609060101010101" pitchFamily="49" charset="-122"/>
                <a:sym typeface="+mn-ea"/>
              </a:rPr>
              <a:t>00000</a:t>
            </a:r>
            <a:r>
              <a:rPr lang="en-US" altLang="zh-CN" sz="2000" dirty="0">
                <a:latin typeface="Times New Roman" panose="02020603050405020304" pitchFamily="18" charset="0"/>
                <a:ea typeface="黑体" panose="02010609060101010101" pitchFamily="49" charset="-122"/>
                <a:sym typeface="+mn-ea"/>
              </a:rPr>
              <a:t>1100</a:t>
            </a:r>
            <a:r>
              <a:rPr lang="zh-CN" altLang="en-US" sz="2000" dirty="0">
                <a:uFillTx/>
                <a:latin typeface="Times New Roman" panose="02020603050405020304" pitchFamily="18" charset="0"/>
                <a:ea typeface="黑体" panose="02010609060101010101" pitchFamily="49" charset="-122"/>
                <a:sym typeface="+mn-ea"/>
              </a:rPr>
              <a:t>（加粗的</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是为了凑够</a:t>
            </a:r>
            <a:r>
              <a:rPr lang="en-US" altLang="zh-CN" sz="2000" dirty="0">
                <a:uFillTx/>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位长度</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a:p>
            <a:pPr lvl="2"/>
            <a:r>
              <a:rPr lang="en-US" sz="2000" dirty="0">
                <a:latin typeface="Times New Roman" panose="02020603050405020304" pitchFamily="18" charset="0"/>
                <a:ea typeface="黑体" panose="02010609060101010101" pitchFamily="49" charset="-122"/>
                <a:sym typeface="+mn-ea"/>
              </a:rPr>
              <a:t>345</a:t>
            </a:r>
            <a:r>
              <a:rPr lang="zh-CN" altLang="en-US" sz="2000" dirty="0">
                <a:latin typeface="Times New Roman" panose="02020603050405020304" pitchFamily="18" charset="0"/>
                <a:ea typeface="黑体" panose="02010609060101010101" pitchFamily="49" charset="-122"/>
                <a:sym typeface="+mn-ea"/>
              </a:rPr>
              <a:t>：</a:t>
            </a:r>
            <a:r>
              <a:rPr lang="en-US" sz="2000" b="1" dirty="0">
                <a:latin typeface="Times New Roman" panose="02020603050405020304" pitchFamily="18" charset="0"/>
                <a:ea typeface="黑体" panose="02010609060101010101" pitchFamily="49" charset="-122"/>
                <a:sym typeface="+mn-ea"/>
              </a:rPr>
              <a:t>0</a:t>
            </a:r>
            <a:r>
              <a:rPr lang="en-US" sz="2000" dirty="0">
                <a:latin typeface="Times New Roman" panose="02020603050405020304" pitchFamily="18" charset="0"/>
                <a:ea typeface="黑体" panose="02010609060101010101" pitchFamily="49" charset="-122"/>
                <a:sym typeface="+mn-ea"/>
              </a:rPr>
              <a:t>101011001</a:t>
            </a:r>
            <a:endParaRPr lang="en-US" sz="2000" dirty="0">
              <a:latin typeface="Times New Roman" panose="02020603050405020304" pitchFamily="18" charset="0"/>
              <a:ea typeface="黑体" panose="02010609060101010101" pitchFamily="49" charset="-122"/>
              <a:sym typeface="+mn-ea"/>
            </a:endParaRPr>
          </a:p>
          <a:p>
            <a:pPr lvl="2"/>
            <a:r>
              <a:rPr lang="en-US" sz="2000" dirty="0">
                <a:uFillTx/>
                <a:latin typeface="Times New Roman" panose="02020603050405020304" pitchFamily="18" charset="0"/>
                <a:ea typeface="黑体" panose="02010609060101010101" pitchFamily="49" charset="-122"/>
                <a:sym typeface="+mn-ea"/>
              </a:rPr>
              <a:t>67</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1000011</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数据位流：</a:t>
            </a:r>
            <a:r>
              <a:rPr lang="en-US" altLang="zh-CN" sz="2000" dirty="0">
                <a:latin typeface="Times New Roman" panose="02020603050405020304" pitchFamily="18" charset="0"/>
                <a:ea typeface="黑体" panose="02010609060101010101" pitchFamily="49" charset="-122"/>
                <a:sym typeface="+mn-ea"/>
              </a:rPr>
              <a:t>0000001100 0101011001 1000011</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1436" y="2672647"/>
            <a:ext cx="5291429" cy="359131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4439920"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endParaRPr lang="zh-CN" altLang="en-US" sz="2400" dirty="0">
              <a:sym typeface="+mn-ea"/>
            </a:endParaRPr>
          </a:p>
        </p:txBody>
      </p:sp>
      <p:sp>
        <p:nvSpPr>
          <p:cNvPr id="10" name="文本框 9"/>
          <p:cNvSpPr txBox="1"/>
          <p:nvPr/>
        </p:nvSpPr>
        <p:spPr>
          <a:xfrm>
            <a:off x="478790" y="927735"/>
            <a:ext cx="8131704" cy="440120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uFillTx/>
                <a:latin typeface="Times New Roman" panose="02020603050405020304" pitchFamily="18" charset="0"/>
                <a:ea typeface="黑体" panose="02010609060101010101" pitchFamily="49" charset="-122"/>
                <a:sym typeface="+mn-ea"/>
              </a:rPr>
              <a:t>数据字符转换为位流</a:t>
            </a:r>
            <a:endParaRPr lang="zh-CN" altLang="en-US"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startAt="4"/>
            </a:pPr>
            <a:r>
              <a:rPr lang="zh-CN" altLang="en-US" sz="2000" dirty="0">
                <a:latin typeface="Times New Roman" panose="02020603050405020304" pitchFamily="18" charset="0"/>
                <a:ea typeface="黑体" panose="02010609060101010101" pitchFamily="49" charset="-122"/>
                <a:sym typeface="+mn-ea"/>
              </a:rPr>
              <a:t>确定模式指示符和字符计数指示符</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根据表</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，数字模式下的模式指示符为</a:t>
            </a:r>
            <a:r>
              <a:rPr lang="en-US" altLang="zh-CN" sz="2000" dirty="0">
                <a:latin typeface="Times New Roman" panose="02020603050405020304" pitchFamily="18" charset="0"/>
                <a:ea typeface="黑体" panose="02010609060101010101" pitchFamily="49" charset="-122"/>
                <a:sym typeface="+mn-ea"/>
              </a:rPr>
              <a:t>0001</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根据表</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，数字模式</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下版本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的字符计数</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指示符的位数为</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lvl="2"/>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01234567</a:t>
            </a:r>
            <a:r>
              <a:rPr lang="zh-CN" altLang="en-US" sz="2000" dirty="0">
                <a:latin typeface="Times New Roman" panose="02020603050405020304" pitchFamily="18" charset="0"/>
                <a:ea typeface="黑体" panose="02010609060101010101" pitchFamily="49" charset="-122"/>
                <a:sym typeface="+mn-ea"/>
              </a:rPr>
              <a:t>”共有</a:t>
            </a:r>
            <a:endParaRPr lang="en-US" altLang="zh-CN" sz="2000" dirty="0">
              <a:latin typeface="Times New Roman" panose="02020603050405020304" pitchFamily="18" charset="0"/>
              <a:ea typeface="黑体" panose="02010609060101010101" pitchFamily="49" charset="-122"/>
              <a:sym typeface="+mn-ea"/>
            </a:endParaRPr>
          </a:p>
          <a:p>
            <a:pPr lvl="2"/>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位数字，则将位数</a:t>
            </a:r>
            <a:endParaRPr lang="en-US" altLang="zh-CN" sz="2000" dirty="0">
              <a:latin typeface="Times New Roman" panose="02020603050405020304" pitchFamily="18" charset="0"/>
              <a:ea typeface="黑体" panose="02010609060101010101" pitchFamily="49" charset="-122"/>
              <a:sym typeface="+mn-ea"/>
            </a:endParaRPr>
          </a:p>
          <a:p>
            <a:pPr lvl="2"/>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转换为</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位长度的</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二进制。</a:t>
            </a:r>
            <a:endParaRPr lang="en-US" altLang="zh-CN" sz="2000" dirty="0">
              <a:latin typeface="Times New Roman" panose="02020603050405020304" pitchFamily="18" charset="0"/>
              <a:ea typeface="黑体" panose="02010609060101010101" pitchFamily="49" charset="-122"/>
              <a:sym typeface="+mn-ea"/>
            </a:endParaRPr>
          </a:p>
          <a:p>
            <a:pPr lvl="2"/>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0000001000</a:t>
            </a:r>
            <a:endParaRPr lang="en-US" altLang="zh-CN" sz="2000" dirty="0">
              <a:latin typeface="Times New Roman" panose="02020603050405020304" pitchFamily="18" charset="0"/>
              <a:ea typeface="黑体" panose="02010609060101010101" pitchFamily="49" charset="-122"/>
              <a:sym typeface="+mn-ea"/>
            </a:endParaRPr>
          </a:p>
        </p:txBody>
      </p:sp>
      <p:sp>
        <p:nvSpPr>
          <p:cNvPr id="4" name="矩形 3"/>
          <p:cNvSpPr/>
          <p:nvPr/>
        </p:nvSpPr>
        <p:spPr>
          <a:xfrm>
            <a:off x="4800594" y="3189262"/>
            <a:ext cx="3332396" cy="239738"/>
          </a:xfrm>
          <a:prstGeom prst="rect">
            <a:avLst/>
          </a:prstGeom>
          <a:noFill/>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p:cNvSpPr/>
          <p:nvPr/>
        </p:nvSpPr>
        <p:spPr>
          <a:xfrm>
            <a:off x="4810557" y="5556715"/>
            <a:ext cx="533386" cy="23973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endParaRPr lang="zh-CN" altLang="en-US" sz="2400" dirty="0">
              <a:sym typeface="+mn-ea"/>
            </a:endParaRPr>
          </a:p>
        </p:txBody>
      </p:sp>
      <p:sp>
        <p:nvSpPr>
          <p:cNvPr id="10" name="文本框 9"/>
          <p:cNvSpPr txBox="1"/>
          <p:nvPr/>
        </p:nvSpPr>
        <p:spPr>
          <a:xfrm>
            <a:off x="478790" y="927735"/>
            <a:ext cx="8131704" cy="193899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uFillTx/>
                <a:latin typeface="Times New Roman" panose="02020603050405020304" pitchFamily="18" charset="0"/>
                <a:ea typeface="黑体" panose="02010609060101010101" pitchFamily="49" charset="-122"/>
                <a:sym typeface="+mn-ea"/>
              </a:rPr>
              <a:t>数据字符转换为位流</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startAt="5"/>
            </a:pPr>
            <a:r>
              <a:rPr lang="zh-CN" altLang="en-US" sz="2000" dirty="0">
                <a:latin typeface="Times New Roman" panose="02020603050405020304" pitchFamily="18" charset="0"/>
                <a:ea typeface="黑体" panose="02010609060101010101" pitchFamily="49" charset="-122"/>
                <a:sym typeface="+mn-ea"/>
              </a:rPr>
              <a:t>最终位流为：模式指示符</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字符计数指示符</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数字位流</a:t>
            </a:r>
            <a:endParaRPr lang="en-US" altLang="zh-CN" sz="2000" dirty="0">
              <a:latin typeface="Times New Roman" panose="02020603050405020304" pitchFamily="18" charset="0"/>
              <a:ea typeface="黑体" panose="02010609060101010101" pitchFamily="49" charset="-122"/>
              <a:sym typeface="+mn-ea"/>
            </a:endParaRPr>
          </a:p>
          <a:p>
            <a:pPr lvl="2"/>
            <a:r>
              <a:rPr lang="en-US" altLang="zh-CN" sz="2000" dirty="0">
                <a:latin typeface="Times New Roman" panose="02020603050405020304" pitchFamily="18" charset="0"/>
                <a:ea typeface="黑体" panose="02010609060101010101" pitchFamily="49" charset="-122"/>
                <a:sym typeface="+mn-ea"/>
              </a:rPr>
              <a:t>0001 + 0000001000 + 0000001100 0101011001 1000011</a:t>
            </a:r>
            <a:endParaRPr lang="en-US" altLang="zh-CN" sz="2000" dirty="0">
              <a:latin typeface="Times New Roman" panose="02020603050405020304" pitchFamily="18" charset="0"/>
              <a:ea typeface="黑体" panose="02010609060101010101" pitchFamily="49" charset="-122"/>
              <a:sym typeface="+mn-ea"/>
            </a:endParaRPr>
          </a:p>
          <a:p>
            <a:pPr algn="l"/>
            <a:endParaRPr lang="zh-CN" altLang="en-US"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加必要符号</a:t>
            </a:r>
            <a:endParaRPr lang="zh-CN" altLang="en-US" sz="2400" dirty="0">
              <a:sym typeface="+mn-ea"/>
            </a:endParaRPr>
          </a:p>
        </p:txBody>
      </p:sp>
      <p:sp>
        <p:nvSpPr>
          <p:cNvPr id="10" name="文本框 9"/>
          <p:cNvSpPr txBox="1"/>
          <p:nvPr/>
        </p:nvSpPr>
        <p:spPr>
          <a:xfrm>
            <a:off x="478790" y="92773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加必要符号，若容量足够可在位流末尾加终止符</a:t>
            </a:r>
            <a:endParaRPr lang="zh-CN" altLang="en-US"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终止符：符号的数据结尾由紧跟在最后一个模式段后面的终止符序列</a:t>
            </a:r>
            <a:r>
              <a:rPr lang="en-US" altLang="zh-CN" sz="2000" dirty="0">
                <a:solidFill>
                  <a:srgbClr val="FF0000"/>
                </a:solidFill>
                <a:latin typeface="Times New Roman" panose="02020603050405020304" pitchFamily="18" charset="0"/>
                <a:ea typeface="黑体" panose="02010609060101010101" pitchFamily="49" charset="-122"/>
                <a:sym typeface="+mn-ea"/>
              </a:rPr>
              <a:t>0000</a:t>
            </a:r>
            <a:r>
              <a:rPr lang="zh-CN" altLang="en-US" sz="2000" dirty="0">
                <a:latin typeface="Times New Roman" panose="02020603050405020304" pitchFamily="18" charset="0"/>
                <a:ea typeface="黑体" panose="02010609060101010101" pitchFamily="49" charset="-122"/>
                <a:sym typeface="+mn-ea"/>
              </a:rPr>
              <a:t>表示，当数据位流正好填满符号容量时，它可以省略；当符号所余容量不足</a:t>
            </a:r>
            <a:r>
              <a:rPr lang="en-US" altLang="zh-CN" sz="2000" dirty="0">
                <a:latin typeface="Times New Roman" panose="02020603050405020304" pitchFamily="18" charset="0"/>
                <a:ea typeface="黑体" panose="02010609060101010101" pitchFamily="49" charset="-122"/>
                <a:sym typeface="+mn-ea"/>
              </a:rPr>
              <a:t>4</a:t>
            </a:r>
            <a:r>
              <a:rPr lang="zh-CN" altLang="en-US" sz="2000" dirty="0">
                <a:latin typeface="Times New Roman" panose="02020603050405020304" pitchFamily="18" charset="0"/>
                <a:ea typeface="黑体" panose="02010609060101010101" pitchFamily="49" charset="-122"/>
                <a:sym typeface="+mn-ea"/>
              </a:rPr>
              <a:t>时，它可以截短。</a:t>
            </a:r>
            <a:endParaRPr lang="en-US" altLang="zh-CN" sz="2000" dirty="0">
              <a:latin typeface="Times New Roman" panose="02020603050405020304" pitchFamily="18" charset="0"/>
              <a:ea typeface="黑体" panose="02010609060101010101" pitchFamily="49" charset="-122"/>
              <a:sym typeface="+mn-ea"/>
            </a:endParaRPr>
          </a:p>
          <a:p>
            <a:pPr lvl="1"/>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如表</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的数据容量为</a:t>
            </a:r>
            <a:r>
              <a:rPr lang="en-US" altLang="zh-CN" sz="2000" dirty="0">
                <a:latin typeface="Times New Roman" panose="02020603050405020304" pitchFamily="18" charset="0"/>
                <a:ea typeface="黑体" panose="02010609060101010101" pitchFamily="49" charset="-122"/>
                <a:sym typeface="+mn-ea"/>
              </a:rPr>
              <a:t>26</a:t>
            </a:r>
            <a:r>
              <a:rPr lang="zh-CN" altLang="en-US" sz="2000" dirty="0">
                <a:latin typeface="Times New Roman" panose="02020603050405020304" pitchFamily="18" charset="0"/>
                <a:ea typeface="黑体" panose="02010609060101010101" pitchFamily="49" charset="-122"/>
                <a:sym typeface="+mn-ea"/>
              </a:rPr>
              <a:t>码字，此时容量足够，则在数据位流末尾加上终止符：</a:t>
            </a:r>
            <a:endParaRPr lang="en-US" altLang="zh-CN" sz="2000" dirty="0">
              <a:latin typeface="Times New Roman" panose="02020603050405020304" pitchFamily="18" charset="0"/>
              <a:ea typeface="黑体" panose="02010609060101010101" pitchFamily="49" charset="-122"/>
              <a:sym typeface="+mn-ea"/>
            </a:endParaRPr>
          </a:p>
          <a:p>
            <a:pPr lvl="1"/>
            <a:r>
              <a:rPr lang="en-US" altLang="zh-CN" sz="2000" dirty="0">
                <a:latin typeface="Times New Roman" panose="02020603050405020304" pitchFamily="18" charset="0"/>
                <a:ea typeface="黑体" panose="02010609060101010101" pitchFamily="49" charset="-122"/>
                <a:sym typeface="+mn-ea"/>
              </a:rPr>
              <a:t>        0001 0000001000 0000001100 0101011001 1000011 + 0000</a:t>
            </a:r>
            <a:endParaRPr lang="en-US" altLang="zh-CN" sz="2000" dirty="0">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rotWithShape="1">
          <a:blip r:embed="rId1"/>
          <a:srcRect b="35893"/>
          <a:stretch>
            <a:fillRect/>
          </a:stretch>
        </p:blipFill>
        <p:spPr>
          <a:xfrm>
            <a:off x="773534" y="4328140"/>
            <a:ext cx="7596931" cy="21205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位流转换为码字</a:t>
            </a:r>
            <a:endParaRPr lang="zh-CN" altLang="en-US" sz="2400" dirty="0">
              <a:sym typeface="+mn-ea"/>
            </a:endParaRPr>
          </a:p>
        </p:txBody>
      </p:sp>
      <p:sp>
        <p:nvSpPr>
          <p:cNvPr id="10" name="文本框 9"/>
          <p:cNvSpPr txBox="1"/>
          <p:nvPr/>
        </p:nvSpPr>
        <p:spPr>
          <a:xfrm>
            <a:off x="478790" y="927735"/>
            <a:ext cx="8205470" cy="440120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uFillTx/>
                <a:latin typeface="Times New Roman" panose="02020603050405020304" pitchFamily="18" charset="0"/>
                <a:ea typeface="黑体" panose="02010609060101010101" pitchFamily="49" charset="-122"/>
                <a:sym typeface="+mn-ea"/>
              </a:rPr>
              <a:t>位流转换为码字</a:t>
            </a:r>
            <a:endParaRPr lang="zh-CN" altLang="en-US"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将上一步形成的数据位流按照</a:t>
            </a:r>
            <a:r>
              <a:rPr lang="zh-CN" altLang="en-US" sz="2000" dirty="0">
                <a:solidFill>
                  <a:srgbClr val="FF0000"/>
                </a:solidFill>
                <a:latin typeface="Times New Roman" panose="02020603050405020304" pitchFamily="18" charset="0"/>
                <a:ea typeface="黑体" panose="02010609060101010101" pitchFamily="49" charset="-122"/>
                <a:sym typeface="+mn-ea"/>
              </a:rPr>
              <a:t>每</a:t>
            </a:r>
            <a:r>
              <a:rPr lang="en-US" altLang="zh-CN" sz="2000" dirty="0">
                <a:solidFill>
                  <a:srgbClr val="FF0000"/>
                </a:solidFill>
                <a:latin typeface="Times New Roman" panose="02020603050405020304" pitchFamily="18" charset="0"/>
                <a:ea typeface="黑体" panose="02010609060101010101" pitchFamily="49" charset="-122"/>
                <a:sym typeface="+mn-ea"/>
              </a:rPr>
              <a:t>8</a:t>
            </a:r>
            <a:r>
              <a:rPr lang="zh-CN" altLang="en-US" sz="2000" dirty="0">
                <a:solidFill>
                  <a:srgbClr val="FF0000"/>
                </a:solidFill>
                <a:latin typeface="Times New Roman" panose="02020603050405020304" pitchFamily="18" charset="0"/>
                <a:ea typeface="黑体" panose="02010609060101010101" pitchFamily="49" charset="-122"/>
                <a:sym typeface="+mn-ea"/>
              </a:rPr>
              <a:t>位一组进行划分</a:t>
            </a:r>
            <a:r>
              <a:rPr lang="zh-CN" altLang="en-US" sz="2000" dirty="0">
                <a:latin typeface="Times New Roman" panose="02020603050405020304" pitchFamily="18" charset="0"/>
                <a:ea typeface="黑体" panose="02010609060101010101" pitchFamily="49" charset="-122"/>
                <a:sym typeface="+mn-ea"/>
              </a:rPr>
              <a:t>，最后一组如果不足</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位则在</a:t>
            </a:r>
            <a:r>
              <a:rPr lang="zh-CN" altLang="en-US" sz="2000" dirty="0">
                <a:solidFill>
                  <a:srgbClr val="FF0000"/>
                </a:solidFill>
                <a:latin typeface="Times New Roman" panose="02020603050405020304" pitchFamily="18" charset="0"/>
                <a:ea typeface="黑体" panose="02010609060101010101" pitchFamily="49" charset="-122"/>
                <a:sym typeface="+mn-ea"/>
              </a:rPr>
              <a:t>末尾补</a:t>
            </a:r>
            <a:r>
              <a:rPr lang="en-US" altLang="zh-CN" sz="2000" dirty="0">
                <a:solidFill>
                  <a:srgbClr val="FF0000"/>
                </a:solidFill>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lvl="1"/>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如：</a:t>
            </a:r>
            <a:r>
              <a:rPr lang="en-US" altLang="zh-CN" sz="2000" dirty="0">
                <a:latin typeface="Times New Roman" panose="02020603050405020304" pitchFamily="18" charset="0"/>
                <a:ea typeface="黑体" panose="02010609060101010101" pitchFamily="49" charset="-122"/>
                <a:sym typeface="+mn-ea"/>
              </a:rPr>
              <a:t>0001 0000001000 0000001100 0101011001 1000011 + 0000</a:t>
            </a:r>
            <a:endParaRPr lang="en-US" altLang="zh-CN" sz="2000"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en-US" altLang="zh-CN" sz="2000" dirty="0">
                <a:latin typeface="Times New Roman" panose="02020603050405020304" pitchFamily="18" charset="0"/>
                <a:ea typeface="黑体" panose="02010609060101010101" pitchFamily="49" charset="-122"/>
                <a:sym typeface="+mn-ea"/>
              </a:rPr>
              <a:t>00010000 /</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00100000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00001100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01010110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01100001 / 10000</a:t>
            </a:r>
            <a:r>
              <a:rPr lang="en-US" altLang="zh-CN" sz="2000" b="1" dirty="0">
                <a:latin typeface="Times New Roman" panose="02020603050405020304" pitchFamily="18" charset="0"/>
                <a:ea typeface="黑体" panose="02010609060101010101" pitchFamily="49" charset="-122"/>
                <a:sym typeface="+mn-ea"/>
              </a:rPr>
              <a:t>00</a:t>
            </a:r>
            <a:endParaRPr lang="en-US" altLang="zh-CN" sz="2000" b="1" dirty="0">
              <a:latin typeface="Times New Roman" panose="02020603050405020304" pitchFamily="18" charset="0"/>
              <a:ea typeface="黑体" panose="02010609060101010101" pitchFamily="49" charset="-122"/>
              <a:sym typeface="+mn-ea"/>
            </a:endParaRPr>
          </a:p>
          <a:p>
            <a:pPr lvl="2"/>
            <a:r>
              <a:rPr lang="zh-CN" altLang="en-US" sz="2000" dirty="0">
                <a:latin typeface="Times New Roman" panose="02020603050405020304" pitchFamily="18" charset="0"/>
                <a:ea typeface="黑体" panose="02010609060101010101" pitchFamily="49" charset="-122"/>
                <a:sym typeface="+mn-ea"/>
              </a:rPr>
              <a:t>由此可得，形成了</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个码字。</a:t>
            </a:r>
            <a:endParaRPr lang="en-US" altLang="zh-CN" sz="2000"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根据表</a:t>
            </a:r>
            <a:r>
              <a:rPr lang="en-US" altLang="zh-CN" sz="2000" dirty="0">
                <a:latin typeface="Times New Roman" panose="02020603050405020304" pitchFamily="18" charset="0"/>
                <a:ea typeface="黑体" panose="02010609060101010101" pitchFamily="49" charset="-122"/>
                <a:sym typeface="+mn-ea"/>
              </a:rPr>
              <a:t>7</a:t>
            </a:r>
            <a:r>
              <a:rPr lang="zh-CN" altLang="en-US" sz="2000" dirty="0">
                <a:latin typeface="Times New Roman" panose="02020603050405020304" pitchFamily="18" charset="0"/>
                <a:ea typeface="黑体" panose="02010609060101010101" pitchFamily="49" charset="-122"/>
                <a:sym typeface="+mn-ea"/>
              </a:rPr>
              <a:t>，版本</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、纠错等级为</a:t>
            </a:r>
            <a:r>
              <a:rPr lang="en-US" altLang="zh-CN" sz="2000" dirty="0">
                <a:latin typeface="Times New Roman" panose="02020603050405020304" pitchFamily="18" charset="0"/>
                <a:ea typeface="黑体" panose="02010609060101010101" pitchFamily="49" charset="-122"/>
                <a:sym typeface="+mn-ea"/>
              </a:rPr>
              <a:t>H</a:t>
            </a:r>
            <a:r>
              <a:rPr lang="zh-CN" altLang="en-US" sz="2000" dirty="0">
                <a:latin typeface="Times New Roman" panose="02020603050405020304" pitchFamily="18" charset="0"/>
                <a:ea typeface="黑体" panose="02010609060101010101" pitchFamily="49" charset="-122"/>
                <a:sym typeface="+mn-ea"/>
              </a:rPr>
              <a:t>下的数字模式下的数据码字数为</a:t>
            </a:r>
            <a:r>
              <a:rPr lang="en-US" altLang="zh-CN" sz="2000" dirty="0">
                <a:latin typeface="Times New Roman" panose="02020603050405020304" pitchFamily="18" charset="0"/>
                <a:ea typeface="黑体" panose="02010609060101010101" pitchFamily="49" charset="-122"/>
                <a:sym typeface="+mn-ea"/>
              </a:rPr>
              <a:t>9</a:t>
            </a:r>
            <a:r>
              <a:rPr lang="zh-CN" altLang="en-US" sz="2000" dirty="0">
                <a:latin typeface="Times New Roman" panose="02020603050405020304" pitchFamily="18" charset="0"/>
                <a:ea typeface="黑体" panose="02010609060101010101" pitchFamily="49" charset="-122"/>
                <a:sym typeface="+mn-ea"/>
              </a:rPr>
              <a:t>。由于上面只生成了</a:t>
            </a:r>
            <a:r>
              <a:rPr lang="en-US" altLang="zh-CN" sz="2000" dirty="0">
                <a:latin typeface="Times New Roman" panose="02020603050405020304" pitchFamily="18" charset="0"/>
                <a:ea typeface="黑体" panose="02010609060101010101" pitchFamily="49" charset="-122"/>
                <a:sym typeface="+mn-ea"/>
              </a:rPr>
              <a:t>6</a:t>
            </a:r>
            <a:r>
              <a:rPr lang="zh-CN" altLang="en-US" sz="2000" dirty="0">
                <a:latin typeface="Times New Roman" panose="02020603050405020304" pitchFamily="18" charset="0"/>
                <a:ea typeface="黑体" panose="02010609060101010101" pitchFamily="49" charset="-122"/>
                <a:sym typeface="+mn-ea"/>
              </a:rPr>
              <a:t>个码字，因为此时需要</a:t>
            </a:r>
            <a:r>
              <a:rPr lang="zh-CN" altLang="en-US" sz="2000" dirty="0">
                <a:solidFill>
                  <a:srgbClr val="FF0000"/>
                </a:solidFill>
                <a:latin typeface="Times New Roman" panose="02020603050405020304" pitchFamily="18" charset="0"/>
                <a:ea typeface="黑体" panose="02010609060101010101" pitchFamily="49" charset="-122"/>
                <a:sym typeface="+mn-ea"/>
              </a:rPr>
              <a:t>交替补充码字</a:t>
            </a:r>
            <a:r>
              <a:rPr lang="en-US" altLang="zh-CN" sz="2000" dirty="0">
                <a:solidFill>
                  <a:srgbClr val="FF0000"/>
                </a:solidFill>
                <a:latin typeface="Times New Roman" panose="02020603050405020304" pitchFamily="18" charset="0"/>
                <a:ea typeface="黑体" panose="02010609060101010101" pitchFamily="49" charset="-122"/>
                <a:sym typeface="+mn-ea"/>
              </a:rPr>
              <a:t>11101100</a:t>
            </a:r>
            <a:r>
              <a:rPr lang="zh-CN" altLang="en-US" sz="2000" dirty="0">
                <a:solidFill>
                  <a:srgbClr val="FF0000"/>
                </a:solidFill>
                <a:latin typeface="Times New Roman" panose="02020603050405020304" pitchFamily="18" charset="0"/>
                <a:ea typeface="黑体" panose="02010609060101010101" pitchFamily="49" charset="-122"/>
                <a:sym typeface="+mn-ea"/>
              </a:rPr>
              <a:t>和</a:t>
            </a:r>
            <a:r>
              <a:rPr lang="en-US" altLang="zh-CN" sz="2000" dirty="0">
                <a:solidFill>
                  <a:srgbClr val="FF0000"/>
                </a:solidFill>
                <a:latin typeface="Times New Roman" panose="02020603050405020304" pitchFamily="18" charset="0"/>
                <a:ea typeface="黑体" panose="02010609060101010101" pitchFamily="49" charset="-122"/>
                <a:sym typeface="+mn-ea"/>
              </a:rPr>
              <a:t>00010001</a:t>
            </a:r>
            <a:r>
              <a:rPr lang="zh-CN" altLang="en-US" sz="2000" dirty="0">
                <a:latin typeface="Times New Roman" panose="02020603050405020304" pitchFamily="18" charset="0"/>
                <a:ea typeface="黑体" panose="02010609060101010101" pitchFamily="49" charset="-122"/>
                <a:sym typeface="+mn-ea"/>
              </a:rPr>
              <a:t>，直至</a:t>
            </a:r>
            <a:r>
              <a:rPr lang="en-US" altLang="zh-CN" sz="2000" dirty="0">
                <a:latin typeface="Times New Roman" panose="02020603050405020304" pitchFamily="18" charset="0"/>
                <a:ea typeface="黑体" panose="02010609060101010101" pitchFamily="49" charset="-122"/>
                <a:sym typeface="+mn-ea"/>
              </a:rPr>
              <a:t>00010000 /</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00100000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00001100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01010110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01100001 / 1000000 / </a:t>
            </a:r>
            <a:r>
              <a:rPr lang="en-US" altLang="zh-CN" sz="2000" b="1" dirty="0">
                <a:latin typeface="Times New Roman" panose="02020603050405020304" pitchFamily="18" charset="0"/>
                <a:ea typeface="黑体" panose="02010609060101010101" pitchFamily="49" charset="-122"/>
                <a:sym typeface="+mn-ea"/>
              </a:rPr>
              <a:t>11101100 </a:t>
            </a:r>
            <a:r>
              <a:rPr lang="en-US" altLang="zh-CN" sz="2000" dirty="0">
                <a:latin typeface="Times New Roman" panose="02020603050405020304" pitchFamily="18" charset="0"/>
                <a:ea typeface="黑体" panose="02010609060101010101" pitchFamily="49" charset="-122"/>
                <a:sym typeface="+mn-ea"/>
              </a:rPr>
              <a:t>/ </a:t>
            </a:r>
            <a:r>
              <a:rPr lang="en-US" altLang="zh-CN" sz="2000" b="1" dirty="0">
                <a:latin typeface="Times New Roman" panose="02020603050405020304" pitchFamily="18" charset="0"/>
                <a:ea typeface="黑体" panose="02010609060101010101" pitchFamily="49" charset="-122"/>
                <a:sym typeface="+mn-ea"/>
              </a:rPr>
              <a:t>00010001 </a:t>
            </a:r>
            <a:r>
              <a:rPr lang="en-US" altLang="zh-CN" sz="2000" dirty="0">
                <a:latin typeface="Times New Roman" panose="02020603050405020304" pitchFamily="18" charset="0"/>
                <a:ea typeface="黑体" panose="02010609060101010101" pitchFamily="49" charset="-122"/>
                <a:sym typeface="+mn-ea"/>
              </a:rPr>
              <a:t>/</a:t>
            </a:r>
            <a:r>
              <a:rPr lang="en-US" altLang="zh-CN" sz="2000" b="1" dirty="0">
                <a:latin typeface="Times New Roman" panose="02020603050405020304" pitchFamily="18" charset="0"/>
                <a:ea typeface="黑体" panose="02010609060101010101" pitchFamily="49" charset="-122"/>
                <a:sym typeface="+mn-ea"/>
              </a:rPr>
              <a:t> 11101100</a:t>
            </a:r>
            <a:endParaRPr lang="en-US" altLang="zh-CN" sz="2000" b="1"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填满。</a:t>
            </a:r>
            <a:endParaRPr lang="en-US" altLang="zh-CN" sz="2000" dirty="0">
              <a:latin typeface="Times New Roman" panose="02020603050405020304" pitchFamily="18" charset="0"/>
              <a:ea typeface="黑体" panose="02010609060101010101" pitchFamily="49" charset="-122"/>
              <a:sym typeface="+mn-ea"/>
            </a:endParaRPr>
          </a:p>
        </p:txBody>
      </p:sp>
      <p:pic>
        <p:nvPicPr>
          <p:cNvPr id="5" name="图片 4"/>
          <p:cNvPicPr>
            <a:picLocks noChangeAspect="1"/>
          </p:cNvPicPr>
          <p:nvPr/>
        </p:nvPicPr>
        <p:blipFill>
          <a:blip r:embed="rId1"/>
          <a:stretch>
            <a:fillRect/>
          </a:stretch>
        </p:blipFill>
        <p:spPr>
          <a:xfrm>
            <a:off x="1468198" y="5403482"/>
            <a:ext cx="5943444" cy="145642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纠错编码</a:t>
            </a:r>
            <a:endParaRPr lang="zh-CN" altLang="en-US" sz="2400" dirty="0">
              <a:sym typeface="+mn-ea"/>
            </a:endParaRPr>
          </a:p>
        </p:txBody>
      </p:sp>
      <p:sp>
        <p:nvSpPr>
          <p:cNvPr id="10" name="文本框 9"/>
          <p:cNvSpPr txBox="1"/>
          <p:nvPr/>
        </p:nvSpPr>
        <p:spPr>
          <a:xfrm>
            <a:off x="478790" y="927735"/>
            <a:ext cx="8205470" cy="286232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纠错</a:t>
            </a:r>
            <a:r>
              <a:rPr lang="zh-CN" altLang="en-US" sz="2000" dirty="0">
                <a:solidFill>
                  <a:srgbClr val="0070C0"/>
                </a:solidFill>
                <a:uFillTx/>
                <a:latin typeface="Times New Roman" panose="02020603050405020304" pitchFamily="18" charset="0"/>
                <a:ea typeface="黑体" panose="02010609060101010101" pitchFamily="49" charset="-122"/>
                <a:sym typeface="+mn-ea"/>
              </a:rPr>
              <a:t>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纠错编码是用数据码字除纠错码多项式所得到的的余数。</a:t>
            </a:r>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每一块的纠错代码（</a:t>
            </a:r>
            <a:r>
              <a:rPr lang="en-US" altLang="zh-CN" sz="2000" dirty="0">
                <a:uFillTx/>
                <a:latin typeface="Times New Roman" panose="02020603050405020304" pitchFamily="18" charset="0"/>
                <a:ea typeface="黑体" panose="02010609060101010101" pitchFamily="49" charset="-122"/>
                <a:sym typeface="+mn-ea"/>
              </a:rPr>
              <a:t>c, k, r</a:t>
            </a:r>
            <a:r>
              <a:rPr lang="zh-CN" altLang="en-US" sz="2000" dirty="0">
                <a:uFillTx/>
                <a:latin typeface="Times New Roman" panose="02020603050405020304" pitchFamily="18" charset="0"/>
                <a:ea typeface="黑体" panose="02010609060101010101" pitchFamily="49" charset="-122"/>
                <a:sym typeface="+mn-ea"/>
              </a:rPr>
              <a:t>）中，</a:t>
            </a:r>
            <a:r>
              <a:rPr lang="en-US" altLang="zh-CN" sz="2000" dirty="0">
                <a:uFillTx/>
                <a:latin typeface="Times New Roman" panose="02020603050405020304" pitchFamily="18" charset="0"/>
                <a:ea typeface="黑体" panose="02010609060101010101" pitchFamily="49" charset="-122"/>
                <a:sym typeface="+mn-ea"/>
              </a:rPr>
              <a:t>c</a:t>
            </a:r>
            <a:r>
              <a:rPr lang="zh-CN" altLang="en-US" sz="2000" dirty="0">
                <a:uFillTx/>
                <a:latin typeface="Times New Roman" panose="02020603050405020304" pitchFamily="18" charset="0"/>
                <a:ea typeface="黑体" panose="02010609060101010101" pitchFamily="49" charset="-122"/>
                <a:sym typeface="+mn-ea"/>
              </a:rPr>
              <a:t>表示码字总数，</a:t>
            </a:r>
            <a:r>
              <a:rPr lang="en-US" altLang="zh-CN" sz="2000" dirty="0">
                <a:uFillTx/>
                <a:latin typeface="Times New Roman" panose="02020603050405020304" pitchFamily="18" charset="0"/>
                <a:ea typeface="黑体" panose="02010609060101010101" pitchFamily="49" charset="-122"/>
                <a:sym typeface="+mn-ea"/>
              </a:rPr>
              <a:t>k</a:t>
            </a:r>
            <a:r>
              <a:rPr lang="zh-CN" altLang="en-US" sz="2000" dirty="0">
                <a:uFillTx/>
                <a:latin typeface="Times New Roman" panose="02020603050405020304" pitchFamily="18" charset="0"/>
                <a:ea typeface="黑体" panose="02010609060101010101" pitchFamily="49" charset="-122"/>
                <a:sym typeface="+mn-ea"/>
              </a:rPr>
              <a:t>表示数据码字数，</a:t>
            </a:r>
            <a:r>
              <a:rPr lang="en-US" altLang="zh-CN" sz="2000" dirty="0">
                <a:uFillTx/>
                <a:latin typeface="Times New Roman" panose="02020603050405020304" pitchFamily="18" charset="0"/>
                <a:ea typeface="黑体" panose="02010609060101010101" pitchFamily="49" charset="-122"/>
                <a:sym typeface="+mn-ea"/>
              </a:rPr>
              <a:t>r</a:t>
            </a:r>
            <a:r>
              <a:rPr lang="zh-CN" altLang="en-US" sz="2000" dirty="0">
                <a:uFillTx/>
                <a:latin typeface="Times New Roman" panose="02020603050405020304" pitchFamily="18" charset="0"/>
                <a:ea typeface="黑体" panose="02010609060101010101" pitchFamily="49" charset="-122"/>
                <a:sym typeface="+mn-ea"/>
              </a:rPr>
              <a:t>表示纠错容量。</a:t>
            </a:r>
            <a:endParaRPr lang="en-US" altLang="zh-CN" sz="2000" dirty="0">
              <a:uFillTx/>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由表</a:t>
            </a:r>
            <a:r>
              <a:rPr lang="en-US" altLang="zh-CN" sz="2000" dirty="0">
                <a:uFillTx/>
                <a:latin typeface="Times New Roman" panose="02020603050405020304" pitchFamily="18" charset="0"/>
                <a:ea typeface="黑体" panose="02010609060101010101" pitchFamily="49" charset="-122"/>
                <a:sym typeface="+mn-ea"/>
              </a:rPr>
              <a:t>13</a:t>
            </a:r>
            <a:r>
              <a:rPr lang="zh-CN" altLang="en-US" sz="2000" dirty="0">
                <a:uFillTx/>
                <a:latin typeface="Times New Roman" panose="02020603050405020304" pitchFamily="18" charset="0"/>
                <a:ea typeface="黑体" panose="02010609060101010101" pitchFamily="49" charset="-122"/>
                <a:sym typeface="+mn-ea"/>
              </a:rPr>
              <a:t>可得，版本</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uFillTx/>
                <a:latin typeface="Times New Roman" panose="02020603050405020304" pitchFamily="18" charset="0"/>
                <a:ea typeface="黑体" panose="02010609060101010101" pitchFamily="49" charset="-122"/>
                <a:sym typeface="+mn-ea"/>
              </a:rPr>
              <a:t>，纠错等级</a:t>
            </a:r>
            <a:r>
              <a:rPr lang="en-US" altLang="zh-CN" sz="2000" dirty="0">
                <a:uFillTx/>
                <a:latin typeface="Times New Roman" panose="02020603050405020304" pitchFamily="18" charset="0"/>
                <a:ea typeface="黑体" panose="02010609060101010101" pitchFamily="49" charset="-122"/>
                <a:sym typeface="+mn-ea"/>
              </a:rPr>
              <a:t>H</a:t>
            </a:r>
            <a:r>
              <a:rPr lang="zh-CN" altLang="en-US" sz="2000" dirty="0">
                <a:uFillTx/>
                <a:latin typeface="Times New Roman" panose="02020603050405020304" pitchFamily="18" charset="0"/>
                <a:ea typeface="黑体" panose="02010609060101010101" pitchFamily="49" charset="-122"/>
                <a:sym typeface="+mn-ea"/>
              </a:rPr>
              <a:t>的情况下，纠错码字数为</a:t>
            </a:r>
            <a:r>
              <a:rPr lang="en-US" altLang="zh-CN" sz="2000" dirty="0">
                <a:uFillTx/>
                <a:latin typeface="Times New Roman" panose="02020603050405020304" pitchFamily="18" charset="0"/>
                <a:ea typeface="黑体" panose="02010609060101010101" pitchFamily="49" charset="-122"/>
                <a:sym typeface="+mn-ea"/>
              </a:rPr>
              <a:t>17</a:t>
            </a:r>
            <a:r>
              <a:rPr lang="zh-CN" altLang="en-US" sz="2000" dirty="0">
                <a:uFillTx/>
                <a:latin typeface="Times New Roman" panose="02020603050405020304" pitchFamily="18" charset="0"/>
                <a:ea typeface="黑体" panose="02010609060101010101" pitchFamily="49" charset="-122"/>
                <a:sym typeface="+mn-ea"/>
              </a:rPr>
              <a:t>。并且码字总数为</a:t>
            </a:r>
            <a:r>
              <a:rPr lang="en-US" altLang="zh-CN" sz="2000" dirty="0">
                <a:uFillTx/>
                <a:latin typeface="Times New Roman" panose="02020603050405020304" pitchFamily="18" charset="0"/>
                <a:ea typeface="黑体" panose="02010609060101010101" pitchFamily="49" charset="-122"/>
                <a:sym typeface="+mn-ea"/>
              </a:rPr>
              <a:t>26</a:t>
            </a:r>
            <a:r>
              <a:rPr lang="zh-CN" altLang="en-US" sz="2000" dirty="0">
                <a:uFillTx/>
                <a:latin typeface="Times New Roman" panose="02020603050405020304" pitchFamily="18" charset="0"/>
                <a:ea typeface="黑体" panose="02010609060101010101" pitchFamily="49" charset="-122"/>
                <a:sym typeface="+mn-ea"/>
              </a:rPr>
              <a:t>，数据码字数为</a:t>
            </a:r>
            <a:r>
              <a:rPr lang="en-US" altLang="zh-CN" sz="2000" dirty="0">
                <a:uFillTx/>
                <a:latin typeface="Times New Roman" panose="02020603050405020304" pitchFamily="18" charset="0"/>
                <a:ea typeface="黑体" panose="02010609060101010101" pitchFamily="49" charset="-122"/>
                <a:sym typeface="+mn-ea"/>
              </a:rPr>
              <a:t>9</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a:p>
            <a:pPr algn="l"/>
            <a:endParaRPr lang="zh-CN" altLang="en-US" sz="2000" dirty="0">
              <a:uFillTx/>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554140" y="3927217"/>
            <a:ext cx="8035719" cy="207898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纠错编码</a:t>
            </a:r>
            <a:endParaRPr lang="zh-CN" altLang="en-US" sz="2400" dirty="0">
              <a:sym typeface="+mn-ea"/>
            </a:endParaRPr>
          </a:p>
        </p:txBody>
      </p:sp>
      <p:sp>
        <p:nvSpPr>
          <p:cNvPr id="10" name="文本框 9"/>
          <p:cNvSpPr txBox="1"/>
          <p:nvPr/>
        </p:nvSpPr>
        <p:spPr>
          <a:xfrm>
            <a:off x="478790" y="927735"/>
            <a:ext cx="8205470" cy="5293757"/>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纠错编码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之前已经生成的数据码字为：</a:t>
            </a:r>
            <a:endParaRPr lang="en-US" altLang="zh-CN" sz="2000" dirty="0">
              <a:latin typeface="Times New Roman" panose="02020603050405020304" pitchFamily="18" charset="0"/>
              <a:ea typeface="黑体" panose="02010609060101010101" pitchFamily="49" charset="-122"/>
              <a:sym typeface="+mn-ea"/>
            </a:endParaRPr>
          </a:p>
          <a:p>
            <a:pPr lvl="1"/>
            <a:r>
              <a:rPr lang="en-US" altLang="zh-CN" sz="2000" dirty="0">
                <a:latin typeface="Times New Roman" panose="02020603050405020304" pitchFamily="18" charset="0"/>
                <a:ea typeface="黑体" panose="02010609060101010101" pitchFamily="49" charset="-122"/>
                <a:sym typeface="+mn-ea"/>
              </a:rPr>
              <a:t>00010000 /</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00100000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00001100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01010110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01100001 / 1000000 / 11101100 / 00010001 / 11101100</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将其转化为十六进制：</a:t>
            </a:r>
            <a:r>
              <a:rPr lang="en-US" altLang="zh-CN" sz="2000" dirty="0">
                <a:uFillTx/>
                <a:latin typeface="Times New Roman" panose="02020603050405020304" pitchFamily="18" charset="0"/>
                <a:ea typeface="黑体" panose="02010609060101010101" pitchFamily="49" charset="-122"/>
                <a:sym typeface="+mn-ea"/>
              </a:rPr>
              <a:t>0x10 / 0x20 / 0x0C / 0x56 / 0x61 / 0x80 / 0xEC / 0x11 / 0xEC</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转化为十进制：</a:t>
            </a:r>
            <a:r>
              <a:rPr lang="en-US" altLang="zh-CN" sz="2000" dirty="0">
                <a:uFillTx/>
                <a:latin typeface="Times New Roman" panose="02020603050405020304" pitchFamily="18" charset="0"/>
                <a:ea typeface="黑体" panose="02010609060101010101" pitchFamily="49" charset="-122"/>
                <a:sym typeface="+mn-ea"/>
              </a:rPr>
              <a:t>16</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32</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12</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86</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97</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128</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236</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17</a:t>
            </a: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236</a:t>
            </a:r>
            <a:endParaRPr lang="en-US" altLang="zh-CN" sz="2000" dirty="0">
              <a:uFillTx/>
              <a:latin typeface="Times New Roman" panose="02020603050405020304" pitchFamily="18" charset="0"/>
              <a:ea typeface="黑体" panose="02010609060101010101" pitchFamily="49" charset="-122"/>
              <a:sym typeface="+mn-ea"/>
            </a:endParaRPr>
          </a:p>
          <a:p>
            <a:pPr lvl="1"/>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通过生成多项式的方法来生成纠错码字：</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除数为：</a:t>
            </a:r>
            <a:r>
              <a:rPr lang="en-US" altLang="zh-CN" sz="2000" b="0" i="0" dirty="0">
                <a:effectLst/>
                <a:latin typeface="Helvetica Neue"/>
              </a:rPr>
              <a:t>16x</a:t>
            </a:r>
            <a:r>
              <a:rPr lang="en-US" altLang="zh-CN" sz="2000" b="0" i="0" baseline="30000" dirty="0">
                <a:effectLst/>
                <a:latin typeface="Helvetica Neue"/>
              </a:rPr>
              <a:t>8</a:t>
            </a:r>
            <a:r>
              <a:rPr lang="en-US" altLang="zh-CN" sz="2000" b="0" i="0" dirty="0">
                <a:effectLst/>
                <a:latin typeface="Helvetica Neue"/>
              </a:rPr>
              <a:t> + 32x</a:t>
            </a:r>
            <a:r>
              <a:rPr lang="en-US" altLang="zh-CN" sz="2000" b="0" i="0" baseline="30000" dirty="0">
                <a:effectLst/>
                <a:latin typeface="Helvetica Neue"/>
              </a:rPr>
              <a:t>7</a:t>
            </a:r>
            <a:r>
              <a:rPr lang="en-US" altLang="zh-CN" sz="2000" b="0" i="0" dirty="0">
                <a:effectLst/>
                <a:latin typeface="Helvetica Neue"/>
              </a:rPr>
              <a:t> + 12x</a:t>
            </a:r>
            <a:r>
              <a:rPr lang="en-US" altLang="zh-CN" sz="2000" b="0" i="0" baseline="30000" dirty="0">
                <a:effectLst/>
                <a:latin typeface="Helvetica Neue"/>
              </a:rPr>
              <a:t>6</a:t>
            </a:r>
            <a:r>
              <a:rPr lang="en-US" altLang="zh-CN" sz="2000" b="0" i="0" dirty="0">
                <a:effectLst/>
                <a:latin typeface="Helvetica Neue"/>
              </a:rPr>
              <a:t> + 86x</a:t>
            </a:r>
            <a:r>
              <a:rPr lang="en-US" altLang="zh-CN" sz="2000" b="0" i="0" baseline="30000" dirty="0">
                <a:effectLst/>
                <a:latin typeface="Helvetica Neue"/>
              </a:rPr>
              <a:t>5</a:t>
            </a:r>
            <a:r>
              <a:rPr lang="en-US" altLang="zh-CN" sz="2000" b="0" i="0" dirty="0">
                <a:effectLst/>
                <a:latin typeface="Helvetica Neue"/>
              </a:rPr>
              <a:t> + 97x</a:t>
            </a:r>
            <a:r>
              <a:rPr lang="en-US" altLang="zh-CN" sz="2000" b="0" i="0" baseline="30000" dirty="0">
                <a:effectLst/>
                <a:latin typeface="Helvetica Neue"/>
              </a:rPr>
              <a:t>4</a:t>
            </a:r>
            <a:r>
              <a:rPr lang="en-US" altLang="zh-CN" sz="2000" b="0" i="0" dirty="0">
                <a:effectLst/>
                <a:latin typeface="Helvetica Neue"/>
              </a:rPr>
              <a:t> + 128x</a:t>
            </a:r>
            <a:r>
              <a:rPr lang="en-US" altLang="zh-CN" sz="2000" b="0" i="0" baseline="30000" dirty="0">
                <a:effectLst/>
                <a:latin typeface="Helvetica Neue"/>
              </a:rPr>
              <a:t>3</a:t>
            </a:r>
            <a:r>
              <a:rPr lang="en-US" altLang="zh-CN" sz="2000" b="0" i="0" dirty="0">
                <a:effectLst/>
                <a:latin typeface="Helvetica Neue"/>
              </a:rPr>
              <a:t> + 236x</a:t>
            </a:r>
            <a:r>
              <a:rPr lang="en-US" altLang="zh-CN" sz="2000" b="0" i="0" baseline="30000" dirty="0">
                <a:effectLst/>
                <a:latin typeface="Helvetica Neue"/>
              </a:rPr>
              <a:t>2</a:t>
            </a:r>
            <a:r>
              <a:rPr lang="en-US" altLang="zh-CN" sz="2000" b="0" i="0" dirty="0">
                <a:effectLst/>
                <a:latin typeface="Helvetica Neue"/>
              </a:rPr>
              <a:t> + 17x</a:t>
            </a:r>
            <a:r>
              <a:rPr lang="en-US" altLang="zh-CN" sz="2000" b="0" i="0" baseline="30000" dirty="0">
                <a:effectLst/>
                <a:latin typeface="Helvetica Neue"/>
              </a:rPr>
              <a:t>1</a:t>
            </a:r>
            <a:r>
              <a:rPr lang="en-US" altLang="zh-CN" sz="2000" b="0" i="0" dirty="0">
                <a:effectLst/>
                <a:latin typeface="Helvetica Neue"/>
              </a:rPr>
              <a:t> + 236</a:t>
            </a:r>
            <a:endParaRPr lang="en-US" altLang="zh-CN" sz="2000" b="0" i="0" dirty="0">
              <a:effectLst/>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被除数为：</a:t>
            </a:r>
            <a:r>
              <a:rPr lang="en-US" altLang="zh-CN" sz="2000" dirty="0">
                <a:uFillTx/>
                <a:latin typeface="Times New Roman" panose="02020603050405020304" pitchFamily="18" charset="0"/>
                <a:ea typeface="黑体" panose="02010609060101010101" pitchFamily="49" charset="-122"/>
                <a:sym typeface="+mn-ea"/>
              </a:rPr>
              <a:t>17</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最终得到结果为：</a:t>
            </a:r>
            <a:r>
              <a:rPr lang="en-US" altLang="zh-CN" sz="2000" dirty="0">
                <a:latin typeface="Times New Roman" panose="02020603050405020304" pitchFamily="18" charset="0"/>
                <a:ea typeface="黑体" panose="02010609060101010101" pitchFamily="49" charset="-122"/>
                <a:sym typeface="+mn-ea"/>
              </a:rPr>
              <a:t>14</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157</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200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194</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148</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243</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167</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173</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141</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226</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244</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165</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43</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172</a:t>
            </a:r>
            <a:r>
              <a:rPr lang="zh-CN" altLang="en-US" sz="2000" dirty="0">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223</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转化为十六进制为：</a:t>
            </a:r>
            <a:r>
              <a:rPr lang="en-US" altLang="zh-CN" sz="2000" dirty="0">
                <a:effectLst/>
                <a:latin typeface="+mn-ea"/>
                <a:ea typeface="+mn-ea"/>
                <a:cs typeface="Times New Roman" panose="02020603050405020304" pitchFamily="18" charset="0"/>
              </a:rPr>
              <a:t>0x0E 0x9D 0x02 0xC8 0xC2 0x94 0xF3 0xA7 0xAD 0x8D 0xE2 0x0A 0xF4 0xA5 0x2B 0xAC 0xDF</a:t>
            </a:r>
            <a:endParaRPr lang="zh-CN" sz="2000" dirty="0">
              <a:uFillTx/>
              <a:latin typeface="+mn-ea"/>
              <a:ea typeface="+mn-ea"/>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纠错编码</a:t>
            </a:r>
            <a:endParaRPr lang="zh-CN" altLang="en-US" sz="2400" dirty="0">
              <a:sym typeface="+mn-ea"/>
            </a:endParaRPr>
          </a:p>
        </p:txBody>
      </p:sp>
      <p:sp>
        <p:nvSpPr>
          <p:cNvPr id="10" name="文本框 9"/>
          <p:cNvSpPr txBox="1"/>
          <p:nvPr/>
        </p:nvSpPr>
        <p:spPr>
          <a:xfrm>
            <a:off x="554355" y="927735"/>
            <a:ext cx="8205470" cy="2308324"/>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纠错编码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lvl="1"/>
            <a:endParaRPr lang="en-US"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将数据码字与纠错码字连接起来，即</a:t>
            </a:r>
            <a:r>
              <a:rPr lang="en-US" altLang="zh-CN" sz="2000" dirty="0">
                <a:uFillTx/>
                <a:latin typeface="Times New Roman" panose="02020603050405020304" pitchFamily="18" charset="0"/>
                <a:ea typeface="黑体" panose="02010609060101010101" pitchFamily="49" charset="-122"/>
                <a:sym typeface="+mn-ea"/>
              </a:rPr>
              <a:t>26</a:t>
            </a:r>
            <a:r>
              <a:rPr lang="zh-CN" altLang="en-US" sz="2000" dirty="0">
                <a:uFillTx/>
                <a:latin typeface="Times New Roman" panose="02020603050405020304" pitchFamily="18" charset="0"/>
                <a:ea typeface="黑体" panose="02010609060101010101" pitchFamily="49" charset="-122"/>
                <a:sym typeface="+mn-ea"/>
              </a:rPr>
              <a:t>个码字全部生成完成：</a:t>
            </a:r>
            <a:endParaRPr lang="en-US" altLang="zh-CN" sz="2000" dirty="0">
              <a:uFillTx/>
              <a:latin typeface="Times New Roman" panose="02020603050405020304" pitchFamily="18" charset="0"/>
              <a:ea typeface="黑体" panose="02010609060101010101" pitchFamily="49" charset="-122"/>
              <a:sym typeface="+mn-ea"/>
            </a:endParaRPr>
          </a:p>
          <a:p>
            <a:pPr lvl="1"/>
            <a:r>
              <a:rPr lang="en-US" altLang="zh-CN" sz="2000" dirty="0">
                <a:effectLst/>
                <a:latin typeface="+mn-ea"/>
                <a:ea typeface="+mn-ea"/>
                <a:cs typeface="Times New Roman" panose="02020603050405020304" pitchFamily="18" charset="0"/>
              </a:rPr>
              <a:t>0x10 0x20 0x0C 0x56 0x61 0x80 0xEC 0x11 0xEC 0x0E 0x9D 0x02 0xC8 0xC2 0x94 0xF3 0xA7 0xAD 0x8D 0xE2 0x0A 0xF4 0xA5 0x2B 0xAC 0xDF</a:t>
            </a:r>
            <a:endParaRPr lang="en-US" altLang="zh-CN" sz="2000" dirty="0">
              <a:effectLst/>
              <a:latin typeface="+mn-ea"/>
              <a:ea typeface="+mn-ea"/>
              <a:cs typeface="Times New Roman" panose="02020603050405020304" pitchFamily="18" charset="0"/>
            </a:endParaRPr>
          </a:p>
          <a:p>
            <a:pPr lvl="1"/>
            <a:r>
              <a:rPr lang="zh-CN" altLang="en-US" sz="2000" dirty="0">
                <a:uFillTx/>
                <a:latin typeface="+mn-ea"/>
                <a:ea typeface="+mn-ea"/>
                <a:cs typeface="Times New Roman" panose="02020603050405020304" pitchFamily="18" charset="0"/>
                <a:sym typeface="+mn-ea"/>
              </a:rPr>
              <a:t>    其中，前</a:t>
            </a:r>
            <a:r>
              <a:rPr lang="en-US" altLang="zh-CN" sz="2000" dirty="0">
                <a:uFillTx/>
                <a:latin typeface="+mn-ea"/>
                <a:ea typeface="+mn-ea"/>
                <a:cs typeface="Times New Roman" panose="02020603050405020304" pitchFamily="18" charset="0"/>
                <a:sym typeface="+mn-ea"/>
              </a:rPr>
              <a:t>9</a:t>
            </a:r>
            <a:r>
              <a:rPr lang="zh-CN" altLang="en-US" sz="2000" dirty="0">
                <a:uFillTx/>
                <a:latin typeface="+mn-ea"/>
                <a:ea typeface="+mn-ea"/>
                <a:cs typeface="Times New Roman" panose="02020603050405020304" pitchFamily="18" charset="0"/>
                <a:sym typeface="+mn-ea"/>
              </a:rPr>
              <a:t>个为数据码字，后</a:t>
            </a:r>
            <a:r>
              <a:rPr lang="en-US" altLang="zh-CN" sz="2000" dirty="0">
                <a:uFillTx/>
                <a:latin typeface="+mn-ea"/>
                <a:ea typeface="+mn-ea"/>
                <a:cs typeface="Times New Roman" panose="02020603050405020304" pitchFamily="18" charset="0"/>
                <a:sym typeface="+mn-ea"/>
              </a:rPr>
              <a:t>17</a:t>
            </a:r>
            <a:r>
              <a:rPr lang="zh-CN" altLang="en-US" sz="2000" dirty="0">
                <a:uFillTx/>
                <a:latin typeface="+mn-ea"/>
                <a:ea typeface="+mn-ea"/>
                <a:cs typeface="Times New Roman" panose="02020603050405020304" pitchFamily="18" charset="0"/>
                <a:sym typeface="+mn-ea"/>
              </a:rPr>
              <a:t>个为纠错码字。</a:t>
            </a:r>
            <a:endParaRPr sz="2400" dirty="0">
              <a:uFillTx/>
              <a:latin typeface="+mn-ea"/>
              <a:ea typeface="+mn-ea"/>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构造最终信息</a:t>
            </a:r>
            <a:endParaRPr lang="zh-CN" altLang="en-US" sz="2400" dirty="0">
              <a:sym typeface="+mn-ea"/>
            </a:endParaRPr>
          </a:p>
        </p:txBody>
      </p:sp>
      <p:sp>
        <p:nvSpPr>
          <p:cNvPr id="10" name="文本框 9"/>
          <p:cNvSpPr txBox="1"/>
          <p:nvPr/>
        </p:nvSpPr>
        <p:spPr>
          <a:xfrm>
            <a:off x="554355" y="92773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构造最终信息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        按照步骤构造最终的码字序列，即数据码字加上纠错码字，必要时加上剩余码字。</a:t>
            </a:r>
            <a:endParaRPr lang="en-US" altLang="zh-CN" sz="2000" dirty="0">
              <a:uFillTx/>
              <a:latin typeface="Times New Roman" panose="02020603050405020304" pitchFamily="18" charset="0"/>
              <a:ea typeface="黑体" panose="02010609060101010101" pitchFamily="49" charset="-122"/>
              <a:sym typeface="+mn-ea"/>
            </a:endParaRPr>
          </a:p>
          <a:p>
            <a:pPr marL="457200"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根据版本和纠错等级将数据码字序列</a:t>
            </a:r>
            <a:r>
              <a:rPr lang="zh-CN" altLang="en-US" sz="2000" dirty="0">
                <a:solidFill>
                  <a:srgbClr val="FF0000"/>
                </a:solidFill>
                <a:latin typeface="Times New Roman" panose="02020603050405020304" pitchFamily="18" charset="0"/>
                <a:ea typeface="黑体" panose="02010609060101010101" pitchFamily="49" charset="-122"/>
                <a:sym typeface="+mn-ea"/>
              </a:rPr>
              <a:t>分为</a:t>
            </a:r>
            <a:r>
              <a:rPr lang="en-US" altLang="zh-CN" sz="2000" dirty="0">
                <a:solidFill>
                  <a:srgbClr val="FF0000"/>
                </a:solidFill>
                <a:latin typeface="Times New Roman" panose="02020603050405020304" pitchFamily="18" charset="0"/>
                <a:ea typeface="黑体" panose="02010609060101010101" pitchFamily="49" charset="-122"/>
                <a:sym typeface="+mn-ea"/>
              </a:rPr>
              <a:t>n</a:t>
            </a:r>
            <a:r>
              <a:rPr lang="zh-CN" altLang="en-US" sz="2000" dirty="0">
                <a:solidFill>
                  <a:srgbClr val="FF0000"/>
                </a:solidFill>
                <a:latin typeface="Times New Roman" panose="02020603050405020304" pitchFamily="18" charset="0"/>
                <a:ea typeface="黑体" panose="02010609060101010101" pitchFamily="49" charset="-122"/>
                <a:sym typeface="+mn-ea"/>
              </a:rPr>
              <a:t>块</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marL="457200"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对每一块，计算相应块的</a:t>
            </a:r>
            <a:r>
              <a:rPr lang="zh-CN" altLang="en-US" sz="2000" dirty="0">
                <a:solidFill>
                  <a:srgbClr val="FF0000"/>
                </a:solidFill>
                <a:latin typeface="Times New Roman" panose="02020603050405020304" pitchFamily="18" charset="0"/>
                <a:ea typeface="黑体" panose="02010609060101010101" pitchFamily="49" charset="-122"/>
                <a:sym typeface="+mn-ea"/>
              </a:rPr>
              <a:t>纠错码字</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marL="457200"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依次将每一块的数据和纠错码字装配成最终的序列。</a:t>
            </a:r>
            <a:endParaRPr lang="en-US" sz="2000" dirty="0">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由表</a:t>
            </a:r>
            <a:r>
              <a:rPr lang="en-US" altLang="zh-CN" sz="2000" dirty="0">
                <a:uFillTx/>
                <a:latin typeface="Times New Roman" panose="02020603050405020304" pitchFamily="18" charset="0"/>
                <a:ea typeface="黑体" panose="02010609060101010101" pitchFamily="49" charset="-122"/>
                <a:sym typeface="+mn-ea"/>
              </a:rPr>
              <a:t>13</a:t>
            </a:r>
            <a:r>
              <a:rPr lang="zh-CN" altLang="en-US" sz="2000" dirty="0">
                <a:uFillTx/>
                <a:latin typeface="Times New Roman" panose="02020603050405020304" pitchFamily="18" charset="0"/>
                <a:ea typeface="黑体" panose="02010609060101010101" pitchFamily="49" charset="-122"/>
                <a:sym typeface="+mn-ea"/>
              </a:rPr>
              <a:t>可得，版本</a:t>
            </a:r>
            <a:r>
              <a:rPr lang="en-US" altLang="zh-CN" sz="2000" dirty="0">
                <a:uFillTx/>
                <a:latin typeface="Times New Roman" panose="02020603050405020304" pitchFamily="18" charset="0"/>
                <a:ea typeface="黑体" panose="02010609060101010101" pitchFamily="49" charset="-122"/>
                <a:sym typeface="+mn-ea"/>
              </a:rPr>
              <a:t>1-H</a:t>
            </a:r>
            <a:r>
              <a:rPr lang="zh-CN" altLang="en-US" sz="2000" dirty="0">
                <a:uFillTx/>
                <a:latin typeface="Times New Roman" panose="02020603050405020304" pitchFamily="18" charset="0"/>
                <a:ea typeface="黑体" panose="02010609060101010101" pitchFamily="49" charset="-122"/>
                <a:sym typeface="+mn-ea"/>
              </a:rPr>
              <a:t>的数据码字序列为</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uFillTx/>
                <a:latin typeface="Times New Roman" panose="02020603050405020304" pitchFamily="18" charset="0"/>
                <a:ea typeface="黑体" panose="02010609060101010101" pitchFamily="49" charset="-122"/>
                <a:sym typeface="+mn-ea"/>
              </a:rPr>
              <a:t>块，不需要分开，所以无需构造最终信息。</a:t>
            </a:r>
            <a:endParaRPr lang="en-US" sz="2000" dirty="0">
              <a:uFillTx/>
              <a:latin typeface="Times New Roman" panose="02020603050405020304" pitchFamily="18" charset="0"/>
              <a:ea typeface="黑体" panose="02010609060101010101" pitchFamily="49" charset="-122"/>
              <a:sym typeface="+mn-ea"/>
            </a:endParaRPr>
          </a:p>
        </p:txBody>
      </p:sp>
      <p:pic>
        <p:nvPicPr>
          <p:cNvPr id="7" name="图片 6"/>
          <p:cNvPicPr>
            <a:picLocks noChangeAspect="1"/>
          </p:cNvPicPr>
          <p:nvPr/>
        </p:nvPicPr>
        <p:blipFill>
          <a:blip r:embed="rId1"/>
          <a:stretch>
            <a:fillRect/>
          </a:stretch>
        </p:blipFill>
        <p:spPr>
          <a:xfrm>
            <a:off x="1219288" y="4542770"/>
            <a:ext cx="6933817" cy="179390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在矩阵中布置模块</a:t>
            </a:r>
            <a:endParaRPr lang="zh-CN" altLang="en-US" sz="2400" dirty="0">
              <a:sym typeface="+mn-ea"/>
            </a:endParaRPr>
          </a:p>
        </p:txBody>
      </p:sp>
      <p:sp>
        <p:nvSpPr>
          <p:cNvPr id="10" name="文本框 9"/>
          <p:cNvSpPr txBox="1"/>
          <p:nvPr/>
        </p:nvSpPr>
        <p:spPr>
          <a:xfrm>
            <a:off x="393187" y="1581069"/>
            <a:ext cx="4512945" cy="347787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在矩阵中布置模块</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右图展示了数据码字填写时的走位</a:t>
            </a:r>
            <a:endParaRPr lang="en-US" altLang="zh-CN" sz="2000" dirty="0">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endParaRPr lang="en-US"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符号字符的布置</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在</a:t>
            </a:r>
            <a:r>
              <a:rPr lang="en-US" altLang="zh-CN" sz="2000" dirty="0">
                <a:uFillTx/>
                <a:latin typeface="Times New Roman" panose="02020603050405020304" pitchFamily="18" charset="0"/>
                <a:ea typeface="黑体" panose="02010609060101010101" pitchFamily="49" charset="-122"/>
                <a:sym typeface="+mn-ea"/>
              </a:rPr>
              <a:t>QR</a:t>
            </a:r>
            <a:r>
              <a:rPr lang="zh-CN" altLang="en-US" sz="2000" dirty="0">
                <a:uFillTx/>
                <a:latin typeface="Times New Roman" panose="02020603050405020304" pitchFamily="18" charset="0"/>
                <a:ea typeface="黑体" panose="02010609060101010101" pitchFamily="49" charset="-122"/>
                <a:sym typeface="+mn-ea"/>
              </a:rPr>
              <a:t>码符号的编码区域中，符号字符以</a:t>
            </a:r>
            <a:r>
              <a:rPr lang="en-US" altLang="zh-CN" sz="2000" dirty="0">
                <a:solidFill>
                  <a:srgbClr val="FF0000"/>
                </a:solidFill>
                <a:uFillTx/>
                <a:latin typeface="Times New Roman" panose="02020603050405020304" pitchFamily="18" charset="0"/>
                <a:ea typeface="黑体" panose="02010609060101010101" pitchFamily="49" charset="-122"/>
                <a:sym typeface="+mn-ea"/>
              </a:rPr>
              <a:t>2</a:t>
            </a:r>
            <a:r>
              <a:rPr lang="zh-CN" altLang="en-US" sz="2000" dirty="0">
                <a:solidFill>
                  <a:srgbClr val="FF0000"/>
                </a:solidFill>
                <a:uFillTx/>
                <a:latin typeface="Times New Roman" panose="02020603050405020304" pitchFamily="18" charset="0"/>
                <a:ea typeface="黑体" panose="02010609060101010101" pitchFamily="49" charset="-122"/>
                <a:sym typeface="+mn-ea"/>
              </a:rPr>
              <a:t>个模块宽</a:t>
            </a:r>
            <a:r>
              <a:rPr lang="zh-CN" altLang="en-US" sz="2000" dirty="0">
                <a:uFillTx/>
                <a:latin typeface="Times New Roman" panose="02020603050405020304" pitchFamily="18" charset="0"/>
                <a:ea typeface="黑体" panose="02010609060101010101" pitchFamily="49" charset="-122"/>
                <a:sym typeface="+mn-ea"/>
              </a:rPr>
              <a:t>的纵列从符号</a:t>
            </a:r>
            <a:r>
              <a:rPr lang="zh-CN" altLang="en-US" sz="2000" dirty="0">
                <a:solidFill>
                  <a:srgbClr val="FF0000"/>
                </a:solidFill>
                <a:uFillTx/>
                <a:latin typeface="Times New Roman" panose="02020603050405020304" pitchFamily="18" charset="0"/>
                <a:ea typeface="黑体" panose="02010609060101010101" pitchFamily="49" charset="-122"/>
                <a:sym typeface="+mn-ea"/>
              </a:rPr>
              <a:t>右下角</a:t>
            </a:r>
            <a:r>
              <a:rPr lang="zh-CN" altLang="en-US" sz="2000" dirty="0">
                <a:uFillTx/>
                <a:latin typeface="Times New Roman" panose="02020603050405020304" pitchFamily="18" charset="0"/>
                <a:ea typeface="黑体" panose="02010609060101010101" pitchFamily="49" charset="-122"/>
                <a:sym typeface="+mn-ea"/>
              </a:rPr>
              <a:t>开始布置，并</a:t>
            </a:r>
            <a:r>
              <a:rPr lang="zh-CN" altLang="en-US" sz="2000" dirty="0">
                <a:solidFill>
                  <a:srgbClr val="FF0000"/>
                </a:solidFill>
                <a:uFillTx/>
                <a:latin typeface="Times New Roman" panose="02020603050405020304" pitchFamily="18" charset="0"/>
                <a:ea typeface="黑体" panose="02010609060101010101" pitchFamily="49" charset="-122"/>
                <a:sym typeface="+mn-ea"/>
              </a:rPr>
              <a:t>自右向左，且交替地从下向上或从上向下</a:t>
            </a:r>
            <a:r>
              <a:rPr lang="zh-CN" altLang="en-US" sz="2000" dirty="0">
                <a:uFillTx/>
                <a:latin typeface="Times New Roman" panose="02020603050405020304" pitchFamily="18" charset="0"/>
                <a:ea typeface="黑体" panose="02010609060101010101" pitchFamily="49" charset="-122"/>
                <a:sym typeface="+mn-ea"/>
              </a:rPr>
              <a:t>安排。</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具体走位路线如右图。</a:t>
            </a:r>
            <a:endParaRPr sz="2000" dirty="0">
              <a:uFillTx/>
              <a:latin typeface="Times New Roman" panose="02020603050405020304" pitchFamily="18" charset="0"/>
              <a:ea typeface="黑体" panose="02010609060101010101" pitchFamily="49" charset="-122"/>
              <a:sym typeface="+mn-ea"/>
            </a:endParaRPr>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34287" b="2922"/>
          <a:stretch>
            <a:fillRect/>
          </a:stretch>
        </p:blipFill>
        <p:spPr bwMode="auto">
          <a:xfrm>
            <a:off x="5257003" y="1581069"/>
            <a:ext cx="3695862" cy="36958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在矩阵中布置模块</a:t>
            </a:r>
            <a:endParaRPr lang="zh-CN" altLang="en-US" sz="2400" dirty="0">
              <a:sym typeface="+mn-ea"/>
            </a:endParaRPr>
          </a:p>
        </p:txBody>
      </p:sp>
      <p:sp>
        <p:nvSpPr>
          <p:cNvPr id="10" name="文本框 9"/>
          <p:cNvSpPr txBox="1"/>
          <p:nvPr/>
        </p:nvSpPr>
        <p:spPr>
          <a:xfrm>
            <a:off x="554355" y="927735"/>
            <a:ext cx="8205470" cy="347787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在矩阵中布置模块</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         在上一个步骤中，我们已经生成了最后的数据码字：</a:t>
            </a:r>
            <a:endParaRPr lang="en-US" altLang="zh-CN" sz="2000" dirty="0">
              <a:uFillTx/>
              <a:latin typeface="Times New Roman" panose="02020603050405020304" pitchFamily="18" charset="0"/>
              <a:ea typeface="黑体" panose="02010609060101010101" pitchFamily="49" charset="-122"/>
              <a:sym typeface="+mn-ea"/>
            </a:endParaRPr>
          </a:p>
          <a:p>
            <a:r>
              <a:rPr lang="en-US" altLang="zh-CN" sz="2000" dirty="0">
                <a:effectLst/>
                <a:latin typeface="+mn-ea"/>
                <a:ea typeface="+mn-ea"/>
                <a:cs typeface="Times New Roman" panose="02020603050405020304" pitchFamily="18" charset="0"/>
              </a:rPr>
              <a:t>0x10 0x20 0x0C 0x56 0x61 0x80 0xEC 0x11 0xEC 0x0E 0x9D 0x02 0xC8 0xC2 0x94 0xF3 0xA7 0xAD 0x8D 0xE2 0x0A 0xF4 0xA5 0x2B 0xAC 0xDF</a:t>
            </a:r>
            <a:endParaRPr lang="en-US" altLang="zh-CN" sz="2000" dirty="0">
              <a:effectLst/>
              <a:latin typeface="+mn-ea"/>
              <a:ea typeface="+mn-ea"/>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sym typeface="+mn-ea"/>
              </a:rPr>
              <a:t>        将这</a:t>
            </a:r>
            <a:r>
              <a:rPr lang="en-US" altLang="zh-CN" sz="2000" dirty="0">
                <a:latin typeface="Times New Roman" panose="02020603050405020304" pitchFamily="18" charset="0"/>
                <a:ea typeface="黑体" panose="02010609060101010101" pitchFamily="49" charset="-122"/>
                <a:sym typeface="+mn-ea"/>
              </a:rPr>
              <a:t>26</a:t>
            </a:r>
            <a:r>
              <a:rPr lang="zh-CN" altLang="en-US" sz="2000" dirty="0">
                <a:latin typeface="Times New Roman" panose="02020603050405020304" pitchFamily="18" charset="0"/>
                <a:ea typeface="黑体" panose="02010609060101010101" pitchFamily="49" charset="-122"/>
                <a:sym typeface="+mn-ea"/>
              </a:rPr>
              <a:t>个</a:t>
            </a:r>
            <a:r>
              <a:rPr lang="en-US" altLang="zh-CN" sz="2000" dirty="0">
                <a:latin typeface="Times New Roman" panose="02020603050405020304" pitchFamily="18" charset="0"/>
                <a:ea typeface="黑体" panose="02010609060101010101" pitchFamily="49" charset="-122"/>
                <a:sym typeface="+mn-ea"/>
              </a:rPr>
              <a:t>16</a:t>
            </a:r>
            <a:r>
              <a:rPr lang="zh-CN" altLang="en-US" sz="2000" dirty="0">
                <a:latin typeface="Times New Roman" panose="02020603050405020304" pitchFamily="18" charset="0"/>
                <a:ea typeface="黑体" panose="02010609060101010101" pitchFamily="49" charset="-122"/>
                <a:sym typeface="+mn-ea"/>
              </a:rPr>
              <a:t>进制数转换为</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为的二进制数，并按照上一页的路线依次填入到对应位置。</a:t>
            </a:r>
            <a:endParaRPr lang="en-US" altLang="zh-CN" sz="2000" dirty="0">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        最终结果如下</a:t>
            </a:r>
            <a:endParaRPr lang="en-US" altLang="zh-CN" sz="2000" dirty="0">
              <a:uFillTx/>
              <a:latin typeface="Times New Roman" panose="02020603050405020304" pitchFamily="18" charset="0"/>
              <a:ea typeface="黑体" panose="02010609060101010101" pitchFamily="49" charset="-122"/>
              <a:sym typeface="+mn-ea"/>
            </a:endParaRPr>
          </a:p>
          <a:p>
            <a:r>
              <a:rPr lang="zh-CN" altLang="en-US" sz="2000" dirty="0">
                <a:uFillTx/>
                <a:latin typeface="Times New Roman" panose="02020603050405020304" pitchFamily="18" charset="0"/>
                <a:ea typeface="黑体" panose="02010609060101010101" pitchFamily="49" charset="-122"/>
                <a:sym typeface="+mn-ea"/>
              </a:rPr>
              <a:t>图。</a:t>
            </a:r>
            <a:r>
              <a:rPr lang="zh-CN" altLang="en-US" sz="2000" dirty="0">
                <a:latin typeface="Times New Roman" panose="02020603050405020304" pitchFamily="18" charset="0"/>
                <a:ea typeface="黑体" panose="02010609060101010101" pitchFamily="49" charset="-122"/>
                <a:sym typeface="+mn-ea"/>
              </a:rPr>
              <a:t>其中浅色代表</a:t>
            </a:r>
            <a:endParaRPr lang="en-US" altLang="zh-CN" sz="2000" dirty="0">
              <a:latin typeface="Times New Roman" panose="02020603050405020304" pitchFamily="18" charset="0"/>
              <a:ea typeface="黑体" panose="02010609060101010101" pitchFamily="49" charset="-122"/>
              <a:sym typeface="+mn-ea"/>
            </a:endParaRPr>
          </a:p>
          <a:p>
            <a:r>
              <a:rPr lang="en-US" altLang="zh-CN" sz="2000" dirty="0">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，深色代表</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a:t>
            </a:r>
            <a:endParaRPr sz="2000" dirty="0">
              <a:uFillTx/>
              <a:latin typeface="Times New Roman" panose="02020603050405020304" pitchFamily="18" charset="0"/>
              <a:ea typeface="黑体" panose="02010609060101010101" pitchFamily="49" charset="-122"/>
              <a:sym typeface="+mn-ea"/>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062" y="3275350"/>
            <a:ext cx="5871207" cy="3477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掩模</a:t>
            </a:r>
            <a:endParaRPr lang="zh-CN" altLang="en-US" sz="2400" dirty="0">
              <a:sym typeface="+mn-ea"/>
            </a:endParaRPr>
          </a:p>
        </p:txBody>
      </p:sp>
      <p:sp>
        <p:nvSpPr>
          <p:cNvPr id="10" name="文本框 9"/>
          <p:cNvSpPr txBox="1"/>
          <p:nvPr/>
        </p:nvSpPr>
        <p:spPr>
          <a:xfrm>
            <a:off x="554355" y="92773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mn-ea"/>
                <a:ea typeface="+mn-ea"/>
                <a:sym typeface="+mn-ea"/>
              </a:rPr>
              <a:t>掩模</a:t>
            </a:r>
            <a:endParaRPr lang="en-US" altLang="zh-CN" sz="2000" dirty="0">
              <a:solidFill>
                <a:srgbClr val="0070C0"/>
              </a:solidFill>
              <a:uFillTx/>
              <a:latin typeface="+mn-ea"/>
              <a:ea typeface="+mn-ea"/>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en-US" sz="2000" dirty="0">
                <a:latin typeface="Times New Roman" panose="02020603050405020304" pitchFamily="18" charset="0"/>
                <a:ea typeface="黑体" panose="02010609060101010101" pitchFamily="49" charset="-122"/>
                <a:sym typeface="+mn-ea"/>
              </a:rPr>
              <a:t>        QR</a:t>
            </a:r>
            <a:r>
              <a:rPr lang="zh-CN" altLang="en-US" sz="2000" dirty="0">
                <a:latin typeface="Times New Roman" panose="02020603050405020304" pitchFamily="18" charset="0"/>
                <a:ea typeface="黑体" panose="02010609060101010101" pitchFamily="49" charset="-122"/>
                <a:sym typeface="+mn-ea"/>
              </a:rPr>
              <a:t>码中如果出现大面积的空白或者黑块，会导致扫描器识别困难。为了让</a:t>
            </a:r>
            <a:r>
              <a:rPr lang="en-US" altLang="zh-CN" sz="2000" dirty="0">
                <a:latin typeface="Times New Roman" panose="02020603050405020304" pitchFamily="18" charset="0"/>
                <a:ea typeface="黑体" panose="02010609060101010101" pitchFamily="49" charset="-122"/>
                <a:sym typeface="+mn-ea"/>
              </a:rPr>
              <a:t>QR</a:t>
            </a:r>
            <a:r>
              <a:rPr lang="zh-CN" altLang="en-US" sz="2000" dirty="0">
                <a:latin typeface="Times New Roman" panose="02020603050405020304" pitchFamily="18" charset="0"/>
                <a:ea typeface="黑体" panose="02010609060101010101" pitchFamily="49" charset="-122"/>
                <a:sym typeface="+mn-ea"/>
              </a:rPr>
              <a:t>图形看起来尽可能凌乱，且尽可能避免位置探测图形中的位图</a:t>
            </a:r>
            <a:r>
              <a:rPr lang="en-US" altLang="zh-CN" sz="2000" dirty="0">
                <a:latin typeface="Times New Roman" panose="02020603050405020304" pitchFamily="18" charset="0"/>
                <a:ea typeface="黑体" panose="02010609060101010101" pitchFamily="49" charset="-122"/>
                <a:sym typeface="+mn-ea"/>
              </a:rPr>
              <a:t>1011101</a:t>
            </a:r>
            <a:r>
              <a:rPr lang="zh-CN" altLang="en-US" sz="2000" dirty="0">
                <a:latin typeface="Times New Roman" panose="02020603050405020304" pitchFamily="18" charset="0"/>
                <a:ea typeface="黑体" panose="02010609060101010101" pitchFamily="49" charset="-122"/>
                <a:sym typeface="+mn-ea"/>
              </a:rPr>
              <a:t>的出现，需对</a:t>
            </a:r>
            <a:r>
              <a:rPr lang="en-US" altLang="zh-CN" sz="2000" dirty="0">
                <a:latin typeface="Times New Roman" panose="02020603050405020304" pitchFamily="18" charset="0"/>
                <a:ea typeface="黑体" panose="02010609060101010101" pitchFamily="49" charset="-122"/>
                <a:sym typeface="+mn-ea"/>
              </a:rPr>
              <a:t>QR</a:t>
            </a:r>
            <a:r>
              <a:rPr lang="zh-CN" altLang="en-US" sz="2000" dirty="0">
                <a:latin typeface="Times New Roman" panose="02020603050405020304" pitchFamily="18" charset="0"/>
                <a:ea typeface="黑体" panose="02010609060101010101" pitchFamily="49" charset="-122"/>
                <a:sym typeface="+mn-ea"/>
              </a:rPr>
              <a:t>图形进行掩模操作，步骤如下：</a:t>
            </a:r>
            <a:endParaRPr lang="en-US" altLang="zh-CN" sz="2000"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掩模</a:t>
            </a:r>
            <a:r>
              <a:rPr lang="zh-CN" altLang="en-US" sz="2000" dirty="0">
                <a:solidFill>
                  <a:srgbClr val="FF0000"/>
                </a:solidFill>
                <a:uFillTx/>
                <a:latin typeface="Times New Roman" panose="02020603050405020304" pitchFamily="18" charset="0"/>
                <a:ea typeface="黑体" panose="02010609060101010101" pitchFamily="49" charset="-122"/>
                <a:sym typeface="+mn-ea"/>
              </a:rPr>
              <a:t>不用于功能图形及格式图形</a:t>
            </a:r>
            <a:r>
              <a:rPr lang="zh-CN" altLang="en-US" sz="2000" dirty="0">
                <a:uFillTx/>
                <a:latin typeface="Times New Roman" panose="02020603050405020304" pitchFamily="18" charset="0"/>
                <a:ea typeface="黑体" panose="02010609060101010101" pitchFamily="49" charset="-122"/>
                <a:sym typeface="+mn-ea"/>
              </a:rPr>
              <a:t>，如寻像图形</a:t>
            </a:r>
            <a:r>
              <a:rPr lang="zh-CN" altLang="en-US" sz="2000" dirty="0">
                <a:latin typeface="Times New Roman" panose="02020603050405020304" pitchFamily="18" charset="0"/>
                <a:ea typeface="黑体" panose="02010609060101010101" pitchFamily="49" charset="-122"/>
                <a:sym typeface="+mn-ea"/>
              </a:rPr>
              <a:t>、定位图形、校正图形、位置探测图形分隔符、格式信息和版本信息；</a:t>
            </a:r>
            <a:endParaRPr lang="en-US" altLang="zh-CN" sz="2000" dirty="0">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数据码字与掩模图形进行</a:t>
            </a:r>
            <a:r>
              <a:rPr lang="zh-CN" altLang="en-US" sz="2000" dirty="0">
                <a:solidFill>
                  <a:srgbClr val="FF0000"/>
                </a:solidFill>
                <a:uFillTx/>
                <a:latin typeface="Times New Roman" panose="02020603050405020304" pitchFamily="18" charset="0"/>
                <a:ea typeface="黑体" panose="02010609060101010101" pitchFamily="49" charset="-122"/>
                <a:sym typeface="+mn-ea"/>
              </a:rPr>
              <a:t>异或操作</a:t>
            </a:r>
            <a:r>
              <a:rPr lang="zh-CN" altLang="en-US" sz="2000" dirty="0">
                <a:uFillTx/>
                <a:latin typeface="Times New Roman" panose="02020603050405020304" pitchFamily="18" charset="0"/>
                <a:ea typeface="黑体" panose="02010609060101010101" pitchFamily="49" charset="-122"/>
                <a:sym typeface="+mn-ea"/>
              </a:rPr>
              <a:t>后再进行绘制；</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对每个结果图形的</a:t>
            </a:r>
            <a:r>
              <a:rPr lang="zh-CN" altLang="en-US" sz="2000" dirty="0">
                <a:solidFill>
                  <a:srgbClr val="FF0000"/>
                </a:solidFill>
                <a:uFillTx/>
                <a:latin typeface="Times New Roman" panose="02020603050405020304" pitchFamily="18" charset="0"/>
                <a:ea typeface="黑体" panose="02010609060101010101" pitchFamily="49" charset="-122"/>
                <a:sym typeface="+mn-ea"/>
              </a:rPr>
              <a:t>不合要求的部分计分</a:t>
            </a:r>
            <a:r>
              <a:rPr lang="zh-CN" altLang="en-US" sz="2000" dirty="0">
                <a:uFillTx/>
                <a:latin typeface="Times New Roman" panose="02020603050405020304" pitchFamily="18" charset="0"/>
                <a:ea typeface="黑体" panose="02010609060101010101" pitchFamily="49" charset="-122"/>
                <a:sym typeface="+mn-ea"/>
              </a:rPr>
              <a:t>，以评估这个结果；</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选择得分最低的图形。</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掩模</a:t>
            </a:r>
            <a:endParaRPr lang="zh-CN" altLang="en-US" sz="2400" dirty="0">
              <a:sym typeface="+mn-ea"/>
            </a:endParaRPr>
          </a:p>
        </p:txBody>
      </p:sp>
      <p:sp>
        <p:nvSpPr>
          <p:cNvPr id="10" name="文本框 9"/>
          <p:cNvSpPr txBox="1"/>
          <p:nvPr/>
        </p:nvSpPr>
        <p:spPr>
          <a:xfrm>
            <a:off x="554355" y="927735"/>
            <a:ext cx="8223250" cy="224676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endParaRPr lang="en-US" sz="2000" dirty="0">
              <a:solidFill>
                <a:srgbClr val="0070C0"/>
              </a:solidFill>
              <a:uFillTx/>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表</a:t>
            </a:r>
            <a:r>
              <a:rPr lang="en-US" altLang="zh-CN" sz="2000" dirty="0">
                <a:latin typeface="Times New Roman" panose="02020603050405020304" pitchFamily="18" charset="0"/>
                <a:ea typeface="黑体" panose="02010609060101010101" pitchFamily="49" charset="-122"/>
                <a:sym typeface="+mn-ea"/>
              </a:rPr>
              <a:t>23</a:t>
            </a:r>
            <a:r>
              <a:rPr lang="zh-CN" altLang="en-US" sz="2000" dirty="0">
                <a:latin typeface="Times New Roman" panose="02020603050405020304" pitchFamily="18" charset="0"/>
                <a:ea typeface="黑体" panose="02010609060101010101" pitchFamily="49" charset="-122"/>
                <a:sym typeface="+mn-ea"/>
              </a:rPr>
              <a:t>给出了掩模图形的参考（放置于格式信息中的二进制参考）和掩模图形生成的条件。</a:t>
            </a:r>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a:t>
            </a:r>
            <a:r>
              <a:rPr lang="zh-CN" altLang="en-US" sz="2000" dirty="0">
                <a:uFillTx/>
                <a:latin typeface="Times New Roman" panose="02020603050405020304" pitchFamily="18" charset="0"/>
                <a:ea typeface="黑体" panose="02010609060101010101" pitchFamily="49" charset="-122"/>
                <a:sym typeface="+mn-ea"/>
              </a:rPr>
              <a:t>掩模图形是通过编码区域（不包括格式信息和版本信息）内那些条件为真的模块定义为深色而产生的。</a:t>
            </a:r>
            <a:r>
              <a:rPr lang="en-US" altLang="zh-CN" sz="2000" dirty="0">
                <a:uFillTx/>
                <a:latin typeface="Times New Roman" panose="02020603050405020304" pitchFamily="18" charset="0"/>
                <a:ea typeface="黑体" panose="02010609060101010101" pitchFamily="49" charset="-122"/>
                <a:sym typeface="+mn-ea"/>
              </a:rPr>
              <a:t>      </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a:t>
            </a:r>
            <a:r>
              <a:rPr lang="en-US" altLang="zh-CN" sz="2000" dirty="0" err="1">
                <a:latin typeface="Times New Roman" panose="02020603050405020304" pitchFamily="18" charset="0"/>
                <a:ea typeface="黑体" panose="02010609060101010101" pitchFamily="49" charset="-122"/>
                <a:sym typeface="+mn-ea"/>
              </a:rPr>
              <a:t>i</a:t>
            </a:r>
            <a:r>
              <a:rPr lang="zh-CN" altLang="en-US" sz="2000" dirty="0">
                <a:uFillTx/>
                <a:latin typeface="Times New Roman" panose="02020603050405020304" pitchFamily="18" charset="0"/>
                <a:ea typeface="黑体" panose="02010609060101010101" pitchFamily="49" charset="-122"/>
                <a:sym typeface="+mn-ea"/>
              </a:rPr>
              <a:t>代表模块的行的位置，</a:t>
            </a:r>
            <a:r>
              <a:rPr lang="en-US" altLang="zh-CN" sz="2000" dirty="0">
                <a:uFillTx/>
                <a:latin typeface="Times New Roman" panose="02020603050405020304" pitchFamily="18" charset="0"/>
                <a:ea typeface="黑体" panose="02010609060101010101" pitchFamily="49" charset="-122"/>
                <a:sym typeface="+mn-ea"/>
              </a:rPr>
              <a:t>j</a:t>
            </a:r>
            <a:r>
              <a:rPr lang="zh-CN" altLang="en-US" sz="2000" dirty="0">
                <a:uFillTx/>
                <a:latin typeface="Times New Roman" panose="02020603050405020304" pitchFamily="18" charset="0"/>
                <a:ea typeface="黑体" panose="02010609060101010101" pitchFamily="49" charset="-122"/>
                <a:sym typeface="+mn-ea"/>
              </a:rPr>
              <a:t>代表模块的列的位置，其中</a:t>
            </a:r>
            <a:r>
              <a:rPr lang="en-US" altLang="zh-CN" sz="2000" dirty="0" err="1">
                <a:uFillTx/>
                <a:latin typeface="Times New Roman" panose="02020603050405020304" pitchFamily="18" charset="0"/>
                <a:ea typeface="黑体" panose="02010609060101010101" pitchFamily="49" charset="-122"/>
                <a:sym typeface="+mn-ea"/>
              </a:rPr>
              <a:t>i</a:t>
            </a:r>
            <a:r>
              <a:rPr lang="zh-CN" altLang="en-US" sz="2000" dirty="0">
                <a:uFillTx/>
                <a:latin typeface="Times New Roman" panose="02020603050405020304" pitchFamily="18" charset="0"/>
                <a:ea typeface="黑体" panose="02010609060101010101" pitchFamily="49" charset="-122"/>
                <a:sym typeface="+mn-ea"/>
              </a:rPr>
              <a:t>和</a:t>
            </a:r>
            <a:r>
              <a:rPr lang="en-US" altLang="zh-CN" sz="2000" dirty="0">
                <a:uFillTx/>
                <a:latin typeface="Times New Roman" panose="02020603050405020304" pitchFamily="18" charset="0"/>
                <a:ea typeface="黑体" panose="02010609060101010101" pitchFamily="49" charset="-122"/>
                <a:sym typeface="+mn-ea"/>
              </a:rPr>
              <a:t>j</a:t>
            </a:r>
            <a:r>
              <a:rPr lang="zh-CN" altLang="en-US" sz="2000" dirty="0">
                <a:uFillTx/>
                <a:latin typeface="Times New Roman" panose="02020603050405020304" pitchFamily="18" charset="0"/>
                <a:ea typeface="黑体" panose="02010609060101010101" pitchFamily="49" charset="-122"/>
                <a:sym typeface="+mn-ea"/>
              </a:rPr>
              <a:t>均从</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开始。</a:t>
            </a:r>
            <a:endParaRPr sz="2000" dirty="0">
              <a:solidFill>
                <a:srgbClr val="0070C0"/>
              </a:solidFill>
              <a:uFillTx/>
              <a:latin typeface="Times New Roman" panose="02020603050405020304" pitchFamily="18" charset="0"/>
              <a:ea typeface="黑体" panose="02010609060101010101" pitchFamily="49" charset="-122"/>
              <a:sym typeface="+mn-ea"/>
            </a:endParaRPr>
          </a:p>
        </p:txBody>
      </p:sp>
      <p:pic>
        <p:nvPicPr>
          <p:cNvPr id="4098" name="Picture 2" descr="在这里插入图片描述"/>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66" y="3383318"/>
            <a:ext cx="5171565" cy="3169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5880" y="104775"/>
            <a:ext cx="6356985" cy="685800"/>
          </a:xfrm>
        </p:spPr>
        <p:txBody>
          <a:bodyPr/>
          <a:lstStyle/>
          <a:p>
            <a:r>
              <a:rPr lang="zh-CN" altLang="en-US" sz="2400" dirty="0">
                <a:sym typeface="+mn-ea"/>
              </a:rPr>
              <a:t>掩模</a:t>
            </a:r>
            <a:endParaRPr lang="en-US" altLang="zh-CN" sz="2400" dirty="0">
              <a:sym typeface="+mn-ea"/>
            </a:endParaRPr>
          </a:p>
        </p:txBody>
      </p:sp>
      <p:sp>
        <p:nvSpPr>
          <p:cNvPr id="10" name="文本框 9"/>
          <p:cNvSpPr txBox="1"/>
          <p:nvPr/>
        </p:nvSpPr>
        <p:spPr>
          <a:xfrm>
            <a:off x="475615" y="1003300"/>
            <a:ext cx="8284210" cy="163121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掩模</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下图为版本</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uFillTx/>
                <a:latin typeface="Times New Roman" panose="02020603050405020304" pitchFamily="18" charset="0"/>
                <a:ea typeface="黑体" panose="02010609060101010101" pitchFamily="49" charset="-122"/>
                <a:sym typeface="+mn-ea"/>
              </a:rPr>
              <a:t>符号的所有掩模图形。</a:t>
            </a:r>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分别模拟了用掩模图形参考</a:t>
            </a:r>
            <a:r>
              <a:rPr lang="en-US" altLang="zh-CN" sz="2000" dirty="0">
                <a:latin typeface="Times New Roman" panose="02020603050405020304" pitchFamily="18" charset="0"/>
                <a:ea typeface="黑体" panose="02010609060101010101" pitchFamily="49" charset="-122"/>
                <a:sym typeface="+mn-ea"/>
              </a:rPr>
              <a:t>000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001</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010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011</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100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101</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110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111</a:t>
            </a:r>
            <a:r>
              <a:rPr lang="zh-CN" altLang="en-US" sz="2000" dirty="0">
                <a:latin typeface="Times New Roman" panose="02020603050405020304" pitchFamily="18" charset="0"/>
                <a:ea typeface="黑体" panose="02010609060101010101" pitchFamily="49" charset="-122"/>
                <a:sym typeface="+mn-ea"/>
              </a:rPr>
              <a:t>的掩模结果。</a:t>
            </a:r>
            <a:endParaRPr sz="2000" dirty="0">
              <a:uFillTx/>
              <a:latin typeface="Times New Roman" panose="02020603050405020304" pitchFamily="18" charset="0"/>
              <a:ea typeface="黑体" panose="02010609060101010101" pitchFamily="49" charset="-122"/>
              <a:sym typeface="+mn-ea"/>
            </a:endParaRPr>
          </a:p>
        </p:txBody>
      </p:sp>
      <p:pic>
        <p:nvPicPr>
          <p:cNvPr id="5122" name="Picture 2" descr="图4：8种掩模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92197" y="2971812"/>
            <a:ext cx="7159606" cy="32765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掩模</a:t>
            </a:r>
            <a:endParaRPr lang="zh-CN" altLang="en-US" sz="2400" dirty="0">
              <a:sym typeface="+mn-ea"/>
            </a:endParaRPr>
          </a:p>
        </p:txBody>
      </p:sp>
      <p:sp>
        <p:nvSpPr>
          <p:cNvPr id="10" name="文本框 9"/>
          <p:cNvSpPr txBox="1"/>
          <p:nvPr/>
        </p:nvSpPr>
        <p:spPr>
          <a:xfrm>
            <a:off x="554525" y="1013632"/>
            <a:ext cx="8205470" cy="132343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algn="l"/>
            <a:endParaRPr lang="en-US" sz="2000" dirty="0">
              <a:uFillTx/>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掩模数据是将左图的橙色区域的数据信息分别与右图的</a:t>
            </a:r>
            <a:r>
              <a:rPr lang="en-US" altLang="zh-CN" sz="2000" dirty="0">
                <a:latin typeface="Times New Roman" panose="02020603050405020304" pitchFamily="18" charset="0"/>
                <a:ea typeface="黑体" panose="02010609060101010101" pitchFamily="49" charset="-122"/>
                <a:sym typeface="+mn-ea"/>
              </a:rPr>
              <a:t>8</a:t>
            </a:r>
            <a:r>
              <a:rPr lang="zh-CN" altLang="en-US" sz="2000" dirty="0">
                <a:latin typeface="Times New Roman" panose="02020603050405020304" pitchFamily="18" charset="0"/>
                <a:ea typeface="黑体" panose="02010609060101010101" pitchFamily="49" charset="-122"/>
                <a:sym typeface="+mn-ea"/>
              </a:rPr>
              <a:t>种情况下的紫色部分进行异或操作得到的，掩模的最终结果在下页显示。</a:t>
            </a:r>
            <a:endParaRPr sz="2000" dirty="0">
              <a:uFillTx/>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101" t="4418" r="41596"/>
          <a:stretch>
            <a:fillRect/>
          </a:stretch>
        </p:blipFill>
        <p:spPr bwMode="auto">
          <a:xfrm>
            <a:off x="152516" y="3124208"/>
            <a:ext cx="3246989" cy="33242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4600" y="3634429"/>
            <a:ext cx="5085395" cy="232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掩模</a:t>
            </a:r>
            <a:endParaRPr lang="zh-CN" altLang="en-US" sz="2400" dirty="0">
              <a:sym typeface="+mn-ea"/>
            </a:endParaRPr>
          </a:p>
        </p:txBody>
      </p:sp>
      <p:sp>
        <p:nvSpPr>
          <p:cNvPr id="10" name="文本框 9"/>
          <p:cNvSpPr txBox="1"/>
          <p:nvPr/>
        </p:nvSpPr>
        <p:spPr>
          <a:xfrm>
            <a:off x="554355" y="1003300"/>
            <a:ext cx="8205470" cy="132343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掩模</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下图的粉色区域分别为掩模为</a:t>
            </a:r>
            <a:r>
              <a:rPr lang="en-US" altLang="zh-CN" sz="2000" dirty="0">
                <a:uFillTx/>
                <a:latin typeface="Times New Roman" panose="02020603050405020304" pitchFamily="18" charset="0"/>
                <a:ea typeface="黑体" panose="02010609060101010101" pitchFamily="49" charset="-122"/>
                <a:sym typeface="+mn-ea"/>
              </a:rPr>
              <a:t>000</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001</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010</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011</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100</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101</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110</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111</a:t>
            </a:r>
            <a:r>
              <a:rPr lang="zh-CN" altLang="en-US" sz="2000" dirty="0">
                <a:uFillTx/>
                <a:latin typeface="Times New Roman" panose="02020603050405020304" pitchFamily="18" charset="0"/>
                <a:ea typeface="黑体" panose="02010609060101010101" pitchFamily="49" charset="-122"/>
                <a:sym typeface="+mn-ea"/>
              </a:rPr>
              <a:t>得到的最终结果。</a:t>
            </a:r>
            <a:endParaRPr sz="2000" dirty="0">
              <a:uFillTx/>
              <a:latin typeface="Times New Roman" panose="02020603050405020304" pitchFamily="18" charset="0"/>
              <a:ea typeface="黑体" panose="02010609060101010101" pitchFamily="49" charset="-122"/>
              <a:sym typeface="+mn-ea"/>
            </a:endParaRPr>
          </a:p>
        </p:txBody>
      </p:sp>
      <p:pic>
        <p:nvPicPr>
          <p:cNvPr id="6146"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34947" b="3601"/>
          <a:stretch>
            <a:fillRect/>
          </a:stretch>
        </p:blipFill>
        <p:spPr bwMode="auto">
          <a:xfrm>
            <a:off x="373792" y="2629750"/>
            <a:ext cx="1823462" cy="183844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6" t="1363" r="35113" b="3765"/>
          <a:stretch>
            <a:fillRect/>
          </a:stretch>
        </p:blipFill>
        <p:spPr bwMode="auto">
          <a:xfrm>
            <a:off x="2448303" y="2629750"/>
            <a:ext cx="1864712" cy="183844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34947" b="2708"/>
          <a:stretch>
            <a:fillRect/>
          </a:stretch>
        </p:blipFill>
        <p:spPr bwMode="auto">
          <a:xfrm>
            <a:off x="4554946" y="2654367"/>
            <a:ext cx="1819878" cy="184380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451" t="-1427" r="33329" b="2677"/>
          <a:stretch>
            <a:fillRect/>
          </a:stretch>
        </p:blipFill>
        <p:spPr bwMode="auto">
          <a:xfrm>
            <a:off x="6616754" y="2668821"/>
            <a:ext cx="1854475" cy="1799372"/>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掩模：100"/>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34357" b="2911"/>
          <a:stretch>
            <a:fillRect/>
          </a:stretch>
        </p:blipFill>
        <p:spPr bwMode="auto">
          <a:xfrm>
            <a:off x="373792" y="4724366"/>
            <a:ext cx="1823462" cy="1833609"/>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掩模101"/>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 r="34122" b="2884"/>
          <a:stretch>
            <a:fillRect/>
          </a:stretch>
        </p:blipFill>
        <p:spPr bwMode="auto">
          <a:xfrm>
            <a:off x="2464369" y="4724366"/>
            <a:ext cx="1823462" cy="1834530"/>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掩模：110"/>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33940" b="3928"/>
          <a:stretch>
            <a:fillRect/>
          </a:stretch>
        </p:blipFill>
        <p:spPr bwMode="auto">
          <a:xfrm>
            <a:off x="4554946" y="4741484"/>
            <a:ext cx="1819879" cy="1799372"/>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掩模：111"/>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4461" b="3885"/>
          <a:stretch>
            <a:fillRect/>
          </a:stretch>
        </p:blipFill>
        <p:spPr bwMode="auto">
          <a:xfrm>
            <a:off x="6641940" y="4758603"/>
            <a:ext cx="1802416" cy="17993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endParaRPr lang="zh-CN" altLang="en-US" sz="2400" dirty="0">
              <a:sym typeface="+mn-ea"/>
            </a:endParaRPr>
          </a:p>
        </p:txBody>
      </p:sp>
      <p:sp>
        <p:nvSpPr>
          <p:cNvPr id="10" name="文本框 9"/>
          <p:cNvSpPr txBox="1"/>
          <p:nvPr/>
        </p:nvSpPr>
        <p:spPr>
          <a:xfrm>
            <a:off x="554355" y="1003300"/>
            <a:ext cx="8205470" cy="286232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a:t>
            </a:r>
            <a:r>
              <a:rPr lang="zh-CN" altLang="en-US" sz="2000" dirty="0">
                <a:solidFill>
                  <a:srgbClr val="0070C0"/>
                </a:solidFill>
                <a:uFillTx/>
                <a:latin typeface="Times New Roman" panose="02020603050405020304" pitchFamily="18" charset="0"/>
                <a:ea typeface="黑体" panose="02010609060101010101" pitchFamily="49" charset="-122"/>
                <a:sym typeface="+mn-ea"/>
              </a:rPr>
              <a:t>和版本信息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uFillTx/>
                <a:latin typeface="Times New Roman" panose="02020603050405020304" pitchFamily="18" charset="0"/>
                <a:ea typeface="黑体" panose="02010609060101010101" pitchFamily="49" charset="-122"/>
                <a:sym typeface="+mn-ea"/>
              </a:rPr>
              <a:t>计算出纠错码和格式信息</a:t>
            </a:r>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根据表</a:t>
            </a:r>
            <a:r>
              <a:rPr lang="en-US" altLang="zh-CN" sz="2000" dirty="0">
                <a:uFillTx/>
                <a:latin typeface="Times New Roman" panose="02020603050405020304" pitchFamily="18" charset="0"/>
                <a:ea typeface="黑体" panose="02010609060101010101" pitchFamily="49" charset="-122"/>
                <a:sym typeface="+mn-ea"/>
              </a:rPr>
              <a:t>25</a:t>
            </a:r>
            <a:r>
              <a:rPr lang="zh-CN" altLang="en-US" sz="2000" dirty="0">
                <a:uFillTx/>
                <a:latin typeface="Times New Roman" panose="02020603050405020304" pitchFamily="18" charset="0"/>
                <a:ea typeface="黑体" panose="02010609060101010101" pitchFamily="49" charset="-122"/>
                <a:sym typeface="+mn-ea"/>
              </a:rPr>
              <a:t>，可以得到</a:t>
            </a:r>
            <a:r>
              <a:rPr lang="zh-CN" altLang="en-US" sz="2000" dirty="0">
                <a:latin typeface="Times New Roman" panose="02020603050405020304" pitchFamily="18" charset="0"/>
                <a:ea typeface="黑体" panose="02010609060101010101" pitchFamily="49" charset="-122"/>
                <a:sym typeface="+mn-ea"/>
              </a:rPr>
              <a:t>纠错等级</a:t>
            </a:r>
            <a:r>
              <a:rPr lang="en-US" altLang="zh-CN" sz="2000" dirty="0">
                <a:latin typeface="Times New Roman" panose="02020603050405020304" pitchFamily="18" charset="0"/>
                <a:ea typeface="黑体" panose="02010609060101010101" pitchFamily="49" charset="-122"/>
                <a:sym typeface="+mn-ea"/>
              </a:rPr>
              <a:t>H</a:t>
            </a:r>
            <a:r>
              <a:rPr lang="zh-CN" altLang="en-US" sz="2000" dirty="0">
                <a:latin typeface="Times New Roman" panose="02020603050405020304" pitchFamily="18" charset="0"/>
                <a:ea typeface="黑体" panose="02010609060101010101" pitchFamily="49" charset="-122"/>
                <a:sym typeface="+mn-ea"/>
              </a:rPr>
              <a:t>的二进制指示符为</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假设使用的掩模图形参考为</a:t>
            </a:r>
            <a:r>
              <a:rPr lang="en-US" altLang="zh-CN" sz="2000" dirty="0">
                <a:latin typeface="Times New Roman" panose="02020603050405020304" pitchFamily="18" charset="0"/>
                <a:ea typeface="黑体" panose="02010609060101010101" pitchFamily="49" charset="-122"/>
                <a:sym typeface="+mn-ea"/>
              </a:rPr>
              <a:t>011</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lvl="1"/>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将</a:t>
            </a:r>
            <a:r>
              <a:rPr lang="en-US" altLang="zh-CN" sz="2000" dirty="0">
                <a:solidFill>
                  <a:srgbClr val="FF0000"/>
                </a:solidFill>
                <a:latin typeface="Times New Roman" panose="02020603050405020304" pitchFamily="18" charset="0"/>
                <a:ea typeface="黑体" panose="02010609060101010101" pitchFamily="49" charset="-122"/>
                <a:sym typeface="+mn-ea"/>
              </a:rPr>
              <a:t>2</a:t>
            </a:r>
            <a:r>
              <a:rPr lang="zh-CN" altLang="en-US" sz="2000" dirty="0">
                <a:solidFill>
                  <a:srgbClr val="FF0000"/>
                </a:solidFill>
                <a:latin typeface="Times New Roman" panose="02020603050405020304" pitchFamily="18" charset="0"/>
                <a:ea typeface="黑体" panose="02010609060101010101" pitchFamily="49" charset="-122"/>
                <a:sym typeface="+mn-ea"/>
              </a:rPr>
              <a:t>位纠错指示符</a:t>
            </a:r>
            <a:r>
              <a:rPr lang="zh-CN" altLang="en-US" sz="2000" dirty="0">
                <a:latin typeface="Times New Roman" panose="02020603050405020304" pitchFamily="18" charset="0"/>
                <a:ea typeface="黑体" panose="02010609060101010101" pitchFamily="49" charset="-122"/>
                <a:sym typeface="+mn-ea"/>
              </a:rPr>
              <a:t>和</a:t>
            </a:r>
            <a:r>
              <a:rPr lang="en-US" altLang="zh-CN" sz="2000" dirty="0">
                <a:latin typeface="Times New Roman" panose="02020603050405020304" pitchFamily="18" charset="0"/>
                <a:ea typeface="黑体" panose="02010609060101010101" pitchFamily="49" charset="-122"/>
                <a:sym typeface="+mn-ea"/>
              </a:rPr>
              <a:t>3</a:t>
            </a:r>
            <a:r>
              <a:rPr lang="zh-CN" altLang="en-US" sz="2000" dirty="0">
                <a:solidFill>
                  <a:srgbClr val="FF0000"/>
                </a:solidFill>
                <a:latin typeface="Times New Roman" panose="02020603050405020304" pitchFamily="18" charset="0"/>
                <a:ea typeface="黑体" panose="02010609060101010101" pitchFamily="49" charset="-122"/>
                <a:sym typeface="+mn-ea"/>
              </a:rPr>
              <a:t>位掩模图形参考</a:t>
            </a:r>
            <a:r>
              <a:rPr lang="zh-CN" altLang="en-US" sz="2000" dirty="0">
                <a:latin typeface="Times New Roman" panose="02020603050405020304" pitchFamily="18" charset="0"/>
                <a:ea typeface="黑体" panose="02010609060101010101" pitchFamily="49" charset="-122"/>
                <a:sym typeface="+mn-ea"/>
              </a:rPr>
              <a:t>连接在一起，得到</a:t>
            </a:r>
            <a:r>
              <a:rPr lang="en-US" altLang="zh-CN" sz="2000" dirty="0">
                <a:solidFill>
                  <a:srgbClr val="FF0000"/>
                </a:solidFill>
                <a:latin typeface="Times New Roman" panose="02020603050405020304" pitchFamily="18" charset="0"/>
                <a:ea typeface="黑体" panose="02010609060101010101" pitchFamily="49" charset="-122"/>
                <a:sym typeface="+mn-ea"/>
              </a:rPr>
              <a:t>5</a:t>
            </a:r>
            <a:r>
              <a:rPr lang="zh-CN" altLang="en-US" sz="2000" dirty="0">
                <a:solidFill>
                  <a:srgbClr val="FF0000"/>
                </a:solidFill>
                <a:latin typeface="Times New Roman" panose="02020603050405020304" pitchFamily="18" charset="0"/>
                <a:ea typeface="黑体" panose="02010609060101010101" pitchFamily="49" charset="-122"/>
                <a:sym typeface="+mn-ea"/>
              </a:rPr>
              <a:t>位的数据码</a:t>
            </a:r>
            <a:r>
              <a:rPr lang="zh-CN" altLang="en-US" sz="2000" dirty="0">
                <a:latin typeface="Times New Roman" panose="02020603050405020304" pitchFamily="18" charset="0"/>
                <a:ea typeface="黑体" panose="02010609060101010101" pitchFamily="49" charset="-122"/>
                <a:sym typeface="+mn-ea"/>
              </a:rPr>
              <a:t>，并使用</a:t>
            </a:r>
            <a:r>
              <a:rPr lang="en-US" altLang="zh-CN" sz="2000" dirty="0">
                <a:solidFill>
                  <a:srgbClr val="FF0000"/>
                </a:solidFill>
                <a:latin typeface="Times New Roman" panose="02020603050405020304" pitchFamily="18" charset="0"/>
                <a:ea typeface="黑体" panose="02010609060101010101" pitchFamily="49" charset="-122"/>
                <a:sym typeface="+mn-ea"/>
              </a:rPr>
              <a:t>BCH(15,5)</a:t>
            </a:r>
            <a:r>
              <a:rPr lang="zh-CN" altLang="en-US" sz="2000" dirty="0">
                <a:latin typeface="Times New Roman" panose="02020603050405020304" pitchFamily="18" charset="0"/>
                <a:ea typeface="黑体" panose="02010609060101010101" pitchFamily="49" charset="-122"/>
                <a:sym typeface="+mn-ea"/>
              </a:rPr>
              <a:t>编码计算得到</a:t>
            </a:r>
            <a:r>
              <a:rPr lang="zh-CN" altLang="en-US" sz="2000" dirty="0">
                <a:solidFill>
                  <a:srgbClr val="FF0000"/>
                </a:solidFill>
                <a:latin typeface="Times New Roman" panose="02020603050405020304" pitchFamily="18" charset="0"/>
                <a:ea typeface="黑体" panose="02010609060101010101" pitchFamily="49" charset="-122"/>
                <a:sym typeface="+mn-ea"/>
              </a:rPr>
              <a:t>纠错码</a:t>
            </a:r>
            <a:r>
              <a:rPr lang="zh-CN" altLang="en-US" sz="2000" dirty="0">
                <a:latin typeface="Times New Roman" panose="02020603050405020304" pitchFamily="18" charset="0"/>
                <a:ea typeface="黑体" panose="02010609060101010101" pitchFamily="49" charset="-122"/>
                <a:sym typeface="+mn-ea"/>
              </a:rPr>
              <a:t>。其中，</a:t>
            </a:r>
            <a:r>
              <a:rPr lang="en-US" altLang="zh-CN" sz="2000" dirty="0">
                <a:latin typeface="Times New Roman" panose="02020603050405020304" pitchFamily="18" charset="0"/>
                <a:ea typeface="黑体" panose="02010609060101010101" pitchFamily="49" charset="-122"/>
                <a:sym typeface="+mn-ea"/>
              </a:rPr>
              <a:t>BCH(15,5)</a:t>
            </a:r>
            <a:r>
              <a:rPr lang="zh-CN" altLang="en-US" sz="2000" dirty="0">
                <a:latin typeface="Times New Roman" panose="02020603050405020304" pitchFamily="18" charset="0"/>
                <a:ea typeface="黑体" panose="02010609060101010101" pitchFamily="49" charset="-122"/>
                <a:sym typeface="+mn-ea"/>
              </a:rPr>
              <a:t>表示</a:t>
            </a:r>
            <a:r>
              <a:rPr lang="en-US" altLang="zh-CN" sz="2000" dirty="0">
                <a:latin typeface="Times New Roman" panose="02020603050405020304" pitchFamily="18" charset="0"/>
                <a:ea typeface="黑体" panose="02010609060101010101" pitchFamily="49" charset="-122"/>
                <a:sym typeface="+mn-ea"/>
              </a:rPr>
              <a:t>BCH</a:t>
            </a:r>
            <a:r>
              <a:rPr lang="zh-CN" altLang="en-US" sz="2000" dirty="0">
                <a:latin typeface="Times New Roman" panose="02020603050405020304" pitchFamily="18" charset="0"/>
                <a:ea typeface="黑体" panose="02010609060101010101" pitchFamily="49" charset="-122"/>
                <a:sym typeface="+mn-ea"/>
              </a:rPr>
              <a:t>码的总长度为</a:t>
            </a:r>
            <a:r>
              <a:rPr lang="en-US" altLang="zh-CN" sz="2000" dirty="0">
                <a:latin typeface="Times New Roman" panose="02020603050405020304" pitchFamily="18" charset="0"/>
                <a:ea typeface="黑体" panose="02010609060101010101" pitchFamily="49" charset="-122"/>
                <a:sym typeface="+mn-ea"/>
              </a:rPr>
              <a:t>15</a:t>
            </a:r>
            <a:r>
              <a:rPr lang="zh-CN" altLang="en-US" sz="2000" dirty="0">
                <a:latin typeface="Times New Roman" panose="02020603050405020304" pitchFamily="18" charset="0"/>
                <a:ea typeface="黑体" panose="02010609060101010101" pitchFamily="49" charset="-122"/>
                <a:sym typeface="+mn-ea"/>
              </a:rPr>
              <a:t>，数据码为</a:t>
            </a:r>
            <a:r>
              <a:rPr lang="en-US" altLang="zh-CN" sz="2000" dirty="0">
                <a:latin typeface="Times New Roman" panose="02020603050405020304" pitchFamily="18" charset="0"/>
                <a:ea typeface="黑体" panose="02010609060101010101" pitchFamily="49" charset="-122"/>
                <a:sym typeface="+mn-ea"/>
              </a:rPr>
              <a:t>5</a:t>
            </a:r>
            <a:r>
              <a:rPr lang="zh-CN" altLang="en-US" sz="2000" dirty="0">
                <a:latin typeface="Times New Roman" panose="02020603050405020304" pitchFamily="18" charset="0"/>
                <a:ea typeface="黑体" panose="02010609060101010101" pitchFamily="49" charset="-122"/>
                <a:sym typeface="+mn-ea"/>
              </a:rPr>
              <a:t>位，纠错码为</a:t>
            </a:r>
            <a:r>
              <a:rPr lang="en-US" altLang="zh-CN" sz="2000" dirty="0">
                <a:latin typeface="Times New Roman" panose="02020603050405020304" pitchFamily="18" charset="0"/>
                <a:ea typeface="黑体" panose="02010609060101010101" pitchFamily="49" charset="-122"/>
                <a:sym typeface="+mn-ea"/>
              </a:rPr>
              <a:t>10</a:t>
            </a:r>
            <a:r>
              <a:rPr lang="zh-CN" altLang="en-US" sz="2000" dirty="0">
                <a:latin typeface="Times New Roman" panose="02020603050405020304" pitchFamily="18" charset="0"/>
                <a:ea typeface="黑体" panose="02010609060101010101" pitchFamily="49" charset="-122"/>
                <a:sym typeface="+mn-ea"/>
              </a:rPr>
              <a:t>位。</a:t>
            </a:r>
            <a:endParaRPr lang="en-US" altLang="zh-CN" sz="2000" dirty="0">
              <a:latin typeface="Times New Roman" panose="02020603050405020304" pitchFamily="18" charset="0"/>
              <a:ea typeface="黑体" panose="02010609060101010101" pitchFamily="49" charset="-122"/>
              <a:sym typeface="+mn-ea"/>
            </a:endParaRPr>
          </a:p>
        </p:txBody>
      </p:sp>
      <p:pic>
        <p:nvPicPr>
          <p:cNvPr id="8194" name="Picture 2" descr="表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70607" y="4285884"/>
            <a:ext cx="3802785" cy="1982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endParaRPr lang="zh-CN" altLang="en-US" sz="2400" dirty="0">
              <a:sym typeface="+mn-ea"/>
            </a:endParaRPr>
          </a:p>
        </p:txBody>
      </p:sp>
      <p:sp>
        <p:nvSpPr>
          <p:cNvPr id="10" name="文本框 9"/>
          <p:cNvSpPr txBox="1"/>
          <p:nvPr/>
        </p:nvSpPr>
        <p:spPr>
          <a:xfrm>
            <a:off x="554355" y="1003300"/>
            <a:ext cx="8205470" cy="532453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sz="2000" dirty="0">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计算出纠错码与格式信息</a:t>
            </a:r>
            <a:endParaRPr lang="en-US"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连接</a:t>
            </a:r>
            <a:r>
              <a:rPr lang="en-US" sz="2000" dirty="0">
                <a:solidFill>
                  <a:srgbClr val="FF0000"/>
                </a:solidFill>
                <a:uFillTx/>
                <a:latin typeface="Times New Roman" panose="02020603050405020304" pitchFamily="18" charset="0"/>
                <a:ea typeface="黑体" panose="02010609060101010101" pitchFamily="49" charset="-122"/>
                <a:sym typeface="+mn-ea"/>
              </a:rPr>
              <a:t>2</a:t>
            </a:r>
            <a:r>
              <a:rPr lang="zh-CN" altLang="en-US" sz="2000" dirty="0">
                <a:solidFill>
                  <a:srgbClr val="FF0000"/>
                </a:solidFill>
                <a:uFillTx/>
                <a:latin typeface="Times New Roman" panose="02020603050405020304" pitchFamily="18" charset="0"/>
                <a:ea typeface="黑体" panose="02010609060101010101" pitchFamily="49" charset="-122"/>
                <a:sym typeface="+mn-ea"/>
              </a:rPr>
              <a:t>位纠错指示符 </a:t>
            </a:r>
            <a:r>
              <a:rPr lang="en-US" altLang="zh-CN" sz="2000" dirty="0">
                <a:solidFill>
                  <a:srgbClr val="FF0000"/>
                </a:solidFill>
                <a:uFillTx/>
                <a:latin typeface="Times New Roman" panose="02020603050405020304" pitchFamily="18" charset="0"/>
                <a:ea typeface="黑体" panose="02010609060101010101" pitchFamily="49" charset="-122"/>
                <a:sym typeface="+mn-ea"/>
              </a:rPr>
              <a:t>+ 3</a:t>
            </a:r>
            <a:r>
              <a:rPr lang="zh-CN" altLang="en-US" sz="2000" dirty="0">
                <a:solidFill>
                  <a:srgbClr val="FF0000"/>
                </a:solidFill>
                <a:uFillTx/>
                <a:latin typeface="Times New Roman" panose="02020603050405020304" pitchFamily="18" charset="0"/>
                <a:ea typeface="黑体" panose="02010609060101010101" pitchFamily="49" charset="-122"/>
                <a:sym typeface="+mn-ea"/>
              </a:rPr>
              <a:t>位掩模图形参考</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10 + 011</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由于</a:t>
            </a:r>
            <a:r>
              <a:rPr lang="en-US" altLang="zh-CN" sz="2000" dirty="0">
                <a:latin typeface="Times New Roman" panose="02020603050405020304" pitchFamily="18" charset="0"/>
                <a:ea typeface="黑体" panose="02010609060101010101" pitchFamily="49" charset="-122"/>
                <a:sym typeface="+mn-ea"/>
              </a:rPr>
              <a:t>BCH</a:t>
            </a:r>
            <a:r>
              <a:rPr lang="zh-CN" altLang="en-US" sz="2000" dirty="0">
                <a:latin typeface="Times New Roman" panose="02020603050405020304" pitchFamily="18" charset="0"/>
                <a:ea typeface="黑体" panose="02010609060101010101" pitchFamily="49" charset="-122"/>
                <a:sym typeface="+mn-ea"/>
              </a:rPr>
              <a:t>码总长度为</a:t>
            </a:r>
            <a:r>
              <a:rPr lang="en-US" altLang="zh-CN" sz="2000" dirty="0">
                <a:latin typeface="Times New Roman" panose="02020603050405020304" pitchFamily="18" charset="0"/>
                <a:ea typeface="黑体" panose="02010609060101010101" pitchFamily="49" charset="-122"/>
                <a:sym typeface="+mn-ea"/>
              </a:rPr>
              <a:t>15</a:t>
            </a:r>
            <a:r>
              <a:rPr lang="zh-CN" altLang="en-US" sz="2000" dirty="0">
                <a:latin typeface="Times New Roman" panose="02020603050405020304" pitchFamily="18" charset="0"/>
                <a:ea typeface="黑体" panose="02010609060101010101" pitchFamily="49" charset="-122"/>
                <a:sym typeface="+mn-ea"/>
              </a:rPr>
              <a:t>，因此需要将</a:t>
            </a:r>
            <a:r>
              <a:rPr lang="en-US" altLang="zh-CN" sz="2000" dirty="0">
                <a:latin typeface="Times New Roman" panose="02020603050405020304" pitchFamily="18" charset="0"/>
                <a:ea typeface="黑体" panose="02010609060101010101" pitchFamily="49" charset="-122"/>
                <a:sym typeface="+mn-ea"/>
              </a:rPr>
              <a:t>10011</a:t>
            </a:r>
            <a:r>
              <a:rPr lang="zh-CN" altLang="en-US" sz="2000" dirty="0">
                <a:latin typeface="Times New Roman" panose="02020603050405020304" pitchFamily="18" charset="0"/>
                <a:ea typeface="黑体" panose="02010609060101010101" pitchFamily="49" charset="-122"/>
                <a:sym typeface="+mn-ea"/>
              </a:rPr>
              <a:t>凑够</a:t>
            </a:r>
            <a:r>
              <a:rPr lang="en-US" altLang="zh-CN" sz="2000" dirty="0">
                <a:latin typeface="Times New Roman" panose="02020603050405020304" pitchFamily="18" charset="0"/>
                <a:ea typeface="黑体" panose="02010609060101010101" pitchFamily="49" charset="-122"/>
                <a:sym typeface="+mn-ea"/>
              </a:rPr>
              <a:t>15</a:t>
            </a:r>
            <a:r>
              <a:rPr lang="zh-CN" altLang="en-US" sz="2000" dirty="0">
                <a:latin typeface="Times New Roman" panose="02020603050405020304" pitchFamily="18" charset="0"/>
                <a:ea typeface="黑体" panose="02010609060101010101" pitchFamily="49" charset="-122"/>
                <a:sym typeface="+mn-ea"/>
              </a:rPr>
              <a:t>位，在数据后方补</a:t>
            </a:r>
            <a:r>
              <a:rPr lang="en-US" altLang="zh-CN" sz="2000" dirty="0">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a:t>
            </a:r>
            <a:r>
              <a:rPr lang="en-US" sz="2000" dirty="0">
                <a:uFillTx/>
                <a:latin typeface="Times New Roman" panose="02020603050405020304" pitchFamily="18" charset="0"/>
                <a:ea typeface="黑体" panose="02010609060101010101" pitchFamily="49" charset="-122"/>
                <a:sym typeface="+mn-ea"/>
              </a:rPr>
              <a:t>100110000000000</a:t>
            </a:r>
            <a:endParaRPr lang="en-US"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uFillTx/>
                <a:latin typeface="Times New Roman" panose="02020603050405020304" pitchFamily="18" charset="0"/>
                <a:ea typeface="黑体" panose="02010609060101010101" pitchFamily="49" charset="-122"/>
                <a:sym typeface="+mn-ea"/>
              </a:rPr>
              <a:t>计算</a:t>
            </a:r>
            <a:r>
              <a:rPr lang="zh-CN" altLang="en-US" sz="2000" dirty="0">
                <a:solidFill>
                  <a:srgbClr val="FF0000"/>
                </a:solidFill>
                <a:uFillTx/>
                <a:latin typeface="Times New Roman" panose="02020603050405020304" pitchFamily="18" charset="0"/>
                <a:ea typeface="黑体" panose="02010609060101010101" pitchFamily="49" charset="-122"/>
                <a:sym typeface="+mn-ea"/>
              </a:rPr>
              <a:t>纠错码</a:t>
            </a:r>
            <a:r>
              <a:rPr lang="zh-CN" altLang="en-US" sz="2000" dirty="0">
                <a:latin typeface="Times New Roman" panose="02020603050405020304" pitchFamily="18" charset="0"/>
                <a:ea typeface="黑体" panose="02010609060101010101" pitchFamily="49" charset="-122"/>
                <a:sym typeface="+mn-ea"/>
              </a:rPr>
              <a:t>，纠错码为数据码除以生成码所得的余数，因此：</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uFillTx/>
                <a:latin typeface="Times New Roman" panose="02020603050405020304" pitchFamily="18" charset="0"/>
                <a:ea typeface="黑体" panose="02010609060101010101" pitchFamily="49" charset="-122"/>
                <a:sym typeface="+mn-ea"/>
              </a:rPr>
              <a:t>假设</a:t>
            </a:r>
            <a:r>
              <a:rPr lang="en-US" altLang="zh-CN" sz="2000" dirty="0">
                <a:latin typeface="Times New Roman" panose="02020603050405020304" pitchFamily="18" charset="0"/>
                <a:ea typeface="黑体" panose="02010609060101010101" pitchFamily="49" charset="-122"/>
                <a:sym typeface="+mn-ea"/>
              </a:rPr>
              <a:t>BCH</a:t>
            </a:r>
            <a:r>
              <a:rPr lang="zh-CN" altLang="en-US" sz="2000" dirty="0">
                <a:latin typeface="Times New Roman" panose="02020603050405020304" pitchFamily="18" charset="0"/>
                <a:ea typeface="黑体" panose="02010609060101010101" pitchFamily="49" charset="-122"/>
                <a:sym typeface="+mn-ea"/>
              </a:rPr>
              <a:t>码使用的生成码为：</a:t>
            </a:r>
            <a:r>
              <a:rPr lang="en-US" altLang="zh-CN" sz="2000" dirty="0">
                <a:latin typeface="Times New Roman" panose="02020603050405020304" pitchFamily="18" charset="0"/>
                <a:ea typeface="黑体" panose="02010609060101010101" pitchFamily="49" charset="-122"/>
                <a:sym typeface="+mn-ea"/>
              </a:rPr>
              <a:t>10100110111</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uFillTx/>
                <a:latin typeface="Times New Roman" panose="02020603050405020304" pitchFamily="18" charset="0"/>
                <a:ea typeface="黑体" panose="02010609060101010101" pitchFamily="49" charset="-122"/>
                <a:sym typeface="+mn-ea"/>
              </a:rPr>
              <a:t>纠错码</a:t>
            </a:r>
            <a:r>
              <a:rPr lang="en-US" altLang="zh-CN" sz="2000" dirty="0">
                <a:uFillTx/>
                <a:latin typeface="Times New Roman" panose="02020603050405020304" pitchFamily="18" charset="0"/>
                <a:ea typeface="黑体" panose="02010609060101010101" pitchFamily="49" charset="-122"/>
                <a:sym typeface="+mn-ea"/>
              </a:rPr>
              <a:t>=100110000000000 % 10100110111</a:t>
            </a:r>
            <a:r>
              <a:rPr lang="zh-CN" altLang="en-US" sz="2000" dirty="0">
                <a:uFillTx/>
                <a:latin typeface="Times New Roman" panose="02020603050405020304" pitchFamily="18" charset="0"/>
                <a:ea typeface="黑体" panose="02010609060101010101" pitchFamily="49" charset="-122"/>
                <a:sym typeface="+mn-ea"/>
              </a:rPr>
              <a:t>，即</a:t>
            </a:r>
            <a:r>
              <a:rPr lang="en-US" altLang="zh-CN" sz="2000" dirty="0">
                <a:uFillTx/>
                <a:latin typeface="Times New Roman" panose="02020603050405020304" pitchFamily="18" charset="0"/>
                <a:ea typeface="黑体" panose="02010609060101010101" pitchFamily="49" charset="-122"/>
                <a:sym typeface="+mn-ea"/>
              </a:rPr>
              <a:t>0111000010</a:t>
            </a:r>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latin typeface="Times New Roman" panose="02020603050405020304" pitchFamily="18" charset="0"/>
                <a:ea typeface="黑体" panose="02010609060101010101" pitchFamily="49" charset="-122"/>
                <a:sym typeface="+mn-ea"/>
              </a:rPr>
              <a:t>则</a:t>
            </a:r>
            <a:r>
              <a:rPr lang="zh-CN" altLang="en-US" sz="2000" dirty="0">
                <a:solidFill>
                  <a:srgbClr val="FF0000"/>
                </a:solidFill>
                <a:latin typeface="Times New Roman" panose="02020603050405020304" pitchFamily="18" charset="0"/>
                <a:ea typeface="黑体" panose="02010609060101010101" pitchFamily="49" charset="-122"/>
                <a:sym typeface="+mn-ea"/>
              </a:rPr>
              <a:t>最终格式信息码</a:t>
            </a:r>
            <a:r>
              <a:rPr lang="zh-CN" altLang="en-US" sz="2000" dirty="0">
                <a:latin typeface="Times New Roman" panose="02020603050405020304" pitchFamily="18" charset="0"/>
                <a:ea typeface="黑体" panose="02010609060101010101" pitchFamily="49" charset="-122"/>
                <a:sym typeface="+mn-ea"/>
              </a:rPr>
              <a:t>：</a:t>
            </a:r>
            <a:r>
              <a:rPr lang="en-US"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位纠错指示符</a:t>
            </a:r>
            <a:r>
              <a:rPr lang="en-US" altLang="zh-CN" sz="2000" dirty="0">
                <a:latin typeface="Times New Roman" panose="02020603050405020304" pitchFamily="18" charset="0"/>
                <a:ea typeface="黑体" panose="02010609060101010101" pitchFamily="49" charset="-122"/>
                <a:sym typeface="+mn-ea"/>
              </a:rPr>
              <a:t> + 3</a:t>
            </a:r>
            <a:r>
              <a:rPr lang="zh-CN" altLang="en-US" sz="2000" dirty="0">
                <a:latin typeface="Times New Roman" panose="02020603050405020304" pitchFamily="18" charset="0"/>
                <a:ea typeface="黑体" panose="02010609060101010101" pitchFamily="49" charset="-122"/>
                <a:sym typeface="+mn-ea"/>
              </a:rPr>
              <a:t>位掩模图形参考 </a:t>
            </a:r>
            <a:r>
              <a:rPr lang="en-US" altLang="zh-CN" sz="2000" dirty="0">
                <a:latin typeface="Times New Roman" panose="02020603050405020304" pitchFamily="18" charset="0"/>
                <a:ea typeface="黑体" panose="02010609060101010101" pitchFamily="49" charset="-122"/>
                <a:sym typeface="+mn-ea"/>
              </a:rPr>
              <a:t>+ 10</a:t>
            </a:r>
            <a:r>
              <a:rPr lang="zh-CN" altLang="en-US" sz="2000" dirty="0">
                <a:latin typeface="Times New Roman" panose="02020603050405020304" pitchFamily="18" charset="0"/>
                <a:ea typeface="黑体" panose="02010609060101010101" pitchFamily="49" charset="-122"/>
                <a:sym typeface="+mn-ea"/>
              </a:rPr>
              <a:t>位纠错码，即</a:t>
            </a:r>
            <a:endParaRPr lang="en-US" altLang="zh-CN" sz="2000" dirty="0">
              <a:latin typeface="Times New Roman" panose="02020603050405020304" pitchFamily="18" charset="0"/>
              <a:ea typeface="黑体" panose="02010609060101010101" pitchFamily="49" charset="-122"/>
              <a:sym typeface="+mn-ea"/>
            </a:endParaRPr>
          </a:p>
          <a:p>
            <a:pPr lvl="2"/>
            <a:r>
              <a:rPr lang="en-US" sz="2000" dirty="0">
                <a:uFillTx/>
                <a:latin typeface="Times New Roman" panose="02020603050405020304" pitchFamily="18" charset="0"/>
                <a:ea typeface="黑体" panose="02010609060101010101" pitchFamily="49" charset="-122"/>
                <a:sym typeface="+mn-ea"/>
              </a:rPr>
              <a:t>10 </a:t>
            </a:r>
            <a:r>
              <a:rPr lang="en-US" altLang="zh-CN" sz="2000" dirty="0">
                <a:uFillTx/>
                <a:latin typeface="Times New Roman" panose="02020603050405020304" pitchFamily="18" charset="0"/>
                <a:ea typeface="黑体" panose="02010609060101010101" pitchFamily="49" charset="-122"/>
                <a:sym typeface="+mn-ea"/>
              </a:rPr>
              <a:t>+ 011 + 0111000010</a:t>
            </a:r>
            <a:endParaRPr lang="en-US" altLang="zh-CN" sz="2000" dirty="0">
              <a:uFillTx/>
              <a:latin typeface="Times New Roman" panose="02020603050405020304" pitchFamily="18" charset="0"/>
              <a:ea typeface="黑体" panose="02010609060101010101" pitchFamily="49" charset="-122"/>
              <a:sym typeface="+mn-ea"/>
            </a:endParaRPr>
          </a:p>
          <a:p>
            <a:pPr lvl="2"/>
            <a:endParaRPr lang="en-US" altLang="zh-CN" sz="2000" dirty="0">
              <a:latin typeface="Times New Roman" panose="02020603050405020304" pitchFamily="18" charset="0"/>
              <a:ea typeface="黑体" panose="02010609060101010101" pitchFamily="49" charset="-122"/>
              <a:sym typeface="+mn-ea"/>
            </a:endParaRPr>
          </a:p>
          <a:p>
            <a:pPr marL="342900" indent="-342900">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格式信息的掩模</a:t>
            </a:r>
            <a:endParaRPr lang="en-US" altLang="zh-CN" sz="2000" dirty="0">
              <a:latin typeface="Times New Roman" panose="02020603050405020304" pitchFamily="18" charset="0"/>
              <a:ea typeface="黑体" panose="02010609060101010101" pitchFamily="49" charset="-122"/>
              <a:sym typeface="+mn-ea"/>
            </a:endParaRPr>
          </a:p>
          <a:p>
            <a:pPr lvl="2"/>
            <a:r>
              <a:rPr lang="zh-CN" altLang="en-US" sz="2000" dirty="0">
                <a:uFillTx/>
                <a:latin typeface="Times New Roman" panose="02020603050405020304" pitchFamily="18" charset="0"/>
                <a:ea typeface="黑体" panose="02010609060101010101" pitchFamily="49" charset="-122"/>
                <a:sym typeface="+mn-ea"/>
              </a:rPr>
              <a:t>作用：确保纠错等级和掩模图形参考合在一起的结果不全是</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a:p>
            <a:pPr lvl="2"/>
            <a:r>
              <a:rPr lang="zh-CN" altLang="en-US" sz="2000" dirty="0">
                <a:uFillTx/>
                <a:latin typeface="Times New Roman" panose="02020603050405020304" pitchFamily="18" charset="0"/>
                <a:ea typeface="黑体" panose="02010609060101010101" pitchFamily="49" charset="-122"/>
                <a:sym typeface="+mn-ea"/>
              </a:rPr>
              <a:t>需要将</a:t>
            </a:r>
            <a:r>
              <a:rPr lang="en-US" altLang="zh-CN" sz="2000" dirty="0">
                <a:uFillTx/>
                <a:latin typeface="Times New Roman" panose="02020603050405020304" pitchFamily="18" charset="0"/>
                <a:ea typeface="黑体" panose="02010609060101010101" pitchFamily="49" charset="-122"/>
                <a:sym typeface="+mn-ea"/>
              </a:rPr>
              <a:t>15</a:t>
            </a:r>
            <a:r>
              <a:rPr lang="zh-CN" altLang="en-US" sz="2000" dirty="0">
                <a:uFillTx/>
                <a:latin typeface="Times New Roman" panose="02020603050405020304" pitchFamily="18" charset="0"/>
                <a:ea typeface="黑体" panose="02010609060101010101" pitchFamily="49" charset="-122"/>
                <a:sym typeface="+mn-ea"/>
              </a:rPr>
              <a:t>位格式信息码与掩模图形</a:t>
            </a:r>
            <a:r>
              <a:rPr lang="en-US" altLang="zh-CN" sz="2000" dirty="0">
                <a:uFillTx/>
                <a:latin typeface="Times New Roman" panose="02020603050405020304" pitchFamily="18" charset="0"/>
                <a:ea typeface="黑体" panose="02010609060101010101" pitchFamily="49" charset="-122"/>
                <a:sym typeface="+mn-ea"/>
              </a:rPr>
              <a:t>101010000010010</a:t>
            </a:r>
            <a:r>
              <a:rPr lang="zh-CN" altLang="en-US" sz="2000" dirty="0">
                <a:uFillTx/>
                <a:latin typeface="Times New Roman" panose="02020603050405020304" pitchFamily="18" charset="0"/>
                <a:ea typeface="黑体" panose="02010609060101010101" pitchFamily="49" charset="-122"/>
                <a:sym typeface="+mn-ea"/>
              </a:rPr>
              <a:t>进行异或运算。</a:t>
            </a:r>
            <a:endParaRPr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endParaRPr lang="zh-CN" altLang="en-US" sz="2400" dirty="0">
              <a:sym typeface="+mn-ea"/>
            </a:endParaRPr>
          </a:p>
        </p:txBody>
      </p:sp>
      <p:sp>
        <p:nvSpPr>
          <p:cNvPr id="10" name="文本框 9"/>
          <p:cNvSpPr txBox="1"/>
          <p:nvPr/>
        </p:nvSpPr>
        <p:spPr>
          <a:xfrm>
            <a:off x="554990" y="95000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l">
              <a:buFont typeface="Arial" panose="020B0604020202020204" pitchFamily="34" charset="0"/>
              <a:buChar char="•"/>
            </a:pPr>
            <a:r>
              <a:rPr lang="zh-CN" altLang="en-US" sz="2000" dirty="0">
                <a:latin typeface="Times New Roman" panose="02020603050405020304" pitchFamily="18" charset="0"/>
                <a:ea typeface="黑体" panose="02010609060101010101" pitchFamily="49" charset="-122"/>
                <a:sym typeface="+mn-ea"/>
              </a:rPr>
              <a:t>格式信息的掩模</a:t>
            </a:r>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endParaRPr lang="en-US" altLang="zh-CN" sz="2000" dirty="0">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将掩模后的格式信息按照序号填入对应位置，即下图中的蓝色区域中。</a:t>
            </a:r>
            <a:endParaRPr lang="zh-CN" altLang="en-US" sz="2000" dirty="0">
              <a:uFillTx/>
              <a:latin typeface="Times New Roman" panose="02020603050405020304" pitchFamily="18" charset="0"/>
              <a:ea typeface="黑体" panose="02010609060101010101" pitchFamily="49" charset="-122"/>
              <a:sym typeface="+mn-ea"/>
            </a:endParaRPr>
          </a:p>
        </p:txBody>
      </p:sp>
      <p:graphicFrame>
        <p:nvGraphicFramePr>
          <p:cNvPr id="3" name="表格 4"/>
          <p:cNvGraphicFramePr>
            <a:graphicFrameLocks noGrp="1"/>
          </p:cNvGraphicFramePr>
          <p:nvPr/>
        </p:nvGraphicFramePr>
        <p:xfrm>
          <a:off x="1391920" y="2057436"/>
          <a:ext cx="6532792" cy="1112520"/>
        </p:xfrm>
        <a:graphic>
          <a:graphicData uri="http://schemas.openxmlformats.org/drawingml/2006/table">
            <a:tbl>
              <a:tblPr bandRow="1">
                <a:tableStyleId>{5C22544A-7EE6-4342-B048-85BDC9FD1C3A}</a:tableStyleId>
              </a:tblPr>
              <a:tblGrid>
                <a:gridCol w="3266396"/>
                <a:gridCol w="3266396"/>
              </a:tblGrid>
              <a:tr h="370840">
                <a:tc>
                  <a:txBody>
                    <a:bodyPr/>
                    <a:lstStyle/>
                    <a:p>
                      <a:pPr algn="ctr"/>
                      <a:r>
                        <a:rPr lang="zh-CN" altLang="en-US" dirty="0"/>
                        <a:t>格式信息码</a:t>
                      </a:r>
                      <a:endParaRPr lang="zh-CN" altLang="en-US" dirty="0"/>
                    </a:p>
                  </a:txBody>
                  <a:tcPr/>
                </a:tc>
                <a:tc>
                  <a:txBody>
                    <a:bodyPr/>
                    <a:lstStyle/>
                    <a:p>
                      <a:pPr algn="ctr"/>
                      <a:r>
                        <a:rPr lang="en-US" altLang="zh-CN" dirty="0"/>
                        <a:t>1 0 0 1 1 0 1 1 1 0 0 0 0 1 0</a:t>
                      </a:r>
                      <a:endParaRPr lang="zh-CN" altLang="en-US" dirty="0"/>
                    </a:p>
                  </a:txBody>
                  <a:tcPr/>
                </a:tc>
              </a:tr>
              <a:tr h="370840">
                <a:tc>
                  <a:txBody>
                    <a:bodyPr/>
                    <a:lstStyle/>
                    <a:p>
                      <a:pPr algn="ctr"/>
                      <a:r>
                        <a:rPr lang="zh-CN" altLang="en-US" dirty="0"/>
                        <a:t>掩模图形</a:t>
                      </a:r>
                      <a:endParaRPr lang="zh-CN" altLang="en-US" dirty="0"/>
                    </a:p>
                  </a:txBody>
                  <a:tcPr/>
                </a:tc>
                <a:tc>
                  <a:txBody>
                    <a:bodyPr/>
                    <a:lstStyle/>
                    <a:p>
                      <a:pPr algn="ctr"/>
                      <a:r>
                        <a:rPr lang="en-US" altLang="zh-CN" dirty="0"/>
                        <a:t>1 0 1 0 1 0 0 0 0 0 1 0 0 1 0</a:t>
                      </a:r>
                      <a:endParaRPr lang="zh-CN" altLang="en-US" dirty="0"/>
                    </a:p>
                  </a:txBody>
                  <a:tcPr/>
                </a:tc>
              </a:tr>
              <a:tr h="370840">
                <a:tc>
                  <a:txBody>
                    <a:bodyPr/>
                    <a:lstStyle/>
                    <a:p>
                      <a:pPr algn="ctr"/>
                      <a:r>
                        <a:rPr lang="zh-CN" altLang="en-US" dirty="0"/>
                        <a:t>异或结果</a:t>
                      </a:r>
                      <a:endParaRPr lang="zh-CN" altLang="en-US" dirty="0"/>
                    </a:p>
                  </a:txBody>
                  <a:tcPr/>
                </a:tc>
                <a:tc>
                  <a:txBody>
                    <a:bodyPr/>
                    <a:lstStyle/>
                    <a:p>
                      <a:pPr algn="ctr"/>
                      <a:r>
                        <a:rPr lang="en-US" altLang="zh-CN" dirty="0"/>
                        <a:t>0 0 1 1 0 0 1 1 1 0 1 0 0 0 0</a:t>
                      </a:r>
                      <a:endParaRPr lang="zh-CN" altLang="en-US" dirty="0"/>
                    </a:p>
                  </a:txBody>
                  <a:tcPr/>
                </a:tc>
              </a:tr>
            </a:tbl>
          </a:graphicData>
        </a:graphic>
      </p:graphicFrame>
      <p:pic>
        <p:nvPicPr>
          <p:cNvPr id="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74971" y="3880042"/>
            <a:ext cx="3254569" cy="269498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格 6"/>
          <p:cNvGraphicFramePr>
            <a:graphicFrameLocks noGrp="1"/>
          </p:cNvGraphicFramePr>
          <p:nvPr/>
        </p:nvGraphicFramePr>
        <p:xfrm>
          <a:off x="152516" y="4952961"/>
          <a:ext cx="5257663" cy="779737"/>
        </p:xfrm>
        <a:graphic>
          <a:graphicData uri="http://schemas.openxmlformats.org/drawingml/2006/table">
            <a:tbl>
              <a:tblPr bandRow="1">
                <a:tableStyleId>{5C22544A-7EE6-4342-B048-85BDC9FD1C3A}</a:tableStyleId>
              </a:tblPr>
              <a:tblGrid>
                <a:gridCol w="1110774"/>
                <a:gridCol w="4146889"/>
              </a:tblGrid>
              <a:tr h="348003">
                <a:tc>
                  <a:txBody>
                    <a:bodyPr/>
                    <a:lstStyle/>
                    <a:p>
                      <a:pPr algn="ctr"/>
                      <a:r>
                        <a:rPr lang="zh-CN" altLang="en-US" dirty="0"/>
                        <a:t>对应位</a:t>
                      </a:r>
                      <a:endParaRPr lang="zh-CN" altLang="en-US" dirty="0"/>
                    </a:p>
                  </a:txBody>
                  <a:tcPr/>
                </a:tc>
                <a:tc>
                  <a:txBody>
                    <a:bodyPr/>
                    <a:lstStyle/>
                    <a:p>
                      <a:r>
                        <a:rPr lang="en-US" altLang="zh-CN" dirty="0"/>
                        <a:t>14 13 12 11 10  9  8  7  6  5  4  3  2  1  0</a:t>
                      </a:r>
                      <a:endParaRPr lang="zh-CN" altLang="en-US" dirty="0"/>
                    </a:p>
                  </a:txBody>
                  <a:tcPr/>
                </a:tc>
              </a:tr>
              <a:tr h="413977">
                <a:tc>
                  <a:txBody>
                    <a:bodyPr/>
                    <a:lstStyle/>
                    <a:p>
                      <a:pPr algn="ctr"/>
                      <a:r>
                        <a:rPr lang="zh-CN" altLang="en-US" dirty="0"/>
                        <a:t>格式信息</a:t>
                      </a:r>
                      <a:endParaRPr lang="zh-CN" altLang="en-US" dirty="0"/>
                    </a:p>
                  </a:txBody>
                  <a:tcPr/>
                </a:tc>
                <a:tc>
                  <a:txBody>
                    <a:bodyPr/>
                    <a:lstStyle/>
                    <a:p>
                      <a:r>
                        <a:rPr lang="en-US" altLang="zh-CN" dirty="0"/>
                        <a:t> 0   0   1   1   0   0  1  1  1  0  1  0  0  0  0</a:t>
                      </a:r>
                      <a:endParaRPr lang="zh-CN" altLang="en-US" dirty="0"/>
                    </a:p>
                  </a:txBody>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版本信息</a:t>
            </a:r>
            <a:endParaRPr lang="zh-CN" altLang="en-US" sz="2400" dirty="0">
              <a:sym typeface="+mn-ea"/>
            </a:endParaRPr>
          </a:p>
        </p:txBody>
      </p:sp>
      <p:sp>
        <p:nvSpPr>
          <p:cNvPr id="10" name="文本框 9"/>
          <p:cNvSpPr txBox="1"/>
          <p:nvPr/>
        </p:nvSpPr>
        <p:spPr>
          <a:xfrm>
            <a:off x="554990" y="912303"/>
            <a:ext cx="8205470" cy="5632311"/>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just">
              <a:buFont typeface="Arial" panose="020B0604020202020204" pitchFamily="34" charset="0"/>
              <a:buChar char="•"/>
            </a:pPr>
            <a:r>
              <a:rPr lang="zh-CN" altLang="zh-CN" sz="2000" kern="100" dirty="0">
                <a:effectLst/>
                <a:latin typeface="+mn-ea"/>
                <a:ea typeface="+mn-ea"/>
                <a:cs typeface="Times New Roman" panose="02020603050405020304" pitchFamily="18" charset="0"/>
              </a:rPr>
              <a:t>计算版本信息</a:t>
            </a:r>
            <a:endParaRPr lang="zh-CN" altLang="zh-CN" sz="2000" kern="100" dirty="0">
              <a:effectLst/>
              <a:latin typeface="+mn-ea"/>
              <a:ea typeface="+mn-ea"/>
              <a:cs typeface="Times New Roman" panose="02020603050405020304" pitchFamily="18" charset="0"/>
            </a:endParaRPr>
          </a:p>
          <a:p>
            <a:pPr lvl="1" algn="just"/>
            <a:r>
              <a:rPr lang="en-US" altLang="zh-CN" sz="2000" kern="100" dirty="0">
                <a:latin typeface="+mn-ea"/>
                <a:ea typeface="+mn-ea"/>
                <a:cs typeface="Times New Roman" panose="02020603050405020304" pitchFamily="18" charset="0"/>
              </a:rPr>
              <a:t>    </a:t>
            </a:r>
            <a:r>
              <a:rPr lang="zh-CN" altLang="zh-CN" sz="2000" kern="100" dirty="0">
                <a:effectLst/>
                <a:latin typeface="+mn-ea"/>
                <a:ea typeface="+mn-ea"/>
                <a:cs typeface="Times New Roman" panose="02020603050405020304" pitchFamily="18" charset="0"/>
              </a:rPr>
              <a:t>使用</a:t>
            </a:r>
            <a:r>
              <a:rPr lang="en-US" altLang="zh-CN" sz="2000" kern="100" dirty="0">
                <a:solidFill>
                  <a:srgbClr val="FF0000"/>
                </a:solidFill>
                <a:effectLst/>
                <a:latin typeface="+mn-ea"/>
                <a:ea typeface="+mn-ea"/>
                <a:cs typeface="Times New Roman" panose="02020603050405020304" pitchFamily="18" charset="0"/>
              </a:rPr>
              <a:t>BCH(18,6)</a:t>
            </a:r>
            <a:r>
              <a:rPr lang="zh-CN" altLang="zh-CN" sz="2000" kern="100" dirty="0">
                <a:effectLst/>
                <a:latin typeface="+mn-ea"/>
                <a:ea typeface="+mn-ea"/>
                <a:cs typeface="Times New Roman" panose="02020603050405020304" pitchFamily="18" charset="0"/>
              </a:rPr>
              <a:t>编码计算得到纠错码。原理同</a:t>
            </a:r>
            <a:r>
              <a:rPr lang="zh-CN" altLang="en-US" sz="2000" kern="100" dirty="0">
                <a:latin typeface="+mn-ea"/>
                <a:ea typeface="+mn-ea"/>
                <a:cs typeface="Times New Roman" panose="02020603050405020304" pitchFamily="18" charset="0"/>
              </a:rPr>
              <a:t>上</a:t>
            </a:r>
            <a:r>
              <a:rPr lang="zh-CN" altLang="zh-CN" sz="2000" kern="100" dirty="0">
                <a:effectLst/>
                <a:latin typeface="+mn-ea"/>
                <a:ea typeface="+mn-ea"/>
                <a:cs typeface="Times New Roman" panose="02020603050405020304" pitchFamily="18" charset="0"/>
              </a:rPr>
              <a:t>，</a:t>
            </a:r>
            <a:r>
              <a:rPr lang="en-US" altLang="zh-CN" sz="2000" kern="100" dirty="0">
                <a:effectLst/>
                <a:latin typeface="+mn-ea"/>
                <a:ea typeface="+mn-ea"/>
                <a:cs typeface="Times New Roman" panose="02020603050405020304" pitchFamily="18" charset="0"/>
              </a:rPr>
              <a:t>BCH(18,6)</a:t>
            </a:r>
            <a:r>
              <a:rPr lang="zh-CN" altLang="zh-CN" sz="2000" kern="100" dirty="0">
                <a:effectLst/>
                <a:latin typeface="+mn-ea"/>
                <a:ea typeface="+mn-ea"/>
                <a:cs typeface="Times New Roman" panose="02020603050405020304" pitchFamily="18" charset="0"/>
              </a:rPr>
              <a:t>表示</a:t>
            </a:r>
            <a:r>
              <a:rPr lang="en-US" altLang="zh-CN" sz="2000" kern="100" dirty="0">
                <a:effectLst/>
                <a:latin typeface="+mn-ea"/>
                <a:ea typeface="+mn-ea"/>
                <a:cs typeface="Times New Roman" panose="02020603050405020304" pitchFamily="18" charset="0"/>
              </a:rPr>
              <a:t>BCH</a:t>
            </a:r>
            <a:r>
              <a:rPr lang="zh-CN" altLang="zh-CN" sz="2000" kern="100" dirty="0">
                <a:effectLst/>
                <a:latin typeface="+mn-ea"/>
                <a:ea typeface="+mn-ea"/>
                <a:cs typeface="Times New Roman" panose="02020603050405020304" pitchFamily="18" charset="0"/>
              </a:rPr>
              <a:t>码总长度为</a:t>
            </a:r>
            <a:r>
              <a:rPr lang="en-US" altLang="zh-CN" sz="2000" kern="100" dirty="0">
                <a:effectLst/>
                <a:latin typeface="+mn-ea"/>
                <a:ea typeface="+mn-ea"/>
                <a:cs typeface="Times New Roman" panose="02020603050405020304" pitchFamily="18" charset="0"/>
              </a:rPr>
              <a:t>18</a:t>
            </a:r>
            <a:r>
              <a:rPr lang="zh-CN" altLang="zh-CN" sz="2000" kern="100" dirty="0">
                <a:effectLst/>
                <a:latin typeface="+mn-ea"/>
                <a:ea typeface="+mn-ea"/>
                <a:cs typeface="Times New Roman" panose="02020603050405020304" pitchFamily="18" charset="0"/>
              </a:rPr>
              <a:t>位，其中数据码为</a:t>
            </a:r>
            <a:r>
              <a:rPr lang="en-US" altLang="zh-CN" sz="2000" kern="100" dirty="0">
                <a:effectLst/>
                <a:latin typeface="+mn-ea"/>
                <a:ea typeface="+mn-ea"/>
                <a:cs typeface="Times New Roman" panose="02020603050405020304" pitchFamily="18" charset="0"/>
              </a:rPr>
              <a:t>6</a:t>
            </a:r>
            <a:r>
              <a:rPr lang="zh-CN" altLang="zh-CN" sz="2000" kern="100" dirty="0">
                <a:effectLst/>
                <a:latin typeface="+mn-ea"/>
                <a:ea typeface="+mn-ea"/>
                <a:cs typeface="Times New Roman" panose="02020603050405020304" pitchFamily="18" charset="0"/>
              </a:rPr>
              <a:t>位，纠错码</a:t>
            </a:r>
            <a:r>
              <a:rPr lang="en-US" altLang="zh-CN" sz="2000" kern="100" dirty="0">
                <a:effectLst/>
                <a:latin typeface="+mn-ea"/>
                <a:ea typeface="+mn-ea"/>
                <a:cs typeface="Times New Roman" panose="02020603050405020304" pitchFamily="18" charset="0"/>
              </a:rPr>
              <a:t>12</a:t>
            </a:r>
            <a:r>
              <a:rPr lang="zh-CN" altLang="zh-CN" sz="2000" kern="100" dirty="0">
                <a:effectLst/>
                <a:latin typeface="+mn-ea"/>
                <a:ea typeface="+mn-ea"/>
                <a:cs typeface="Times New Roman" panose="02020603050405020304" pitchFamily="18" charset="0"/>
              </a:rPr>
              <a:t>位。</a:t>
            </a:r>
            <a:endParaRPr lang="zh-CN" altLang="zh-CN" sz="2000" kern="100" dirty="0">
              <a:effectLst/>
              <a:latin typeface="+mn-ea"/>
              <a:ea typeface="+mn-ea"/>
              <a:cs typeface="Times New Roman" panose="02020603050405020304" pitchFamily="18" charset="0"/>
            </a:endParaRPr>
          </a:p>
          <a:p>
            <a:pPr lvl="1" algn="just"/>
            <a:r>
              <a:rPr lang="en-US" altLang="zh-CN" sz="2000" kern="100" dirty="0">
                <a:effectLst/>
                <a:latin typeface="+mn-ea"/>
                <a:ea typeface="+mn-ea"/>
                <a:cs typeface="Times New Roman" panose="02020603050405020304" pitchFamily="18" charset="0"/>
              </a:rPr>
              <a:t>    </a:t>
            </a:r>
            <a:r>
              <a:rPr lang="zh-CN" altLang="zh-CN" sz="2000" kern="100" dirty="0">
                <a:effectLst/>
                <a:latin typeface="+mn-ea"/>
                <a:ea typeface="+mn-ea"/>
                <a:cs typeface="Times New Roman" panose="02020603050405020304" pitchFamily="18" charset="0"/>
              </a:rPr>
              <a:t>版本信息的计算和格式信息类似，也是使用</a:t>
            </a:r>
            <a:r>
              <a:rPr lang="zh-CN" altLang="zh-CN" sz="2000" kern="100" dirty="0">
                <a:solidFill>
                  <a:srgbClr val="FF0000"/>
                </a:solidFill>
                <a:effectLst/>
                <a:latin typeface="+mn-ea"/>
                <a:ea typeface="+mn-ea"/>
                <a:cs typeface="Times New Roman" panose="02020603050405020304" pitchFamily="18" charset="0"/>
              </a:rPr>
              <a:t>长除法</a:t>
            </a:r>
            <a:r>
              <a:rPr lang="zh-CN" altLang="zh-CN" sz="2000" kern="100" dirty="0">
                <a:effectLst/>
                <a:latin typeface="+mn-ea"/>
                <a:ea typeface="+mn-ea"/>
                <a:cs typeface="Times New Roman" panose="02020603050405020304" pitchFamily="18" charset="0"/>
              </a:rPr>
              <a:t>。只是这一次使用的生成码为：</a:t>
            </a:r>
            <a:r>
              <a:rPr lang="en-US" altLang="zh-CN" sz="2000" kern="100" dirty="0">
                <a:effectLst/>
                <a:latin typeface="+mn-ea"/>
                <a:ea typeface="+mn-ea"/>
                <a:cs typeface="Times New Roman" panose="02020603050405020304" pitchFamily="18" charset="0"/>
              </a:rPr>
              <a:t>1111100100101</a:t>
            </a:r>
            <a:r>
              <a:rPr lang="zh-CN" altLang="en-US" sz="2000" kern="100" dirty="0">
                <a:effectLst/>
                <a:latin typeface="+mn-ea"/>
                <a:ea typeface="+mn-ea"/>
                <a:cs typeface="Times New Roman" panose="02020603050405020304" pitchFamily="18" charset="0"/>
              </a:rPr>
              <a:t>，</a:t>
            </a:r>
            <a:r>
              <a:rPr lang="zh-CN" altLang="zh-CN" sz="2000" kern="100" dirty="0">
                <a:effectLst/>
                <a:latin typeface="+mn-ea"/>
                <a:ea typeface="+mn-ea"/>
                <a:cs typeface="Times New Roman" panose="02020603050405020304" pitchFamily="18" charset="0"/>
              </a:rPr>
              <a:t>使用数据码除以生成码，所得余数就是纠错码。</a:t>
            </a:r>
            <a:endParaRPr lang="zh-CN" altLang="zh-CN" sz="2000" kern="100" dirty="0">
              <a:effectLst/>
              <a:latin typeface="+mn-ea"/>
              <a:ea typeface="+mn-ea"/>
              <a:cs typeface="Times New Roman" panose="02020603050405020304" pitchFamily="18" charset="0"/>
            </a:endParaRPr>
          </a:p>
          <a:p>
            <a:pPr lvl="1" algn="just"/>
            <a:r>
              <a:rPr lang="en-US" altLang="zh-CN" sz="2000" kern="100" dirty="0">
                <a:effectLst/>
                <a:latin typeface="+mn-ea"/>
                <a:ea typeface="+mn-ea"/>
                <a:cs typeface="Times New Roman" panose="02020603050405020304" pitchFamily="18" charset="0"/>
              </a:rPr>
              <a:t>    </a:t>
            </a:r>
            <a:endParaRPr lang="en-US" altLang="zh-CN" sz="2000" kern="100" dirty="0">
              <a:effectLst/>
              <a:latin typeface="+mn-ea"/>
              <a:ea typeface="+mn-ea"/>
              <a:cs typeface="Times New Roman" panose="02020603050405020304" pitchFamily="18" charset="0"/>
            </a:endParaRPr>
          </a:p>
          <a:p>
            <a:pPr lvl="1" algn="just"/>
            <a:r>
              <a:rPr lang="en-US" altLang="zh-CN" sz="2000" kern="100" dirty="0">
                <a:latin typeface="+mn-ea"/>
                <a:ea typeface="+mn-ea"/>
                <a:cs typeface="Times New Roman" panose="02020603050405020304" pitchFamily="18" charset="0"/>
              </a:rPr>
              <a:t>    </a:t>
            </a:r>
            <a:r>
              <a:rPr lang="zh-CN" altLang="zh-CN" sz="2000" kern="100" dirty="0">
                <a:effectLst/>
                <a:latin typeface="+mn-ea"/>
                <a:ea typeface="+mn-ea"/>
                <a:cs typeface="Times New Roman" panose="02020603050405020304" pitchFamily="18" charset="0"/>
              </a:rPr>
              <a:t>由于版本</a:t>
            </a:r>
            <a:r>
              <a:rPr lang="en-US" altLang="zh-CN" sz="2000" kern="100" dirty="0">
                <a:effectLst/>
                <a:latin typeface="+mn-ea"/>
                <a:ea typeface="+mn-ea"/>
                <a:cs typeface="Times New Roman" panose="02020603050405020304" pitchFamily="18" charset="0"/>
              </a:rPr>
              <a:t>1</a:t>
            </a:r>
            <a:r>
              <a:rPr lang="zh-CN" altLang="zh-CN" sz="2000" kern="100" dirty="0">
                <a:effectLst/>
                <a:latin typeface="+mn-ea"/>
                <a:ea typeface="+mn-ea"/>
                <a:cs typeface="Times New Roman" panose="02020603050405020304" pitchFamily="18" charset="0"/>
              </a:rPr>
              <a:t>无需绘制版本信息</a:t>
            </a:r>
            <a:r>
              <a:rPr lang="zh-CN" altLang="en-US" sz="2000" kern="100" dirty="0">
                <a:effectLst/>
                <a:latin typeface="+mn-ea"/>
                <a:ea typeface="+mn-ea"/>
                <a:cs typeface="Times New Roman" panose="02020603050405020304" pitchFamily="18" charset="0"/>
              </a:rPr>
              <a:t>，</a:t>
            </a:r>
            <a:r>
              <a:rPr lang="zh-CN" altLang="zh-CN" sz="2000" kern="100" dirty="0">
                <a:effectLst/>
                <a:latin typeface="+mn-ea"/>
                <a:ea typeface="+mn-ea"/>
                <a:cs typeface="Times New Roman" panose="02020603050405020304" pitchFamily="18" charset="0"/>
              </a:rPr>
              <a:t>因此暂时使用版本</a:t>
            </a:r>
            <a:r>
              <a:rPr lang="en-US" altLang="zh-CN" sz="2000" kern="100" dirty="0">
                <a:effectLst/>
                <a:latin typeface="+mn-ea"/>
                <a:ea typeface="+mn-ea"/>
                <a:cs typeface="Times New Roman" panose="02020603050405020304" pitchFamily="18" charset="0"/>
              </a:rPr>
              <a:t>7</a:t>
            </a:r>
            <a:r>
              <a:rPr lang="zh-CN" altLang="zh-CN" sz="2000" kern="100" dirty="0">
                <a:effectLst/>
                <a:latin typeface="+mn-ea"/>
                <a:ea typeface="+mn-ea"/>
                <a:cs typeface="Times New Roman" panose="02020603050405020304" pitchFamily="18" charset="0"/>
              </a:rPr>
              <a:t>来进行版本信息生成的讲解。</a:t>
            </a:r>
            <a:endParaRPr lang="en-US" altLang="zh-CN" sz="2000" kern="100" dirty="0">
              <a:effectLst/>
              <a:latin typeface="+mn-ea"/>
              <a:ea typeface="+mn-ea"/>
              <a:cs typeface="Times New Roman" panose="02020603050405020304" pitchFamily="18" charset="0"/>
            </a:endParaRPr>
          </a:p>
          <a:p>
            <a:pPr marL="914400" lvl="1" indent="-457200" algn="just">
              <a:buFont typeface="+mj-lt"/>
              <a:buAutoNum type="arabicPeriod"/>
            </a:pPr>
            <a:r>
              <a:rPr lang="zh-CN" altLang="zh-CN" sz="2000" kern="100" dirty="0">
                <a:effectLst/>
                <a:latin typeface="+mn-ea"/>
                <a:ea typeface="+mn-ea"/>
                <a:cs typeface="Times New Roman" panose="02020603050405020304" pitchFamily="18" charset="0"/>
              </a:rPr>
              <a:t>将版本号</a:t>
            </a:r>
            <a:r>
              <a:rPr lang="en-US" altLang="zh-CN" sz="2000" kern="100" dirty="0">
                <a:effectLst/>
                <a:latin typeface="+mn-ea"/>
                <a:ea typeface="+mn-ea"/>
                <a:cs typeface="Times New Roman" panose="02020603050405020304" pitchFamily="18" charset="0"/>
              </a:rPr>
              <a:t>7</a:t>
            </a:r>
            <a:r>
              <a:rPr lang="zh-CN" altLang="zh-CN" sz="2000" kern="100" dirty="0">
                <a:effectLst/>
                <a:latin typeface="+mn-ea"/>
                <a:ea typeface="+mn-ea"/>
                <a:cs typeface="Times New Roman" panose="02020603050405020304" pitchFamily="18" charset="0"/>
              </a:rPr>
              <a:t>转换为</a:t>
            </a:r>
            <a:r>
              <a:rPr lang="en-US" altLang="zh-CN" sz="2000" kern="100" dirty="0">
                <a:effectLst/>
                <a:latin typeface="+mn-ea"/>
                <a:ea typeface="+mn-ea"/>
                <a:cs typeface="Times New Roman" panose="02020603050405020304" pitchFamily="18" charset="0"/>
              </a:rPr>
              <a:t>6</a:t>
            </a:r>
            <a:r>
              <a:rPr lang="zh-CN" altLang="zh-CN" sz="2000" kern="100" dirty="0">
                <a:effectLst/>
                <a:latin typeface="+mn-ea"/>
                <a:ea typeface="+mn-ea"/>
                <a:cs typeface="Times New Roman" panose="02020603050405020304" pitchFamily="18" charset="0"/>
              </a:rPr>
              <a:t>位长度的二进制数据码</a:t>
            </a:r>
            <a:endParaRPr lang="zh-CN" altLang="zh-CN" sz="2000" kern="100" dirty="0">
              <a:effectLst/>
              <a:latin typeface="+mn-ea"/>
              <a:ea typeface="+mn-ea"/>
              <a:cs typeface="Times New Roman" panose="02020603050405020304" pitchFamily="18" charset="0"/>
            </a:endParaRPr>
          </a:p>
          <a:p>
            <a:pPr lvl="2" algn="just"/>
            <a:r>
              <a:rPr lang="en-US" altLang="zh-CN" sz="2000" kern="100" dirty="0">
                <a:effectLst/>
                <a:latin typeface="+mn-ea"/>
                <a:ea typeface="+mn-ea"/>
                <a:cs typeface="Times New Roman" panose="02020603050405020304" pitchFamily="18" charset="0"/>
              </a:rPr>
              <a:t>7</a:t>
            </a:r>
            <a:r>
              <a:rPr lang="zh-CN" altLang="en-US" sz="2000" kern="100" dirty="0">
                <a:effectLst/>
                <a:latin typeface="+mn-ea"/>
                <a:ea typeface="+mn-ea"/>
                <a:cs typeface="Times New Roman" panose="02020603050405020304" pitchFamily="18" charset="0"/>
              </a:rPr>
              <a:t>：</a:t>
            </a:r>
            <a:r>
              <a:rPr lang="en-US" altLang="zh-CN" sz="2000" kern="100" dirty="0">
                <a:effectLst/>
                <a:latin typeface="+mn-ea"/>
                <a:ea typeface="+mn-ea"/>
                <a:cs typeface="Times New Roman" panose="02020603050405020304" pitchFamily="18" charset="0"/>
              </a:rPr>
              <a:t>000111</a:t>
            </a:r>
            <a:endParaRPr lang="zh-CN" altLang="zh-CN" sz="2000" kern="100" dirty="0">
              <a:effectLst/>
              <a:latin typeface="+mn-ea"/>
              <a:ea typeface="+mn-ea"/>
              <a:cs typeface="Times New Roman" panose="02020603050405020304" pitchFamily="18" charset="0"/>
            </a:endParaRPr>
          </a:p>
          <a:p>
            <a:pPr marL="914400" lvl="1" indent="-457200" algn="just">
              <a:buFont typeface="+mj-lt"/>
              <a:buAutoNum type="arabicPeriod"/>
            </a:pPr>
            <a:r>
              <a:rPr lang="zh-CN" altLang="zh-CN" sz="2000" kern="100" dirty="0">
                <a:effectLst/>
                <a:latin typeface="+mn-ea"/>
                <a:ea typeface="+mn-ea"/>
                <a:cs typeface="Times New Roman" panose="02020603050405020304" pitchFamily="18" charset="0"/>
              </a:rPr>
              <a:t>由于这里的</a:t>
            </a:r>
            <a:r>
              <a:rPr lang="en-US" altLang="zh-CN" sz="2000" kern="100" dirty="0">
                <a:effectLst/>
                <a:latin typeface="+mn-ea"/>
                <a:ea typeface="+mn-ea"/>
                <a:cs typeface="Times New Roman" panose="02020603050405020304" pitchFamily="18" charset="0"/>
              </a:rPr>
              <a:t>BCH</a:t>
            </a:r>
            <a:r>
              <a:rPr lang="zh-CN" altLang="zh-CN" sz="2000" kern="100" dirty="0">
                <a:effectLst/>
                <a:latin typeface="+mn-ea"/>
                <a:ea typeface="+mn-ea"/>
                <a:cs typeface="Times New Roman" panose="02020603050405020304" pitchFamily="18" charset="0"/>
              </a:rPr>
              <a:t>码总长度为</a:t>
            </a:r>
            <a:r>
              <a:rPr lang="en-US" altLang="zh-CN" sz="2000" kern="100" dirty="0">
                <a:effectLst/>
                <a:latin typeface="+mn-ea"/>
                <a:ea typeface="+mn-ea"/>
                <a:cs typeface="Times New Roman" panose="02020603050405020304" pitchFamily="18" charset="0"/>
              </a:rPr>
              <a:t>18</a:t>
            </a:r>
            <a:r>
              <a:rPr lang="zh-CN" altLang="zh-CN" sz="2000" kern="100" dirty="0">
                <a:effectLst/>
                <a:latin typeface="+mn-ea"/>
                <a:ea typeface="+mn-ea"/>
                <a:cs typeface="Times New Roman" panose="02020603050405020304" pitchFamily="18" charset="0"/>
              </a:rPr>
              <a:t>，需将</a:t>
            </a:r>
            <a:r>
              <a:rPr lang="en-US" altLang="zh-CN" sz="2000" kern="100" dirty="0">
                <a:effectLst/>
                <a:latin typeface="+mn-ea"/>
                <a:ea typeface="+mn-ea"/>
                <a:cs typeface="Times New Roman" panose="02020603050405020304" pitchFamily="18" charset="0"/>
              </a:rPr>
              <a:t>000111</a:t>
            </a:r>
            <a:r>
              <a:rPr lang="zh-CN" altLang="zh-CN" sz="2000" kern="100" dirty="0">
                <a:effectLst/>
                <a:latin typeface="+mn-ea"/>
                <a:ea typeface="+mn-ea"/>
                <a:cs typeface="Times New Roman" panose="02020603050405020304" pitchFamily="18" charset="0"/>
              </a:rPr>
              <a:t>凑够</a:t>
            </a:r>
            <a:r>
              <a:rPr lang="en-US" altLang="zh-CN" sz="2000" kern="100" dirty="0">
                <a:effectLst/>
                <a:latin typeface="+mn-ea"/>
                <a:ea typeface="+mn-ea"/>
                <a:cs typeface="Times New Roman" panose="02020603050405020304" pitchFamily="18" charset="0"/>
              </a:rPr>
              <a:t>18</a:t>
            </a:r>
            <a:r>
              <a:rPr lang="zh-CN" altLang="zh-CN" sz="2000" kern="100" dirty="0">
                <a:effectLst/>
                <a:latin typeface="+mn-ea"/>
                <a:ea typeface="+mn-ea"/>
                <a:cs typeface="Times New Roman" panose="02020603050405020304" pitchFamily="18" charset="0"/>
              </a:rPr>
              <a:t>位，于是在数据后方补</a:t>
            </a:r>
            <a:r>
              <a:rPr lang="en-US" altLang="zh-CN" sz="2000" kern="100" dirty="0">
                <a:effectLst/>
                <a:latin typeface="+mn-ea"/>
                <a:ea typeface="+mn-ea"/>
                <a:cs typeface="Times New Roman" panose="02020603050405020304" pitchFamily="18" charset="0"/>
              </a:rPr>
              <a:t>0</a:t>
            </a:r>
            <a:r>
              <a:rPr lang="zh-CN" altLang="zh-CN" sz="2000" kern="100" dirty="0">
                <a:effectLst/>
                <a:latin typeface="+mn-ea"/>
                <a:ea typeface="+mn-ea"/>
                <a:cs typeface="Times New Roman" panose="02020603050405020304" pitchFamily="18" charset="0"/>
              </a:rPr>
              <a:t>得到数据码</a:t>
            </a:r>
            <a:r>
              <a:rPr lang="zh-CN" altLang="en-US" sz="2000" kern="100" dirty="0">
                <a:effectLst/>
                <a:latin typeface="+mn-ea"/>
                <a:ea typeface="+mn-ea"/>
                <a:cs typeface="Times New Roman" panose="02020603050405020304" pitchFamily="18" charset="0"/>
              </a:rPr>
              <a:t>：</a:t>
            </a:r>
            <a:r>
              <a:rPr lang="en-US" altLang="zh-CN" sz="2000" kern="100" dirty="0">
                <a:effectLst/>
                <a:latin typeface="+mn-ea"/>
                <a:ea typeface="+mn-ea"/>
                <a:cs typeface="Times New Roman" panose="02020603050405020304" pitchFamily="18" charset="0"/>
              </a:rPr>
              <a:t> </a:t>
            </a:r>
            <a:endParaRPr lang="en-US" altLang="zh-CN" sz="2000" kern="100" dirty="0">
              <a:effectLst/>
              <a:latin typeface="+mn-ea"/>
              <a:ea typeface="+mn-ea"/>
              <a:cs typeface="Times New Roman" panose="02020603050405020304" pitchFamily="18" charset="0"/>
            </a:endParaRPr>
          </a:p>
          <a:p>
            <a:pPr lvl="2" algn="just"/>
            <a:r>
              <a:rPr lang="en-US" altLang="zh-CN" sz="2000" kern="100" dirty="0">
                <a:effectLst/>
                <a:latin typeface="+mn-ea"/>
                <a:ea typeface="+mn-ea"/>
                <a:cs typeface="Times New Roman" panose="02020603050405020304" pitchFamily="18" charset="0"/>
              </a:rPr>
              <a:t>000111000000000000</a:t>
            </a:r>
            <a:endParaRPr lang="zh-CN" altLang="zh-CN" sz="2000" kern="100" dirty="0">
              <a:effectLst/>
              <a:latin typeface="+mn-ea"/>
              <a:ea typeface="+mn-ea"/>
              <a:cs typeface="Times New Roman" panose="02020603050405020304" pitchFamily="18" charset="0"/>
            </a:endParaRPr>
          </a:p>
          <a:p>
            <a:pPr marL="914400" lvl="1" indent="-457200" algn="just">
              <a:buFont typeface="+mj-lt"/>
              <a:buAutoNum type="arabicPeriod"/>
            </a:pPr>
            <a:r>
              <a:rPr lang="zh-CN" altLang="zh-CN" sz="2000" kern="100" dirty="0">
                <a:effectLst/>
                <a:latin typeface="+mn-ea"/>
                <a:ea typeface="+mn-ea"/>
                <a:cs typeface="Times New Roman" panose="02020603050405020304" pitchFamily="18" charset="0"/>
              </a:rPr>
              <a:t>纠错码</a:t>
            </a:r>
            <a:r>
              <a:rPr lang="en-US" altLang="zh-CN" sz="2000" kern="100" dirty="0">
                <a:effectLst/>
                <a:latin typeface="+mn-ea"/>
                <a:ea typeface="+mn-ea"/>
                <a:cs typeface="Times New Roman" panose="02020603050405020304" pitchFamily="18" charset="0"/>
              </a:rPr>
              <a:t>=0011100000000000 % 1111100100101</a:t>
            </a:r>
            <a:endParaRPr lang="zh-CN" altLang="zh-CN" sz="2000" kern="100" dirty="0">
              <a:effectLst/>
              <a:latin typeface="+mn-ea"/>
              <a:ea typeface="+mn-ea"/>
              <a:cs typeface="Times New Roman" panose="02020603050405020304" pitchFamily="18" charset="0"/>
            </a:endParaRPr>
          </a:p>
          <a:p>
            <a:pPr lvl="2" algn="just"/>
            <a:r>
              <a:rPr lang="zh-CN" altLang="zh-CN" sz="2000" kern="100" dirty="0">
                <a:effectLst/>
                <a:latin typeface="+mn-ea"/>
                <a:ea typeface="+mn-ea"/>
                <a:cs typeface="Times New Roman" panose="02020603050405020304" pitchFamily="18" charset="0"/>
              </a:rPr>
              <a:t>即为</a:t>
            </a:r>
            <a:r>
              <a:rPr lang="en-US" altLang="zh-CN" sz="2000" kern="100" dirty="0">
                <a:effectLst/>
                <a:latin typeface="+mn-ea"/>
                <a:ea typeface="+mn-ea"/>
                <a:cs typeface="Times New Roman" panose="02020603050405020304" pitchFamily="18" charset="0"/>
              </a:rPr>
              <a:t>110010010100</a:t>
            </a:r>
            <a:endParaRPr lang="zh-CN" altLang="zh-CN" sz="2000" kern="100" dirty="0">
              <a:effectLst/>
              <a:latin typeface="+mn-ea"/>
              <a:ea typeface="+mn-ea"/>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版本信息</a:t>
            </a:r>
            <a:endParaRPr lang="zh-CN" altLang="en-US" sz="2400" dirty="0">
              <a:sym typeface="+mn-ea"/>
            </a:endParaRPr>
          </a:p>
        </p:txBody>
      </p:sp>
      <p:sp>
        <p:nvSpPr>
          <p:cNvPr id="10" name="文本框 9"/>
          <p:cNvSpPr txBox="1"/>
          <p:nvPr/>
        </p:nvSpPr>
        <p:spPr>
          <a:xfrm>
            <a:off x="554990" y="95000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342900" indent="-342900" algn="just">
              <a:buFont typeface="Arial" panose="020B0604020202020204" pitchFamily="34" charset="0"/>
              <a:buChar char="•"/>
            </a:pPr>
            <a:r>
              <a:rPr lang="zh-CN" altLang="zh-CN" sz="2000" kern="100" dirty="0">
                <a:effectLst/>
                <a:latin typeface="+mn-ea"/>
                <a:ea typeface="+mn-ea"/>
                <a:cs typeface="Times New Roman" panose="02020603050405020304" pitchFamily="18" charset="0"/>
              </a:rPr>
              <a:t>计算版本信息</a:t>
            </a:r>
            <a:endParaRPr lang="zh-CN" altLang="zh-CN" sz="2000" kern="100" dirty="0">
              <a:effectLst/>
              <a:latin typeface="+mn-ea"/>
              <a:ea typeface="+mn-ea"/>
              <a:cs typeface="Times New Roman" panose="02020603050405020304" pitchFamily="18" charset="0"/>
            </a:endParaRPr>
          </a:p>
          <a:p>
            <a:pPr marL="914400" lvl="1" indent="-457200" algn="just">
              <a:buFont typeface="+mj-lt"/>
              <a:buAutoNum type="arabicPeriod" startAt="4"/>
            </a:pPr>
            <a:r>
              <a:rPr lang="en-US" altLang="zh-CN" sz="2000" kern="100" dirty="0">
                <a:effectLst/>
                <a:latin typeface="+mn-ea"/>
                <a:ea typeface="+mn-ea"/>
                <a:cs typeface="Times New Roman" panose="02020603050405020304" pitchFamily="18" charset="0"/>
              </a:rPr>
              <a:t>6</a:t>
            </a:r>
            <a:r>
              <a:rPr lang="zh-CN" altLang="zh-CN" sz="2000" kern="100" dirty="0">
                <a:effectLst/>
                <a:latin typeface="+mn-ea"/>
                <a:ea typeface="+mn-ea"/>
                <a:cs typeface="Times New Roman" panose="02020603050405020304" pitchFamily="18" charset="0"/>
              </a:rPr>
              <a:t>位数据码</a:t>
            </a:r>
            <a:r>
              <a:rPr lang="en-US" altLang="zh-CN" sz="2000" kern="100" dirty="0">
                <a:effectLst/>
                <a:latin typeface="+mn-ea"/>
                <a:ea typeface="+mn-ea"/>
                <a:cs typeface="Times New Roman" panose="02020603050405020304" pitchFamily="18" charset="0"/>
              </a:rPr>
              <a:t> + 12</a:t>
            </a:r>
            <a:r>
              <a:rPr lang="zh-CN" altLang="zh-CN" sz="2000" kern="100" dirty="0">
                <a:effectLst/>
                <a:latin typeface="+mn-ea"/>
                <a:ea typeface="+mn-ea"/>
                <a:cs typeface="Times New Roman" panose="02020603050405020304" pitchFamily="18" charset="0"/>
              </a:rPr>
              <a:t>位纠错码即为最终版本信息码</a:t>
            </a:r>
            <a:endParaRPr lang="zh-CN" altLang="zh-CN" sz="2000" kern="100" dirty="0">
              <a:effectLst/>
              <a:latin typeface="+mn-ea"/>
              <a:ea typeface="+mn-ea"/>
              <a:cs typeface="Times New Roman" panose="02020603050405020304" pitchFamily="18" charset="0"/>
            </a:endParaRPr>
          </a:p>
          <a:p>
            <a:pPr lvl="2" algn="just"/>
            <a:r>
              <a:rPr lang="en-US" altLang="zh-CN" sz="2000" kern="100" dirty="0">
                <a:effectLst/>
                <a:latin typeface="+mn-ea"/>
                <a:ea typeface="+mn-ea"/>
                <a:cs typeface="Times New Roman" panose="02020603050405020304" pitchFamily="18" charset="0"/>
              </a:rPr>
              <a:t>000111 + 110010010100(0x7c94)</a:t>
            </a:r>
            <a:endParaRPr lang="zh-CN" altLang="zh-CN" sz="2000" kern="100" dirty="0">
              <a:effectLst/>
              <a:latin typeface="+mn-ea"/>
              <a:ea typeface="+mn-ea"/>
              <a:cs typeface="Times New Roman" panose="02020603050405020304" pitchFamily="18" charset="0"/>
            </a:endParaRPr>
          </a:p>
          <a:p>
            <a:pPr lvl="2" algn="just"/>
            <a:r>
              <a:rPr lang="zh-CN" altLang="zh-CN" sz="2000" kern="100" dirty="0">
                <a:effectLst/>
                <a:latin typeface="+mn-ea"/>
                <a:ea typeface="+mn-ea"/>
                <a:cs typeface="Times New Roman" panose="02020603050405020304" pitchFamily="18" charset="0"/>
              </a:rPr>
              <a:t>与格式信息不同，版本信息码生成后不再需要单独进行掩模运算。</a:t>
            </a:r>
            <a:endParaRPr lang="zh-CN" altLang="zh-CN" sz="2000" kern="100" dirty="0">
              <a:effectLst/>
              <a:latin typeface="+mn-ea"/>
              <a:ea typeface="+mn-ea"/>
              <a:cs typeface="Times New Roman" panose="02020603050405020304" pitchFamily="18" charset="0"/>
            </a:endParaRPr>
          </a:p>
          <a:p>
            <a:pPr marL="914400" lvl="1" indent="-457200" algn="just">
              <a:buFont typeface="+mj-lt"/>
              <a:buAutoNum type="arabicPeriod" startAt="4"/>
            </a:pPr>
            <a:r>
              <a:rPr lang="zh-CN" altLang="zh-CN" sz="2000" kern="100" dirty="0">
                <a:effectLst/>
                <a:latin typeface="+mn-ea"/>
                <a:ea typeface="+mn-ea"/>
                <a:cs typeface="Times New Roman" panose="02020603050405020304" pitchFamily="18" charset="0"/>
              </a:rPr>
              <a:t>将结果分别填入左下角和右上角的版本信息中，注意</a:t>
            </a:r>
            <a:r>
              <a:rPr lang="zh-CN" altLang="en-US" sz="2000" kern="100" dirty="0">
                <a:effectLst/>
                <a:latin typeface="+mn-ea"/>
                <a:ea typeface="+mn-ea"/>
                <a:cs typeface="Times New Roman" panose="02020603050405020304" pitchFamily="18" charset="0"/>
              </a:rPr>
              <a:t>顺序。</a:t>
            </a:r>
            <a:r>
              <a:rPr lang="zh-CN" altLang="zh-CN" sz="2000" kern="100" dirty="0">
                <a:effectLst/>
                <a:latin typeface="+mn-ea"/>
                <a:ea typeface="+mn-ea"/>
                <a:cs typeface="Times New Roman" panose="02020603050405020304" pitchFamily="18" charset="0"/>
              </a:rPr>
              <a:t>数字是倒着填入的，即末尾数字对应编号</a:t>
            </a:r>
            <a:r>
              <a:rPr lang="en-US" altLang="zh-CN" sz="2000" kern="100" dirty="0">
                <a:effectLst/>
                <a:latin typeface="+mn-ea"/>
                <a:ea typeface="+mn-ea"/>
                <a:cs typeface="Times New Roman" panose="02020603050405020304" pitchFamily="18" charset="0"/>
              </a:rPr>
              <a:t>0</a:t>
            </a:r>
            <a:r>
              <a:rPr lang="zh-CN" altLang="zh-CN" sz="2000" kern="100" dirty="0">
                <a:effectLst/>
                <a:latin typeface="+mn-ea"/>
                <a:ea typeface="+mn-ea"/>
                <a:cs typeface="Times New Roman" panose="02020603050405020304" pitchFamily="18" charset="0"/>
              </a:rPr>
              <a:t>，开头数字对应编号</a:t>
            </a:r>
            <a:r>
              <a:rPr lang="en-US" altLang="zh-CN" sz="2000" kern="100" dirty="0">
                <a:effectLst/>
                <a:latin typeface="+mn-ea"/>
                <a:ea typeface="+mn-ea"/>
                <a:cs typeface="Times New Roman" panose="02020603050405020304" pitchFamily="18" charset="0"/>
              </a:rPr>
              <a:t>17</a:t>
            </a:r>
            <a:r>
              <a:rPr lang="zh-CN" altLang="zh-CN" sz="2000" kern="100" dirty="0">
                <a:effectLst/>
                <a:latin typeface="+mn-ea"/>
                <a:ea typeface="+mn-ea"/>
                <a:cs typeface="Times New Roman" panose="02020603050405020304" pitchFamily="18" charset="0"/>
              </a:rPr>
              <a:t>，并且编号是从</a:t>
            </a:r>
            <a:r>
              <a:rPr lang="en-US" altLang="zh-CN" sz="2000" kern="100" dirty="0">
                <a:effectLst/>
                <a:latin typeface="+mn-ea"/>
                <a:ea typeface="+mn-ea"/>
                <a:cs typeface="Times New Roman" panose="02020603050405020304" pitchFamily="18" charset="0"/>
              </a:rPr>
              <a:t>0</a:t>
            </a:r>
            <a:r>
              <a:rPr lang="zh-CN" altLang="zh-CN" sz="2000" kern="100" dirty="0">
                <a:effectLst/>
                <a:latin typeface="+mn-ea"/>
                <a:ea typeface="+mn-ea"/>
                <a:cs typeface="Times New Roman" panose="02020603050405020304" pitchFamily="18" charset="0"/>
              </a:rPr>
              <a:t>开始的。</a:t>
            </a:r>
            <a:endParaRPr lang="zh-CN" altLang="zh-CN" sz="2000" kern="100" dirty="0">
              <a:effectLst/>
              <a:latin typeface="+mn-ea"/>
              <a:ea typeface="+mn-ea"/>
              <a:cs typeface="Times New Roman" panose="02020603050405020304" pitchFamily="18" charset="0"/>
            </a:endParaRPr>
          </a:p>
        </p:txBody>
      </p:sp>
      <p:graphicFrame>
        <p:nvGraphicFramePr>
          <p:cNvPr id="3" name="表格 3"/>
          <p:cNvGraphicFramePr>
            <a:graphicFrameLocks noGrp="1"/>
          </p:cNvGraphicFramePr>
          <p:nvPr/>
        </p:nvGraphicFramePr>
        <p:xfrm>
          <a:off x="1609725" y="4257264"/>
          <a:ext cx="6619780" cy="754628"/>
        </p:xfrm>
        <a:graphic>
          <a:graphicData uri="http://schemas.openxmlformats.org/drawingml/2006/table">
            <a:tbl>
              <a:tblPr bandRow="1">
                <a:tableStyleId>{5C22544A-7EE6-4342-B048-85BDC9FD1C3A}</a:tableStyleId>
              </a:tblPr>
              <a:tblGrid>
                <a:gridCol w="1479153"/>
                <a:gridCol w="5140627"/>
              </a:tblGrid>
              <a:tr h="377314">
                <a:tc>
                  <a:txBody>
                    <a:bodyPr/>
                    <a:lstStyle/>
                    <a:p>
                      <a:pPr algn="ctr"/>
                      <a:r>
                        <a:rPr lang="zh-CN" altLang="en-US" dirty="0"/>
                        <a:t>对应位</a:t>
                      </a:r>
                      <a:endParaRPr lang="zh-CN" altLang="en-US" dirty="0"/>
                    </a:p>
                  </a:txBody>
                  <a:tcPr/>
                </a:tc>
                <a:tc>
                  <a:txBody>
                    <a:bodyPr/>
                    <a:lstStyle/>
                    <a:p>
                      <a:r>
                        <a:rPr lang="en-US" altLang="zh-CN" dirty="0"/>
                        <a:t>17 16 15 14 13 12 11 10 9  8  7  6  5  4  3  2  1  0</a:t>
                      </a:r>
                      <a:endParaRPr lang="zh-CN" altLang="en-US" dirty="0"/>
                    </a:p>
                  </a:txBody>
                  <a:tcPr/>
                </a:tc>
              </a:tr>
              <a:tr h="377314">
                <a:tc>
                  <a:txBody>
                    <a:bodyPr/>
                    <a:lstStyle/>
                    <a:p>
                      <a:pPr algn="ctr"/>
                      <a:r>
                        <a:rPr lang="zh-CN" altLang="en-US" dirty="0"/>
                        <a:t>版本信息</a:t>
                      </a:r>
                      <a:endParaRPr lang="zh-CN" altLang="en-US" dirty="0"/>
                    </a:p>
                  </a:txBody>
                  <a:tcPr/>
                </a:tc>
                <a:tc>
                  <a:txBody>
                    <a:bodyPr/>
                    <a:lstStyle/>
                    <a:p>
                      <a:r>
                        <a:rPr lang="en-US" altLang="zh-CN" dirty="0"/>
                        <a:t> 0  0   0   1    1   1   1   1  0  0  1  0  0  1  0  1  0  0</a:t>
                      </a:r>
                      <a:endParaRPr lang="zh-CN" altLang="en-US" dirty="0"/>
                    </a:p>
                  </a:txBody>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endParaRPr lang="zh-CN" altLang="en-US" sz="2400" dirty="0">
              <a:sym typeface="+mn-ea"/>
            </a:endParaRPr>
          </a:p>
        </p:txBody>
      </p:sp>
      <p:sp>
        <p:nvSpPr>
          <p:cNvPr id="10" name="文本框 9"/>
          <p:cNvSpPr txBox="1"/>
          <p:nvPr/>
        </p:nvSpPr>
        <p:spPr>
          <a:xfrm>
            <a:off x="554990" y="950005"/>
            <a:ext cx="8205470" cy="400110"/>
          </a:xfrm>
          <a:prstGeom prst="rect">
            <a:avLst/>
          </a:prstGeom>
          <a:noFill/>
        </p:spPr>
        <p:txBody>
          <a:bodyPr wrap="square" rtlCol="0" anchor="t">
            <a:spAutoFit/>
          </a:bodyPr>
          <a:lstStyle/>
          <a:p>
            <a:pPr algn="l"/>
            <a:r>
              <a:rPr lang="zh-CN" altLang="en-US" sz="2000" dirty="0">
                <a:solidFill>
                  <a:srgbClr val="002060"/>
                </a:solidFill>
                <a:latin typeface="Times New Roman" panose="02020603050405020304" pitchFamily="18" charset="0"/>
                <a:ea typeface="黑体" panose="02010609060101010101" pitchFamily="49" charset="-122"/>
                <a:sym typeface="+mn-ea"/>
              </a:rPr>
              <a:t>最终结果：</a:t>
            </a:r>
            <a:endParaRPr lang="en-US" altLang="zh-CN" sz="2000" dirty="0">
              <a:solidFill>
                <a:srgbClr val="002060"/>
              </a:solidFill>
              <a:uFillTx/>
              <a:latin typeface="Times New Roman" panose="02020603050405020304" pitchFamily="18" charset="0"/>
              <a:ea typeface="黑体" panose="02010609060101010101" pitchFamily="49" charset="-122"/>
              <a:sym typeface="+mn-ea"/>
            </a:endParaRPr>
          </a:p>
        </p:txBody>
      </p:sp>
      <p:pic>
        <p:nvPicPr>
          <p:cNvPr id="10242" name="Picture 2" descr="在这里插入图片描述"/>
          <p:cNvPicPr>
            <a:picLocks noChangeAspect="1" noChangeArrowheads="1"/>
          </p:cNvPicPr>
          <p:nvPr/>
        </p:nvPicPr>
        <p:blipFill rotWithShape="1">
          <a:blip r:embed="rId1">
            <a:extLst>
              <a:ext uri="{28A0092B-C50C-407E-A947-70E740481C1C}">
                <a14:useLocalDpi xmlns:a14="http://schemas.microsoft.com/office/drawing/2010/main" val="0"/>
              </a:ext>
            </a:extLst>
          </a:blip>
          <a:srcRect r="34167" b="3111"/>
          <a:stretch>
            <a:fillRect/>
          </a:stretch>
        </p:blipFill>
        <p:spPr bwMode="auto">
          <a:xfrm>
            <a:off x="2641423" y="1350115"/>
            <a:ext cx="3596994" cy="3576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endParaRPr lang="zh-CN" altLang="en-US" sz="2400" dirty="0">
              <a:sym typeface="+mn-ea"/>
            </a:endParaRPr>
          </a:p>
        </p:txBody>
      </p:sp>
      <p:sp>
        <p:nvSpPr>
          <p:cNvPr id="10" name="文本框 9"/>
          <p:cNvSpPr txBox="1"/>
          <p:nvPr/>
        </p:nvSpPr>
        <p:spPr>
          <a:xfrm>
            <a:off x="554990" y="950005"/>
            <a:ext cx="8205470" cy="163121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识别步骤</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marL="914400" lvl="1" indent="-457200">
              <a:buFont typeface="+mj-lt"/>
              <a:buAutoNum type="arabicPeriod"/>
            </a:pPr>
            <a:r>
              <a:rPr lang="zh-CN" altLang="en-US" sz="2000" dirty="0">
                <a:solidFill>
                  <a:srgbClr val="FF0000"/>
                </a:solidFill>
                <a:latin typeface="+mn-ea"/>
                <a:ea typeface="+mn-ea"/>
              </a:rPr>
              <a:t>条码定位</a:t>
            </a:r>
            <a:endParaRPr lang="en-US" altLang="zh-CN" sz="2000" dirty="0">
              <a:solidFill>
                <a:srgbClr val="FF0000"/>
              </a:solidFill>
              <a:latin typeface="+mn-ea"/>
              <a:ea typeface="+mn-ea"/>
            </a:endParaRPr>
          </a:p>
          <a:p>
            <a:pPr marL="914400" lvl="1" indent="-457200">
              <a:buFont typeface="+mj-lt"/>
              <a:buAutoNum type="arabicPeriod"/>
            </a:pPr>
            <a:r>
              <a:rPr lang="zh-CN" altLang="en-US" sz="2000" b="0" i="0" dirty="0">
                <a:solidFill>
                  <a:srgbClr val="FF0000"/>
                </a:solidFill>
                <a:effectLst/>
                <a:latin typeface="+mn-ea"/>
                <a:ea typeface="+mn-ea"/>
              </a:rPr>
              <a:t>条码分割</a:t>
            </a:r>
            <a:endParaRPr lang="en-US" altLang="zh-CN" sz="2000" b="0" i="0" dirty="0">
              <a:solidFill>
                <a:srgbClr val="FF0000"/>
              </a:solidFill>
              <a:effectLst/>
              <a:latin typeface="+mn-ea"/>
              <a:ea typeface="+mn-ea"/>
            </a:endParaRPr>
          </a:p>
          <a:p>
            <a:pPr marL="914400" lvl="1" indent="-457200">
              <a:buFont typeface="+mj-lt"/>
              <a:buAutoNum type="arabicPeriod"/>
            </a:pPr>
            <a:r>
              <a:rPr lang="zh-CN" altLang="en-US" sz="2000" dirty="0">
                <a:solidFill>
                  <a:srgbClr val="FF0000"/>
                </a:solidFill>
                <a:latin typeface="+mn-ea"/>
                <a:ea typeface="+mn-ea"/>
              </a:rPr>
              <a:t>解码</a:t>
            </a:r>
            <a:endParaRPr lang="en-US" altLang="zh-CN" sz="2000" b="0" i="0" dirty="0">
              <a:solidFill>
                <a:srgbClr val="000000"/>
              </a:solidFill>
              <a:effectLst/>
              <a:latin typeface="+mn-ea"/>
              <a:ea typeface="+mn-ea"/>
            </a:endParaRPr>
          </a:p>
        </p:txBody>
      </p:sp>
      <p:pic>
        <p:nvPicPr>
          <p:cNvPr id="4" name="图片 3"/>
          <p:cNvPicPr>
            <a:picLocks noChangeAspect="1"/>
          </p:cNvPicPr>
          <p:nvPr/>
        </p:nvPicPr>
        <p:blipFill>
          <a:blip r:embed="rId1"/>
          <a:stretch>
            <a:fillRect/>
          </a:stretch>
        </p:blipFill>
        <p:spPr>
          <a:xfrm>
            <a:off x="3657624" y="1793304"/>
            <a:ext cx="4155760" cy="460289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endParaRPr lang="zh-CN" altLang="en-US" sz="2400" dirty="0">
              <a:sym typeface="+mn-ea"/>
            </a:endParaRPr>
          </a:p>
        </p:txBody>
      </p:sp>
      <p:sp>
        <p:nvSpPr>
          <p:cNvPr id="10" name="文本框 9"/>
          <p:cNvSpPr txBox="1"/>
          <p:nvPr/>
        </p:nvSpPr>
        <p:spPr>
          <a:xfrm>
            <a:off x="554990" y="950005"/>
            <a:ext cx="8205470" cy="163121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条码的定位就是找到条码符号的图像区域，对有明显条码特征的区域进行定位。然后根据不同条码的定位图形结构特征对不同的条码符号进行下一步的处理。</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2050" name="Picture 2" descr="查看源图像"/>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31786" y="3124208"/>
            <a:ext cx="6080428" cy="29491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endParaRPr lang="zh-CN" altLang="en-US" sz="2400" dirty="0">
              <a:sym typeface="+mn-ea"/>
            </a:endParaRPr>
          </a:p>
        </p:txBody>
      </p:sp>
      <p:sp>
        <p:nvSpPr>
          <p:cNvPr id="10" name="文本框 9"/>
          <p:cNvSpPr txBox="1"/>
          <p:nvPr/>
        </p:nvSpPr>
        <p:spPr>
          <a:xfrm>
            <a:off x="554990" y="950005"/>
            <a:ext cx="8205470" cy="224676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定位采用以下步骤：</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1.</a:t>
            </a:r>
            <a:r>
              <a:rPr lang="zh-CN" altLang="en-US" sz="2000" dirty="0">
                <a:latin typeface="Times New Roman" panose="02020603050405020304" pitchFamily="18" charset="0"/>
                <a:ea typeface="黑体" panose="02010609060101010101" pitchFamily="49" charset="-122"/>
                <a:sym typeface="+mn-ea"/>
              </a:rPr>
              <a:t>利用点运算的阈值理论将采集到的图像变为二值图像，即对图像进行二值化处理；</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2.</a:t>
            </a:r>
            <a:r>
              <a:rPr lang="zh-CN" altLang="en-US" sz="2000" dirty="0">
                <a:uFillTx/>
                <a:latin typeface="Times New Roman" panose="02020603050405020304" pitchFamily="18" charset="0"/>
                <a:ea typeface="黑体" panose="02010609060101010101" pitchFamily="49" charset="-122"/>
                <a:sym typeface="+mn-ea"/>
              </a:rPr>
              <a:t>得到二值化图像后，对其进行膨胀运算；</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3.</a:t>
            </a:r>
            <a:r>
              <a:rPr lang="zh-CN" altLang="en-US" sz="2000" dirty="0">
                <a:latin typeface="Times New Roman" panose="02020603050405020304" pitchFamily="18" charset="0"/>
                <a:ea typeface="黑体" panose="02010609060101010101" pitchFamily="49" charset="-122"/>
                <a:sym typeface="+mn-ea"/>
              </a:rPr>
              <a:t>对膨胀后的图像进行边缘检测得到条码区域的轮廓。</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480441" y="3612736"/>
            <a:ext cx="8183117" cy="253400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endParaRPr lang="zh-CN" altLang="en-US" sz="2400" dirty="0">
              <a:sym typeface="+mn-ea"/>
            </a:endParaRPr>
          </a:p>
        </p:txBody>
      </p:sp>
      <p:sp>
        <p:nvSpPr>
          <p:cNvPr id="10" name="文本框 9"/>
          <p:cNvSpPr txBox="1"/>
          <p:nvPr/>
        </p:nvSpPr>
        <p:spPr>
          <a:xfrm>
            <a:off x="554990" y="950005"/>
            <a:ext cx="8205470" cy="286232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定位采用以下步骤：</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4.</a:t>
            </a:r>
            <a:r>
              <a:rPr lang="zh-CN" altLang="en-US" sz="2000" dirty="0">
                <a:latin typeface="Times New Roman" panose="02020603050405020304" pitchFamily="18" charset="0"/>
                <a:ea typeface="黑体" panose="02010609060101010101" pitchFamily="49" charset="-122"/>
                <a:sym typeface="+mn-ea"/>
              </a:rPr>
              <a:t>确定寻像图形</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5.</a:t>
            </a:r>
            <a:r>
              <a:rPr lang="zh-CN" altLang="en-US" sz="2000" dirty="0">
                <a:uFillTx/>
                <a:latin typeface="Times New Roman" panose="02020603050405020304" pitchFamily="18" charset="0"/>
                <a:ea typeface="黑体" panose="02010609060101010101" pitchFamily="49" charset="-122"/>
                <a:sym typeface="+mn-ea"/>
              </a:rPr>
              <a:t>探测图形中心坐标</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6.</a:t>
            </a:r>
            <a:r>
              <a:rPr lang="zh-CN" altLang="en-US" sz="2000" dirty="0">
                <a:uFillTx/>
                <a:latin typeface="Times New Roman" panose="02020603050405020304" pitchFamily="18" charset="0"/>
                <a:ea typeface="黑体" panose="02010609060101010101" pitchFamily="49" charset="-122"/>
                <a:sym typeface="+mn-ea"/>
              </a:rPr>
              <a:t>确定两个举例</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7.</a:t>
            </a:r>
            <a:r>
              <a:rPr lang="zh-CN" altLang="en-US" sz="2000" dirty="0">
                <a:latin typeface="Times New Roman" panose="02020603050405020304" pitchFamily="18" charset="0"/>
                <a:ea typeface="黑体" panose="02010609060101010101" pitchFamily="49" charset="-122"/>
                <a:sym typeface="+mn-ea"/>
              </a:rPr>
              <a:t>确定版本号</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8.</a:t>
            </a:r>
            <a:r>
              <a:rPr lang="zh-CN" altLang="en-US" sz="2000" dirty="0">
                <a:uFillTx/>
                <a:latin typeface="Times New Roman" panose="02020603050405020304" pitchFamily="18" charset="0"/>
                <a:ea typeface="黑体" panose="02010609060101010101" pitchFamily="49" charset="-122"/>
                <a:sym typeface="+mn-ea"/>
              </a:rPr>
              <a:t>构造位图</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9.</a:t>
            </a:r>
            <a:r>
              <a:rPr lang="zh-CN" altLang="en-US" sz="2000" dirty="0">
                <a:latin typeface="Times New Roman" panose="02020603050405020304" pitchFamily="18" charset="0"/>
                <a:ea typeface="黑体" panose="02010609060101010101" pitchFamily="49" charset="-122"/>
                <a:sym typeface="+mn-ea"/>
              </a:rPr>
              <a:t>得到纠错等级和掩模图形</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5" name="图片 4"/>
          <p:cNvPicPr>
            <a:picLocks noChangeAspect="1"/>
          </p:cNvPicPr>
          <p:nvPr/>
        </p:nvPicPr>
        <p:blipFill>
          <a:blip r:embed="rId1"/>
          <a:stretch>
            <a:fillRect/>
          </a:stretch>
        </p:blipFill>
        <p:spPr>
          <a:xfrm>
            <a:off x="5943564" y="1676446"/>
            <a:ext cx="1857634" cy="1905266"/>
          </a:xfrm>
          <a:prstGeom prst="rect">
            <a:avLst/>
          </a:prstGeom>
        </p:spPr>
      </p:pic>
      <p:sp>
        <p:nvSpPr>
          <p:cNvPr id="6" name="文本框 5"/>
          <p:cNvSpPr txBox="1"/>
          <p:nvPr/>
        </p:nvSpPr>
        <p:spPr>
          <a:xfrm>
            <a:off x="6017018" y="3663980"/>
            <a:ext cx="1710725" cy="307777"/>
          </a:xfrm>
          <a:prstGeom prst="rect">
            <a:avLst/>
          </a:prstGeom>
          <a:noFill/>
        </p:spPr>
        <p:txBody>
          <a:bodyPr wrap="none" rtlCol="0" anchor="t">
            <a:spAutoFit/>
          </a:bodyPr>
          <a:lstStyle/>
          <a:p>
            <a:r>
              <a:rPr lang="en-US" altLang="zh-CN" sz="1400" dirty="0">
                <a:latin typeface="黑体" panose="02010609060101010101" pitchFamily="49" charset="-122"/>
                <a:ea typeface="黑体" panose="02010609060101010101" pitchFamily="49" charset="-122"/>
                <a:sym typeface="+mn-ea"/>
              </a:rPr>
              <a:t>QR Code</a:t>
            </a:r>
            <a:r>
              <a:rPr lang="zh-CN" altLang="en-US" sz="1400" dirty="0">
                <a:latin typeface="黑体" panose="02010609060101010101" pitchFamily="49" charset="-122"/>
                <a:ea typeface="黑体" panose="02010609060101010101" pitchFamily="49" charset="-122"/>
                <a:sym typeface="+mn-ea"/>
              </a:rPr>
              <a:t>的定位图形</a:t>
            </a:r>
            <a:endParaRPr lang="zh-CN" altLang="en-US" sz="1400" dirty="0">
              <a:latin typeface="黑体" panose="02010609060101010101" pitchFamily="49" charset="-122"/>
              <a:ea typeface="黑体" panose="02010609060101010101" pitchFamily="49"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条码分割</a:t>
            </a:r>
            <a:endParaRPr lang="zh-CN" altLang="en-US" sz="2400" dirty="0">
              <a:sym typeface="+mn-ea"/>
            </a:endParaRPr>
          </a:p>
        </p:txBody>
      </p:sp>
      <p:sp>
        <p:nvSpPr>
          <p:cNvPr id="10" name="文本框 9"/>
          <p:cNvSpPr txBox="1"/>
          <p:nvPr/>
        </p:nvSpPr>
        <p:spPr>
          <a:xfrm>
            <a:off x="554990" y="950005"/>
            <a:ext cx="8205470" cy="224676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条码分割</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分割</a:t>
            </a:r>
            <a:r>
              <a:rPr lang="zh-CN" altLang="en-US" sz="2000" dirty="0">
                <a:uFillTx/>
                <a:latin typeface="Times New Roman" panose="02020603050405020304" pitchFamily="18" charset="0"/>
                <a:ea typeface="黑体" panose="02010609060101010101" pitchFamily="49" charset="-122"/>
                <a:sym typeface="+mn-ea"/>
              </a:rPr>
              <a:t>采用以下步骤：</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1.</a:t>
            </a:r>
            <a:r>
              <a:rPr lang="zh-CN" altLang="en-US" sz="2000" dirty="0">
                <a:latin typeface="Times New Roman" panose="02020603050405020304" pitchFamily="18" charset="0"/>
                <a:ea typeface="黑体" panose="02010609060101010101" pitchFamily="49" charset="-122"/>
                <a:sym typeface="+mn-ea"/>
              </a:rPr>
              <a:t>将原图像按比例缩小进行分割，计算其特征值；</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分块继承父块纹理类别，结合其周围纹理类型进行修正；</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uFillTx/>
                <a:latin typeface="Times New Roman" panose="02020603050405020304" pitchFamily="18" charset="0"/>
                <a:ea typeface="黑体" panose="02010609060101010101" pitchFamily="49" charset="-122"/>
                <a:sym typeface="+mn-ea"/>
              </a:rPr>
              <a:t>        </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重复步骤二直至图像被划分为</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2</a:t>
            </a:r>
            <a:r>
              <a:rPr lang="zh-CN" altLang="en-US" sz="2000" dirty="0">
                <a:latin typeface="Times New Roman" panose="02020603050405020304" pitchFamily="18" charset="0"/>
                <a:ea typeface="黑体" panose="02010609060101010101" pitchFamily="49" charset="-122"/>
                <a:sym typeface="+mn-ea"/>
              </a:rPr>
              <a:t>大小，分割结束；</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4.</a:t>
            </a:r>
            <a:r>
              <a:rPr lang="zh-CN" altLang="en-US" sz="2000" dirty="0">
                <a:latin typeface="Times New Roman" panose="02020603050405020304" pitchFamily="18" charset="0"/>
                <a:ea typeface="黑体" panose="02010609060101010101" pitchFamily="49" charset="-122"/>
                <a:sym typeface="+mn-ea"/>
              </a:rPr>
              <a:t>分割结束后，图中可能出现的孤立的小区域可作为噪声删除。</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解码</a:t>
            </a:r>
            <a:endParaRPr lang="zh-CN" altLang="en-US" sz="2400" dirty="0">
              <a:sym typeface="+mn-ea"/>
            </a:endParaRPr>
          </a:p>
        </p:txBody>
      </p:sp>
      <p:sp>
        <p:nvSpPr>
          <p:cNvPr id="10" name="文本框 9"/>
          <p:cNvSpPr txBox="1"/>
          <p:nvPr/>
        </p:nvSpPr>
        <p:spPr>
          <a:xfrm>
            <a:off x="554990" y="950005"/>
            <a:ext cx="8205470" cy="378565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解码</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得到一幅标准的条码图像后，对该符号进行网络取样，对网格每一个交点上的图像像素取样，并根据阈值确定是深色块还是浅色块。构造一个位图，用二进制的“</a:t>
            </a:r>
            <a:r>
              <a:rPr lang="en-US" altLang="zh-CN" sz="2000" dirty="0">
                <a:uFillTx/>
                <a:latin typeface="Times New Roman" panose="02020603050405020304" pitchFamily="18" charset="0"/>
                <a:ea typeface="黑体" panose="02010609060101010101" pitchFamily="49" charset="-122"/>
                <a:sym typeface="+mn-ea"/>
              </a:rPr>
              <a:t>1</a:t>
            </a:r>
            <a:r>
              <a:rPr lang="zh-CN" altLang="en-US" sz="2000" dirty="0">
                <a:uFillTx/>
                <a:latin typeface="Times New Roman" panose="02020603050405020304" pitchFamily="18" charset="0"/>
                <a:ea typeface="黑体" panose="02010609060101010101" pitchFamily="49" charset="-122"/>
                <a:sym typeface="+mn-ea"/>
              </a:rPr>
              <a:t>”表示深色像素，“</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”表示浅色像素，从而得到条码的原始二进制序列值，然后对这些数据进行纠错和译码：</a:t>
            </a:r>
            <a:endParaRPr lang="en-US" altLang="zh-CN" sz="2000" dirty="0">
              <a:uFillTx/>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1.</a:t>
            </a:r>
            <a:r>
              <a:rPr lang="zh-CN" altLang="en-US" sz="2000" dirty="0">
                <a:latin typeface="Times New Roman" panose="02020603050405020304" pitchFamily="18" charset="0"/>
                <a:ea typeface="黑体" panose="02010609060101010101" pitchFamily="49" charset="-122"/>
                <a:sym typeface="+mn-ea"/>
              </a:rPr>
              <a:t>异或处理（</a:t>
            </a:r>
            <a:r>
              <a:rPr lang="en-US" altLang="zh-CN" sz="2000" dirty="0">
                <a:latin typeface="Times New Roman" panose="02020603050405020304" pitchFamily="18" charset="0"/>
                <a:ea typeface="黑体" panose="02010609060101010101" pitchFamily="49" charset="-122"/>
                <a:sym typeface="+mn-ea"/>
              </a:rPr>
              <a:t>XOR</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2.</a:t>
            </a:r>
            <a:r>
              <a:rPr lang="zh-CN" altLang="en-US" sz="2000" dirty="0">
                <a:latin typeface="Times New Roman" panose="02020603050405020304" pitchFamily="18" charset="0"/>
                <a:ea typeface="黑体" panose="02010609060101010101" pitchFamily="49" charset="-122"/>
                <a:sym typeface="+mn-ea"/>
              </a:rPr>
              <a:t>确定符号码字</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3.</a:t>
            </a:r>
            <a:r>
              <a:rPr lang="zh-CN" altLang="en-US" sz="2000" dirty="0">
                <a:latin typeface="Times New Roman" panose="02020603050405020304" pitchFamily="18" charset="0"/>
                <a:ea typeface="黑体" panose="02010609060101010101" pitchFamily="49" charset="-122"/>
                <a:sym typeface="+mn-ea"/>
              </a:rPr>
              <a:t>重新排列码字序列</a:t>
            </a:r>
            <a:endParaRPr lang="en-US" altLang="zh-CN" sz="2000" dirty="0">
              <a:latin typeface="Times New Roman" panose="02020603050405020304" pitchFamily="18" charset="0"/>
              <a:ea typeface="黑体" panose="02010609060101010101" pitchFamily="49" charset="-122"/>
              <a:sym typeface="+mn-ea"/>
            </a:endParaRPr>
          </a:p>
          <a:p>
            <a:pPr algn="l"/>
            <a:r>
              <a:rPr lang="en-US" altLang="zh-CN" sz="2000" dirty="0">
                <a:latin typeface="Times New Roman" panose="02020603050405020304" pitchFamily="18" charset="0"/>
                <a:ea typeface="黑体" panose="02010609060101010101" pitchFamily="49" charset="-122"/>
                <a:sym typeface="+mn-ea"/>
              </a:rPr>
              <a:t>        4.</a:t>
            </a:r>
            <a:r>
              <a:rPr lang="zh-CN" altLang="en-US" sz="2000" dirty="0">
                <a:latin typeface="Times New Roman" panose="02020603050405020304" pitchFamily="18" charset="0"/>
                <a:ea typeface="黑体" panose="02010609060101010101" pitchFamily="49" charset="-122"/>
                <a:sym typeface="+mn-ea"/>
              </a:rPr>
              <a:t>执行错误检测和纠错译码程序</a:t>
            </a:r>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latin typeface="Times New Roman" panose="02020603050405020304" pitchFamily="18" charset="0"/>
                <a:ea typeface="黑体" panose="02010609060101010101" pitchFamily="49" charset="-122"/>
                <a:sym typeface="+mn-ea"/>
              </a:rPr>
              <a:t>        最后根据条码的逻辑编码规则把这些原始的数据位流转换成数据码字。</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lvl="0" algn="l">
              <a:buClrTx/>
              <a:buSzTx/>
              <a:buFont typeface="Arial" panose="020B0604020202020204" pitchFamily="34" charset="0"/>
              <a:buNone/>
              <a:defRPr/>
            </a:pPr>
            <a:r>
              <a:rPr lang="zh-CN" altLang="en-US" sz="2800" b="1" kern="0" dirty="0">
                <a:cs typeface="+mn-cs"/>
                <a:sym typeface="+mn-ea"/>
              </a:rPr>
              <a:t>二维码的应用</a:t>
            </a:r>
            <a:endParaRPr lang="zh-CN" altLang="en-US" sz="2800" b="1" kern="0" noProof="0" dirty="0">
              <a:ln>
                <a:noFill/>
              </a:ln>
              <a:effectLst/>
              <a:uLnTx/>
              <a:uFillTx/>
              <a:cs typeface="+mn-cs"/>
              <a:sym typeface="+mn-ea"/>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b="1" kern="0" dirty="0">
                <a:solidFill>
                  <a:schemeClr val="bg1">
                    <a:lumMod val="75000"/>
                  </a:schemeClr>
                </a:solidFill>
                <a:cs typeface="+mn-cs"/>
                <a:sym typeface="+mn-ea"/>
              </a:rPr>
              <a:t>QR</a:t>
            </a:r>
            <a:r>
              <a:rPr lang="zh-CN" altLang="en-US" sz="2800" b="1" kern="0" dirty="0">
                <a:solidFill>
                  <a:schemeClr val="bg1">
                    <a:lumMod val="75000"/>
                  </a:schemeClr>
                </a:solidFill>
                <a:cs typeface="+mn-cs"/>
                <a:sym typeface="+mn-ea"/>
              </a:rPr>
              <a:t>码的生成与识别</a:t>
            </a:r>
            <a:endParaRPr lang="zh-CN" altLang="en-US" sz="2800" b="1" kern="0" noProof="0" dirty="0">
              <a:ln>
                <a:noFill/>
              </a:ln>
              <a:solidFill>
                <a:schemeClr val="bg1">
                  <a:lumMod val="75000"/>
                </a:schemeClr>
              </a:solidFill>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800" b="1" kern="0" dirty="0">
                <a:solidFill>
                  <a:schemeClr val="bg1">
                    <a:lumMod val="75000"/>
                  </a:schemeClr>
                </a:solidFill>
                <a:cs typeface="+mn-cs"/>
              </a:rPr>
              <a:t>二维码的特点</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0" cap="none" spc="0" normalizeH="0" baseline="0" dirty="0">
                <a:solidFill>
                  <a:schemeClr val="bg1">
                    <a:lumMod val="75000"/>
                  </a:schemeClr>
                </a:solidFill>
                <a:latin typeface="Arial" panose="020B0604020202020204" pitchFamily="34" charset="0"/>
                <a:ea typeface="宋体" panose="02010600030101010101" pitchFamily="2" charset="-122"/>
                <a:cs typeface="+mn-cs"/>
                <a:sym typeface="+mn-ea"/>
              </a:rPr>
              <a:t>二维码的概念与原理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二维码的应用</a:t>
            </a:r>
            <a:endParaRPr lang="zh-CN" altLang="en-US" sz="2400" dirty="0">
              <a:sym typeface="+mn-ea"/>
            </a:endParaRPr>
          </a:p>
        </p:txBody>
      </p:sp>
      <p:sp>
        <p:nvSpPr>
          <p:cNvPr id="10" name="文本框 9"/>
          <p:cNvSpPr txBox="1"/>
          <p:nvPr/>
        </p:nvSpPr>
        <p:spPr>
          <a:xfrm>
            <a:off x="554990" y="950005"/>
            <a:ext cx="8205470" cy="286232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食品追溯</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原材料供应商在向食品厂家提供原材料时候进行批次管理，将原材料的原始生产数据制造日期、食用期限、原产地、生产者、遗传基因组合等信息录入到二维码中，并打印带有二维码的标签，粘贴在包装箱上后交给食品厂家。</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uFillTx/>
                <a:latin typeface="Times New Roman" panose="02020603050405020304" pitchFamily="18" charset="0"/>
                <a:ea typeface="黑体" panose="02010609060101010101" pitchFamily="49" charset="-122"/>
                <a:sym typeface="+mn-ea"/>
              </a:rPr>
              <a:t>        此外，消费者购买产品时，需要手机扫码或编辑码号发短信，即可随时查询产品源信息与质量认证等信息，并可及时举报虚假、错误信息。</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100" y="4267178"/>
            <a:ext cx="3603425" cy="2271563"/>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386" y="4247810"/>
            <a:ext cx="2994681" cy="22909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二维码的应用</a:t>
            </a:r>
            <a:endParaRPr lang="zh-CN" altLang="en-US" sz="2400" dirty="0">
              <a:sym typeface="+mn-ea"/>
            </a:endParaRPr>
          </a:p>
        </p:txBody>
      </p:sp>
      <p:sp>
        <p:nvSpPr>
          <p:cNvPr id="10" name="文本框 9"/>
          <p:cNvSpPr txBox="1"/>
          <p:nvPr/>
        </p:nvSpPr>
        <p:spPr>
          <a:xfrm>
            <a:off x="554990" y="950005"/>
            <a:ext cx="8205470" cy="163121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餐厅应用</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手机电子菜单：</a:t>
            </a:r>
            <a:endParaRPr lang="en-US" altLang="zh-CN" sz="2000" dirty="0">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通过将餐饮店中的菜品介绍、餐饮文化等信息录入电子菜单中，用户通过扫码获得该手机网站的跳转链接获取商家相关信息。</a:t>
            </a:r>
            <a:endParaRPr lang="en-US" altLang="zh-CN" sz="2000" dirty="0">
              <a:uFillTx/>
              <a:latin typeface="Times New Roman" panose="02020603050405020304" pitchFamily="18" charset="0"/>
              <a:ea typeface="黑体" panose="02010609060101010101" pitchFamily="49" charset="-122"/>
              <a:sym typeface="+mn-ea"/>
            </a:endParaRPr>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86" y="2908483"/>
            <a:ext cx="2060733" cy="365750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108" y="2908483"/>
            <a:ext cx="4293254" cy="36492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二维码的应用</a:t>
            </a:r>
            <a:endParaRPr lang="zh-CN" altLang="en-US" sz="2400" dirty="0">
              <a:sym typeface="+mn-ea"/>
            </a:endParaRPr>
          </a:p>
        </p:txBody>
      </p:sp>
      <p:sp>
        <p:nvSpPr>
          <p:cNvPr id="10" name="文本框 9"/>
          <p:cNvSpPr txBox="1"/>
          <p:nvPr/>
        </p:nvSpPr>
        <p:spPr>
          <a:xfrm>
            <a:off x="554990" y="950005"/>
            <a:ext cx="8205470" cy="132343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景点门票应用</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景点门票、火车票等告别传统的文字纸张模式，采用二维码进行售票、检票等，可以大幅度提高通行效率，并且防止伪票。</a:t>
            </a:r>
            <a:endParaRPr lang="en-US" altLang="zh-CN" sz="2000" dirty="0">
              <a:latin typeface="Times New Roman" panose="02020603050405020304" pitchFamily="18" charset="0"/>
              <a:ea typeface="黑体" panose="02010609060101010101" pitchFamily="49" charset="-122"/>
              <a:sym typeface="+mn-ea"/>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956" y="3025615"/>
            <a:ext cx="7466087" cy="2978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二维码的应用</a:t>
            </a:r>
            <a:endParaRPr lang="zh-CN" altLang="en-US" sz="2400" dirty="0">
              <a:sym typeface="+mn-ea"/>
            </a:endParaRPr>
          </a:p>
        </p:txBody>
      </p:sp>
      <p:sp>
        <p:nvSpPr>
          <p:cNvPr id="10" name="文本框 9"/>
          <p:cNvSpPr txBox="1"/>
          <p:nvPr/>
        </p:nvSpPr>
        <p:spPr>
          <a:xfrm>
            <a:off x="554990" y="950005"/>
            <a:ext cx="8205470" cy="163121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车辆管理</a:t>
            </a:r>
            <a:r>
              <a:rPr lang="zh-CN" altLang="en-US" sz="2000" dirty="0">
                <a:solidFill>
                  <a:srgbClr val="0070C0"/>
                </a:solidFill>
                <a:uFillTx/>
                <a:latin typeface="Times New Roman" panose="02020603050405020304" pitchFamily="18" charset="0"/>
                <a:ea typeface="黑体" panose="02010609060101010101" pitchFamily="49" charset="-122"/>
                <a:sym typeface="+mn-ea"/>
              </a:rPr>
              <a:t>应用</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行驶证、驾驶证、车辆的年审文件等都印制有二维码，可以将有关车辆上的基本信息都保存在二维码中，信息的数字化便于管理部门的管理网络实施实时监控。</a:t>
            </a:r>
            <a:endParaRPr lang="en-US" altLang="zh-CN" sz="2000" dirty="0">
              <a:latin typeface="Times New Roman" panose="02020603050405020304" pitchFamily="18" charset="0"/>
              <a:ea typeface="黑体" panose="02010609060101010101" pitchFamily="49" charset="-122"/>
              <a:sym typeface="+mn-ea"/>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762100" y="3124208"/>
            <a:ext cx="2902262" cy="339564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920" y="3569557"/>
            <a:ext cx="3713314" cy="20900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课堂思政</a:t>
            </a:r>
            <a:endParaRPr lang="zh-CN" altLang="en-US" sz="2400" dirty="0">
              <a:sym typeface="+mn-ea"/>
            </a:endParaRPr>
          </a:p>
        </p:txBody>
      </p:sp>
      <p:sp>
        <p:nvSpPr>
          <p:cNvPr id="10" name="文本框 9"/>
          <p:cNvSpPr txBox="1"/>
          <p:nvPr/>
        </p:nvSpPr>
        <p:spPr>
          <a:xfrm>
            <a:off x="554990" y="950005"/>
            <a:ext cx="8205470" cy="3477875"/>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课堂思政</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uFillTx/>
              <a:latin typeface="Times New Roman" panose="02020603050405020304" pitchFamily="18" charset="0"/>
              <a:ea typeface="黑体" panose="02010609060101010101" pitchFamily="49" charset="-122"/>
              <a:sym typeface="+mn-ea"/>
            </a:endParaRPr>
          </a:p>
          <a:p>
            <a:pPr lvl="1"/>
            <a:r>
              <a:rPr lang="zh-CN" altLang="en-US" sz="2000" dirty="0">
                <a:latin typeface="Times New Roman" panose="02020603050405020304" pitchFamily="18" charset="0"/>
                <a:ea typeface="黑体" panose="02010609060101010101" pitchFamily="49" charset="-122"/>
                <a:sym typeface="+mn-ea"/>
              </a:rPr>
              <a:t>        上述举的这些例子，都是二维码真正应用于生活中的。并且随着技术的不断发展、移动设备的快速普及，二维码在生活中得到了越来越广泛的应用。你能想到的还有哪些非常普及的二维码应用方式呢？</a:t>
            </a:r>
            <a:endParaRPr lang="en-US" altLang="zh-CN" sz="2000" dirty="0">
              <a:latin typeface="Times New Roman" panose="02020603050405020304" pitchFamily="18" charset="0"/>
              <a:ea typeface="黑体" panose="02010609060101010101" pitchFamily="49" charset="-122"/>
              <a:sym typeface="+mn-ea"/>
            </a:endParaRPr>
          </a:p>
          <a:p>
            <a:pPr lvl="1"/>
            <a:r>
              <a:rPr lang="en-US" altLang="zh-CN" sz="2000" dirty="0">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古往今来，有许多的科研结果都投入到实际之中，并且获得广泛、实用的良好效果。当代大学生在平时也要坚持解决思想问题和解决实际问题相结合的思想，既要重视道理又要办实事，从而完成自身的全方位发展，并且能够为建设中国现代化社会主义强国作出贡献。</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3170099"/>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二维码的制作</a:t>
            </a: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二维码是由很多</a:t>
            </a:r>
            <a:r>
              <a:rPr lang="en-US" altLang="zh-CN" sz="2000" dirty="0">
                <a:uFillTx/>
                <a:latin typeface="Times New Roman" panose="02020603050405020304" pitchFamily="18" charset="0"/>
                <a:ea typeface="黑体" panose="02010609060101010101" pitchFamily="49" charset="-122"/>
                <a:sym typeface="+mn-ea"/>
              </a:rPr>
              <a:t>0</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组成的数字矩阵。二维条码是用某种特定的几何图形按一定规律在平面（二维方向上）分布的黑白相间的图形记录数据符号信息的；在代码编制上巧妙地利用构成计算机内部逻辑结构基础的“</a:t>
            </a:r>
            <a:r>
              <a:rPr lang="en-US" altLang="zh-CN" sz="2000" dirty="0">
                <a:latin typeface="Times New Roman" panose="02020603050405020304" pitchFamily="18" charset="0"/>
                <a:ea typeface="黑体" panose="02010609060101010101" pitchFamily="49" charset="-122"/>
                <a:sym typeface="+mn-ea"/>
              </a:rPr>
              <a:t>0</a:t>
            </a:r>
            <a:r>
              <a:rPr lang="zh-CN" altLang="en-US" sz="2000" dirty="0">
                <a:latin typeface="Times New Roman" panose="02020603050405020304" pitchFamily="18" charset="0"/>
                <a:ea typeface="黑体" panose="02010609060101010101" pitchFamily="49" charset="-122"/>
                <a:sym typeface="+mn-ea"/>
              </a:rPr>
              <a:t>”、“</a:t>
            </a:r>
            <a:r>
              <a:rPr lang="en-US" altLang="zh-CN" sz="2000" dirty="0">
                <a:latin typeface="Times New Roman" panose="02020603050405020304" pitchFamily="18" charset="0"/>
                <a:ea typeface="黑体" panose="02010609060101010101" pitchFamily="49" charset="-122"/>
                <a:sym typeface="+mn-ea"/>
              </a:rPr>
              <a:t>1</a:t>
            </a:r>
            <a:r>
              <a:rPr lang="zh-CN" altLang="en-US" sz="2000" dirty="0">
                <a:latin typeface="Times New Roman" panose="02020603050405020304" pitchFamily="18" charset="0"/>
                <a:ea typeface="黑体" panose="02010609060101010101" pitchFamily="49" charset="-122"/>
                <a:sym typeface="+mn-ea"/>
              </a:rPr>
              <a:t>”比特流的概念，通过图像输入设备或光电扫描设备自动识读以实现信息自动处理，同时它具有条码技术的一些共性。</a:t>
            </a:r>
            <a:endParaRPr lang="en-US" altLang="zh-CN" sz="2000" dirty="0">
              <a:latin typeface="Times New Roman" panose="02020603050405020304" pitchFamily="18" charset="0"/>
              <a:ea typeface="黑体" panose="02010609060101010101" pitchFamily="49" charset="-122"/>
              <a:sym typeface="+mn-ea"/>
            </a:endParaRPr>
          </a:p>
          <a:p>
            <a:pPr algn="l"/>
            <a:r>
              <a:rPr lang="zh-CN" altLang="en-US" sz="2000" dirty="0">
                <a:uFillTx/>
                <a:latin typeface="Times New Roman" panose="02020603050405020304" pitchFamily="18" charset="0"/>
                <a:ea typeface="黑体" panose="02010609060101010101" pitchFamily="49" charset="-122"/>
                <a:sym typeface="+mn-ea"/>
              </a:rPr>
              <a:t>        二维码生成器的制作需要一个二维码生成算法，或者一个二维码插件，然后用</a:t>
            </a:r>
            <a:r>
              <a:rPr lang="en-US" altLang="zh-CN" sz="2000" dirty="0">
                <a:uFillTx/>
                <a:latin typeface="Times New Roman" panose="02020603050405020304" pitchFamily="18" charset="0"/>
                <a:ea typeface="黑体" panose="02010609060101010101" pitchFamily="49" charset="-122"/>
                <a:sym typeface="+mn-ea"/>
              </a:rPr>
              <a:t>JAVA</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C#</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VB</a:t>
            </a:r>
            <a:r>
              <a:rPr lang="zh-CN" altLang="en-US" sz="2000" dirty="0">
                <a:uFillTx/>
                <a:latin typeface="Times New Roman" panose="02020603050405020304" pitchFamily="18" charset="0"/>
                <a:ea typeface="黑体" panose="02010609060101010101" pitchFamily="49" charset="-122"/>
                <a:sym typeface="+mn-ea"/>
              </a:rPr>
              <a:t>等编程语言编写一个调用软件就可以做成二维码生成器了。</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5724644"/>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a:t>
            </a:r>
            <a:r>
              <a:rPr lang="zh-CN" altLang="en-US" sz="2000" dirty="0">
                <a:solidFill>
                  <a:srgbClr val="0070C0"/>
                </a:solidFill>
                <a:latin typeface="Times New Roman" panose="02020603050405020304" pitchFamily="18" charset="0"/>
                <a:ea typeface="黑体" panose="02010609060101010101" pitchFamily="49" charset="-122"/>
                <a:sym typeface="+mn-ea"/>
              </a:rPr>
              <a:t>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java.awt.Color</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java.awt.Graphics2D;</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java.awt.Image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java.awt.image.BufferedImage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java.io.File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javax.imageio.ImageIO</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com.swetake.util.Qrcode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endParaRPr>
          </a:p>
          <a:p>
            <a:pPr>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public</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static</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void</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getQrcodeImage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(String content, String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imgPath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width = 235;</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height = 235;</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实例化一个对象</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编码方式</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qrcode.setQrcodeEncodeMode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5724644"/>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a:t>
            </a:r>
            <a:r>
              <a:rPr lang="zh-CN" altLang="en-US" sz="2000" dirty="0">
                <a:solidFill>
                  <a:srgbClr val="0070C0"/>
                </a:solidFill>
                <a:latin typeface="Times New Roman" panose="02020603050405020304" pitchFamily="18" charset="0"/>
                <a:ea typeface="黑体" panose="02010609060101010101" pitchFamily="49" charset="-122"/>
                <a:sym typeface="+mn-ea"/>
              </a:rPr>
              <a:t>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设置拍错率</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qrcode.setQrcodeErrorCorrect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('M');</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二维码的版本</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qrcode.setQrcodeVersion</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(15);</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绘制二维码</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画板</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image =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(width, height,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i="1"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TYPE_INT_RGB</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画笔</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Graphics2D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image.createGraphics</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设置背景颜色</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白色</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gs.setBackground</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Color.</a:t>
            </a:r>
            <a:r>
              <a:rPr lang="en-US" altLang="zh-CN" sz="1400" i="1"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white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设置二维码的颜色</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gs.setColor</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Color.</a:t>
            </a:r>
            <a:r>
              <a:rPr lang="en-US" altLang="zh-CN" sz="1400" i="1"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black</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5355312"/>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a:t>
            </a:r>
            <a:r>
              <a:rPr lang="zh-CN" altLang="en-US" sz="2000" dirty="0">
                <a:solidFill>
                  <a:srgbClr val="0070C0"/>
                </a:solidFill>
                <a:latin typeface="Times New Roman" panose="02020603050405020304" pitchFamily="18" charset="0"/>
                <a:ea typeface="黑体" panose="02010609060101010101" pitchFamily="49" charset="-122"/>
                <a:sym typeface="+mn-ea"/>
              </a:rPr>
              <a:t>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创建一个二维码的绘制区域</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gs.clearRect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(0, 0, width, height);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byte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try</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content.getBytes</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("utf-8");</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boolean</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code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qrcode.calQrcode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for</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0;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&lt;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code.length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for</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j = 0; j &lt;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code.length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if</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(code[j][</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gs.fillRect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(j * 3 + 2,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3 + 2, 3, 3);</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4247317"/>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a:t>
            </a:r>
            <a:r>
              <a:rPr lang="zh-CN" altLang="en-US" sz="2000" dirty="0">
                <a:solidFill>
                  <a:srgbClr val="0070C0"/>
                </a:solidFill>
                <a:latin typeface="Times New Roman" panose="02020603050405020304" pitchFamily="18" charset="0"/>
                <a:ea typeface="黑体" panose="02010609060101010101" pitchFamily="49" charset="-122"/>
                <a:sym typeface="+mn-ea"/>
              </a:rPr>
              <a:t>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加载</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logo  D:/111.png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这个你需要改成你自己的</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File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file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File("D:/111.png");</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Image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srcImage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ImageIO.</a:t>
            </a:r>
            <a:r>
              <a:rPr lang="en-US" altLang="zh-CN" sz="1400" i="1"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read</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(file);</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imgWidth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srcImage.getWidth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imgHeith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srcImage.getHeight</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gs.drawImage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srcImage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83, 83,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imgWidth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imgHeith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释放资源</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gs.dispose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image.flush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二维码生成</a:t>
            </a:r>
            <a:endParaRPr lang="zh-CN" altLang="en-US" sz="2400" dirty="0">
              <a:sym typeface="+mn-ea"/>
            </a:endParaRPr>
          </a:p>
        </p:txBody>
      </p:sp>
      <p:sp>
        <p:nvSpPr>
          <p:cNvPr id="10" name="文本框 9"/>
          <p:cNvSpPr txBox="1"/>
          <p:nvPr/>
        </p:nvSpPr>
        <p:spPr>
          <a:xfrm>
            <a:off x="554990" y="950005"/>
            <a:ext cx="8205470" cy="5047536"/>
          </a:xfrm>
          <a:prstGeom prst="rect">
            <a:avLst/>
          </a:prstGeom>
          <a:noFill/>
        </p:spPr>
        <p:txBody>
          <a:bodyPr wrap="square" rtlCol="0" anchor="t">
            <a:spAutoFit/>
          </a:bodyPr>
          <a:lstStyle/>
          <a:p>
            <a:pPr marL="342900" indent="-342900" algn="l">
              <a:buFont typeface="Wingdings" panose="05000000000000000000" pitchFamily="2" charset="2"/>
              <a:buChar char="Ø"/>
            </a:pPr>
            <a:r>
              <a:rPr lang="zh-CN" altLang="en-US" sz="2000" dirty="0">
                <a:solidFill>
                  <a:srgbClr val="0070C0"/>
                </a:solidFill>
                <a:uFillTx/>
                <a:latin typeface="Times New Roman" panose="02020603050405020304" pitchFamily="18" charset="0"/>
                <a:ea typeface="黑体" panose="02010609060101010101" pitchFamily="49" charset="-122"/>
                <a:sym typeface="+mn-ea"/>
              </a:rPr>
              <a:t>二维码</a:t>
            </a:r>
            <a:r>
              <a:rPr lang="zh-CN" altLang="en-US" sz="2000" dirty="0">
                <a:solidFill>
                  <a:srgbClr val="0070C0"/>
                </a:solidFill>
                <a:latin typeface="Times New Roman" panose="02020603050405020304" pitchFamily="18" charset="0"/>
                <a:ea typeface="黑体" panose="02010609060101010101" pitchFamily="49" charset="-122"/>
                <a:sym typeface="+mn-ea"/>
              </a:rPr>
              <a:t>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algn="l">
              <a:buFont typeface="Wingdings" panose="05000000000000000000" pitchFamily="2" charset="2"/>
              <a:buChar char="Ø"/>
            </a:pPr>
            <a:endParaRPr lang="en-US" altLang="zh-CN" sz="2000" dirty="0">
              <a:solidFill>
                <a:srgbClr val="0070C0"/>
              </a:solidFill>
              <a:uFillTx/>
              <a:latin typeface="Times New Roman" panose="02020603050405020304" pitchFamily="18" charset="0"/>
              <a:ea typeface="黑体" panose="02010609060101010101" pitchFamily="49" charset="-122"/>
              <a:sym typeface="+mn-ea"/>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写入指定路径</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ImageIO.write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(image,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png</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File(</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imgPath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System.out.println</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zh-CN" altLang="zh-CN" sz="1400" dirty="0">
                <a:solidFill>
                  <a:srgbClr val="4D4D4D"/>
                </a:solidFill>
                <a:effectLst/>
                <a:latin typeface="Times New Roman" panose="02020603050405020304" pitchFamily="18" charset="0"/>
                <a:ea typeface="黑体" panose="02010609060101010101" pitchFamily="49" charset="-122"/>
                <a:cs typeface="Arial" panose="020B0604020202020204" pitchFamily="34" charset="0"/>
              </a:rPr>
              <a:t>二维码生成成功了！</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catch</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(Exception e)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TODO</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Auto-generated catch block</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e.printStackTrace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endParaRPr>
          </a:p>
          <a:p>
            <a:pPr>
              <a:spcAft>
                <a:spcPts val="1200"/>
              </a:spcAft>
            </a:pPr>
            <a:r>
              <a:rPr lang="en-US" altLang="zh-CN" sz="18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public</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static</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void</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main(String[]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args</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getQrcodeImage</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r>
              <a:rPr lang="en-US"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hello!</a:t>
            </a: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"d:/xxx.png");</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a:p>
            <a:pPr algn="l">
              <a:spcAft>
                <a:spcPts val="1200"/>
              </a:spcAft>
            </a:pPr>
            <a:r>
              <a:rPr lang="en-US" altLang="zh-CN" sz="1400" dirty="0">
                <a:solidFill>
                  <a:srgbClr val="4D4D4D"/>
                </a:solidFill>
                <a:effectLst/>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effectLst/>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a:sym typeface="+mn-ea"/>
              </a:rPr>
              <a:t>参考文献</a:t>
            </a:r>
            <a:endParaRPr lang="zh-CN" altLang="en-US" sz="2400" dirty="0">
              <a:sym typeface="+mn-ea"/>
            </a:endParaRPr>
          </a:p>
        </p:txBody>
      </p:sp>
      <p:sp>
        <p:nvSpPr>
          <p:cNvPr id="10" name="文本框 9"/>
          <p:cNvSpPr txBox="1"/>
          <p:nvPr/>
        </p:nvSpPr>
        <p:spPr>
          <a:xfrm>
            <a:off x="554990" y="950005"/>
            <a:ext cx="8205470" cy="2246769"/>
          </a:xfrm>
          <a:prstGeom prst="rect">
            <a:avLst/>
          </a:prstGeom>
          <a:noFill/>
        </p:spPr>
        <p:txBody>
          <a:bodyPr wrap="square" rtlCol="0" anchor="t">
            <a:spAutoFit/>
          </a:bodyPr>
          <a:lstStyle/>
          <a:p>
            <a:r>
              <a:rPr lang="en-US" altLang="zh-CN" sz="2000" dirty="0">
                <a:uFillTx/>
                <a:latin typeface="Times New Roman" panose="02020603050405020304" pitchFamily="18" charset="0"/>
                <a:ea typeface="黑体" panose="02010609060101010101" pitchFamily="49" charset="-122"/>
                <a:sym typeface="+mn-ea"/>
              </a:rPr>
              <a:t>【1】</a:t>
            </a:r>
            <a:r>
              <a:rPr lang="en-US" altLang="zh-CN" sz="2000" i="0" dirty="0">
                <a:solidFill>
                  <a:srgbClr val="222226"/>
                </a:solidFill>
                <a:effectLst/>
                <a:latin typeface="Times New Roman" panose="02020603050405020304" pitchFamily="18" charset="0"/>
                <a:ea typeface="黑体" panose="02010609060101010101" pitchFamily="49" charset="-122"/>
              </a:rPr>
              <a:t>QRCode </a:t>
            </a:r>
            <a:r>
              <a:rPr lang="zh-CN" altLang="en-US" sz="2000" i="0" dirty="0">
                <a:solidFill>
                  <a:srgbClr val="222226"/>
                </a:solidFill>
                <a:effectLst/>
                <a:latin typeface="Times New Roman" panose="02020603050405020304" pitchFamily="18" charset="0"/>
                <a:ea typeface="黑体" panose="02010609060101010101" pitchFamily="49" charset="-122"/>
              </a:rPr>
              <a:t>国家标准（</a:t>
            </a:r>
            <a:r>
              <a:rPr lang="en-US" altLang="zh-CN" sz="2000" i="0" dirty="0">
                <a:solidFill>
                  <a:srgbClr val="222226"/>
                </a:solidFill>
                <a:effectLst/>
                <a:latin typeface="Times New Roman" panose="02020603050405020304" pitchFamily="18" charset="0"/>
                <a:ea typeface="黑体" panose="02010609060101010101" pitchFamily="49" charset="-122"/>
              </a:rPr>
              <a:t>GB/T 18284-2000)</a:t>
            </a:r>
            <a:endParaRPr lang="en-US" altLang="zh-CN" sz="2000" i="0" dirty="0">
              <a:solidFill>
                <a:srgbClr val="222226"/>
              </a:solidFill>
              <a:effectLst/>
              <a:latin typeface="Times New Roman" panose="02020603050405020304" pitchFamily="18" charset="0"/>
              <a:ea typeface="黑体" panose="02010609060101010101" pitchFamily="49" charset="-122"/>
            </a:endParaRPr>
          </a:p>
          <a:p>
            <a:pPr algn="l"/>
            <a:r>
              <a:rPr lang="en-US" altLang="zh-CN" sz="2000" dirty="0">
                <a:uFillTx/>
                <a:latin typeface="Times New Roman" panose="02020603050405020304" pitchFamily="18" charset="0"/>
                <a:ea typeface="黑体" panose="02010609060101010101" pitchFamily="49" charset="-122"/>
                <a:sym typeface="+mn-ea"/>
              </a:rPr>
              <a:t>【2】</a:t>
            </a:r>
            <a:r>
              <a:rPr lang="zh-CN" altLang="en-US" sz="2000" dirty="0">
                <a:uFillTx/>
                <a:latin typeface="Times New Roman" panose="02020603050405020304" pitchFamily="18" charset="0"/>
                <a:ea typeface="黑体" panose="02010609060101010101" pitchFamily="49" charset="-122"/>
                <a:sym typeface="+mn-ea"/>
              </a:rPr>
              <a:t>生成多项式工具：</a:t>
            </a:r>
            <a:r>
              <a:rPr lang="en-US" altLang="zh-CN" sz="2000" dirty="0">
                <a:hlinkClick r:id="rId1"/>
              </a:rPr>
              <a:t>Show polynomial division steps - QR Code Tutorial (thonky.com)</a:t>
            </a:r>
            <a:endParaRPr lang="en-US" altLang="zh-CN" sz="2000" dirty="0"/>
          </a:p>
          <a:p>
            <a:r>
              <a:rPr lang="en-US" altLang="zh-CN" sz="2000" dirty="0"/>
              <a:t>【3】</a:t>
            </a:r>
            <a:r>
              <a:rPr lang="zh-CN" altLang="en-US" sz="2000" dirty="0"/>
              <a:t>百度百科：</a:t>
            </a:r>
            <a:r>
              <a:rPr lang="en-US" altLang="zh-CN" sz="2000" dirty="0"/>
              <a:t>https://baike.baidu.com/item/%E4%BA%8C%E7%BB%B4%E7%A0%81/2385673#13</a:t>
            </a:r>
            <a:endParaRPr lang="en-US" altLang="zh-CN" sz="2000" dirty="0"/>
          </a:p>
          <a:p>
            <a:pPr algn="l"/>
            <a:endParaRPr lang="en-US" altLang="zh-CN"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4510" y="2112010"/>
            <a:ext cx="5673090" cy="1322070"/>
          </a:xfrm>
          <a:prstGeom prst="rect">
            <a:avLst/>
          </a:prstGeom>
          <a:noFill/>
        </p:spPr>
        <p:txBody>
          <a:bodyPr wrap="square" rtlCol="0" anchor="t">
            <a:spAutoFit/>
          </a:bodyPr>
          <a:lstStyle/>
          <a:p>
            <a:r>
              <a:rPr lang="zh-CN" altLang="en-US" sz="8000" b="1" dirty="0">
                <a:solidFill>
                  <a:schemeClr val="accent2"/>
                </a:solidFill>
                <a:latin typeface="黑体" panose="02010609060101010101" pitchFamily="49" charset="-122"/>
                <a:ea typeface="黑体" panose="02010609060101010101" pitchFamily="49" charset="-122"/>
                <a:sym typeface="+mn-ea"/>
              </a:rPr>
              <a:t>谢谢聆听</a:t>
            </a:r>
            <a:endParaRPr lang="zh-CN" altLang="en-US" sz="80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tags/tag1.xml><?xml version="1.0" encoding="utf-8"?>
<p:tagLst xmlns:p="http://schemas.openxmlformats.org/presentationml/2006/main">
  <p:tag name="KSO_WPP_MARK_KEY" val="4a7b8457-acda-4910-a4d0-c5fdc09711fc"/>
  <p:tag name="COMMONDATA" val="eyJoZGlkIjoiZWE4ZGVmYTFkZmJiMzI3ODViY2NmMWY3ODJhZTY3MDAifQ=="/>
  <p:tag name="commondata" val="eyJoZGlkIjoiYTI1ODE0ODU1YTU1NThjYzg2NDQwMzM1MzA4YzFkNjE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12226</Words>
  <Application>WPS 演示</Application>
  <PresentationFormat>全屏显示(4:3)</PresentationFormat>
  <Paragraphs>796</Paragraphs>
  <Slides>67</Slides>
  <Notes>6</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67</vt:i4>
      </vt:variant>
    </vt:vector>
  </HeadingPairs>
  <TitlesOfParts>
    <vt:vector size="84" baseType="lpstr">
      <vt:lpstr>Arial</vt:lpstr>
      <vt:lpstr>宋体</vt:lpstr>
      <vt:lpstr>Wingdings</vt:lpstr>
      <vt:lpstr>Calibri</vt:lpstr>
      <vt:lpstr>华文中宋</vt:lpstr>
      <vt:lpstr>黑体</vt:lpstr>
      <vt:lpstr>FuturaA Md BT</vt:lpstr>
      <vt:lpstr>Segoe Print</vt:lpstr>
      <vt:lpstr>隶书</vt:lpstr>
      <vt:lpstr>Times New Roman</vt:lpstr>
      <vt:lpstr>微软雅黑</vt:lpstr>
      <vt:lpstr>Arial Unicode MS</vt:lpstr>
      <vt:lpstr>Helvetica Neue</vt:lpstr>
      <vt:lpstr>1_自定义设计方案</vt:lpstr>
      <vt:lpstr>自定义设计方案</vt:lpstr>
      <vt:lpstr>1_默认设计模板</vt:lpstr>
      <vt:lpstr>Sorronto 0110</vt:lpstr>
      <vt:lpstr>第九章 二维码</vt:lpstr>
      <vt:lpstr>内容提要</vt:lpstr>
      <vt:lpstr>内容提要</vt:lpstr>
      <vt:lpstr>条形码简史</vt:lpstr>
      <vt:lpstr>二维码概念</vt:lpstr>
      <vt:lpstr>二维码的分类与原理</vt:lpstr>
      <vt:lpstr>行排式二维码</vt:lpstr>
      <vt:lpstr>矩阵式二维码</vt:lpstr>
      <vt:lpstr>内容提要</vt:lpstr>
      <vt:lpstr>二维码的特点</vt:lpstr>
      <vt:lpstr>二维码的特点</vt:lpstr>
      <vt:lpstr>二维码的特点</vt:lpstr>
      <vt:lpstr>内容提要</vt:lpstr>
      <vt:lpstr>QR Code</vt:lpstr>
      <vt:lpstr>QR Code结构图</vt:lpstr>
      <vt:lpstr>QR Code的基本结构</vt:lpstr>
      <vt:lpstr>QR Code版本7基本结构</vt:lpstr>
      <vt:lpstr>QR Code版本7基本结构</vt:lpstr>
      <vt:lpstr>QR Code版本7基本结构</vt:lpstr>
      <vt:lpstr>QR Code版本7基本结构</vt:lpstr>
      <vt:lpstr>QR Code版本7基本结构</vt:lpstr>
      <vt:lpstr>QR Code的基本结构</vt:lpstr>
      <vt:lpstr>QR Code的编码</vt:lpstr>
      <vt:lpstr>QR Code的编码</vt:lpstr>
      <vt:lpstr>数据分析</vt:lpstr>
      <vt:lpstr>数据编码-数据字符转换为位流</vt:lpstr>
      <vt:lpstr>数据编码-数据字符转换为位流</vt:lpstr>
      <vt:lpstr>数据编码-数据字符转换为位流</vt:lpstr>
      <vt:lpstr>数据编码-加必要符号</vt:lpstr>
      <vt:lpstr>数据编码-位流转换为码字</vt:lpstr>
      <vt:lpstr>纠错编码</vt:lpstr>
      <vt:lpstr>纠错编码</vt:lpstr>
      <vt:lpstr>纠错编码</vt:lpstr>
      <vt:lpstr>构造最终信息</vt:lpstr>
      <vt:lpstr>在矩阵中布置模块</vt:lpstr>
      <vt:lpstr>在矩阵中布置模块</vt:lpstr>
      <vt:lpstr>掩模</vt:lpstr>
      <vt:lpstr>掩模</vt:lpstr>
      <vt:lpstr>掩模</vt:lpstr>
      <vt:lpstr>掩模</vt:lpstr>
      <vt:lpstr>掩模</vt:lpstr>
      <vt:lpstr>格式和版本信息-格式信息</vt:lpstr>
      <vt:lpstr>格式和版本信息-格式信息</vt:lpstr>
      <vt:lpstr>格式和版本信息-格式信息</vt:lpstr>
      <vt:lpstr>格式和版本信息-版本信息</vt:lpstr>
      <vt:lpstr>格式和版本信息-版本信息</vt:lpstr>
      <vt:lpstr>QR Code的编码</vt:lpstr>
      <vt:lpstr>QR Code的识别</vt:lpstr>
      <vt:lpstr>QR Code的识别-条码定位</vt:lpstr>
      <vt:lpstr>QR Code的识别-条码定位</vt:lpstr>
      <vt:lpstr>QR Code的识别-条码定位</vt:lpstr>
      <vt:lpstr>QR Code的识别-条码分割</vt:lpstr>
      <vt:lpstr>QR Code的识别-解码</vt:lpstr>
      <vt:lpstr>内容提要</vt:lpstr>
      <vt:lpstr>二维码的应用</vt:lpstr>
      <vt:lpstr>二维码的应用</vt:lpstr>
      <vt:lpstr>二维码的应用</vt:lpstr>
      <vt:lpstr>二维码的应用</vt:lpstr>
      <vt:lpstr>课堂思政</vt:lpstr>
      <vt:lpstr>二维码生成</vt:lpstr>
      <vt:lpstr>二维码生成</vt:lpstr>
      <vt:lpstr>二维码生成</vt:lpstr>
      <vt:lpstr>二维码生成</vt:lpstr>
      <vt:lpstr>二维码生成</vt:lpstr>
      <vt:lpstr>二维码生成</vt:lpstr>
      <vt:lpstr>参考文献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wjt</dc:creator>
  <cp:lastModifiedBy>无</cp:lastModifiedBy>
  <cp:revision>1192</cp:revision>
  <cp:lastPrinted>2016-01-06T13:31:00Z</cp:lastPrinted>
  <dcterms:created xsi:type="dcterms:W3CDTF">2014-12-11T02:08:00Z</dcterms:created>
  <dcterms:modified xsi:type="dcterms:W3CDTF">2024-11-11T09:03:45Z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2052-12.1.0.18608</vt:lpwstr>
  </property>
  <property fmtid="{D5CDD505-2E9C-101B-9397-08002B2CF9AE}" pid="4" name="ICV">
    <vt:lpwstr>E4256FC823AE486ABB639F1069D1DFDC</vt:lpwstr>
  </property>
</Properties>
</file>